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74" r:id="rId12"/>
    <p:sldId id="272" r:id="rId13"/>
    <p:sldId id="273" r:id="rId14"/>
    <p:sldId id="267" r:id="rId15"/>
    <p:sldId id="275" r:id="rId16"/>
    <p:sldId id="278" r:id="rId17"/>
    <p:sldId id="277" r:id="rId18"/>
    <p:sldId id="281" r:id="rId19"/>
    <p:sldId id="276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173" autoAdjust="0"/>
  </p:normalViewPr>
  <p:slideViewPr>
    <p:cSldViewPr snapToGrid="0">
      <p:cViewPr varScale="1">
        <p:scale>
          <a:sx n="79" d="100"/>
          <a:sy n="79" d="100"/>
        </p:scale>
        <p:origin x="85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71FC4-96E2-4575-B89D-2FDB35F27B4F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27A71-9812-4AE3-B79C-DE0A2C8336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925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27A71-9812-4AE3-B79C-DE0A2C83365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40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393C8-3E7B-39DD-B670-F81505950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EB794-FD03-CB78-12CC-7C297EC2B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5ED10-2A00-82B6-D502-D0208800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CE4-5967-4D16-BC7E-A959A57C6194}" type="datetime1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7C1CC-4990-AD8E-3215-FCB7C4A6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/>
              <a:t>Phạm Huỳnh Minh Mẫn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6933-8B92-30E8-844F-07C22211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6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6A3B-9278-3587-21C9-A829C173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A27A-2809-4641-8B7A-7BF2DAB90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D777B-D13D-395D-0432-EA9E7482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AFCF-0AE8-4175-89BD-DAED513BF443}" type="datetime1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485ED-BA80-1E71-826B-3FCF6A2C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265D3-A154-EE1F-3FAC-A7E581E7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56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908C0-0FC9-5189-1380-F084701F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45C3A-F356-2D47-9C79-4367E2160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CDB98-AEDE-2746-B041-7DD2FC4FC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22E1-3FAD-4742-B912-229A7274EFF9}" type="datetime1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73EE0-8710-F7B9-BB94-7B887A17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171FE-F94A-7520-BC7B-D95529C4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178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7FFF9-90E7-C70D-C938-D2262B9F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24F1E-21FD-D93F-B832-7122CC8B2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92152-8E20-9DC8-CBFE-0086E30AE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02B19-F304-2962-E182-0E8EAFFB2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2AC38-3DA2-46C6-B4AF-ABF1E371F4DC}" type="datetime1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12236-1970-468B-F675-F20C75BAC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303A8-DFA3-CE59-67A3-6D2E0B39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77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9A49-E5E5-DF29-01DE-A28ABC25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2CB91-2E1B-264A-45AF-70199ABAD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1AD86-7E44-AF6E-1C75-79A583F3C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6BD04-5B9E-A6AF-7869-AB3B1A028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DA1B9-25A3-7312-27DD-F4FAAE577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5CA27-A1B8-28EB-0BF9-0BD77587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F5F49-F00D-4B22-B435-F4B491BE435B}" type="datetime1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64632-6117-C78A-2A39-7FF6134F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53AA49-BDAE-35DA-AA45-F4E59EA6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27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9BF3-B3A8-31DF-4A83-EDC0D38C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4E7CB0-97AF-D6FE-7BBA-A24554DC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2222C-015F-4879-8D9D-31E5D96A205F}" type="datetime1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F3DAD-A653-C2C6-EF8A-F8D18FB2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B09B1-2423-6292-8043-059874E3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43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CC573-2F87-E698-903D-F5E20595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88DFC-C216-456A-B3DC-4CE4DAF2D61A}" type="datetime1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6D63E-6296-ED97-954C-808F570F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2A651-9FFF-BDE9-1B52-B892A43D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7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FDEE-DE02-B13D-DE0D-81E90195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7180-D15A-F32E-CFFF-0268C07BF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3FD6F-8B87-B918-195B-944727DF0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76166-EFA4-23DC-436D-EAC21AF9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37B4-9500-4AF7-B9AC-4C5068A01AFD}" type="datetime1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3D3E5-054E-CDFA-1A04-C9A4B2DD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9E5FE-BF2C-6598-5008-5C6F8FD58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5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34F1-560C-7885-8CA8-270CCCF9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208C7-E78C-12AF-B255-3D0F7F478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BCAB6-48CF-D0DE-648F-AA90E4BAD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C6ABD-2752-B4E3-7DD4-380D0A8E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ED3B-D4EF-4091-9751-696CA7E6D44A}" type="datetime1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1C582-BBCF-BE96-5364-7CC9D1C7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1A12E-D151-FEA6-5A22-3397916A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50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C92A-4C3F-4A9A-CF12-44492540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DC815-B7B4-F511-F0D9-CB5849ABF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55E11-97F9-D0F3-B69C-E70481B07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7BA2-0E23-4B0A-AC39-CD34E5E431AD}" type="datetime1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96D66-23BF-9992-64F9-33CFE835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1768C-41A1-A52A-841F-46CDC6AB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70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C0505-CD45-4B5E-5002-3EC751DAE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A7527-FA08-ADF4-26E9-68D6E278D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BE4DD-D4C6-FA31-AC49-843DB2E7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D73C9-1546-4EA5-939B-21CBD005E1AC}" type="datetime1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E8985-BC1E-A29C-40A5-CD7FC197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8E892-9D6A-FBF4-30F6-D3516C18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91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98B0A-9067-2B4E-D68C-A8020301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A054E-D425-90B4-B005-B80DAC917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1E92F-83DB-874D-718D-3A7795AEF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EEE07-45F3-4AA6-B44A-D1EA9D55FDDE}" type="datetime1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AD138-00CC-A7A4-FE71-2AFA4EE1A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Phạm Huỳnh Minh Mẫn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7A762-E279-6F4E-6290-9BF84D7D9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3E6DD-C4A4-44A6-A27F-8F8B70724A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72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BC5E-309B-EF4E-8B23-74E1415C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ACDD5-6B80-D624-AEEB-64DE3FE8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8ADD0-E453-24BE-052E-94B9EE76C337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8BE09B-29B5-E76F-F8AF-80CE95E9B6C2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97FD6-F18D-C187-0333-F61F0FE5F269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415DCE-1A94-5F3C-EAC9-A2861B021C18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5C6C8F-3678-AA38-C0B7-C6107E8B4FA4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CAEBF5-ACCC-9F62-3E66-95E80250A9BD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2EE9926-C65E-EC71-B5B8-695D347512CB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D982B-2900-E80F-6684-13AACD133275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1CBB25-8036-0D36-4125-7E5071A44104}"/>
              </a:ext>
            </a:extLst>
          </p:cNvPr>
          <p:cNvSpPr txBox="1"/>
          <p:nvPr/>
        </p:nvSpPr>
        <p:spPr>
          <a:xfrm>
            <a:off x="962024" y="1295400"/>
            <a:ext cx="10106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800" b="1">
                <a:solidFill>
                  <a:srgbClr val="FF0000"/>
                </a:solidFill>
                <a:latin typeface="+mj-lt"/>
              </a:rPr>
              <a:t>1/Khái lược về triết học:</a:t>
            </a:r>
            <a:endParaRPr lang="en-GB" sz="2800" b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E3ED9-2643-B398-427B-F1950C1C4BBE}"/>
              </a:ext>
            </a:extLst>
          </p:cNvPr>
          <p:cNvSpPr txBox="1"/>
          <p:nvPr/>
        </p:nvSpPr>
        <p:spPr>
          <a:xfrm>
            <a:off x="638175" y="1828800"/>
            <a:ext cx="109269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Bất kì một học thuyết, tư tưởng nào cũng hình thành, phát triển từ điều kiện lịch sử, xã hội nhất định.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Trước khi tìm hiểu các nội dung cơ bản của triết học, phải tìm hiểu nguồn gốc ra đời của nó.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Triết học ra đời trong thời kỳ cổ đại </a:t>
            </a:r>
            <a:r>
              <a:rPr lang="vi-VN" sz="2800" b="1">
                <a:latin typeface="+mj-lt"/>
              </a:rPr>
              <a:t>gần như cùng một lúc </a:t>
            </a:r>
            <a:r>
              <a:rPr lang="vi-VN" sz="2800">
                <a:latin typeface="+mj-lt"/>
              </a:rPr>
              <a:t>ở Phương Đông và Phương Tây(khoảng TK VIII-VI tr.CN) tại các </a:t>
            </a:r>
            <a:r>
              <a:rPr lang="vi-VN" sz="2800" b="1">
                <a:latin typeface="+mj-lt"/>
              </a:rPr>
              <a:t>trung tâm văn minh lớn</a:t>
            </a:r>
            <a:r>
              <a:rPr lang="vi-VN" sz="2800">
                <a:latin typeface="+mj-lt"/>
              </a:rPr>
              <a:t> của nhân loại :Trung Quốc, Ấn Độ, Hy Lạp 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Với tư cách là một </a:t>
            </a:r>
            <a:r>
              <a:rPr lang="vi-VN" sz="2800" b="1">
                <a:latin typeface="+mj-lt"/>
              </a:rPr>
              <a:t>hình thái ý thức xã hội</a:t>
            </a:r>
            <a:r>
              <a:rPr lang="vi-VN" sz="2800">
                <a:latin typeface="+mj-lt"/>
              </a:rPr>
              <a:t>, triết học có:</a:t>
            </a:r>
          </a:p>
          <a:p>
            <a:pPr algn="just"/>
            <a:r>
              <a:rPr lang="vi-VN" sz="2800">
                <a:latin typeface="+mj-lt"/>
              </a:rPr>
              <a:t>    -Nguồn gốc nhận thức .</a:t>
            </a:r>
          </a:p>
          <a:p>
            <a:pPr algn="just"/>
            <a:r>
              <a:rPr lang="vi-VN" sz="2800">
                <a:latin typeface="+mj-lt"/>
              </a:rPr>
              <a:t>    -Nguồn gốc xã hội 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4FDF-1F32-9837-FBDE-18EFD79E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289792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DB0B7-BC6C-DF14-47E9-69914281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263C3-4794-439A-8CBA-3D261A9F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2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B857C-7FB4-980D-7043-1CDA5D50D4F7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5C4AB4-2462-942C-3F70-83F91890A6E1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101287-0F4E-515F-FB4A-18E69A2230CA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0E4BC6-C07E-3089-F0FE-4D57ED313C42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7C3A4D-3954-C745-E7F4-547050912620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515971-95A9-D566-25FA-A34268552732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43A0A3A-099E-AFCD-DDF8-0BB35F0FC2C5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F70976-5489-3B07-191A-D9B507F95FCB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50EB68-09B4-7DA0-326E-6B5181F0FB6F}"/>
              </a:ext>
            </a:extLst>
          </p:cNvPr>
          <p:cNvSpPr txBox="1"/>
          <p:nvPr/>
        </p:nvSpPr>
        <p:spPr>
          <a:xfrm>
            <a:off x="962025" y="1295400"/>
            <a:ext cx="996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800" b="1">
                <a:solidFill>
                  <a:srgbClr val="FF0000"/>
                </a:solidFill>
                <a:latin typeface="+mj-lt"/>
              </a:rPr>
              <a:t>1.1/Nguồn gốc của triết học:</a:t>
            </a:r>
            <a:endParaRPr lang="en-GB" sz="2800" b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9F776-9E58-4DA6-C40D-24A0E8CD581C}"/>
              </a:ext>
            </a:extLst>
          </p:cNvPr>
          <p:cNvSpPr txBox="1"/>
          <p:nvPr/>
        </p:nvSpPr>
        <p:spPr>
          <a:xfrm>
            <a:off x="447675" y="1819275"/>
            <a:ext cx="112490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NGUỒN GỐC NHẬN THỨC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400">
                <a:latin typeface="+mj-lt"/>
              </a:rPr>
              <a:t>Triết học </a:t>
            </a:r>
            <a:r>
              <a:rPr lang="vi-VN" sz="2400" b="1">
                <a:latin typeface="+mj-lt"/>
              </a:rPr>
              <a:t>chỉ xuất hiện </a:t>
            </a:r>
            <a:r>
              <a:rPr lang="vi-VN" sz="2400">
                <a:latin typeface="+mj-lt"/>
              </a:rPr>
              <a:t>khi kho tàng </a:t>
            </a:r>
            <a:r>
              <a:rPr lang="vi-VN" sz="2400" b="1">
                <a:latin typeface="+mj-lt"/>
              </a:rPr>
              <a:t>tri thức </a:t>
            </a:r>
            <a:r>
              <a:rPr lang="vi-VN" sz="2400">
                <a:latin typeface="+mj-lt"/>
              </a:rPr>
              <a:t>của con người đã </a:t>
            </a:r>
            <a:r>
              <a:rPr lang="vi-VN" sz="2400" b="1">
                <a:latin typeface="+mj-lt"/>
              </a:rPr>
              <a:t>hình</a:t>
            </a:r>
            <a:r>
              <a:rPr lang="vi-VN" sz="2400">
                <a:latin typeface="+mj-lt"/>
              </a:rPr>
              <a:t> </a:t>
            </a:r>
            <a:r>
              <a:rPr lang="vi-VN" sz="2400" b="1">
                <a:latin typeface="+mj-lt"/>
              </a:rPr>
              <a:t>thành</a:t>
            </a:r>
            <a:r>
              <a:rPr lang="vi-VN" sz="2400">
                <a:latin typeface="+mj-lt"/>
              </a:rPr>
              <a:t> được một vốn hiểu biết nhất định.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400">
                <a:latin typeface="+mj-lt"/>
              </a:rPr>
              <a:t>Tư duy con người đạt đến trình độ </a:t>
            </a:r>
            <a:r>
              <a:rPr lang="vi-VN" sz="2400" b="1">
                <a:latin typeface="+mj-lt"/>
              </a:rPr>
              <a:t>khái quát hóa</a:t>
            </a:r>
            <a:r>
              <a:rPr lang="vi-VN" sz="2400">
                <a:latin typeface="+mj-lt"/>
              </a:rPr>
              <a:t>,</a:t>
            </a:r>
            <a:r>
              <a:rPr lang="vi-VN" sz="2400" b="1">
                <a:latin typeface="+mj-lt"/>
              </a:rPr>
              <a:t>trừu tượng hóa</a:t>
            </a:r>
            <a:r>
              <a:rPr lang="vi-VN" sz="240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400">
                <a:latin typeface="+mj-lt"/>
              </a:rPr>
              <a:t>Có khả năng rút ra được cái chung trong muôn vàn những sự kiện,hiện tượng riêng lẻ. </a:t>
            </a:r>
            <a:endParaRPr lang="vi-VN" sz="2400" b="1">
              <a:latin typeface="+mj-lt"/>
            </a:endParaRPr>
          </a:p>
          <a:p>
            <a:pPr algn="just"/>
            <a:r>
              <a:rPr lang="vi-VN" sz="2400" b="1">
                <a:latin typeface="+mj-lt"/>
              </a:rPr>
              <a:t>NGUỒN GỐC XÃ HỘI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400">
                <a:latin typeface="+mj-lt"/>
              </a:rPr>
              <a:t>Triết học </a:t>
            </a:r>
            <a:r>
              <a:rPr lang="vi-VN" sz="2400" b="1">
                <a:latin typeface="+mj-lt"/>
              </a:rPr>
              <a:t>không ra đời cùng lúc </a:t>
            </a:r>
            <a:r>
              <a:rPr lang="vi-VN" sz="2400">
                <a:latin typeface="+mj-lt"/>
              </a:rPr>
              <a:t>với sự xuất hiện con người.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400">
                <a:latin typeface="+mj-lt"/>
              </a:rPr>
              <a:t>Triết học ra đời khi xã hội </a:t>
            </a:r>
            <a:r>
              <a:rPr lang="vi-VN" sz="2400" b="1">
                <a:latin typeface="+mj-lt"/>
              </a:rPr>
              <a:t>đã có phân công lao động</a:t>
            </a:r>
            <a:r>
              <a:rPr lang="vi-VN" sz="2400">
                <a:latin typeface="+mj-lt"/>
              </a:rPr>
              <a:t>, cùng sự </a:t>
            </a:r>
            <a:r>
              <a:rPr lang="vi-VN" sz="2400" b="1">
                <a:latin typeface="+mj-lt"/>
              </a:rPr>
              <a:t>ra đời của tư hữu</a:t>
            </a:r>
            <a:r>
              <a:rPr lang="vi-VN" sz="2400">
                <a:latin typeface="+mj-lt"/>
              </a:rPr>
              <a:t>, dẫn đến </a:t>
            </a:r>
            <a:r>
              <a:rPr lang="vi-VN" sz="2400" b="1">
                <a:latin typeface="+mj-lt"/>
              </a:rPr>
              <a:t>giai cấp xuất hiện</a:t>
            </a:r>
            <a:r>
              <a:rPr lang="vi-VN" sz="240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Lao động trí óc đã tách khỏi lao động chân tay</a:t>
            </a:r>
            <a:r>
              <a:rPr lang="vi-VN" sz="2400">
                <a:latin typeface="+mj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400" b="1">
                <a:latin typeface="+mj-lt"/>
              </a:rPr>
              <a:t>Trí thức xuất hiện</a:t>
            </a:r>
            <a:r>
              <a:rPr lang="vi-VN" sz="2400">
                <a:latin typeface="+mj-lt"/>
              </a:rPr>
              <a:t> ,</a:t>
            </a:r>
            <a:r>
              <a:rPr lang="vi-VN" sz="2400" b="1">
                <a:latin typeface="+mj-lt"/>
              </a:rPr>
              <a:t>hệ</a:t>
            </a:r>
            <a:r>
              <a:rPr lang="vi-VN" sz="2400">
                <a:latin typeface="+mj-lt"/>
              </a:rPr>
              <a:t> </a:t>
            </a:r>
            <a:r>
              <a:rPr lang="vi-VN" sz="2400" b="1">
                <a:latin typeface="+mj-lt"/>
              </a:rPr>
              <a:t>thống</a:t>
            </a:r>
            <a:r>
              <a:rPr lang="vi-VN" sz="2400">
                <a:latin typeface="+mj-lt"/>
              </a:rPr>
              <a:t> </a:t>
            </a:r>
            <a:r>
              <a:rPr lang="vi-VN" sz="2400" b="1">
                <a:latin typeface="+mj-lt"/>
              </a:rPr>
              <a:t>hóa</a:t>
            </a:r>
            <a:r>
              <a:rPr lang="vi-VN" sz="2400">
                <a:latin typeface="+mj-lt"/>
              </a:rPr>
              <a:t> </a:t>
            </a:r>
            <a:r>
              <a:rPr lang="vi-VN" sz="2400" b="1">
                <a:latin typeface="+mj-lt"/>
              </a:rPr>
              <a:t>tri</a:t>
            </a:r>
            <a:r>
              <a:rPr lang="vi-VN" sz="2400">
                <a:latin typeface="+mj-lt"/>
              </a:rPr>
              <a:t> </a:t>
            </a:r>
            <a:r>
              <a:rPr lang="vi-VN" sz="2400" b="1">
                <a:latin typeface="+mj-lt"/>
              </a:rPr>
              <a:t>thức</a:t>
            </a:r>
            <a:r>
              <a:rPr lang="vi-VN" sz="2400">
                <a:latin typeface="+mj-lt"/>
              </a:rPr>
              <a:t> dưới dạng quan điểm,học thuyết,...</a:t>
            </a:r>
            <a:r>
              <a:rPr lang="vi-VN" sz="2400" b="1">
                <a:latin typeface="+mj-lt"/>
              </a:rPr>
              <a:t>giải thích sự vận động </a:t>
            </a:r>
            <a:r>
              <a:rPr lang="vi-VN" sz="2400">
                <a:latin typeface="+mj-lt"/>
              </a:rPr>
              <a:t>hay</a:t>
            </a:r>
            <a:r>
              <a:rPr lang="vi-VN" sz="2400" b="1">
                <a:latin typeface="+mj-lt"/>
              </a:rPr>
              <a:t> mối quan hệ </a:t>
            </a:r>
            <a:r>
              <a:rPr lang="vi-VN" sz="2400">
                <a:latin typeface="+mj-lt"/>
              </a:rPr>
              <a:t>của một số đối tượng nhất định.</a:t>
            </a:r>
            <a:endParaRPr lang="en-GB" sz="240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6B125-AA11-79F4-BC98-65C8C1E6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46977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2DAD-8AB2-D6E6-88F2-74E8F528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89CD8-EBB4-59AB-2F53-F70F158B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3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81A460-6E0C-F2C8-8E5F-AD3835C48635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F486-5979-C8CC-BF2C-2741D4E1D3CB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EC373-67A7-B6C9-9C43-626E402402E0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746B9-6268-1980-ED70-0DB9B67E4596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9571FA-B47A-A626-B045-F97398285AC3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078317-48F1-64E2-AF70-F61B16BCE568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06F94DD-7430-EE06-0D45-4F574A32EFBA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F0DD60-B752-994C-F241-DEAD0771432C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3FB9D-7A6B-BE09-B3BF-3CE1387551A2}"/>
              </a:ext>
            </a:extLst>
          </p:cNvPr>
          <p:cNvSpPr txBox="1"/>
          <p:nvPr/>
        </p:nvSpPr>
        <p:spPr>
          <a:xfrm>
            <a:off x="1594811" y="965177"/>
            <a:ext cx="9458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800" b="1">
                <a:solidFill>
                  <a:srgbClr val="FF0000"/>
                </a:solidFill>
                <a:latin typeface="+mj-lt"/>
              </a:rPr>
              <a:t>1.2/Khái niệm triết học:</a:t>
            </a:r>
            <a:endParaRPr lang="en-GB" sz="2800" b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BDF02-BE58-2882-F933-D50A783EA35A}"/>
              </a:ext>
            </a:extLst>
          </p:cNvPr>
          <p:cNvSpPr txBox="1"/>
          <p:nvPr/>
        </p:nvSpPr>
        <p:spPr>
          <a:xfrm>
            <a:off x="427102" y="1329580"/>
            <a:ext cx="1132522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100" b="1" i="1">
                <a:latin typeface="+mj-lt"/>
              </a:rPr>
              <a:t>Triết</a:t>
            </a:r>
            <a:r>
              <a:rPr lang="vi-VN" sz="2100" i="1">
                <a:latin typeface="+mj-lt"/>
              </a:rPr>
              <a:t> </a:t>
            </a:r>
            <a:r>
              <a:rPr lang="vi-VN" sz="2100" b="1" i="1">
                <a:latin typeface="+mj-lt"/>
              </a:rPr>
              <a:t>học</a:t>
            </a:r>
            <a:r>
              <a:rPr lang="vi-VN" sz="2100" i="1">
                <a:latin typeface="+mj-lt"/>
              </a:rPr>
              <a:t>,</a:t>
            </a:r>
            <a:r>
              <a:rPr lang="vi-VN" sz="2100" b="1" i="1">
                <a:latin typeface="+mj-lt"/>
              </a:rPr>
              <a:t>Dar’sana</a:t>
            </a:r>
            <a:r>
              <a:rPr lang="vi-VN" sz="2100" i="1">
                <a:latin typeface="+mj-lt"/>
              </a:rPr>
              <a:t>,</a:t>
            </a:r>
            <a:r>
              <a:rPr lang="vi-VN" sz="2100" b="1" i="1">
                <a:latin typeface="+mj-lt"/>
              </a:rPr>
              <a:t>Philosophy</a:t>
            </a:r>
            <a:r>
              <a:rPr lang="vi-VN" sz="2100" i="1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100">
                <a:latin typeface="+mj-lt"/>
              </a:rPr>
              <a:t>Triết học ra đời ở phương Đông và phương Tây,triết học là hoạt động tinh thần bậc cao của con người.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100">
                <a:latin typeface="+mj-lt"/>
              </a:rPr>
              <a:t>Mặc dù nhiều quan điểm khác nhau về triết học,nhưng tựu chung bao hàm các nội hàm sau:</a:t>
            </a:r>
          </a:p>
          <a:p>
            <a:r>
              <a:rPr lang="vi-VN" sz="2100">
                <a:latin typeface="+mj-lt"/>
              </a:rPr>
              <a:t>                           </a:t>
            </a:r>
            <a:endParaRPr lang="en-GB" sz="210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F7D0F-8CB3-6B39-45BE-B8278E793991}"/>
              </a:ext>
            </a:extLst>
          </p:cNvPr>
          <p:cNvSpPr txBox="1"/>
          <p:nvPr/>
        </p:nvSpPr>
        <p:spPr>
          <a:xfrm>
            <a:off x="1009650" y="2598629"/>
            <a:ext cx="103822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vi-VN" sz="2400">
                <a:latin typeface="+mj-lt"/>
              </a:rPr>
              <a:t> Triết là </a:t>
            </a:r>
            <a:r>
              <a:rPr lang="vi-VN" sz="2400" b="1">
                <a:latin typeface="+mj-lt"/>
              </a:rPr>
              <a:t>một hình thái ý thức xã hội</a:t>
            </a:r>
            <a:r>
              <a:rPr lang="vi-VN" sz="2400"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vi-VN" sz="2400">
                <a:latin typeface="+mj-lt"/>
              </a:rPr>
              <a:t> Đối tượng của triết học là thế giới, xã hội, tư duy của con người.</a:t>
            </a:r>
          </a:p>
          <a:p>
            <a:pPr marL="342900" indent="-342900">
              <a:buFont typeface="+mj-lt"/>
              <a:buAutoNum type="arabicPeriod"/>
            </a:pPr>
            <a:r>
              <a:rPr lang="vi-VN" sz="2400">
                <a:latin typeface="+mj-lt"/>
              </a:rPr>
              <a:t> Giải thích </a:t>
            </a:r>
            <a:r>
              <a:rPr lang="vi-VN" sz="2400" b="1">
                <a:latin typeface="+mj-lt"/>
              </a:rPr>
              <a:t>mối quan hệ qua lại giữa vật chất </a:t>
            </a:r>
            <a:r>
              <a:rPr lang="vi-VN" sz="2400">
                <a:latin typeface="+mj-lt"/>
              </a:rPr>
              <a:t>và</a:t>
            </a:r>
            <a:r>
              <a:rPr lang="vi-VN" sz="2400" b="1">
                <a:latin typeface="+mj-lt"/>
              </a:rPr>
              <a:t> ý thức </a:t>
            </a:r>
            <a:r>
              <a:rPr lang="vi-VN" sz="2400"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vi-VN" sz="2400">
                <a:latin typeface="+mj-lt"/>
              </a:rPr>
              <a:t> </a:t>
            </a:r>
            <a:r>
              <a:rPr lang="vi-VN" sz="2400" b="1">
                <a:latin typeface="+mj-lt"/>
              </a:rPr>
              <a:t>Tìm ra quy luật </a:t>
            </a:r>
            <a:r>
              <a:rPr lang="vi-VN" sz="2400">
                <a:latin typeface="+mj-lt"/>
              </a:rPr>
              <a:t>chi phối sự vận động và phát triển của tự nhiên, xã hội và tư duy con người.</a:t>
            </a:r>
          </a:p>
          <a:p>
            <a:pPr marL="342900" indent="-342900">
              <a:buFont typeface="+mj-lt"/>
              <a:buAutoNum type="arabicPeriod"/>
            </a:pPr>
            <a:r>
              <a:rPr lang="vi-VN" sz="2400">
                <a:latin typeface="+mj-lt"/>
              </a:rPr>
              <a:t> Triết học là </a:t>
            </a:r>
            <a:r>
              <a:rPr lang="vi-VN" sz="2400" b="1">
                <a:latin typeface="+mj-lt"/>
              </a:rPr>
              <a:t>hạt nhân của thế giới quan.</a:t>
            </a:r>
          </a:p>
          <a:p>
            <a:pPr marL="342900" indent="-342900">
              <a:buFont typeface="+mj-lt"/>
              <a:buAutoNum type="arabicPeriod"/>
            </a:pPr>
            <a:endParaRPr lang="en-GB" sz="2400" b="1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5265A-F1A3-7188-D949-AC1E6305289E}"/>
              </a:ext>
            </a:extLst>
          </p:cNvPr>
          <p:cNvSpPr txBox="1"/>
          <p:nvPr/>
        </p:nvSpPr>
        <p:spPr>
          <a:xfrm>
            <a:off x="533400" y="4905106"/>
            <a:ext cx="11031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i="1">
                <a:latin typeface="+mj-lt"/>
              </a:rPr>
              <a:t>Chủ nghĩa Mác-Lenin quan niệm: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Triết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GB" sz="24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E3D9216-05E3-07A8-DAB9-2A2881C59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2225989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AB522-A7CF-3ED5-B410-426EBA9AE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3B494-3FB7-C5E1-1B30-C59A271A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4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0C750A-1420-22F3-CA06-BFC57F59FA5C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EC3601-F309-6199-B907-ADB5A7D4C8A5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3506D9-CB54-49A5-E3D2-0DABE8EB7460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763760-7F47-5EC2-1F3C-F62DB32D4D86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2C61FB-A82D-A6F5-6E83-4546AE996362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7E39C9-E18A-39D2-1EF9-6E4381300D44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B6C31E7-3B86-651B-E17F-83CAC2D5B402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5A9533-48EA-945D-B2CB-B4C494E956CD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F66997-F8B2-D874-26D7-DC165B59F636}"/>
              </a:ext>
            </a:extLst>
          </p:cNvPr>
          <p:cNvSpPr txBox="1"/>
          <p:nvPr/>
        </p:nvSpPr>
        <p:spPr>
          <a:xfrm>
            <a:off x="962024" y="1295400"/>
            <a:ext cx="10420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800" b="1">
                <a:solidFill>
                  <a:srgbClr val="FF0000"/>
                </a:solidFill>
                <a:latin typeface="+mj-lt"/>
              </a:rPr>
              <a:t>1.3/Vấn đề đối tượng của triết học trong lịch sử:</a:t>
            </a:r>
            <a:endParaRPr lang="en-GB" sz="2800" b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FDB2E-E426-D101-C115-2B26F389A381}"/>
              </a:ext>
            </a:extLst>
          </p:cNvPr>
          <p:cNvSpPr txBox="1"/>
          <p:nvPr/>
        </p:nvSpPr>
        <p:spPr>
          <a:xfrm>
            <a:off x="790575" y="1800224"/>
            <a:ext cx="105120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latin typeface="+mj-lt"/>
              </a:rPr>
              <a:t>Triết học không có một đối tượng cố định bất biến, mà </a:t>
            </a:r>
            <a:r>
              <a:rPr lang="vi-VN" sz="3200" b="1">
                <a:effectLst/>
                <a:latin typeface="+mj-lt"/>
              </a:rPr>
              <a:t>đối tượng của nó luôn biến đổi</a:t>
            </a:r>
            <a:r>
              <a:rPr lang="vi-VN" sz="3200">
                <a:latin typeface="+mj-lt"/>
              </a:rPr>
              <a:t> theo sự phát triển của xã hội, khoa học và tư duy con người.</a:t>
            </a:r>
          </a:p>
          <a:p>
            <a:r>
              <a:rPr lang="vi-VN" sz="3200">
                <a:latin typeface="+mj-lt"/>
              </a:rPr>
              <a:t>-</a:t>
            </a:r>
            <a:r>
              <a:rPr lang="vi-VN" sz="3200">
                <a:solidFill>
                  <a:srgbClr val="FF0000"/>
                </a:solidFill>
                <a:latin typeface="+mj-lt"/>
              </a:rPr>
              <a:t>Thời kỳ cổ đại ở phương Tây (Hy Lạp-La Mã) :</a:t>
            </a:r>
            <a:r>
              <a:rPr lang="vi-VN" sz="3200">
                <a:latin typeface="+mj-lt"/>
              </a:rPr>
              <a:t> Tri thức về các ngành khoa học còn tản mạn, manh mún, sơ khai .Triết học gắn liền với tri thức đó nên gọi triết là </a:t>
            </a:r>
            <a:r>
              <a:rPr lang="vi-VN" sz="3200" b="1">
                <a:latin typeface="+mj-lt"/>
              </a:rPr>
              <a:t>khoa học của mọi khoa học. </a:t>
            </a:r>
            <a:r>
              <a:rPr lang="vi-VN" sz="3200">
                <a:latin typeface="+mj-lt"/>
              </a:rPr>
              <a:t>Triết học thời này còn gọi là </a:t>
            </a:r>
            <a:r>
              <a:rPr lang="vi-VN" sz="3200" b="1">
                <a:latin typeface="+mj-lt"/>
              </a:rPr>
              <a:t>“Triết học tự nhiên”</a:t>
            </a:r>
            <a:endParaRPr lang="en-GB" sz="3200" b="1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79948-0BD6-BDD0-9165-A74BBD73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151779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391C2-6D3A-21B9-AB2C-E10AEE9B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92F8F-FDE5-93D7-38C0-68C2BED3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5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AD77F-9CF3-8E62-736F-84FAA12ECAE4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C4A28-8F99-2BD8-27D3-5B468CA147D4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C5593C-3F7E-BDF1-42DF-21A96CD2634E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9B5758-C44A-8F80-BE56-1A244320F978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E8A85E-FBB8-C83E-CFC1-BAB019320D16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4C4031-9054-2CF8-4F02-F14FA0219579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DFA7D8C-8029-22E8-78BD-36AA04DC16AA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E45A4F-EECD-C25E-88AB-0F7C022B444C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652A33-5A2C-BCCF-E137-7933AD58F0C8}"/>
              </a:ext>
            </a:extLst>
          </p:cNvPr>
          <p:cNvSpPr txBox="1"/>
          <p:nvPr/>
        </p:nvSpPr>
        <p:spPr>
          <a:xfrm>
            <a:off x="962024" y="1295400"/>
            <a:ext cx="10420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800" b="1">
                <a:solidFill>
                  <a:srgbClr val="FF0000"/>
                </a:solidFill>
                <a:latin typeface="+mj-lt"/>
              </a:rPr>
              <a:t>1.3/Vấn đề đối tượng của triết học trong lịch sử :</a:t>
            </a:r>
            <a:endParaRPr lang="en-GB" sz="2800" b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EC7AB-7EEE-AEFD-41F0-407FB71BD1F7}"/>
              </a:ext>
            </a:extLst>
          </p:cNvPr>
          <p:cNvSpPr txBox="1"/>
          <p:nvPr/>
        </p:nvSpPr>
        <p:spPr>
          <a:xfrm>
            <a:off x="638175" y="1943100"/>
            <a:ext cx="1092696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-Tây Âu thời Trung cổ: 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triết học tự nhiên bị thay thế bằng triết học kinh viện, chỉ tập trung vào các chủ đề như niềm tin tôn giáo, thiên đường, địa ngục, ....</a:t>
            </a:r>
          </a:p>
          <a:p>
            <a:r>
              <a:rPr lang="vi-V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-Thời kỳ Phục Hưng (bắt đầu từ cuối XV) :</a:t>
            </a:r>
            <a:r>
              <a:rPr lang="vi-VN" sz="3200">
                <a:latin typeface="Times New Roman" panose="02020603050405020304" pitchFamily="18" charset="0"/>
                <a:cs typeface="Times New Roman" panose="02020603050405020304" pitchFamily="18" charset="0"/>
              </a:rPr>
              <a:t> CNTB xuất hiện, KHTN phát triển, vai trò của triết học với nghĩa “Khoa học của mọi khoa học” đã </a:t>
            </a:r>
            <a:r>
              <a:rPr lang="vi-VN" sz="3200" b="1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dần bị xóa bỏ.</a:t>
            </a:r>
          </a:p>
          <a:p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Các ngành khoa học từng bước tách khỏi triết học trở thành khoa học độc lập</a:t>
            </a:r>
            <a:endParaRPr lang="en-GB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E38D7-AA50-D212-F3F0-1F53EC8FE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264913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5E141-64B9-B677-7A5C-4E436C84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1F451-FED6-F998-D653-AE8DBBA1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6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C8F8E7-4770-47F4-6BE6-F6CD95444211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E8C0CF-901D-3535-4C49-7817DD56FAA1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22FD43-DC31-74BA-AB74-4B4BBE894783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D5C165-349B-AF8E-9C10-C1C380218B32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BBB4C5-8739-1CF6-8AB2-F1B53A8F035A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F2542A-1A40-2A5B-7177-19845EF9E97C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EBCDBBF-5C63-1C87-8BE8-B483D804BAF4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B38D2E-E620-2444-CAEA-D12FE1FAB093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4005F6-FE68-CEC6-EC90-A67F194F3DD7}"/>
              </a:ext>
            </a:extLst>
          </p:cNvPr>
          <p:cNvSpPr txBox="1"/>
          <p:nvPr/>
        </p:nvSpPr>
        <p:spPr>
          <a:xfrm>
            <a:off x="891764" y="1187028"/>
            <a:ext cx="10410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800" b="1">
                <a:solidFill>
                  <a:srgbClr val="FF0000"/>
                </a:solidFill>
                <a:latin typeface="+mj-lt"/>
              </a:rPr>
              <a:t>1.3/Vấn đề đối tượng của triết học trong lịch sử:</a:t>
            </a:r>
            <a:endParaRPr lang="en-GB" sz="2800" b="1">
              <a:solidFill>
                <a:srgbClr val="FF0000"/>
              </a:solidFill>
              <a:latin typeface="+mj-lt"/>
            </a:endParaRPr>
          </a:p>
          <a:p>
            <a:pPr algn="just"/>
            <a:endParaRPr lang="en-GB" sz="2800" b="1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C96A9-3F82-0442-1F80-208A7FC5EDFF}"/>
              </a:ext>
            </a:extLst>
          </p:cNvPr>
          <p:cNvSpPr txBox="1"/>
          <p:nvPr/>
        </p:nvSpPr>
        <p:spPr>
          <a:xfrm>
            <a:off x="638175" y="1598355"/>
            <a:ext cx="1076325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>
                <a:solidFill>
                  <a:srgbClr val="FF0000"/>
                </a:solidFill>
                <a:latin typeface="+mj-lt"/>
              </a:rPr>
              <a:t>-Vào những năm 40 của thế kỷ XIX:</a:t>
            </a:r>
            <a:r>
              <a:rPr lang="vi-VN" sz="2400">
                <a:latin typeface="+mj-lt"/>
              </a:rPr>
              <a:t> KHTN phát triển vượt bậc, triết học Mác xuất hiện, </a:t>
            </a:r>
            <a:r>
              <a:rPr lang="vi-VN" sz="2400" b="1" i="1" u="sng">
                <a:latin typeface="+mj-lt"/>
              </a:rPr>
              <a:t>Chấm dứt</a:t>
            </a:r>
            <a:r>
              <a:rPr lang="vi-VN" sz="2400" b="1" i="1">
                <a:latin typeface="+mj-lt"/>
              </a:rPr>
              <a:t> </a:t>
            </a:r>
            <a:r>
              <a:rPr lang="vi-VN" sz="2400">
                <a:latin typeface="+mj-lt"/>
              </a:rPr>
              <a:t>vai trò của triết học với nghĩa “khoa học của mọi khoa học”.Đối tượng nghiên cứu của triết học là </a:t>
            </a:r>
            <a:r>
              <a:rPr lang="vi-VN" sz="2400" b="1" i="1" u="sng">
                <a:latin typeface="+mj-lt"/>
              </a:rPr>
              <a:t>những quy luật chung nhất của tự nhiên, của xã hội và của tư duy con người .</a:t>
            </a:r>
          </a:p>
          <a:p>
            <a:r>
              <a:rPr lang="vi-VN" sz="2400" b="1" i="1" u="sng">
                <a:highlight>
                  <a:srgbClr val="00FFFF"/>
                </a:highlight>
                <a:latin typeface="+mj-lt"/>
              </a:rPr>
              <a:t>Đặc điểm nổi bật: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trùm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Bao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phóng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vi-VN" sz="2400" b="1" u="sng">
                <a:highlight>
                  <a:srgbClr val="00FFFF"/>
                </a:highlight>
                <a:latin typeface="+mj-lt"/>
              </a:rPr>
              <a:t>Ý nghĩa</a:t>
            </a:r>
            <a:r>
              <a:rPr lang="vi-VN" sz="2400" u="sng">
                <a:highlight>
                  <a:srgbClr val="00FFFF"/>
                </a:highlight>
                <a:latin typeface="+mj-lt"/>
              </a:rPr>
              <a:t>: </a:t>
            </a:r>
            <a:r>
              <a:rPr lang="vi-VN" sz="2400">
                <a:latin typeface="+mj-lt"/>
              </a:rPr>
              <a:t>Triết học Mác-Lênin trở thành thế giới quan khoa học và phương pháp luận cách mạng cho nhận thức và cải tạo thế giới.</a:t>
            </a:r>
          </a:p>
          <a:p>
            <a:endParaRPr lang="vi-VN" sz="2000" b="1" i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vi-VN" sz="2000" b="1" i="1" u="sng">
              <a:latin typeface="+mj-lt"/>
            </a:endParaRPr>
          </a:p>
          <a:p>
            <a:endParaRPr lang="en-GB" sz="2000" b="1" i="1" u="sng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A9C54-8581-21EC-4095-56B3B266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181802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6A4E-5F96-5FC0-B014-725E0DDF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BD5D8-7196-6019-0547-0419ADDE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7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D69EF8-8C2A-93D7-6A49-F46CD130F15E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EF457A-1365-9809-1A87-FF19E0F43B1C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653963-F537-4AC0-6839-8BF25C027A87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04BAAD-CE50-7B49-4579-DF9626514790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ECBA14-B5F7-4771-CEC0-B4C607DE48DE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E7B148-F9F9-AD3E-CD00-5DA02BD540C7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BE07764-1D53-E4B2-73FD-B4AC02585425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A7C6BF-87B2-14F6-A3D7-CB6544415ADF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E7093-5316-FF3E-402C-685AF971381F}"/>
              </a:ext>
            </a:extLst>
          </p:cNvPr>
          <p:cNvSpPr txBox="1"/>
          <p:nvPr/>
        </p:nvSpPr>
        <p:spPr>
          <a:xfrm>
            <a:off x="723900" y="1570379"/>
            <a:ext cx="1019037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  <a:defRPr/>
            </a:pPr>
            <a:r>
              <a:rPr lang="en-GB" sz="2400" b="1" i="1">
                <a:latin typeface="Times New Roman" pitchFamily="18" charset="0"/>
                <a:cs typeface="Times New Roman" pitchFamily="18" charset="0"/>
              </a:rPr>
              <a:t>TGQ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nhằm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đáp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, ý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cuộc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400" b="1" i="1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Tx/>
              <a:buChar char="-"/>
              <a:defRPr/>
            </a:pPr>
            <a:r>
              <a:rPr lang="en-GB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bao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hàm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tức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cuộc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-Một số TGQ tiêu biểu:Tôn giáo,thần thoại,khoa học,triết học.Chung nhất ,phổ biến nhất trong khoa học và toàn bộ đời sống xã hội là TGQ triết học.</a:t>
            </a:r>
          </a:p>
          <a:p>
            <a:r>
              <a:rPr lang="vi-V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 NHÂN LÝ LUẬN CỦA THẾ GIỚI QUAN</a:t>
            </a:r>
          </a:p>
          <a:p>
            <a:r>
              <a:rPr lang="vi-V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Triết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GB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4EDA6-21A6-A1C9-5E3B-635F5AB8A5D6}"/>
              </a:ext>
            </a:extLst>
          </p:cNvPr>
          <p:cNvSpPr txBox="1"/>
          <p:nvPr/>
        </p:nvSpPr>
        <p:spPr>
          <a:xfrm>
            <a:off x="1095375" y="1065820"/>
            <a:ext cx="93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1.4/Triết học-Hạt nhân lý luận của thế giới quan:</a:t>
            </a:r>
            <a:endParaRPr lang="en-GB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3A212-0D82-C39C-36D7-60C165C3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267622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5C2BC-E75C-A267-DF1A-64EDE210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4847A-1B18-CF36-D48B-155544DD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8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F274B3-7B42-BB29-2C7C-EB0788522329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C1AFFA-D52A-6EAE-D42F-4F987C58B099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5F36BD-7E88-2AE4-815D-81AB56ECA81C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C7D5CA-CB1F-4188-90C1-0913035C85F6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396873-A877-7988-708E-856C7BE8E3CB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B28E37-9332-A187-F312-9DC714638AF7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DF2C1-5F04-640C-54D8-FAE3F51AC717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C058FD-43B3-4DB2-30FE-48215BCE8E97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061D0A-5591-5929-FB33-787AFD93AB7D}"/>
              </a:ext>
            </a:extLst>
          </p:cNvPr>
          <p:cNvSpPr txBox="1"/>
          <p:nvPr/>
        </p:nvSpPr>
        <p:spPr>
          <a:xfrm>
            <a:off x="723900" y="1470462"/>
            <a:ext cx="101903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2.1/Nội dung vấn đề cơ bản của triết học:</a:t>
            </a: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-Khác với loại hình nhận thức khác(khoa học, nghệ thuật, tôn giáo, đời thường,..) Triết học giải quyết một vấn đề có ý nghĩa nền tảng và là điểm xuất phát để giải quyết tất cả các vấn đề còn lại.</a:t>
            </a:r>
          </a:p>
          <a:p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-Vấn đề cơ bản của triết học là: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Mối quan hệ giữa vật chất với  ý thức.</a:t>
            </a:r>
          </a:p>
          <a:p>
            <a:r>
              <a:rPr lang="en-GB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Engels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viết :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“Vấn đề cơ bản của mọi triết học, đặc biệt là của triết học hiện đại, là vấn đề quan hệ giữa tư duy với tồn tại”.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D5CC3-6800-0F19-519E-0A4099C7430E}"/>
              </a:ext>
            </a:extLst>
          </p:cNvPr>
          <p:cNvSpPr txBox="1"/>
          <p:nvPr/>
        </p:nvSpPr>
        <p:spPr>
          <a:xfrm>
            <a:off x="1495990" y="1062033"/>
            <a:ext cx="93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2.Vấn đề cơ bản của triết học:</a:t>
            </a:r>
            <a:endParaRPr lang="en-GB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2EFA8-DECC-C32D-B064-10165085A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330053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69F18-F9F7-A051-4E82-47A77DBA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FB2D7-3429-2148-C55B-09F8EDDE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9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69070-3865-9E77-1906-17F1D255E9DE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295F83-C5F9-258C-C6A3-72EAA6815488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A0866-C7D1-D670-5772-F3069EB1A211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B12648-0E47-9845-0453-16E03DF68E74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AA60E6-CD88-BD70-D5CF-F4871A58CB95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52FE01-2898-A0F9-84FC-3D052F397241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745CDF1-9C5D-4320-959E-332E3601DFFB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81DD96-D363-3BCA-A323-868D5254F97D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42FF6-37BE-7D7A-7158-C72AA34210FF}"/>
              </a:ext>
            </a:extLst>
          </p:cNvPr>
          <p:cNvSpPr txBox="1"/>
          <p:nvPr/>
        </p:nvSpPr>
        <p:spPr>
          <a:xfrm>
            <a:off x="723900" y="1406907"/>
            <a:ext cx="101903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2.1/Nội dung vấn đề cơ bản của triết học:</a:t>
            </a:r>
          </a:p>
          <a:p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Vấn đề cơ bản của triết học có hai mặt,trả lời hai câu hỏi lớn:</a:t>
            </a:r>
            <a:b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1/Ý thức và vật chất,cái nào có trước, cái nào có sau, cái nào quyết định cái nào?</a:t>
            </a: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2/Con người có khả năng nhận thức thế giới hay không ?</a:t>
            </a:r>
          </a:p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Cách trả lời hai câu hỏi trên xác định việc hình thành các trường phái lớn của triết học.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97BF5B-61CB-86EA-9727-4C00C14DD0E1}"/>
              </a:ext>
            </a:extLst>
          </p:cNvPr>
          <p:cNvSpPr txBox="1"/>
          <p:nvPr/>
        </p:nvSpPr>
        <p:spPr>
          <a:xfrm>
            <a:off x="1495990" y="1062033"/>
            <a:ext cx="93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2.Vấn đề cơ bản của triết học:</a:t>
            </a:r>
            <a:endParaRPr lang="en-GB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CD898F-2E8B-F9EE-3F76-D42F6424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1175227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3A2D9-8A30-9342-3B08-88895408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95282-D10A-46FE-1268-7D5D13FD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10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590A7-B5E7-7FBF-12F1-ACD73936EB00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AEDD13-346F-11EE-6A9C-C986106E2C79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C2A0D-BC2B-EA81-E5C9-D70BEC46972C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000117-CC0E-1305-19FE-E25CAD6F4BDB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161A90-63A1-E480-D9F6-5BB666E1F538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997AFC-FF50-DDAE-9067-F0452BB37718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867F385-25F0-5721-BD7F-C6021E52F07A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2ECBD3-1FA2-4F5F-6E93-1D37C2EA09AD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5A47A-7B8C-763E-2607-139FE0201A20}"/>
              </a:ext>
            </a:extLst>
          </p:cNvPr>
          <p:cNvSpPr txBox="1"/>
          <p:nvPr/>
        </p:nvSpPr>
        <p:spPr>
          <a:xfrm>
            <a:off x="723900" y="1527771"/>
            <a:ext cx="10190373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2.2.Chủ nghĩa duy vật(CNDV) và chủ nghĩa duy tâm(CNDT)</a:t>
            </a:r>
            <a:endParaRPr lang="vi-V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Việc </a:t>
            </a:r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mặt thứ nhất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của vấn đề cơ bản của triết học chia các nhà triết học thành hai trường phái lớn.</a:t>
            </a:r>
            <a:endParaRPr lang="vi-V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 b="1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CNDV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vật chất có trước và quyết định ý thức con người.</a:t>
            </a: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 Cho đến nay,CNDV đã được thể hiện dưới ba hình thức cơ bản:</a:t>
            </a: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Chất phác</a:t>
            </a:r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siêu hình</a:t>
            </a:r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biện chứng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sz="2800" b="1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CNDT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 thức, tinh thần, ý niệm, cảm giác là cái có trước.</a:t>
            </a: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 CNDT gồm hai phái:</a:t>
            </a:r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Chủ quan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và </a:t>
            </a:r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khách quan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E0C21-30CD-D4AD-F882-2381407D00F2}"/>
              </a:ext>
            </a:extLst>
          </p:cNvPr>
          <p:cNvSpPr txBox="1"/>
          <p:nvPr/>
        </p:nvSpPr>
        <p:spPr>
          <a:xfrm>
            <a:off x="1495990" y="1062033"/>
            <a:ext cx="93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2.Vấn đề cơ bản của triết học:</a:t>
            </a:r>
            <a:endParaRPr lang="en-GB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E3545-5212-6204-6565-576101FF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6611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99D79-66BC-92A1-03EA-031233B0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8FE4E-5747-FA48-151F-3CD1FE8B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11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60E99-652C-879D-E819-BBD95E340693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993FA7-6934-3938-A7D1-3DCA19D8EBC4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1119B-F01F-BE9F-1D99-6D67BA484301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D56E60-33C6-3455-DAAB-F36B6DBC6150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CED83-0229-F3FD-681C-749CEB3BDA11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DB5B8A-69E2-391C-1F19-C6AB00787C87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CAB0E42-5908-386C-9C9F-9952DD5129C9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368508-0A37-C0E4-3FAF-15D02FB5E713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E30A6-11DD-E1B7-CE86-823F7C4989E6}"/>
              </a:ext>
            </a:extLst>
          </p:cNvPr>
          <p:cNvSpPr txBox="1"/>
          <p:nvPr/>
        </p:nvSpPr>
        <p:spPr>
          <a:xfrm>
            <a:off x="723900" y="1485900"/>
            <a:ext cx="109442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2.2.Chủ nghĩa duy vật(CNDV) và chủ nghĩa duy tâm(CNDT)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-Học thuyết thừa nhận chỉ 1 trong 2 (vật chất/ tinh thần) là nguồn gốc thế giới, quyết định sự vận động thế giới được gọi là </a:t>
            </a:r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nhất nguyên luận.</a:t>
            </a:r>
            <a:endParaRPr lang="vi-VN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-Học thuyết giải thích thế giới bằng cả 2, xem vật chất và tinh thần là hai nguồn gốc và sự vận động của thế giới được gọi là </a:t>
            </a:r>
            <a:r>
              <a:rPr lang="vi-V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nhị nguyên luận.</a:t>
            </a: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90F49-FDA4-3CF2-0027-9B319F5B79AB}"/>
              </a:ext>
            </a:extLst>
          </p:cNvPr>
          <p:cNvSpPr txBox="1"/>
          <p:nvPr/>
        </p:nvSpPr>
        <p:spPr>
          <a:xfrm>
            <a:off x="1495990" y="1062033"/>
            <a:ext cx="93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2.Vấn đề cơ bản của triết học:</a:t>
            </a:r>
            <a:endParaRPr lang="en-GB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6AC4-3969-26F4-ED01-F5BEFE346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3512209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6C60D-9DA0-1210-4B86-8A9F451B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5BE13-809C-0E26-D43C-EDDA5746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12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526B1C-7C93-76D0-55A5-B181BEE6395E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4DF6E6-7B50-45BB-35EB-F08BA5BDB7C0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D5FC1A-F5D8-4F9D-D69C-B5A412F13425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160119-427D-17BD-CCBD-19743BD5F1D5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5A2411-7C1D-546C-97A4-600B99219A33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F44592-53BA-1BA7-528E-1645188BC787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5ABBA4B-4A71-A5DD-F8EE-24B3667F3521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93003-4350-C0D3-BA53-A1F78D450674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2631E-8573-FD12-AFB0-C49F1A2E8F33}"/>
              </a:ext>
            </a:extLst>
          </p:cNvPr>
          <p:cNvSpPr txBox="1"/>
          <p:nvPr/>
        </p:nvSpPr>
        <p:spPr>
          <a:xfrm>
            <a:off x="895645" y="1585252"/>
            <a:ext cx="1076295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2.3. Thuyết khả tri và thuyết bất khả tri:</a:t>
            </a:r>
          </a:p>
          <a:p>
            <a:r>
              <a:rPr lang="vi-VN" sz="2800">
                <a:latin typeface="+mj-lt"/>
              </a:rPr>
              <a:t>Đây là kết quả của cách giải quyết mặt thứ hai vấn đề cơ bản của triết học.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Học thuyết triết </a:t>
            </a:r>
            <a:r>
              <a:rPr lang="vi-VN" sz="2800" b="1">
                <a:latin typeface="+mj-lt"/>
              </a:rPr>
              <a:t>học khẳng định khả năng nhận thức của con người </a:t>
            </a:r>
            <a:r>
              <a:rPr lang="vi-VN" sz="2800">
                <a:latin typeface="+mj-lt"/>
              </a:rPr>
              <a:t>được gọi là </a:t>
            </a:r>
            <a:r>
              <a:rPr lang="vi-VN" sz="2800" b="1">
                <a:latin typeface="+mj-lt"/>
              </a:rPr>
              <a:t>Thuyết khả tri </a:t>
            </a:r>
            <a:r>
              <a:rPr lang="vi-VN" sz="2800">
                <a:latin typeface="+mj-lt"/>
              </a:rPr>
              <a:t>(Gnosticism, Thuyết có thể biết). Thuyết khả tri khẳng định về nguyên tắc con người có thể hiểu được bản chất của sự vật.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Hegel: ý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tuyệt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tha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, con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ý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tuyệt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thân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800" i="1" err="1">
                <a:latin typeface="Times New Roman" pitchFamily="18" charset="0"/>
                <a:cs typeface="Times New Roman" pitchFamily="18" charset="0"/>
              </a:rPr>
              <a:t>mình</a:t>
            </a:r>
            <a:r>
              <a:rPr lang="en-GB" sz="2800" i="1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vi-VN" sz="28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(*)</a:t>
            </a:r>
            <a:endParaRPr lang="en-US" sz="2800" i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EE637-27C6-D9F1-BD53-832D2C019E5D}"/>
              </a:ext>
            </a:extLst>
          </p:cNvPr>
          <p:cNvSpPr txBox="1"/>
          <p:nvPr/>
        </p:nvSpPr>
        <p:spPr>
          <a:xfrm>
            <a:off x="1495990" y="1062033"/>
            <a:ext cx="93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2.Vấn đề cơ bản của triết học:</a:t>
            </a:r>
            <a:endParaRPr lang="en-GB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0C167-21A8-BB69-9D6B-42381905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60744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4924-8179-9540-3F70-CA1F5115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C771-B115-031C-0A30-13050B84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13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D25A4A-D5AC-D593-F4D7-54DF5E1C5F9D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1CBF1D-CEFC-876F-3389-FB8FFC36F8E8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1DFF13-E70F-79B4-811B-9B8CC34CF3DE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88ACEC-2233-51A7-F358-9CA6BCE29C63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6D3347-E939-4B0D-A6AD-B34467DE3F26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DDBABC-7304-0219-B572-415DDA1FADFD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F6FC021-99DB-EEBC-1BE5-5E3512F4E950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6AD3E0-D4C6-15B5-2BF2-423CD38FB9C3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BAB7E-FA3E-1B33-43F8-F1BC88216606}"/>
              </a:ext>
            </a:extLst>
          </p:cNvPr>
          <p:cNvSpPr txBox="1"/>
          <p:nvPr/>
        </p:nvSpPr>
        <p:spPr>
          <a:xfrm>
            <a:off x="723901" y="1490003"/>
            <a:ext cx="11229288" cy="8623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2.3. Thuyết khả tri và thuyết bất khả tri:</a:t>
            </a:r>
          </a:p>
          <a:p>
            <a:r>
              <a:rPr lang="it-IT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it-IT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bất khả tri (A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gnosticism)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phủ nhận khả năng nhận thức của con người.Ít nhiều liên quan đến sự ra đời của trào lưu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hoài nghi luận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từ triết học Hy Lạp cổ đại.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Hoài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– Piron): con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Hoài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(Phục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hưng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uy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Hium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Kant: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TG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GB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  <a:p>
            <a:endParaRPr lang="vi-VN" sz="28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CF586-4FEB-0C03-2B03-D9F5AF60223A}"/>
              </a:ext>
            </a:extLst>
          </p:cNvPr>
          <p:cNvSpPr txBox="1"/>
          <p:nvPr/>
        </p:nvSpPr>
        <p:spPr>
          <a:xfrm>
            <a:off x="1495990" y="1062033"/>
            <a:ext cx="93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2.Vấn đề cơ bản của triết học:</a:t>
            </a:r>
            <a:endParaRPr lang="en-GB" sz="2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302B4-6198-B61A-7778-A7DECD7D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254964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BC12A-C180-09ED-A298-6D108D57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70505-E71A-5ECF-0C56-A274BD27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14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0C5A87-CA79-49D9-DDC3-CFC04BD75B8A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D31848-D100-7201-FE10-B95B71E31C62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2477FC-1AF2-56D0-015D-2CB1E6D83F8C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B0FB80-0788-20F4-6DD2-134EE2B8AD64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A5E6B-9723-5AE4-7A57-BB754F1D3987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26CC1F-D86E-4AF3-6E5C-C3ED987DAA8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6F9DFA3-869A-645C-3F0F-266E60915FB4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DD30B-A8A3-8421-FD9B-F6934834A88D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EE641D-BA22-A943-13D6-01BC7BEE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C83E681-C931-055F-3475-8EC65C1CC5C9}"/>
              </a:ext>
            </a:extLst>
          </p:cNvPr>
          <p:cNvCxnSpPr>
            <a:cxnSpLocks/>
            <a:endCxn id="78" idx="0"/>
          </p:cNvCxnSpPr>
          <p:nvPr/>
        </p:nvCxnSpPr>
        <p:spPr>
          <a:xfrm flipV="1">
            <a:off x="8992111" y="3024297"/>
            <a:ext cx="0" cy="1232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2C8AFA24-0462-6647-99E6-C14766B8E746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826468" y="5098723"/>
            <a:ext cx="842476" cy="27308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4BC6F0A-C9F1-D78E-1D70-971CC49F5CB1}"/>
              </a:ext>
            </a:extLst>
          </p:cNvPr>
          <p:cNvGrpSpPr/>
          <p:nvPr/>
        </p:nvGrpSpPr>
        <p:grpSpPr>
          <a:xfrm>
            <a:off x="850322" y="1062033"/>
            <a:ext cx="9829749" cy="4819458"/>
            <a:chOff x="545522" y="982867"/>
            <a:chExt cx="9829749" cy="481945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BCCA0AB-61D9-019F-3FE3-ACE6CAC520B9}"/>
                </a:ext>
              </a:extLst>
            </p:cNvPr>
            <p:cNvSpPr/>
            <p:nvPr/>
          </p:nvSpPr>
          <p:spPr>
            <a:xfrm>
              <a:off x="4312956" y="5352346"/>
              <a:ext cx="2316982" cy="44997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b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Triết học nhị nguyên</a:t>
              </a:r>
              <a:endParaRPr lang="en-US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55FFE8E-1BC0-EA33-6DE6-8506BE3E8514}"/>
                </a:ext>
              </a:extLst>
            </p:cNvPr>
            <p:cNvSpPr/>
            <p:nvPr/>
          </p:nvSpPr>
          <p:spPr>
            <a:xfrm>
              <a:off x="1079447" y="5352346"/>
              <a:ext cx="2427492" cy="449979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GB" b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Triết học nhất</a:t>
              </a:r>
              <a:r>
                <a:rPr lang="vi-VN" b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GB" b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nguyên</a:t>
              </a:r>
              <a:endParaRPr lang="en-US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6738753-D1C9-16F5-27E8-0F5CAC1F8607}"/>
                </a:ext>
              </a:extLst>
            </p:cNvPr>
            <p:cNvSpPr/>
            <p:nvPr/>
          </p:nvSpPr>
          <p:spPr>
            <a:xfrm>
              <a:off x="7528820" y="2945131"/>
              <a:ext cx="2316982" cy="28489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b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Hoài nghi luận - Thuyết không thể biết TK XVIII</a:t>
              </a:r>
              <a:endParaRPr lang="en-US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endParaRPr lang="en-GB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BBF80E2-3743-3305-9F49-387DC656667D}"/>
                </a:ext>
              </a:extLst>
            </p:cNvPr>
            <p:cNvGrpSpPr/>
            <p:nvPr/>
          </p:nvGrpSpPr>
          <p:grpSpPr>
            <a:xfrm>
              <a:off x="545522" y="982867"/>
              <a:ext cx="9829749" cy="4594470"/>
              <a:chOff x="561975" y="1023943"/>
              <a:chExt cx="9829749" cy="4594470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4365CA48-6CBC-F416-C4BC-693F4363AD19}"/>
                  </a:ext>
                </a:extLst>
              </p:cNvPr>
              <p:cNvGrpSpPr/>
              <p:nvPr/>
            </p:nvGrpSpPr>
            <p:grpSpPr>
              <a:xfrm>
                <a:off x="561975" y="1023943"/>
                <a:ext cx="9829749" cy="3743990"/>
                <a:chOff x="638175" y="1675735"/>
                <a:chExt cx="9829749" cy="3743990"/>
              </a:xfrm>
            </p:grpSpPr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74D6F81-3BA6-3BAD-5678-F8BF5E16373F}"/>
                    </a:ext>
                  </a:extLst>
                </p:cNvPr>
                <p:cNvCxnSpPr>
                  <a:cxnSpLocks/>
                  <a:stCxn id="2" idx="3"/>
                </p:cNvCxnSpPr>
                <p:nvPr/>
              </p:nvCxnSpPr>
              <p:spPr>
                <a:xfrm>
                  <a:off x="7591425" y="1937345"/>
                  <a:ext cx="1188539" cy="10482"/>
                </a:xfrm>
                <a:prstGeom prst="line">
                  <a:avLst/>
                </a:prstGeom>
                <a:ln/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93279B7C-7D75-4508-080A-71E92C071518}"/>
                    </a:ext>
                  </a:extLst>
                </p:cNvPr>
                <p:cNvCxnSpPr>
                  <a:cxnSpLocks/>
                  <a:stCxn id="2" idx="1"/>
                </p:cNvCxnSpPr>
                <p:nvPr/>
              </p:nvCxnSpPr>
              <p:spPr>
                <a:xfrm flipH="1" flipV="1">
                  <a:off x="3415893" y="1921593"/>
                  <a:ext cx="1260882" cy="15752"/>
                </a:xfrm>
                <a:prstGeom prst="lin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BDDD754E-F2A7-5F5F-2A4E-C2A13D019C4B}"/>
                    </a:ext>
                  </a:extLst>
                </p:cNvPr>
                <p:cNvCxnSpPr>
                  <a:cxnSpLocks/>
                  <a:stCxn id="5" idx="0"/>
                </p:cNvCxnSpPr>
                <p:nvPr/>
              </p:nvCxnSpPr>
              <p:spPr>
                <a:xfrm flipH="1" flipV="1">
                  <a:off x="3415893" y="1918796"/>
                  <a:ext cx="1177" cy="334002"/>
                </a:xfrm>
                <a:prstGeom prst="lin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2E4F6E3-458E-57C1-8CC9-89B73AF6237C}"/>
                    </a:ext>
                  </a:extLst>
                </p:cNvPr>
                <p:cNvCxnSpPr>
                  <a:cxnSpLocks/>
                  <a:stCxn id="13" idx="0"/>
                </p:cNvCxnSpPr>
                <p:nvPr/>
              </p:nvCxnSpPr>
              <p:spPr>
                <a:xfrm flipV="1">
                  <a:off x="8772475" y="1947827"/>
                  <a:ext cx="0" cy="341199"/>
                </a:xfrm>
                <a:prstGeom prst="line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31E2882-6A9B-184F-BDE3-650138DBAA03}"/>
                    </a:ext>
                  </a:extLst>
                </p:cNvPr>
                <p:cNvCxnSpPr>
                  <a:cxnSpLocks/>
                  <a:stCxn id="13" idx="2"/>
                  <a:endCxn id="78" idx="0"/>
                </p:cNvCxnSpPr>
                <p:nvPr/>
              </p:nvCxnSpPr>
              <p:spPr>
                <a:xfrm>
                  <a:off x="8772475" y="3203426"/>
                  <a:ext cx="7489" cy="43457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7797D25D-147A-AB2D-FBCF-64E4BA8415C1}"/>
                    </a:ext>
                  </a:extLst>
                </p:cNvPr>
                <p:cNvGrpSpPr/>
                <p:nvPr/>
              </p:nvGrpSpPr>
              <p:grpSpPr>
                <a:xfrm>
                  <a:off x="638175" y="1675735"/>
                  <a:ext cx="9829749" cy="3743990"/>
                  <a:chOff x="638175" y="1675735"/>
                  <a:chExt cx="9829749" cy="3743990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760C2A9F-0C72-5DCC-D065-7F4E313248A4}"/>
                      </a:ext>
                    </a:extLst>
                  </p:cNvPr>
                  <p:cNvGrpSpPr/>
                  <p:nvPr/>
                </p:nvGrpSpPr>
                <p:grpSpPr>
                  <a:xfrm>
                    <a:off x="1721621" y="1675735"/>
                    <a:ext cx="8746303" cy="1549063"/>
                    <a:chOff x="1350146" y="1567987"/>
                    <a:chExt cx="8746303" cy="1549063"/>
                  </a:xfrm>
                </p:grpSpPr>
                <p:sp>
                  <p:nvSpPr>
                    <p:cNvPr id="2" name="Rectangle 1">
                      <a:extLst>
                        <a:ext uri="{FF2B5EF4-FFF2-40B4-BE49-F238E27FC236}">
                          <a16:creationId xmlns:a16="http://schemas.microsoft.com/office/drawing/2014/main" id="{E3A2FDD0-6779-DAAC-2537-5F0C0EC1CF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5300" y="1567987"/>
                      <a:ext cx="2914650" cy="523220"/>
                    </a:xfrm>
                    <a:prstGeom prst="rect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2">
                      <a:schemeClr val="accent5"/>
                    </a:fillRef>
                    <a:effectRef idx="1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Vấn đề cơ bản</a:t>
                      </a:r>
                      <a:endParaRPr lang="en-GB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51390E30-AE3B-9C64-03F4-2EBE71310F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0146" y="2145050"/>
                      <a:ext cx="3390898" cy="972000"/>
                    </a:xfrm>
                    <a:prstGeom prst="rect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2">
                      <a:schemeClr val="accent5"/>
                    </a:fillRef>
                    <a:effectRef idx="1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vi-VN" b="1">
                        <a:solidFill>
                          <a:srgbClr val="0000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GB" b="1">
                          <a:solidFill>
                            <a:srgbClr val="0000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Giữa vật chất và ý thức, cái nào có trước, cái nào có sau, cái nào quyết định cái nào?</a:t>
                      </a:r>
                      <a:endParaRPr lang="en-US" b="1">
                        <a:solidFill>
                          <a:srgbClr val="0000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3E2DB81E-BF44-1499-E228-B18F33032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5551" y="2181278"/>
                      <a:ext cx="3390898" cy="914400"/>
                    </a:xfrm>
                    <a:prstGeom prst="rect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2">
                      <a:schemeClr val="accent5"/>
                    </a:fillRef>
                    <a:effectRef idx="1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b="1">
                          <a:solidFill>
                            <a:srgbClr val="0000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 người có khả năng nhận thức được thế giới hay không?</a:t>
                      </a:r>
                      <a:endParaRPr lang="en-US" b="1">
                        <a:solidFill>
                          <a:srgbClr val="0000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29CCF987-C621-3621-82F5-4C89508E97F1}"/>
                      </a:ext>
                    </a:extLst>
                  </p:cNvPr>
                  <p:cNvSpPr/>
                  <p:nvPr/>
                </p:nvSpPr>
                <p:spPr>
                  <a:xfrm>
                    <a:off x="638175" y="3644822"/>
                    <a:ext cx="1628775" cy="1774903"/>
                  </a:xfrm>
                  <a:prstGeom prst="rect">
                    <a:avLst/>
                  </a:prstGeom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b="1">
                        <a:solidFill>
                          <a:srgbClr val="0000FF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CNDV: vật chất có trước, ý thức có sau</a:t>
                    </a:r>
                    <a:endParaRPr lang="en-US" b="1">
                      <a:solidFill>
                        <a:srgbClr val="0000FF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algn="ctr"/>
                    <a:endParaRPr lang="en-GB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CBB81EAB-02D9-D1B5-76A5-3D7B657AD535}"/>
                      </a:ext>
                    </a:extLst>
                  </p:cNvPr>
                  <p:cNvSpPr/>
                  <p:nvPr/>
                </p:nvSpPr>
                <p:spPr>
                  <a:xfrm>
                    <a:off x="2602682" y="3638000"/>
                    <a:ext cx="1628775" cy="1774903"/>
                  </a:xfrm>
                  <a:prstGeom prst="rect">
                    <a:avLst/>
                  </a:prstGeom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b="1">
                        <a:solidFill>
                          <a:srgbClr val="0000FF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CNDT: ý thức có trước, vật chất có sau</a:t>
                    </a:r>
                    <a:endParaRPr lang="en-US" b="1">
                      <a:solidFill>
                        <a:srgbClr val="0000FF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algn="ctr"/>
                    <a:endParaRPr lang="en-GB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218BC6C4-DAB4-0C9F-504B-58CCC327DC4F}"/>
                      </a:ext>
                    </a:extLst>
                  </p:cNvPr>
                  <p:cNvSpPr/>
                  <p:nvPr/>
                </p:nvSpPr>
                <p:spPr>
                  <a:xfrm>
                    <a:off x="4749713" y="3637999"/>
                    <a:ext cx="1628775" cy="1774903"/>
                  </a:xfrm>
                  <a:prstGeom prst="rect">
                    <a:avLst/>
                  </a:prstGeom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b="1">
                        <a:solidFill>
                          <a:srgbClr val="0000FF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Vật chất và ý thức song song tồn tại</a:t>
                    </a:r>
                    <a:endParaRPr lang="en-US" b="1">
                      <a:solidFill>
                        <a:srgbClr val="0000FF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 algn="ctr"/>
                    <a:endParaRPr lang="en-GB"/>
                  </a:p>
                </p:txBody>
              </p:sp>
            </p:grpSp>
          </p:grpSp>
          <p:cxnSp>
            <p:nvCxnSpPr>
              <p:cNvPr id="86" name="Connector: Elbow 85">
                <a:extLst>
                  <a:ext uri="{FF2B5EF4-FFF2-40B4-BE49-F238E27FC236}">
                    <a16:creationId xmlns:a16="http://schemas.microsoft.com/office/drawing/2014/main" id="{04DEF79B-8BD0-93BE-D209-D4F9D1203ED8}"/>
                  </a:ext>
                </a:extLst>
              </p:cNvPr>
              <p:cNvCxnSpPr>
                <a:cxnSpLocks/>
                <a:endCxn id="77" idx="3"/>
              </p:cNvCxnSpPr>
              <p:nvPr/>
            </p:nvCxnSpPr>
            <p:spPr>
              <a:xfrm rot="5400000">
                <a:off x="3256838" y="5047819"/>
                <a:ext cx="837148" cy="304039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706772A-433D-E6B9-6E7C-21271101FFC3}"/>
              </a:ext>
            </a:extLst>
          </p:cNvPr>
          <p:cNvCxnSpPr>
            <a:stCxn id="5" idx="2"/>
            <a:endCxn id="39" idx="0"/>
          </p:cNvCxnSpPr>
          <p:nvPr/>
        </p:nvCxnSpPr>
        <p:spPr>
          <a:xfrm flipH="1">
            <a:off x="1664710" y="2611096"/>
            <a:ext cx="1964507" cy="420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8714AF3-3B1C-CB47-4EDC-E8D3EC58C8A3}"/>
              </a:ext>
            </a:extLst>
          </p:cNvPr>
          <p:cNvCxnSpPr>
            <a:stCxn id="5" idx="2"/>
            <a:endCxn id="75" idx="0"/>
          </p:cNvCxnSpPr>
          <p:nvPr/>
        </p:nvCxnSpPr>
        <p:spPr>
          <a:xfrm>
            <a:off x="3629217" y="2611096"/>
            <a:ext cx="0" cy="413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C13E837-3F2A-68EF-ADF4-CD044D40DE38}"/>
              </a:ext>
            </a:extLst>
          </p:cNvPr>
          <p:cNvCxnSpPr>
            <a:stCxn id="5" idx="2"/>
            <a:endCxn id="76" idx="0"/>
          </p:cNvCxnSpPr>
          <p:nvPr/>
        </p:nvCxnSpPr>
        <p:spPr>
          <a:xfrm>
            <a:off x="3629217" y="2611096"/>
            <a:ext cx="2147031" cy="413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082E101-48A6-0652-2D08-FA7D5ED4748B}"/>
              </a:ext>
            </a:extLst>
          </p:cNvPr>
          <p:cNvCxnSpPr>
            <a:stCxn id="76" idx="2"/>
            <a:endCxn id="62" idx="0"/>
          </p:cNvCxnSpPr>
          <p:nvPr/>
        </p:nvCxnSpPr>
        <p:spPr>
          <a:xfrm flipH="1">
            <a:off x="5776247" y="4799200"/>
            <a:ext cx="1" cy="632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43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8432-3A70-8E88-5444-FD84B668E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F380C-8EBC-BF3B-5D7F-AB5761DF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15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B19B8-4063-6FF4-99BF-204DC9410FB9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1FEC51-8646-CB17-6196-63137D7EA351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007C60-2AE7-B005-DDB4-FE257E7D5A7E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B85171-097D-0CBD-B380-29A464CD3DBA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5F3384-2F7C-D27B-87BC-73262AF03C78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4D2FFC-3224-F16D-B716-8CEA2E71CAB3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D016EC9-B5B7-D43C-D69A-C419414F6A6F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37909-4138-44BE-EAA1-24A9092608C3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3CD23-7988-EB40-1E60-282AC1AB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9E521-275A-8236-6FA3-4A3C3AC15F04}"/>
              </a:ext>
            </a:extLst>
          </p:cNvPr>
          <p:cNvSpPr txBox="1"/>
          <p:nvPr/>
        </p:nvSpPr>
        <p:spPr>
          <a:xfrm>
            <a:off x="554807" y="1171575"/>
            <a:ext cx="8608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+mj-lt"/>
              </a:rPr>
              <a:t>3/Biện chứng và siêu hình: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C3A9B-22D7-5300-3D99-16448B2EC6D8}"/>
              </a:ext>
            </a:extLst>
          </p:cNvPr>
          <p:cNvSpPr txBox="1"/>
          <p:nvPr/>
        </p:nvSpPr>
        <p:spPr>
          <a:xfrm>
            <a:off x="554807" y="2212211"/>
            <a:ext cx="109061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>
                <a:latin typeface="+mj-lt"/>
              </a:rPr>
              <a:t>-Nghĩa xuất phát của từ </a:t>
            </a:r>
            <a:r>
              <a:rPr lang="vi-VN" sz="2800" b="1">
                <a:latin typeface="+mj-lt"/>
              </a:rPr>
              <a:t>“biện chứng” </a:t>
            </a:r>
            <a:r>
              <a:rPr lang="vi-VN" sz="2800">
                <a:latin typeface="+mj-lt"/>
              </a:rPr>
              <a:t>là nghệ thuật tranh luận để tìm chân lý bằng cách phát hiện mâu thuẫn trong cách lập luận (Socrates dùng). </a:t>
            </a:r>
          </a:p>
          <a:p>
            <a:r>
              <a:rPr lang="vi-VN" sz="2800">
                <a:latin typeface="+mj-lt"/>
              </a:rPr>
              <a:t>-Nghĩa ban đầu của từ </a:t>
            </a:r>
            <a:r>
              <a:rPr lang="vi-VN" sz="2800" b="1">
                <a:latin typeface="+mj-lt"/>
              </a:rPr>
              <a:t>“siêu hình” </a:t>
            </a:r>
            <a:r>
              <a:rPr lang="vi-VN" sz="2800">
                <a:latin typeface="+mj-lt"/>
              </a:rPr>
              <a:t>là dùng để chỉ triết học, với tư cách là khoa học siêu cảm tính, phi thực nghiệm (Aristotle dùng).</a:t>
            </a:r>
          </a:p>
          <a:p>
            <a:r>
              <a:rPr lang="vi-VN" sz="2800">
                <a:latin typeface="+mj-lt"/>
              </a:rPr>
              <a:t>-Trong triết học hiện đại, đặc biệt triết học mácxít, chúng được dùng, trước hết để chỉ hai phương pháp tư duy </a:t>
            </a:r>
            <a:r>
              <a:rPr lang="vi-VN" sz="2800" i="1">
                <a:latin typeface="+mj-lt"/>
              </a:rPr>
              <a:t>chung nhất đối lập </a:t>
            </a:r>
            <a:r>
              <a:rPr lang="vi-VN" sz="2800">
                <a:latin typeface="+mj-lt"/>
              </a:rPr>
              <a:t>nhau đó là </a:t>
            </a:r>
          </a:p>
          <a:p>
            <a:r>
              <a:rPr lang="vi-VN" sz="2800" b="1">
                <a:latin typeface="+mj-lt"/>
              </a:rPr>
              <a:t>phương pháp biện chứng </a:t>
            </a:r>
            <a:r>
              <a:rPr lang="vi-VN" sz="2800">
                <a:latin typeface="+mj-lt"/>
              </a:rPr>
              <a:t>và </a:t>
            </a:r>
            <a:r>
              <a:rPr lang="vi-VN" sz="2800" b="1">
                <a:latin typeface="+mj-lt"/>
              </a:rPr>
              <a:t>phương pháp siêu hình</a:t>
            </a:r>
            <a:r>
              <a:rPr lang="vi-VN" sz="2800">
                <a:latin typeface="+mj-lt"/>
              </a:rPr>
              <a:t>.</a:t>
            </a:r>
            <a:endParaRPr lang="en-GB" sz="280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5EC4D-2492-1F3D-25D5-04C0080A1DA8}"/>
              </a:ext>
            </a:extLst>
          </p:cNvPr>
          <p:cNvSpPr txBox="1"/>
          <p:nvPr/>
        </p:nvSpPr>
        <p:spPr>
          <a:xfrm>
            <a:off x="554807" y="1691893"/>
            <a:ext cx="8705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+mj-lt"/>
              </a:rPr>
              <a:t> Khái niệm:</a:t>
            </a:r>
            <a:endParaRPr lang="en-GB" sz="2800" b="1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9723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C690-79F7-AD1C-90CE-5760BB62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1D7E4-808F-4CDD-5FE2-7D8A8E7C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16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2FEA15-8613-096A-D1BE-38E9B5E7CDF8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7F17AA-5473-6DB7-E49C-06887E425585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300B64-C71F-68AD-76C6-52C7E269D2D8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72E1D5-4462-DA34-E1FC-F92C6B96D208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655127-EACE-42E3-29A3-FC9F8097D47D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8DFB68-6968-52F4-18EA-80661BE9499C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8698FF6-0473-78FD-82AA-6B057367CB6F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4DA0E0-6D23-7CE4-8000-D65DC6FC0DD2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9B14F-6039-16F8-D1C2-5CB36568C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34517-EAD2-9734-34CD-E4828DE4F3EC}"/>
              </a:ext>
            </a:extLst>
          </p:cNvPr>
          <p:cNvSpPr txBox="1"/>
          <p:nvPr/>
        </p:nvSpPr>
        <p:spPr>
          <a:xfrm>
            <a:off x="554807" y="1171575"/>
            <a:ext cx="8608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+mj-lt"/>
              </a:rPr>
              <a:t>3/Biện chứng và siêu hình: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5A5AB-5050-EC6E-1E46-5A9D30BD653C}"/>
              </a:ext>
            </a:extLst>
          </p:cNvPr>
          <p:cNvSpPr txBox="1"/>
          <p:nvPr/>
        </p:nvSpPr>
        <p:spPr>
          <a:xfrm>
            <a:off x="554807" y="1694795"/>
            <a:ext cx="109061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latin typeface="+mj-lt"/>
              </a:rPr>
              <a:t>Biện Chứng: </a:t>
            </a:r>
          </a:p>
          <a:p>
            <a:r>
              <a:rPr lang="vi-VN" sz="2800">
                <a:latin typeface="+mj-lt"/>
              </a:rPr>
              <a:t>-Trong sự lệ thuộc, ảnh hưởng, ràng buộc, quy định lẫn nhau.</a:t>
            </a:r>
          </a:p>
          <a:p>
            <a:r>
              <a:rPr lang="vi-VN" sz="2800">
                <a:latin typeface="+mj-lt"/>
              </a:rPr>
              <a:t>-Luôn vận động biến đổi.</a:t>
            </a:r>
          </a:p>
          <a:p>
            <a:r>
              <a:rPr lang="vi-VN" sz="2800">
                <a:latin typeface="+mj-lt"/>
              </a:rPr>
              <a:t>-Trong khuynh hướng phổ quát là phát triển.</a:t>
            </a:r>
          </a:p>
          <a:p>
            <a:r>
              <a:rPr lang="vi-VN" sz="2800" b="1">
                <a:latin typeface="+mj-lt"/>
              </a:rPr>
              <a:t>Siêu Hình: </a:t>
            </a:r>
          </a:p>
          <a:p>
            <a:r>
              <a:rPr lang="vi-VN" sz="2800">
                <a:latin typeface="+mj-lt"/>
              </a:rPr>
              <a:t>-Trong trạng thái cô lập,tách rời.</a:t>
            </a:r>
          </a:p>
          <a:p>
            <a:r>
              <a:rPr lang="vi-VN" sz="2800">
                <a:latin typeface="+mj-lt"/>
              </a:rPr>
              <a:t>-Nhận thức đối tượng ở trạng thái tĩnh, không có biến đổi.</a:t>
            </a:r>
          </a:p>
          <a:p>
            <a:r>
              <a:rPr lang="vi-VN" sz="2800">
                <a:latin typeface="+mj-lt"/>
              </a:rPr>
              <a:t>-Không có phát triển.</a:t>
            </a:r>
            <a:endParaRPr lang="en-GB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2865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5F018-F635-178B-5198-92E5F4ED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79D55-24DF-A5A7-754B-8211F3DD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17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9A0AF3-F3FF-06B0-08BC-863C2EA2B87C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53E251-A66B-C315-689D-A43ECE55C92B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AD6C71-8066-082E-8F24-99F00C611891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992414-7414-53FE-B802-5727728B7911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C56BBB-DD5F-4D39-6A27-2056B828F2B3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FB546A-C159-330A-FB79-6D0F9A61E473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8D1E7C2-E878-4505-ACAD-F14A05FD06C3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84A17C-39E4-BB0D-522C-F2CA77F4ABD2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42799-56E2-5321-0EE3-40BED21F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F037D-8AC3-0009-5C46-B69CC8993C7C}"/>
              </a:ext>
            </a:extLst>
          </p:cNvPr>
          <p:cNvSpPr txBox="1"/>
          <p:nvPr/>
        </p:nvSpPr>
        <p:spPr>
          <a:xfrm>
            <a:off x="1726383" y="1082096"/>
            <a:ext cx="8608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solidFill>
                  <a:srgbClr val="FF0000"/>
                </a:solidFill>
                <a:latin typeface="+mj-lt"/>
              </a:rPr>
              <a:t>Sự đối lập Biện chứng và siêu hình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E60B916-75E1-F0B3-C5CE-E9F855D18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17524"/>
              </p:ext>
            </p:extLst>
          </p:nvPr>
        </p:nvGraphicFramePr>
        <p:xfrm>
          <a:off x="571501" y="1611689"/>
          <a:ext cx="10993642" cy="471272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5496821">
                  <a:extLst>
                    <a:ext uri="{9D8B030D-6E8A-4147-A177-3AD203B41FA5}">
                      <a16:colId xmlns:a16="http://schemas.microsoft.com/office/drawing/2014/main" val="949353743"/>
                    </a:ext>
                  </a:extLst>
                </a:gridCol>
                <a:gridCol w="5496821">
                  <a:extLst>
                    <a:ext uri="{9D8B030D-6E8A-4147-A177-3AD203B41FA5}">
                      <a16:colId xmlns:a16="http://schemas.microsoft.com/office/drawing/2014/main" val="2700223014"/>
                    </a:ext>
                  </a:extLst>
                </a:gridCol>
              </a:tblGrid>
              <a:tr h="690469">
                <a:tc>
                  <a:txBody>
                    <a:bodyPr/>
                    <a:lstStyle/>
                    <a:p>
                      <a:pPr algn="ctr"/>
                      <a:r>
                        <a:rPr lang="vi-VN" sz="2000" b="1">
                          <a:solidFill>
                            <a:srgbClr val="FF0000"/>
                          </a:solidFill>
                          <a:latin typeface="+mj-lt"/>
                        </a:rPr>
                        <a:t>Trừu tượng hóa (trong biện chứng)</a:t>
                      </a:r>
                      <a:endParaRPr lang="en-GB" sz="2000" b="1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b="1">
                          <a:solidFill>
                            <a:srgbClr val="FF0000"/>
                          </a:solidFill>
                          <a:latin typeface="+mj-lt"/>
                        </a:rPr>
                        <a:t>Phương pháp siêu hình</a:t>
                      </a:r>
                      <a:endParaRPr lang="en-GB" sz="2000" b="1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339147"/>
                  </a:ext>
                </a:extLst>
              </a:tr>
              <a:tr h="690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Tạm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rút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cái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chung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quy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luật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đó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quay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đặt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mối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hiểu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toàn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vĩnh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viễn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luôn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luôn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tách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rời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khỏi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mối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quay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1029779"/>
                  </a:ext>
                </a:extLst>
              </a:tr>
              <a:tr h="690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mối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phổ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Coi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đứng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cạnh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nhau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327182"/>
                  </a:ext>
                </a:extLst>
              </a:tr>
              <a:tr h="690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Thừa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mâu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thuẫn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bên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thừa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bề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ngoài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bên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ngoài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Phủ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9349457"/>
                  </a:ext>
                </a:extLst>
              </a:tr>
              <a:tr h="690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Dẫn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khoa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biện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giúp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cải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tạo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thế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giới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như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luận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Dẫn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móc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"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thấy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cây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mà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thấy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rừng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 (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Ăngghen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9149098"/>
                  </a:ext>
                </a:extLst>
              </a:tr>
              <a:tr h="690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cứu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"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lao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 </a:t>
                      </a:r>
                      <a:r>
                        <a:rPr lang="vi-V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trừu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tượng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hóa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tạm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thời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rút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"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lao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trừu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tượng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 </a:t>
                      </a:r>
                      <a:r>
                        <a:rPr lang="vi-V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rồi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bóc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lột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</a:t>
                      </a:r>
                      <a:r>
                        <a:rPr lang="en-GB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b="1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thấy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mâu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thuẫn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dẫn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đến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đấu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tranh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giai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cấp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cách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000" kern="10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GB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93930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130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13D1-0806-ABA0-6D61-69881B85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68DAA-505B-ECA6-1B8A-C81F7305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18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968998-8EEC-7A78-2AE8-21DB5C9FB0EB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32B69-F8FE-54DA-4264-0899D33D07E3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DE4A43-1099-BC84-1430-DF40AB0E00FA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AF55B2-69F2-C24C-DA81-37B67855F041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962FCE-63FC-DF2E-F7AB-EE36AE756933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5B5D1D-0FE2-5926-B31A-9EC0390E2B41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BD31645-9EF9-77F4-900D-30ED4EE38FC6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38A6A5-CA5A-B4DF-FFB3-2DD6FD4B58F9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6CF54-499E-08A4-6483-3AB99330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32FFCC-37F2-CE7E-FB7F-09A09709FF1A}"/>
              </a:ext>
            </a:extLst>
          </p:cNvPr>
          <p:cNvSpPr txBox="1"/>
          <p:nvPr/>
        </p:nvSpPr>
        <p:spPr>
          <a:xfrm>
            <a:off x="554807" y="1171575"/>
            <a:ext cx="8608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latin typeface="+mj-lt"/>
              </a:rPr>
              <a:t>3/Biện chứng và siêu hình: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1BF05-21B0-43DE-AE6B-33B8BF98A14D}"/>
              </a:ext>
            </a:extLst>
          </p:cNvPr>
          <p:cNvSpPr txBox="1"/>
          <p:nvPr/>
        </p:nvSpPr>
        <p:spPr>
          <a:xfrm>
            <a:off x="554807" y="1694795"/>
            <a:ext cx="109061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>
                <a:solidFill>
                  <a:srgbClr val="FF0000"/>
                </a:solidFill>
                <a:highlight>
                  <a:srgbClr val="00FFFF"/>
                </a:highlight>
                <a:latin typeface="+mj-lt"/>
              </a:rPr>
              <a:t>Các hình thức của phép biện chứng trong lịch sử:</a:t>
            </a:r>
          </a:p>
          <a:p>
            <a:r>
              <a:rPr lang="vi-VN" sz="2800">
                <a:latin typeface="+mj-lt"/>
              </a:rPr>
              <a:t>-Phép biện chứng </a:t>
            </a:r>
            <a:r>
              <a:rPr lang="vi-VN" sz="2800" b="1" i="1">
                <a:latin typeface="+mj-lt"/>
              </a:rPr>
              <a:t>tự phát thời cổ đại </a:t>
            </a:r>
            <a:r>
              <a:rPr lang="vi-VN" sz="2800">
                <a:latin typeface="+mj-lt"/>
              </a:rPr>
              <a:t>(</a:t>
            </a:r>
            <a:endParaRPr lang="vi-VN" sz="2800" b="1" i="1">
              <a:latin typeface="+mj-lt"/>
            </a:endParaRPr>
          </a:p>
          <a:p>
            <a:r>
              <a:rPr lang="vi-VN" sz="2800">
                <a:latin typeface="+mj-lt"/>
              </a:rPr>
              <a:t>-Phép biện chứng </a:t>
            </a:r>
            <a:r>
              <a:rPr lang="vi-VN" sz="2800" b="1" i="1">
                <a:latin typeface="+mj-lt"/>
              </a:rPr>
              <a:t>duy tâm</a:t>
            </a:r>
          </a:p>
          <a:p>
            <a:r>
              <a:rPr lang="vi-VN" sz="2800">
                <a:latin typeface="+mj-lt"/>
              </a:rPr>
              <a:t>-Phép biện chứng </a:t>
            </a:r>
            <a:r>
              <a:rPr lang="vi-VN" sz="2800" b="1" i="1">
                <a:latin typeface="+mj-lt"/>
              </a:rPr>
              <a:t>duy vật</a:t>
            </a:r>
          </a:p>
          <a:p>
            <a:r>
              <a:rPr lang="vi-VN" sz="2800" b="1">
                <a:latin typeface="+mj-lt"/>
              </a:rPr>
              <a:t>Các phép biện chứng trước triết học Marx-Lenin:</a:t>
            </a:r>
          </a:p>
          <a:p>
            <a:r>
              <a:rPr lang="vi-VN" sz="2800">
                <a:latin typeface="+mj-lt"/>
              </a:rPr>
              <a:t>-Triết học Trung Hoa cổ đại</a:t>
            </a:r>
          </a:p>
          <a:p>
            <a:r>
              <a:rPr lang="vi-VN" sz="2800">
                <a:latin typeface="+mj-lt"/>
              </a:rPr>
              <a:t>-Triết học Ấn Độ cổ đại</a:t>
            </a:r>
          </a:p>
          <a:p>
            <a:r>
              <a:rPr lang="vi-VN" sz="2800">
                <a:latin typeface="+mj-lt"/>
              </a:rPr>
              <a:t>-Triết học Hy Lạp cổ đại</a:t>
            </a:r>
          </a:p>
          <a:p>
            <a:r>
              <a:rPr lang="vi-VN" sz="2800">
                <a:latin typeface="+mj-lt"/>
              </a:rPr>
              <a:t>-Phép biện chứng Tây Âu thế kỷ XIV-XVIII</a:t>
            </a:r>
          </a:p>
          <a:p>
            <a:r>
              <a:rPr lang="vi-VN" sz="2800">
                <a:latin typeface="+mj-lt"/>
              </a:rPr>
              <a:t>-Phép biện chứng cổ điển Đức</a:t>
            </a:r>
            <a:endParaRPr lang="en-GB" sz="2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4904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FC23-6154-3821-F86A-7F1309E3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7D875-D2D4-6873-C6DB-50797957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19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821181-C763-6EAC-9E62-1756BB1EF5B8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03B27-84E5-C2AE-F605-0EEDD4ABB664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FF768F-3B65-C166-8BB7-2207F92BD6BE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09D62-5E72-D856-3C5F-797F8089DAB3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BB51E7-0FAC-372D-1B4D-5BFC30EF754E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BC375D-7E3E-BE92-347A-ACFB0C905B99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C78FEA-654E-95B4-746A-C181650D2137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712EB6-8E49-B05F-278D-F72043242E9E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B34FC-6683-88F6-AF64-6D8B0C0B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2210834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DF27-4969-3CC4-4FFD-1E82F6146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54AF7-162D-4CD6-166C-8CC7C8F5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20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5CA92-EBE4-5278-6E5A-0F1FBE483B06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AC01E4-018D-774F-6A30-FA4730E648FA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013754-B759-C886-B6F1-FB1FA53CD2A6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B4EB12-4B0C-C089-8E40-7604BBD438E9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9FC5C-7430-639C-C257-397AEACB715B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BBB549-ACBB-3E78-B3BC-AD9CC7ABD09E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26B3211-789E-866E-487C-B77E8195046C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ECDF3D-FC0F-2942-7908-4F1B4EBEC939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9FC38-560B-3366-171E-05963405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1602410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31403-AB85-FDD1-141D-3CEB5A95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8E26E-D596-6937-C88C-2B1A6E4C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71788" y="6323389"/>
            <a:ext cx="3581400" cy="692150"/>
          </a:xfrm>
        </p:spPr>
        <p:txBody>
          <a:bodyPr/>
          <a:lstStyle/>
          <a:p>
            <a:fld id="{A173E6DD-C4A4-44A6-A27F-8F8B70724A0D}" type="slidenum">
              <a:rPr lang="en-GB" sz="1600" b="1" smtClean="0"/>
              <a:pPr/>
              <a:t>21</a:t>
            </a:fld>
            <a:endParaRPr lang="en-GB" sz="16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569577-C2AD-A54F-33F3-A8C966E18669}"/>
              </a:ext>
            </a:extLst>
          </p:cNvPr>
          <p:cNvSpPr/>
          <p:nvPr/>
        </p:nvSpPr>
        <p:spPr>
          <a:xfrm>
            <a:off x="226243" y="188536"/>
            <a:ext cx="11726945" cy="6355139"/>
          </a:xfrm>
          <a:prstGeom prst="rect">
            <a:avLst/>
          </a:prstGeom>
          <a:noFill/>
          <a:ln w="63500" cmpd="dbl">
            <a:solidFill>
              <a:srgbClr val="0070C0">
                <a:alpha val="71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E1833C-BA82-2AA3-4A07-4EEFF7EFCDC0}"/>
              </a:ext>
            </a:extLst>
          </p:cNvPr>
          <p:cNvSpPr/>
          <p:nvPr/>
        </p:nvSpPr>
        <p:spPr>
          <a:xfrm>
            <a:off x="352425" y="714375"/>
            <a:ext cx="742950" cy="3714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2673C-ABE7-0E8C-A2E8-17BC51BF40DA}"/>
              </a:ext>
            </a:extLst>
          </p:cNvPr>
          <p:cNvSpPr/>
          <p:nvPr/>
        </p:nvSpPr>
        <p:spPr>
          <a:xfrm>
            <a:off x="638175" y="857250"/>
            <a:ext cx="742950" cy="3714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7AC02C-235B-2227-602B-C1723936AE4E}"/>
              </a:ext>
            </a:extLst>
          </p:cNvPr>
          <p:cNvSpPr/>
          <p:nvPr/>
        </p:nvSpPr>
        <p:spPr>
          <a:xfrm>
            <a:off x="947124" y="714375"/>
            <a:ext cx="548866" cy="51435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2F3D4B-35FB-89AB-72C0-63BA0DCD8AA4}"/>
              </a:ext>
            </a:extLst>
          </p:cNvPr>
          <p:cNvCxnSpPr>
            <a:cxnSpLocks/>
          </p:cNvCxnSpPr>
          <p:nvPr/>
        </p:nvCxnSpPr>
        <p:spPr>
          <a:xfrm>
            <a:off x="1095375" y="188536"/>
            <a:ext cx="0" cy="1040189"/>
          </a:xfrm>
          <a:prstGeom prst="line">
            <a:avLst/>
          </a:prstGeom>
          <a:ln w="53975">
            <a:solidFill>
              <a:srgbClr val="0070C0">
                <a:alpha val="62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339872-E817-85D1-C5D0-04CE8C935B37}"/>
              </a:ext>
            </a:extLst>
          </p:cNvPr>
          <p:cNvCxnSpPr>
            <a:stCxn id="12" idx="2"/>
          </p:cNvCxnSpPr>
          <p:nvPr/>
        </p:nvCxnSpPr>
        <p:spPr>
          <a:xfrm>
            <a:off x="947124" y="971550"/>
            <a:ext cx="10606701" cy="0"/>
          </a:xfrm>
          <a:prstGeom prst="line">
            <a:avLst/>
          </a:prstGeom>
          <a:ln w="53975" cap="sq" cmpd="sng">
            <a:solidFill>
              <a:srgbClr val="0070C0">
                <a:alpha val="62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8D52C-5A45-CFFA-07A7-FB069871E90F}"/>
              </a:ext>
            </a:extLst>
          </p:cNvPr>
          <p:cNvSpPr/>
          <p:nvPr/>
        </p:nvSpPr>
        <p:spPr>
          <a:xfrm>
            <a:off x="1507307" y="314325"/>
            <a:ext cx="10057835" cy="5667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406400" dist="127000" dir="132000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2700D-3AB2-517C-9755-7F06FB7478D4}"/>
              </a:ext>
            </a:extLst>
          </p:cNvPr>
          <p:cNvSpPr txBox="1"/>
          <p:nvPr/>
        </p:nvSpPr>
        <p:spPr>
          <a:xfrm>
            <a:off x="1644241" y="413030"/>
            <a:ext cx="965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>
                <a:latin typeface="+mj-lt"/>
              </a:rPr>
              <a:t>TRIẾT HỌC VÀ VẤN ĐỀ CƠ BẢN CỦA TRIẾT HỌC</a:t>
            </a:r>
            <a:endParaRPr lang="en-GB" sz="2400" b="1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7F4DB-89E2-BE33-6E02-B6082BBB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Phạm Huỳnh Minh Mẫn</a:t>
            </a:r>
          </a:p>
        </p:txBody>
      </p:sp>
    </p:spTree>
    <p:extLst>
      <p:ext uri="{BB962C8B-B14F-4D97-AF65-F5344CB8AC3E}">
        <p14:creationId xmlns:p14="http://schemas.microsoft.com/office/powerpoint/2010/main" val="160606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</TotalTime>
  <Words>2770</Words>
  <Application>Microsoft Office PowerPoint</Application>
  <PresentationFormat>Widescreen</PresentationFormat>
  <Paragraphs>245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huynhminhmanpham@gmail.com</dc:creator>
  <cp:lastModifiedBy>huynhminhmanpham@gmail.com</cp:lastModifiedBy>
  <cp:revision>15</cp:revision>
  <dcterms:created xsi:type="dcterms:W3CDTF">2026-01-01T05:35:07Z</dcterms:created>
  <dcterms:modified xsi:type="dcterms:W3CDTF">2026-02-09T11:01:29Z</dcterms:modified>
</cp:coreProperties>
</file>