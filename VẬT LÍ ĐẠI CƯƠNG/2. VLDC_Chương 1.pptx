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9"/>
  </p:notesMasterIdLst>
  <p:sldIdLst>
    <p:sldId id="257" r:id="rId2"/>
    <p:sldId id="258" r:id="rId3"/>
    <p:sldId id="283" r:id="rId4"/>
    <p:sldId id="262" r:id="rId5"/>
    <p:sldId id="259" r:id="rId6"/>
    <p:sldId id="260" r:id="rId7"/>
    <p:sldId id="263" r:id="rId8"/>
    <p:sldId id="269" r:id="rId9"/>
    <p:sldId id="284" r:id="rId10"/>
    <p:sldId id="285" r:id="rId11"/>
    <p:sldId id="286" r:id="rId12"/>
    <p:sldId id="270" r:id="rId13"/>
    <p:sldId id="287" r:id="rId14"/>
    <p:sldId id="265" r:id="rId15"/>
    <p:sldId id="282" r:id="rId16"/>
    <p:sldId id="288" r:id="rId17"/>
    <p:sldId id="327" r:id="rId18"/>
    <p:sldId id="289" r:id="rId19"/>
    <p:sldId id="326" r:id="rId20"/>
    <p:sldId id="271" r:id="rId21"/>
    <p:sldId id="305" r:id="rId22"/>
    <p:sldId id="308" r:id="rId23"/>
    <p:sldId id="325" r:id="rId24"/>
    <p:sldId id="272" r:id="rId25"/>
    <p:sldId id="273" r:id="rId26"/>
    <p:sldId id="304" r:id="rId27"/>
    <p:sldId id="266" r:id="rId28"/>
    <p:sldId id="291" r:id="rId29"/>
    <p:sldId id="292" r:id="rId30"/>
    <p:sldId id="293" r:id="rId31"/>
    <p:sldId id="294" r:id="rId32"/>
    <p:sldId id="295" r:id="rId33"/>
    <p:sldId id="296" r:id="rId34"/>
    <p:sldId id="299" r:id="rId35"/>
    <p:sldId id="274" r:id="rId36"/>
    <p:sldId id="275" r:id="rId37"/>
    <p:sldId id="277" r:id="rId38"/>
    <p:sldId id="278" r:id="rId39"/>
    <p:sldId id="268" r:id="rId40"/>
    <p:sldId id="303" r:id="rId41"/>
    <p:sldId id="302" r:id="rId42"/>
    <p:sldId id="309" r:id="rId43"/>
    <p:sldId id="310" r:id="rId44"/>
    <p:sldId id="279" r:id="rId45"/>
    <p:sldId id="280" r:id="rId46"/>
    <p:sldId id="306" r:id="rId47"/>
    <p:sldId id="307" r:id="rId48"/>
    <p:sldId id="323" r:id="rId49"/>
    <p:sldId id="311" r:id="rId50"/>
    <p:sldId id="329" r:id="rId51"/>
    <p:sldId id="314" r:id="rId52"/>
    <p:sldId id="315" r:id="rId53"/>
    <p:sldId id="324" r:id="rId54"/>
    <p:sldId id="316" r:id="rId55"/>
    <p:sldId id="317" r:id="rId56"/>
    <p:sldId id="318" r:id="rId57"/>
    <p:sldId id="328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154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A85324-30F1-4CB4-BC60-2A8A60B49A0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210D7-08A4-4F18-8983-0F79AA4E6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24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210D7-08A4-4F18-8983-0F79AA4E63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394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9210D7-08A4-4F18-8983-0F79AA4E63EF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Notes Placeholder 6">
                <a:extLst>
                  <a:ext uri="{FF2B5EF4-FFF2-40B4-BE49-F238E27FC236}">
                    <a16:creationId xmlns:a16="http://schemas.microsoft.com/office/drawing/2014/main" id="{CCE9E812-D409-5DD5-A6D9-55AB6837EA81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r>
                  <a:rPr lang="en-US" dirty="0"/>
                  <a:t>Tốc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trung</a:t>
                </a:r>
                <a:r>
                  <a:rPr lang="en-US" dirty="0"/>
                  <a:t> </a:t>
                </a:r>
                <a:r>
                  <a:rPr lang="en-US" dirty="0" err="1"/>
                  <a:t>binh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= 34,3 km/h</a:t>
                </a:r>
              </a:p>
              <a:p>
                <a:r>
                  <a:rPr lang="en-US" dirty="0" err="1"/>
                  <a:t>Vận</a:t>
                </a:r>
                <a:r>
                  <a:rPr lang="en-US" dirty="0"/>
                  <a:t> </a:t>
                </a:r>
                <a:r>
                  <a:rPr lang="en-US" dirty="0" err="1"/>
                  <a:t>tốc</a:t>
                </a:r>
                <a:r>
                  <a:rPr lang="en-US" dirty="0"/>
                  <a:t> </a:t>
                </a:r>
                <a:r>
                  <a:rPr lang="en-US" dirty="0" err="1"/>
                  <a:t>trung</a:t>
                </a:r>
                <a:r>
                  <a:rPr lang="en-US" dirty="0"/>
                  <a:t> </a:t>
                </a:r>
                <a:r>
                  <a:rPr lang="en-US" dirty="0" err="1"/>
                  <a:t>bình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n-US" dirty="0"/>
                  <a:t>= 0 km/h</a:t>
                </a:r>
              </a:p>
            </p:txBody>
          </p:sp>
        </mc:Choice>
        <mc:Fallback xmlns="">
          <p:sp>
            <p:nvSpPr>
              <p:cNvPr id="7" name="Notes Placeholder 6">
                <a:extLst>
                  <a:ext uri="{FF2B5EF4-FFF2-40B4-BE49-F238E27FC236}">
                    <a16:creationId xmlns:a16="http://schemas.microsoft.com/office/drawing/2014/main" id="{CCE9E812-D409-5DD5-A6D9-55AB6837EA81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r>
                  <a:rPr lang="en-US" dirty="0"/>
                  <a:t>Tốc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trung</a:t>
                </a:r>
                <a:r>
                  <a:rPr lang="en-US" dirty="0"/>
                  <a:t> </a:t>
                </a:r>
                <a:r>
                  <a:rPr lang="en-US" dirty="0" err="1"/>
                  <a:t>binh</a:t>
                </a:r>
                <a:r>
                  <a:rPr lang="en-US" dirty="0"/>
                  <a:t>: </a:t>
                </a:r>
                <a:r>
                  <a:rPr lang="en-US" b="0" i="0">
                    <a:latin typeface="Cambria Math" panose="02040503050406030204" pitchFamily="18" charset="0"/>
                  </a:rPr>
                  <a:t>𝑣 ̅</a:t>
                </a:r>
                <a:r>
                  <a:rPr lang="en-US" dirty="0"/>
                  <a:t>=</a:t>
                </a:r>
                <a:r>
                  <a:rPr lang="en-US" b="0" i="0" dirty="0">
                    <a:latin typeface="Cambria Math" panose="02040503050406030204" pitchFamily="18" charset="0"/>
                  </a:rPr>
                  <a:t>𝑠/𝑡</a:t>
                </a:r>
                <a:r>
                  <a:rPr lang="en-US" dirty="0"/>
                  <a:t> = </a:t>
                </a:r>
                <a:r>
                  <a:rPr lang="en-US" i="0">
                    <a:latin typeface="Cambria Math" panose="02040503050406030204" pitchFamily="18" charset="0"/>
                  </a:rPr>
                  <a:t>(</a:t>
                </a:r>
                <a:r>
                  <a:rPr lang="en-US" b="0" i="0">
                    <a:latin typeface="Cambria Math" panose="02040503050406030204" pitchFamily="18" charset="0"/>
                  </a:rPr>
                  <a:t>𝑠_1+𝑠_2)/(𝑡_1+𝑡_2 )</a:t>
                </a:r>
                <a:r>
                  <a:rPr lang="en-US" dirty="0"/>
                  <a:t>=</a:t>
                </a:r>
                <a:r>
                  <a:rPr lang="en-US" b="0" i="0" dirty="0">
                    <a:latin typeface="Cambria Math" panose="02040503050406030204" pitchFamily="18" charset="0"/>
                  </a:rPr>
                  <a:t>2𝑠/(𝑠/𝑣_1 +𝑠/𝑣_2 )</a:t>
                </a:r>
                <a:r>
                  <a:rPr lang="en-US" dirty="0"/>
                  <a:t> = </a:t>
                </a:r>
                <a:r>
                  <a:rPr lang="en-US" i="0">
                    <a:latin typeface="Cambria Math" panose="02040503050406030204" pitchFamily="18" charset="0"/>
                  </a:rPr>
                  <a:t>(</a:t>
                </a:r>
                <a:r>
                  <a:rPr lang="en-US" b="0" i="0">
                    <a:latin typeface="Cambria Math" panose="02040503050406030204" pitchFamily="18" charset="0"/>
                  </a:rPr>
                  <a:t>2𝑣_1.𝑣_2)/(𝑣_1+𝑣_2 )</a:t>
                </a:r>
                <a:r>
                  <a:rPr lang="en-US" dirty="0"/>
                  <a:t> = 34,3 km/h</a:t>
                </a:r>
              </a:p>
              <a:p>
                <a:r>
                  <a:rPr lang="en-US" dirty="0" err="1"/>
                  <a:t>Vận</a:t>
                </a:r>
                <a:r>
                  <a:rPr lang="en-US" dirty="0"/>
                  <a:t> </a:t>
                </a:r>
                <a:r>
                  <a:rPr lang="en-US" dirty="0" err="1"/>
                  <a:t>tốc</a:t>
                </a:r>
                <a:r>
                  <a:rPr lang="en-US" dirty="0"/>
                  <a:t> </a:t>
                </a:r>
                <a:r>
                  <a:rPr lang="en-US" dirty="0" err="1"/>
                  <a:t>trung</a:t>
                </a:r>
                <a:r>
                  <a:rPr lang="en-US" dirty="0"/>
                  <a:t> </a:t>
                </a:r>
                <a:r>
                  <a:rPr lang="en-US" dirty="0" err="1"/>
                  <a:t>bình</a:t>
                </a:r>
                <a:r>
                  <a:rPr lang="en-US" dirty="0"/>
                  <a:t>: </a:t>
                </a:r>
                <a:r>
                  <a:rPr lang="en-US" b="0" i="0">
                    <a:latin typeface="Cambria Math" panose="02040503050406030204" pitchFamily="18" charset="0"/>
                  </a:rPr>
                  <a:t>𝑣 ̅</a:t>
                </a:r>
                <a:r>
                  <a:rPr lang="en-US" dirty="0"/>
                  <a:t>= 0 km/h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9735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77ACD-C240-4827-A5AC-590E21DD0193}" type="datetime1">
              <a:rPr lang="en-US" smtClean="0"/>
              <a:t>9/30/2025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BD10-1719-4624-8252-39F2EF1C8AB8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142D4-35BD-41EC-8ECF-CAC2EBD7FB5C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E3B90-1452-4475-9F25-01144B0C0879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E447-9918-42DB-BC9A-06D0ADE63B87}" type="datetime1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3135-B88B-4C33-ACE8-B9EF7CBEE207}" type="datetime1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74A4-9A80-417B-BC15-D0DCF34053FF}" type="datetime1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CF51B-9B1B-4E32-9E3D-A0DFDD052F62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5FEA9-1B37-427A-8D79-7E72F9ED3B69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31416F20-F21E-4282-BB7D-EF58A579D88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88BD8-6A00-44D7-BFA4-AB3300890ACC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8C7A-7B25-45CA-842F-A1FC115F1CDD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D546B6-5774-40B9-AA62-12722FBCD663}" type="datetime1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536C0-DC65-42B8-96CE-EDB4770411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899482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0D4A9D7-690D-4213-8597-E4A7C14A9267}" type="datetime1">
              <a:rPr lang="en-US" smtClean="0"/>
              <a:t>9/30/2025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en-US"/>
              <a:t>Bùi Quốc Trung - VLDC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1416F20-F21E-4282-BB7D-EF58A579D88C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12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image" Target="../media/image47.png"/><Relationship Id="rId3" Type="http://schemas.openxmlformats.org/officeDocument/2006/relationships/image" Target="../media/image42.wmf"/><Relationship Id="rId7" Type="http://schemas.openxmlformats.org/officeDocument/2006/relationships/oleObject" Target="../embeddings/oleObject9.bin"/><Relationship Id="rId12" Type="http://schemas.openxmlformats.org/officeDocument/2006/relationships/image" Target="../media/image4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11" Type="http://schemas.openxmlformats.org/officeDocument/2006/relationships/oleObject" Target="../embeddings/oleObject11.bin"/><Relationship Id="rId5" Type="http://schemas.openxmlformats.org/officeDocument/2006/relationships/image" Target="../media/image43.wmf"/><Relationship Id="rId10" Type="http://schemas.openxmlformats.org/officeDocument/2006/relationships/image" Target="../media/image45.wmf"/><Relationship Id="rId4" Type="http://schemas.openxmlformats.org/officeDocument/2006/relationships/oleObject" Target="../embeddings/oleObject7.bin"/><Relationship Id="rId9" Type="http://schemas.openxmlformats.org/officeDocument/2006/relationships/oleObject" Target="../embeddings/oleObject10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51.wmf"/><Relationship Id="rId18" Type="http://schemas.openxmlformats.org/officeDocument/2006/relationships/image" Target="../media/image54.png"/><Relationship Id="rId3" Type="http://schemas.openxmlformats.org/officeDocument/2006/relationships/image" Target="../media/image48.wmf"/><Relationship Id="rId7" Type="http://schemas.openxmlformats.org/officeDocument/2006/relationships/image" Target="../media/image49.wmf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53.wmf"/><Relationship Id="rId2" Type="http://schemas.openxmlformats.org/officeDocument/2006/relationships/oleObject" Target="../embeddings/oleObject12.bin"/><Relationship Id="rId16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5" Type="http://schemas.openxmlformats.org/officeDocument/2006/relationships/image" Target="../media/image52.wmf"/><Relationship Id="rId10" Type="http://schemas.openxmlformats.org/officeDocument/2006/relationships/oleObject" Target="../embeddings/oleObject16.bin"/><Relationship Id="rId19" Type="http://schemas.openxmlformats.org/officeDocument/2006/relationships/image" Target="../media/image55.png"/><Relationship Id="rId4" Type="http://schemas.openxmlformats.org/officeDocument/2006/relationships/oleObject" Target="../embeddings/oleObject13.bin"/><Relationship Id="rId9" Type="http://schemas.openxmlformats.org/officeDocument/2006/relationships/image" Target="../media/image50.wmf"/><Relationship Id="rId14" Type="http://schemas.openxmlformats.org/officeDocument/2006/relationships/oleObject" Target="../embeddings/oleObject18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52.wmf"/><Relationship Id="rId3" Type="http://schemas.openxmlformats.org/officeDocument/2006/relationships/image" Target="../media/image43.wmf"/><Relationship Id="rId7" Type="http://schemas.openxmlformats.org/officeDocument/2006/relationships/image" Target="../media/image59.wmf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63.png"/><Relationship Id="rId2" Type="http://schemas.openxmlformats.org/officeDocument/2006/relationships/oleObject" Target="../embeddings/oleObject20.bin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51.wmf"/><Relationship Id="rId5" Type="http://schemas.openxmlformats.org/officeDocument/2006/relationships/image" Target="../media/image58.wmf"/><Relationship Id="rId15" Type="http://schemas.openxmlformats.org/officeDocument/2006/relationships/image" Target="../media/image61.png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46.wmf"/><Relationship Id="rId14" Type="http://schemas.openxmlformats.org/officeDocument/2006/relationships/image" Target="../media/image6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40.xm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6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70.png"/><Relationship Id="rId5" Type="http://schemas.openxmlformats.org/officeDocument/2006/relationships/image" Target="../media/image67.wmf"/><Relationship Id="rId10" Type="http://schemas.openxmlformats.org/officeDocument/2006/relationships/image" Target="../media/image69.png"/><Relationship Id="rId4" Type="http://schemas.openxmlformats.org/officeDocument/2006/relationships/oleObject" Target="../embeddings/oleObject27.bin"/><Relationship Id="rId9" Type="http://schemas.openxmlformats.org/officeDocument/2006/relationships/image" Target="../media/image6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609600"/>
          </a:xfrm>
        </p:spPr>
        <p:txBody>
          <a:bodyPr>
            <a:noAutofit/>
          </a:bodyPr>
          <a:lstStyle/>
          <a:p>
            <a:r>
              <a:rPr lang="en-US" sz="4000" b="1">
                <a:latin typeface="Times New Roman" pitchFamily="18" charset="0"/>
                <a:cs typeface="Times New Roman" pitchFamily="18" charset="0"/>
              </a:rPr>
              <a:t>CHƯƠNG 1: Chuyển động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/>
          </a:bodyPr>
          <a:lstStyle/>
          <a:p>
            <a:r>
              <a:rPr lang="en-US" sz="3200">
                <a:latin typeface="Times New Roman" pitchFamily="18" charset="0"/>
                <a:cs typeface="Times New Roman" pitchFamily="18" charset="0"/>
              </a:rPr>
              <a:t>Các khái niệm cơ bản về chuyển động</a:t>
            </a:r>
          </a:p>
          <a:p>
            <a:r>
              <a:rPr lang="en-US" sz="3200">
                <a:latin typeface="Times New Roman" pitchFamily="18" charset="0"/>
                <a:cs typeface="Times New Roman" pitchFamily="18" charset="0"/>
              </a:rPr>
              <a:t>Tốc độ và vận tốc</a:t>
            </a:r>
          </a:p>
          <a:p>
            <a:r>
              <a:rPr lang="en-US" sz="3200">
                <a:latin typeface="Times New Roman" pitchFamily="18" charset="0"/>
                <a:cs typeface="Times New Roman" pitchFamily="18" charset="0"/>
              </a:rPr>
              <a:t>Gia tốc</a:t>
            </a:r>
          </a:p>
          <a:p>
            <a:r>
              <a:rPr lang="en-US" sz="3200">
                <a:latin typeface="Times New Roman" pitchFamily="18" charset="0"/>
                <a:cs typeface="Times New Roman" pitchFamily="18" charset="0"/>
              </a:rPr>
              <a:t>Chuyển động với gia tốc không đổi và sự rơi tự do</a:t>
            </a:r>
          </a:p>
          <a:p>
            <a:r>
              <a:rPr lang="en-US" sz="3200">
                <a:latin typeface="Times New Roman" pitchFamily="18" charset="0"/>
                <a:cs typeface="Times New Roman" pitchFamily="18" charset="0"/>
              </a:rPr>
              <a:t>Chuyển động trong mặt phẳng (chuyển động 2 chiều)</a:t>
            </a:r>
          </a:p>
          <a:p>
            <a:r>
              <a:rPr lang="en-US" sz="3200">
                <a:latin typeface="Times New Roman" pitchFamily="18" charset="0"/>
                <a:cs typeface="Times New Roman" pitchFamily="18" charset="0"/>
              </a:rPr>
              <a:t>Chuyển động ném xiên</a:t>
            </a:r>
          </a:p>
          <a:p>
            <a:r>
              <a:rPr lang="en-US" sz="3200">
                <a:latin typeface="Times New Roman" pitchFamily="18" charset="0"/>
                <a:cs typeface="Times New Roman" pitchFamily="18" charset="0"/>
              </a:rPr>
              <a:t>Gia tốc tiếp tuyến – gia tốc pháp tuyến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80699-F010-6330-4ACD-0C1FFEA7C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6D174B-1848-1D2D-1552-5B5040B62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09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33400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 pitchFamily="18" charset="0"/>
                <a:cs typeface="Times New Roman" pitchFamily="18" charset="0"/>
              </a:rPr>
              <a:t>1.1. Các khái niệm cơ bản về chuyển động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b="1" i="1" u="sng"/>
              <a:t>Chất điểm – vật mốc – hệ tọa độ (hệ quy chiếu)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149" y="1957674"/>
            <a:ext cx="2657475" cy="2667000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690562" y="1899556"/>
            <a:ext cx="4872038" cy="3434443"/>
            <a:chOff x="533400" y="1946162"/>
            <a:chExt cx="4562475" cy="281499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400" y="1946162"/>
              <a:ext cx="4562475" cy="2281238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914400" y="4227752"/>
              <a:ext cx="3352800" cy="533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Hình 2: Trái đất trong hệ mặt trời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838200" y="1899556"/>
            <a:ext cx="7375211" cy="4605757"/>
            <a:chOff x="838200" y="1899556"/>
            <a:chExt cx="7375211" cy="4605757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1899556"/>
              <a:ext cx="7375211" cy="4148557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2887556" y="6048113"/>
              <a:ext cx="3132244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Hệ quy chiếu</a:t>
              </a:r>
            </a:p>
          </p:txBody>
        </p:sp>
      </p:grp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B590223-DA77-7CCC-0EAF-3A9790152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26A386D-96FB-F0F0-F7D4-08F76F286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25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coi</a:t>
            </a:r>
            <a:r>
              <a:rPr lang="en-US" dirty="0"/>
              <a:t> </a:t>
            </a:r>
            <a:r>
              <a:rPr lang="en-US" dirty="0" err="1"/>
              <a:t>chiếc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bay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?</a:t>
            </a:r>
          </a:p>
          <a:p>
            <a:pPr marL="0" indent="0">
              <a:buFont typeface="Arial" charset="0"/>
              <a:buNone/>
              <a:defRPr/>
            </a:pPr>
            <a:r>
              <a:rPr lang="en-US" dirty="0"/>
              <a:t>A. </a:t>
            </a:r>
            <a:r>
              <a:rPr lang="en-US" dirty="0" err="1"/>
              <a:t>Chiếc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bay </a:t>
            </a:r>
            <a:r>
              <a:rPr lang="en-US" dirty="0" err="1"/>
              <a:t>đang</a:t>
            </a:r>
            <a:r>
              <a:rPr lang="en-US" dirty="0"/>
              <a:t> bay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dirty="0"/>
              <a:t>B. </a:t>
            </a:r>
            <a:r>
              <a:rPr lang="en-US" dirty="0" err="1"/>
              <a:t>Chiếc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bay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hạ</a:t>
            </a:r>
            <a:r>
              <a:rPr lang="en-US" dirty="0"/>
              <a:t> </a:t>
            </a:r>
            <a:r>
              <a:rPr lang="en-US" dirty="0" err="1"/>
              <a:t>cánh</a:t>
            </a:r>
            <a:r>
              <a:rPr lang="en-US" dirty="0"/>
              <a:t> </a:t>
            </a:r>
            <a:r>
              <a:rPr lang="en-US" dirty="0" err="1"/>
              <a:t>xuống</a:t>
            </a:r>
            <a:r>
              <a:rPr lang="en-US" dirty="0"/>
              <a:t> </a:t>
            </a:r>
            <a:r>
              <a:rPr lang="en-US" dirty="0" err="1"/>
              <a:t>sân</a:t>
            </a:r>
            <a:r>
              <a:rPr lang="en-US" dirty="0"/>
              <a:t> bay.</a:t>
            </a:r>
            <a:endParaRPr lang="en-US" u="sng" dirty="0"/>
          </a:p>
          <a:p>
            <a:pPr marL="0" indent="0">
              <a:buFont typeface="Arial" charset="0"/>
              <a:buNone/>
              <a:defRPr/>
            </a:pPr>
            <a:r>
              <a:rPr lang="en-US" dirty="0"/>
              <a:t>C. </a:t>
            </a:r>
            <a:r>
              <a:rPr lang="en-US" dirty="0" err="1"/>
              <a:t>Chiếc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bay </a:t>
            </a:r>
            <a:r>
              <a:rPr lang="en-US" dirty="0" err="1"/>
              <a:t>đang</a:t>
            </a:r>
            <a:r>
              <a:rPr lang="en-US" dirty="0"/>
              <a:t> bay </a:t>
            </a:r>
            <a:r>
              <a:rPr lang="en-US" dirty="0" err="1"/>
              <a:t>từ</a:t>
            </a:r>
            <a:r>
              <a:rPr lang="en-US" dirty="0"/>
              <a:t>  </a:t>
            </a:r>
            <a:r>
              <a:rPr lang="en-US" dirty="0" err="1"/>
              <a:t>Hà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Tp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Chí</a:t>
            </a:r>
            <a:r>
              <a:rPr lang="en-US" dirty="0"/>
              <a:t> Minh.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dirty="0"/>
              <a:t>D</a:t>
            </a:r>
            <a:r>
              <a:rPr lang="en-US" i="1" dirty="0"/>
              <a:t>.</a:t>
            </a:r>
            <a:r>
              <a:rPr lang="en-US" dirty="0"/>
              <a:t> </a:t>
            </a:r>
            <a:r>
              <a:rPr lang="en-US" dirty="0" err="1"/>
              <a:t>Chiếc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bay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sân</a:t>
            </a:r>
            <a:r>
              <a:rPr lang="en-US" dirty="0"/>
              <a:t> bay.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EFDFA55-F4B8-A412-1461-000136E7A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7C8099-C5CF-B5D6-F89E-F66AE4350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0536C0-DC65-42B8-96CE-EDB47704114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9981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33400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 pitchFamily="18" charset="0"/>
                <a:cs typeface="Times New Roman" pitchFamily="18" charset="0"/>
              </a:rPr>
              <a:t>1.1. Các khái niệm cơ bản về chuyển động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/>
          <a:lstStyle/>
          <a:p>
            <a:r>
              <a:rPr lang="en-US" b="1" i="1" u="sng"/>
              <a:t>Chuyển động cơ học - Tính tương đối của chuyển động</a:t>
            </a:r>
          </a:p>
          <a:p>
            <a:pPr marL="0" indent="0">
              <a:buNone/>
            </a:pPr>
            <a:r>
              <a:rPr lang="en-US" sz="2400">
                <a:latin typeface="Times New Roman" pitchFamily="18" charset="0"/>
              </a:rPr>
              <a:t>Chuyển động có tính tương đối</a:t>
            </a:r>
            <a:r>
              <a:rPr lang="en-US" sz="2400" i="1">
                <a:latin typeface="Times New Roman" pitchFamily="18" charset="0"/>
              </a:rPr>
              <a:t> </a:t>
            </a:r>
            <a:r>
              <a:rPr lang="en-US" sz="2400">
                <a:latin typeface="Times New Roman" pitchFamily="18" charset="0"/>
              </a:rPr>
              <a:t>tuỳ theo hệ quy chiếu ta chọn</a:t>
            </a:r>
          </a:p>
          <a:p>
            <a:pPr marL="0" indent="0">
              <a:buNone/>
            </a:pPr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447800" y="2798549"/>
            <a:ext cx="6076552" cy="3830851"/>
            <a:chOff x="1447800" y="2798549"/>
            <a:chExt cx="6076552" cy="383085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7800" y="2798549"/>
              <a:ext cx="6076552" cy="3247377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2438400" y="6019800"/>
              <a:ext cx="3886200" cy="60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Hình 3: Hệ quy chiếu</a:t>
              </a:r>
            </a:p>
          </p:txBody>
        </p: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9B3AC33-469C-C67F-180F-58EE66773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51D642A-AD00-71E2-C928-7B77E991E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30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33400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 pitchFamily="18" charset="0"/>
                <a:cs typeface="Times New Roman" pitchFamily="18" charset="0"/>
              </a:rPr>
              <a:t>1.1. Các khái niệm cơ bản về chuyển động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/>
          <a:lstStyle/>
          <a:p>
            <a:r>
              <a:rPr lang="en-US" b="1" i="1" u="sng"/>
              <a:t>Vị trí</a:t>
            </a:r>
          </a:p>
          <a:p>
            <a:pPr marL="0" indent="0">
              <a:buNone/>
            </a:pPr>
            <a:r>
              <a:rPr lang="en-US" i="1"/>
              <a:t>Vị trí của một vật là sự định vị của nó đối với một vật mốc mà chúng ta thường xem là gốc của một hệ trục tọa độ</a:t>
            </a:r>
          </a:p>
          <a:p>
            <a:pPr marL="0" indent="0">
              <a:buNone/>
            </a:pPr>
            <a:r>
              <a:rPr lang="en-US"/>
              <a:t>Mô tả vị trí của vật: hình ảnh, đồ thị, toán học,...</a:t>
            </a:r>
          </a:p>
          <a:p>
            <a:pPr marL="0" indent="0">
              <a:buNone/>
            </a:pPr>
            <a:endParaRPr lang="en-US" u="sng"/>
          </a:p>
          <a:p>
            <a:pPr marL="0" indent="0">
              <a:buNone/>
            </a:pPr>
            <a:r>
              <a:rPr lang="en-US" u="sng">
                <a:solidFill>
                  <a:srgbClr val="FF0000"/>
                </a:solidFill>
              </a:rPr>
              <a:t>Từ các số liệu hình 4 SV hãy mô tả</a:t>
            </a:r>
          </a:p>
          <a:p>
            <a:pPr marL="0" indent="0">
              <a:buNone/>
            </a:pPr>
            <a:r>
              <a:rPr lang="en-US" u="sng">
                <a:solidFill>
                  <a:srgbClr val="FF0000"/>
                </a:solidFill>
              </a:rPr>
              <a:t>chuyển động của vật?</a:t>
            </a:r>
          </a:p>
          <a:p>
            <a:pPr marL="0" indent="0">
              <a:buNone/>
            </a:pPr>
            <a:endParaRPr lang="en-US" i="1"/>
          </a:p>
          <a:p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533400" y="3429000"/>
            <a:ext cx="7848983" cy="2839598"/>
            <a:chOff x="533400" y="3429000"/>
            <a:chExt cx="7848983" cy="2839598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8800" y="3429000"/>
              <a:ext cx="2743583" cy="2839598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533400" y="5410200"/>
              <a:ext cx="4953000" cy="60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Hình 4: Mô tả vị trí bằng bảng biểu</a:t>
              </a:r>
            </a:p>
          </p:txBody>
        </p: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CB813D9-D5BE-6249-298C-832001699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4697F0-10FC-3FB7-19BF-0945E8958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79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33400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 pitchFamily="18" charset="0"/>
                <a:cs typeface="Times New Roman" pitchFamily="18" charset="0"/>
              </a:rPr>
              <a:t>1.1. Các khái niệm cơ bản về chuyển động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/>
          <a:lstStyle/>
          <a:p>
            <a:r>
              <a:rPr lang="en-US" b="1"/>
              <a:t>Độ dời </a:t>
            </a:r>
            <a:r>
              <a:rPr lang="en-US" sz="2400"/>
              <a:t>là vectơ nối từ vị trí đầu đến vị trí cuối của quá trình khảo sát.</a:t>
            </a:r>
          </a:p>
          <a:p>
            <a:r>
              <a:rPr lang="en-US" b="1"/>
              <a:t>Quãng đường </a:t>
            </a:r>
            <a:r>
              <a:rPr lang="en-US"/>
              <a:t>là độ dài của vết mà chất điểm vạch ra trong quá trình khảo sát.</a:t>
            </a:r>
          </a:p>
          <a:p>
            <a:r>
              <a:rPr lang="en-US"/>
              <a:t>Ví dụ: Hình 4 mô tả vị trí</a:t>
            </a:r>
          </a:p>
          <a:p>
            <a:pPr marL="0" indent="0">
              <a:buNone/>
            </a:pPr>
            <a:r>
              <a:rPr lang="en-US"/>
              <a:t>vật ở các khoảng thời gian </a:t>
            </a:r>
          </a:p>
          <a:p>
            <a:pPr marL="0" indent="0">
              <a:buNone/>
            </a:pPr>
            <a:r>
              <a:rPr lang="en-US"/>
              <a:t>khác nhau</a:t>
            </a:r>
          </a:p>
          <a:p>
            <a:r>
              <a:rPr lang="en-US" sz="2400" u="sng">
                <a:solidFill>
                  <a:srgbClr val="FF0000"/>
                </a:solidFill>
              </a:rPr>
              <a:t>Hình 5: Giữa độ dời và quãng </a:t>
            </a:r>
          </a:p>
          <a:p>
            <a:pPr marL="0" indent="0">
              <a:buNone/>
            </a:pPr>
            <a:r>
              <a:rPr lang="en-US" sz="2400" u="sng">
                <a:solidFill>
                  <a:srgbClr val="FF0000"/>
                </a:solidFill>
              </a:rPr>
              <a:t>đường khác nhau như thế nào?</a:t>
            </a:r>
          </a:p>
          <a:p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209800" y="2666999"/>
            <a:ext cx="6430717" cy="3485715"/>
            <a:chOff x="2209800" y="2666999"/>
            <a:chExt cx="6430717" cy="3485715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3000" y="2666999"/>
              <a:ext cx="3687517" cy="3485715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2209800" y="5543114"/>
              <a:ext cx="2743200" cy="60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Hình 5:</a:t>
              </a:r>
            </a:p>
          </p:txBody>
        </p: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E64FFF-8375-C0D1-774A-4D99DD1D4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5BE926-25B0-2EFB-969D-3ABBE0C2C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794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889" y="152400"/>
            <a:ext cx="8229600" cy="533400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 pitchFamily="18" charset="0"/>
                <a:cs typeface="Times New Roman" pitchFamily="18" charset="0"/>
              </a:rPr>
              <a:t>1.1. Các khái niệm cơ bản về chuyển động</a:t>
            </a:r>
            <a:endParaRPr lang="en-US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38200"/>
                <a:ext cx="8229600" cy="6019800"/>
              </a:xfrm>
            </p:spPr>
            <p:txBody>
              <a:bodyPr>
                <a:normAutofit/>
              </a:bodyPr>
              <a:lstStyle/>
              <a:p>
                <a:r>
                  <a:rPr lang="en-US" sz="2400" b="1"/>
                  <a:t>Qũy đạo </a:t>
                </a:r>
                <a:r>
                  <a:rPr lang="en-US" sz="2400"/>
                  <a:t>là tập hợp các vị trí của chất điểm trong quá trình chuyển động.</a:t>
                </a:r>
              </a:p>
              <a:p>
                <a:r>
                  <a:rPr lang="en-US" sz="2400" b="1">
                    <a:cs typeface="Times New Roman" pitchFamily="18" charset="0"/>
                  </a:rPr>
                  <a:t>Phương trình chuyển động</a:t>
                </a:r>
                <a:r>
                  <a:rPr lang="en-US" sz="2400">
                    <a:cs typeface="Times New Roman" pitchFamily="18" charset="0"/>
                  </a:rPr>
                  <a:t>: (liên hệ giữa toạ độ và thời gian) biểu diễn vị trí của chất điểm theo thời gian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/>
                  <a:t>=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𝑟</m:t>
                        </m:r>
                        <m:r>
                          <a:rPr lang="en-US" b="0" i="1" smtClean="0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  <m:r>
                          <a:rPr lang="en-US" b="0" i="1" smtClean="0">
                            <a:latin typeface="Cambria Math"/>
                          </a:rPr>
                          <m:t>)</m:t>
                        </m:r>
                      </m:e>
                    </m:acc>
                  </m:oMath>
                </a14:m>
                <a:r>
                  <a:rPr lang="en-US"/>
                  <a:t>   hay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Ví dụ: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=2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𝑐𝑜𝑠𝑡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=2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𝑠𝑖𝑛𝑡</m:t>
                            </m:r>
                          </m:e>
                        </m:eqArr>
                      </m:e>
                    </m:d>
                  </m:oMath>
                </a14:m>
                <a:r>
                  <a:rPr lang="en-US"/>
                  <a:t>		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−2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²−2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+3</m:t>
                            </m:r>
                          </m:e>
                          <m:e>
                            <m:r>
                              <a:rPr lang="en-US" i="1">
                                <a:latin typeface="Cambria Math"/>
                              </a:rPr>
                              <m:t>𝑧</m:t>
                            </m:r>
                            <m:r>
                              <a:rPr lang="en-US" i="1">
                                <a:latin typeface="Cambria Math"/>
                              </a:rPr>
                              <m:t>=</m:t>
                            </m:r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  <m:r>
                              <a:rPr lang="en-US" i="1">
                                <a:latin typeface="Cambria Math"/>
                              </a:rPr>
                              <m:t>²−</m:t>
                            </m:r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  <m:r>
                              <a:rPr lang="en-US" i="1">
                                <a:latin typeface="Cambria Math"/>
                              </a:rPr>
                              <m:t>+1</m:t>
                            </m:r>
                          </m:e>
                        </m:eqArr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38200"/>
                <a:ext cx="8229600" cy="6019800"/>
              </a:xfrm>
              <a:blipFill rotWithShape="1">
                <a:blip r:embed="rId4"/>
                <a:stretch>
                  <a:fillRect l="-1259" t="-811" r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58"/>
          <p:cNvGrpSpPr>
            <a:grpSpLocks/>
          </p:cNvGrpSpPr>
          <p:nvPr/>
        </p:nvGrpSpPr>
        <p:grpSpPr bwMode="auto">
          <a:xfrm>
            <a:off x="5724525" y="2971800"/>
            <a:ext cx="3571875" cy="3092450"/>
            <a:chOff x="1104" y="1128"/>
            <a:chExt cx="2250" cy="1948"/>
          </a:xfrm>
        </p:grpSpPr>
        <p:sp>
          <p:nvSpPr>
            <p:cNvPr id="5" name="Line 38"/>
            <p:cNvSpPr>
              <a:spLocks noChangeShapeType="1"/>
            </p:cNvSpPr>
            <p:nvPr/>
          </p:nvSpPr>
          <p:spPr bwMode="auto">
            <a:xfrm>
              <a:off x="1747" y="1200"/>
              <a:ext cx="0" cy="1314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Line 39"/>
            <p:cNvSpPr>
              <a:spLocks noChangeShapeType="1"/>
            </p:cNvSpPr>
            <p:nvPr/>
          </p:nvSpPr>
          <p:spPr bwMode="auto">
            <a:xfrm flipH="1">
              <a:off x="1111" y="2490"/>
              <a:ext cx="643" cy="424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40"/>
            <p:cNvSpPr>
              <a:spLocks noChangeShapeType="1"/>
            </p:cNvSpPr>
            <p:nvPr/>
          </p:nvSpPr>
          <p:spPr bwMode="auto">
            <a:xfrm>
              <a:off x="1747" y="2501"/>
              <a:ext cx="1284" cy="0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Box 41"/>
            <p:cNvSpPr txBox="1">
              <a:spLocks noChangeArrowheads="1"/>
            </p:cNvSpPr>
            <p:nvPr/>
          </p:nvSpPr>
          <p:spPr bwMode="auto">
            <a:xfrm>
              <a:off x="2805" y="2480"/>
              <a:ext cx="240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sz="2800"/>
                <a:t>y</a:t>
              </a:r>
              <a:endParaRPr lang="en-US" sz="4000"/>
            </a:p>
          </p:txBody>
        </p:sp>
        <p:sp>
          <p:nvSpPr>
            <p:cNvPr id="9" name="Text Box 42"/>
            <p:cNvSpPr txBox="1">
              <a:spLocks noChangeArrowheads="1"/>
            </p:cNvSpPr>
            <p:nvPr/>
          </p:nvSpPr>
          <p:spPr bwMode="auto">
            <a:xfrm>
              <a:off x="1513" y="1128"/>
              <a:ext cx="241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sz="2800"/>
                <a:t>z</a:t>
              </a:r>
              <a:endParaRPr lang="en-US" sz="4000"/>
            </a:p>
          </p:txBody>
        </p:sp>
        <p:sp>
          <p:nvSpPr>
            <p:cNvPr id="10" name="Text Box 43"/>
            <p:cNvSpPr txBox="1">
              <a:spLocks noChangeArrowheads="1"/>
            </p:cNvSpPr>
            <p:nvPr/>
          </p:nvSpPr>
          <p:spPr bwMode="auto">
            <a:xfrm>
              <a:off x="1250" y="2688"/>
              <a:ext cx="241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sz="2800"/>
                <a:t>x</a:t>
              </a:r>
              <a:endParaRPr lang="en-US" sz="4000"/>
            </a:p>
          </p:txBody>
        </p:sp>
        <p:sp>
          <p:nvSpPr>
            <p:cNvPr id="11" name="Freeform 46"/>
            <p:cNvSpPr>
              <a:spLocks/>
            </p:cNvSpPr>
            <p:nvPr/>
          </p:nvSpPr>
          <p:spPr bwMode="auto">
            <a:xfrm>
              <a:off x="1747" y="1620"/>
              <a:ext cx="374" cy="894"/>
            </a:xfrm>
            <a:custGeom>
              <a:avLst/>
              <a:gdLst>
                <a:gd name="T0" fmla="*/ 0 w 374"/>
                <a:gd name="T1" fmla="*/ 894 h 894"/>
                <a:gd name="T2" fmla="*/ 374 w 374"/>
                <a:gd name="T3" fmla="*/ 0 h 894"/>
                <a:gd name="T4" fmla="*/ 0 60000 65536"/>
                <a:gd name="T5" fmla="*/ 0 60000 65536"/>
                <a:gd name="T6" fmla="*/ 0 w 374"/>
                <a:gd name="T7" fmla="*/ 0 h 894"/>
                <a:gd name="T8" fmla="*/ 374 w 374"/>
                <a:gd name="T9" fmla="*/ 894 h 8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4" h="894">
                  <a:moveTo>
                    <a:pt x="0" y="894"/>
                  </a:moveTo>
                  <a:lnTo>
                    <a:pt x="374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Box 47"/>
            <p:cNvSpPr txBox="1">
              <a:spLocks noChangeArrowheads="1"/>
            </p:cNvSpPr>
            <p:nvPr/>
          </p:nvSpPr>
          <p:spPr bwMode="auto">
            <a:xfrm>
              <a:off x="1656" y="1682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endParaRPr lang="en-US" sz="1800"/>
            </a:p>
          </p:txBody>
        </p:sp>
        <p:sp>
          <p:nvSpPr>
            <p:cNvPr id="13" name="Text Box 48"/>
            <p:cNvSpPr txBox="1">
              <a:spLocks noChangeArrowheads="1"/>
            </p:cNvSpPr>
            <p:nvPr/>
          </p:nvSpPr>
          <p:spPr bwMode="auto">
            <a:xfrm>
              <a:off x="1895" y="1340"/>
              <a:ext cx="337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sz="1800" b="1">
                  <a:solidFill>
                    <a:srgbClr val="000000"/>
                  </a:solidFill>
                </a:rPr>
                <a:t>M</a:t>
              </a:r>
              <a:endParaRPr lang="en-US" sz="2800" b="1">
                <a:solidFill>
                  <a:srgbClr val="000000"/>
                </a:solidFill>
              </a:endParaRPr>
            </a:p>
          </p:txBody>
        </p:sp>
        <p:sp>
          <p:nvSpPr>
            <p:cNvPr id="14" name="Text Box 49"/>
            <p:cNvSpPr txBox="1">
              <a:spLocks noChangeArrowheads="1"/>
            </p:cNvSpPr>
            <p:nvPr/>
          </p:nvSpPr>
          <p:spPr bwMode="auto">
            <a:xfrm>
              <a:off x="2873" y="1638"/>
              <a:ext cx="481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sz="2000" b="1"/>
                <a:t>(C)</a:t>
              </a:r>
              <a:endParaRPr lang="en-US" sz="3200" b="1"/>
            </a:p>
          </p:txBody>
        </p:sp>
        <p:sp>
          <p:nvSpPr>
            <p:cNvPr id="15" name="Freeform 51"/>
            <p:cNvSpPr>
              <a:spLocks/>
            </p:cNvSpPr>
            <p:nvPr/>
          </p:nvSpPr>
          <p:spPr bwMode="auto">
            <a:xfrm>
              <a:off x="1104" y="1480"/>
              <a:ext cx="1972" cy="280"/>
            </a:xfrm>
            <a:custGeom>
              <a:avLst/>
              <a:gdLst>
                <a:gd name="T0" fmla="*/ 0 w 3060"/>
                <a:gd name="T1" fmla="*/ 1 h 390"/>
                <a:gd name="T2" fmla="*/ 1 w 3060"/>
                <a:gd name="T3" fmla="*/ 0 h 390"/>
                <a:gd name="T4" fmla="*/ 1 w 3060"/>
                <a:gd name="T5" fmla="*/ 1 h 390"/>
                <a:gd name="T6" fmla="*/ 1 w 3060"/>
                <a:gd name="T7" fmla="*/ 1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60"/>
                <a:gd name="T13" fmla="*/ 0 h 390"/>
                <a:gd name="T14" fmla="*/ 3060 w 3060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60" h="390">
                  <a:moveTo>
                    <a:pt x="0" y="360"/>
                  </a:moveTo>
                  <a:cubicBezTo>
                    <a:pt x="270" y="180"/>
                    <a:pt x="540" y="0"/>
                    <a:pt x="900" y="0"/>
                  </a:cubicBezTo>
                  <a:cubicBezTo>
                    <a:pt x="1260" y="0"/>
                    <a:pt x="1800" y="330"/>
                    <a:pt x="2160" y="360"/>
                  </a:cubicBezTo>
                  <a:cubicBezTo>
                    <a:pt x="2520" y="390"/>
                    <a:pt x="2790" y="285"/>
                    <a:pt x="3060" y="18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Box 52"/>
            <p:cNvSpPr txBox="1">
              <a:spLocks noChangeArrowheads="1"/>
            </p:cNvSpPr>
            <p:nvPr/>
          </p:nvSpPr>
          <p:spPr bwMode="auto">
            <a:xfrm>
              <a:off x="1478" y="2160"/>
              <a:ext cx="240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sz="2800"/>
                <a:t>O</a:t>
              </a:r>
              <a:endParaRPr lang="en-US" sz="4000"/>
            </a:p>
          </p:txBody>
        </p:sp>
        <p:sp>
          <p:nvSpPr>
            <p:cNvPr id="17" name="Text Box 53"/>
            <p:cNvSpPr txBox="1">
              <a:spLocks noChangeArrowheads="1"/>
            </p:cNvSpPr>
            <p:nvPr/>
          </p:nvSpPr>
          <p:spPr bwMode="auto">
            <a:xfrm>
              <a:off x="1910" y="1580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endParaRPr lang="en-US" sz="1800"/>
            </a:p>
          </p:txBody>
        </p:sp>
        <p:graphicFrame>
          <p:nvGraphicFramePr>
            <p:cNvPr id="18" name="Object 9"/>
            <p:cNvGraphicFramePr>
              <a:graphicFrameLocks noChangeAspect="1"/>
            </p:cNvGraphicFramePr>
            <p:nvPr/>
          </p:nvGraphicFramePr>
          <p:xfrm>
            <a:off x="1806" y="1673"/>
            <a:ext cx="247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14151" imgH="215619" progId="Equation.3">
                    <p:embed/>
                  </p:oleObj>
                </mc:Choice>
                <mc:Fallback>
                  <p:oleObj name="Equation" r:id="rId5" imgW="114151" imgH="21561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6" y="1673"/>
                          <a:ext cx="247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Rectangle 18"/>
          <p:cNvSpPr/>
          <p:nvPr/>
        </p:nvSpPr>
        <p:spPr>
          <a:xfrm>
            <a:off x="2566851" y="2696164"/>
            <a:ext cx="1600200" cy="1668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>
                <a:solidFill>
                  <a:schemeClr val="tx1"/>
                </a:solidFill>
              </a:rPr>
              <a:t>x = x(t)</a:t>
            </a:r>
          </a:p>
          <a:p>
            <a:pPr algn="ctr">
              <a:lnSpc>
                <a:spcPct val="150000"/>
              </a:lnSpc>
            </a:pPr>
            <a:r>
              <a:rPr lang="en-US" sz="2400">
                <a:solidFill>
                  <a:schemeClr val="tx1"/>
                </a:solidFill>
              </a:rPr>
              <a:t>y = y(t)</a:t>
            </a:r>
          </a:p>
          <a:p>
            <a:pPr algn="ctr">
              <a:lnSpc>
                <a:spcPct val="150000"/>
              </a:lnSpc>
            </a:pPr>
            <a:r>
              <a:rPr lang="en-US" sz="2400">
                <a:solidFill>
                  <a:schemeClr val="tx1"/>
                </a:solidFill>
              </a:rPr>
              <a:t>z = z(t</a:t>
            </a:r>
            <a:r>
              <a:rPr lang="en-US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02A2A83-00B8-ED49-9034-2EE94BB70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D705845-EC85-0D11-BC29-74C13BC60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862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Text Box 18"/>
          <p:cNvSpPr txBox="1">
            <a:spLocks noChangeArrowheads="1"/>
          </p:cNvSpPr>
          <p:nvPr/>
        </p:nvSpPr>
        <p:spPr bwMode="auto">
          <a:xfrm>
            <a:off x="304800" y="1066800"/>
            <a:ext cx="86106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latin typeface="+mn-lt"/>
                <a:cs typeface="Times New Roman" pitchFamily="18" charset="0"/>
              </a:rPr>
              <a:t>Phương trình quỹ đạo</a:t>
            </a:r>
            <a:r>
              <a:rPr lang="en-US" b="1">
                <a:latin typeface="+mn-lt"/>
                <a:cs typeface="Times New Roman" pitchFamily="18" charset="0"/>
                <a:sym typeface="Wingdings" pitchFamily="2" charset="2"/>
              </a:rPr>
              <a:t>: </a:t>
            </a:r>
            <a:r>
              <a:rPr lang="en-US">
                <a:latin typeface="+mn-lt"/>
                <a:cs typeface="Times New Roman" pitchFamily="18" charset="0"/>
                <a:sym typeface="Wingdings" pitchFamily="2" charset="2"/>
              </a:rPr>
              <a:t>(</a:t>
            </a:r>
            <a:r>
              <a:rPr lang="it-IT">
                <a:latin typeface="+mn-lt"/>
                <a:cs typeface="Times New Roman" pitchFamily="18" charset="0"/>
              </a:rPr>
              <a:t>quan hệ giữa các toạ độ trong không gian</a:t>
            </a:r>
            <a:r>
              <a:rPr lang="en-US">
                <a:latin typeface="+mn-lt"/>
                <a:cs typeface="Times New Roman" pitchFamily="18" charset="0"/>
                <a:sym typeface="Wingdings" pitchFamily="2" charset="2"/>
              </a:rPr>
              <a:t>) </a:t>
            </a:r>
            <a:r>
              <a:rPr lang="en-US">
                <a:latin typeface="+mn-lt"/>
                <a:cs typeface="Times New Roman" pitchFamily="18" charset="0"/>
              </a:rPr>
              <a:t>biểu diễn dạng đường cong dịch chuyển của chất điểm</a:t>
            </a:r>
          </a:p>
          <a:p>
            <a:pPr eaLnBrk="1" hangingPunct="1">
              <a:spcBef>
                <a:spcPct val="50000"/>
              </a:spcBef>
            </a:pPr>
            <a:endParaRPr lang="en-US">
              <a:latin typeface="+mn-lt"/>
              <a:cs typeface="Times New Roman" pitchFamily="18" charset="0"/>
            </a:endParaRPr>
          </a:p>
        </p:txBody>
      </p:sp>
      <p:graphicFrame>
        <p:nvGraphicFramePr>
          <p:cNvPr id="27" name="Object 8"/>
          <p:cNvGraphicFramePr>
            <a:graphicFrameLocks noChangeAspect="1"/>
          </p:cNvGraphicFramePr>
          <p:nvPr/>
        </p:nvGraphicFramePr>
        <p:xfrm>
          <a:off x="1143000" y="3787775"/>
          <a:ext cx="2111375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9000" imgH="457200" progId="Equation.DSMT4">
                  <p:embed/>
                </p:oleObj>
              </mc:Choice>
              <mc:Fallback>
                <p:oleObj name="Equation" r:id="rId2" imgW="889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787775"/>
                        <a:ext cx="2111375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9"/>
          <p:cNvGraphicFramePr>
            <a:graphicFrameLocks noChangeAspect="1"/>
          </p:cNvGraphicFramePr>
          <p:nvPr/>
        </p:nvGraphicFramePr>
        <p:xfrm>
          <a:off x="1066800" y="5343525"/>
          <a:ext cx="220980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9000" imgH="457200" progId="Equation.DSMT4">
                  <p:embed/>
                </p:oleObj>
              </mc:Choice>
              <mc:Fallback>
                <p:oleObj name="Equation" r:id="rId4" imgW="889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343525"/>
                        <a:ext cx="2209800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6705600" y="3429000"/>
            <a:ext cx="1752600" cy="1600200"/>
            <a:chOff x="4224" y="912"/>
            <a:chExt cx="1344" cy="1248"/>
          </a:xfrm>
        </p:grpSpPr>
        <p:sp>
          <p:nvSpPr>
            <p:cNvPr id="10266" name="Line 10"/>
            <p:cNvSpPr>
              <a:spLocks noChangeShapeType="1"/>
            </p:cNvSpPr>
            <p:nvPr/>
          </p:nvSpPr>
          <p:spPr bwMode="auto">
            <a:xfrm flipV="1">
              <a:off x="4848" y="912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7" name="Line 11"/>
            <p:cNvSpPr>
              <a:spLocks noChangeShapeType="1"/>
            </p:cNvSpPr>
            <p:nvPr/>
          </p:nvSpPr>
          <p:spPr bwMode="auto">
            <a:xfrm>
              <a:off x="4224" y="1584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8" name="Text Box 12"/>
            <p:cNvSpPr txBox="1">
              <a:spLocks noChangeArrowheads="1"/>
            </p:cNvSpPr>
            <p:nvPr/>
          </p:nvSpPr>
          <p:spPr bwMode="auto">
            <a:xfrm>
              <a:off x="5328" y="1584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/>
                <a:t>x</a:t>
              </a:r>
            </a:p>
          </p:txBody>
        </p:sp>
        <p:sp>
          <p:nvSpPr>
            <p:cNvPr id="10269" name="Text Box 13"/>
            <p:cNvSpPr txBox="1">
              <a:spLocks noChangeArrowheads="1"/>
            </p:cNvSpPr>
            <p:nvPr/>
          </p:nvSpPr>
          <p:spPr bwMode="auto">
            <a:xfrm>
              <a:off x="4608" y="91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/>
                <a:t>y</a:t>
              </a:r>
            </a:p>
          </p:txBody>
        </p:sp>
        <p:sp>
          <p:nvSpPr>
            <p:cNvPr id="10270" name="Text Box 14"/>
            <p:cNvSpPr txBox="1">
              <a:spLocks noChangeArrowheads="1"/>
            </p:cNvSpPr>
            <p:nvPr/>
          </p:nvSpPr>
          <p:spPr bwMode="auto">
            <a:xfrm>
              <a:off x="4656" y="153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/>
                <a:t>o</a:t>
              </a:r>
            </a:p>
          </p:txBody>
        </p:sp>
        <p:sp>
          <p:nvSpPr>
            <p:cNvPr id="10271" name="Oval 20"/>
            <p:cNvSpPr>
              <a:spLocks noChangeArrowheads="1"/>
            </p:cNvSpPr>
            <p:nvPr/>
          </p:nvSpPr>
          <p:spPr bwMode="auto">
            <a:xfrm>
              <a:off x="4477" y="1241"/>
              <a:ext cx="720" cy="720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</p:grpSp>
      <p:grpSp>
        <p:nvGrpSpPr>
          <p:cNvPr id="7" name="Group 22"/>
          <p:cNvGrpSpPr>
            <a:grpSpLocks/>
          </p:cNvGrpSpPr>
          <p:nvPr/>
        </p:nvGrpSpPr>
        <p:grpSpPr bwMode="auto">
          <a:xfrm>
            <a:off x="6781800" y="5105400"/>
            <a:ext cx="1600200" cy="1600200"/>
            <a:chOff x="4224" y="2448"/>
            <a:chExt cx="1344" cy="1248"/>
          </a:xfrm>
        </p:grpSpPr>
        <p:sp>
          <p:nvSpPr>
            <p:cNvPr id="10260" name="Line 15"/>
            <p:cNvSpPr>
              <a:spLocks noChangeShapeType="1"/>
            </p:cNvSpPr>
            <p:nvPr/>
          </p:nvSpPr>
          <p:spPr bwMode="auto">
            <a:xfrm flipV="1">
              <a:off x="4848" y="2448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1" name="Line 16"/>
            <p:cNvSpPr>
              <a:spLocks noChangeShapeType="1"/>
            </p:cNvSpPr>
            <p:nvPr/>
          </p:nvSpPr>
          <p:spPr bwMode="auto">
            <a:xfrm>
              <a:off x="4224" y="3120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2" name="Text Box 17"/>
            <p:cNvSpPr txBox="1">
              <a:spLocks noChangeArrowheads="1"/>
            </p:cNvSpPr>
            <p:nvPr/>
          </p:nvSpPr>
          <p:spPr bwMode="auto">
            <a:xfrm>
              <a:off x="5328" y="312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/>
                <a:t>x</a:t>
              </a:r>
            </a:p>
          </p:txBody>
        </p:sp>
        <p:sp>
          <p:nvSpPr>
            <p:cNvPr id="10263" name="Text Box 18"/>
            <p:cNvSpPr txBox="1">
              <a:spLocks noChangeArrowheads="1"/>
            </p:cNvSpPr>
            <p:nvPr/>
          </p:nvSpPr>
          <p:spPr bwMode="auto">
            <a:xfrm>
              <a:off x="4608" y="2448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/>
                <a:t>y</a:t>
              </a:r>
            </a:p>
          </p:txBody>
        </p:sp>
        <p:sp>
          <p:nvSpPr>
            <p:cNvPr id="10264" name="Text Box 19"/>
            <p:cNvSpPr txBox="1">
              <a:spLocks noChangeArrowheads="1"/>
            </p:cNvSpPr>
            <p:nvPr/>
          </p:nvSpPr>
          <p:spPr bwMode="auto">
            <a:xfrm>
              <a:off x="4656" y="307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/>
                <a:t>o</a:t>
              </a:r>
            </a:p>
          </p:txBody>
        </p:sp>
        <p:sp>
          <p:nvSpPr>
            <p:cNvPr id="10265" name="Oval 21"/>
            <p:cNvSpPr>
              <a:spLocks noChangeArrowheads="1"/>
            </p:cNvSpPr>
            <p:nvPr/>
          </p:nvSpPr>
          <p:spPr bwMode="auto">
            <a:xfrm>
              <a:off x="4629" y="2631"/>
              <a:ext cx="432" cy="927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</p:grpSp>
      <p:sp>
        <p:nvSpPr>
          <p:cNvPr id="46" name="Rectangle 16"/>
          <p:cNvSpPr>
            <a:spLocks noChangeArrowheads="1"/>
          </p:cNvSpPr>
          <p:nvPr/>
        </p:nvSpPr>
        <p:spPr bwMode="auto">
          <a:xfrm>
            <a:off x="360182" y="2229665"/>
            <a:ext cx="2819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sz="2800" b="1">
                <a:latin typeface="Times New Roman" pitchFamily="18" charset="0"/>
                <a:cs typeface="Times New Roman" pitchFamily="18" charset="0"/>
              </a:rPr>
              <a:t>PT Chuyển động</a:t>
            </a:r>
          </a:p>
        </p:txBody>
      </p:sp>
      <p:sp>
        <p:nvSpPr>
          <p:cNvPr id="47" name="Rectangle 16"/>
          <p:cNvSpPr>
            <a:spLocks noChangeArrowheads="1"/>
          </p:cNvSpPr>
          <p:nvPr/>
        </p:nvSpPr>
        <p:spPr bwMode="auto">
          <a:xfrm>
            <a:off x="4762500" y="2189857"/>
            <a:ext cx="2057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sz="2800" b="1">
                <a:latin typeface="Times New Roman" pitchFamily="18" charset="0"/>
                <a:cs typeface="Times New Roman" pitchFamily="18" charset="0"/>
              </a:rPr>
              <a:t>PT Quỹ đạo  </a:t>
            </a:r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3179582" y="2558278"/>
            <a:ext cx="1295400" cy="1588"/>
          </a:xfrm>
          <a:prstGeom prst="straightConnector1">
            <a:avLst/>
          </a:prstGeom>
          <a:ln w="38100">
            <a:solidFill>
              <a:srgbClr val="13511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16"/>
          <p:cNvSpPr>
            <a:spLocks noChangeArrowheads="1"/>
          </p:cNvSpPr>
          <p:nvPr/>
        </p:nvSpPr>
        <p:spPr bwMode="auto">
          <a:xfrm>
            <a:off x="3179582" y="2034403"/>
            <a:ext cx="1295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sz="2800" b="1">
                <a:latin typeface="Times New Roman" pitchFamily="18" charset="0"/>
                <a:cs typeface="Times New Roman" pitchFamily="18" charset="0"/>
              </a:rPr>
              <a:t>khử t  </a:t>
            </a:r>
          </a:p>
        </p:txBody>
      </p:sp>
      <p:sp>
        <p:nvSpPr>
          <p:cNvPr id="51" name="Rounded Rectangle 50"/>
          <p:cNvSpPr>
            <a:spLocks noChangeArrowheads="1"/>
          </p:cNvSpPr>
          <p:nvPr/>
        </p:nvSpPr>
        <p:spPr bwMode="auto">
          <a:xfrm>
            <a:off x="315686" y="2034403"/>
            <a:ext cx="6553200" cy="91440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385D8A"/>
            </a:solidFill>
            <a:round/>
            <a:headEnd/>
            <a:tailEnd/>
          </a:ln>
          <a:effectLst>
            <a:outerShdw dist="38100" algn="l" rotWithShape="0">
              <a:srgbClr val="000000">
                <a:alpha val="39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vi-VN" sz="1800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52" name="Right Arrow 51"/>
          <p:cNvSpPr/>
          <p:nvPr/>
        </p:nvSpPr>
        <p:spPr>
          <a:xfrm>
            <a:off x="5791200" y="4191000"/>
            <a:ext cx="609600" cy="228600"/>
          </a:xfrm>
          <a:prstGeom prst="rightArrow">
            <a:avLst/>
          </a:prstGeom>
          <a:solidFill>
            <a:srgbClr val="90F828"/>
          </a:solidFill>
          <a:ln>
            <a:solidFill>
              <a:srgbClr val="1E22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80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Right Arrow 52"/>
          <p:cNvSpPr/>
          <p:nvPr/>
        </p:nvSpPr>
        <p:spPr>
          <a:xfrm>
            <a:off x="5867400" y="5791200"/>
            <a:ext cx="609600" cy="228600"/>
          </a:xfrm>
          <a:prstGeom prst="rightArrow">
            <a:avLst/>
          </a:prstGeom>
          <a:solidFill>
            <a:srgbClr val="90F828"/>
          </a:solidFill>
          <a:ln>
            <a:solidFill>
              <a:srgbClr val="1E22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80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Rectangle 16"/>
          <p:cNvSpPr>
            <a:spLocks noChangeArrowheads="1"/>
          </p:cNvSpPr>
          <p:nvPr/>
        </p:nvSpPr>
        <p:spPr bwMode="auto">
          <a:xfrm>
            <a:off x="-1" y="3053875"/>
            <a:ext cx="83330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just"/>
            <a:r>
              <a:rPr lang="en-US" sz="28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Ví dụ: </a:t>
            </a:r>
            <a:r>
              <a:rPr lang="en-US" sz="2800" i="1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Xác đinh quỹ đạo được cho bởi các PTCĐ sau? </a:t>
            </a:r>
          </a:p>
        </p:txBody>
      </p:sp>
      <p:graphicFrame>
        <p:nvGraphicFramePr>
          <p:cNvPr id="2" name="Object 32"/>
          <p:cNvGraphicFramePr>
            <a:graphicFrameLocks noChangeAspect="1"/>
          </p:cNvGraphicFramePr>
          <p:nvPr/>
        </p:nvGraphicFramePr>
        <p:xfrm>
          <a:off x="3124200" y="4038600"/>
          <a:ext cx="2109788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89000" imgH="228600" progId="Equation.DSMT4">
                  <p:embed/>
                </p:oleObj>
              </mc:Choice>
              <mc:Fallback>
                <p:oleObj name="Equation" r:id="rId6" imgW="889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038600"/>
                        <a:ext cx="2109788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3"/>
          <p:cNvGraphicFramePr>
            <a:graphicFrameLocks noChangeAspect="1"/>
          </p:cNvGraphicFramePr>
          <p:nvPr/>
        </p:nvGraphicFramePr>
        <p:xfrm>
          <a:off x="3124200" y="5348288"/>
          <a:ext cx="2273300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" imgH="419100" progId="Equation.DSMT4">
                  <p:embed/>
                </p:oleObj>
              </mc:Choice>
              <mc:Fallback>
                <p:oleObj name="Equation" r:id="rId8" imgW="9144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348288"/>
                        <a:ext cx="2273300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33400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 pitchFamily="18" charset="0"/>
                <a:cs typeface="Times New Roman" pitchFamily="18" charset="0"/>
              </a:rPr>
              <a:t>1.1. Các khái niệm cơ bản về chuyển động</a:t>
            </a:r>
            <a:endParaRPr lang="en-US" sz="32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FC7675-2B68-01EF-6AB4-6B9D49EC0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A1FC1-1205-A75D-DFFD-4E0D9683B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66645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3" grpId="0"/>
      <p:bldP spid="46" grpId="0"/>
      <p:bldP spid="47" grpId="0"/>
      <p:bldP spid="50" grpId="0"/>
      <p:bldP spid="51" grpId="0" animBg="1"/>
      <p:bldP spid="52" grpId="0" animBg="1"/>
      <p:bldP spid="53" grpId="0" animBg="1"/>
      <p:bldP spid="3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>
              <a:buFont typeface="Arial" charset="0"/>
              <a:buNone/>
            </a:pPr>
            <a:endParaRPr lang="en-US"/>
          </a:p>
          <a:p>
            <a:pPr>
              <a:buFont typeface="Arial" charset="0"/>
              <a:buNone/>
            </a:pPr>
            <a:r>
              <a:rPr lang="en-US"/>
              <a:t>Muốn biết vào thời điểm t vật đang ở vị trí nào trên quỹ đạo ta dựa vào:</a:t>
            </a:r>
          </a:p>
          <a:p>
            <a:r>
              <a:rPr lang="en-US"/>
              <a:t>A.	Phương trình quỹ đạo của vật.</a:t>
            </a:r>
          </a:p>
          <a:p>
            <a:r>
              <a:rPr lang="en-US"/>
              <a:t>B.	Vận tốc của vật.</a:t>
            </a:r>
            <a:endParaRPr lang="en-US" u="sng"/>
          </a:p>
          <a:p>
            <a:r>
              <a:rPr lang="en-US"/>
              <a:t>C.	Phương trình chuyển động của vật .</a:t>
            </a:r>
          </a:p>
          <a:p>
            <a:r>
              <a:rPr lang="en-US"/>
              <a:t>D.	Gia tốc của vật.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D15749-73BD-D406-0FDA-4B2899259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E46D9B-9E75-FD8B-C841-A77D680A5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0536C0-DC65-42B8-96CE-EDB47704114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7176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Rot="1" noChangeAspect="1" noMove="1" noResize="1" noEditPoints="1" noAdjustHandles="1" noChangeArrowheads="1" noChangeShapeType="1" noTextEdit="1"/>
          </p:cNvSpPr>
          <p:nvPr>
            <p:ph/>
          </p:nvPr>
        </p:nvSpPr>
        <p:spPr>
          <a:blipFill rotWithShape="1">
            <a:blip r:embed="rId2"/>
            <a:stretch>
              <a:fillRect l="-1926" r="-889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C303F0-C0D1-16A9-0F2C-691410AB9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8ECB0-6FAC-0279-FD63-E2628F35F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0536C0-DC65-42B8-96CE-EDB477041144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6595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Rot="1" noChangeAspect="1" noMove="1" noResize="1" noEditPoints="1" noAdjustHandles="1" noChangeArrowheads="1" noChangeShapeType="1" noTextEdit="1"/>
          </p:cNvSpPr>
          <p:nvPr>
            <p:ph/>
          </p:nvPr>
        </p:nvSpPr>
        <p:spPr>
          <a:blipFill rotWithShape="1">
            <a:blip r:embed="rId2"/>
            <a:stretch>
              <a:fillRect l="-1852" t="-1354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C9295A-B756-F918-54B2-4E2C0D04C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0B809-893E-0905-9B97-2D7EF5A4E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0536C0-DC65-42B8-96CE-EDB47704114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28134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102" name="Text Box 18"/>
              <p:cNvSpPr txBox="1">
                <a:spLocks noChangeArrowheads="1"/>
              </p:cNvSpPr>
              <p:nvPr/>
            </p:nvSpPr>
            <p:spPr bwMode="auto">
              <a:xfrm>
                <a:off x="2743200" y="1000125"/>
                <a:ext cx="2812576" cy="6648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800" b="1" dirty="0">
                    <a:latin typeface="Times New Roman" pitchFamily="18" charset="0"/>
                    <a:cs typeface="Times New Roman" pitchFamily="18" charset="0"/>
                  </a:rPr>
                  <a:t>Tốc </a:t>
                </a:r>
                <a:r>
                  <a:rPr lang="en-US" sz="2800" b="1" dirty="0" err="1">
                    <a:latin typeface="Times New Roman" pitchFamily="18" charset="0"/>
                    <a:cs typeface="Times New Roman" pitchFamily="18" charset="0"/>
                  </a:rPr>
                  <a:t>độ</a:t>
                </a:r>
                <a:r>
                  <a:rPr lang="en-US" sz="2800" b="1" dirty="0">
                    <a:latin typeface="Times New Roman" pitchFamily="18" charset="0"/>
                    <a:cs typeface="Times New Roman" pitchFamily="18" charset="0"/>
                  </a:rPr>
                  <a:t> v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/>
                            <a:cs typeface="Times New Roman" pitchFamily="18" charset="0"/>
                          </a:rPr>
                          <m:t>𝒔</m:t>
                        </m:r>
                      </m:num>
                      <m:den>
                        <m:r>
                          <a:rPr lang="en-US" sz="2800" b="1" i="1" smtClean="0">
                            <a:latin typeface="Cambria Math"/>
                            <a:cs typeface="Times New Roman" pitchFamily="18" charset="0"/>
                          </a:rPr>
                          <m:t>𝒕</m:t>
                        </m:r>
                      </m:den>
                    </m:f>
                  </m:oMath>
                </a14:m>
                <a:endParaRPr lang="en-US" sz="28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10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3200" y="1000125"/>
                <a:ext cx="2812576" cy="664862"/>
              </a:xfrm>
              <a:prstGeom prst="rect">
                <a:avLst/>
              </a:prstGeom>
              <a:blipFill rotWithShape="1">
                <a:blip r:embed="rId2"/>
                <a:stretch>
                  <a:fillRect l="-4338" t="-1835" b="-1100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6"/>
          <p:cNvSpPr>
            <a:spLocks noChangeArrowheads="1"/>
          </p:cNvSpPr>
          <p:nvPr/>
        </p:nvSpPr>
        <p:spPr bwMode="auto">
          <a:xfrm>
            <a:off x="76200" y="3200400"/>
            <a:ext cx="1676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sz="2800" b="1">
                <a:latin typeface="Times New Roman" pitchFamily="18" charset="0"/>
                <a:cs typeface="Times New Roman" pitchFamily="18" charset="0"/>
              </a:rPr>
              <a:t>Tức thời</a:t>
            </a:r>
          </a:p>
        </p:txBody>
      </p:sp>
      <p:sp>
        <p:nvSpPr>
          <p:cNvPr id="4111" name="Rectangle 13"/>
          <p:cNvSpPr>
            <a:spLocks noChangeArrowheads="1"/>
          </p:cNvSpPr>
          <p:nvPr/>
        </p:nvSpPr>
        <p:spPr bwMode="auto">
          <a:xfrm>
            <a:off x="304800" y="4343400"/>
            <a:ext cx="57150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Tốc độ đặc trưng cho tính nhanh chậm của chuyển động và không âm.</a:t>
            </a:r>
          </a:p>
        </p:txBody>
      </p:sp>
      <p:sp>
        <p:nvSpPr>
          <p:cNvPr id="4112" name="Rectangle 14"/>
          <p:cNvSpPr>
            <a:spLocks noChangeArrowheads="1"/>
          </p:cNvSpPr>
          <p:nvPr/>
        </p:nvSpPr>
        <p:spPr bwMode="auto">
          <a:xfrm>
            <a:off x="304800" y="5486400"/>
            <a:ext cx="57150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sz="2800">
                <a:latin typeface="Times New Roman" pitchFamily="18" charset="0"/>
                <a:cs typeface="Times New Roman" pitchFamily="18" charset="0"/>
              </a:rPr>
              <a:t>Vận tốc tức thời đặc trưng cho phương, chiều và độ nhanh chậm của chuyển động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18"/>
              <p:cNvSpPr txBox="1">
                <a:spLocks noChangeArrowheads="1"/>
              </p:cNvSpPr>
              <p:nvPr/>
            </p:nvSpPr>
            <p:spPr bwMode="auto">
              <a:xfrm>
                <a:off x="6248400" y="1000125"/>
                <a:ext cx="2819400" cy="748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800" b="1" dirty="0">
                    <a:latin typeface="Times New Roman" pitchFamily="18" charset="0"/>
                    <a:cs typeface="Times New Roman" pitchFamily="18" charset="0"/>
                  </a:rPr>
                  <a:t>Vận </a:t>
                </a:r>
                <a:r>
                  <a:rPr lang="en-US" sz="2800" b="1" dirty="0" err="1">
                    <a:latin typeface="Times New Roman" pitchFamily="18" charset="0"/>
                    <a:cs typeface="Times New Roman" pitchFamily="18" charset="0"/>
                  </a:rPr>
                  <a:t>tốc</a:t>
                </a:r>
                <a:r>
                  <a:rPr lang="en-US" sz="28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sz="2800" b="1" i="1" smtClean="0">
                            <a:latin typeface="Cambria Math"/>
                            <a:cs typeface="Times New Roman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80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∆</m:t>
                        </m:r>
                        <m:acc>
                          <m:accPr>
                            <m:chr m:val="⃗"/>
                            <m:ctrlPr>
                              <a:rPr lang="en-US" sz="2800" i="1" smtClean="0">
                                <a:latin typeface="Cambria Math" panose="02040503050406030204" pitchFamily="18" charset="0"/>
                                <a:ea typeface="Cambria Math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𝑟</m:t>
                            </m:r>
                          </m:e>
                        </m:acc>
                      </m:num>
                      <m:den>
                        <m:r>
                          <a:rPr lang="en-US" sz="280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∆</m:t>
                        </m:r>
                        <m:r>
                          <a:rPr lang="en-US" sz="28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sz="28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48400" y="1000125"/>
                <a:ext cx="2819400" cy="748218"/>
              </a:xfrm>
              <a:prstGeom prst="rect">
                <a:avLst/>
              </a:prstGeom>
              <a:blipFill rotWithShape="1">
                <a:blip r:embed="rId3"/>
                <a:stretch>
                  <a:fillRect l="-4320" b="-894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16"/>
          <p:cNvSpPr>
            <a:spLocks noChangeArrowheads="1"/>
          </p:cNvSpPr>
          <p:nvPr/>
        </p:nvSpPr>
        <p:spPr bwMode="auto">
          <a:xfrm>
            <a:off x="0" y="1895475"/>
            <a:ext cx="1981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sz="2800" b="1">
                <a:latin typeface="Times New Roman" pitchFamily="18" charset="0"/>
                <a:cs typeface="Times New Roman" pitchFamily="18" charset="0"/>
              </a:rPr>
              <a:t>Trung bình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762000" y="1514475"/>
            <a:ext cx="7772400" cy="1588"/>
          </a:xfrm>
          <a:prstGeom prst="line">
            <a:avLst/>
          </a:prstGeom>
          <a:ln w="38100">
            <a:solidFill>
              <a:srgbClr val="00B05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3695701" y="2617787"/>
            <a:ext cx="3124200" cy="3175"/>
          </a:xfrm>
          <a:prstGeom prst="line">
            <a:avLst/>
          </a:prstGeom>
          <a:ln w="38100">
            <a:solidFill>
              <a:srgbClr val="00B050"/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762000" y="2811463"/>
            <a:ext cx="7696200" cy="7937"/>
          </a:xfrm>
          <a:prstGeom prst="line">
            <a:avLst/>
          </a:prstGeom>
          <a:ln w="38100">
            <a:solidFill>
              <a:srgbClr val="00B05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5400000">
            <a:off x="343694" y="2620169"/>
            <a:ext cx="3124200" cy="1588"/>
          </a:xfrm>
          <a:prstGeom prst="line">
            <a:avLst/>
          </a:prstGeom>
          <a:ln w="38100">
            <a:solidFill>
              <a:srgbClr val="00B050"/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24"/>
          <p:cNvSpPr>
            <a:spLocks noChangeArrowheads="1"/>
          </p:cNvSpPr>
          <p:nvPr/>
        </p:nvSpPr>
        <p:spPr bwMode="auto">
          <a:xfrm>
            <a:off x="-76200" y="4300538"/>
            <a:ext cx="5095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just"/>
            <a:r>
              <a:rPr lang="en-US" sz="3200">
                <a:solidFill>
                  <a:srgbClr val="552579"/>
                </a:solidFill>
                <a:latin typeface="Times New Roman" pitchFamily="18" charset="0"/>
                <a:sym typeface="Wingdings" pitchFamily="2" charset="2"/>
              </a:rPr>
              <a:t></a:t>
            </a:r>
            <a:endParaRPr lang="en-US" sz="3200">
              <a:solidFill>
                <a:srgbClr val="552579"/>
              </a:solidFill>
            </a:endParaRPr>
          </a:p>
        </p:txBody>
      </p:sp>
      <p:sp>
        <p:nvSpPr>
          <p:cNvPr id="38" name="Rectangle 25"/>
          <p:cNvSpPr>
            <a:spLocks noChangeArrowheads="1"/>
          </p:cNvSpPr>
          <p:nvPr/>
        </p:nvSpPr>
        <p:spPr bwMode="auto">
          <a:xfrm>
            <a:off x="-76200" y="5435600"/>
            <a:ext cx="5095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just"/>
            <a:r>
              <a:rPr lang="en-US" sz="3200">
                <a:solidFill>
                  <a:srgbClr val="552579"/>
                </a:solidFill>
                <a:latin typeface="Times New Roman" pitchFamily="18" charset="0"/>
                <a:sym typeface="Wingdings" pitchFamily="2" charset="2"/>
              </a:rPr>
              <a:t></a:t>
            </a:r>
            <a:endParaRPr lang="en-US" sz="3200">
              <a:solidFill>
                <a:srgbClr val="552579"/>
              </a:solidFill>
            </a:endParaRPr>
          </a:p>
        </p:txBody>
      </p:sp>
      <p:sp>
        <p:nvSpPr>
          <p:cNvPr id="3" name="Rectangle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247900" y="1706563"/>
            <a:ext cx="2667000" cy="9144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26" name="Rectangle 2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562600" y="1769256"/>
            <a:ext cx="2667000" cy="91440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28" name="Rectangle 2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230272" y="3005137"/>
            <a:ext cx="2667000" cy="914400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0" name="Rectangle 2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555776" y="2971018"/>
            <a:ext cx="2667000" cy="914400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24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334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1.2. Tốc độ - vận tốc</a:t>
            </a:r>
            <a:endParaRPr lang="en-US" sz="32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76EB1D-0299-0BE2-D801-89808DF29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C600D-2310-D4BB-69CB-68AA05EB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243665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>
              <a:buFont typeface="Arial" charset="0"/>
              <a:buNone/>
            </a:pPr>
            <a:endParaRPr lang="en-US"/>
          </a:p>
          <a:p>
            <a:pPr>
              <a:buFont typeface="Arial" charset="0"/>
              <a:buNone/>
            </a:pPr>
            <a:r>
              <a:rPr lang="en-US"/>
              <a:t>Phát biểu nào sau đây chỉ </a:t>
            </a:r>
            <a:r>
              <a:rPr lang="en-US" i="1">
                <a:solidFill>
                  <a:srgbClr val="FF0000"/>
                </a:solidFill>
              </a:rPr>
              <a:t>tốc độ tức thời </a:t>
            </a:r>
            <a:r>
              <a:rPr lang="en-US"/>
              <a:t>:</a:t>
            </a:r>
          </a:p>
          <a:p>
            <a:r>
              <a:rPr lang="en-US"/>
              <a:t>A.	Tốc độ của người đi bộ là 5 km/h</a:t>
            </a:r>
            <a:endParaRPr lang="en-US" u="sng"/>
          </a:p>
          <a:p>
            <a:r>
              <a:rPr lang="en-US"/>
              <a:t>B.	Vận động viên chạm đích với tốc độ 10 m/s.</a:t>
            </a:r>
          </a:p>
          <a:p>
            <a:r>
              <a:rPr lang="en-US"/>
              <a:t>C.	Xe máy chuyển động với tốc độ 40km/h trong 1,5 giờ thì đến Đồng Nai.</a:t>
            </a:r>
          </a:p>
          <a:p>
            <a:r>
              <a:rPr lang="en-US"/>
              <a:t>D.	Ôtô đi từ A đến B với vận tốc 60km/h.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DC2EC7-1CA8-E9E4-A6FC-012D1F5E0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A2C3AF-6561-3BFC-D348-6D68F818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0536C0-DC65-42B8-96CE-EDB47704114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7614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334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1.2. Tốc độ - vận tốc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/>
          <a:lstStyle/>
          <a:p>
            <a:r>
              <a:rPr lang="en-US" i="1" dirty="0" err="1"/>
              <a:t>Câu</a:t>
            </a:r>
            <a:r>
              <a:rPr lang="en-US" i="1" dirty="0"/>
              <a:t> </a:t>
            </a:r>
            <a:r>
              <a:rPr lang="en-US" i="1" dirty="0" err="1"/>
              <a:t>hỏi</a:t>
            </a:r>
            <a:r>
              <a:rPr lang="en-US" i="1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i="1" dirty="0" err="1"/>
              <a:t>Tốc</a:t>
            </a:r>
            <a:r>
              <a:rPr lang="en-US" i="1" dirty="0"/>
              <a:t> </a:t>
            </a:r>
            <a:r>
              <a:rPr lang="en-US" i="1" dirty="0" err="1"/>
              <a:t>độ</a:t>
            </a:r>
            <a:r>
              <a:rPr lang="en-US" i="1" dirty="0"/>
              <a:t> - </a:t>
            </a:r>
            <a:r>
              <a:rPr lang="en-US" i="1" dirty="0" err="1"/>
              <a:t>vận</a:t>
            </a:r>
            <a:r>
              <a:rPr lang="en-US" i="1" dirty="0"/>
              <a:t> </a:t>
            </a:r>
            <a:r>
              <a:rPr lang="en-US" i="1" dirty="0" err="1"/>
              <a:t>tốc</a:t>
            </a:r>
            <a:r>
              <a:rPr lang="en-US" i="1" dirty="0"/>
              <a:t> ?</a:t>
            </a:r>
          </a:p>
          <a:p>
            <a:pPr marL="514350" indent="-514350">
              <a:buFont typeface="+mj-lt"/>
              <a:buAutoNum type="arabicPeriod"/>
            </a:pPr>
            <a:r>
              <a:rPr lang="en-US" i="1" dirty="0" err="1"/>
              <a:t>Giá</a:t>
            </a:r>
            <a:r>
              <a:rPr lang="en-US" i="1" dirty="0"/>
              <a:t> </a:t>
            </a:r>
            <a:r>
              <a:rPr lang="en-US" i="1" dirty="0" err="1"/>
              <a:t>trị</a:t>
            </a:r>
            <a:r>
              <a:rPr lang="en-US" i="1" dirty="0"/>
              <a:t> </a:t>
            </a:r>
            <a:r>
              <a:rPr lang="en-US" i="1" dirty="0" err="1"/>
              <a:t>trung</a:t>
            </a:r>
            <a:r>
              <a:rPr lang="en-US" i="1" dirty="0"/>
              <a:t> </a:t>
            </a:r>
            <a:r>
              <a:rPr lang="en-US" i="1" dirty="0" err="1"/>
              <a:t>bình</a:t>
            </a:r>
            <a:r>
              <a:rPr lang="en-US" i="1" dirty="0"/>
              <a:t> – </a:t>
            </a:r>
            <a:r>
              <a:rPr lang="en-US" i="1" dirty="0" err="1"/>
              <a:t>tức</a:t>
            </a:r>
            <a:r>
              <a:rPr lang="en-US" i="1" dirty="0"/>
              <a:t> </a:t>
            </a:r>
            <a:r>
              <a:rPr lang="en-US" i="1" dirty="0" err="1"/>
              <a:t>thời</a:t>
            </a:r>
            <a:r>
              <a:rPr lang="en-US" i="1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Một</a:t>
            </a:r>
            <a:r>
              <a:rPr lang="en-US" dirty="0"/>
              <a:t> ô </a:t>
            </a:r>
            <a:r>
              <a:rPr lang="en-US" dirty="0" err="1"/>
              <a:t>tô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A </a:t>
            </a:r>
            <a:r>
              <a:rPr lang="en-US" dirty="0" err="1"/>
              <a:t>đến</a:t>
            </a:r>
            <a:r>
              <a:rPr lang="en-US" dirty="0"/>
              <a:t> B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40km/h </a:t>
            </a:r>
            <a:r>
              <a:rPr lang="en-US" dirty="0" err="1"/>
              <a:t>rồi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B </a:t>
            </a:r>
            <a:r>
              <a:rPr lang="en-US" dirty="0" err="1"/>
              <a:t>về</a:t>
            </a:r>
            <a:r>
              <a:rPr lang="en-US" dirty="0"/>
              <a:t> A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30km/h.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ô </a:t>
            </a:r>
            <a:r>
              <a:rPr lang="en-US" dirty="0" err="1"/>
              <a:t>tô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AB,BA?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vận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tốc</a:t>
            </a:r>
            <a:r>
              <a:rPr lang="en-US" dirty="0"/>
              <a:t> tb?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tb 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âm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nào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/>
            </a:pPr>
            <a:endParaRPr lang="en-US" i="1" dirty="0"/>
          </a:p>
          <a:p>
            <a:pPr marL="514350" indent="-514350">
              <a:buFont typeface="+mj-lt"/>
              <a:buAutoNum type="arabicPeriod"/>
            </a:pPr>
            <a:endParaRPr lang="en-US" i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399" y="4038600"/>
            <a:ext cx="2955783" cy="22098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72DF3B-ABBB-FD59-69AA-92E71DBE5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E2248-201A-C376-4B9C-09A37521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peech Bubble: Oval 6">
                <a:extLst>
                  <a:ext uri="{FF2B5EF4-FFF2-40B4-BE49-F238E27FC236}">
                    <a16:creationId xmlns:a16="http://schemas.microsoft.com/office/drawing/2014/main" id="{9C1F0DDA-E8C5-7518-A25C-24E6323921DD}"/>
                  </a:ext>
                </a:extLst>
              </p:cNvPr>
              <p:cNvSpPr/>
              <p:nvPr/>
            </p:nvSpPr>
            <p:spPr>
              <a:xfrm>
                <a:off x="838200" y="4419600"/>
                <a:ext cx="8153400" cy="2057400"/>
              </a:xfrm>
              <a:prstGeom prst="wedgeEllipseCallout">
                <a:avLst>
                  <a:gd name="adj1" fmla="val -29113"/>
                  <a:gd name="adj2" fmla="val -74714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dirty="0"/>
                  <a:t>Tốc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trung</a:t>
                </a:r>
                <a:r>
                  <a:rPr lang="en-US" dirty="0"/>
                  <a:t> </a:t>
                </a:r>
                <a:r>
                  <a:rPr lang="en-US" dirty="0" err="1"/>
                  <a:t>binh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= 34,3 km/h</a:t>
                </a:r>
              </a:p>
              <a:p>
                <a:r>
                  <a:rPr lang="en-US" dirty="0" err="1"/>
                  <a:t>Vận</a:t>
                </a:r>
                <a:r>
                  <a:rPr lang="en-US" dirty="0"/>
                  <a:t> </a:t>
                </a:r>
                <a:r>
                  <a:rPr lang="en-US" dirty="0" err="1"/>
                  <a:t>tốc</a:t>
                </a:r>
                <a:r>
                  <a:rPr lang="en-US" dirty="0"/>
                  <a:t> </a:t>
                </a:r>
                <a:r>
                  <a:rPr lang="en-US" dirty="0" err="1"/>
                  <a:t>trung</a:t>
                </a:r>
                <a:r>
                  <a:rPr lang="en-US" dirty="0"/>
                  <a:t> </a:t>
                </a:r>
                <a:r>
                  <a:rPr lang="en-US" dirty="0" err="1"/>
                  <a:t>bình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n-US" dirty="0"/>
                  <a:t>= 0 km/h</a:t>
                </a:r>
              </a:p>
            </p:txBody>
          </p:sp>
        </mc:Choice>
        <mc:Fallback xmlns="">
          <p:sp>
            <p:nvSpPr>
              <p:cNvPr id="7" name="Speech Bubble: Oval 6">
                <a:extLst>
                  <a:ext uri="{FF2B5EF4-FFF2-40B4-BE49-F238E27FC236}">
                    <a16:creationId xmlns:a16="http://schemas.microsoft.com/office/drawing/2014/main" id="{9C1F0DDA-E8C5-7518-A25C-24E6323921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19600"/>
                <a:ext cx="8153400" cy="2057400"/>
              </a:xfrm>
              <a:prstGeom prst="wedgeEllipseCallout">
                <a:avLst>
                  <a:gd name="adj1" fmla="val -29113"/>
                  <a:gd name="adj2" fmla="val -74714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9862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Bài tập</a:t>
            </a:r>
          </a:p>
          <a:p>
            <a:pPr marL="0" indent="0">
              <a:buNone/>
            </a:pPr>
            <a:r>
              <a:rPr lang="en-US" dirty="0"/>
              <a:t>Vị trí của 1 chiếc xe thay đổi theo thời gian và được ghi lại trong bảng dưới đây. Tìm vận tốc trung bình của xe trong khoảng thời gian</a:t>
            </a:r>
          </a:p>
          <a:p>
            <a:r>
              <a:rPr lang="en-US" dirty="0"/>
              <a:t>(a) s đầu tiên</a:t>
            </a:r>
          </a:p>
          <a:p>
            <a:r>
              <a:rPr lang="en-US" dirty="0"/>
              <a:t>(b) 3s cuối </a:t>
            </a:r>
          </a:p>
          <a:p>
            <a:r>
              <a:rPr lang="en-US" dirty="0"/>
              <a:t>(c) suốt quá trình chuyển động.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334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1.2. Tốc độ - vận tốc</a:t>
            </a:r>
            <a:endParaRPr lang="en-US" sz="32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657356"/>
              </p:ext>
            </p:extLst>
          </p:nvPr>
        </p:nvGraphicFramePr>
        <p:xfrm>
          <a:off x="838200" y="4724400"/>
          <a:ext cx="7239000" cy="16002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203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1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9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13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2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25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marL="17780" marR="0" algn="just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</a:rPr>
                        <a:t>t (s)</a:t>
                      </a:r>
                      <a:endParaRPr lang="en-US" sz="28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74295" algn="just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28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 marR="0" algn="just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</a:rPr>
                        <a:t>1,0</a:t>
                      </a:r>
                      <a:endParaRPr lang="en-US" sz="28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 marR="67945" algn="just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</a:rPr>
                        <a:t>2,0</a:t>
                      </a:r>
                      <a:endParaRPr lang="en-US" sz="28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78105" algn="just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</a:rPr>
                        <a:t>3,0</a:t>
                      </a:r>
                      <a:endParaRPr lang="en-US" sz="28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122555" algn="just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</a:rPr>
                        <a:t>4,0</a:t>
                      </a:r>
                      <a:endParaRPr lang="en-US" sz="28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179705" algn="just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</a:rPr>
                        <a:t>5,0</a:t>
                      </a:r>
                      <a:endParaRPr lang="en-US" sz="28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17780" marR="0" algn="just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</a:rPr>
                        <a:t>x (m)</a:t>
                      </a:r>
                      <a:endParaRPr lang="en-US" sz="28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74295" algn="just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en-US" sz="28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 marR="0" algn="just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</a:rPr>
                        <a:t>2,3</a:t>
                      </a:r>
                      <a:endParaRPr lang="en-US" sz="28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 marR="67945" algn="just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</a:rPr>
                        <a:t>9,2</a:t>
                      </a:r>
                      <a:endParaRPr lang="en-US" sz="28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78105" algn="just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</a:rPr>
                        <a:t>20,9</a:t>
                      </a:r>
                      <a:endParaRPr lang="en-US" sz="28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122555" algn="just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</a:rPr>
                        <a:t>36,8</a:t>
                      </a:r>
                      <a:endParaRPr lang="en-US" sz="28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marR="497840" algn="just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</a:rPr>
                        <a:t>57,5</a:t>
                      </a:r>
                      <a:endParaRPr lang="en-US" sz="28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86741C-31D7-B207-F4E1-6D7B2237F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3371E-CB21-2B92-3BB0-B0218BBE6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117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pPr marL="0" indent="0">
              <a:buFont typeface="Arial" charset="0"/>
              <a:buNone/>
              <a:defRPr/>
            </a:pPr>
            <a:r>
              <a:rPr lang="en-US" dirty="0" err="1"/>
              <a:t>Tọa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x(t) = 7t – 3t² ,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met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i="1" dirty="0"/>
              <a:t>t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giây</a:t>
            </a:r>
            <a:r>
              <a:rPr lang="en-US" dirty="0"/>
              <a:t>.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t = 0 </a:t>
            </a:r>
            <a:r>
              <a:rPr lang="en-US" dirty="0" err="1"/>
              <a:t>đến</a:t>
            </a:r>
            <a:r>
              <a:rPr lang="en-US" dirty="0"/>
              <a:t> t = 4s </a:t>
            </a:r>
            <a:r>
              <a:rPr lang="en-US" dirty="0" err="1"/>
              <a:t>là</a:t>
            </a:r>
            <a:r>
              <a:rPr lang="en-US" dirty="0"/>
              <a:t>:</a:t>
            </a:r>
          </a:p>
          <a:p>
            <a:pPr>
              <a:defRPr/>
            </a:pPr>
            <a:r>
              <a:rPr lang="en-US" dirty="0"/>
              <a:t>A.	11 m/s</a:t>
            </a:r>
          </a:p>
          <a:p>
            <a:pPr>
              <a:defRPr/>
            </a:pPr>
            <a:r>
              <a:rPr lang="en-US" dirty="0"/>
              <a:t>B.	- 11 m/s</a:t>
            </a:r>
          </a:p>
          <a:p>
            <a:pPr>
              <a:defRPr/>
            </a:pPr>
            <a:r>
              <a:rPr lang="en-US" dirty="0"/>
              <a:t>C.	5 m/s</a:t>
            </a:r>
          </a:p>
          <a:p>
            <a:pPr>
              <a:defRPr/>
            </a:pPr>
            <a:r>
              <a:rPr lang="en-US" dirty="0"/>
              <a:t>D.	- 5 m/s</a:t>
            </a:r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590800" y="3775166"/>
                <a:ext cx="4953000" cy="304800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r2 = 7.4 – 3.4² = -20</a:t>
                </a:r>
              </a:p>
              <a:p>
                <a:pPr algn="ctr"/>
                <a:r>
                  <a:rPr lang="en-US" dirty="0"/>
                  <a:t>r1 = 7.0 – 3.0 = 0</a:t>
                </a:r>
              </a:p>
              <a:p>
                <a:pPr algn="ctr"/>
                <a:r>
                  <a:rPr lang="en-US" dirty="0"/>
                  <a:t>V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−20 −0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4−0</m:t>
                        </m:r>
                      </m:den>
                    </m:f>
                  </m:oMath>
                </a14:m>
                <a:r>
                  <a:rPr lang="en-US" dirty="0"/>
                  <a:t> = -5 m/s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 err="1"/>
                  <a:t>Vận</a:t>
                </a:r>
                <a:r>
                  <a:rPr lang="en-US" dirty="0"/>
                  <a:t> </a:t>
                </a:r>
                <a:r>
                  <a:rPr lang="en-US" dirty="0" err="1"/>
                  <a:t>tốc</a:t>
                </a:r>
                <a:r>
                  <a:rPr lang="en-US" dirty="0"/>
                  <a:t> </a:t>
                </a:r>
                <a:r>
                  <a:rPr lang="en-US" dirty="0" err="1"/>
                  <a:t>tức</a:t>
                </a:r>
                <a:r>
                  <a:rPr lang="en-US" dirty="0"/>
                  <a:t> </a:t>
                </a:r>
                <a:r>
                  <a:rPr lang="en-US" dirty="0" err="1"/>
                  <a:t>thời</a:t>
                </a:r>
                <a:endParaRPr lang="en-US" dirty="0"/>
              </a:p>
              <a:p>
                <a:pPr algn="ctr"/>
                <a:r>
                  <a:rPr lang="en-US" dirty="0"/>
                  <a:t>v(t) = x’(t) = 7 – 6t</a:t>
                </a:r>
              </a:p>
              <a:p>
                <a:pPr algn="ctr"/>
                <a:r>
                  <a:rPr lang="en-US" dirty="0"/>
                  <a:t>v(0) = 7 m/s</a:t>
                </a:r>
              </a:p>
              <a:p>
                <a:pPr algn="ctr"/>
                <a:r>
                  <a:rPr lang="en-US" dirty="0"/>
                  <a:t>v(4) = 7 – 6.4 = -17 m/s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3775166"/>
                <a:ext cx="4953000" cy="30480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562600" y="1769256"/>
            <a:ext cx="2667000" cy="9144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6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555776" y="2971018"/>
            <a:ext cx="2667000" cy="9144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313CE-790E-E540-528A-C535B485A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E0832-5E23-D06C-4913-4548CA8B6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72097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/>
          <a:lstStyle/>
          <a:p>
            <a:r>
              <a:rPr lang="en-US" dirty="0" err="1"/>
              <a:t>Tọa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x(t) = 27t – 4t³,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met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i="1" dirty="0"/>
              <a:t>t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giây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ban </a:t>
            </a:r>
            <a:r>
              <a:rPr lang="en-US" dirty="0" err="1"/>
              <a:t>đầu</a:t>
            </a:r>
            <a:r>
              <a:rPr lang="en-US" dirty="0"/>
              <a:t> (t=0 ) 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8EC225-71B8-D174-D820-08942B815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EAA95-6072-D19F-451A-AC2FE6CA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87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pPr marL="0" indent="0">
              <a:buFont typeface="Arial" charset="0"/>
              <a:buNone/>
              <a:defRPr/>
            </a:pP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v(t) = 4t – 3t² (</a:t>
            </a:r>
            <a:r>
              <a:rPr lang="en-US" dirty="0" err="1"/>
              <a:t>m,s</a:t>
            </a:r>
            <a:r>
              <a:rPr lang="en-US" dirty="0"/>
              <a:t>).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t = 0 </a:t>
            </a:r>
            <a:r>
              <a:rPr lang="en-US" dirty="0" err="1"/>
              <a:t>đến</a:t>
            </a:r>
            <a:r>
              <a:rPr lang="en-US" dirty="0"/>
              <a:t> t = 2s </a:t>
            </a:r>
            <a:r>
              <a:rPr lang="en-US" dirty="0" err="1"/>
              <a:t>là</a:t>
            </a:r>
            <a:r>
              <a:rPr lang="en-US" dirty="0"/>
              <a:t>:</a:t>
            </a:r>
          </a:p>
          <a:p>
            <a:pPr>
              <a:defRPr/>
            </a:pPr>
            <a:r>
              <a:rPr lang="en-US" dirty="0"/>
              <a:t>A.	2 m/s</a:t>
            </a:r>
          </a:p>
          <a:p>
            <a:pPr>
              <a:defRPr/>
            </a:pPr>
            <a:r>
              <a:rPr lang="en-US" dirty="0"/>
              <a:t>B.	-2 m/s</a:t>
            </a:r>
          </a:p>
          <a:p>
            <a:pPr>
              <a:defRPr/>
            </a:pPr>
            <a:r>
              <a:rPr lang="en-US" dirty="0"/>
              <a:t>C.	4 m/s</a:t>
            </a:r>
          </a:p>
          <a:p>
            <a:pPr>
              <a:defRPr/>
            </a:pPr>
            <a:r>
              <a:rPr lang="en-US" dirty="0"/>
              <a:t>D.	0</a:t>
            </a:r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505200" y="2514600"/>
                <a:ext cx="4343400" cy="167640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x(t) = 2t² - t³</a:t>
                </a:r>
              </a:p>
              <a:p>
                <a:pPr algn="ctr"/>
                <a:r>
                  <a:rPr lang="en-US" dirty="0"/>
                  <a:t>V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0 −0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2 −0</m:t>
                        </m:r>
                      </m:den>
                    </m:f>
                  </m:oMath>
                </a14:m>
                <a:r>
                  <a:rPr lang="en-US" dirty="0"/>
                  <a:t> = 0 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2514600"/>
                <a:ext cx="4343400" cy="16764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562600" y="1769256"/>
            <a:ext cx="2667000" cy="9144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54292-01A5-E466-B679-8DEC9FF95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7B2D3-66EC-B678-182C-6724CE7A2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18</a:t>
            </a:fld>
            <a:endParaRPr lang="en-US"/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2BAD78ED-7B7C-85BE-DF12-A1C58DECE874}"/>
              </a:ext>
            </a:extLst>
          </p:cNvPr>
          <p:cNvSpPr/>
          <p:nvPr/>
        </p:nvSpPr>
        <p:spPr>
          <a:xfrm>
            <a:off x="1600200" y="4523342"/>
            <a:ext cx="5105400" cy="1828800"/>
          </a:xfrm>
          <a:prstGeom prst="wedgeEllipseCallou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t = 1s?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v(1) = 4.1 – 3.1² = 1 m/s</a:t>
            </a:r>
          </a:p>
        </p:txBody>
      </p:sp>
    </p:spTree>
    <p:extLst>
      <p:ext uri="{BB962C8B-B14F-4D97-AF65-F5344CB8AC3E}">
        <p14:creationId xmlns:p14="http://schemas.microsoft.com/office/powerpoint/2010/main" val="233224859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Một hạt chuyển động trên trục 0x được cho bởi phương trình x(t) = 16t -3t³, trong đó </a:t>
            </a:r>
            <a:r>
              <a:rPr lang="en-US" i="1"/>
              <a:t>t</a:t>
            </a:r>
            <a:r>
              <a:rPr lang="en-US"/>
              <a:t> được tính bằng giây. Hạt này tạm dừng lúc: </a:t>
            </a:r>
          </a:p>
          <a:p>
            <a:r>
              <a:rPr lang="en-US"/>
              <a:t>A.	t = 0,75 s</a:t>
            </a:r>
          </a:p>
          <a:p>
            <a:r>
              <a:rPr lang="en-US"/>
              <a:t>B.	t = 5,3 s</a:t>
            </a:r>
          </a:p>
          <a:p>
            <a:r>
              <a:rPr lang="en-US"/>
              <a:t>C.	 t = 9,3 s</a:t>
            </a:r>
          </a:p>
          <a:p>
            <a:r>
              <a:rPr lang="en-US"/>
              <a:t>D.	 t = 1,3 s</a:t>
            </a:r>
          </a:p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CA8FE0-B42D-2B0B-E49B-9BE03CE7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2EDFC-0DF1-6B10-34E5-9CB72BBA0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31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3399" y="1608077"/>
            <a:ext cx="4702255" cy="1828800"/>
          </a:xfrm>
          <a:prstGeom prst="rect">
            <a:avLst/>
          </a:prstGeom>
          <a:blipFill rotWithShape="1">
            <a:blip r:embed="rId2"/>
            <a:stretch>
              <a:fillRect l="-1675" r="-2062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22532" name="TextBox 7"/>
          <p:cNvSpPr txBox="1">
            <a:spLocks noChangeArrowheads="1"/>
          </p:cNvSpPr>
          <p:nvPr/>
        </p:nvSpPr>
        <p:spPr bwMode="auto">
          <a:xfrm>
            <a:off x="4114800" y="2974975"/>
            <a:ext cx="184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00800" y="1608077"/>
            <a:ext cx="2209800" cy="18288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4713288"/>
            <a:ext cx="4702175" cy="8382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dirty="0"/>
              <a:t>Gia tốc tức thời (gia tốc): tại một thời điểm</a:t>
            </a:r>
          </a:p>
        </p:txBody>
      </p:sp>
      <p:sp>
        <p:nvSpPr>
          <p:cNvPr id="11" name="Rectangle 1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00800" y="4520823"/>
            <a:ext cx="2209800" cy="122375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334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1.3. Gia tốc</a:t>
            </a:r>
            <a:endParaRPr lang="en-US" sz="32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8D8B1A1-8872-8C61-BF88-7024AB3A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988DDB-7A91-C37C-3003-B647135A9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39475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6388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Một xe máy bắt đầu chuyển</a:t>
            </a:r>
          </a:p>
          <a:p>
            <a:pPr marL="0" indent="0">
              <a:buNone/>
            </a:pPr>
            <a:r>
              <a:rPr lang="en-US"/>
              <a:t>động từ trạng thái nghỉ. Vận </a:t>
            </a:r>
          </a:p>
          <a:p>
            <a:pPr marL="0" indent="0">
              <a:buNone/>
            </a:pPr>
            <a:r>
              <a:rPr lang="en-US"/>
              <a:t>tốc của xe được mô tả trên </a:t>
            </a:r>
          </a:p>
          <a:p>
            <a:pPr marL="0" indent="0">
              <a:buNone/>
            </a:pPr>
            <a:r>
              <a:rPr lang="en-US"/>
              <a:t>biểu đồ bên.</a:t>
            </a:r>
          </a:p>
          <a:p>
            <a:pPr marL="0" indent="0">
              <a:buNone/>
            </a:pPr>
            <a:r>
              <a:rPr lang="en-US"/>
              <a:t>a) Xác định gia tốc trung bình</a:t>
            </a:r>
          </a:p>
          <a:p>
            <a:pPr marL="0" indent="0">
              <a:buNone/>
            </a:pPr>
            <a:r>
              <a:rPr lang="en-US"/>
              <a:t>của xe trong khoảng 0s – 3s </a:t>
            </a:r>
          </a:p>
          <a:p>
            <a:pPr marL="0" indent="0">
              <a:buNone/>
            </a:pPr>
            <a:r>
              <a:rPr lang="en-US"/>
              <a:t>b) Xác định gia tốc xe lúc t = 6s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609600"/>
            <a:ext cx="3940513" cy="264795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C2D3CF-ADF4-C823-11F5-B204C7B56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EE38E-3F79-3906-8E73-FFF7E76BE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827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pPr marL="0" indent="0">
              <a:buFont typeface="Arial" charset="0"/>
              <a:buNone/>
              <a:defRPr/>
            </a:pPr>
            <a:r>
              <a:rPr lang="en-US" dirty="0" err="1"/>
              <a:t>Tọa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x(t) = 4t² - 3t³ (</a:t>
            </a:r>
            <a:r>
              <a:rPr lang="en-US" dirty="0" err="1"/>
              <a:t>m,s</a:t>
            </a:r>
            <a:r>
              <a:rPr lang="en-US" dirty="0"/>
              <a:t>).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t = 0 </a:t>
            </a:r>
            <a:r>
              <a:rPr lang="en-US" dirty="0" err="1"/>
              <a:t>đến</a:t>
            </a:r>
            <a:r>
              <a:rPr lang="en-US" dirty="0"/>
              <a:t> t = 2s </a:t>
            </a:r>
            <a:r>
              <a:rPr lang="en-US" dirty="0" err="1"/>
              <a:t>là</a:t>
            </a:r>
            <a:r>
              <a:rPr lang="en-US" dirty="0"/>
              <a:t>:</a:t>
            </a:r>
          </a:p>
          <a:p>
            <a:pPr>
              <a:defRPr/>
            </a:pPr>
            <a:r>
              <a:rPr lang="en-US" dirty="0"/>
              <a:t>A.	- 4 m/s</a:t>
            </a:r>
            <a:r>
              <a:rPr lang="en-US" baseline="30000" dirty="0"/>
              <a:t>2</a:t>
            </a:r>
            <a:endParaRPr lang="en-US" dirty="0"/>
          </a:p>
          <a:p>
            <a:pPr>
              <a:defRPr/>
            </a:pPr>
            <a:r>
              <a:rPr lang="en-US" dirty="0"/>
              <a:t>B.	4 m/s</a:t>
            </a:r>
            <a:r>
              <a:rPr lang="en-US" baseline="30000" dirty="0"/>
              <a:t>2</a:t>
            </a:r>
            <a:endParaRPr lang="en-US" dirty="0"/>
          </a:p>
          <a:p>
            <a:pPr>
              <a:defRPr/>
            </a:pPr>
            <a:r>
              <a:rPr lang="en-US" dirty="0"/>
              <a:t>C.	10 m/s</a:t>
            </a:r>
            <a:r>
              <a:rPr lang="en-US" baseline="30000" dirty="0"/>
              <a:t>2</a:t>
            </a:r>
            <a:endParaRPr lang="en-US" dirty="0"/>
          </a:p>
          <a:p>
            <a:pPr>
              <a:defRPr/>
            </a:pPr>
            <a:r>
              <a:rPr lang="en-US" dirty="0"/>
              <a:t>D.	- 10 m/s</a:t>
            </a:r>
            <a:r>
              <a:rPr lang="en-US" baseline="30000" dirty="0"/>
              <a:t>2</a:t>
            </a:r>
          </a:p>
          <a:p>
            <a:pPr>
              <a:defRPr/>
            </a:pPr>
            <a:endParaRPr lang="en-US" baseline="30000" dirty="0"/>
          </a:p>
          <a:p>
            <a:pPr>
              <a:defRPr/>
            </a:pPr>
            <a:endParaRPr lang="en-US" baseline="30000" dirty="0"/>
          </a:p>
          <a:p>
            <a:pPr marL="0" indent="0">
              <a:buNone/>
              <a:defRPr/>
            </a:pPr>
            <a:r>
              <a:rPr lang="en-US" baseline="30000" dirty="0" err="1"/>
              <a:t>Tìm</a:t>
            </a:r>
            <a:r>
              <a:rPr lang="en-US" dirty="0"/>
              <a:t> a </a:t>
            </a:r>
            <a:r>
              <a:rPr lang="en-US" dirty="0" err="1"/>
              <a:t>tại</a:t>
            </a:r>
            <a:r>
              <a:rPr lang="en-US" dirty="0"/>
              <a:t> t=2s?</a:t>
            </a:r>
            <a:endParaRPr lang="en-US" baseline="30000" dirty="0"/>
          </a:p>
          <a:p>
            <a:pPr>
              <a:defRPr/>
            </a:pPr>
            <a:endParaRPr lang="en-US" baseline="30000" dirty="0"/>
          </a:p>
          <a:p>
            <a:pPr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charset="0"/>
              <a:buNone/>
              <a:defRPr/>
            </a:pPr>
            <a:endParaRPr lang="en-US" dirty="0"/>
          </a:p>
        </p:txBody>
      </p:sp>
      <p:sp>
        <p:nvSpPr>
          <p:cNvPr id="4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00800" y="1608077"/>
            <a:ext cx="2209800" cy="18288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00800" y="4520823"/>
            <a:ext cx="2209800" cy="122375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124200" y="2286000"/>
                <a:ext cx="2819400" cy="396240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v(t) = 8t – 9t²</a:t>
                </a:r>
              </a:p>
              <a:p>
                <a:pPr algn="ctr"/>
                <a:r>
                  <a:rPr lang="en-US" dirty="0"/>
                  <a:t>v(2) = 8.2 – 9.2²</a:t>
                </a:r>
              </a:p>
              <a:p>
                <a:pPr algn="ctr"/>
                <a:r>
                  <a:rPr lang="en-US" dirty="0"/>
                  <a:t>v(0) = 0</a:t>
                </a:r>
              </a:p>
              <a:p>
                <a:pPr algn="ctr"/>
                <a:r>
                  <a:rPr lang="en-US" dirty="0"/>
                  <a:t>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−20 −0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2 −0</m:t>
                        </m:r>
                      </m:den>
                    </m:f>
                  </m:oMath>
                </a14:m>
                <a:r>
                  <a:rPr lang="en-US" dirty="0"/>
                  <a:t> = -10 m/s²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a(t) = v’(t) = 8 – 18t</a:t>
                </a:r>
              </a:p>
              <a:p>
                <a:pPr algn="ctr"/>
                <a:r>
                  <a:rPr lang="en-US" dirty="0"/>
                  <a:t>a(2) = 8 – 18.2 = -28 m/s²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2286000"/>
                <a:ext cx="2819400" cy="39624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A9AD8-F21D-05B1-F686-FA301A63E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06BE32-B05C-3EBC-518D-14AD75F90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32366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4864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Tọa độ của một vật chuyển động được cho bởi phương trình </a:t>
            </a:r>
            <a:r>
              <a:rPr lang="en-US" i="1"/>
              <a:t>x(t) = 27t – 4t³, (m, s)</a:t>
            </a:r>
            <a:r>
              <a:rPr lang="en-US"/>
              <a:t>. Gia tốc của vật tại thời điểm </a:t>
            </a:r>
            <a:r>
              <a:rPr lang="en-US" i="1"/>
              <a:t>t = 1s </a:t>
            </a:r>
            <a:r>
              <a:rPr lang="en-US"/>
              <a:t>là:</a:t>
            </a:r>
          </a:p>
          <a:p>
            <a:r>
              <a:rPr lang="en-US"/>
              <a:t>A.	4 m/s</a:t>
            </a:r>
            <a:r>
              <a:rPr lang="en-US" baseline="30000"/>
              <a:t>2</a:t>
            </a:r>
            <a:endParaRPr lang="en-US"/>
          </a:p>
          <a:p>
            <a:r>
              <a:rPr lang="en-US"/>
              <a:t>B.	- 4 m/s</a:t>
            </a:r>
            <a:r>
              <a:rPr lang="en-US" baseline="30000"/>
              <a:t>2</a:t>
            </a:r>
            <a:endParaRPr lang="en-US"/>
          </a:p>
          <a:p>
            <a:r>
              <a:rPr lang="en-US"/>
              <a:t>C.	- 12 m/s</a:t>
            </a:r>
            <a:r>
              <a:rPr lang="en-US" baseline="30000"/>
              <a:t>2</a:t>
            </a:r>
            <a:endParaRPr lang="en-US"/>
          </a:p>
          <a:p>
            <a:r>
              <a:rPr lang="en-US"/>
              <a:t>D.	- 24 m/s</a:t>
            </a:r>
            <a:r>
              <a:rPr lang="en-US" baseline="30000"/>
              <a:t>2</a:t>
            </a:r>
            <a:endParaRPr lang="en-US"/>
          </a:p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B634C94-B608-8045-50C7-80D72B30C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9B226-0261-B3A1-AE93-DD4FE040E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203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2" name="Text Box 18"/>
          <p:cNvSpPr txBox="1">
            <a:spLocks noChangeArrowheads="1"/>
          </p:cNvSpPr>
          <p:nvPr/>
        </p:nvSpPr>
        <p:spPr bwMode="auto">
          <a:xfrm>
            <a:off x="293914" y="437346"/>
            <a:ext cx="84690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1.4. Biểu thức giải tích của vector vận tốc – gia tốc</a:t>
            </a:r>
            <a:endParaRPr lang="en-US" sz="28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53" name="Rectangle 5"/>
          <p:cNvSpPr>
            <a:spLocks noChangeArrowheads="1"/>
          </p:cNvSpPr>
          <p:nvPr/>
        </p:nvSpPr>
        <p:spPr bwMode="auto">
          <a:xfrm>
            <a:off x="381000" y="1524000"/>
            <a:ext cx="4279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Trong hệ toạ độ Descartes: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91000" y="2362200"/>
            <a:ext cx="304800" cy="2286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8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267200" y="4229100"/>
            <a:ext cx="304800" cy="838200"/>
          </a:xfrm>
          <a:prstGeom prst="rightArrow">
            <a:avLst/>
          </a:prstGeom>
          <a:solidFill>
            <a:srgbClr val="90F828"/>
          </a:solidFill>
          <a:ln>
            <a:solidFill>
              <a:srgbClr val="1E22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80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724400" y="1435574"/>
            <a:ext cx="2743200" cy="685800"/>
          </a:xfrm>
          <a:prstGeom prst="rect">
            <a:avLst/>
          </a:prstGeom>
          <a:blipFill rotWithShape="1">
            <a:blip r:embed="rId2"/>
            <a:stretch>
              <a:fillRect b="-7965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4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725537" y="2121374"/>
            <a:ext cx="2742063" cy="583726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/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49573" y="3200400"/>
            <a:ext cx="2667000" cy="28956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6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57800" y="4229100"/>
            <a:ext cx="3124200" cy="718214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D30E01-D3EC-BD19-01CF-6B09EB6C8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6B8A4-D4D5-D7AB-BB85-7CBE8B65C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75775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2" grpId="0"/>
      <p:bldP spid="6153" grpId="0"/>
      <p:bldP spid="12" grpId="0" animBg="1"/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0" name="Rectangle 4"/>
          <p:cNvSpPr>
            <a:spLocks noChangeArrowheads="1"/>
          </p:cNvSpPr>
          <p:nvPr/>
        </p:nvSpPr>
        <p:spPr bwMode="auto">
          <a:xfrm>
            <a:off x="577850" y="1219200"/>
            <a:ext cx="4279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Trong hệ toạ độ Descartes: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387850" y="2162175"/>
            <a:ext cx="304800" cy="2286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80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4343400" y="4229100"/>
            <a:ext cx="304800" cy="838200"/>
          </a:xfrm>
          <a:prstGeom prst="rightArrow">
            <a:avLst/>
          </a:prstGeom>
          <a:solidFill>
            <a:srgbClr val="90F828"/>
          </a:solidFill>
          <a:ln>
            <a:solidFill>
              <a:srgbClr val="1E22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80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149224" y="404813"/>
            <a:ext cx="83851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1.4. Biểu thức giải tích của vector vận tốc - gia tốc</a:t>
            </a:r>
            <a:endParaRPr lang="en-US" sz="28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979158" y="1173400"/>
            <a:ext cx="2742063" cy="583726"/>
          </a:xfrm>
          <a:prstGeom prst="rect">
            <a:avLst/>
          </a:prstGeom>
          <a:blipFill rotWithShape="1">
            <a:blip r:embed="rId2"/>
            <a:stretch>
              <a:fillRect b="-17708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6" name="Rectangle 1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029200" y="1984612"/>
            <a:ext cx="2742063" cy="583726"/>
          </a:xfrm>
          <a:prstGeom prst="rect">
            <a:avLst/>
          </a:prstGeom>
          <a:blipFill rotWithShape="1">
            <a:blip r:embed="rId3"/>
            <a:stretch>
              <a:fillRect b="-17895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8" name="Rectangle 1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57800" y="4229100"/>
            <a:ext cx="3124200" cy="718214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99620" y="2568338"/>
                <a:ext cx="3057979" cy="375626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/>
                  <a:t>ax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latin typeface="Cambria Math"/>
                              </a:rPr>
                              <m:t>𝒅</m:t>
                            </m:r>
                          </m:e>
                          <m:sup>
                            <m:r>
                              <a:rPr lang="en-US" sz="2400" b="1" i="1" smtClean="0">
                                <a:latin typeface="Cambria Math"/>
                              </a:rPr>
                              <m:t>′′</m:t>
                            </m:r>
                          </m:sup>
                        </m:sSup>
                        <m:r>
                          <a:rPr lang="en-US" sz="2400" b="1" i="1" smtClean="0">
                            <a:latin typeface="Cambria Math"/>
                          </a:rPr>
                          <m:t>𝒙</m:t>
                        </m:r>
                      </m:num>
                      <m:den>
                        <m:r>
                          <a:rPr lang="en-US" sz="2400" b="1" i="1" smtClean="0">
                            <a:latin typeface="Cambria Math"/>
                          </a:rPr>
                          <m:t>𝒅𝒕</m:t>
                        </m:r>
                      </m:den>
                    </m:f>
                  </m:oMath>
                </a14:m>
                <a:r>
                  <a:rPr lang="en-US" sz="2400" b="1"/>
                  <a:t> =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 smtClean="0">
                            <a:latin typeface="Cambria Math"/>
                          </a:rPr>
                          <m:t>𝒗𝒙</m:t>
                        </m:r>
                      </m:e>
                    </m:acc>
                  </m:oMath>
                </a14:m>
                <a:endParaRPr lang="en-US" sz="2400" b="1"/>
              </a:p>
              <a:p>
                <a:pPr algn="ctr"/>
                <a:r>
                  <a:rPr lang="en-US" sz="2400" b="1"/>
                  <a:t>ay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/>
                              </a:rPr>
                              <m:t>𝒅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/>
                              </a:rPr>
                              <m:t>′′</m:t>
                            </m:r>
                          </m:sup>
                        </m:sSup>
                        <m:r>
                          <a:rPr lang="en-US" sz="2400" b="1" i="1" smtClean="0">
                            <a:latin typeface="Cambria Math"/>
                          </a:rPr>
                          <m:t>𝒚</m:t>
                        </m:r>
                      </m:num>
                      <m:den>
                        <m:r>
                          <a:rPr lang="en-US" sz="2400" b="1" i="1">
                            <a:latin typeface="Cambria Math"/>
                          </a:rPr>
                          <m:t>𝒅𝒕</m:t>
                        </m:r>
                      </m:den>
                    </m:f>
                  </m:oMath>
                </a14:m>
                <a:r>
                  <a:rPr lang="en-US" sz="2400" b="1"/>
                  <a:t> =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/>
                          </a:rPr>
                          <m:t>𝒗</m:t>
                        </m:r>
                        <m:r>
                          <a:rPr lang="en-US" sz="2400" b="1" i="1" smtClean="0">
                            <a:latin typeface="Cambria Math"/>
                          </a:rPr>
                          <m:t>𝒚</m:t>
                        </m:r>
                      </m:e>
                    </m:acc>
                  </m:oMath>
                </a14:m>
                <a:endParaRPr lang="en-US" sz="2400" b="1"/>
              </a:p>
              <a:p>
                <a:pPr algn="ctr"/>
                <a:r>
                  <a:rPr lang="en-US" sz="2400" b="1"/>
                  <a:t>ax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/>
                              </a:rPr>
                              <m:t>𝒅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/>
                              </a:rPr>
                              <m:t>′′</m:t>
                            </m:r>
                          </m:sup>
                        </m:sSup>
                        <m:r>
                          <a:rPr lang="en-US" sz="2400" b="1" i="1" smtClean="0">
                            <a:latin typeface="Cambria Math"/>
                          </a:rPr>
                          <m:t>𝒛</m:t>
                        </m:r>
                      </m:num>
                      <m:den>
                        <m:r>
                          <a:rPr lang="en-US" sz="2400" b="1" i="1">
                            <a:latin typeface="Cambria Math"/>
                          </a:rPr>
                          <m:t>𝒅𝒕</m:t>
                        </m:r>
                      </m:den>
                    </m:f>
                  </m:oMath>
                </a14:m>
                <a:r>
                  <a:rPr lang="en-US" sz="2400" b="1"/>
                  <a:t> =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/>
                          </a:rPr>
                          <m:t>𝒗</m:t>
                        </m:r>
                        <m:r>
                          <a:rPr lang="en-US" sz="2400" b="1" i="1" smtClean="0">
                            <a:latin typeface="Cambria Math"/>
                          </a:rPr>
                          <m:t>𝒛</m:t>
                        </m:r>
                      </m:e>
                    </m:acc>
                  </m:oMath>
                </a14:m>
                <a:endParaRPr lang="en-US" sz="2400" b="1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20" y="2568338"/>
                <a:ext cx="3057979" cy="375626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17C118-76A8-B14A-37D7-CAC1DBC9A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E4BE5-B2E2-2119-AFAA-181CC3F37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37318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0" grpId="0"/>
      <p:bldP spid="10" grpId="0" animBg="1"/>
      <p:bldP spid="12" grpId="0" animBg="1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Rot="1" noChangeAspect="1" noMove="1" noResize="1" noEditPoints="1" noAdjustHandles="1" noChangeArrowheads="1" noChangeShapeType="1" noTextEdit="1"/>
          </p:cNvSpPr>
          <p:nvPr>
            <p:ph/>
          </p:nvPr>
        </p:nvSpPr>
        <p:spPr>
          <a:blipFill rotWithShape="1">
            <a:blip r:embed="rId2"/>
            <a:stretch>
              <a:fillRect l="-1852" t="-1354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495800" y="2971800"/>
                <a:ext cx="3810000" cy="3048000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Vx</a:t>
                </a:r>
                <a:r>
                  <a:rPr lang="en-US" dirty="0"/>
                  <a:t> = a</a:t>
                </a:r>
              </a:p>
              <a:p>
                <a:pPr algn="ctr"/>
                <a:r>
                  <a:rPr lang="en-US" dirty="0" err="1"/>
                  <a:t>Vy</a:t>
                </a:r>
                <a:r>
                  <a:rPr lang="en-US" dirty="0"/>
                  <a:t> =2bt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</m:e>
                    </m:acc>
                    <m:r>
                      <a:rPr lang="en-US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= a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e>
                    </m:acc>
                  </m:oMath>
                </a14:m>
                <a:r>
                  <a:rPr lang="en-US" dirty="0"/>
                  <a:t> + 2bt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𝑗</m:t>
                        </m:r>
                      </m:e>
                    </m:acc>
                  </m:oMath>
                </a14:m>
                <a:endParaRPr lang="en-US" dirty="0"/>
              </a:p>
              <a:p>
                <a:pPr algn="ctr"/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lớn</a:t>
                </a:r>
                <a:r>
                  <a:rPr lang="en-US" dirty="0"/>
                  <a:t>: B</a:t>
                </a:r>
              </a:p>
              <a:p>
                <a:pPr algn="ctr"/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vecto</a:t>
                </a:r>
                <a:r>
                  <a:rPr lang="en-US" dirty="0"/>
                  <a:t> </a:t>
                </a:r>
                <a:r>
                  <a:rPr lang="en-US" dirty="0" err="1"/>
                  <a:t>gia</a:t>
                </a:r>
                <a:r>
                  <a:rPr lang="en-US" dirty="0"/>
                  <a:t> </a:t>
                </a:r>
                <a:r>
                  <a:rPr lang="en-US" dirty="0" err="1"/>
                  <a:t>tốc</a:t>
                </a:r>
                <a:r>
                  <a:rPr lang="en-US" dirty="0"/>
                  <a:t>: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dirty="0"/>
                  <a:t> = 0.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e>
                    </m:acc>
                  </m:oMath>
                </a14:m>
                <a:r>
                  <a:rPr lang="en-US" dirty="0"/>
                  <a:t> + 2b.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𝑗</m:t>
                        </m:r>
                      </m:e>
                    </m:acc>
                  </m:oMath>
                </a14:m>
                <a:endParaRPr lang="en-US" dirty="0"/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b="0" i="0" smtClean="0">
                            <a:latin typeface="Cambria Math"/>
                          </a:rPr>
                          <m:t>0+</m:t>
                        </m:r>
                        <m:r>
                          <m:rPr>
                            <m:nor/>
                          </m:rPr>
                          <a:rPr lang="en-US" dirty="0"/>
                          <m:t>4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²</m:t>
                        </m:r>
                      </m:e>
                    </m:rad>
                  </m:oMath>
                </a14:m>
                <a:r>
                  <a:rPr lang="en-US" dirty="0"/>
                  <a:t> </a:t>
                </a:r>
                <a:r>
                  <a:rPr lang="en-US"/>
                  <a:t>= 2b</a:t>
                </a:r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2971800"/>
                <a:ext cx="3810000" cy="30480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8E8C68-CD80-35A5-A980-E92D97273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B09B83-BEBD-5247-CEBB-F6D0D3012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0536C0-DC65-42B8-96CE-EDB477041144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9815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334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1.5. Chuyển động với gia tốc không đổi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257800"/>
              </a:xfrm>
            </p:spPr>
            <p:txBody>
              <a:bodyPr/>
              <a:lstStyle/>
              <a:p>
                <a:r>
                  <a:rPr lang="en-US" dirty="0"/>
                  <a:t>Biểu thức tọa độ:		 x = x</a:t>
                </a:r>
                <a:r>
                  <a:rPr lang="en-US" sz="1400" dirty="0"/>
                  <a:t>0</a:t>
                </a:r>
                <a:r>
                  <a:rPr lang="en-US" dirty="0"/>
                  <a:t> + v</a:t>
                </a:r>
                <a:r>
                  <a:rPr lang="en-US" sz="1400" dirty="0"/>
                  <a:t>0</a:t>
                </a:r>
                <a:r>
                  <a:rPr lang="en-US" dirty="0"/>
                  <a:t>t + 1/2at²</a:t>
                </a:r>
              </a:p>
              <a:p>
                <a:r>
                  <a:rPr lang="en-US" dirty="0"/>
                  <a:t>Vận tốc: 			 v = v</a:t>
                </a:r>
                <a:r>
                  <a:rPr lang="en-US" sz="1400" dirty="0"/>
                  <a:t>0</a:t>
                </a:r>
                <a:r>
                  <a:rPr lang="en-US" dirty="0"/>
                  <a:t> + at</a:t>
                </a:r>
              </a:p>
              <a:p>
                <a:pPr lvl="1"/>
                <a:r>
                  <a:rPr lang="en-US" dirty="0"/>
                  <a:t>a = 0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→ </m:t>
                    </m:r>
                  </m:oMath>
                </a14:m>
                <a:r>
                  <a:rPr lang="en-US" dirty="0"/>
                  <a:t>Chuyển động thẳng đều</a:t>
                </a:r>
              </a:p>
              <a:p>
                <a:pPr lvl="1"/>
                <a:r>
                  <a:rPr lang="en-US" dirty="0"/>
                  <a:t>a = const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→ </m:t>
                    </m:r>
                  </m:oMath>
                </a14:m>
                <a:r>
                  <a:rPr lang="en-US" dirty="0"/>
                  <a:t>Chuyển động thẳng biến đổi đều</a:t>
                </a:r>
              </a:p>
              <a:p>
                <a:pPr lvl="1"/>
                <a:r>
                  <a:rPr lang="en-US" dirty="0"/>
                  <a:t>a = 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dirty="0"/>
                  <a:t> Rơi tự do</a:t>
                </a:r>
              </a:p>
              <a:p>
                <a:r>
                  <a:rPr lang="en-US" dirty="0"/>
                  <a:t>Công thức: (1.9) – (1.18)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257800"/>
              </a:xfrm>
              <a:blipFill rotWithShape="1">
                <a:blip r:embed="rId2"/>
                <a:stretch>
                  <a:fillRect l="-889" t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919C04-156E-DA74-E3EC-8ADF453CA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73A852-3ED8-015A-AF7E-C91386EED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8629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8" name="Group 18"/>
          <p:cNvGrpSpPr>
            <a:grpSpLocks/>
          </p:cNvGrpSpPr>
          <p:nvPr/>
        </p:nvGrpSpPr>
        <p:grpSpPr bwMode="auto">
          <a:xfrm>
            <a:off x="1371600" y="0"/>
            <a:ext cx="6323013" cy="762000"/>
            <a:chOff x="353" y="1392"/>
            <a:chExt cx="2937" cy="482"/>
          </a:xfrm>
        </p:grpSpPr>
        <p:pic>
          <p:nvPicPr>
            <p:cNvPr id="50180" name="Picture 43" descr="PPP_CSHAP_CLP_Sleek_Silver">
              <a:hlinkClick r:id="" action="ppaction://hlinkshowjump?jump=nextslide" highlightClick="1"/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" y="1392"/>
              <a:ext cx="2937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" name="Text Box 14"/>
            <p:cNvSpPr txBox="1">
              <a:spLocks noChangeArrowheads="1"/>
            </p:cNvSpPr>
            <p:nvPr/>
          </p:nvSpPr>
          <p:spPr bwMode="auto">
            <a:xfrm>
              <a:off x="687" y="1467"/>
              <a:ext cx="2263" cy="286"/>
            </a:xfrm>
            <a:prstGeom prst="rect">
              <a:avLst/>
            </a:prstGeom>
            <a:gradFill rotWithShape="1">
              <a:gsLst>
                <a:gs pos="0">
                  <a:srgbClr val="DAFDA7"/>
                </a:gs>
                <a:gs pos="35001">
                  <a:srgbClr val="E4FDC2"/>
                </a:gs>
                <a:gs pos="100000">
                  <a:srgbClr val="F5FFE6"/>
                </a:gs>
              </a:gsLst>
              <a:lin ang="16200000" scaled="1"/>
            </a:gradFill>
            <a:ln w="9525" algn="ctr">
              <a:solidFill>
                <a:srgbClr val="98B954"/>
              </a:solidFill>
              <a:miter lim="800000"/>
              <a:headEnd/>
              <a:tailEnd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>
              <a:spAutoFit/>
            </a:bodyPr>
            <a:lstStyle/>
            <a:p>
              <a:pPr algn="ctr" fontAlgn="auto">
                <a:spcBef>
                  <a:spcPts val="2400"/>
                </a:spcBef>
                <a:spcAft>
                  <a:spcPts val="0"/>
                </a:spcAft>
                <a:defRPr/>
              </a:pPr>
              <a:r>
                <a:rPr lang="en-US" b="1" i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1.5. Một số chuyển động đơn giản</a:t>
              </a:r>
              <a:endParaRPr lang="vi-VN" b="1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41996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893763"/>
            <a:ext cx="8915400" cy="584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F87C08A-AF0C-F8AD-A4CF-0F75FC3D1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524555-66F1-BCC3-782A-68314572A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95787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4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04800"/>
            <a:ext cx="8229600" cy="5592763"/>
          </a:xfrm>
        </p:spPr>
        <p:txBody>
          <a:bodyPr>
            <a:normAutofit fontScale="92500" lnSpcReduction="10000"/>
          </a:bodyPr>
          <a:lstStyle/>
          <a:p>
            <a:pPr fontAlgn="ctr">
              <a:buFont typeface="Wingdings" pitchFamily="2" charset="2"/>
              <a:buChar char="Ø"/>
              <a:defRPr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Phương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dọc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trục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Ox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:</a:t>
            </a:r>
          </a:p>
          <a:p>
            <a:pPr marL="0" indent="0" fontAlgn="ctr"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               x = 1 + 12 t (x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m, t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giây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0" indent="0" fontAlgn="ctr">
              <a:buFont typeface="Arial" charset="0"/>
              <a:buNone/>
              <a:defRPr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vận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tốc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bao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nhiêu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?</a:t>
            </a:r>
          </a:p>
          <a:p>
            <a:pPr marL="0" indent="0" fontAlgn="ctr"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1 m,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vận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tốc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12 m/s.</a:t>
            </a:r>
          </a:p>
          <a:p>
            <a:pPr marL="0" indent="0" fontAlgn="ctr"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12 m,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vận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tốc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1 m/s.</a:t>
            </a:r>
          </a:p>
          <a:p>
            <a:pPr marL="0" indent="0" fontAlgn="ctr"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vận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tốc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1 m/s.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vận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tốc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12 m/s.  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phương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đây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phương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diễn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quy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luật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đều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marL="0" indent="0">
              <a:buFont typeface="Arial" charset="0"/>
              <a:buNone/>
              <a:defRPr/>
            </a:pP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A. x = 100 – 2t</a:t>
            </a:r>
            <a:r>
              <a:rPr lang="fr-FR" sz="24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(m)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charset="0"/>
              <a:buNone/>
              <a:defRPr/>
            </a:pP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B. x = 10t + 50 (m)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charset="0"/>
              <a:buNone/>
              <a:defRPr/>
            </a:pP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C. v = 7t – 9 (m/s)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charset="0"/>
              <a:buNone/>
              <a:defRPr/>
            </a:pP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D. a = 3 (m/s</a:t>
            </a:r>
            <a:r>
              <a:rPr lang="fr-FR" sz="24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Arial" charset="0"/>
              <a:buNone/>
              <a:defRPr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087CB3D-F1FD-6198-1173-ADBCC9697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7F2E9-70CC-2EEE-01DB-610C368F1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93535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marL="0" indent="0">
              <a:buFont typeface="Arial" charset="0"/>
              <a:buNone/>
              <a:defRPr/>
            </a:pPr>
            <a:r>
              <a:rPr lang="en-US" sz="3600" dirty="0" err="1"/>
              <a:t>Một</a:t>
            </a:r>
            <a:r>
              <a:rPr lang="en-US" sz="3600" dirty="0"/>
              <a:t> ô </a:t>
            </a:r>
            <a:r>
              <a:rPr lang="en-US" sz="3600" dirty="0" err="1"/>
              <a:t>tô</a:t>
            </a:r>
            <a:r>
              <a:rPr lang="en-US" sz="3600" dirty="0"/>
              <a:t> </a:t>
            </a:r>
            <a:r>
              <a:rPr lang="en-US" sz="3600" dirty="0" err="1"/>
              <a:t>chuyển</a:t>
            </a:r>
            <a:r>
              <a:rPr lang="en-US" sz="3600" dirty="0"/>
              <a:t> </a:t>
            </a:r>
            <a:r>
              <a:rPr lang="en-US" sz="3600" dirty="0" err="1"/>
              <a:t>động</a:t>
            </a:r>
            <a:r>
              <a:rPr lang="en-US" sz="3600" dirty="0"/>
              <a:t> </a:t>
            </a:r>
            <a:r>
              <a:rPr lang="en-US" sz="3600" dirty="0" err="1"/>
              <a:t>thẳng</a:t>
            </a:r>
            <a:r>
              <a:rPr lang="en-US" sz="3600" dirty="0"/>
              <a:t> </a:t>
            </a:r>
            <a:r>
              <a:rPr lang="en-US" sz="3600" dirty="0" err="1"/>
              <a:t>nhanh</a:t>
            </a:r>
            <a:r>
              <a:rPr lang="en-US" sz="3600" dirty="0"/>
              <a:t> </a:t>
            </a:r>
            <a:r>
              <a:rPr lang="en-US" sz="3600" dirty="0" err="1"/>
              <a:t>dần</a:t>
            </a:r>
            <a:r>
              <a:rPr lang="en-US" sz="3600" dirty="0"/>
              <a:t> </a:t>
            </a:r>
            <a:r>
              <a:rPr lang="en-US" sz="3600" dirty="0" err="1"/>
              <a:t>đều</a:t>
            </a:r>
            <a:r>
              <a:rPr lang="en-US" sz="3600" dirty="0"/>
              <a:t> </a:t>
            </a:r>
            <a:r>
              <a:rPr lang="en-US" sz="3600" dirty="0" err="1"/>
              <a:t>đi</a:t>
            </a:r>
            <a:r>
              <a:rPr lang="en-US" sz="3600" dirty="0"/>
              <a:t> qua 2 </a:t>
            </a:r>
            <a:r>
              <a:rPr lang="en-US" sz="3600" dirty="0" err="1"/>
              <a:t>điểm</a:t>
            </a:r>
            <a:r>
              <a:rPr lang="en-US" sz="3600" dirty="0"/>
              <a:t> A </a:t>
            </a:r>
            <a:r>
              <a:rPr lang="en-US" sz="3600" dirty="0" err="1"/>
              <a:t>và</a:t>
            </a:r>
            <a:r>
              <a:rPr lang="en-US" sz="3600" dirty="0"/>
              <a:t> B </a:t>
            </a:r>
            <a:r>
              <a:rPr lang="en-US" sz="3600" dirty="0" err="1"/>
              <a:t>cách</a:t>
            </a:r>
            <a:r>
              <a:rPr lang="en-US" sz="3600" dirty="0"/>
              <a:t> </a:t>
            </a:r>
            <a:r>
              <a:rPr lang="en-US" sz="3600" dirty="0" err="1"/>
              <a:t>nhau</a:t>
            </a:r>
            <a:r>
              <a:rPr lang="en-US" sz="3600" dirty="0"/>
              <a:t> 20m </a:t>
            </a:r>
            <a:r>
              <a:rPr lang="en-US" sz="3600" dirty="0" err="1"/>
              <a:t>trong</a:t>
            </a:r>
            <a:r>
              <a:rPr lang="en-US" sz="3600" dirty="0"/>
              <a:t> </a:t>
            </a:r>
            <a:r>
              <a:rPr lang="en-US" sz="3600" dirty="0" err="1"/>
              <a:t>thời</a:t>
            </a:r>
            <a:r>
              <a:rPr lang="en-US" sz="3600" dirty="0"/>
              <a:t> </a:t>
            </a:r>
            <a:r>
              <a:rPr lang="en-US" sz="3600" dirty="0" err="1"/>
              <a:t>gian</a:t>
            </a:r>
            <a:r>
              <a:rPr lang="en-US" sz="3600" dirty="0"/>
              <a:t> 2s. </a:t>
            </a:r>
            <a:r>
              <a:rPr lang="en-US" sz="3600" dirty="0" err="1"/>
              <a:t>Tốc</a:t>
            </a:r>
            <a:r>
              <a:rPr lang="en-US" sz="3600" dirty="0"/>
              <a:t> </a:t>
            </a:r>
            <a:r>
              <a:rPr lang="en-US" sz="3600" dirty="0" err="1"/>
              <a:t>độ</a:t>
            </a:r>
            <a:r>
              <a:rPr lang="en-US" sz="3600" dirty="0"/>
              <a:t> ô </a:t>
            </a:r>
            <a:r>
              <a:rPr lang="en-US" sz="3600" dirty="0" err="1"/>
              <a:t>tô</a:t>
            </a:r>
            <a:r>
              <a:rPr lang="en-US" sz="3600" dirty="0"/>
              <a:t> </a:t>
            </a:r>
            <a:r>
              <a:rPr lang="en-US" sz="3600" dirty="0" err="1"/>
              <a:t>khi</a:t>
            </a:r>
            <a:r>
              <a:rPr lang="en-US" sz="3600" dirty="0"/>
              <a:t> </a:t>
            </a:r>
            <a:r>
              <a:rPr lang="en-US" sz="3600" dirty="0" err="1"/>
              <a:t>đi</a:t>
            </a:r>
            <a:r>
              <a:rPr lang="en-US" sz="3600" dirty="0"/>
              <a:t> qua </a:t>
            </a:r>
            <a:r>
              <a:rPr lang="en-US" sz="3600" dirty="0" err="1"/>
              <a:t>điểm</a:t>
            </a:r>
            <a:r>
              <a:rPr lang="en-US" sz="3600" dirty="0"/>
              <a:t> B </a:t>
            </a:r>
            <a:r>
              <a:rPr lang="en-US" sz="3600" dirty="0" err="1"/>
              <a:t>là</a:t>
            </a:r>
            <a:r>
              <a:rPr lang="en-US" sz="3600" dirty="0"/>
              <a:t> 12m/s. </a:t>
            </a:r>
            <a:r>
              <a:rPr lang="en-US" sz="3600" dirty="0" err="1"/>
              <a:t>Tìm</a:t>
            </a:r>
            <a:r>
              <a:rPr lang="en-US" sz="3600" dirty="0"/>
              <a:t> </a:t>
            </a:r>
            <a:r>
              <a:rPr lang="en-US" sz="3600" dirty="0" err="1"/>
              <a:t>giá</a:t>
            </a:r>
            <a:r>
              <a:rPr lang="en-US" sz="3600" dirty="0"/>
              <a:t> </a:t>
            </a:r>
            <a:r>
              <a:rPr lang="en-US" sz="3600" dirty="0" err="1"/>
              <a:t>trị</a:t>
            </a:r>
            <a:r>
              <a:rPr lang="en-US" sz="3600" dirty="0"/>
              <a:t>:</a:t>
            </a:r>
          </a:p>
          <a:p>
            <a:pPr marL="514350" indent="-514350">
              <a:buFont typeface="Arial" charset="0"/>
              <a:buAutoNum type="alphaLcParenR"/>
              <a:defRPr/>
            </a:pPr>
            <a:r>
              <a:rPr lang="en-US" sz="3600" dirty="0" err="1"/>
              <a:t>Gia</a:t>
            </a:r>
            <a:r>
              <a:rPr lang="en-US" sz="3600" dirty="0"/>
              <a:t> </a:t>
            </a:r>
            <a:r>
              <a:rPr lang="en-US" sz="3600" dirty="0" err="1"/>
              <a:t>tốc</a:t>
            </a:r>
            <a:r>
              <a:rPr lang="en-US" sz="3600" dirty="0"/>
              <a:t>, </a:t>
            </a:r>
            <a:r>
              <a:rPr lang="en-US" sz="3600" dirty="0" err="1"/>
              <a:t>vận</a:t>
            </a:r>
            <a:r>
              <a:rPr lang="en-US" sz="3600" dirty="0"/>
              <a:t> </a:t>
            </a:r>
            <a:r>
              <a:rPr lang="en-US" sz="3600" dirty="0" err="1"/>
              <a:t>tốc</a:t>
            </a:r>
            <a:r>
              <a:rPr lang="en-US" sz="3600" dirty="0"/>
              <a:t> </a:t>
            </a:r>
            <a:r>
              <a:rPr lang="en-US" sz="3600" dirty="0" err="1"/>
              <a:t>của</a:t>
            </a:r>
            <a:r>
              <a:rPr lang="en-US" sz="3600" dirty="0"/>
              <a:t> ô </a:t>
            </a:r>
            <a:r>
              <a:rPr lang="en-US" sz="3600" dirty="0" err="1"/>
              <a:t>tô</a:t>
            </a:r>
            <a:r>
              <a:rPr lang="en-US" sz="3600" dirty="0"/>
              <a:t> </a:t>
            </a:r>
            <a:r>
              <a:rPr lang="en-US" sz="3600" dirty="0" err="1"/>
              <a:t>khi</a:t>
            </a:r>
            <a:r>
              <a:rPr lang="en-US" sz="3600" dirty="0"/>
              <a:t> </a:t>
            </a:r>
            <a:r>
              <a:rPr lang="en-US" sz="3600" dirty="0" err="1"/>
              <a:t>đi</a:t>
            </a:r>
            <a:r>
              <a:rPr lang="en-US" sz="3600" dirty="0"/>
              <a:t> qua A</a:t>
            </a:r>
          </a:p>
          <a:p>
            <a:pPr marL="514350" indent="-514350">
              <a:buFont typeface="Arial" charset="0"/>
              <a:buAutoNum type="alphaLcParenR"/>
              <a:defRPr/>
            </a:pPr>
            <a:r>
              <a:rPr lang="en-US" sz="3600" dirty="0" err="1"/>
              <a:t>Quãng</a:t>
            </a:r>
            <a:r>
              <a:rPr lang="en-US" sz="3600" dirty="0"/>
              <a:t> </a:t>
            </a:r>
            <a:r>
              <a:rPr lang="en-US" sz="3600" dirty="0" err="1"/>
              <a:t>đường</a:t>
            </a:r>
            <a:r>
              <a:rPr lang="en-US" sz="3600" dirty="0"/>
              <a:t> ô </a:t>
            </a:r>
            <a:r>
              <a:rPr lang="en-US" sz="3600" dirty="0" err="1"/>
              <a:t>tô</a:t>
            </a:r>
            <a:r>
              <a:rPr lang="en-US" sz="3600" dirty="0"/>
              <a:t> </a:t>
            </a:r>
            <a:r>
              <a:rPr lang="en-US" sz="3600" dirty="0" err="1"/>
              <a:t>đi</a:t>
            </a:r>
            <a:r>
              <a:rPr lang="en-US" sz="3600" dirty="0"/>
              <a:t> </a:t>
            </a:r>
            <a:r>
              <a:rPr lang="en-US" sz="3600" dirty="0" err="1"/>
              <a:t>từ</a:t>
            </a:r>
            <a:r>
              <a:rPr lang="en-US" sz="3600" dirty="0"/>
              <a:t> </a:t>
            </a:r>
            <a:r>
              <a:rPr lang="en-US" sz="3600" dirty="0" err="1"/>
              <a:t>điểm</a:t>
            </a:r>
            <a:r>
              <a:rPr lang="en-US" sz="3600" dirty="0"/>
              <a:t> </a:t>
            </a:r>
            <a:r>
              <a:rPr lang="en-US" sz="3600" dirty="0" err="1"/>
              <a:t>khởi</a:t>
            </a:r>
            <a:r>
              <a:rPr lang="en-US" sz="3600" dirty="0"/>
              <a:t> </a:t>
            </a:r>
            <a:r>
              <a:rPr lang="en-US" sz="3600" dirty="0" err="1"/>
              <a:t>hành</a:t>
            </a:r>
            <a:r>
              <a:rPr lang="en-US" sz="3600" dirty="0"/>
              <a:t> </a:t>
            </a:r>
            <a:r>
              <a:rPr lang="en-US" sz="3600" dirty="0" err="1"/>
              <a:t>tới</a:t>
            </a:r>
            <a:r>
              <a:rPr lang="en-US" sz="3600" dirty="0"/>
              <a:t> </a:t>
            </a:r>
            <a:r>
              <a:rPr lang="en-US" sz="3600" dirty="0" err="1"/>
              <a:t>điểm</a:t>
            </a:r>
            <a:r>
              <a:rPr lang="en-US" sz="3600" dirty="0"/>
              <a:t> A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9C6DF3-BCAC-F079-61C4-7FA3F774E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EEA41C-3A34-1801-74E6-F15DA64B7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0536C0-DC65-42B8-96CE-EDB477041144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ADFB355-786E-C114-2A1B-BA1C3EF81533}"/>
                  </a:ext>
                </a:extLst>
              </p:cNvPr>
              <p:cNvSpPr/>
              <p:nvPr/>
            </p:nvSpPr>
            <p:spPr>
              <a:xfrm>
                <a:off x="4584441" y="4957632"/>
                <a:ext cx="3657600" cy="1398717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i="1" dirty="0">
                    <a:solidFill>
                      <a:srgbClr val="FF0000"/>
                    </a:solidFill>
                  </a:rPr>
                  <a:t>v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b="1" i="1" dirty="0">
                    <a:solidFill>
                      <a:srgbClr val="FF0000"/>
                    </a:solidFill>
                  </a:rPr>
                  <a:t> +at</a:t>
                </a:r>
              </a:p>
              <a:p>
                <a:pPr algn="ctr"/>
                <a:r>
                  <a:rPr lang="en-US" sz="2400" b="1" i="1" dirty="0">
                    <a:solidFill>
                      <a:srgbClr val="FF0000"/>
                    </a:solidFill>
                  </a:rPr>
                  <a:t>s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b="1" i="1" dirty="0">
                    <a:solidFill>
                      <a:srgbClr val="FF0000"/>
                    </a:solidFill>
                  </a:rPr>
                  <a:t>t + 1/2at²</a:t>
                </a:r>
              </a:p>
              <a:p>
                <a:pPr algn="ctr"/>
                <a:r>
                  <a:rPr lang="en-US" sz="2400" b="1" i="1" dirty="0">
                    <a:solidFill>
                      <a:srgbClr val="FF0000"/>
                    </a:solidFill>
                  </a:rPr>
                  <a:t>v²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b="1" i="1" dirty="0">
                    <a:solidFill>
                      <a:srgbClr val="FF0000"/>
                    </a:solidFill>
                  </a:rPr>
                  <a:t>² = 2as</a:t>
                </a:r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ADFB355-786E-C114-2A1B-BA1C3EF81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441" y="4957632"/>
                <a:ext cx="3657600" cy="13987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Speech Bubble: Oval 5">
                <a:extLst>
                  <a:ext uri="{FF2B5EF4-FFF2-40B4-BE49-F238E27FC236}">
                    <a16:creationId xmlns:a16="http://schemas.microsoft.com/office/drawing/2014/main" id="{80D86A20-88C1-B9C5-BCEC-4F664ABABBA4}"/>
                  </a:ext>
                </a:extLst>
              </p:cNvPr>
              <p:cNvSpPr/>
              <p:nvPr/>
            </p:nvSpPr>
            <p:spPr>
              <a:xfrm>
                <a:off x="253481" y="4842539"/>
                <a:ext cx="3657600" cy="1634461"/>
              </a:xfrm>
              <a:prstGeom prst="wedgeEllipseCallou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 = 2m/s²,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=8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pPr algn="ctr"/>
                <a:r>
                  <a:rPr lang="en-US" dirty="0"/>
                  <a:t>S = 16 m</a:t>
                </a:r>
              </a:p>
            </p:txBody>
          </p:sp>
        </mc:Choice>
        <mc:Fallback xmlns="">
          <p:sp>
            <p:nvSpPr>
              <p:cNvPr id="6" name="Speech Bubble: Oval 5">
                <a:extLst>
                  <a:ext uri="{FF2B5EF4-FFF2-40B4-BE49-F238E27FC236}">
                    <a16:creationId xmlns:a16="http://schemas.microsoft.com/office/drawing/2014/main" id="{80D86A20-88C1-B9C5-BCEC-4F664ABABB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81" y="4842539"/>
                <a:ext cx="3657600" cy="1634461"/>
              </a:xfrm>
              <a:prstGeom prst="wedgeEllipseCallou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269507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657600" cy="715962"/>
          </a:xfrm>
        </p:spPr>
        <p:txBody>
          <a:bodyPr/>
          <a:lstStyle/>
          <a:p>
            <a:r>
              <a:rPr lang="en-US" sz="3200" b="1" i="1">
                <a:solidFill>
                  <a:srgbClr val="FF0000"/>
                </a:solidFill>
              </a:rPr>
              <a:t>Rơi tự do</a:t>
            </a:r>
          </a:p>
        </p:txBody>
      </p:sp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457200" y="1066800"/>
            <a:ext cx="8229600" cy="5059363"/>
          </a:xfrm>
          <a:blipFill rotWithShape="1">
            <a:blip r:embed="rId2"/>
            <a:stretch>
              <a:fillRect l="-1630"/>
            </a:stretch>
          </a:blipFill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313451"/>
              </p:ext>
            </p:extLst>
          </p:nvPr>
        </p:nvGraphicFramePr>
        <p:xfrm>
          <a:off x="5181600" y="2098447"/>
          <a:ext cx="3733800" cy="42687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78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Địa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điểm</a:t>
                      </a:r>
                      <a:endParaRPr 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Vĩ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độ</a:t>
                      </a:r>
                      <a:r>
                        <a:rPr lang="en-US" sz="1800" baseline="0" dirty="0"/>
                        <a:t> </a:t>
                      </a:r>
                      <a:endParaRPr 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G(m/s²)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001">
                <a:tc>
                  <a:txBody>
                    <a:bodyPr/>
                    <a:lstStyle/>
                    <a:p>
                      <a:r>
                        <a:rPr lang="en-US" sz="1800"/>
                        <a:t>Bắc cực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90°B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9,8320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001">
                <a:tc>
                  <a:txBody>
                    <a:bodyPr/>
                    <a:lstStyle/>
                    <a:p>
                      <a:r>
                        <a:rPr lang="en-US" sz="1800" dirty="0" err="1"/>
                        <a:t>Hà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nội</a:t>
                      </a:r>
                      <a:endParaRPr 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21°B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9,7872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4001">
                <a:tc>
                  <a:txBody>
                    <a:bodyPr/>
                    <a:lstStyle/>
                    <a:p>
                      <a:r>
                        <a:rPr lang="en-US" sz="1800" dirty="0"/>
                        <a:t>HCM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10°8’B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9,7867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4001">
                <a:tc>
                  <a:txBody>
                    <a:bodyPr/>
                    <a:lstStyle/>
                    <a:p>
                      <a:r>
                        <a:rPr lang="en-US" sz="1800"/>
                        <a:t>Xao</a:t>
                      </a:r>
                      <a:r>
                        <a:rPr lang="en-US" sz="1800" baseline="0"/>
                        <a:t> Tô mê</a:t>
                      </a:r>
                      <a:endParaRPr lang="en-US" sz="180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0°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9,7819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4001">
                <a:tc>
                  <a:txBody>
                    <a:bodyPr/>
                    <a:lstStyle/>
                    <a:p>
                      <a:r>
                        <a:rPr lang="en-US" sz="1800"/>
                        <a:t>Rio de</a:t>
                      </a:r>
                      <a:r>
                        <a:rPr lang="en-US" sz="1800" baseline="0"/>
                        <a:t> </a:t>
                      </a:r>
                      <a:r>
                        <a:rPr lang="en-US" sz="1800"/>
                        <a:t>gia ne ro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22°N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9,7877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59C1B9-F236-E510-DF18-B35A42946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BF960-CD71-6AD4-0B26-16AC5FBF2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87894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pPr marL="0" indent="0">
              <a:buFont typeface="Arial" charset="0"/>
              <a:buNone/>
              <a:defRPr/>
            </a:pP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bóng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ném</a:t>
            </a:r>
            <a:r>
              <a:rPr lang="en-US" dirty="0"/>
              <a:t> </a:t>
            </a:r>
            <a:r>
              <a:rPr lang="en-US" dirty="0" err="1"/>
              <a:t>thẳng</a:t>
            </a:r>
            <a:r>
              <a:rPr lang="en-US" dirty="0"/>
              <a:t> </a:t>
            </a:r>
            <a:r>
              <a:rPr lang="en-US" dirty="0" err="1"/>
              <a:t>đứng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.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dirty="0"/>
              <a:t>A. 0</a:t>
            </a:r>
          </a:p>
          <a:p>
            <a:pPr marL="0" indent="0">
              <a:buFont typeface="Arial" charset="0"/>
              <a:buNone/>
              <a:defRPr/>
            </a:pPr>
            <a:r>
              <a:rPr lang="en-US" dirty="0"/>
              <a:t>B. g,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lên</a:t>
            </a:r>
            <a:endParaRPr lang="en-US" dirty="0"/>
          </a:p>
          <a:p>
            <a:pPr marL="0" indent="0">
              <a:buFont typeface="Arial" charset="0"/>
              <a:buNone/>
              <a:defRPr/>
            </a:pPr>
            <a:r>
              <a:rPr lang="en-US" dirty="0"/>
              <a:t>C.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dirty="0"/>
              <a:t>D. g,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xuống</a:t>
            </a: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10FEFE9-7390-3A36-6B8E-509A4531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414E5-E6C1-C120-B643-CF8AF3321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92414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pPr marL="0" indent="0">
              <a:buFont typeface="Arial" charset="0"/>
              <a:buNone/>
              <a:defRPr/>
            </a:pPr>
            <a:r>
              <a:rPr lang="en-US" dirty="0" err="1"/>
              <a:t>Bỏ</a:t>
            </a:r>
            <a:r>
              <a:rPr lang="en-US" dirty="0"/>
              <a:t> qua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cản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khí</a:t>
            </a:r>
            <a:r>
              <a:rPr lang="en-US" dirty="0"/>
              <a:t>,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hòn</a:t>
            </a:r>
            <a:r>
              <a:rPr lang="en-US" dirty="0"/>
              <a:t> </a:t>
            </a:r>
            <a:r>
              <a:rPr lang="en-US" dirty="0" err="1"/>
              <a:t>đá</a:t>
            </a:r>
            <a:r>
              <a:rPr lang="en-US" dirty="0"/>
              <a:t> </a:t>
            </a:r>
            <a:r>
              <a:rPr lang="en-US" dirty="0" err="1"/>
              <a:t>rơi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180 m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chạm</a:t>
            </a:r>
            <a:r>
              <a:rPr lang="en-US" dirty="0"/>
              <a:t> </a:t>
            </a:r>
            <a:r>
              <a:rPr lang="en-US" dirty="0" err="1"/>
              <a:t>đất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 (</a:t>
            </a:r>
            <a:r>
              <a:rPr lang="en-US" dirty="0" err="1"/>
              <a:t>lấy</a:t>
            </a:r>
            <a:r>
              <a:rPr lang="en-US" dirty="0"/>
              <a:t> g = 10 m/s² )</a:t>
            </a:r>
          </a:p>
          <a:p>
            <a:pPr>
              <a:defRPr/>
            </a:pPr>
            <a:r>
              <a:rPr lang="en-US" dirty="0"/>
              <a:t>A.	3 s</a:t>
            </a:r>
          </a:p>
          <a:p>
            <a:pPr>
              <a:defRPr/>
            </a:pPr>
            <a:r>
              <a:rPr lang="en-US" dirty="0"/>
              <a:t>B.	18 s</a:t>
            </a:r>
          </a:p>
          <a:p>
            <a:pPr>
              <a:defRPr/>
            </a:pPr>
            <a:r>
              <a:rPr lang="en-US" dirty="0"/>
              <a:t>C.	36 s</a:t>
            </a:r>
          </a:p>
          <a:p>
            <a:pPr>
              <a:defRPr/>
            </a:pPr>
            <a:r>
              <a:rPr lang="en-US" dirty="0"/>
              <a:t>D.	6s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2A7E3AE-65D0-256C-7BC3-A240C52BC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C2316-026F-D97E-AD4D-F68DF4EE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4014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marL="0" indent="0">
              <a:buFont typeface="Arial" charset="0"/>
              <a:buNone/>
              <a:defRPr/>
            </a:pPr>
            <a:endParaRPr lang="en-US" sz="3600"/>
          </a:p>
          <a:p>
            <a:pPr marL="0" indent="0">
              <a:buFont typeface="Arial" charset="0"/>
              <a:buNone/>
              <a:defRPr/>
            </a:pPr>
            <a:r>
              <a:rPr lang="en-US" sz="3600"/>
              <a:t>Một vật rơi tự do từ độ cao h = 19,6m.</a:t>
            </a:r>
          </a:p>
          <a:p>
            <a:pPr marL="514350" indent="-514350">
              <a:buFont typeface="Arial" charset="0"/>
              <a:buAutoNum type="alphaLcParenR"/>
              <a:defRPr/>
            </a:pPr>
            <a:r>
              <a:rPr lang="en-US" sz="3600"/>
              <a:t>Tính thời gian để vật rơi hết độ cao đó</a:t>
            </a:r>
          </a:p>
          <a:p>
            <a:pPr marL="514350" indent="-514350">
              <a:buFont typeface="Arial" charset="0"/>
              <a:buAutoNum type="alphaLcParenR"/>
              <a:defRPr/>
            </a:pPr>
            <a:r>
              <a:rPr lang="en-US" sz="3600"/>
              <a:t>Tính quãng đường mà vật đi được trong 0,1s đầu và 0,1s cuối</a:t>
            </a:r>
          </a:p>
          <a:p>
            <a:pPr marL="514350" indent="-514350">
              <a:buFont typeface="Arial" charset="0"/>
              <a:buAutoNum type="alphaLcParenR"/>
              <a:defRPr/>
            </a:pPr>
            <a:r>
              <a:rPr lang="en-US" sz="3600"/>
              <a:t>Tính thời gian vật rơi được 1m đầu và 1m cuối của quãng đường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3600"/>
              <a:t>Bỏ qua ma sát của không khí.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3600"/>
              <a:t>Cho g = 9,8m/s²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16A592-482A-7FF9-75AF-032B9CC37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89D5D-2FC5-13B3-FCEF-614B6BC6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0536C0-DC65-42B8-96CE-EDB477041144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170421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357051" y="1219200"/>
            <a:ext cx="8686800" cy="982663"/>
            <a:chOff x="288" y="1742"/>
            <a:chExt cx="5472" cy="548"/>
          </a:xfrm>
        </p:grpSpPr>
        <p:sp>
          <p:nvSpPr>
            <p:cNvPr id="61471" name="Rectangle 17"/>
            <p:cNvSpPr>
              <a:spLocks noChangeArrowheads="1"/>
            </p:cNvSpPr>
            <p:nvPr/>
          </p:nvSpPr>
          <p:spPr bwMode="auto">
            <a:xfrm>
              <a:off x="288" y="1742"/>
              <a:ext cx="5472" cy="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sz="28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Một vật xuất phát từ một điểm O trên mặt đất với vận tốc ban đầu là     , hợp với mặt phẳng nằm ngang một góc </a:t>
              </a:r>
            </a:p>
          </p:txBody>
        </p:sp>
        <p:graphicFrame>
          <p:nvGraphicFramePr>
            <p:cNvPr id="61472" name="Object 18"/>
            <p:cNvGraphicFramePr>
              <a:graphicFrameLocks noChangeAspect="1"/>
            </p:cNvGraphicFramePr>
            <p:nvPr/>
          </p:nvGraphicFramePr>
          <p:xfrm>
            <a:off x="5205" y="2082"/>
            <a:ext cx="174" cy="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2334" imgH="139639" progId="Equation.3">
                    <p:embed/>
                  </p:oleObj>
                </mc:Choice>
                <mc:Fallback>
                  <p:oleObj name="Equation" r:id="rId2" imgW="152334" imgH="13963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5" y="2082"/>
                          <a:ext cx="174" cy="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73" name="Object 43"/>
            <p:cNvGraphicFramePr>
              <a:graphicFrameLocks noChangeAspect="1"/>
            </p:cNvGraphicFramePr>
            <p:nvPr/>
          </p:nvGraphicFramePr>
          <p:xfrm>
            <a:off x="1297" y="1954"/>
            <a:ext cx="28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90335" imgH="266469" progId="Equation.3">
                    <p:embed/>
                  </p:oleObj>
                </mc:Choice>
                <mc:Fallback>
                  <p:oleObj name="Equation" r:id="rId4" imgW="190335" imgH="2664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7" y="1954"/>
                          <a:ext cx="28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Line 19"/>
          <p:cNvSpPr>
            <a:spLocks noChangeShapeType="1"/>
          </p:cNvSpPr>
          <p:nvPr/>
        </p:nvSpPr>
        <p:spPr bwMode="auto">
          <a:xfrm flipV="1">
            <a:off x="633413" y="3883025"/>
            <a:ext cx="0" cy="252412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20"/>
          <p:cNvSpPr>
            <a:spLocks noChangeShapeType="1"/>
          </p:cNvSpPr>
          <p:nvPr/>
        </p:nvSpPr>
        <p:spPr bwMode="auto">
          <a:xfrm>
            <a:off x="633413" y="6407150"/>
            <a:ext cx="4275137" cy="4763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Freeform 21"/>
          <p:cNvSpPr>
            <a:spLocks/>
          </p:cNvSpPr>
          <p:nvPr/>
        </p:nvSpPr>
        <p:spPr bwMode="auto">
          <a:xfrm>
            <a:off x="647700" y="4478338"/>
            <a:ext cx="3933825" cy="1928812"/>
          </a:xfrm>
          <a:custGeom>
            <a:avLst/>
            <a:gdLst>
              <a:gd name="T0" fmla="*/ 0 w 4140"/>
              <a:gd name="T1" fmla="*/ 2147483647 h 1080"/>
              <a:gd name="T2" fmla="*/ 2147483647 w 4140"/>
              <a:gd name="T3" fmla="*/ 0 h 1080"/>
              <a:gd name="T4" fmla="*/ 2147483647 w 4140"/>
              <a:gd name="T5" fmla="*/ 2147483647 h 1080"/>
              <a:gd name="T6" fmla="*/ 0 60000 65536"/>
              <a:gd name="T7" fmla="*/ 0 60000 65536"/>
              <a:gd name="T8" fmla="*/ 0 60000 65536"/>
              <a:gd name="T9" fmla="*/ 0 w 4140"/>
              <a:gd name="T10" fmla="*/ 0 h 1080"/>
              <a:gd name="T11" fmla="*/ 4140 w 4140"/>
              <a:gd name="T12" fmla="*/ 1080 h 10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40" h="1080">
                <a:moveTo>
                  <a:pt x="0" y="1080"/>
                </a:moveTo>
                <a:cubicBezTo>
                  <a:pt x="735" y="540"/>
                  <a:pt x="1470" y="0"/>
                  <a:pt x="2160" y="0"/>
                </a:cubicBezTo>
                <a:cubicBezTo>
                  <a:pt x="2850" y="0"/>
                  <a:pt x="3495" y="540"/>
                  <a:pt x="4140" y="1080"/>
                </a:cubicBezTo>
              </a:path>
            </a:pathLst>
          </a:cu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22"/>
          <p:cNvSpPr>
            <a:spLocks noChangeShapeType="1"/>
          </p:cNvSpPr>
          <p:nvPr/>
        </p:nvSpPr>
        <p:spPr bwMode="auto">
          <a:xfrm flipV="1">
            <a:off x="633413" y="5272088"/>
            <a:ext cx="842962" cy="1135062"/>
          </a:xfrm>
          <a:prstGeom prst="line">
            <a:avLst/>
          </a:prstGeom>
          <a:noFill/>
          <a:ln w="28575">
            <a:solidFill>
              <a:srgbClr val="1109B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23"/>
          <p:cNvSpPr>
            <a:spLocks noChangeShapeType="1"/>
          </p:cNvSpPr>
          <p:nvPr/>
        </p:nvSpPr>
        <p:spPr bwMode="auto">
          <a:xfrm>
            <a:off x="633413" y="5289550"/>
            <a:ext cx="84296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24"/>
          <p:cNvSpPr>
            <a:spLocks noChangeShapeType="1"/>
          </p:cNvSpPr>
          <p:nvPr/>
        </p:nvSpPr>
        <p:spPr bwMode="auto">
          <a:xfrm>
            <a:off x="1476375" y="5289550"/>
            <a:ext cx="0" cy="11176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2" name="Text Box 25"/>
          <p:cNvSpPr txBox="1">
            <a:spLocks noChangeArrowheads="1"/>
          </p:cNvSpPr>
          <p:nvPr/>
        </p:nvSpPr>
        <p:spPr bwMode="auto">
          <a:xfrm>
            <a:off x="1344613" y="4592638"/>
            <a:ext cx="17145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en-US" sz="1800"/>
          </a:p>
        </p:txBody>
      </p: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654050" y="3505200"/>
            <a:ext cx="36195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/>
              <a:t>y</a:t>
            </a:r>
            <a:endParaRPr lang="en-US" sz="4000"/>
          </a:p>
        </p:txBody>
      </p:sp>
      <p:sp>
        <p:nvSpPr>
          <p:cNvPr id="39" name="Text Box 32"/>
          <p:cNvSpPr txBox="1">
            <a:spLocks noChangeArrowheads="1"/>
          </p:cNvSpPr>
          <p:nvPr/>
        </p:nvSpPr>
        <p:spPr bwMode="auto">
          <a:xfrm>
            <a:off x="4867275" y="6078538"/>
            <a:ext cx="39052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/>
              <a:t>x</a:t>
            </a:r>
            <a:endParaRPr lang="en-US" sz="4000"/>
          </a:p>
        </p:txBody>
      </p:sp>
      <p:sp>
        <p:nvSpPr>
          <p:cNvPr id="61455" name="Text Box 33"/>
          <p:cNvSpPr txBox="1">
            <a:spLocks noChangeArrowheads="1"/>
          </p:cNvSpPr>
          <p:nvPr/>
        </p:nvSpPr>
        <p:spPr bwMode="auto">
          <a:xfrm>
            <a:off x="884238" y="5903913"/>
            <a:ext cx="1714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en-US" sz="1800"/>
          </a:p>
        </p:txBody>
      </p:sp>
      <p:sp>
        <p:nvSpPr>
          <p:cNvPr id="41" name="Text Box 34"/>
          <p:cNvSpPr txBox="1">
            <a:spLocks noChangeArrowheads="1"/>
          </p:cNvSpPr>
          <p:nvPr/>
        </p:nvSpPr>
        <p:spPr bwMode="auto">
          <a:xfrm>
            <a:off x="325438" y="6335713"/>
            <a:ext cx="512762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000"/>
              <a:t>O</a:t>
            </a:r>
            <a:endParaRPr lang="en-US" sz="3200"/>
          </a:p>
        </p:txBody>
      </p:sp>
      <p:graphicFrame>
        <p:nvGraphicFramePr>
          <p:cNvPr id="42" name="Object 35"/>
          <p:cNvGraphicFramePr>
            <a:graphicFrameLocks noChangeAspect="1"/>
          </p:cNvGraphicFramePr>
          <p:nvPr/>
        </p:nvGraphicFramePr>
        <p:xfrm>
          <a:off x="1311275" y="4478338"/>
          <a:ext cx="350838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335" imgH="266469" progId="Equation.3">
                  <p:embed/>
                </p:oleObj>
              </mc:Choice>
              <mc:Fallback>
                <p:oleObj name="Equation" r:id="rId6" imgW="190335" imgH="2664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1275" y="4478338"/>
                        <a:ext cx="350838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36"/>
          <p:cNvGraphicFramePr>
            <a:graphicFrameLocks noChangeAspect="1"/>
          </p:cNvGraphicFramePr>
          <p:nvPr/>
        </p:nvGraphicFramePr>
        <p:xfrm>
          <a:off x="1443038" y="5730875"/>
          <a:ext cx="750887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3780" imgH="253780" progId="Equation.DSMT4">
                  <p:embed/>
                </p:oleObj>
              </mc:Choice>
              <mc:Fallback>
                <p:oleObj name="Equation" r:id="rId7" imgW="253780" imgH="2537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5730875"/>
                        <a:ext cx="750887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37"/>
          <p:cNvGraphicFramePr>
            <a:graphicFrameLocks noChangeAspect="1"/>
          </p:cNvGraphicFramePr>
          <p:nvPr/>
        </p:nvGraphicFramePr>
        <p:xfrm>
          <a:off x="169863" y="4811713"/>
          <a:ext cx="452437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1091" imgH="266469" progId="Equation.DSMT4">
                  <p:embed/>
                </p:oleObj>
              </mc:Choice>
              <mc:Fallback>
                <p:oleObj name="Equation" r:id="rId9" imgW="241091" imgH="26646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863" y="4811713"/>
                        <a:ext cx="452437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38"/>
          <p:cNvGraphicFramePr>
            <a:graphicFrameLocks noChangeAspect="1"/>
          </p:cNvGraphicFramePr>
          <p:nvPr/>
        </p:nvGraphicFramePr>
        <p:xfrm>
          <a:off x="874713" y="6048375"/>
          <a:ext cx="42862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2334" imgH="139639" progId="Equation.3">
                  <p:embed/>
                </p:oleObj>
              </mc:Choice>
              <mc:Fallback>
                <p:oleObj name="Equation" r:id="rId11" imgW="152334" imgH="1396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713" y="6048375"/>
                        <a:ext cx="428625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Line 44"/>
          <p:cNvSpPr>
            <a:spLocks noChangeShapeType="1"/>
          </p:cNvSpPr>
          <p:nvPr/>
        </p:nvSpPr>
        <p:spPr bwMode="auto">
          <a:xfrm>
            <a:off x="644525" y="6419850"/>
            <a:ext cx="82073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Line 45"/>
          <p:cNvSpPr>
            <a:spLocks noChangeShapeType="1"/>
          </p:cNvSpPr>
          <p:nvPr/>
        </p:nvSpPr>
        <p:spPr bwMode="auto">
          <a:xfrm rot="16200000" flipV="1">
            <a:off x="62707" y="5842794"/>
            <a:ext cx="114141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381000" y="2971800"/>
            <a:ext cx="2209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sz="2800" b="1" dirty="0">
                <a:latin typeface="Times New Roman" pitchFamily="18" charset="0"/>
              </a:rPr>
              <a:t>CĐ ném xiên</a:t>
            </a:r>
            <a:endParaRPr lang="en-US" sz="2800" b="1" dirty="0"/>
          </a:p>
        </p:txBody>
      </p:sp>
      <p:sp>
        <p:nvSpPr>
          <p:cNvPr id="40" name="Left-Right Arrow 39"/>
          <p:cNvSpPr/>
          <p:nvPr/>
        </p:nvSpPr>
        <p:spPr>
          <a:xfrm>
            <a:off x="2740025" y="3200400"/>
            <a:ext cx="457200" cy="228600"/>
          </a:xfrm>
          <a:prstGeom prst="leftRightArrow">
            <a:avLst/>
          </a:prstGeom>
          <a:solidFill>
            <a:srgbClr val="43CEF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Left Brace 46"/>
          <p:cNvSpPr/>
          <p:nvPr/>
        </p:nvSpPr>
        <p:spPr>
          <a:xfrm>
            <a:off x="3349625" y="2765425"/>
            <a:ext cx="381000" cy="1143000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sz="2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Rectangle 9"/>
          <p:cNvSpPr>
            <a:spLocks noChangeArrowheads="1"/>
          </p:cNvSpPr>
          <p:nvPr/>
        </p:nvSpPr>
        <p:spPr bwMode="auto">
          <a:xfrm>
            <a:off x="3730625" y="2743200"/>
            <a:ext cx="1733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CĐ ngang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Rectangle 11"/>
          <p:cNvSpPr>
            <a:spLocks noChangeArrowheads="1"/>
          </p:cNvSpPr>
          <p:nvPr/>
        </p:nvSpPr>
        <p:spPr bwMode="auto">
          <a:xfrm>
            <a:off x="3730625" y="3363913"/>
            <a:ext cx="449193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CĐ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thẳng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đứng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Ném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đứng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5486400" y="2743200"/>
            <a:ext cx="2073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(Thẳng đều)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6324600" y="3352800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 sz="2800" dirty="0">
              <a:solidFill>
                <a:srgbClr val="05057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Rectangle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486400" y="4765675"/>
            <a:ext cx="2208213" cy="1058751"/>
          </a:xfrm>
          <a:prstGeom prst="rect">
            <a:avLst/>
          </a:prstGeom>
          <a:blipFill rotWithShape="1">
            <a:blip r:embed="rId13"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5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334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1.6. Chuyển động ném xiên</a:t>
            </a:r>
            <a:endParaRPr lang="en-US" sz="32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8705EA0-67B4-82DB-6848-EB88BD7C7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A10A0-F1A1-DA53-5A5D-0F54A69A2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88053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7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1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6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5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6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0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8" grpId="0"/>
      <p:bldP spid="39" grpId="0"/>
      <p:bldP spid="41" grpId="0"/>
      <p:bldP spid="49" grpId="0" animBg="1"/>
      <p:bldP spid="50" grpId="0" animBg="1"/>
      <p:bldP spid="37" grpId="0"/>
      <p:bldP spid="40" grpId="0" animBg="1"/>
      <p:bldP spid="47" grpId="0" animBg="1"/>
      <p:bldP spid="48" grpId="0"/>
      <p:bldP spid="51" grpId="0"/>
      <p:bldP spid="52" grpId="0"/>
      <p:bldP spid="5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8" name="Object 12"/>
          <p:cNvGraphicFramePr>
            <a:graphicFrameLocks noChangeAspect="1"/>
          </p:cNvGraphicFramePr>
          <p:nvPr/>
        </p:nvGraphicFramePr>
        <p:xfrm>
          <a:off x="533400" y="1371600"/>
          <a:ext cx="2916238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600" imgH="508000" progId="Equation.DSMT4">
                  <p:embed/>
                </p:oleObj>
              </mc:Choice>
              <mc:Fallback>
                <p:oleObj name="Equation" r:id="rId2" imgW="11176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371600"/>
                        <a:ext cx="2916238" cy="143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Line 19"/>
          <p:cNvSpPr>
            <a:spLocks noChangeShapeType="1"/>
          </p:cNvSpPr>
          <p:nvPr/>
        </p:nvSpPr>
        <p:spPr bwMode="auto">
          <a:xfrm flipV="1">
            <a:off x="4519613" y="2028825"/>
            <a:ext cx="0" cy="252412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20"/>
          <p:cNvSpPr>
            <a:spLocks noChangeShapeType="1"/>
          </p:cNvSpPr>
          <p:nvPr/>
        </p:nvSpPr>
        <p:spPr bwMode="auto">
          <a:xfrm>
            <a:off x="4519613" y="4552950"/>
            <a:ext cx="4275137" cy="4763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Freeform 21"/>
          <p:cNvSpPr>
            <a:spLocks/>
          </p:cNvSpPr>
          <p:nvPr/>
        </p:nvSpPr>
        <p:spPr bwMode="auto">
          <a:xfrm>
            <a:off x="4519613" y="2624138"/>
            <a:ext cx="3933825" cy="1928812"/>
          </a:xfrm>
          <a:custGeom>
            <a:avLst/>
            <a:gdLst>
              <a:gd name="T0" fmla="*/ 0 w 4140"/>
              <a:gd name="T1" fmla="*/ 2147483647 h 1080"/>
              <a:gd name="T2" fmla="*/ 2147483647 w 4140"/>
              <a:gd name="T3" fmla="*/ 0 h 1080"/>
              <a:gd name="T4" fmla="*/ 2147483647 w 4140"/>
              <a:gd name="T5" fmla="*/ 2147483647 h 1080"/>
              <a:gd name="T6" fmla="*/ 0 60000 65536"/>
              <a:gd name="T7" fmla="*/ 0 60000 65536"/>
              <a:gd name="T8" fmla="*/ 0 60000 65536"/>
              <a:gd name="T9" fmla="*/ 0 w 4140"/>
              <a:gd name="T10" fmla="*/ 0 h 1080"/>
              <a:gd name="T11" fmla="*/ 4140 w 4140"/>
              <a:gd name="T12" fmla="*/ 1080 h 10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40" h="1080">
                <a:moveTo>
                  <a:pt x="0" y="1080"/>
                </a:moveTo>
                <a:cubicBezTo>
                  <a:pt x="735" y="540"/>
                  <a:pt x="1470" y="0"/>
                  <a:pt x="2160" y="0"/>
                </a:cubicBezTo>
                <a:cubicBezTo>
                  <a:pt x="2850" y="0"/>
                  <a:pt x="3495" y="540"/>
                  <a:pt x="4140" y="1080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22"/>
          <p:cNvSpPr>
            <a:spLocks noChangeShapeType="1"/>
          </p:cNvSpPr>
          <p:nvPr/>
        </p:nvSpPr>
        <p:spPr bwMode="auto">
          <a:xfrm flipV="1">
            <a:off x="4519613" y="3417888"/>
            <a:ext cx="842962" cy="1135062"/>
          </a:xfrm>
          <a:prstGeom prst="line">
            <a:avLst/>
          </a:prstGeom>
          <a:noFill/>
          <a:ln w="28575">
            <a:solidFill>
              <a:srgbClr val="1109B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23"/>
          <p:cNvSpPr>
            <a:spLocks noChangeShapeType="1"/>
          </p:cNvSpPr>
          <p:nvPr/>
        </p:nvSpPr>
        <p:spPr bwMode="auto">
          <a:xfrm>
            <a:off x="4519613" y="3435350"/>
            <a:ext cx="84296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24"/>
          <p:cNvSpPr>
            <a:spLocks noChangeShapeType="1"/>
          </p:cNvSpPr>
          <p:nvPr/>
        </p:nvSpPr>
        <p:spPr bwMode="auto">
          <a:xfrm>
            <a:off x="5362575" y="3435350"/>
            <a:ext cx="0" cy="11176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6" name="Text Box 25"/>
          <p:cNvSpPr txBox="1">
            <a:spLocks noChangeArrowheads="1"/>
          </p:cNvSpPr>
          <p:nvPr/>
        </p:nvSpPr>
        <p:spPr bwMode="auto">
          <a:xfrm>
            <a:off x="5230813" y="2738438"/>
            <a:ext cx="17145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en-US" sz="1800"/>
          </a:p>
        </p:txBody>
      </p:sp>
      <p:sp>
        <p:nvSpPr>
          <p:cNvPr id="52" name="Text Box 29"/>
          <p:cNvSpPr txBox="1">
            <a:spLocks noChangeArrowheads="1"/>
          </p:cNvSpPr>
          <p:nvPr/>
        </p:nvSpPr>
        <p:spPr bwMode="auto">
          <a:xfrm>
            <a:off x="4540250" y="1651000"/>
            <a:ext cx="36195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/>
              <a:t>y</a:t>
            </a:r>
            <a:endParaRPr lang="en-US" sz="4000"/>
          </a:p>
        </p:txBody>
      </p:sp>
      <p:sp>
        <p:nvSpPr>
          <p:cNvPr id="55" name="Text Box 32"/>
          <p:cNvSpPr txBox="1">
            <a:spLocks noChangeArrowheads="1"/>
          </p:cNvSpPr>
          <p:nvPr/>
        </p:nvSpPr>
        <p:spPr bwMode="auto">
          <a:xfrm>
            <a:off x="8753475" y="4224338"/>
            <a:ext cx="39052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/>
              <a:t>x</a:t>
            </a:r>
            <a:endParaRPr lang="en-US" sz="4000"/>
          </a:p>
        </p:txBody>
      </p:sp>
      <p:sp>
        <p:nvSpPr>
          <p:cNvPr id="62479" name="Text Box 33"/>
          <p:cNvSpPr txBox="1">
            <a:spLocks noChangeArrowheads="1"/>
          </p:cNvSpPr>
          <p:nvPr/>
        </p:nvSpPr>
        <p:spPr bwMode="auto">
          <a:xfrm>
            <a:off x="4770438" y="4049713"/>
            <a:ext cx="173037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en-US" sz="1800"/>
          </a:p>
        </p:txBody>
      </p:sp>
      <p:sp>
        <p:nvSpPr>
          <p:cNvPr id="57" name="Text Box 34"/>
          <p:cNvSpPr txBox="1">
            <a:spLocks noChangeArrowheads="1"/>
          </p:cNvSpPr>
          <p:nvPr/>
        </p:nvSpPr>
        <p:spPr bwMode="auto">
          <a:xfrm>
            <a:off x="4262438" y="4432300"/>
            <a:ext cx="511175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000"/>
              <a:t>O</a:t>
            </a:r>
            <a:endParaRPr lang="en-US" sz="3200"/>
          </a:p>
        </p:txBody>
      </p:sp>
      <p:graphicFrame>
        <p:nvGraphicFramePr>
          <p:cNvPr id="58" name="Object 35"/>
          <p:cNvGraphicFramePr>
            <a:graphicFrameLocks noChangeAspect="1"/>
          </p:cNvGraphicFramePr>
          <p:nvPr/>
        </p:nvGraphicFramePr>
        <p:xfrm>
          <a:off x="5199063" y="2624138"/>
          <a:ext cx="350837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335" imgH="266469" progId="Equation.3">
                  <p:embed/>
                </p:oleObj>
              </mc:Choice>
              <mc:Fallback>
                <p:oleObj name="Equation" r:id="rId4" imgW="190335" imgH="2664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9063" y="2624138"/>
                        <a:ext cx="350837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36"/>
          <p:cNvGraphicFramePr>
            <a:graphicFrameLocks noChangeAspect="1"/>
          </p:cNvGraphicFramePr>
          <p:nvPr/>
        </p:nvGraphicFramePr>
        <p:xfrm>
          <a:off x="5329238" y="3879850"/>
          <a:ext cx="75247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3780" imgH="253780" progId="Equation.DSMT4">
                  <p:embed/>
                </p:oleObj>
              </mc:Choice>
              <mc:Fallback>
                <p:oleObj name="Equation" r:id="rId6" imgW="253780" imgH="2537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9238" y="3879850"/>
                        <a:ext cx="752475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37"/>
          <p:cNvGraphicFramePr>
            <a:graphicFrameLocks noChangeAspect="1"/>
          </p:cNvGraphicFramePr>
          <p:nvPr/>
        </p:nvGraphicFramePr>
        <p:xfrm>
          <a:off x="3962400" y="2957513"/>
          <a:ext cx="450850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1091" imgH="266469" progId="Equation.DSMT4">
                  <p:embed/>
                </p:oleObj>
              </mc:Choice>
              <mc:Fallback>
                <p:oleObj name="Equation" r:id="rId8" imgW="241091" imgH="26646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957513"/>
                        <a:ext cx="450850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38"/>
          <p:cNvGraphicFramePr>
            <a:graphicFrameLocks noChangeAspect="1"/>
          </p:cNvGraphicFramePr>
          <p:nvPr/>
        </p:nvGraphicFramePr>
        <p:xfrm>
          <a:off x="4762500" y="4194175"/>
          <a:ext cx="427038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2334" imgH="139639" progId="Equation.3">
                  <p:embed/>
                </p:oleObj>
              </mc:Choice>
              <mc:Fallback>
                <p:oleObj name="Equation" r:id="rId10" imgW="152334" imgH="1396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0" y="4194175"/>
                        <a:ext cx="427038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42"/>
          <p:cNvGraphicFramePr>
            <a:graphicFrameLocks noChangeAspect="1"/>
          </p:cNvGraphicFramePr>
          <p:nvPr/>
        </p:nvGraphicFramePr>
        <p:xfrm>
          <a:off x="3605213" y="3906838"/>
          <a:ext cx="9144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95085" imgH="228501" progId="Equation.3">
                  <p:embed/>
                </p:oleObj>
              </mc:Choice>
              <mc:Fallback>
                <p:oleObj name="Equation" r:id="rId12" imgW="495085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5213" y="3906838"/>
                        <a:ext cx="91440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43"/>
          <p:cNvGraphicFramePr>
            <a:graphicFrameLocks noChangeAspect="1"/>
          </p:cNvGraphicFramePr>
          <p:nvPr/>
        </p:nvGraphicFramePr>
        <p:xfrm>
          <a:off x="4605338" y="4548188"/>
          <a:ext cx="102076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20700" imgH="228600" progId="Equation.DSMT4">
                  <p:embed/>
                </p:oleObj>
              </mc:Choice>
              <mc:Fallback>
                <p:oleObj name="Equation" r:id="rId14" imgW="520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5338" y="4548188"/>
                        <a:ext cx="102076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Line 44"/>
          <p:cNvSpPr>
            <a:spLocks noChangeShapeType="1"/>
          </p:cNvSpPr>
          <p:nvPr/>
        </p:nvSpPr>
        <p:spPr bwMode="auto">
          <a:xfrm>
            <a:off x="4530725" y="4565650"/>
            <a:ext cx="8223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Line 45"/>
          <p:cNvSpPr>
            <a:spLocks noChangeShapeType="1"/>
          </p:cNvSpPr>
          <p:nvPr/>
        </p:nvSpPr>
        <p:spPr bwMode="auto">
          <a:xfrm rot="16200000" flipV="1">
            <a:off x="3948907" y="3988594"/>
            <a:ext cx="114141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" name="Right Arrow 68"/>
          <p:cNvSpPr/>
          <p:nvPr/>
        </p:nvSpPr>
        <p:spPr>
          <a:xfrm>
            <a:off x="152400" y="5181600"/>
            <a:ext cx="228600" cy="7620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80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Object 31"/>
          <p:cNvGraphicFramePr>
            <a:graphicFrameLocks noChangeAspect="1"/>
          </p:cNvGraphicFramePr>
          <p:nvPr/>
        </p:nvGraphicFramePr>
        <p:xfrm>
          <a:off x="696913" y="3048000"/>
          <a:ext cx="2655887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54100" imgH="508000" progId="Equation.DSMT4">
                  <p:embed/>
                </p:oleObj>
              </mc:Choice>
              <mc:Fallback>
                <p:oleObj name="Equation" r:id="rId16" imgW="10541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913" y="3048000"/>
                        <a:ext cx="2655887" cy="143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18653" y="4900613"/>
            <a:ext cx="3429000" cy="1447800"/>
          </a:xfrm>
          <a:prstGeom prst="rect">
            <a:avLst/>
          </a:prstGeom>
          <a:blipFill rotWithShape="1">
            <a:blip r:embed="rId18"/>
            <a:stretch>
              <a:fillRect l="-1421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1" name="Rectangle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638800" y="5033224"/>
            <a:ext cx="2208213" cy="1058751"/>
          </a:xfrm>
          <a:prstGeom prst="rect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334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Chuyển động ném xiên</a:t>
            </a:r>
            <a:endParaRPr lang="en-US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68DC39-0D3A-A818-8B82-B5AFD7A52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FD9EFC-9F34-9F06-6642-BBEE4DD13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90191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3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8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0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4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6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8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60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65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0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4" dur="10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8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2" grpId="0"/>
      <p:bldP spid="55" grpId="0"/>
      <p:bldP spid="57" grpId="0"/>
      <p:bldP spid="67" grpId="0" animBg="1"/>
      <p:bldP spid="68" grpId="0" animBg="1"/>
      <p:bldP spid="6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Arrow 16"/>
          <p:cNvSpPr/>
          <p:nvPr/>
        </p:nvSpPr>
        <p:spPr>
          <a:xfrm>
            <a:off x="457200" y="3733800"/>
            <a:ext cx="304800" cy="9906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80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6934200" y="4048125"/>
            <a:ext cx="1422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(PTQĐ)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5638800" y="1905000"/>
            <a:ext cx="1422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(PTCĐ)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752600" y="5181600"/>
            <a:ext cx="58674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 Quỹ đạo của chuyển động ném xiên có dạng parabol )</a:t>
            </a:r>
          </a:p>
        </p:txBody>
      </p:sp>
      <p:sp>
        <p:nvSpPr>
          <p:cNvPr id="2" name="Rectangle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3483769"/>
            <a:ext cx="4826000" cy="1490662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" name="Rectangle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66800" y="1557337"/>
            <a:ext cx="4267200" cy="1743075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334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Chuyển động ném xiên</a:t>
            </a:r>
            <a:endParaRPr lang="en-US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4F0BF2-726D-7360-33E6-AC3217341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82FA0E-04DB-94AF-806D-462A0514A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3485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/>
      <p:bldP spid="13" grpId="0"/>
      <p:bldP spid="1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1295400"/>
            <a:ext cx="6400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buFontTx/>
              <a:buChar char="•"/>
              <a:tabLst>
                <a:tab pos="457200" algn="l"/>
                <a:tab pos="914400" algn="l"/>
                <a:tab pos="1371600" algn="l"/>
                <a:tab pos="1677988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Thời gian chất điểm đến S: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(v</a:t>
            </a:r>
            <a:r>
              <a:rPr lang="en-US" sz="2800" b="1" baseline="-25000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= 0)</a:t>
            </a:r>
          </a:p>
        </p:txBody>
      </p:sp>
      <p:sp>
        <p:nvSpPr>
          <p:cNvPr id="65539" name="Rectangle 5"/>
          <p:cNvSpPr>
            <a:spLocks noChangeArrowheads="1"/>
          </p:cNvSpPr>
          <p:nvPr/>
        </p:nvSpPr>
        <p:spPr bwMode="auto">
          <a:xfrm>
            <a:off x="0" y="2967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sz="1800"/>
          </a:p>
        </p:txBody>
      </p:sp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33338" y="3852863"/>
            <a:ext cx="1506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buFontTx/>
              <a:buChar char="•"/>
              <a:tabLst>
                <a:tab pos="457200" algn="l"/>
                <a:tab pos="914400" algn="l"/>
                <a:tab pos="1371600" algn="l"/>
                <a:tab pos="1677988" algn="l"/>
              </a:tabLst>
            </a:pPr>
            <a:r>
              <a:rPr lang="en-US" sz="2800" dirty="0">
                <a:solidFill>
                  <a:srgbClr val="3E1B5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Đỉnh S:</a:t>
            </a:r>
          </a:p>
        </p:txBody>
      </p:sp>
      <p:sp>
        <p:nvSpPr>
          <p:cNvPr id="65544" name="Line 19"/>
          <p:cNvSpPr>
            <a:spLocks noChangeShapeType="1"/>
          </p:cNvSpPr>
          <p:nvPr/>
        </p:nvSpPr>
        <p:spPr bwMode="auto">
          <a:xfrm flipV="1">
            <a:off x="5029200" y="2054225"/>
            <a:ext cx="0" cy="252412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5" name="Line 20"/>
          <p:cNvSpPr>
            <a:spLocks noChangeShapeType="1"/>
          </p:cNvSpPr>
          <p:nvPr/>
        </p:nvSpPr>
        <p:spPr bwMode="auto">
          <a:xfrm>
            <a:off x="5029200" y="4578350"/>
            <a:ext cx="3803650" cy="4763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6" name="Freeform 21"/>
          <p:cNvSpPr>
            <a:spLocks/>
          </p:cNvSpPr>
          <p:nvPr/>
        </p:nvSpPr>
        <p:spPr bwMode="auto">
          <a:xfrm>
            <a:off x="5029200" y="2649538"/>
            <a:ext cx="3500438" cy="1928812"/>
          </a:xfrm>
          <a:custGeom>
            <a:avLst/>
            <a:gdLst>
              <a:gd name="T0" fmla="*/ 0 w 4140"/>
              <a:gd name="T1" fmla="*/ 2147483647 h 1080"/>
              <a:gd name="T2" fmla="*/ 2147483647 w 4140"/>
              <a:gd name="T3" fmla="*/ 0 h 1080"/>
              <a:gd name="T4" fmla="*/ 2147483647 w 4140"/>
              <a:gd name="T5" fmla="*/ 2147483647 h 1080"/>
              <a:gd name="T6" fmla="*/ 0 60000 65536"/>
              <a:gd name="T7" fmla="*/ 0 60000 65536"/>
              <a:gd name="T8" fmla="*/ 0 60000 65536"/>
              <a:gd name="T9" fmla="*/ 0 w 4140"/>
              <a:gd name="T10" fmla="*/ 0 h 1080"/>
              <a:gd name="T11" fmla="*/ 4140 w 4140"/>
              <a:gd name="T12" fmla="*/ 1080 h 10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40" h="1080">
                <a:moveTo>
                  <a:pt x="0" y="1080"/>
                </a:moveTo>
                <a:cubicBezTo>
                  <a:pt x="735" y="540"/>
                  <a:pt x="1470" y="0"/>
                  <a:pt x="2160" y="0"/>
                </a:cubicBezTo>
                <a:cubicBezTo>
                  <a:pt x="2850" y="0"/>
                  <a:pt x="3495" y="540"/>
                  <a:pt x="4140" y="1080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7" name="Line 22"/>
          <p:cNvSpPr>
            <a:spLocks noChangeShapeType="1"/>
          </p:cNvSpPr>
          <p:nvPr/>
        </p:nvSpPr>
        <p:spPr bwMode="auto">
          <a:xfrm flipV="1">
            <a:off x="5029200" y="3443288"/>
            <a:ext cx="749300" cy="113506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8" name="Line 23"/>
          <p:cNvSpPr>
            <a:spLocks noChangeShapeType="1"/>
          </p:cNvSpPr>
          <p:nvPr/>
        </p:nvSpPr>
        <p:spPr bwMode="auto">
          <a:xfrm>
            <a:off x="5029200" y="3460750"/>
            <a:ext cx="7493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9" name="Line 24"/>
          <p:cNvSpPr>
            <a:spLocks noChangeShapeType="1"/>
          </p:cNvSpPr>
          <p:nvPr/>
        </p:nvSpPr>
        <p:spPr bwMode="auto">
          <a:xfrm>
            <a:off x="5778500" y="3460750"/>
            <a:ext cx="0" cy="11176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50" name="Text Box 25"/>
          <p:cNvSpPr txBox="1">
            <a:spLocks noChangeArrowheads="1"/>
          </p:cNvSpPr>
          <p:nvPr/>
        </p:nvSpPr>
        <p:spPr bwMode="auto">
          <a:xfrm>
            <a:off x="5661025" y="2763838"/>
            <a:ext cx="1524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en-US" sz="1800"/>
          </a:p>
        </p:txBody>
      </p:sp>
      <p:sp>
        <p:nvSpPr>
          <p:cNvPr id="19493" name="Text Box 28"/>
          <p:cNvSpPr txBox="1">
            <a:spLocks noChangeArrowheads="1"/>
          </p:cNvSpPr>
          <p:nvPr/>
        </p:nvSpPr>
        <p:spPr bwMode="auto">
          <a:xfrm>
            <a:off x="6710363" y="4495800"/>
            <a:ext cx="4175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baseline="-2500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endParaRPr lang="en-US">
              <a:solidFill>
                <a:srgbClr val="1109B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552" name="Text Box 29"/>
          <p:cNvSpPr txBox="1">
            <a:spLocks noChangeArrowheads="1"/>
          </p:cNvSpPr>
          <p:nvPr/>
        </p:nvSpPr>
        <p:spPr bwMode="auto">
          <a:xfrm>
            <a:off x="5048250" y="1676400"/>
            <a:ext cx="3206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/>
              <a:t>y</a:t>
            </a:r>
            <a:endParaRPr lang="en-US" sz="4000"/>
          </a:p>
        </p:txBody>
      </p:sp>
      <p:sp>
        <p:nvSpPr>
          <p:cNvPr id="19495" name="Text Box 30"/>
          <p:cNvSpPr txBox="1">
            <a:spLocks noChangeArrowheads="1"/>
          </p:cNvSpPr>
          <p:nvPr/>
        </p:nvSpPr>
        <p:spPr bwMode="auto">
          <a:xfrm>
            <a:off x="6619875" y="2205038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>
                <a:solidFill>
                  <a:srgbClr val="1109B7"/>
                </a:solidFill>
              </a:rPr>
              <a:t>S</a:t>
            </a:r>
            <a:endParaRPr lang="en-US" sz="3600">
              <a:solidFill>
                <a:srgbClr val="1109B7"/>
              </a:solidFill>
            </a:endParaRPr>
          </a:p>
        </p:txBody>
      </p:sp>
      <p:sp>
        <p:nvSpPr>
          <p:cNvPr id="19496" name="Line 31"/>
          <p:cNvSpPr>
            <a:spLocks noChangeShapeType="1"/>
          </p:cNvSpPr>
          <p:nvPr/>
        </p:nvSpPr>
        <p:spPr bwMode="auto">
          <a:xfrm>
            <a:off x="6854825" y="2649538"/>
            <a:ext cx="0" cy="1928812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 type="oval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55" name="Text Box 32"/>
          <p:cNvSpPr txBox="1">
            <a:spLocks noChangeArrowheads="1"/>
          </p:cNvSpPr>
          <p:nvPr/>
        </p:nvSpPr>
        <p:spPr bwMode="auto">
          <a:xfrm>
            <a:off x="8796338" y="4249738"/>
            <a:ext cx="347662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/>
              <a:t>x</a:t>
            </a:r>
            <a:endParaRPr lang="en-US" sz="4000"/>
          </a:p>
        </p:txBody>
      </p:sp>
      <p:sp>
        <p:nvSpPr>
          <p:cNvPr id="65556" name="Text Box 33"/>
          <p:cNvSpPr txBox="1">
            <a:spLocks noChangeArrowheads="1"/>
          </p:cNvSpPr>
          <p:nvPr/>
        </p:nvSpPr>
        <p:spPr bwMode="auto">
          <a:xfrm>
            <a:off x="5251450" y="4075113"/>
            <a:ext cx="153988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en-US" sz="1800"/>
          </a:p>
        </p:txBody>
      </p:sp>
      <p:sp>
        <p:nvSpPr>
          <p:cNvPr id="65557" name="Text Box 34"/>
          <p:cNvSpPr txBox="1">
            <a:spLocks noChangeArrowheads="1"/>
          </p:cNvSpPr>
          <p:nvPr/>
        </p:nvSpPr>
        <p:spPr bwMode="auto">
          <a:xfrm>
            <a:off x="4799013" y="4457700"/>
            <a:ext cx="455612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000"/>
              <a:t>O</a:t>
            </a:r>
            <a:endParaRPr lang="en-US" sz="3200"/>
          </a:p>
        </p:txBody>
      </p:sp>
      <p:graphicFrame>
        <p:nvGraphicFramePr>
          <p:cNvPr id="65558" name="Object 35"/>
          <p:cNvGraphicFramePr>
            <a:graphicFrameLocks noChangeAspect="1"/>
          </p:cNvGraphicFramePr>
          <p:nvPr/>
        </p:nvGraphicFramePr>
        <p:xfrm>
          <a:off x="5632450" y="2649538"/>
          <a:ext cx="312738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0335" imgH="266469" progId="Equation.3">
                  <p:embed/>
                </p:oleObj>
              </mc:Choice>
              <mc:Fallback>
                <p:oleObj name="Equation" r:id="rId2" imgW="190335" imgH="2664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2450" y="2649538"/>
                        <a:ext cx="312738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9" name="Object 36"/>
          <p:cNvGraphicFramePr>
            <a:graphicFrameLocks noChangeAspect="1"/>
          </p:cNvGraphicFramePr>
          <p:nvPr/>
        </p:nvGraphicFramePr>
        <p:xfrm>
          <a:off x="5815013" y="3903663"/>
          <a:ext cx="534987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024" imgH="253780" progId="Equation.DSMT4">
                  <p:embed/>
                </p:oleObj>
              </mc:Choice>
              <mc:Fallback>
                <p:oleObj name="Equation" r:id="rId4" imgW="203024" imgH="2537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5013" y="3903663"/>
                        <a:ext cx="534987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0" name="Object 37"/>
          <p:cNvGraphicFramePr>
            <a:graphicFrameLocks noChangeAspect="1"/>
          </p:cNvGraphicFramePr>
          <p:nvPr/>
        </p:nvGraphicFramePr>
        <p:xfrm>
          <a:off x="4648200" y="2982913"/>
          <a:ext cx="338138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024" imgH="266469" progId="Equation.DSMT4">
                  <p:embed/>
                </p:oleObj>
              </mc:Choice>
              <mc:Fallback>
                <p:oleObj name="Equation" r:id="rId6" imgW="203024" imgH="26646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982913"/>
                        <a:ext cx="338138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1" name="Object 38"/>
          <p:cNvGraphicFramePr>
            <a:graphicFrameLocks noChangeAspect="1"/>
          </p:cNvGraphicFramePr>
          <p:nvPr/>
        </p:nvGraphicFramePr>
        <p:xfrm>
          <a:off x="5243513" y="4219575"/>
          <a:ext cx="38100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334" imgH="139639" progId="Equation.3">
                  <p:embed/>
                </p:oleObj>
              </mc:Choice>
              <mc:Fallback>
                <p:oleObj name="Equation" r:id="rId8" imgW="152334" imgH="1396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3513" y="4219575"/>
                        <a:ext cx="381000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00" name="Line 39"/>
          <p:cNvSpPr>
            <a:spLocks noChangeShapeType="1"/>
          </p:cNvSpPr>
          <p:nvPr/>
        </p:nvSpPr>
        <p:spPr bwMode="auto">
          <a:xfrm>
            <a:off x="5029200" y="2652713"/>
            <a:ext cx="184785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01" name="Line 40"/>
          <p:cNvSpPr>
            <a:spLocks noChangeShapeType="1"/>
          </p:cNvSpPr>
          <p:nvPr/>
        </p:nvSpPr>
        <p:spPr bwMode="auto">
          <a:xfrm>
            <a:off x="6858000" y="2652713"/>
            <a:ext cx="731838" cy="0"/>
          </a:xfrm>
          <a:prstGeom prst="line">
            <a:avLst/>
          </a:prstGeom>
          <a:noFill/>
          <a:ln w="25400">
            <a:solidFill>
              <a:srgbClr val="1E22C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02" name="Text Box 41"/>
          <p:cNvSpPr txBox="1">
            <a:spLocks noChangeArrowheads="1"/>
          </p:cNvSpPr>
          <p:nvPr/>
        </p:nvSpPr>
        <p:spPr bwMode="auto">
          <a:xfrm>
            <a:off x="4668838" y="2419350"/>
            <a:ext cx="5127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baseline="-25000">
                <a:solidFill>
                  <a:srgbClr val="1109B7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endParaRPr lang="en-US">
              <a:solidFill>
                <a:srgbClr val="1109B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5565" name="Object 42"/>
          <p:cNvGraphicFramePr>
            <a:graphicFrameLocks noChangeAspect="1"/>
          </p:cNvGraphicFramePr>
          <p:nvPr/>
        </p:nvGraphicFramePr>
        <p:xfrm>
          <a:off x="4214813" y="3932238"/>
          <a:ext cx="814387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95085" imgH="228501" progId="Equation.3">
                  <p:embed/>
                </p:oleObj>
              </mc:Choice>
              <mc:Fallback>
                <p:oleObj name="Equation" r:id="rId10" imgW="495085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3" y="3932238"/>
                        <a:ext cx="814387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6" name="Object 43"/>
          <p:cNvGraphicFramePr>
            <a:graphicFrameLocks noChangeAspect="1"/>
          </p:cNvGraphicFramePr>
          <p:nvPr/>
        </p:nvGraphicFramePr>
        <p:xfrm>
          <a:off x="5105400" y="4573588"/>
          <a:ext cx="9080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20700" imgH="228600" progId="Equation.DSMT4">
                  <p:embed/>
                </p:oleObj>
              </mc:Choice>
              <mc:Fallback>
                <p:oleObj name="Equation" r:id="rId12" imgW="520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573588"/>
                        <a:ext cx="90805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67" name="Line 44"/>
          <p:cNvSpPr>
            <a:spLocks noChangeShapeType="1"/>
          </p:cNvSpPr>
          <p:nvPr/>
        </p:nvSpPr>
        <p:spPr bwMode="auto">
          <a:xfrm>
            <a:off x="5038725" y="4591050"/>
            <a:ext cx="73183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68" name="Line 45"/>
          <p:cNvSpPr>
            <a:spLocks noChangeShapeType="1"/>
          </p:cNvSpPr>
          <p:nvPr/>
        </p:nvSpPr>
        <p:spPr bwMode="auto">
          <a:xfrm rot="16200000" flipV="1">
            <a:off x="4444207" y="4013994"/>
            <a:ext cx="114141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" name="Right Arrow 80"/>
          <p:cNvSpPr/>
          <p:nvPr/>
        </p:nvSpPr>
        <p:spPr>
          <a:xfrm>
            <a:off x="152400" y="2743200"/>
            <a:ext cx="228600" cy="3810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80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" name="Rectangle 11"/>
          <p:cNvSpPr>
            <a:spLocks noChangeArrowheads="1"/>
          </p:cNvSpPr>
          <p:nvPr/>
        </p:nvSpPr>
        <p:spPr bwMode="auto">
          <a:xfrm>
            <a:off x="457200" y="5867400"/>
            <a:ext cx="2292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tabLst>
                <a:tab pos="457200" algn="l"/>
                <a:tab pos="914400" algn="l"/>
                <a:tab pos="1371600" algn="l"/>
                <a:tab pos="1677988" algn="l"/>
              </a:tabLst>
            </a:pPr>
            <a:r>
              <a:rPr lang="en-US" sz="2800">
                <a:solidFill>
                  <a:srgbClr val="CC0EB5"/>
                </a:solidFill>
              </a:rPr>
              <a:t>Tầm cao = y</a:t>
            </a:r>
            <a:r>
              <a:rPr lang="en-US" sz="2800" baseline="-25000">
                <a:solidFill>
                  <a:srgbClr val="CC0EB5"/>
                </a:solidFill>
              </a:rPr>
              <a:t>s</a:t>
            </a:r>
            <a:endParaRPr lang="en-US" sz="2800">
              <a:solidFill>
                <a:srgbClr val="CC0EB5"/>
              </a:solidFill>
            </a:endParaRPr>
          </a:p>
        </p:txBody>
      </p:sp>
      <p:sp>
        <p:nvSpPr>
          <p:cNvPr id="83" name="Rectangle 11"/>
          <p:cNvSpPr>
            <a:spLocks noChangeArrowheads="1"/>
          </p:cNvSpPr>
          <p:nvPr/>
        </p:nvSpPr>
        <p:spPr bwMode="auto">
          <a:xfrm>
            <a:off x="4770438" y="5829300"/>
            <a:ext cx="2292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tabLst>
                <a:tab pos="457200" algn="l"/>
                <a:tab pos="914400" algn="l"/>
                <a:tab pos="1371600" algn="l"/>
                <a:tab pos="1677988" algn="l"/>
              </a:tabLst>
            </a:pPr>
            <a:r>
              <a:rPr lang="en-US" sz="2800">
                <a:solidFill>
                  <a:srgbClr val="FF0000"/>
                </a:solidFill>
              </a:rPr>
              <a:t>Tầm xa = 2x</a:t>
            </a:r>
            <a:r>
              <a:rPr lang="en-US" sz="2800" baseline="-25000">
                <a:solidFill>
                  <a:srgbClr val="FF0000"/>
                </a:solidFill>
              </a:rPr>
              <a:t>s</a:t>
            </a:r>
            <a:endParaRPr lang="en-US" sz="2800">
              <a:solidFill>
                <a:srgbClr val="FF0000"/>
              </a:solidFill>
            </a:endParaRPr>
          </a:p>
        </p:txBody>
      </p:sp>
      <p:sp>
        <p:nvSpPr>
          <p:cNvPr id="85" name="Rounded Rectangle 84"/>
          <p:cNvSpPr>
            <a:spLocks noChangeArrowheads="1"/>
          </p:cNvSpPr>
          <p:nvPr/>
        </p:nvSpPr>
        <p:spPr bwMode="auto">
          <a:xfrm>
            <a:off x="380999" y="5486400"/>
            <a:ext cx="4051697" cy="121920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ffectLst>
            <a:glow rad="139700">
              <a:schemeClr val="accent2">
                <a:satMod val="175000"/>
                <a:alpha val="40000"/>
              </a:schemeClr>
            </a:glow>
            <a:outerShdw dist="38100" algn="l" rotWithShape="0">
              <a:srgbClr val="000000">
                <a:alpha val="39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vi-VN">
              <a:solidFill>
                <a:schemeClr val="l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Rounded Rectangle 85"/>
          <p:cNvSpPr>
            <a:spLocks noChangeArrowheads="1"/>
          </p:cNvSpPr>
          <p:nvPr/>
        </p:nvSpPr>
        <p:spPr bwMode="auto">
          <a:xfrm>
            <a:off x="4724400" y="5451395"/>
            <a:ext cx="4267200" cy="1254205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90F828"/>
            </a:solidFill>
            <a:round/>
            <a:headEnd/>
            <a:tailEnd/>
          </a:ln>
          <a:effectLst>
            <a:glow rad="139700">
              <a:schemeClr val="accent2">
                <a:satMod val="175000"/>
                <a:alpha val="40000"/>
              </a:schemeClr>
            </a:glow>
            <a:outerShdw dist="38100" algn="l" rotWithShape="0">
              <a:srgbClr val="00B050">
                <a:alpha val="4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vi-VN">
              <a:solidFill>
                <a:schemeClr val="l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Left Arrow 49">
            <a:hlinkClick r:id="" action="ppaction://noaction"/>
          </p:cNvPr>
          <p:cNvSpPr/>
          <p:nvPr/>
        </p:nvSpPr>
        <p:spPr>
          <a:xfrm>
            <a:off x="8839200" y="0"/>
            <a:ext cx="228600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51" name="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755635" y="5753484"/>
            <a:ext cx="1677062" cy="903452"/>
          </a:xfrm>
          <a:prstGeom prst="rect">
            <a:avLst/>
          </a:prstGeom>
          <a:blipFill rotWithShape="1">
            <a:blip r:embed="rId14"/>
            <a:stretch>
              <a:fillRect l="-9091" b="-3378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2" name="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962633" y="5644274"/>
            <a:ext cx="1728358" cy="903452"/>
          </a:xfrm>
          <a:prstGeom prst="rect">
            <a:avLst/>
          </a:prstGeom>
          <a:blipFill rotWithShape="1">
            <a:blip r:embed="rId15"/>
            <a:stretch>
              <a:fillRect l="-8803" b="-3378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3" name="Rectangle 11"/>
          <p:cNvSpPr>
            <a:spLocks noChangeArrowheads="1"/>
          </p:cNvSpPr>
          <p:nvPr/>
        </p:nvSpPr>
        <p:spPr bwMode="auto">
          <a:xfrm>
            <a:off x="668338" y="1768475"/>
            <a:ext cx="37639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tabLst>
                <a:tab pos="457200" algn="l"/>
                <a:tab pos="914400" algn="l"/>
                <a:tab pos="1371600" algn="l"/>
                <a:tab pos="1677988" algn="l"/>
              </a:tabLst>
            </a:pPr>
            <a:r>
              <a:rPr lang="en-US" sz="3200" b="1" i="1" dirty="0"/>
              <a:t>v</a:t>
            </a:r>
            <a:r>
              <a:rPr lang="en-US" sz="2000" b="1" i="1" dirty="0"/>
              <a:t>y</a:t>
            </a:r>
            <a:r>
              <a:rPr lang="en-US" sz="3200" b="1" i="1" dirty="0"/>
              <a:t> = v</a:t>
            </a:r>
            <a:r>
              <a:rPr lang="en-US" sz="2000" b="1" i="1" dirty="0"/>
              <a:t>0</a:t>
            </a:r>
            <a:r>
              <a:rPr lang="en-US" sz="3200" b="1" i="1" dirty="0"/>
              <a:t>sin</a:t>
            </a:r>
            <a:r>
              <a:rPr lang="el-GR" sz="3200" b="1" i="1" dirty="0"/>
              <a:t>α</a:t>
            </a:r>
            <a:r>
              <a:rPr lang="en-US" sz="3200" b="1" i="1" dirty="0"/>
              <a:t> – gt = 0</a:t>
            </a:r>
          </a:p>
        </p:txBody>
      </p:sp>
      <p:sp>
        <p:nvSpPr>
          <p:cNvPr id="54" name="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753269" y="2445664"/>
            <a:ext cx="1709122" cy="868123"/>
          </a:xfrm>
          <a:prstGeom prst="rect">
            <a:avLst/>
          </a:prstGeom>
          <a:blipFill rotWithShape="1">
            <a:blip r:embed="rId16"/>
            <a:stretch>
              <a:fillRect l="-9286" b="-2098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49" name="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049337" y="3460750"/>
            <a:ext cx="3311526" cy="1757148"/>
          </a:xfrm>
          <a:prstGeom prst="rect">
            <a:avLst/>
          </a:prstGeom>
          <a:blipFill rotWithShape="1">
            <a:blip r:embed="rId17"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5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334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Chuyển động ném xiên</a:t>
            </a:r>
            <a:endParaRPr lang="en-US" sz="32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1B44BD6-226D-8BCA-EF50-9D8155543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107D06-A3DC-8E11-8AC3-B44D928E6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63009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1000"/>
                                        <p:tgtEl>
                                          <p:spTgt spid="1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1" dur="1000"/>
                                        <p:tgtEl>
                                          <p:spTgt spid="19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5" dur="1000"/>
                                        <p:tgtEl>
                                          <p:spTgt spid="19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9" dur="1000"/>
                                        <p:tgtEl>
                                          <p:spTgt spid="19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3" dur="1000"/>
                                        <p:tgtEl>
                                          <p:spTgt spid="19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7" dur="1000"/>
                                        <p:tgtEl>
                                          <p:spTgt spid="19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9493" grpId="0"/>
      <p:bldP spid="19495" grpId="0"/>
      <p:bldP spid="19496" grpId="0" animBg="1"/>
      <p:bldP spid="19500" grpId="0" animBg="1"/>
      <p:bldP spid="19501" grpId="0" animBg="1"/>
      <p:bldP spid="19502" grpId="0"/>
      <p:bldP spid="81" grpId="0" animBg="1"/>
      <p:bldP spid="82" grpId="0"/>
      <p:bldP spid="83" grpId="0"/>
      <p:bldP spid="5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257800"/>
              </a:xfrm>
            </p:spPr>
            <p:txBody>
              <a:bodyPr/>
              <a:lstStyle/>
              <a:p>
                <a:r>
                  <a:rPr lang="el-GR" dirty="0"/>
                  <a:t>α</a:t>
                </a:r>
                <a:r>
                  <a:rPr lang="en-US" dirty="0"/>
                  <a:t> = 45°: vật rời xa nhất L</a:t>
                </a:r>
                <a:r>
                  <a:rPr lang="en-US" sz="1400" dirty="0"/>
                  <a:t>max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  <m:r>
                          <a:rPr lang="en-US" b="0" i="1" smtClean="0">
                            <a:latin typeface="Cambria Math"/>
                          </a:rPr>
                          <m:t>0²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𝑔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l-GR" dirty="0"/>
                  <a:t>α</a:t>
                </a:r>
                <a:r>
                  <a:rPr lang="en-US" dirty="0"/>
                  <a:t> = 0°: chuyển động ném ngang</a:t>
                </a:r>
              </a:p>
              <a:p>
                <a:pPr marL="0" indent="0">
                  <a:buNone/>
                </a:pPr>
                <a:r>
                  <a:rPr lang="en-US" dirty="0"/>
                  <a:t>	PTQĐ: 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/>
                          </a:rPr>
                          <m:t>²</m:t>
                        </m:r>
                      </m:num>
                      <m:den>
                        <m:r>
                          <a:rPr lang="en-US" b="0" i="1" dirty="0" smtClean="0">
                            <a:latin typeface="Cambria Math"/>
                          </a:rPr>
                          <m:t>𝑣</m:t>
                        </m:r>
                        <m:r>
                          <a:rPr lang="en-US" b="0" i="1" dirty="0" smtClean="0">
                            <a:latin typeface="Cambria Math"/>
                          </a:rPr>
                          <m:t>0²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Vận tốc: v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/>
                          </a:rPr>
                          <m:t>𝑣𝑜</m:t>
                        </m:r>
                        <m:r>
                          <a:rPr lang="en-US" b="0" i="1" smtClean="0">
                            <a:latin typeface="Cambria Math"/>
                          </a:rPr>
                          <m:t>²+(</m:t>
                        </m:r>
                        <m:r>
                          <a:rPr lang="en-US" b="0" i="1" smtClean="0">
                            <a:latin typeface="Cambria Math"/>
                          </a:rPr>
                          <m:t>𝑔𝑇</m:t>
                        </m:r>
                        <m:r>
                          <a:rPr lang="en-US" b="0" i="1" smtClean="0">
                            <a:latin typeface="Cambria Math"/>
                          </a:rPr>
                          <m:t>)²</m:t>
                        </m:r>
                      </m:e>
                    </m:rad>
                  </m:oMath>
                </a14:m>
                <a:endParaRPr lang="en-US" dirty="0"/>
              </a:p>
              <a:p>
                <a:r>
                  <a:rPr lang="el-GR" dirty="0"/>
                  <a:t>α</a:t>
                </a:r>
                <a:r>
                  <a:rPr lang="en-US" dirty="0"/>
                  <a:t> = 90°: chuyển động ném đứng</a:t>
                </a:r>
              </a:p>
              <a:p>
                <a:pPr marL="0" indent="0">
                  <a:buNone/>
                </a:pPr>
                <a:r>
                  <a:rPr lang="en-US" dirty="0"/>
                  <a:t>	Gia tốc a = -g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  <a:ea typeface="Cambria Math"/>
                      </a:rPr>
                      <m:t>↑↓</m:t>
                    </m:r>
                    <m:acc>
                      <m:accPr>
                        <m:chr m:val="⃗"/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/>
                            <a:ea typeface="Cambria Math"/>
                          </a:rPr>
                          <m:t>𝑣</m:t>
                        </m:r>
                      </m:e>
                    </m:acc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cao</a:t>
                </a:r>
                <a:r>
                  <a:rPr lang="en-US" dirty="0"/>
                  <a:t> </a:t>
                </a:r>
                <a:r>
                  <a:rPr lang="en-US" dirty="0" err="1"/>
                  <a:t>cực</a:t>
                </a:r>
                <a:r>
                  <a:rPr lang="en-US" dirty="0"/>
                  <a:t> </a:t>
                </a:r>
                <a:r>
                  <a:rPr lang="en-US" dirty="0" err="1"/>
                  <a:t>đại</a:t>
                </a:r>
                <a:r>
                  <a:rPr lang="en-US" dirty="0"/>
                  <a:t>: H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  <m:r>
                          <a:rPr lang="en-US" b="0" i="1" smtClean="0">
                            <a:latin typeface="Cambria Math"/>
                          </a:rPr>
                          <m:t>²˳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  <m:r>
                          <a:rPr lang="en-US" b="0" i="1" smtClean="0">
                            <a:latin typeface="Cambria Math"/>
                          </a:rPr>
                          <m:t>𝑔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257800"/>
              </a:xfrm>
              <a:blipFill rotWithShape="1">
                <a:blip r:embed="rId2"/>
                <a:stretch>
                  <a:fillRect l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334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Chuyển động ném xiên</a:t>
            </a:r>
            <a:endParaRPr lang="en-US" sz="3200" dirty="0"/>
          </a:p>
        </p:txBody>
      </p:sp>
      <p:sp>
        <p:nvSpPr>
          <p:cNvPr id="2" name="Right Arrow 1">
            <a:hlinkClick r:id="rId3" action="ppaction://hlinksldjump"/>
          </p:cNvPr>
          <p:cNvSpPr/>
          <p:nvPr/>
        </p:nvSpPr>
        <p:spPr>
          <a:xfrm>
            <a:off x="6477000" y="179984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6B3049-16F7-CF09-820F-4F390E37F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332FF-B4CE-9C81-4CDE-679FE0E00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8629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95800" y="1100138"/>
            <a:ext cx="4670425" cy="4268787"/>
          </a:xfrm>
        </p:spPr>
      </p:pic>
      <p:sp>
        <p:nvSpPr>
          <p:cNvPr id="67587" name="Rectangle 12"/>
          <p:cNvSpPr>
            <a:spLocks noChangeArrowheads="1"/>
          </p:cNvSpPr>
          <p:nvPr/>
        </p:nvSpPr>
        <p:spPr bwMode="auto">
          <a:xfrm>
            <a:off x="815975" y="576263"/>
            <a:ext cx="4038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sz="2800" b="1">
                <a:solidFill>
                  <a:srgbClr val="7030A0"/>
                </a:solidFill>
                <a:latin typeface="Times New Roman" pitchFamily="18" charset="0"/>
              </a:rPr>
              <a:t>Chuyển động ném ngang</a:t>
            </a:r>
            <a:endParaRPr lang="en-US" sz="2800" b="1">
              <a:solidFill>
                <a:srgbClr val="7030A0"/>
              </a:solidFill>
            </a:endParaRPr>
          </a:p>
        </p:txBody>
      </p:sp>
      <p:sp>
        <p:nvSpPr>
          <p:cNvPr id="5" name="Sun 4"/>
          <p:cNvSpPr/>
          <p:nvPr/>
        </p:nvSpPr>
        <p:spPr>
          <a:xfrm>
            <a:off x="257175" y="642938"/>
            <a:ext cx="457200" cy="457200"/>
          </a:xfrm>
          <a:prstGeom prst="sun">
            <a:avLst/>
          </a:prstGeom>
          <a:solidFill>
            <a:srgbClr val="002060"/>
          </a:solidFill>
          <a:ln>
            <a:solidFill>
              <a:srgbClr val="90F8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85774" y="1371600"/>
            <a:ext cx="3857625" cy="518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 i="1" u="sng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Ví</a:t>
            </a:r>
            <a:r>
              <a:rPr lang="en-US" sz="2400" i="1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u="sng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dụ</a:t>
            </a:r>
            <a:r>
              <a:rPr lang="en-US" sz="2400" i="1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cái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phi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phương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ngang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đen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bia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tốc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10m/s.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0,19s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mũi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tên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cắm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Q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phương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thẳng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đứng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Hỏi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đoạn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PQ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bao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nhiêu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?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phi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đứng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bia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bao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xa?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ti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êu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val Callout 2"/>
          <p:cNvSpPr/>
          <p:nvPr/>
        </p:nvSpPr>
        <p:spPr>
          <a:xfrm>
            <a:off x="1219200" y="5257800"/>
            <a:ext cx="2667000" cy="1069848"/>
          </a:xfrm>
          <a:prstGeom prst="wedgeEllipse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PQ = 176mm</a:t>
            </a:r>
          </a:p>
          <a:p>
            <a:pPr algn="ctr"/>
            <a:r>
              <a:rPr lang="en-US" b="1" i="1" dirty="0">
                <a:solidFill>
                  <a:schemeClr val="tx1"/>
                </a:solidFill>
              </a:rPr>
              <a:t>x = 1,9m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733800" y="4572000"/>
                <a:ext cx="2981325" cy="198120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 = v0.t</a:t>
                </a:r>
              </a:p>
              <a:p>
                <a:pPr algn="ctr"/>
                <a:r>
                  <a:rPr lang="en-US" dirty="0"/>
                  <a:t>Y = 1/2g.t²</a:t>
                </a:r>
              </a:p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Y = ½.g.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²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𝒗𝒐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²</m:t>
                        </m:r>
                      </m:den>
                    </m:f>
                  </m:oMath>
                </a14:m>
                <a:endParaRPr lang="en-US" b="1" dirty="0"/>
              </a:p>
              <a:p>
                <a:pPr algn="ctr"/>
                <a:r>
                  <a:rPr lang="en-US" dirty="0"/>
                  <a:t>V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𝑣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²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sub>
                          <m:sup/>
                        </m:sSubSup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𝑣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²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𝑦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dirty="0"/>
                  <a:t>  </a:t>
                </a:r>
              </a:p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V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b="1" dirty="0">
                            <a:solidFill>
                              <a:srgbClr val="FF0000"/>
                            </a:solidFill>
                          </a:rPr>
                          <m:t>v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²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rgbClr val="FF0000"/>
                            </a:solidFill>
                          </a:rPr>
                          <m:t>0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+(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𝒈𝒕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)²</m:t>
                        </m:r>
                      </m:e>
                    </m:rad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4572000"/>
                <a:ext cx="2981325" cy="1981200"/>
              </a:xfrm>
              <a:prstGeom prst="rect">
                <a:avLst/>
              </a:prstGeom>
              <a:blipFill rotWithShape="1">
                <a:blip r:embed="rId3"/>
                <a:stretch>
                  <a:fillRect t="-304" b="-3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54B57-2724-6215-DF28-4EC5BBD4F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D3D35-4F91-8698-E75E-DDDA817A9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77907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4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 marL="0" indent="0">
              <a:buFont typeface="Arial" charset="0"/>
              <a:buNone/>
              <a:defRPr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đất</a:t>
            </a:r>
            <a:r>
              <a:rPr lang="en-US" dirty="0"/>
              <a:t>,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đạn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bắn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v</a:t>
            </a:r>
            <a:r>
              <a:rPr lang="en-US" baseline="-25000" dirty="0"/>
              <a:t>0</a:t>
            </a:r>
            <a:r>
              <a:rPr lang="en-US" dirty="0"/>
              <a:t> = 150 m/s, </a:t>
            </a:r>
            <a:r>
              <a:rPr lang="en-US" dirty="0" err="1"/>
              <a:t>nghiêng</a:t>
            </a:r>
            <a:r>
              <a:rPr lang="en-US" dirty="0"/>
              <a:t> 30</a:t>
            </a:r>
            <a:r>
              <a:rPr lang="en-US" baseline="30000" dirty="0"/>
              <a:t>0</a:t>
            </a:r>
            <a:r>
              <a:rPr lang="en-US" dirty="0"/>
              <a:t>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đất</a:t>
            </a:r>
            <a:r>
              <a:rPr lang="en-US" dirty="0"/>
              <a:t>. </a:t>
            </a:r>
            <a:r>
              <a:rPr lang="en-US" dirty="0" err="1"/>
              <a:t>Bỏ</a:t>
            </a:r>
            <a:r>
              <a:rPr lang="en-US" dirty="0"/>
              <a:t> qua </a:t>
            </a:r>
            <a:r>
              <a:rPr lang="en-US" dirty="0" err="1"/>
              <a:t>sức</a:t>
            </a:r>
            <a:r>
              <a:rPr lang="en-US" dirty="0"/>
              <a:t> </a:t>
            </a:r>
            <a:r>
              <a:rPr lang="en-US" dirty="0" err="1"/>
              <a:t>cản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khí</a:t>
            </a:r>
            <a:r>
              <a:rPr lang="en-US" dirty="0"/>
              <a:t>, </a:t>
            </a:r>
            <a:r>
              <a:rPr lang="en-US" dirty="0" err="1"/>
              <a:t>lấy</a:t>
            </a:r>
            <a:r>
              <a:rPr lang="en-US" dirty="0"/>
              <a:t> g = 10 m/s</a:t>
            </a:r>
            <a:r>
              <a:rPr lang="en-US" baseline="30000" dirty="0"/>
              <a:t>2</a:t>
            </a:r>
            <a:r>
              <a:rPr lang="en-US" dirty="0"/>
              <a:t>.</a:t>
            </a:r>
          </a:p>
          <a:p>
            <a:pPr>
              <a:defRPr/>
            </a:pPr>
            <a:r>
              <a:rPr lang="en-US" dirty="0"/>
              <a:t>A.	</a:t>
            </a:r>
            <a:r>
              <a:rPr lang="en-US" dirty="0" err="1"/>
              <a:t>Tầm</a:t>
            </a:r>
            <a:r>
              <a:rPr lang="en-US" dirty="0"/>
              <a:t> </a:t>
            </a:r>
            <a:r>
              <a:rPr lang="en-US" dirty="0" err="1"/>
              <a:t>xa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đạn</a:t>
            </a:r>
            <a:r>
              <a:rPr lang="en-US" dirty="0"/>
              <a:t>: 19,485 km.</a:t>
            </a:r>
          </a:p>
          <a:p>
            <a:pPr>
              <a:defRPr/>
            </a:pPr>
            <a:r>
              <a:rPr lang="en-US" dirty="0"/>
              <a:t>B.	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đạn</a:t>
            </a:r>
            <a:r>
              <a:rPr lang="en-US" dirty="0"/>
              <a:t>: 281,25 m.</a:t>
            </a:r>
          </a:p>
          <a:p>
            <a:pPr>
              <a:defRPr/>
            </a:pPr>
            <a:r>
              <a:rPr lang="en-US" dirty="0"/>
              <a:t>C.	</a:t>
            </a:r>
            <a:r>
              <a:rPr lang="en-US" dirty="0" err="1"/>
              <a:t>Tầm</a:t>
            </a:r>
            <a:r>
              <a:rPr lang="en-US" dirty="0"/>
              <a:t> </a:t>
            </a:r>
            <a:r>
              <a:rPr lang="en-US" dirty="0" err="1"/>
              <a:t>xa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đạn</a:t>
            </a:r>
            <a:r>
              <a:rPr lang="en-US" dirty="0"/>
              <a:t>: 1900 m.</a:t>
            </a:r>
          </a:p>
          <a:p>
            <a:pPr>
              <a:defRPr/>
            </a:pPr>
            <a:r>
              <a:rPr lang="en-US" dirty="0"/>
              <a:t>D.	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đạn</a:t>
            </a:r>
            <a:r>
              <a:rPr lang="en-US" dirty="0"/>
              <a:t>: 500 m.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526C97-9010-6286-55D1-ABB6CD9B0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85908-8789-F927-DDB5-A3A148F53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576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 marL="0" indent="0">
              <a:buFont typeface="Arial" charset="0"/>
              <a:buNone/>
              <a:defRPr/>
            </a:pP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ném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thẳng</a:t>
            </a:r>
            <a:r>
              <a:rPr lang="en-US" dirty="0"/>
              <a:t> </a:t>
            </a:r>
            <a:r>
              <a:rPr lang="en-US" dirty="0" err="1"/>
              <a:t>đứng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đất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19,5 m/s.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: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dirty="0"/>
              <a:t>A.	38,8 m</a:t>
            </a:r>
          </a:p>
          <a:p>
            <a:pPr marL="0" indent="0">
              <a:buFont typeface="Arial" charset="0"/>
              <a:buNone/>
              <a:defRPr/>
            </a:pPr>
            <a:r>
              <a:rPr lang="en-US" dirty="0"/>
              <a:t>B.	9,8 m</a:t>
            </a:r>
          </a:p>
          <a:p>
            <a:pPr marL="0" indent="0">
              <a:buFont typeface="Arial" charset="0"/>
              <a:buNone/>
              <a:defRPr/>
            </a:pPr>
            <a:r>
              <a:rPr lang="en-US" dirty="0"/>
              <a:t>C.	4,9 m</a:t>
            </a:r>
          </a:p>
          <a:p>
            <a:pPr marL="0" indent="0">
              <a:buFont typeface="Arial" charset="0"/>
              <a:buNone/>
              <a:defRPr/>
            </a:pPr>
            <a:r>
              <a:rPr lang="en-US" dirty="0"/>
              <a:t>D.	19,4 m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FBFD62-9721-9125-E6AD-6879505AB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BBE3C-BC3F-CAFB-A635-95C57CBCA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62858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endParaRPr lang="en-US" dirty="0"/>
          </a:p>
          <a:p>
            <a:pPr marL="0" indent="0">
              <a:buFont typeface="Arial" charset="0"/>
              <a:buNone/>
            </a:pPr>
            <a:endParaRPr lang="en-US" sz="3600" dirty="0"/>
          </a:p>
          <a:p>
            <a:pPr marL="0" indent="0">
              <a:buFont typeface="Arial" charset="0"/>
              <a:buNone/>
            </a:pPr>
            <a:r>
              <a:rPr lang="en-US" sz="3600" dirty="0" err="1"/>
              <a:t>Một</a:t>
            </a:r>
            <a:r>
              <a:rPr lang="en-US" sz="3600" dirty="0"/>
              <a:t> </a:t>
            </a:r>
            <a:r>
              <a:rPr lang="en-US" sz="3600" dirty="0" err="1"/>
              <a:t>người</a:t>
            </a:r>
            <a:r>
              <a:rPr lang="en-US" sz="3600" dirty="0"/>
              <a:t> </a:t>
            </a:r>
            <a:r>
              <a:rPr lang="en-US" sz="3600" dirty="0" err="1"/>
              <a:t>giao</a:t>
            </a:r>
            <a:r>
              <a:rPr lang="en-US" sz="3600" dirty="0"/>
              <a:t> </a:t>
            </a:r>
            <a:r>
              <a:rPr lang="en-US" sz="3600" dirty="0" err="1"/>
              <a:t>bóng</a:t>
            </a:r>
            <a:r>
              <a:rPr lang="en-US" sz="3600" dirty="0"/>
              <a:t> </a:t>
            </a:r>
            <a:r>
              <a:rPr lang="en-US" sz="3600" dirty="0" err="1"/>
              <a:t>chày</a:t>
            </a:r>
            <a:r>
              <a:rPr lang="en-US" sz="3600" dirty="0"/>
              <a:t> tung </a:t>
            </a:r>
            <a:r>
              <a:rPr lang="en-US" sz="3600" dirty="0" err="1"/>
              <a:t>quả</a:t>
            </a:r>
            <a:r>
              <a:rPr lang="en-US" sz="3600" dirty="0"/>
              <a:t> </a:t>
            </a:r>
            <a:r>
              <a:rPr lang="en-US" sz="3600" dirty="0" err="1"/>
              <a:t>bóng</a:t>
            </a:r>
            <a:r>
              <a:rPr lang="en-US" sz="3600" dirty="0"/>
              <a:t> </a:t>
            </a:r>
            <a:r>
              <a:rPr lang="en-US" sz="3600" dirty="0" err="1"/>
              <a:t>lên</a:t>
            </a:r>
            <a:r>
              <a:rPr lang="en-US" sz="3600" dirty="0"/>
              <a:t> </a:t>
            </a:r>
            <a:r>
              <a:rPr lang="en-US" sz="3600" dirty="0" err="1"/>
              <a:t>theo</a:t>
            </a:r>
            <a:r>
              <a:rPr lang="en-US" sz="3600" dirty="0"/>
              <a:t> </a:t>
            </a:r>
            <a:r>
              <a:rPr lang="en-US" sz="3600" dirty="0" err="1"/>
              <a:t>phương</a:t>
            </a:r>
            <a:r>
              <a:rPr lang="en-US" sz="3600" dirty="0"/>
              <a:t> </a:t>
            </a:r>
            <a:r>
              <a:rPr lang="en-US" sz="3600" dirty="0" err="1"/>
              <a:t>thẳng</a:t>
            </a:r>
            <a:r>
              <a:rPr lang="en-US" sz="3600" dirty="0"/>
              <a:t> </a:t>
            </a:r>
            <a:r>
              <a:rPr lang="en-US" sz="3600" dirty="0" err="1"/>
              <a:t>đứng</a:t>
            </a:r>
            <a:r>
              <a:rPr lang="en-US" sz="3600" dirty="0"/>
              <a:t> </a:t>
            </a:r>
            <a:r>
              <a:rPr lang="en-US" sz="3600" dirty="0" err="1"/>
              <a:t>với</a:t>
            </a:r>
            <a:r>
              <a:rPr lang="en-US" sz="3600" dirty="0"/>
              <a:t> </a:t>
            </a:r>
            <a:r>
              <a:rPr lang="en-US" sz="3600" dirty="0" err="1"/>
              <a:t>vận</a:t>
            </a:r>
            <a:r>
              <a:rPr lang="en-US" sz="3600" dirty="0"/>
              <a:t> </a:t>
            </a:r>
            <a:r>
              <a:rPr lang="en-US" sz="3600" dirty="0" err="1"/>
              <a:t>tốc</a:t>
            </a:r>
            <a:r>
              <a:rPr lang="en-US" sz="3600" dirty="0"/>
              <a:t> </a:t>
            </a:r>
            <a:r>
              <a:rPr lang="en-US" sz="3600" dirty="0" err="1"/>
              <a:t>đầu</a:t>
            </a:r>
            <a:r>
              <a:rPr lang="en-US" sz="3600" dirty="0"/>
              <a:t> 12m/s. </a:t>
            </a:r>
            <a:r>
              <a:rPr lang="en-US" sz="3600" dirty="0" err="1"/>
              <a:t>Hỏi</a:t>
            </a:r>
            <a:r>
              <a:rPr lang="en-US" sz="3600" dirty="0"/>
              <a:t> </a:t>
            </a:r>
            <a:r>
              <a:rPr lang="en-US" sz="3600" dirty="0" err="1"/>
              <a:t>sau</a:t>
            </a:r>
            <a:r>
              <a:rPr lang="en-US" sz="3600" dirty="0"/>
              <a:t> bao </a:t>
            </a:r>
            <a:r>
              <a:rPr lang="en-US" sz="3600" dirty="0" err="1"/>
              <a:t>lâu</a:t>
            </a:r>
            <a:r>
              <a:rPr lang="en-US" sz="3600" dirty="0"/>
              <a:t> </a:t>
            </a:r>
            <a:r>
              <a:rPr lang="en-US" sz="3600" dirty="0" err="1"/>
              <a:t>quả</a:t>
            </a:r>
            <a:r>
              <a:rPr lang="en-US" sz="3600" dirty="0"/>
              <a:t> </a:t>
            </a:r>
            <a:r>
              <a:rPr lang="en-US" sz="3600" dirty="0" err="1"/>
              <a:t>bóng</a:t>
            </a:r>
            <a:r>
              <a:rPr lang="en-US" sz="3600" dirty="0"/>
              <a:t> </a:t>
            </a:r>
            <a:r>
              <a:rPr lang="en-US" sz="3600" dirty="0" err="1"/>
              <a:t>tới</a:t>
            </a:r>
            <a:r>
              <a:rPr lang="en-US" sz="3600" dirty="0"/>
              <a:t> </a:t>
            </a:r>
            <a:r>
              <a:rPr lang="en-US" sz="3600" dirty="0" err="1"/>
              <a:t>điểm</a:t>
            </a:r>
            <a:r>
              <a:rPr lang="en-US" sz="3600" dirty="0"/>
              <a:t> </a:t>
            </a:r>
            <a:r>
              <a:rPr lang="en-US" sz="3600" dirty="0" err="1"/>
              <a:t>cao</a:t>
            </a:r>
            <a:r>
              <a:rPr lang="en-US" sz="3600" dirty="0"/>
              <a:t> </a:t>
            </a:r>
            <a:r>
              <a:rPr lang="en-US" sz="3600" dirty="0" err="1"/>
              <a:t>nhất</a:t>
            </a:r>
            <a:r>
              <a:rPr lang="en-US" sz="3600" dirty="0"/>
              <a:t>. </a:t>
            </a:r>
            <a:r>
              <a:rPr lang="en-US" sz="3600" dirty="0" err="1"/>
              <a:t>Qủa</a:t>
            </a:r>
            <a:r>
              <a:rPr lang="en-US" sz="3600" dirty="0"/>
              <a:t> </a:t>
            </a:r>
            <a:r>
              <a:rPr lang="en-US" sz="3600" dirty="0" err="1"/>
              <a:t>bóng</a:t>
            </a:r>
            <a:r>
              <a:rPr lang="en-US" sz="3600" dirty="0"/>
              <a:t> </a:t>
            </a:r>
            <a:r>
              <a:rPr lang="en-US" sz="3600" dirty="0" err="1"/>
              <a:t>lên</a:t>
            </a:r>
            <a:r>
              <a:rPr lang="en-US" sz="3600" dirty="0"/>
              <a:t> </a:t>
            </a:r>
            <a:r>
              <a:rPr lang="en-US" sz="3600" dirty="0" err="1"/>
              <a:t>cao</a:t>
            </a:r>
            <a:r>
              <a:rPr lang="en-US" sz="3600" dirty="0"/>
              <a:t> </a:t>
            </a:r>
            <a:r>
              <a:rPr lang="en-US" sz="3600" dirty="0" err="1"/>
              <a:t>được</a:t>
            </a:r>
            <a:r>
              <a:rPr lang="en-US" sz="3600" dirty="0"/>
              <a:t> bao </a:t>
            </a:r>
            <a:r>
              <a:rPr lang="en-US" sz="3600" dirty="0" err="1"/>
              <a:t>nhiêu</a:t>
            </a:r>
            <a:r>
              <a:rPr lang="en-US" sz="3600" dirty="0"/>
              <a:t> so </a:t>
            </a:r>
            <a:r>
              <a:rPr lang="en-US" sz="3600" dirty="0" err="1"/>
              <a:t>với</a:t>
            </a:r>
            <a:r>
              <a:rPr lang="en-US" sz="3600" dirty="0"/>
              <a:t> </a:t>
            </a:r>
            <a:r>
              <a:rPr lang="en-US" sz="3600" dirty="0" err="1"/>
              <a:t>điểm</a:t>
            </a:r>
            <a:r>
              <a:rPr lang="en-US" sz="3600" dirty="0"/>
              <a:t> </a:t>
            </a:r>
            <a:r>
              <a:rPr lang="en-US" sz="3600" dirty="0" err="1"/>
              <a:t>ném</a:t>
            </a:r>
            <a:r>
              <a:rPr lang="en-US" sz="3600" dirty="0"/>
              <a:t>?</a:t>
            </a:r>
          </a:p>
          <a:p>
            <a:pPr marL="0" indent="0">
              <a:buFont typeface="Arial" charset="0"/>
              <a:buNone/>
            </a:pP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838200" y="4495800"/>
                <a:ext cx="7620000" cy="190500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H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𝑣𝑜</m:t>
                        </m:r>
                        <m:r>
                          <a:rPr lang="en-US" b="0" i="1" smtClean="0">
                            <a:latin typeface="Cambria Math"/>
                          </a:rPr>
                          <m:t>²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  <m:r>
                          <a:rPr lang="en-US" b="0" i="1" smtClean="0">
                            <a:latin typeface="Cambria Math"/>
                          </a:rPr>
                          <m:t>𝑔</m:t>
                        </m:r>
                      </m:den>
                    </m:f>
                  </m:oMath>
                </a14:m>
                <a:r>
                  <a:rPr lang="en-US" dirty="0"/>
                  <a:t> = 7,34 m</a:t>
                </a:r>
              </a:p>
              <a:p>
                <a:pPr algn="ctr"/>
                <a:r>
                  <a:rPr lang="en-US" dirty="0"/>
                  <a:t>H = 1/2gt², t = 1,22 s</a:t>
                </a:r>
              </a:p>
              <a:p>
                <a:pPr algn="ctr"/>
                <a:r>
                  <a:rPr lang="en-US" dirty="0"/>
                  <a:t>v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+at, 0 = 12 – </a:t>
                </a:r>
                <a:r>
                  <a:rPr lang="en-US" dirty="0" err="1"/>
                  <a:t>gt</a:t>
                </a:r>
                <a:r>
                  <a:rPr lang="en-US" dirty="0"/>
                  <a:t>, t = 1,22 s</a:t>
                </a:r>
              </a:p>
              <a:p>
                <a:pPr algn="ctr"/>
                <a:r>
                  <a:rPr lang="en-US" dirty="0"/>
                  <a:t>S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+1/2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= 12.1,22 – ½.9,8.1,22² = 7,34 m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95800"/>
                <a:ext cx="7620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B6871-549B-6E71-A585-B2BCCF22E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Bùi Quốc Trung - VLDC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4F3FD-9E72-9A4B-67C0-9A125A610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0536C0-DC65-42B8-96CE-EDB477041144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29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/>
          <p:cNvSpPr/>
          <p:nvPr/>
        </p:nvSpPr>
        <p:spPr>
          <a:xfrm rot="1546346">
            <a:off x="5432425" y="1995488"/>
            <a:ext cx="3652838" cy="1106487"/>
          </a:xfrm>
          <a:custGeom>
            <a:avLst/>
            <a:gdLst>
              <a:gd name="connsiteX0" fmla="*/ 0 w 4305905"/>
              <a:gd name="connsiteY0" fmla="*/ 1843315 h 1843315"/>
              <a:gd name="connsiteX1" fmla="*/ 1059543 w 4305905"/>
              <a:gd name="connsiteY1" fmla="*/ 972457 h 1843315"/>
              <a:gd name="connsiteX2" fmla="*/ 2830286 w 4305905"/>
              <a:gd name="connsiteY2" fmla="*/ 1277257 h 1843315"/>
              <a:gd name="connsiteX3" fmla="*/ 4064000 w 4305905"/>
              <a:gd name="connsiteY3" fmla="*/ 304800 h 1843315"/>
              <a:gd name="connsiteX4" fmla="*/ 4281714 w 4305905"/>
              <a:gd name="connsiteY4" fmla="*/ 0 h 1843315"/>
              <a:gd name="connsiteX0" fmla="*/ 0 w 4064000"/>
              <a:gd name="connsiteY0" fmla="*/ 1538515 h 1538515"/>
              <a:gd name="connsiteX1" fmla="*/ 1059543 w 4064000"/>
              <a:gd name="connsiteY1" fmla="*/ 667657 h 1538515"/>
              <a:gd name="connsiteX2" fmla="*/ 2830286 w 4064000"/>
              <a:gd name="connsiteY2" fmla="*/ 972457 h 1538515"/>
              <a:gd name="connsiteX3" fmla="*/ 4064000 w 4064000"/>
              <a:gd name="connsiteY3" fmla="*/ 0 h 1538515"/>
              <a:gd name="connsiteX0" fmla="*/ 0 w 4064000"/>
              <a:gd name="connsiteY0" fmla="*/ 1538515 h 1538515"/>
              <a:gd name="connsiteX1" fmla="*/ 1059543 w 4064000"/>
              <a:gd name="connsiteY1" fmla="*/ 667657 h 1538515"/>
              <a:gd name="connsiteX2" fmla="*/ 2830286 w 4064000"/>
              <a:gd name="connsiteY2" fmla="*/ 972457 h 1538515"/>
              <a:gd name="connsiteX3" fmla="*/ 3652444 w 4064000"/>
              <a:gd name="connsiteY3" fmla="*/ 432803 h 1538515"/>
              <a:gd name="connsiteX4" fmla="*/ 4064000 w 4064000"/>
              <a:gd name="connsiteY4" fmla="*/ 0 h 1538515"/>
              <a:gd name="connsiteX0" fmla="*/ 0 w 3652444"/>
              <a:gd name="connsiteY0" fmla="*/ 1105712 h 1105712"/>
              <a:gd name="connsiteX1" fmla="*/ 1059543 w 3652444"/>
              <a:gd name="connsiteY1" fmla="*/ 234854 h 1105712"/>
              <a:gd name="connsiteX2" fmla="*/ 2830286 w 3652444"/>
              <a:gd name="connsiteY2" fmla="*/ 539654 h 1105712"/>
              <a:gd name="connsiteX3" fmla="*/ 3652444 w 3652444"/>
              <a:gd name="connsiteY3" fmla="*/ 0 h 1105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2444" h="1105712">
                <a:moveTo>
                  <a:pt x="0" y="1105712"/>
                </a:moveTo>
                <a:cubicBezTo>
                  <a:pt x="293914" y="717454"/>
                  <a:pt x="587829" y="329197"/>
                  <a:pt x="1059543" y="234854"/>
                </a:cubicBezTo>
                <a:cubicBezTo>
                  <a:pt x="1531257" y="140511"/>
                  <a:pt x="2398136" y="578796"/>
                  <a:pt x="2830286" y="539654"/>
                </a:cubicBezTo>
                <a:cubicBezTo>
                  <a:pt x="3262436" y="500512"/>
                  <a:pt x="3446825" y="162076"/>
                  <a:pt x="3652444" y="0"/>
                </a:cubicBezTo>
              </a:path>
            </a:pathLst>
          </a:custGeom>
          <a:ln w="31750">
            <a:solidFill>
              <a:srgbClr val="CD03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7" name="Oval 20"/>
          <p:cNvSpPr>
            <a:spLocks noChangeArrowheads="1"/>
          </p:cNvSpPr>
          <p:nvPr/>
        </p:nvSpPr>
        <p:spPr bwMode="auto">
          <a:xfrm>
            <a:off x="5430838" y="1887538"/>
            <a:ext cx="1957387" cy="1917700"/>
          </a:xfrm>
          <a:prstGeom prst="ellipse">
            <a:avLst/>
          </a:prstGeom>
          <a:solidFill>
            <a:srgbClr val="B8FB75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sz="1800"/>
          </a:p>
        </p:txBody>
      </p:sp>
      <p:sp>
        <p:nvSpPr>
          <p:cNvPr id="8" name="Freeform 21"/>
          <p:cNvSpPr>
            <a:spLocks/>
          </p:cNvSpPr>
          <p:nvPr/>
        </p:nvSpPr>
        <p:spPr bwMode="auto">
          <a:xfrm>
            <a:off x="6357938" y="2846388"/>
            <a:ext cx="755650" cy="261937"/>
          </a:xfrm>
          <a:custGeom>
            <a:avLst/>
            <a:gdLst>
              <a:gd name="T0" fmla="*/ 0 w 832"/>
              <a:gd name="T1" fmla="*/ 0 h 295"/>
              <a:gd name="T2" fmla="*/ 2147483647 w 832"/>
              <a:gd name="T3" fmla="*/ 2147483647 h 295"/>
              <a:gd name="T4" fmla="*/ 0 60000 65536"/>
              <a:gd name="T5" fmla="*/ 0 60000 65536"/>
              <a:gd name="T6" fmla="*/ 0 w 832"/>
              <a:gd name="T7" fmla="*/ 0 h 295"/>
              <a:gd name="T8" fmla="*/ 832 w 832"/>
              <a:gd name="T9" fmla="*/ 295 h 29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32" h="295">
                <a:moveTo>
                  <a:pt x="0" y="0"/>
                </a:moveTo>
                <a:lnTo>
                  <a:pt x="832" y="295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Freeform 22"/>
          <p:cNvSpPr>
            <a:spLocks/>
          </p:cNvSpPr>
          <p:nvPr/>
        </p:nvSpPr>
        <p:spPr bwMode="auto">
          <a:xfrm>
            <a:off x="6342063" y="1930400"/>
            <a:ext cx="315912" cy="906463"/>
          </a:xfrm>
          <a:custGeom>
            <a:avLst/>
            <a:gdLst>
              <a:gd name="T0" fmla="*/ 2147483647 w 346"/>
              <a:gd name="T1" fmla="*/ 0 h 1022"/>
              <a:gd name="T2" fmla="*/ 0 w 346"/>
              <a:gd name="T3" fmla="*/ 2147483647 h 1022"/>
              <a:gd name="T4" fmla="*/ 0 60000 65536"/>
              <a:gd name="T5" fmla="*/ 0 60000 65536"/>
              <a:gd name="T6" fmla="*/ 0 w 346"/>
              <a:gd name="T7" fmla="*/ 0 h 1022"/>
              <a:gd name="T8" fmla="*/ 346 w 346"/>
              <a:gd name="T9" fmla="*/ 1022 h 10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6" h="1022">
                <a:moveTo>
                  <a:pt x="346" y="0"/>
                </a:moveTo>
                <a:lnTo>
                  <a:pt x="0" y="1022"/>
                </a:lnTo>
              </a:path>
            </a:pathLst>
          </a:cu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ext Box 23"/>
          <p:cNvSpPr txBox="1">
            <a:spLocks noChangeArrowheads="1"/>
          </p:cNvSpPr>
          <p:nvPr/>
        </p:nvSpPr>
        <p:spPr bwMode="auto">
          <a:xfrm>
            <a:off x="6400800" y="1400175"/>
            <a:ext cx="49053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M</a:t>
            </a:r>
            <a:endParaRPr lang="en-US" sz="4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585" name="Text Box 24"/>
          <p:cNvSpPr txBox="1">
            <a:spLocks noChangeArrowheads="1"/>
          </p:cNvSpPr>
          <p:nvPr/>
        </p:nvSpPr>
        <p:spPr bwMode="auto">
          <a:xfrm>
            <a:off x="6781800" y="3063875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en-US" sz="1800"/>
          </a:p>
        </p:txBody>
      </p:sp>
      <p:sp>
        <p:nvSpPr>
          <p:cNvPr id="24586" name="Text Box 26"/>
          <p:cNvSpPr txBox="1">
            <a:spLocks noChangeArrowheads="1"/>
          </p:cNvSpPr>
          <p:nvPr/>
        </p:nvSpPr>
        <p:spPr bwMode="auto">
          <a:xfrm>
            <a:off x="5907088" y="26876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en-US" sz="1800"/>
          </a:p>
        </p:txBody>
      </p:sp>
      <p:sp>
        <p:nvSpPr>
          <p:cNvPr id="13" name="Line 28"/>
          <p:cNvSpPr>
            <a:spLocks noChangeShapeType="1"/>
          </p:cNvSpPr>
          <p:nvPr/>
        </p:nvSpPr>
        <p:spPr bwMode="auto">
          <a:xfrm>
            <a:off x="6672263" y="1916113"/>
            <a:ext cx="815975" cy="3206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Freeform 29"/>
          <p:cNvSpPr>
            <a:spLocks/>
          </p:cNvSpPr>
          <p:nvPr/>
        </p:nvSpPr>
        <p:spPr bwMode="auto">
          <a:xfrm>
            <a:off x="7135813" y="2206625"/>
            <a:ext cx="312737" cy="908050"/>
          </a:xfrm>
          <a:custGeom>
            <a:avLst/>
            <a:gdLst>
              <a:gd name="T0" fmla="*/ 2147483647 w 346"/>
              <a:gd name="T1" fmla="*/ 0 h 1022"/>
              <a:gd name="T2" fmla="*/ 0 w 346"/>
              <a:gd name="T3" fmla="*/ 2147483647 h 1022"/>
              <a:gd name="T4" fmla="*/ 0 60000 65536"/>
              <a:gd name="T5" fmla="*/ 0 60000 65536"/>
              <a:gd name="T6" fmla="*/ 0 w 346"/>
              <a:gd name="T7" fmla="*/ 0 h 1022"/>
              <a:gd name="T8" fmla="*/ 346 w 346"/>
              <a:gd name="T9" fmla="*/ 1022 h 10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6" h="1022">
                <a:moveTo>
                  <a:pt x="346" y="0"/>
                </a:moveTo>
                <a:lnTo>
                  <a:pt x="0" y="1022"/>
                </a:lnTo>
              </a:path>
            </a:pathLst>
          </a:cu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Freeform 30"/>
          <p:cNvSpPr>
            <a:spLocks/>
          </p:cNvSpPr>
          <p:nvPr/>
        </p:nvSpPr>
        <p:spPr bwMode="auto">
          <a:xfrm>
            <a:off x="6675438" y="1916113"/>
            <a:ext cx="438150" cy="1206500"/>
          </a:xfrm>
          <a:custGeom>
            <a:avLst/>
            <a:gdLst>
              <a:gd name="T0" fmla="*/ 0 w 484"/>
              <a:gd name="T1" fmla="*/ 0 h 1359"/>
              <a:gd name="T2" fmla="*/ 2147483647 w 484"/>
              <a:gd name="T3" fmla="*/ 2147483647 h 1359"/>
              <a:gd name="T4" fmla="*/ 0 60000 65536"/>
              <a:gd name="T5" fmla="*/ 0 60000 65536"/>
              <a:gd name="T6" fmla="*/ 0 w 484"/>
              <a:gd name="T7" fmla="*/ 0 h 1359"/>
              <a:gd name="T8" fmla="*/ 484 w 484"/>
              <a:gd name="T9" fmla="*/ 1359 h 135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84" h="1359">
                <a:moveTo>
                  <a:pt x="0" y="0"/>
                </a:moveTo>
                <a:lnTo>
                  <a:pt x="484" y="1359"/>
                </a:lnTo>
              </a:path>
            </a:pathLst>
          </a:cu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0" name="Text Box 31"/>
          <p:cNvSpPr txBox="1">
            <a:spLocks noChangeArrowheads="1"/>
          </p:cNvSpPr>
          <p:nvPr/>
        </p:nvSpPr>
        <p:spPr bwMode="auto">
          <a:xfrm>
            <a:off x="7392988" y="1730375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en-US" sz="1800"/>
          </a:p>
        </p:txBody>
      </p:sp>
      <p:graphicFrame>
        <p:nvGraphicFramePr>
          <p:cNvPr id="17" name="Object 5"/>
          <p:cNvGraphicFramePr>
            <a:graphicFrameLocks noChangeAspect="1"/>
          </p:cNvGraphicFramePr>
          <p:nvPr/>
        </p:nvGraphicFramePr>
        <p:xfrm>
          <a:off x="5845175" y="2406650"/>
          <a:ext cx="498475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646" imgH="228402" progId="Equation.DSMT4">
                  <p:embed/>
                </p:oleObj>
              </mc:Choice>
              <mc:Fallback>
                <p:oleObj name="Equation" r:id="rId2" imgW="177646" imgH="2284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5175" y="2406650"/>
                        <a:ext cx="498475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"/>
          <p:cNvGraphicFramePr>
            <a:graphicFrameLocks noChangeAspect="1"/>
          </p:cNvGraphicFramePr>
          <p:nvPr/>
        </p:nvGraphicFramePr>
        <p:xfrm>
          <a:off x="7408863" y="1557338"/>
          <a:ext cx="487362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334" imgH="228501" progId="Equation.DSMT4">
                  <p:embed/>
                </p:oleObj>
              </mc:Choice>
              <mc:Fallback>
                <p:oleObj name="Equation" r:id="rId4" imgW="152334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8863" y="1557338"/>
                        <a:ext cx="487362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7"/>
          <p:cNvGraphicFramePr>
            <a:graphicFrameLocks noChangeAspect="1"/>
          </p:cNvGraphicFramePr>
          <p:nvPr/>
        </p:nvGraphicFramePr>
        <p:xfrm>
          <a:off x="6707188" y="3044825"/>
          <a:ext cx="684212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DSMT4">
                  <p:embed/>
                </p:oleObj>
              </mc:Choice>
              <mc:Fallback>
                <p:oleObj name="Equation" r:id="rId6" imgW="0" imgH="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7188" y="3044825"/>
                        <a:ext cx="684212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" name="Straight Arrow Connector 25"/>
          <p:cNvCxnSpPr/>
          <p:nvPr/>
        </p:nvCxnSpPr>
        <p:spPr>
          <a:xfrm>
            <a:off x="8429625" y="3017838"/>
            <a:ext cx="76200" cy="1587"/>
          </a:xfrm>
          <a:prstGeom prst="straightConnector1">
            <a:avLst/>
          </a:prstGeom>
          <a:ln w="34925">
            <a:solidFill>
              <a:srgbClr val="C0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Box 6"/>
          <p:cNvSpPr txBox="1">
            <a:spLocks noChangeArrowheads="1"/>
          </p:cNvSpPr>
          <p:nvPr/>
        </p:nvSpPr>
        <p:spPr bwMode="auto">
          <a:xfrm>
            <a:off x="533400" y="5867400"/>
            <a:ext cx="8610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đặc trưng cho sự biến thiên về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phương chiều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của vectơ vận tốc.</a:t>
            </a:r>
          </a:p>
        </p:txBody>
      </p:sp>
      <p:sp>
        <p:nvSpPr>
          <p:cNvPr id="31" name="Text Box 6"/>
          <p:cNvSpPr txBox="1">
            <a:spLocks noChangeArrowheads="1"/>
          </p:cNvSpPr>
          <p:nvPr/>
        </p:nvSpPr>
        <p:spPr bwMode="auto">
          <a:xfrm>
            <a:off x="609600" y="3810000"/>
            <a:ext cx="8610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đặc trưng cho sự biến thiên về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độ lớn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của vectơ vận tốc.</a:t>
            </a:r>
          </a:p>
        </p:txBody>
      </p:sp>
      <p:sp>
        <p:nvSpPr>
          <p:cNvPr id="35" name="Rectangle 7"/>
          <p:cNvSpPr>
            <a:spLocks noChangeArrowheads="1"/>
          </p:cNvSpPr>
          <p:nvPr/>
        </p:nvSpPr>
        <p:spPr bwMode="auto">
          <a:xfrm>
            <a:off x="609600" y="3024188"/>
            <a:ext cx="3048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42900" indent="-342900" algn="just">
              <a:spcBef>
                <a:spcPct val="20000"/>
              </a:spcBef>
            </a:pPr>
            <a:r>
              <a:rPr lang="en-US" sz="2800" b="1" dirty="0">
                <a:latin typeface="Times New Roman" pitchFamily="18" charset="0"/>
              </a:rPr>
              <a:t>Gia tốc tiếp tuyến</a:t>
            </a:r>
          </a:p>
        </p:txBody>
      </p:sp>
      <p:sp>
        <p:nvSpPr>
          <p:cNvPr id="36" name="Rectangle 7"/>
          <p:cNvSpPr>
            <a:spLocks noChangeArrowheads="1"/>
          </p:cNvSpPr>
          <p:nvPr/>
        </p:nvSpPr>
        <p:spPr bwMode="auto">
          <a:xfrm>
            <a:off x="609600" y="4838700"/>
            <a:ext cx="3581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42900" indent="-342900" algn="just">
              <a:spcBef>
                <a:spcPct val="20000"/>
              </a:spcBef>
            </a:pPr>
            <a:r>
              <a:rPr lang="en-US" sz="2800" b="1" dirty="0">
                <a:latin typeface="Times New Roman" pitchFamily="18" charset="0"/>
              </a:rPr>
              <a:t>Gia tốc pháp tuyến</a:t>
            </a:r>
          </a:p>
        </p:txBody>
      </p:sp>
      <p:sp>
        <p:nvSpPr>
          <p:cNvPr id="37" name="4-Point Star 36"/>
          <p:cNvSpPr/>
          <p:nvPr/>
        </p:nvSpPr>
        <p:spPr>
          <a:xfrm>
            <a:off x="246063" y="4953000"/>
            <a:ext cx="304800" cy="304800"/>
          </a:xfrm>
          <a:prstGeom prst="star4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vi-VN" sz="1800"/>
          </a:p>
        </p:txBody>
      </p:sp>
      <p:sp>
        <p:nvSpPr>
          <p:cNvPr id="38" name="4-Point Star 37"/>
          <p:cNvSpPr/>
          <p:nvPr/>
        </p:nvSpPr>
        <p:spPr>
          <a:xfrm>
            <a:off x="261938" y="3141663"/>
            <a:ext cx="304800" cy="304800"/>
          </a:xfrm>
          <a:prstGeom prst="star4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vi-VN" sz="1800"/>
          </a:p>
        </p:txBody>
      </p:sp>
      <p:sp>
        <p:nvSpPr>
          <p:cNvPr id="39" name="Right Arrow 38"/>
          <p:cNvSpPr/>
          <p:nvPr/>
        </p:nvSpPr>
        <p:spPr>
          <a:xfrm>
            <a:off x="304800" y="3995738"/>
            <a:ext cx="304800" cy="2286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80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Right Arrow 39"/>
          <p:cNvSpPr/>
          <p:nvPr/>
        </p:nvSpPr>
        <p:spPr>
          <a:xfrm>
            <a:off x="228600" y="6019800"/>
            <a:ext cx="304800" cy="2286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80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7"/>
              <p:cNvSpPr>
                <a:spLocks noChangeArrowheads="1"/>
              </p:cNvSpPr>
              <p:nvPr/>
            </p:nvSpPr>
            <p:spPr bwMode="auto">
              <a:xfrm>
                <a:off x="5486400" y="4399285"/>
                <a:ext cx="3505200" cy="15080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marL="342900" indent="-342900" algn="just">
                  <a:spcBef>
                    <a:spcPct val="20000"/>
                  </a:spcBef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(luôn hướng vào bề lõm của quỹ </a:t>
                </a:r>
                <a:r>
                  <a:rPr lang="en-US" sz="2400" i="1" dirty="0" err="1">
                    <a:latin typeface="Times New Roman" pitchFamily="18" charset="0"/>
                    <a:cs typeface="Times New Roman" pitchFamily="18" charset="0"/>
                  </a:rPr>
                  <a:t>đạo</a:t>
                </a: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  <a:p>
                <a:pPr marL="342900" indent="-342900" algn="ctr">
                  <a:spcBef>
                    <a:spcPct val="20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400" b="1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=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𝒉𝒕</m:t>
                        </m:r>
                      </m:sub>
                    </m:sSub>
                  </m:oMath>
                </a14:m>
                <a:r>
                  <a:rPr lang="en-US" sz="2400" b="1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𝒗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²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𝑹</m:t>
                        </m:r>
                      </m:den>
                    </m:f>
                  </m:oMath>
                </a14:m>
                <a:endParaRPr lang="en-US" sz="24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1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6400" y="4399285"/>
                <a:ext cx="3505200" cy="1508042"/>
              </a:xfrm>
              <a:prstGeom prst="rect">
                <a:avLst/>
              </a:prstGeom>
              <a:blipFill rotWithShape="1">
                <a:blip r:embed="rId8"/>
                <a:stretch>
                  <a:fillRect l="-2609" t="-3239" r="-2609" b="-323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641678" y="2790031"/>
            <a:ext cx="1273222" cy="914400"/>
          </a:xfrm>
          <a:prstGeom prst="rect">
            <a:avLst/>
          </a:prstGeom>
          <a:blipFill rotWithShape="1">
            <a:blip r:embed="rId9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4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733799" y="4905375"/>
            <a:ext cx="1639753" cy="914400"/>
          </a:xfrm>
          <a:prstGeom prst="rect">
            <a:avLst/>
          </a:prstGeom>
          <a:blipFill rotWithShape="1">
            <a:blip r:embed="rId10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6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14400" y="1700639"/>
            <a:ext cx="2971800" cy="914400"/>
          </a:xfrm>
          <a:prstGeom prst="rect">
            <a:avLst/>
          </a:prstGeom>
          <a:blipFill rotWithShape="1">
            <a:blip r:embed="rId11"/>
            <a:stretch>
              <a:fillRect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4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334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</a:rPr>
              <a:t>1.7. Gia tốc trong chuyển động cong</a:t>
            </a:r>
            <a:endParaRPr lang="en-US" sz="32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D216CA-DC3C-E8AE-E896-D4FB3214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23FFD3-B2CF-EB25-7ACC-8F90266DB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91098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1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1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1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9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21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0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1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/>
      <p:bldP spid="13" grpId="0" animBg="1"/>
      <p:bldP spid="14" grpId="0" animBg="1"/>
      <p:bldP spid="15" grpId="0" animBg="1"/>
      <p:bldP spid="30" grpId="0"/>
      <p:bldP spid="31" grpId="0"/>
      <p:bldP spid="35" grpId="0"/>
      <p:bldP spid="36" grpId="0"/>
      <p:bldP spid="37" grpId="0" animBg="1"/>
      <p:bldP spid="38" grpId="0" animBg="1"/>
      <p:bldP spid="39" grpId="0" animBg="1"/>
      <p:bldP spid="40" grpId="0" animBg="1"/>
      <p:bldP spid="4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7" name="Picture 5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600"/>
            <a:ext cx="88519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Text Box 6"/>
          <p:cNvSpPr txBox="1">
            <a:spLocks noChangeArrowheads="1"/>
          </p:cNvSpPr>
          <p:nvPr/>
        </p:nvSpPr>
        <p:spPr bwMode="auto">
          <a:xfrm>
            <a:off x="3886200" y="5584825"/>
            <a:ext cx="1371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Độ lớn:</a:t>
            </a:r>
            <a:endParaRPr lang="en-US" sz="28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Right Arrow 42"/>
          <p:cNvSpPr/>
          <p:nvPr/>
        </p:nvSpPr>
        <p:spPr>
          <a:xfrm>
            <a:off x="3200400" y="5605463"/>
            <a:ext cx="609600" cy="414337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80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63538" y="5389562"/>
            <a:ext cx="2303462" cy="914400"/>
          </a:xfrm>
          <a:prstGeom prst="rect">
            <a:avLst/>
          </a:prstGeom>
          <a:blipFill rotWithShape="1">
            <a:blip r:embed="rId3"/>
            <a:stretch>
              <a:fillRect b="-10000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4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81850" y="5389562"/>
            <a:ext cx="3370049" cy="914400"/>
          </a:xfrm>
          <a:prstGeom prst="rect">
            <a:avLst/>
          </a:prstGeom>
          <a:blipFill rotWithShape="1">
            <a:blip r:embed="rId4"/>
            <a:stretch>
              <a:fillRect b="-667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334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</a:rPr>
              <a:t>Gia tốc trong chuyển động cong</a:t>
            </a:r>
            <a:endParaRPr lang="en-US" sz="3200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5C5B5F-E56C-84A1-37FA-5F42A751C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77123-C7F8-EBD2-C89E-603B79398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2010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0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417"/>
            <a:ext cx="8229600" cy="515112"/>
          </a:xfrm>
        </p:spPr>
        <p:txBody>
          <a:bodyPr>
            <a:noAutofit/>
          </a:bodyPr>
          <a:lstStyle/>
          <a:p>
            <a:r>
              <a:rPr lang="en-US" sz="3200"/>
              <a:t>Test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17220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?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r>
              <a:rPr lang="en-US" dirty="0" err="1"/>
              <a:t>Quán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gi</a:t>
            </a:r>
            <a:r>
              <a:rPr lang="en-US" dirty="0"/>
              <a:t>? </a:t>
            </a: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nêu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dây</a:t>
            </a:r>
            <a:r>
              <a:rPr lang="en-US" dirty="0"/>
              <a:t> an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gối</a:t>
            </a:r>
            <a:r>
              <a:rPr lang="en-US" dirty="0"/>
              <a:t> </a:t>
            </a:r>
            <a:r>
              <a:rPr lang="en-US" dirty="0" err="1"/>
              <a:t>tựa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lưng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 </a:t>
            </a:r>
            <a:r>
              <a:rPr lang="en-US" dirty="0" err="1"/>
              <a:t>hơi</a:t>
            </a:r>
            <a:r>
              <a:rPr lang="en-US" dirty="0"/>
              <a:t>?</a:t>
            </a:r>
          </a:p>
          <a:p>
            <a:pPr marL="514350" indent="-514350">
              <a:buFont typeface="Wingdings 2"/>
              <a:buAutoNum type="arabicPeriod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phản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.</a:t>
            </a:r>
            <a:r>
              <a:rPr lang="en-US" i="1" dirty="0"/>
              <a:t> ( </a:t>
            </a:r>
            <a:r>
              <a:rPr lang="en-US" i="1" dirty="0" err="1"/>
              <a:t>Tham</a:t>
            </a:r>
            <a:r>
              <a:rPr lang="en-US" i="1" dirty="0"/>
              <a:t> </a:t>
            </a:r>
            <a:r>
              <a:rPr lang="en-US" i="1" dirty="0" err="1"/>
              <a:t>khảo</a:t>
            </a:r>
            <a:r>
              <a:rPr lang="en-US" i="1" dirty="0"/>
              <a:t>: </a:t>
            </a:r>
            <a:r>
              <a:rPr lang="en-US" i="1" dirty="0" err="1"/>
              <a:t>Khi</a:t>
            </a:r>
            <a:r>
              <a:rPr lang="en-US" i="1" dirty="0"/>
              <a:t> ta </a:t>
            </a:r>
            <a:r>
              <a:rPr lang="en-US" i="1" dirty="0" err="1"/>
              <a:t>đấm</a:t>
            </a:r>
            <a:r>
              <a:rPr lang="en-US" i="1" dirty="0"/>
              <a:t> </a:t>
            </a:r>
            <a:r>
              <a:rPr lang="en-US" i="1" dirty="0" err="1"/>
              <a:t>tay</a:t>
            </a:r>
            <a:r>
              <a:rPr lang="en-US" i="1" dirty="0"/>
              <a:t> </a:t>
            </a:r>
            <a:r>
              <a:rPr lang="en-US" i="1" dirty="0" err="1"/>
              <a:t>vào</a:t>
            </a:r>
            <a:r>
              <a:rPr lang="en-US" i="1" dirty="0"/>
              <a:t> </a:t>
            </a:r>
            <a:r>
              <a:rPr lang="en-US" i="1" dirty="0" err="1"/>
              <a:t>tường</a:t>
            </a:r>
            <a:r>
              <a:rPr lang="en-US" i="1" dirty="0"/>
              <a:t> </a:t>
            </a:r>
            <a:r>
              <a:rPr lang="en-US" i="1" dirty="0" err="1"/>
              <a:t>theo</a:t>
            </a:r>
            <a:r>
              <a:rPr lang="en-US" i="1" dirty="0"/>
              <a:t> </a:t>
            </a:r>
            <a:r>
              <a:rPr lang="en-US" i="1" dirty="0" err="1"/>
              <a:t>định</a:t>
            </a:r>
            <a:r>
              <a:rPr lang="en-US" i="1" dirty="0"/>
              <a:t> </a:t>
            </a:r>
            <a:r>
              <a:rPr lang="en-US" i="1" dirty="0" err="1"/>
              <a:t>luật</a:t>
            </a:r>
            <a:r>
              <a:rPr lang="en-US" i="1" dirty="0"/>
              <a:t> </a:t>
            </a:r>
            <a:r>
              <a:rPr lang="en-US" i="1" dirty="0" err="1"/>
              <a:t>về</a:t>
            </a:r>
            <a:r>
              <a:rPr lang="en-US" i="1" dirty="0"/>
              <a:t> </a:t>
            </a:r>
            <a:r>
              <a:rPr lang="en-US" i="1" dirty="0" err="1"/>
              <a:t>lực</a:t>
            </a:r>
            <a:r>
              <a:rPr lang="en-US" i="1" dirty="0"/>
              <a:t> </a:t>
            </a:r>
            <a:r>
              <a:rPr lang="en-US" i="1" dirty="0" err="1"/>
              <a:t>và</a:t>
            </a:r>
            <a:r>
              <a:rPr lang="en-US" i="1" dirty="0"/>
              <a:t> </a:t>
            </a:r>
            <a:r>
              <a:rPr lang="en-US" i="1" dirty="0" err="1"/>
              <a:t>phản</a:t>
            </a:r>
            <a:r>
              <a:rPr lang="en-US" i="1" dirty="0"/>
              <a:t> </a:t>
            </a:r>
            <a:r>
              <a:rPr lang="en-US" i="1" dirty="0" err="1"/>
              <a:t>lực</a:t>
            </a:r>
            <a:r>
              <a:rPr lang="en-US" i="1" dirty="0"/>
              <a:t> </a:t>
            </a:r>
            <a:r>
              <a:rPr lang="en-US" i="1" dirty="0" err="1"/>
              <a:t>sẽ</a:t>
            </a:r>
            <a:r>
              <a:rPr lang="en-US" i="1" dirty="0"/>
              <a:t> </a:t>
            </a:r>
            <a:r>
              <a:rPr lang="en-US" i="1" dirty="0" err="1"/>
              <a:t>xuất</a:t>
            </a:r>
            <a:r>
              <a:rPr lang="en-US" i="1" dirty="0"/>
              <a:t> </a:t>
            </a:r>
            <a:r>
              <a:rPr lang="en-US" i="1" dirty="0" err="1"/>
              <a:t>hiện</a:t>
            </a:r>
            <a:r>
              <a:rPr lang="en-US" i="1" dirty="0"/>
              <a:t> 1 </a:t>
            </a:r>
            <a:r>
              <a:rPr lang="en-US" i="1" dirty="0" err="1"/>
              <a:t>lực</a:t>
            </a:r>
            <a:r>
              <a:rPr lang="en-US" i="1" dirty="0"/>
              <a:t> do </a:t>
            </a:r>
            <a:r>
              <a:rPr lang="en-US" i="1" dirty="0" err="1"/>
              <a:t>tường</a:t>
            </a:r>
            <a:r>
              <a:rPr lang="en-US" i="1" dirty="0"/>
              <a:t> </a:t>
            </a:r>
            <a:r>
              <a:rPr lang="en-US" i="1" dirty="0" err="1"/>
              <a:t>phản</a:t>
            </a:r>
            <a:r>
              <a:rPr lang="en-US" i="1" dirty="0"/>
              <a:t> </a:t>
            </a:r>
            <a:r>
              <a:rPr lang="en-US" i="1" dirty="0" err="1"/>
              <a:t>lại</a:t>
            </a:r>
            <a:r>
              <a:rPr lang="en-US" i="1" dirty="0"/>
              <a:t> </a:t>
            </a:r>
            <a:r>
              <a:rPr lang="en-US" i="1" dirty="0" err="1"/>
              <a:t>tay</a:t>
            </a:r>
            <a:r>
              <a:rPr lang="en-US" i="1" dirty="0"/>
              <a:t> ta </a:t>
            </a:r>
            <a:r>
              <a:rPr lang="en-US" i="1" dirty="0" err="1"/>
              <a:t>có</a:t>
            </a:r>
            <a:r>
              <a:rPr lang="en-US" i="1" dirty="0"/>
              <a:t> </a:t>
            </a:r>
            <a:r>
              <a:rPr lang="en-US" i="1" dirty="0" err="1"/>
              <a:t>cùng</a:t>
            </a:r>
            <a:r>
              <a:rPr lang="en-US" i="1" dirty="0"/>
              <a:t> </a:t>
            </a:r>
            <a:r>
              <a:rPr lang="en-US" i="1" dirty="0" err="1"/>
              <a:t>độ</a:t>
            </a:r>
            <a:r>
              <a:rPr lang="en-US" i="1" dirty="0"/>
              <a:t> </a:t>
            </a:r>
            <a:r>
              <a:rPr lang="en-US" i="1" dirty="0" err="1"/>
              <a:t>lớn</a:t>
            </a:r>
            <a:r>
              <a:rPr lang="en-US" i="1" dirty="0"/>
              <a:t> </a:t>
            </a:r>
            <a:r>
              <a:rPr lang="en-US" i="1" dirty="0" err="1"/>
              <a:t>và</a:t>
            </a:r>
            <a:r>
              <a:rPr lang="en-US" i="1" dirty="0"/>
              <a:t> </a:t>
            </a:r>
            <a:r>
              <a:rPr lang="en-US" i="1" dirty="0" err="1"/>
              <a:t>ngược</a:t>
            </a:r>
            <a:r>
              <a:rPr lang="en-US" i="1" dirty="0"/>
              <a:t> </a:t>
            </a:r>
            <a:r>
              <a:rPr lang="en-US" i="1" dirty="0" err="1"/>
              <a:t>chiều</a:t>
            </a:r>
            <a:r>
              <a:rPr lang="en-US" i="1" dirty="0"/>
              <a:t> </a:t>
            </a:r>
            <a:r>
              <a:rPr lang="en-US" i="1" dirty="0" err="1"/>
              <a:t>nhưng</a:t>
            </a:r>
            <a:r>
              <a:rPr lang="en-US" i="1" dirty="0"/>
              <a:t> </a:t>
            </a:r>
            <a:r>
              <a:rPr lang="en-US" i="1" dirty="0" err="1"/>
              <a:t>tại</a:t>
            </a:r>
            <a:r>
              <a:rPr lang="en-US" i="1" dirty="0"/>
              <a:t> </a:t>
            </a:r>
            <a:r>
              <a:rPr lang="en-US" i="1" dirty="0" err="1"/>
              <a:t>sao</a:t>
            </a:r>
            <a:r>
              <a:rPr lang="en-US" i="1" dirty="0"/>
              <a:t> </a:t>
            </a:r>
            <a:r>
              <a:rPr lang="en-US" i="1" dirty="0" err="1"/>
              <a:t>tay</a:t>
            </a:r>
            <a:r>
              <a:rPr lang="en-US" i="1" dirty="0"/>
              <a:t> ta </a:t>
            </a:r>
            <a:r>
              <a:rPr lang="en-US" i="1" dirty="0" err="1"/>
              <a:t>vẫn</a:t>
            </a:r>
            <a:r>
              <a:rPr lang="en-US" i="1" dirty="0"/>
              <a:t> </a:t>
            </a:r>
            <a:r>
              <a:rPr lang="en-US" i="1" dirty="0" err="1"/>
              <a:t>thấy</a:t>
            </a:r>
            <a:r>
              <a:rPr lang="en-US" i="1" dirty="0"/>
              <a:t> </a:t>
            </a:r>
            <a:r>
              <a:rPr lang="en-US" i="1" dirty="0" err="1"/>
              <a:t>đau</a:t>
            </a:r>
            <a:r>
              <a:rPr lang="en-US" i="1" dirty="0"/>
              <a:t>?)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xảy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thủy</a:t>
            </a:r>
            <a:r>
              <a:rPr lang="en-US" dirty="0"/>
              <a:t> </a:t>
            </a:r>
            <a:r>
              <a:rPr lang="en-US" dirty="0" err="1"/>
              <a:t>triều</a:t>
            </a:r>
            <a:r>
              <a:rPr lang="en-US" dirty="0"/>
              <a:t>?</a:t>
            </a:r>
          </a:p>
          <a:p>
            <a:pPr marL="514350" indent="-514350">
              <a:buAutoNum type="arabicPeriod"/>
            </a:pPr>
            <a:r>
              <a:rPr lang="en-US" dirty="0" err="1"/>
              <a:t>Lực</a:t>
            </a:r>
            <a:r>
              <a:rPr lang="en-US" dirty="0"/>
              <a:t> ma </a:t>
            </a:r>
            <a:r>
              <a:rPr lang="en-US" dirty="0" err="1"/>
              <a:t>sát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hay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hại</a:t>
            </a:r>
            <a:r>
              <a:rPr lang="en-US" dirty="0"/>
              <a:t>?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 </a:t>
            </a:r>
            <a:r>
              <a:rPr lang="en-US" dirty="0" err="1"/>
              <a:t>Nêu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vài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5FA90A-8533-EF3C-A4EB-37BA17DFC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810043-6149-AEDC-CFA9-59C75F3A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0310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638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7.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luật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.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luật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8.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đời</a:t>
            </a:r>
            <a:r>
              <a:rPr lang="en-US" dirty="0"/>
              <a:t> </a:t>
            </a:r>
            <a:r>
              <a:rPr lang="en-US" dirty="0" err="1"/>
              <a:t>sống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9.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quay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? </a:t>
            </a:r>
          </a:p>
          <a:p>
            <a:pPr marL="0" indent="0">
              <a:buNone/>
            </a:pP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quay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</a:t>
            </a:r>
            <a:r>
              <a:rPr lang="en-US" dirty="0" err="1"/>
              <a:t>đất</a:t>
            </a:r>
            <a:r>
              <a:rPr lang="en-US" dirty="0"/>
              <a:t> </a:t>
            </a:r>
            <a:r>
              <a:rPr lang="en-US" dirty="0" err="1"/>
              <a:t>quanh</a:t>
            </a:r>
            <a:r>
              <a:rPr lang="en-US" dirty="0"/>
              <a:t> </a:t>
            </a:r>
            <a:r>
              <a:rPr lang="en-US" dirty="0" err="1"/>
              <a:t>trục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kính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</a:t>
            </a:r>
            <a:r>
              <a:rPr lang="en-US" dirty="0" err="1"/>
              <a:t>đất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6400km, </a:t>
            </a:r>
            <a:r>
              <a:rPr lang="en-US" dirty="0" err="1"/>
              <a:t>Trái</a:t>
            </a:r>
            <a:r>
              <a:rPr lang="en-US" dirty="0"/>
              <a:t> </a:t>
            </a:r>
            <a:r>
              <a:rPr lang="en-US" dirty="0" err="1"/>
              <a:t>đất</a:t>
            </a:r>
            <a:r>
              <a:rPr lang="en-US" dirty="0"/>
              <a:t> quay 1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quanh</a:t>
            </a:r>
            <a:r>
              <a:rPr lang="en-US" dirty="0"/>
              <a:t> </a:t>
            </a:r>
            <a:r>
              <a:rPr lang="en-US" dirty="0" err="1"/>
              <a:t>trục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mất</a:t>
            </a:r>
            <a:r>
              <a:rPr lang="en-US" dirty="0"/>
              <a:t> 1 </a:t>
            </a:r>
            <a:r>
              <a:rPr lang="en-US" dirty="0" err="1"/>
              <a:t>ngày</a:t>
            </a:r>
            <a:r>
              <a:rPr lang="en-US" dirty="0"/>
              <a:t> (24 </a:t>
            </a:r>
            <a:r>
              <a:rPr lang="en-US" dirty="0" err="1"/>
              <a:t>giờ</a:t>
            </a:r>
            <a:r>
              <a:rPr lang="en-US" dirty="0"/>
              <a:t>)?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245A73-BBEA-72A1-9C40-A3AA90614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E0778-B17B-6E0D-6F10-729B94F06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864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chiếc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150 km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thẳng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phía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60 km/h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40 km/h.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lâu</a:t>
            </a:r>
            <a:r>
              <a:rPr lang="en-US" dirty="0"/>
              <a:t> </a:t>
            </a:r>
            <a:r>
              <a:rPr lang="en-US" dirty="0" err="1"/>
              <a:t>nữa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 </a:t>
            </a:r>
            <a:r>
              <a:rPr lang="en-US" dirty="0" err="1"/>
              <a:t>gặp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?</a:t>
            </a:r>
          </a:p>
          <a:p>
            <a:r>
              <a:rPr lang="en-US" dirty="0"/>
              <a:t>A.	2,5 h</a:t>
            </a:r>
          </a:p>
          <a:p>
            <a:r>
              <a:rPr lang="en-US" dirty="0"/>
              <a:t>B.	2,0 h</a:t>
            </a:r>
          </a:p>
          <a:p>
            <a:r>
              <a:rPr lang="en-US" dirty="0"/>
              <a:t>C.	1,75 h</a:t>
            </a:r>
          </a:p>
          <a:p>
            <a:r>
              <a:rPr lang="en-US" dirty="0"/>
              <a:t>D.	1,5 h</a:t>
            </a:r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91312"/>
          </a:xfrm>
        </p:spPr>
        <p:txBody>
          <a:bodyPr>
            <a:normAutofit fontScale="90000"/>
          </a:bodyPr>
          <a:lstStyle/>
          <a:p>
            <a:r>
              <a:rPr lang="en-US"/>
              <a:t>Bài tập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9F8E24F-F5F2-7E6C-29DF-5891231FA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77540D-B29F-D351-1DED-D3EEBA8E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6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5181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2. </a:t>
                </a:r>
                <a:r>
                  <a:rPr lang="en-US" dirty="0" err="1"/>
                  <a:t>Quỹ</a:t>
                </a:r>
                <a:r>
                  <a:rPr lang="en-US" dirty="0"/>
                  <a:t> </a:t>
                </a:r>
                <a:r>
                  <a:rPr lang="en-US" dirty="0" err="1"/>
                  <a:t>đạo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chất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chuyển</a:t>
                </a:r>
                <a:r>
                  <a:rPr lang="en-US" dirty="0"/>
                  <a:t> </a:t>
                </a:r>
                <a:r>
                  <a:rPr lang="en-US" dirty="0" err="1"/>
                  <a:t>động</a:t>
                </a:r>
                <a:r>
                  <a:rPr lang="en-US" dirty="0"/>
                  <a:t> , </a:t>
                </a:r>
                <a:r>
                  <a:rPr lang="en-US" dirty="0" err="1"/>
                  <a:t>sẽ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dạng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=3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/>
                                </a:rPr>
                                <m:t>cos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⁡(</m:t>
                              </m:r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/>
                                </a:rPr>
                                <m:t>ω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/>
                                </a:rPr>
                                <m:t>φ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=7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𝑠𝑖𝑛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⁡(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/>
                                </a:rPr>
                                <m:t>ω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/>
                                </a:rPr>
                                <m:t>φ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A.	</a:t>
                </a:r>
                <a:r>
                  <a:rPr lang="en-US" dirty="0" err="1"/>
                  <a:t>Đường</a:t>
                </a:r>
                <a:r>
                  <a:rPr lang="en-US" dirty="0"/>
                  <a:t> </a:t>
                </a:r>
                <a:r>
                  <a:rPr lang="en-US" dirty="0" err="1"/>
                  <a:t>tròn</a:t>
                </a:r>
                <a:endParaRPr lang="en-US" dirty="0"/>
              </a:p>
              <a:p>
                <a:r>
                  <a:rPr lang="en-US" dirty="0"/>
                  <a:t>B.	</a:t>
                </a:r>
                <a:r>
                  <a:rPr lang="en-US" dirty="0" err="1"/>
                  <a:t>Parabol</a:t>
                </a:r>
                <a:endParaRPr lang="en-US" dirty="0"/>
              </a:p>
              <a:p>
                <a:r>
                  <a:rPr lang="en-US" dirty="0"/>
                  <a:t>C.	</a:t>
                </a:r>
                <a:r>
                  <a:rPr lang="en-US" dirty="0" err="1"/>
                  <a:t>Elip</a:t>
                </a:r>
                <a:endParaRPr lang="en-US" dirty="0"/>
              </a:p>
              <a:p>
                <a:r>
                  <a:rPr lang="en-US" dirty="0"/>
                  <a:t>D.	</a:t>
                </a:r>
                <a:r>
                  <a:rPr lang="en-US" dirty="0" err="1"/>
                  <a:t>Đường</a:t>
                </a:r>
                <a:r>
                  <a:rPr lang="en-US" dirty="0"/>
                  <a:t> </a:t>
                </a:r>
                <a:r>
                  <a:rPr lang="en-US" dirty="0" err="1"/>
                  <a:t>thẳng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5181600"/>
              </a:xfrm>
              <a:blipFill rotWithShape="1">
                <a:blip r:embed="rId2"/>
                <a:stretch>
                  <a:fillRect l="-1259" t="-941" r="-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A2B975-5EFC-A907-0517-301AD18A3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C0CAA-577E-EF2A-60FD-536C69D3A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49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6B7B86E-F4B7-985D-E24F-203414D5FD1A}"/>
                  </a:ext>
                </a:extLst>
              </p:cNvPr>
              <p:cNvSpPr/>
              <p:nvPr/>
            </p:nvSpPr>
            <p:spPr>
              <a:xfrm>
                <a:off x="4572000" y="3505200"/>
                <a:ext cx="3962400" cy="19812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3²</m:t>
                        </m:r>
                      </m:den>
                    </m:f>
                  </m:oMath>
                </a14:m>
                <a:r>
                  <a:rPr lang="en-US" dirty="0"/>
                  <a:t> 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²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7²</m:t>
                        </m:r>
                      </m:den>
                    </m:f>
                  </m:oMath>
                </a14:m>
                <a:r>
                  <a:rPr lang="en-US" dirty="0"/>
                  <a:t> = 1</a:t>
                </a:r>
              </a:p>
              <a:p>
                <a:pPr algn="ctr"/>
                <a:r>
                  <a:rPr lang="en-US" dirty="0" err="1"/>
                  <a:t>Elip</a:t>
                </a:r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6B7B86E-F4B7-985D-E24F-203414D5FD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505200"/>
                <a:ext cx="3962400" cy="1981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2721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762000"/>
                <a:ext cx="8229600" cy="5562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Một </a:t>
                </a:r>
                <a:r>
                  <a:rPr lang="en-US" dirty="0" err="1"/>
                  <a:t>hạt</a:t>
                </a:r>
                <a:r>
                  <a:rPr lang="en-US" dirty="0"/>
                  <a:t> </a:t>
                </a:r>
                <a:r>
                  <a:rPr lang="en-US" dirty="0" err="1"/>
                  <a:t>mang</a:t>
                </a:r>
                <a:r>
                  <a:rPr lang="en-US" dirty="0"/>
                  <a:t> </a:t>
                </a:r>
                <a:r>
                  <a:rPr lang="en-US" dirty="0" err="1"/>
                  <a:t>điện</a:t>
                </a:r>
                <a:r>
                  <a:rPr lang="en-US" dirty="0"/>
                  <a:t> bay </a:t>
                </a:r>
                <a:r>
                  <a:rPr lang="en-US" dirty="0" err="1"/>
                  <a:t>vào</a:t>
                </a:r>
                <a:r>
                  <a:rPr lang="en-US" dirty="0"/>
                  <a:t> </a:t>
                </a:r>
                <a:r>
                  <a:rPr lang="en-US" dirty="0" err="1"/>
                  <a:t>điện</a:t>
                </a:r>
                <a:r>
                  <a:rPr lang="en-US" dirty="0"/>
                  <a:t> </a:t>
                </a:r>
                <a:r>
                  <a:rPr lang="en-US" dirty="0" err="1"/>
                  <a:t>trường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vận</a:t>
                </a:r>
                <a:r>
                  <a:rPr lang="en-US" dirty="0"/>
                  <a:t> </a:t>
                </a:r>
                <a:r>
                  <a:rPr lang="en-US" dirty="0" err="1"/>
                  <a:t>tốc</a:t>
                </a:r>
                <a:r>
                  <a:rPr lang="en-US" dirty="0"/>
                  <a:t> 5.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dirty="0"/>
                  <a:t> m/s. </a:t>
                </a:r>
                <a:r>
                  <a:rPr lang="en-US" dirty="0" err="1"/>
                  <a:t>Điện</a:t>
                </a:r>
                <a:r>
                  <a:rPr lang="en-US" dirty="0"/>
                  <a:t> </a:t>
                </a:r>
                <a:r>
                  <a:rPr lang="en-US" dirty="0" err="1"/>
                  <a:t>trường</a:t>
                </a:r>
                <a:r>
                  <a:rPr lang="en-US" dirty="0"/>
                  <a:t> </a:t>
                </a:r>
                <a:r>
                  <a:rPr lang="en-US" dirty="0" err="1"/>
                  <a:t>làm</a:t>
                </a:r>
                <a:r>
                  <a:rPr lang="en-US" dirty="0"/>
                  <a:t> </a:t>
                </a:r>
                <a:r>
                  <a:rPr lang="en-US" dirty="0" err="1"/>
                  <a:t>nó</a:t>
                </a:r>
                <a:r>
                  <a:rPr lang="en-US" dirty="0"/>
                  <a:t> </a:t>
                </a:r>
                <a:r>
                  <a:rPr lang="en-US" dirty="0" err="1"/>
                  <a:t>chuyển</a:t>
                </a:r>
                <a:r>
                  <a:rPr lang="en-US" dirty="0"/>
                  <a:t> </a:t>
                </a:r>
                <a:r>
                  <a:rPr lang="en-US" dirty="0" err="1"/>
                  <a:t>động</a:t>
                </a:r>
                <a:r>
                  <a:rPr lang="en-US" dirty="0"/>
                  <a:t> </a:t>
                </a:r>
                <a:r>
                  <a:rPr lang="en-US" dirty="0" err="1"/>
                  <a:t>chậm</a:t>
                </a:r>
                <a:r>
                  <a:rPr lang="en-US" dirty="0"/>
                  <a:t> </a:t>
                </a:r>
                <a:r>
                  <a:rPr lang="en-US" dirty="0" err="1"/>
                  <a:t>lại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gia</a:t>
                </a:r>
                <a:r>
                  <a:rPr lang="en-US" dirty="0"/>
                  <a:t> </a:t>
                </a:r>
                <a:r>
                  <a:rPr lang="en-US" dirty="0" err="1"/>
                  <a:t>tốc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lớn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1,25.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14</m:t>
                        </m:r>
                      </m:sup>
                    </m:sSup>
                  </m:oMath>
                </a14:m>
                <a:r>
                  <a:rPr lang="en-US" dirty="0"/>
                  <a:t> m/s2. </a:t>
                </a:r>
                <a:r>
                  <a:rPr lang="en-US" dirty="0" err="1"/>
                  <a:t>Hỏi</a:t>
                </a:r>
                <a:r>
                  <a:rPr lang="en-US" dirty="0"/>
                  <a:t> </a:t>
                </a:r>
                <a:r>
                  <a:rPr lang="en-US" dirty="0" err="1"/>
                  <a:t>nó</a:t>
                </a:r>
                <a:r>
                  <a:rPr lang="en-US" dirty="0"/>
                  <a:t> </a:t>
                </a:r>
                <a:r>
                  <a:rPr lang="en-US" dirty="0" err="1"/>
                  <a:t>đi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bao</a:t>
                </a:r>
                <a:r>
                  <a:rPr lang="en-US" dirty="0"/>
                  <a:t> </a:t>
                </a:r>
                <a:r>
                  <a:rPr lang="en-US" dirty="0" err="1"/>
                  <a:t>xa</a:t>
                </a:r>
                <a:r>
                  <a:rPr lang="en-US" dirty="0"/>
                  <a:t> </a:t>
                </a:r>
                <a:r>
                  <a:rPr lang="en-US" dirty="0" err="1"/>
                  <a:t>trước</a:t>
                </a:r>
                <a:r>
                  <a:rPr lang="en-US" dirty="0"/>
                  <a:t> </a:t>
                </a:r>
                <a:r>
                  <a:rPr lang="en-US" dirty="0" err="1"/>
                  <a:t>khi</a:t>
                </a:r>
                <a:r>
                  <a:rPr lang="en-US" dirty="0"/>
                  <a:t> </a:t>
                </a:r>
                <a:r>
                  <a:rPr lang="en-US" dirty="0" err="1"/>
                  <a:t>dừng</a:t>
                </a:r>
                <a:r>
                  <a:rPr lang="en-US" dirty="0"/>
                  <a:t> </a:t>
                </a:r>
                <a:r>
                  <a:rPr lang="en-US" dirty="0" err="1"/>
                  <a:t>lại</a:t>
                </a:r>
                <a:r>
                  <a:rPr lang="en-US" dirty="0"/>
                  <a:t>?</a:t>
                </a:r>
              </a:p>
              <a:p>
                <a:r>
                  <a:rPr lang="en-US" dirty="0"/>
                  <a:t>A. 0,1 m</a:t>
                </a:r>
              </a:p>
              <a:p>
                <a:r>
                  <a:rPr lang="en-US" dirty="0"/>
                  <a:t>B. 0,01 m</a:t>
                </a:r>
              </a:p>
              <a:p>
                <a:r>
                  <a:rPr lang="en-US" dirty="0"/>
                  <a:t>C. 1000 m</a:t>
                </a:r>
              </a:p>
              <a:p>
                <a:r>
                  <a:rPr lang="en-US" dirty="0"/>
                  <a:t>D. 1 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62000"/>
                <a:ext cx="8229600" cy="5562600"/>
              </a:xfrm>
              <a:blipFill rotWithShape="1">
                <a:blip r:embed="rId2"/>
                <a:stretch>
                  <a:fillRect l="-1259" t="-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774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638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4.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: </a:t>
            </a:r>
            <a:r>
              <a:rPr lang="en-US" i="1" dirty="0"/>
              <a:t>x(t) = 10 - 6t + 12t² </a:t>
            </a:r>
            <a:r>
              <a:rPr lang="en-US" dirty="0"/>
              <a:t>(m/s, s).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i="1" dirty="0"/>
              <a:t>t = 0 </a:t>
            </a:r>
            <a:r>
              <a:rPr lang="en-US" dirty="0" err="1"/>
              <a:t>là</a:t>
            </a:r>
            <a:r>
              <a:rPr lang="en-US" dirty="0"/>
              <a:t>:</a:t>
            </a:r>
          </a:p>
          <a:p>
            <a:r>
              <a:rPr lang="en-US" dirty="0"/>
              <a:t>A. 2 m/s</a:t>
            </a:r>
          </a:p>
          <a:p>
            <a:r>
              <a:rPr lang="en-US" dirty="0"/>
              <a:t>B. -6 m/s</a:t>
            </a:r>
          </a:p>
          <a:p>
            <a:r>
              <a:rPr lang="en-US" dirty="0"/>
              <a:t>C. 4 m/s</a:t>
            </a:r>
          </a:p>
          <a:p>
            <a:r>
              <a:rPr lang="en-US" dirty="0"/>
              <a:t>D. 0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E9845-044E-EE27-E9E3-1CF0967BA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2C919-290D-AA51-BED1-2B9F75C36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20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638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5a. </a:t>
            </a:r>
            <a:r>
              <a:rPr lang="en-US" dirty="0" err="1"/>
              <a:t>Tọa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i="1" dirty="0"/>
              <a:t>x(t) = 27t – 4t³, (m, s)</a:t>
            </a:r>
            <a:r>
              <a:rPr lang="en-US" dirty="0"/>
              <a:t>.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i="1" dirty="0"/>
              <a:t>t = 1s </a:t>
            </a:r>
            <a:r>
              <a:rPr lang="en-US" dirty="0" err="1"/>
              <a:t>là</a:t>
            </a:r>
            <a:r>
              <a:rPr lang="en-US" dirty="0"/>
              <a:t>:</a:t>
            </a:r>
          </a:p>
          <a:p>
            <a:r>
              <a:rPr lang="en-US" dirty="0"/>
              <a:t>A.	4 m/s</a:t>
            </a:r>
            <a:r>
              <a:rPr lang="en-US" baseline="30000" dirty="0"/>
              <a:t>2</a:t>
            </a:r>
            <a:endParaRPr lang="en-US" dirty="0"/>
          </a:p>
          <a:p>
            <a:r>
              <a:rPr lang="en-US" dirty="0"/>
              <a:t>B.	- 4 m/s</a:t>
            </a:r>
            <a:r>
              <a:rPr lang="en-US" baseline="30000" dirty="0"/>
              <a:t>2</a:t>
            </a:r>
            <a:endParaRPr lang="en-US" dirty="0"/>
          </a:p>
          <a:p>
            <a:r>
              <a:rPr lang="en-US" dirty="0"/>
              <a:t>C.	- 12 m/s</a:t>
            </a:r>
            <a:r>
              <a:rPr lang="en-US" baseline="30000" dirty="0"/>
              <a:t>2</a:t>
            </a:r>
            <a:endParaRPr lang="en-US" dirty="0"/>
          </a:p>
          <a:p>
            <a:r>
              <a:rPr lang="en-US" dirty="0"/>
              <a:t>D.	- 24 m/s</a:t>
            </a:r>
            <a:r>
              <a:rPr lang="en-US" baseline="30000" dirty="0"/>
              <a:t>2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5b.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tạm</a:t>
            </a:r>
            <a:r>
              <a:rPr lang="en-US" dirty="0"/>
              <a:t> </a:t>
            </a:r>
            <a:r>
              <a:rPr lang="en-US" dirty="0" err="1"/>
              <a:t>dừng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?</a:t>
            </a:r>
          </a:p>
          <a:p>
            <a:r>
              <a:rPr lang="en-US" dirty="0"/>
              <a:t>A.	 0,75 s</a:t>
            </a:r>
          </a:p>
          <a:p>
            <a:r>
              <a:rPr lang="en-US" dirty="0"/>
              <a:t>B.	 5,3 s</a:t>
            </a:r>
          </a:p>
          <a:p>
            <a:r>
              <a:rPr lang="en-US" dirty="0"/>
              <a:t>C.	 9,3 s</a:t>
            </a:r>
          </a:p>
          <a:p>
            <a:r>
              <a:rPr lang="en-US" dirty="0"/>
              <a:t>D.	 1,5 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83DD7F-CFEC-A26A-627C-7BC167F33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1AF53-03CE-C8FC-D38B-006746FBE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6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715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6. </a:t>
            </a:r>
            <a:r>
              <a:rPr lang="en-US" dirty="0" err="1"/>
              <a:t>Đánh</a:t>
            </a:r>
            <a:r>
              <a:rPr lang="en-US" dirty="0"/>
              <a:t> 1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bóng</a:t>
            </a:r>
            <a:r>
              <a:rPr lang="en-US" dirty="0"/>
              <a:t> golf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bóng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ở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ngọn</a:t>
            </a:r>
            <a:r>
              <a:rPr lang="en-US" dirty="0"/>
              <a:t> </a:t>
            </a:r>
            <a:r>
              <a:rPr lang="en-US" dirty="0" err="1"/>
              <a:t>đồi</a:t>
            </a:r>
            <a:r>
              <a:rPr lang="en-US" dirty="0"/>
              <a:t>.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bóng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i="1" dirty="0"/>
              <a:t>x </a:t>
            </a:r>
            <a:r>
              <a:rPr lang="en-US" dirty="0"/>
              <a:t>= 18</a:t>
            </a:r>
            <a:r>
              <a:rPr lang="en-US" i="1" dirty="0"/>
              <a:t>t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i="1" dirty="0"/>
              <a:t>y = </a:t>
            </a:r>
            <a:r>
              <a:rPr lang="en-US" dirty="0"/>
              <a:t>4</a:t>
            </a:r>
            <a:r>
              <a:rPr lang="en-US" i="1" dirty="0"/>
              <a:t>t </a:t>
            </a:r>
            <a:r>
              <a:rPr lang="en-US" dirty="0"/>
              <a:t>– 4,9</a:t>
            </a:r>
            <a:r>
              <a:rPr lang="en-US" i="1" dirty="0"/>
              <a:t>t² </a:t>
            </a:r>
            <a:r>
              <a:rPr lang="en-US" dirty="0"/>
              <a:t>(m; s). </a:t>
            </a:r>
          </a:p>
          <a:p>
            <a:pPr marL="0" indent="0">
              <a:buNone/>
            </a:pPr>
            <a:r>
              <a:rPr lang="en-US" dirty="0"/>
              <a:t>(a)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fr-FR" dirty="0" err="1"/>
              <a:t>vector</a:t>
            </a:r>
            <a:r>
              <a:rPr lang="fr-FR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bóng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vec-tơ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i="1" dirty="0" err="1"/>
              <a:t>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i="1" dirty="0"/>
              <a:t>j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(b)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fr-FR" dirty="0" err="1"/>
              <a:t>vector</a:t>
            </a:r>
            <a:r>
              <a:rPr lang="fr-FR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(c) </a:t>
            </a:r>
            <a:r>
              <a:rPr lang="fr-FR" dirty="0" err="1"/>
              <a:t>Vector</a:t>
            </a:r>
            <a:r>
              <a:rPr lang="fr-FR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(d)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,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,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bóng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i="1" dirty="0"/>
              <a:t>t = </a:t>
            </a:r>
            <a:r>
              <a:rPr lang="en-US" dirty="0"/>
              <a:t>3s</a:t>
            </a:r>
            <a:r>
              <a:rPr lang="en-US" i="1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BCBFE9-EFF4-D864-33FE-26C06D117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79A72-3D1B-AD64-E6EC-2B8AD8B89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53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F39A4EF-3005-1679-7718-529ABB0E7B3F}"/>
                  </a:ext>
                </a:extLst>
              </p:cNvPr>
              <p:cNvSpPr/>
              <p:nvPr/>
            </p:nvSpPr>
            <p:spPr>
              <a:xfrm>
                <a:off x="1219200" y="4419600"/>
                <a:ext cx="7239000" cy="193675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 dirty="0"/>
                  <a:t> = 18t.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</m:oMath>
                </a14:m>
                <a:r>
                  <a:rPr lang="en-US" dirty="0"/>
                  <a:t> + (4</a:t>
                </a:r>
                <a:r>
                  <a:rPr lang="en-US" i="1" dirty="0"/>
                  <a:t>t </a:t>
                </a:r>
                <a:r>
                  <a:rPr lang="en-US" dirty="0"/>
                  <a:t>– 4,9</a:t>
                </a:r>
                <a:r>
                  <a:rPr lang="en-US" i="1" dirty="0"/>
                  <a:t>t²)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endParaRPr lang="en-US" dirty="0"/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lang="en-US" dirty="0"/>
                  <a:t> = 18.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</m:oMath>
                </a14:m>
                <a:r>
                  <a:rPr lang="en-US" dirty="0"/>
                  <a:t> + (4</a:t>
                </a:r>
                <a:r>
                  <a:rPr lang="en-US" i="1" dirty="0"/>
                  <a:t> </a:t>
                </a:r>
                <a:r>
                  <a:rPr lang="en-US" dirty="0"/>
                  <a:t>– 9,8</a:t>
                </a:r>
                <a:r>
                  <a:rPr lang="en-US" i="1" dirty="0"/>
                  <a:t>t)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endParaRPr lang="en-US" dirty="0"/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lang="en-US" dirty="0"/>
                  <a:t> = 0.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</m:oMath>
                </a14:m>
                <a:r>
                  <a:rPr lang="en-US" dirty="0"/>
                  <a:t> + (</a:t>
                </a:r>
                <a:r>
                  <a:rPr lang="en-US" i="1" dirty="0"/>
                  <a:t> </a:t>
                </a:r>
                <a:r>
                  <a:rPr lang="en-US" dirty="0"/>
                  <a:t>– 9,8</a:t>
                </a:r>
                <a:r>
                  <a:rPr lang="en-US" i="1" dirty="0"/>
                  <a:t>)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endParaRPr lang="en-US" dirty="0"/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(18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4</m:t>
                            </m:r>
                            <m:r>
                              <m:rPr>
                                <m:nor/>
                              </m:rPr>
                              <a:rPr lang="en-US" i="1" dirty="0"/>
                              <m:t>t</m:t>
                            </m:r>
                            <m:r>
                              <m:rPr>
                                <m:nor/>
                              </m:rPr>
                              <a:rPr lang="en-US" i="1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– 4,9</m:t>
                            </m:r>
                            <m:r>
                              <m:rPr>
                                <m:nor/>
                              </m:rPr>
                              <a:rPr lang="en-US" i="1" dirty="0"/>
                              <m:t>t</m:t>
                            </m:r>
                            <m:r>
                              <m:rPr>
                                <m:nor/>
                              </m:rPr>
                              <a:rPr lang="en-US" i="1" dirty="0"/>
                              <m:t>²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dirty="0"/>
                  <a:t> = …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F39A4EF-3005-1679-7718-529ABB0E7B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4419600"/>
                <a:ext cx="7239000" cy="19367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413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638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7.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.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10 m/s </a:t>
            </a:r>
            <a:r>
              <a:rPr lang="en-US" dirty="0" err="1"/>
              <a:t>đến</a:t>
            </a:r>
            <a:r>
              <a:rPr lang="en-US" dirty="0"/>
              <a:t> 50 m/s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60 m.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:</a:t>
            </a:r>
          </a:p>
          <a:p>
            <a:r>
              <a:rPr lang="en-US" dirty="0"/>
              <a:t>A.	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do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hằng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.</a:t>
            </a:r>
          </a:p>
          <a:p>
            <a:r>
              <a:rPr lang="en-US" dirty="0"/>
              <a:t>B.	2 s</a:t>
            </a:r>
          </a:p>
          <a:p>
            <a:r>
              <a:rPr lang="en-US" dirty="0"/>
              <a:t>C.	8 s</a:t>
            </a:r>
          </a:p>
          <a:p>
            <a:r>
              <a:rPr lang="en-US" dirty="0"/>
              <a:t>D.	4 s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163D64-9099-E6DB-7E40-8B0B44040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06CD0-A9F3-01F9-DC73-493E482D8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6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638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8.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thả</a:t>
            </a:r>
            <a:r>
              <a:rPr lang="en-US" dirty="0"/>
              <a:t> </a:t>
            </a:r>
            <a:r>
              <a:rPr lang="en-US" dirty="0" err="1"/>
              <a:t>rơi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do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? (Cho g = 9,8 m/s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r>
              <a:rPr lang="en-US" dirty="0"/>
              <a:t>A.	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giây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rơi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9,8 m.</a:t>
            </a:r>
          </a:p>
          <a:p>
            <a:r>
              <a:rPr lang="en-US" dirty="0"/>
              <a:t>B.	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giây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9,8 m/s</a:t>
            </a:r>
            <a:r>
              <a:rPr lang="en-US" baseline="30000" dirty="0"/>
              <a:t>2</a:t>
            </a:r>
            <a:r>
              <a:rPr lang="en-US" dirty="0"/>
              <a:t>.</a:t>
            </a:r>
          </a:p>
          <a:p>
            <a:r>
              <a:rPr lang="en-US" dirty="0"/>
              <a:t>C.	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rơi</a:t>
            </a:r>
            <a:r>
              <a:rPr lang="en-US" dirty="0"/>
              <a:t> 9,8 m </a:t>
            </a:r>
            <a:r>
              <a:rPr lang="en-US" dirty="0" err="1"/>
              <a:t>trong</a:t>
            </a:r>
            <a:r>
              <a:rPr lang="en-US" dirty="0"/>
              <a:t> 1s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.</a:t>
            </a:r>
          </a:p>
          <a:p>
            <a:r>
              <a:rPr lang="en-US" dirty="0"/>
              <a:t>D.	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giây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4,9 m/s.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9791B52-80BB-C743-B72A-A32CE8C31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A37C6-B58D-CD7E-7888-0F788751A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6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638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9a.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ném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thẳng</a:t>
            </a:r>
            <a:r>
              <a:rPr lang="en-US" dirty="0"/>
              <a:t> </a:t>
            </a:r>
            <a:r>
              <a:rPr lang="en-US" dirty="0" err="1"/>
              <a:t>đứng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đất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35 m/s.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g = 10 m/s²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đất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1 s </a:t>
            </a:r>
            <a:r>
              <a:rPr lang="en-US" dirty="0" err="1"/>
              <a:t>là</a:t>
            </a:r>
            <a:r>
              <a:rPr lang="en-US" dirty="0"/>
              <a:t>:</a:t>
            </a:r>
          </a:p>
          <a:p>
            <a:r>
              <a:rPr lang="en-US" dirty="0"/>
              <a:t>A.	60 m</a:t>
            </a:r>
          </a:p>
          <a:p>
            <a:r>
              <a:rPr lang="en-US" dirty="0"/>
              <a:t>B.	55 m</a:t>
            </a:r>
          </a:p>
          <a:p>
            <a:r>
              <a:rPr lang="en-US" dirty="0"/>
              <a:t>C.	50 m</a:t>
            </a:r>
          </a:p>
          <a:p>
            <a:r>
              <a:rPr lang="en-US" dirty="0"/>
              <a:t>D.	30 m</a:t>
            </a:r>
          </a:p>
          <a:p>
            <a:pPr marL="0" indent="0">
              <a:buNone/>
            </a:pPr>
            <a:r>
              <a:rPr lang="en-US" dirty="0"/>
              <a:t>9b.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5s</a:t>
            </a:r>
          </a:p>
          <a:p>
            <a:r>
              <a:rPr lang="en-US" dirty="0"/>
              <a:t>A.	85 m/s,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lên</a:t>
            </a:r>
            <a:endParaRPr lang="en-US" dirty="0"/>
          </a:p>
          <a:p>
            <a:r>
              <a:rPr lang="en-US" dirty="0"/>
              <a:t>B.	85 m/s,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xuống</a:t>
            </a:r>
            <a:endParaRPr lang="en-US" dirty="0"/>
          </a:p>
          <a:p>
            <a:r>
              <a:rPr lang="en-US" dirty="0"/>
              <a:t>C.	15 m/s,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lên</a:t>
            </a:r>
            <a:endParaRPr lang="en-US" dirty="0"/>
          </a:p>
          <a:p>
            <a:r>
              <a:rPr lang="en-US" dirty="0"/>
              <a:t>D.	15 m/s,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xuống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val 1"/>
              <p:cNvSpPr/>
              <p:nvPr/>
            </p:nvSpPr>
            <p:spPr>
              <a:xfrm>
                <a:off x="5715000" y="3048000"/>
                <a:ext cx="3200400" cy="1600200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Y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t</m:t>
                    </m:r>
                    <m:r>
                      <a:rPr lang="en-US" b="0" i="0" smtClean="0">
                        <a:latin typeface="Cambria Math"/>
                      </a:rPr>
                      <m:t>+1/2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at</m:t>
                    </m:r>
                    <m:r>
                      <a:rPr lang="en-US" b="0" i="1" smtClean="0">
                        <a:latin typeface="Cambria Math"/>
                      </a:rPr>
                      <m:t>²</m:t>
                    </m:r>
                  </m:oMath>
                </a14:m>
                <a:r>
                  <a:rPr lang="en-US" dirty="0"/>
                  <a:t>, </a:t>
                </a:r>
              </a:p>
              <a:p>
                <a:pPr algn="ctr"/>
                <a:r>
                  <a:rPr lang="en-US" dirty="0"/>
                  <a:t>a = -g</a:t>
                </a:r>
              </a:p>
              <a:p>
                <a:pPr algn="ctr"/>
                <a:r>
                  <a:rPr lang="en-US" dirty="0"/>
                  <a:t>v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+at</a:t>
                </a:r>
              </a:p>
              <a:p>
                <a:pPr algn="ctr"/>
                <a:r>
                  <a:rPr lang="en-US" dirty="0"/>
                  <a:t>= 35 – 10.5 = -15 m/s</a:t>
                </a:r>
              </a:p>
            </p:txBody>
          </p:sp>
        </mc:Choice>
        <mc:Fallback xmlns="">
          <p:sp>
            <p:nvSpPr>
              <p:cNvPr id="2" name="Oval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048000"/>
                <a:ext cx="3200400" cy="1600200"/>
              </a:xfrm>
              <a:prstGeom prst="ellipse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6C8B8E-7BA1-A272-4952-103E7A15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AB0F1F-569B-69B4-7E1A-AC7B26294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6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638800"/>
          </a:xfrm>
        </p:spPr>
        <p:txBody>
          <a:bodyPr/>
          <a:lstStyle/>
          <a:p>
            <a:r>
              <a:rPr lang="en-US" dirty="0"/>
              <a:t>10.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vật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ném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từ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cao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80 m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phương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nằm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ngang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Vật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đoạn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phương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ngang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x = 10 m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trước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khi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chạm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đất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Lấy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g = 10m/s².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Hỏi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vật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ném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vận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tốc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ban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đầu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bao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nhiêu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?</a:t>
            </a:r>
            <a:endParaRPr lang="en-US" sz="2400" dirty="0"/>
          </a:p>
          <a:p>
            <a:r>
              <a:rPr lang="en-US" dirty="0"/>
              <a:t>A.	5 m/s.</a:t>
            </a:r>
          </a:p>
          <a:p>
            <a:r>
              <a:rPr lang="en-US" dirty="0"/>
              <a:t>B.	2,5 m/s.</a:t>
            </a:r>
          </a:p>
          <a:p>
            <a:r>
              <a:rPr lang="en-US" dirty="0"/>
              <a:t>C.	15 m/s.</a:t>
            </a:r>
          </a:p>
          <a:p>
            <a:r>
              <a:rPr lang="en-US" dirty="0"/>
              <a:t>D.	10 m/s.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9791B52-80BB-C743-B72A-A32CE8C31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Bùi Quốc Trung - VLDC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A37C6-B58D-CD7E-7888-0F788751A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6F20-F21E-4282-BB7D-EF58A579D88C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85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7134</TotalTime>
  <Words>4346</Words>
  <Application>Microsoft Office PowerPoint</Application>
  <PresentationFormat>On-screen Show (4:3)</PresentationFormat>
  <Paragraphs>580</Paragraphs>
  <Slides>57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6" baseType="lpstr">
      <vt:lpstr>Arial</vt:lpstr>
      <vt:lpstr>Calibri</vt:lpstr>
      <vt:lpstr>Cambria Math</vt:lpstr>
      <vt:lpstr>Constantia</vt:lpstr>
      <vt:lpstr>Times New Roman</vt:lpstr>
      <vt:lpstr>Wingdings</vt:lpstr>
      <vt:lpstr>Wingdings 2</vt:lpstr>
      <vt:lpstr>Flow</vt:lpstr>
      <vt:lpstr>Equation</vt:lpstr>
      <vt:lpstr>CHƯƠNG 1: Chuyển động</vt:lpstr>
      <vt:lpstr>1.1. Các khái niệm cơ bản về chuyển động</vt:lpstr>
      <vt:lpstr>PowerPoint Presentation</vt:lpstr>
      <vt:lpstr>1.1. Các khái niệm cơ bản về chuyển động</vt:lpstr>
      <vt:lpstr>1.1. Các khái niệm cơ bản về chuyển động</vt:lpstr>
      <vt:lpstr>1.1. Các khái niệm cơ bản về chuyển động</vt:lpstr>
      <vt:lpstr>1.1. Các khái niệm cơ bản về chuyển động</vt:lpstr>
      <vt:lpstr>1.1. Các khái niệm cơ bản về chuyển động</vt:lpstr>
      <vt:lpstr>PowerPoint Presentation</vt:lpstr>
      <vt:lpstr>PowerPoint Presentation</vt:lpstr>
      <vt:lpstr>PowerPoint Presentation</vt:lpstr>
      <vt:lpstr>1.2. Tốc độ - vận tốc</vt:lpstr>
      <vt:lpstr>PowerPoint Presentation</vt:lpstr>
      <vt:lpstr>1.2. Tốc độ - vận tốc</vt:lpstr>
      <vt:lpstr>1.2. Tốc độ - vận tốc</vt:lpstr>
      <vt:lpstr>PowerPoint Presentation</vt:lpstr>
      <vt:lpstr>PowerPoint Presentation</vt:lpstr>
      <vt:lpstr>PowerPoint Presentation</vt:lpstr>
      <vt:lpstr>PowerPoint Presentation</vt:lpstr>
      <vt:lpstr>1.3. Gia tốc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1.5. Chuyển động với gia tốc không đổi </vt:lpstr>
      <vt:lpstr>PowerPoint Presentation</vt:lpstr>
      <vt:lpstr>PowerPoint Presentation</vt:lpstr>
      <vt:lpstr>PowerPoint Presentation</vt:lpstr>
      <vt:lpstr>Rơi tự do</vt:lpstr>
      <vt:lpstr>PowerPoint Presentation</vt:lpstr>
      <vt:lpstr>PowerPoint Presentation</vt:lpstr>
      <vt:lpstr>PowerPoint Presentation</vt:lpstr>
      <vt:lpstr>1.6. Chuyển động ném xiên</vt:lpstr>
      <vt:lpstr>Chuyển động ném xiên</vt:lpstr>
      <vt:lpstr>Chuyển động ném xiên</vt:lpstr>
      <vt:lpstr>Chuyển động ném xiên</vt:lpstr>
      <vt:lpstr>Chuyển động ném xiên</vt:lpstr>
      <vt:lpstr>PowerPoint Presentation</vt:lpstr>
      <vt:lpstr>PowerPoint Presentation</vt:lpstr>
      <vt:lpstr>PowerPoint Presentation</vt:lpstr>
      <vt:lpstr>PowerPoint Presentation</vt:lpstr>
      <vt:lpstr>1.7. Gia tốc trong chuyển động cong</vt:lpstr>
      <vt:lpstr>Gia tốc trong chuyển động cong</vt:lpstr>
      <vt:lpstr>Test 2</vt:lpstr>
      <vt:lpstr>PowerPoint Presentation</vt:lpstr>
      <vt:lpstr>Bài tập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huynhminhmanpham@gmail.com</cp:lastModifiedBy>
  <cp:revision>233</cp:revision>
  <dcterms:created xsi:type="dcterms:W3CDTF">2016-06-14T01:37:03Z</dcterms:created>
  <dcterms:modified xsi:type="dcterms:W3CDTF">2025-09-30T05:32:29Z</dcterms:modified>
</cp:coreProperties>
</file>