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activeX/activeX1.xml" ContentType="application/vnd.ms-office.activeX+xml"/>
  <Override PartName="/ppt/activeX/activeX1.bin" ContentType="application/vnd.ms-office.activeX"/>
  <Override PartName="/ppt/notesSlides/notesSlide1.xml" ContentType="application/vnd.openxmlformats-officedocument.presentationml.notesSlide+xml"/>
  <Override PartName="/ppt/notesSlides/notesSlide2.xml" ContentType="application/vnd.openxmlformats-officedocument.presentationml.notesSlide+xml"/>
  <Override PartName="/ppt/activeX/activeX2.xml" ContentType="application/vnd.ms-office.activeX+xml"/>
  <Override PartName="/ppt/activeX/activeX2.bin" ContentType="application/vnd.ms-office.activeX"/>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image59.jpg" ContentType="image/gif"/>
  <Override PartName="/ppt/media/image60.jpg" ContentType="image/gif"/>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257" r:id="rId2"/>
    <p:sldId id="258" r:id="rId3"/>
    <p:sldId id="298" r:id="rId4"/>
    <p:sldId id="300" r:id="rId5"/>
    <p:sldId id="301" r:id="rId6"/>
    <p:sldId id="340" r:id="rId7"/>
    <p:sldId id="338" r:id="rId8"/>
    <p:sldId id="339" r:id="rId9"/>
    <p:sldId id="302" r:id="rId10"/>
    <p:sldId id="332" r:id="rId11"/>
    <p:sldId id="313" r:id="rId12"/>
    <p:sldId id="303" r:id="rId13"/>
    <p:sldId id="304" r:id="rId14"/>
    <p:sldId id="314" r:id="rId15"/>
    <p:sldId id="315" r:id="rId16"/>
    <p:sldId id="320" r:id="rId17"/>
    <p:sldId id="321" r:id="rId18"/>
    <p:sldId id="333" r:id="rId19"/>
    <p:sldId id="322" r:id="rId20"/>
    <p:sldId id="316" r:id="rId21"/>
    <p:sldId id="311" r:id="rId22"/>
    <p:sldId id="309" r:id="rId23"/>
    <p:sldId id="310" r:id="rId24"/>
    <p:sldId id="306" r:id="rId25"/>
    <p:sldId id="318" r:id="rId26"/>
    <p:sldId id="308" r:id="rId27"/>
    <p:sldId id="323" r:id="rId28"/>
    <p:sldId id="262" r:id="rId29"/>
    <p:sldId id="263" r:id="rId30"/>
    <p:sldId id="264" r:id="rId31"/>
    <p:sldId id="265" r:id="rId32"/>
    <p:sldId id="270" r:id="rId33"/>
    <p:sldId id="271" r:id="rId34"/>
    <p:sldId id="272" r:id="rId35"/>
    <p:sldId id="273" r:id="rId36"/>
    <p:sldId id="274" r:id="rId37"/>
    <p:sldId id="326" r:id="rId38"/>
    <p:sldId id="327" r:id="rId39"/>
    <p:sldId id="328" r:id="rId40"/>
    <p:sldId id="329" r:id="rId41"/>
    <p:sldId id="330" r:id="rId42"/>
    <p:sldId id="325" r:id="rId43"/>
    <p:sldId id="275" r:id="rId44"/>
    <p:sldId id="276" r:id="rId45"/>
    <p:sldId id="277" r:id="rId46"/>
    <p:sldId id="317" r:id="rId47"/>
    <p:sldId id="336" r:id="rId48"/>
    <p:sldId id="285" r:id="rId49"/>
    <p:sldId id="284" r:id="rId50"/>
    <p:sldId id="324" r:id="rId51"/>
    <p:sldId id="286" r:id="rId52"/>
    <p:sldId id="287" r:id="rId53"/>
    <p:sldId id="288" r:id="rId54"/>
    <p:sldId id="289" r:id="rId55"/>
    <p:sldId id="290" r:id="rId56"/>
    <p:sldId id="291" r:id="rId57"/>
    <p:sldId id="292" r:id="rId58"/>
    <p:sldId id="293" r:id="rId59"/>
    <p:sldId id="294" r:id="rId60"/>
    <p:sldId id="295" r:id="rId61"/>
    <p:sldId id="296" r:id="rId62"/>
    <p:sldId id="297" r:id="rId6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20" autoAdjust="0"/>
    <p:restoredTop sz="94660"/>
  </p:normalViewPr>
  <p:slideViewPr>
    <p:cSldViewPr>
      <p:cViewPr varScale="1">
        <p:scale>
          <a:sx n="85" d="100"/>
          <a:sy n="85" d="100"/>
        </p:scale>
        <p:origin x="1435" y="62"/>
      </p:cViewPr>
      <p:guideLst>
        <p:guide orient="horz" pos="2160"/>
        <p:guide pos="2880"/>
      </p:guideLst>
    </p:cSldViewPr>
  </p:slideViewPr>
  <p:notesTextViewPr>
    <p:cViewPr>
      <p:scale>
        <a:sx n="3" d="2"/>
        <a:sy n="3" d="2"/>
      </p:scale>
      <p:origin x="0" y="0"/>
    </p:cViewPr>
  </p:notesTextViewPr>
  <p:sorterViewPr>
    <p:cViewPr>
      <p:scale>
        <a:sx n="100" d="100"/>
        <a:sy n="100" d="100"/>
      </p:scale>
      <p:origin x="0" y="8976"/>
    </p:cViewPr>
  </p:sorterViewPr>
  <p:notesViewPr>
    <p:cSldViewPr>
      <p:cViewPr varScale="1">
        <p:scale>
          <a:sx n="68" d="100"/>
          <a:sy n="68" d="100"/>
        </p:scale>
        <p:origin x="-2328" y="-11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activeX/activeX2.xml><?xml version="1.0" encoding="utf-8"?>
<ax:ocx xmlns:ax="http://schemas.microsoft.com/office/2006/activeX" xmlns:r="http://schemas.openxmlformats.org/officeDocument/2006/relationships" ax:classid="{D27CDB6E-AE6D-11CF-96B8-444553540000}" ax:persistence="persistStorage" r:id="rId1"/>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A85E40-9AD7-442B-BA9F-218B6E073CC9}" type="datetimeFigureOut">
              <a:rPr lang="en-US" smtClean="0"/>
              <a:t>9/30/2025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21134E5-7BDB-4BD4-B532-A0EE5BD855CF}" type="slidenum">
              <a:rPr lang="en-US" smtClean="0"/>
              <a:t>‹#›</a:t>
            </a:fld>
            <a:endParaRPr lang="en-US"/>
          </a:p>
        </p:txBody>
      </p:sp>
    </p:spTree>
    <p:extLst>
      <p:ext uri="{BB962C8B-B14F-4D97-AF65-F5344CB8AC3E}">
        <p14:creationId xmlns:p14="http://schemas.microsoft.com/office/powerpoint/2010/main" val="17422327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image" Target="../media/image130.png"/></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921134E5-7BDB-4BD4-B532-A0EE5BD855CF}" type="slidenum">
              <a:rPr lang="en-US" smtClean="0"/>
              <a:t>10</a:t>
            </a:fld>
            <a:endParaRPr lang="en-US"/>
          </a:p>
        </p:txBody>
      </p:sp>
      <mc:AlternateContent xmlns:mc="http://schemas.openxmlformats.org/markup-compatibility/2006" xmlns:a14="http://schemas.microsoft.com/office/drawing/2010/main">
        <mc:Choice Requires="a14">
          <p:sp>
            <p:nvSpPr>
              <p:cNvPr id="5" name="Notes Placeholder 4"/>
              <p:cNvSpPr>
                <a:spLocks noGrp="1"/>
              </p:cNvSpPr>
              <p:nvPr>
                <p:ph type="body" idx="1"/>
              </p:nvPr>
            </p:nvSpPr>
            <p:spPr>
              <a:xfrm>
                <a:off x="685800" y="4343400"/>
                <a:ext cx="4800600" cy="2743200"/>
              </a:xfrm>
              <a:prstGeom prst="wedgeEllipseCallout">
                <a:avLst/>
              </a:prstGeom>
            </p:spPr>
            <p:style>
              <a:lnRef idx="2">
                <a:schemeClr val="accent5"/>
              </a:lnRef>
              <a:fillRef idx="1">
                <a:schemeClr val="lt1"/>
              </a:fillRef>
              <a:effectRef idx="0">
                <a:schemeClr val="accent5"/>
              </a:effectRef>
              <a:fontRef idx="minor">
                <a:schemeClr val="dk1"/>
              </a:fontRef>
            </p:style>
            <p:txBody>
              <a:bodyPr rtlCol="0" anchor="ctr"/>
              <a:lstStyle/>
              <a:p>
                <a:pPr algn="ct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a:rPr>
                          <m:t>𝑁</m:t>
                        </m:r>
                      </m:e>
                      <m:sub>
                        <m:r>
                          <a:rPr lang="en-US" sz="2400" b="0" i="1" smtClean="0">
                            <a:latin typeface="Cambria Math"/>
                          </a:rPr>
                          <m:t>𝐴</m:t>
                        </m:r>
                      </m:sub>
                    </m:sSub>
                  </m:oMath>
                </a14:m>
                <a:r>
                  <a:rPr lang="en-US" sz="2400"/>
                  <a:t> = 6,023.</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a:rPr>
                          <m:t>10</m:t>
                        </m:r>
                      </m:e>
                      <m:sup>
                        <m:r>
                          <a:rPr lang="en-US" sz="2400" b="0" i="1" smtClean="0">
                            <a:latin typeface="Cambria Math"/>
                          </a:rPr>
                          <m:t>23</m:t>
                        </m:r>
                      </m:sup>
                    </m:sSup>
                  </m:oMath>
                </a14:m>
                <a:r>
                  <a:rPr lang="en-US" sz="2400"/>
                  <a:t> phân tử/mol</a:t>
                </a:r>
              </a:p>
              <a:p>
                <a:pPr algn="ctr"/>
                <a:r>
                  <a:rPr lang="en-US" sz="2400"/>
                  <a:t>N = n.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𝑁</m:t>
                        </m:r>
                      </m:e>
                      <m:sub>
                        <m:r>
                          <a:rPr lang="en-US" sz="2400" i="1">
                            <a:latin typeface="Cambria Math"/>
                          </a:rPr>
                          <m:t>𝐴</m:t>
                        </m:r>
                      </m:sub>
                    </m:sSub>
                    <m:r>
                      <a:rPr lang="en-US" sz="2400" i="1">
                        <a:latin typeface="Cambria Math"/>
                      </a:rPr>
                      <m:t> </m:t>
                    </m:r>
                  </m:oMath>
                </a14:m>
                <a:r>
                  <a:rPr lang="en-US" sz="2400"/>
                  <a:t>= 1/18.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𝑁</m:t>
                        </m:r>
                      </m:e>
                      <m:sub>
                        <m:r>
                          <a:rPr lang="en-US" sz="2400" i="1">
                            <a:latin typeface="Cambria Math"/>
                          </a:rPr>
                          <m:t>𝐴</m:t>
                        </m:r>
                      </m:sub>
                    </m:sSub>
                    <m:r>
                      <a:rPr lang="en-US" sz="2400" i="1">
                        <a:latin typeface="Cambria Math"/>
                      </a:rPr>
                      <m:t> </m:t>
                    </m:r>
                  </m:oMath>
                </a14:m>
                <a:r>
                  <a:rPr lang="en-US" sz="2400"/>
                  <a:t>= </a:t>
                </a:r>
              </a:p>
            </p:txBody>
          </p:sp>
        </mc:Choice>
        <mc:Fallback xmlns="">
          <p:sp>
            <p:nvSpPr>
              <p:cNvPr id="5" name="Notes Placeholder 4"/>
              <p:cNvSpPr>
                <a:spLocks noGrp="1"/>
              </p:cNvSpPr>
              <p:nvPr>
                <p:ph type="body" idx="1"/>
              </p:nvPr>
            </p:nvSpPr>
            <p:spPr>
              <a:xfrm>
                <a:off x="685800" y="4343400"/>
                <a:ext cx="4800600" cy="2743200"/>
              </a:xfrm>
              <a:prstGeom prst="wedgeEllipseCallou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2400" b="0" i="0" smtClean="0">
                    <a:latin typeface="Cambria Math"/>
                  </a:rPr>
                  <a:t>𝑁_𝐴</a:t>
                </a:r>
                <a:r>
                  <a:rPr lang="en-US" sz="2400" smtClean="0"/>
                  <a:t> = 6,023.</a:t>
                </a:r>
                <a:r>
                  <a:rPr lang="en-US" sz="2400" i="0" smtClean="0">
                    <a:latin typeface="Cambria Math"/>
                  </a:rPr>
                  <a:t>〖</a:t>
                </a:r>
                <a:r>
                  <a:rPr lang="en-US" sz="2400" b="0" i="0" smtClean="0">
                    <a:latin typeface="Cambria Math"/>
                  </a:rPr>
                  <a:t>10〗^23</a:t>
                </a:r>
                <a:r>
                  <a:rPr lang="en-US" sz="2400" smtClean="0"/>
                  <a:t> phân tử/mol</a:t>
                </a:r>
              </a:p>
              <a:p>
                <a:pPr algn="ctr"/>
                <a:r>
                  <a:rPr lang="en-US" sz="2400" smtClean="0"/>
                  <a:t>N = n.</a:t>
                </a:r>
                <a:r>
                  <a:rPr lang="en-US" sz="2400"/>
                  <a:t> </a:t>
                </a:r>
                <a:r>
                  <a:rPr lang="en-US" sz="2400" i="0">
                    <a:latin typeface="Cambria Math"/>
                  </a:rPr>
                  <a:t>𝑁_𝐴  </a:t>
                </a:r>
                <a:r>
                  <a:rPr lang="en-US" sz="2400" smtClean="0"/>
                  <a:t>= 1/18.</a:t>
                </a:r>
                <a:r>
                  <a:rPr lang="en-US" sz="2400"/>
                  <a:t> </a:t>
                </a:r>
                <a:r>
                  <a:rPr lang="en-US" sz="2400" i="0">
                    <a:latin typeface="Cambria Math"/>
                  </a:rPr>
                  <a:t>𝑁_𝐴  </a:t>
                </a:r>
                <a:r>
                  <a:rPr lang="en-US" sz="2400" smtClean="0"/>
                  <a:t>= </a:t>
                </a:r>
                <a:endParaRPr lang="en-US" sz="2400"/>
              </a:p>
            </p:txBody>
          </p:sp>
        </mc:Fallback>
      </mc:AlternateContent>
    </p:spTree>
    <p:extLst>
      <p:ext uri="{BB962C8B-B14F-4D97-AF65-F5344CB8AC3E}">
        <p14:creationId xmlns:p14="http://schemas.microsoft.com/office/powerpoint/2010/main" val="11210825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1134E5-7BDB-4BD4-B532-A0EE5BD855CF}" type="slidenum">
              <a:rPr lang="en-US" smtClean="0"/>
              <a:t>11</a:t>
            </a:fld>
            <a:endParaRPr lang="en-US"/>
          </a:p>
        </p:txBody>
      </p:sp>
      <mc:AlternateContent xmlns:mc="http://schemas.openxmlformats.org/markup-compatibility/2006" xmlns:a14="http://schemas.microsoft.com/office/drawing/2010/main">
        <mc:Choice Requires="a14">
          <p:sp>
            <p:nvSpPr>
              <p:cNvPr id="5" name="Oval Callout 4"/>
              <p:cNvSpPr/>
              <p:nvPr/>
            </p:nvSpPr>
            <p:spPr>
              <a:xfrm>
                <a:off x="-228600" y="5943600"/>
                <a:ext cx="3048000" cy="1676400"/>
              </a:xfrm>
              <a:prstGeom prst="wedgeEllipse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a:rPr>
                          <m:t>𝑁</m:t>
                        </m:r>
                      </m:num>
                      <m:den>
                        <m:r>
                          <a:rPr lang="en-US" sz="2400" b="0" i="1" smtClean="0">
                            <a:latin typeface="Cambria Math"/>
                          </a:rPr>
                          <m:t>𝑉</m:t>
                        </m:r>
                      </m:den>
                    </m:f>
                  </m:oMath>
                </a14:m>
                <a:r>
                  <a:rPr lang="en-US" sz="2400" dirty="0"/>
                  <a:t> =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a:rPr>
                          <m:t>𝑛</m:t>
                        </m:r>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𝑁</m:t>
                            </m:r>
                          </m:e>
                          <m:sub>
                            <m:r>
                              <a:rPr lang="en-US" sz="2400" b="0" i="1" smtClean="0">
                                <a:latin typeface="Cambria Math"/>
                              </a:rPr>
                              <m:t>𝐴</m:t>
                            </m:r>
                          </m:sub>
                        </m:sSub>
                      </m:num>
                      <m:den>
                        <m:r>
                          <a:rPr lang="en-US" sz="2400" b="0" i="1" smtClean="0">
                            <a:latin typeface="Cambria Math"/>
                          </a:rPr>
                          <m:t>𝑉</m:t>
                        </m:r>
                      </m:den>
                    </m:f>
                  </m:oMath>
                </a14:m>
                <a:r>
                  <a:rPr lang="en-US" sz="2400" dirty="0"/>
                  <a:t>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a:rPr>
                          <m:t>1/2.6,023.</m:t>
                        </m:r>
                        <m:sSup>
                          <m:sSupPr>
                            <m:ctrlPr>
                              <a:rPr lang="en-US" sz="2400" b="0" i="1" smtClean="0">
                                <a:latin typeface="Cambria Math" panose="02040503050406030204" pitchFamily="18" charset="0"/>
                              </a:rPr>
                            </m:ctrlPr>
                          </m:sSupPr>
                          <m:e>
                            <m:r>
                              <a:rPr lang="en-US" sz="2400" b="0" i="1" smtClean="0">
                                <a:latin typeface="Cambria Math"/>
                              </a:rPr>
                              <m:t>10</m:t>
                            </m:r>
                          </m:e>
                          <m:sup>
                            <m:r>
                              <a:rPr lang="en-US" sz="2400" b="0" i="1" smtClean="0">
                                <a:latin typeface="Cambria Math"/>
                              </a:rPr>
                              <m:t>23</m:t>
                            </m:r>
                          </m:sup>
                        </m:sSup>
                        <m:r>
                          <a:rPr lang="en-US" sz="2400" i="1" smtClean="0">
                            <a:latin typeface="Cambria Math"/>
                          </a:rPr>
                          <m:t> </m:t>
                        </m:r>
                      </m:num>
                      <m:den>
                        <m:r>
                          <a:rPr lang="en-US" sz="2400" b="0" i="1" smtClean="0">
                            <a:latin typeface="Cambria Math"/>
                          </a:rPr>
                          <m:t>4.</m:t>
                        </m:r>
                        <m:sSup>
                          <m:sSupPr>
                            <m:ctrlPr>
                              <a:rPr lang="en-US" sz="2400" b="0" i="1" smtClean="0">
                                <a:latin typeface="Cambria Math" panose="02040503050406030204" pitchFamily="18" charset="0"/>
                              </a:rPr>
                            </m:ctrlPr>
                          </m:sSupPr>
                          <m:e>
                            <m:r>
                              <a:rPr lang="en-US" sz="2400" b="0" i="1" smtClean="0">
                                <a:latin typeface="Cambria Math"/>
                              </a:rPr>
                              <m:t>10</m:t>
                            </m:r>
                          </m:e>
                          <m:sup>
                            <m:r>
                              <a:rPr lang="en-US" sz="2400" b="0" i="1" smtClean="0">
                                <a:latin typeface="Cambria Math"/>
                              </a:rPr>
                              <m:t>−3</m:t>
                            </m:r>
                          </m:sup>
                        </m:sSup>
                      </m:den>
                    </m:f>
                  </m:oMath>
                </a14:m>
                <a:r>
                  <a:rPr lang="en-US" sz="2400" dirty="0"/>
                  <a:t> = </a:t>
                </a:r>
              </a:p>
            </p:txBody>
          </p:sp>
        </mc:Choice>
        <mc:Fallback xmlns="">
          <p:sp>
            <p:nvSpPr>
              <p:cNvPr id="5" name="Oval Callout 4"/>
              <p:cNvSpPr>
                <a:spLocks noRot="1" noChangeAspect="1" noMove="1" noResize="1" noEditPoints="1" noAdjustHandles="1" noChangeArrowheads="1" noChangeShapeType="1" noTextEdit="1"/>
              </p:cNvSpPr>
              <p:nvPr/>
            </p:nvSpPr>
            <p:spPr>
              <a:xfrm>
                <a:off x="-228600" y="5943600"/>
                <a:ext cx="3048000" cy="1676400"/>
              </a:xfrm>
              <a:prstGeom prst="wedgeEllipseCallou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Callout 5"/>
              <p:cNvSpPr/>
              <p:nvPr/>
            </p:nvSpPr>
            <p:spPr>
              <a:xfrm>
                <a:off x="3657600" y="5715000"/>
                <a:ext cx="3657600" cy="1905000"/>
              </a:xfrm>
              <a:prstGeom prst="wedgeEllipseCallou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t>p = n.R.T/V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a:rPr>
                          <m:t>1/2.0,0848.390</m:t>
                        </m:r>
                      </m:num>
                      <m:den>
                        <m:r>
                          <a:rPr lang="en-US" b="0" i="1" smtClean="0">
                            <a:latin typeface="Cambria Math"/>
                          </a:rPr>
                          <m:t>5</m:t>
                        </m:r>
                      </m:den>
                    </m:f>
                  </m:oMath>
                </a14:m>
                <a:r>
                  <a:rPr lang="en-US"/>
                  <a:t> = 3,3072 at</a:t>
                </a:r>
              </a:p>
            </p:txBody>
          </p:sp>
        </mc:Choice>
        <mc:Fallback xmlns="">
          <p:sp>
            <p:nvSpPr>
              <p:cNvPr id="6" name="Oval Callout 5"/>
              <p:cNvSpPr>
                <a:spLocks noRot="1" noChangeAspect="1" noMove="1" noResize="1" noEditPoints="1" noAdjustHandles="1" noChangeArrowheads="1" noChangeShapeType="1" noTextEdit="1"/>
              </p:cNvSpPr>
              <p:nvPr/>
            </p:nvSpPr>
            <p:spPr>
              <a:xfrm>
                <a:off x="3657600" y="5715000"/>
                <a:ext cx="3657600" cy="1905000"/>
              </a:xfrm>
              <a:prstGeom prst="wedgeEllipseCallout">
                <a:avLst/>
              </a:prstGeom>
              <a:blipFill rotWithShape="1">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96830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921134E5-7BDB-4BD4-B532-A0EE5BD855CF}" type="slidenum">
              <a:rPr lang="en-US" smtClean="0"/>
              <a:t>15</a:t>
            </a:fld>
            <a:endParaRPr lang="en-US"/>
          </a:p>
        </p:txBody>
      </p:sp>
      <mc:AlternateContent xmlns:mc="http://schemas.openxmlformats.org/markup-compatibility/2006" xmlns:a14="http://schemas.microsoft.com/office/drawing/2010/main">
        <mc:Choice Requires="a14">
          <p:sp>
            <p:nvSpPr>
              <p:cNvPr id="5" name="Notes Placeholder 4"/>
              <p:cNvSpPr>
                <a:spLocks noGrp="1"/>
              </p:cNvSpPr>
              <p:nvPr>
                <p:ph type="body" idx="1"/>
              </p:nvPr>
            </p:nvSpPr>
            <p:spPr>
              <a:xfrm>
                <a:off x="685800" y="4343400"/>
                <a:ext cx="5181600" cy="2362200"/>
              </a:xfrm>
              <a:prstGeom prst="wedgeEllipse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1 at = 9,81.</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a:rPr>
                          <m:t>10</m:t>
                        </m:r>
                      </m:e>
                      <m:sup>
                        <m:r>
                          <a:rPr lang="en-US" b="0" i="1" smtClean="0">
                            <a:latin typeface="Cambria Math"/>
                          </a:rPr>
                          <m:t>4</m:t>
                        </m:r>
                      </m:sup>
                    </m:sSup>
                  </m:oMath>
                </a14:m>
                <a:r>
                  <a:rPr lang="en-US"/>
                  <a:t>N/m²</a:t>
                </a:r>
              </a:p>
              <a:p>
                <a:pPr algn="ctr"/>
                <a:r>
                  <a:rPr lang="en-US"/>
                  <a:t>1atm = </a:t>
                </a:r>
                <a14:m>
                  <m:oMath xmlns:m="http://schemas.openxmlformats.org/officeDocument/2006/math">
                    <m:sSup>
                      <m:sSupPr>
                        <m:ctrlPr>
                          <a:rPr lang="en-US" i="1">
                            <a:latin typeface="Cambria Math" panose="02040503050406030204" pitchFamily="18" charset="0"/>
                          </a:rPr>
                        </m:ctrlPr>
                      </m:sSupPr>
                      <m:e>
                        <m:r>
                          <a:rPr lang="en-US" i="1">
                            <a:latin typeface="Cambria Math"/>
                          </a:rPr>
                          <m:t>10</m:t>
                        </m:r>
                      </m:e>
                      <m:sup>
                        <m:r>
                          <a:rPr lang="en-US" b="0" i="1" smtClean="0">
                            <a:latin typeface="Cambria Math"/>
                          </a:rPr>
                          <m:t>5</m:t>
                        </m:r>
                      </m:sup>
                    </m:sSup>
                  </m:oMath>
                </a14:m>
                <a:r>
                  <a:rPr lang="en-US"/>
                  <a:t>N/m²</a:t>
                </a:r>
              </a:p>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𝑉</m:t>
                        </m:r>
                      </m:e>
                      <m:sub>
                        <m:r>
                          <a:rPr lang="en-US" b="0" i="1" smtClean="0">
                            <a:latin typeface="Cambria Math"/>
                          </a:rPr>
                          <m:t>2  </m:t>
                        </m:r>
                      </m:sub>
                    </m:sSub>
                  </m:oMath>
                </a14:m>
                <a:r>
                  <a:rPr lang="en-US"/>
                  <a:t>= </a:t>
                </a:r>
                <a14:m>
                  <m:oMath xmlns:m="http://schemas.openxmlformats.org/officeDocument/2006/math">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b="0" i="1" smtClean="0">
                                <a:latin typeface="Cambria Math"/>
                              </a:rPr>
                              <m:t>𝑃</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𝑉</m:t>
                            </m:r>
                          </m:e>
                          <m:sub>
                            <m:r>
                              <a:rPr lang="en-US" b="0" i="1" smtClean="0">
                                <a:latin typeface="Cambria Math"/>
                              </a:rPr>
                              <m:t>1</m:t>
                            </m:r>
                          </m:sub>
                        </m:sSub>
                      </m:num>
                      <m:den>
                        <m:sSub>
                          <m:sSubPr>
                            <m:ctrlPr>
                              <a:rPr lang="en-US" i="1" smtClean="0">
                                <a:latin typeface="Cambria Math" panose="02040503050406030204" pitchFamily="18" charset="0"/>
                              </a:rPr>
                            </m:ctrlPr>
                          </m:sSubPr>
                          <m:e>
                            <m:r>
                              <a:rPr lang="en-US" b="0" i="1" smtClean="0">
                                <a:latin typeface="Cambria Math"/>
                              </a:rPr>
                              <m:t>𝑃</m:t>
                            </m:r>
                          </m:e>
                          <m:sub>
                            <m:r>
                              <a:rPr lang="en-US" b="0" i="1" smtClean="0">
                                <a:latin typeface="Cambria Math"/>
                              </a:rPr>
                              <m:t>2</m:t>
                            </m:r>
                          </m:sub>
                        </m:sSub>
                      </m:den>
                    </m:f>
                  </m:oMath>
                </a14:m>
                <a:r>
                  <a:rPr lang="en-US"/>
                  <a:t> = 0,28 m³</a:t>
                </a:r>
              </a:p>
              <a:p>
                <a:pPr algn="ctr"/>
                <a:endParaRPr lang="en-US"/>
              </a:p>
            </p:txBody>
          </p:sp>
        </mc:Choice>
        <mc:Fallback xmlns="">
          <p:sp>
            <p:nvSpPr>
              <p:cNvPr id="5" name="Notes Placeholder 4"/>
              <p:cNvSpPr>
                <a:spLocks noGrp="1"/>
              </p:cNvSpPr>
              <p:nvPr>
                <p:ph type="body" idx="1"/>
              </p:nvPr>
            </p:nvSpPr>
            <p:spPr>
              <a:xfrm>
                <a:off x="685800" y="4343400"/>
                <a:ext cx="5181600" cy="2362200"/>
              </a:xfrm>
              <a:prstGeom prst="wedgeEllipse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mtClean="0"/>
                  <a:t>1 at = 9,81.</a:t>
                </a:r>
                <a:r>
                  <a:rPr lang="en-US" i="0" smtClean="0">
                    <a:latin typeface="Cambria Math"/>
                  </a:rPr>
                  <a:t>〖</a:t>
                </a:r>
                <a:r>
                  <a:rPr lang="en-US" b="0" i="0" smtClean="0">
                    <a:latin typeface="Cambria Math"/>
                  </a:rPr>
                  <a:t>10〗^4</a:t>
                </a:r>
                <a:r>
                  <a:rPr lang="en-US" smtClean="0"/>
                  <a:t>N/m²</a:t>
                </a:r>
              </a:p>
              <a:p>
                <a:pPr algn="ctr"/>
                <a:r>
                  <a:rPr lang="en-US" smtClean="0"/>
                  <a:t>1atm = </a:t>
                </a:r>
                <a:r>
                  <a:rPr lang="en-US" i="0">
                    <a:latin typeface="Cambria Math"/>
                  </a:rPr>
                  <a:t>〖10〗^</a:t>
                </a:r>
                <a:r>
                  <a:rPr lang="en-US" b="0" i="0" smtClean="0">
                    <a:latin typeface="Cambria Math"/>
                  </a:rPr>
                  <a:t>5</a:t>
                </a:r>
                <a:r>
                  <a:rPr lang="en-US" smtClean="0"/>
                  <a:t>N/m²</a:t>
                </a:r>
              </a:p>
              <a:p>
                <a:pPr algn="ctr"/>
                <a:r>
                  <a:rPr lang="en-US" b="0" i="0" smtClean="0">
                    <a:latin typeface="Cambria Math"/>
                  </a:rPr>
                  <a:t>𝑉_(2  )</a:t>
                </a:r>
                <a:r>
                  <a:rPr lang="en-US" smtClean="0"/>
                  <a:t>= </a:t>
                </a:r>
                <a:r>
                  <a:rPr lang="en-US" i="0" smtClean="0">
                    <a:latin typeface="Cambria Math"/>
                  </a:rPr>
                  <a:t>(</a:t>
                </a:r>
                <a:r>
                  <a:rPr lang="en-US" b="0" i="0" smtClean="0">
                    <a:latin typeface="Cambria Math"/>
                  </a:rPr>
                  <a:t>𝑃_1.𝑉_1)/𝑃_2 </a:t>
                </a:r>
                <a:r>
                  <a:rPr lang="en-US" smtClean="0"/>
                  <a:t> = 0,28 m³</a:t>
                </a:r>
                <a:endParaRPr lang="en-US"/>
              </a:p>
              <a:p>
                <a:pPr algn="ctr"/>
                <a:endParaRPr lang="en-US"/>
              </a:p>
            </p:txBody>
          </p:sp>
        </mc:Fallback>
      </mc:AlternateContent>
    </p:spTree>
    <p:extLst>
      <p:ext uri="{BB962C8B-B14F-4D97-AF65-F5344CB8AC3E}">
        <p14:creationId xmlns:p14="http://schemas.microsoft.com/office/powerpoint/2010/main" val="32318250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921134E5-7BDB-4BD4-B532-A0EE5BD855CF}" type="slidenum">
              <a:rPr lang="en-US" smtClean="0"/>
              <a:t>16</a:t>
            </a:fld>
            <a:endParaRPr lang="en-US"/>
          </a:p>
        </p:txBody>
      </p:sp>
      <mc:AlternateContent xmlns:mc="http://schemas.openxmlformats.org/markup-compatibility/2006" xmlns:a14="http://schemas.microsoft.com/office/drawing/2010/main">
        <mc:Choice Requires="a14">
          <p:sp>
            <p:nvSpPr>
              <p:cNvPr id="5" name="Notes Placeholder 4"/>
              <p:cNvSpPr>
                <a:spLocks noGrp="1"/>
              </p:cNvSpPr>
              <p:nvPr>
                <p:ph type="body" idx="1"/>
              </p:nvPr>
            </p:nvSpPr>
            <p:spPr>
              <a:xfrm>
                <a:off x="685800" y="4343400"/>
                <a:ext cx="4800600" cy="3048000"/>
              </a:xfrm>
              <a:prstGeom prst="wedgeEllipse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𝑝</m:t>
                          </m:r>
                        </m:e>
                        <m:sub>
                          <m:r>
                            <a:rPr lang="en-US" b="0" i="1" smtClean="0">
                              <a:latin typeface="Cambria Math"/>
                            </a:rPr>
                            <m:t>1</m:t>
                          </m:r>
                        </m:sub>
                      </m:sSub>
                      <m:r>
                        <a:rPr lang="en-US" b="0" i="1" smtClean="0">
                          <a:latin typeface="Cambria Math"/>
                        </a:rPr>
                        <m:t>.</m:t>
                      </m:r>
                      <m:r>
                        <a:rPr lang="en-US" b="0" i="1" smtClean="0">
                          <a:latin typeface="Cambria Math"/>
                        </a:rPr>
                        <m:t>𝑉</m:t>
                      </m:r>
                      <m:r>
                        <a:rPr lang="en-US" b="0" i="1" smtClean="0">
                          <a:latin typeface="Cambria Math"/>
                        </a:rPr>
                        <m:t>= </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a:rPr>
                                <m:t>𝑚</m:t>
                              </m:r>
                            </m:e>
                            <m:sub>
                              <m:r>
                                <a:rPr lang="en-US" b="0" i="1" smtClean="0">
                                  <a:latin typeface="Cambria Math"/>
                                </a:rPr>
                                <m:t>1</m:t>
                              </m:r>
                            </m:sub>
                          </m:sSub>
                        </m:num>
                        <m:den>
                          <m:r>
                            <a:rPr lang="en-US" b="0" i="1" smtClean="0">
                              <a:latin typeface="Cambria Math"/>
                              <a:ea typeface="Cambria Math"/>
                            </a:rPr>
                            <m:t>𝜇</m:t>
                          </m:r>
                        </m:den>
                      </m:f>
                      <m:r>
                        <a:rPr lang="en-US" b="0" i="1" smtClean="0">
                          <a:latin typeface="Cambria Math"/>
                        </a:rPr>
                        <m:t>.</m:t>
                      </m:r>
                      <m:r>
                        <a:rPr lang="en-US" b="0" i="1" smtClean="0">
                          <a:latin typeface="Cambria Math"/>
                        </a:rPr>
                        <m:t>𝑅</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𝑇</m:t>
                          </m:r>
                        </m:e>
                        <m:sub>
                          <m:r>
                            <a:rPr lang="en-US" b="0" i="1" smtClean="0">
                              <a:latin typeface="Cambria Math"/>
                            </a:rPr>
                            <m:t>1</m:t>
                          </m:r>
                        </m:sub>
                      </m:sSub>
                    </m:oMath>
                  </m:oMathPara>
                </a14:m>
                <a:endParaRPr lang="en-US" dirty="0"/>
              </a:p>
              <a:p>
                <a:pPr algn="ct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𝑝</m:t>
                          </m:r>
                        </m:e>
                        <m:sub>
                          <m:r>
                            <a:rPr lang="en-US" b="0" i="1" smtClean="0">
                              <a:latin typeface="Cambria Math"/>
                            </a:rPr>
                            <m:t>2</m:t>
                          </m:r>
                        </m:sub>
                      </m:sSub>
                      <m:r>
                        <a:rPr lang="en-US" i="1">
                          <a:latin typeface="Cambria Math"/>
                        </a:rPr>
                        <m:t>.</m:t>
                      </m:r>
                      <m:r>
                        <a:rPr lang="en-US" i="1">
                          <a:latin typeface="Cambria Math"/>
                        </a:rPr>
                        <m:t>𝑉</m:t>
                      </m:r>
                      <m:r>
                        <a:rPr lang="en-US" i="1">
                          <a:latin typeface="Cambria Math"/>
                        </a:rPr>
                        <m:t>= </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a:rPr>
                                <m:t>𝑚</m:t>
                              </m:r>
                            </m:e>
                            <m:sub>
                              <m:r>
                                <a:rPr lang="en-US" b="0" i="1" smtClean="0">
                                  <a:latin typeface="Cambria Math"/>
                                </a:rPr>
                                <m:t>2</m:t>
                              </m:r>
                            </m:sub>
                          </m:sSub>
                        </m:num>
                        <m:den>
                          <m:r>
                            <a:rPr lang="en-US" i="1">
                              <a:latin typeface="Cambria Math"/>
                              <a:ea typeface="Cambria Math"/>
                            </a:rPr>
                            <m:t>𝜇</m:t>
                          </m:r>
                        </m:den>
                      </m:f>
                      <m:r>
                        <a:rPr lang="en-US" i="1">
                          <a:latin typeface="Cambria Math"/>
                        </a:rPr>
                        <m:t>.</m:t>
                      </m:r>
                      <m:r>
                        <a:rPr lang="en-US" i="1">
                          <a:latin typeface="Cambria Math"/>
                        </a:rPr>
                        <m:t>𝑅</m:t>
                      </m:r>
                      <m:r>
                        <a:rPr lang="en-US" i="1">
                          <a:latin typeface="Cambria Math"/>
                        </a:rPr>
                        <m:t>.</m:t>
                      </m:r>
                      <m:sSub>
                        <m:sSubPr>
                          <m:ctrlPr>
                            <a:rPr lang="en-US" i="1">
                              <a:latin typeface="Cambria Math" panose="02040503050406030204" pitchFamily="18" charset="0"/>
                            </a:rPr>
                          </m:ctrlPr>
                        </m:sSubPr>
                        <m:e>
                          <m:r>
                            <a:rPr lang="en-US" i="1">
                              <a:latin typeface="Cambria Math"/>
                            </a:rPr>
                            <m:t>𝑇</m:t>
                          </m:r>
                        </m:e>
                        <m:sub>
                          <m:r>
                            <a:rPr lang="en-US" b="0" i="1" smtClean="0">
                              <a:latin typeface="Cambria Math"/>
                            </a:rPr>
                            <m:t>2</m:t>
                          </m:r>
                        </m:sub>
                      </m:sSub>
                    </m:oMath>
                  </m:oMathPara>
                </a14:m>
                <a:endParaRPr lang="en-US" dirty="0"/>
              </a:p>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𝑚</m:t>
                        </m:r>
                      </m:e>
                      <m:sub>
                        <m:r>
                          <a:rPr lang="en-US" b="0" i="1" smtClean="0">
                            <a:latin typeface="Cambria Math"/>
                          </a:rPr>
                          <m:t>2</m:t>
                        </m:r>
                      </m:sub>
                    </m:sSub>
                  </m:oMath>
                </a14:m>
                <a:r>
                  <a:rPr lang="en-US" dirty="0"/>
                  <a:t>= </a:t>
                </a:r>
                <a14:m>
                  <m:oMath xmlns:m="http://schemas.openxmlformats.org/officeDocument/2006/math">
                    <m:r>
                      <a:rPr lang="en-US" b="0" i="0" smtClean="0">
                        <a:latin typeface="Cambria Math"/>
                      </a:rPr>
                      <m:t>1/2.</m:t>
                    </m:r>
                    <m:sSub>
                      <m:sSubPr>
                        <m:ctrlPr>
                          <a:rPr lang="en-US" i="1" smtClean="0">
                            <a:latin typeface="Cambria Math" panose="02040503050406030204" pitchFamily="18" charset="0"/>
                          </a:rPr>
                        </m:ctrlPr>
                      </m:sSubPr>
                      <m:e>
                        <m:r>
                          <a:rPr lang="en-US" b="0" i="1" smtClean="0">
                            <a:latin typeface="Cambria Math"/>
                          </a:rPr>
                          <m:t>𝑚</m:t>
                        </m:r>
                      </m:e>
                      <m:sub>
                        <m:r>
                          <a:rPr lang="en-US" b="0" i="1" smtClean="0">
                            <a:latin typeface="Cambria Math"/>
                          </a:rPr>
                          <m:t>1</m:t>
                        </m:r>
                      </m:sub>
                    </m:sSub>
                  </m:oMath>
                </a14:m>
                <a:r>
                  <a:rPr lang="en-US" dirty="0"/>
                  <a:t>, </a:t>
                </a:r>
                <a14:m>
                  <m:oMath xmlns:m="http://schemas.openxmlformats.org/officeDocument/2006/math">
                    <m:f>
                      <m:fPr>
                        <m:ctrlPr>
                          <a:rPr lang="en-US" sz="2400" i="1" smtClean="0">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a:rPr>
                              <m:t>𝑝</m:t>
                            </m:r>
                          </m:e>
                          <m:sub>
                            <m:r>
                              <a:rPr lang="en-US" sz="2400" i="1">
                                <a:latin typeface="Cambria Math"/>
                              </a:rPr>
                              <m:t>1</m:t>
                            </m:r>
                          </m:sub>
                        </m:sSub>
                      </m:num>
                      <m:den>
                        <m:sSub>
                          <m:sSubPr>
                            <m:ctrlPr>
                              <a:rPr lang="en-US" sz="2400" i="1">
                                <a:latin typeface="Cambria Math" panose="02040503050406030204" pitchFamily="18" charset="0"/>
                              </a:rPr>
                            </m:ctrlPr>
                          </m:sSubPr>
                          <m:e>
                            <m:r>
                              <a:rPr lang="en-US" sz="2400" i="1">
                                <a:latin typeface="Cambria Math"/>
                              </a:rPr>
                              <m:t>𝑝</m:t>
                            </m:r>
                          </m:e>
                          <m:sub>
                            <m:r>
                              <a:rPr lang="en-US" sz="2400" i="1">
                                <a:latin typeface="Cambria Math"/>
                              </a:rPr>
                              <m:t>2</m:t>
                            </m:r>
                          </m:sub>
                        </m:sSub>
                      </m:den>
                    </m:f>
                  </m:oMath>
                </a14:m>
                <a:r>
                  <a:rPr lang="en-US" sz="2400" dirty="0"/>
                  <a:t> = 2. </a:t>
                </a:r>
                <a14:m>
                  <m:oMath xmlns:m="http://schemas.openxmlformats.org/officeDocument/2006/math">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b="0" i="1" smtClean="0">
                                <a:latin typeface="Cambria Math"/>
                              </a:rPr>
                              <m:t>𝑇</m:t>
                            </m:r>
                          </m:e>
                          <m:sub>
                            <m:r>
                              <a:rPr lang="en-US" sz="2400" i="1">
                                <a:latin typeface="Cambria Math"/>
                              </a:rPr>
                              <m:t>1</m:t>
                            </m:r>
                          </m:sub>
                        </m:sSub>
                      </m:num>
                      <m:den>
                        <m:sSub>
                          <m:sSubPr>
                            <m:ctrlPr>
                              <a:rPr lang="en-US" sz="2400" i="1">
                                <a:latin typeface="Cambria Math" panose="02040503050406030204" pitchFamily="18" charset="0"/>
                              </a:rPr>
                            </m:ctrlPr>
                          </m:sSubPr>
                          <m:e>
                            <m:r>
                              <a:rPr lang="en-US" sz="2400" b="0" i="1" smtClean="0">
                                <a:latin typeface="Cambria Math"/>
                              </a:rPr>
                              <m:t>𝑇</m:t>
                            </m:r>
                          </m:e>
                          <m:sub>
                            <m:r>
                              <a:rPr lang="en-US" sz="2400" i="1">
                                <a:latin typeface="Cambria Math"/>
                              </a:rPr>
                              <m:t>2</m:t>
                            </m:r>
                          </m:sub>
                        </m:sSub>
                      </m:den>
                    </m:f>
                  </m:oMath>
                </a14:m>
                <a:endParaRPr lang="en-US" dirty="0"/>
              </a:p>
              <a:p>
                <a:pPr algn="ctr"/>
                <a:r>
                  <a:rPr lang="en-US" dirty="0"/>
                  <a:t>T2 = 400K </a:t>
                </a:r>
              </a:p>
            </p:txBody>
          </p:sp>
        </mc:Choice>
        <mc:Fallback xmlns="">
          <p:sp>
            <p:nvSpPr>
              <p:cNvPr id="5" name="Notes Placeholder 4"/>
              <p:cNvSpPr>
                <a:spLocks noGrp="1"/>
              </p:cNvSpPr>
              <p:nvPr>
                <p:ph type="body" idx="1"/>
              </p:nvPr>
            </p:nvSpPr>
            <p:spPr>
              <a:xfrm>
                <a:off x="685800" y="4343400"/>
                <a:ext cx="4800600" cy="3048000"/>
              </a:xfrm>
              <a:prstGeom prst="wedgeEllipse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0" i="0" smtClean="0">
                    <a:latin typeface="Cambria Math"/>
                  </a:rPr>
                  <a:t>𝑝_1.𝑉=  𝑚_1/</a:t>
                </a:r>
                <a:r>
                  <a:rPr lang="en-US" b="0" i="0" smtClean="0">
                    <a:latin typeface="Cambria Math"/>
                    <a:ea typeface="Cambria Math"/>
                  </a:rPr>
                  <a:t>𝜇</a:t>
                </a:r>
                <a:r>
                  <a:rPr lang="en-US" b="0" i="0" smtClean="0">
                    <a:latin typeface="Cambria Math"/>
                  </a:rPr>
                  <a:t>.𝑅.𝑇_1</a:t>
                </a:r>
                <a:endParaRPr lang="en-US" dirty="0" smtClean="0"/>
              </a:p>
              <a:p>
                <a:pPr algn="ctr"/>
                <a:r>
                  <a:rPr lang="en-US" i="0">
                    <a:latin typeface="Cambria Math"/>
                  </a:rPr>
                  <a:t>𝑝_</a:t>
                </a:r>
                <a:r>
                  <a:rPr lang="en-US" b="0" i="0" smtClean="0">
                    <a:latin typeface="Cambria Math"/>
                  </a:rPr>
                  <a:t>2</a:t>
                </a:r>
                <a:r>
                  <a:rPr lang="en-US" i="0">
                    <a:latin typeface="Cambria Math"/>
                  </a:rPr>
                  <a:t>.𝑉=  𝑚_</a:t>
                </a:r>
                <a:r>
                  <a:rPr lang="en-US" b="0" i="0" smtClean="0">
                    <a:latin typeface="Cambria Math"/>
                  </a:rPr>
                  <a:t>2</a:t>
                </a:r>
                <a:r>
                  <a:rPr lang="en-US" b="0" i="0">
                    <a:latin typeface="Cambria Math"/>
                  </a:rPr>
                  <a:t>/</a:t>
                </a:r>
                <a:r>
                  <a:rPr lang="en-US" i="0">
                    <a:latin typeface="Cambria Math"/>
                    <a:ea typeface="Cambria Math"/>
                  </a:rPr>
                  <a:t>𝜇</a:t>
                </a:r>
                <a:r>
                  <a:rPr lang="en-US" i="0">
                    <a:latin typeface="Cambria Math"/>
                  </a:rPr>
                  <a:t>.𝑅.𝑇_</a:t>
                </a:r>
                <a:r>
                  <a:rPr lang="en-US" b="0" i="0" smtClean="0">
                    <a:latin typeface="Cambria Math"/>
                  </a:rPr>
                  <a:t>2</a:t>
                </a:r>
                <a:endParaRPr lang="en-US" dirty="0" smtClean="0"/>
              </a:p>
              <a:p>
                <a:pPr algn="ctr"/>
                <a:r>
                  <a:rPr lang="en-US" b="0" i="0" smtClean="0">
                    <a:latin typeface="Cambria Math"/>
                  </a:rPr>
                  <a:t>𝑚_2</a:t>
                </a:r>
                <a:r>
                  <a:rPr lang="en-US" dirty="0" smtClean="0"/>
                  <a:t>= </a:t>
                </a:r>
                <a:r>
                  <a:rPr lang="en-US" b="0" i="0" smtClean="0">
                    <a:latin typeface="Cambria Math"/>
                  </a:rPr>
                  <a:t>1/2.𝑚_1</a:t>
                </a:r>
                <a:r>
                  <a:rPr lang="en-US" dirty="0" smtClean="0"/>
                  <a:t>, </a:t>
                </a:r>
                <a:r>
                  <a:rPr lang="en-US" sz="2400" i="0">
                    <a:latin typeface="Cambria Math"/>
                  </a:rPr>
                  <a:t>𝑝_1</a:t>
                </a:r>
                <a:r>
                  <a:rPr lang="en-US" sz="2400" i="0" smtClean="0">
                    <a:latin typeface="Cambria Math"/>
                  </a:rPr>
                  <a:t>/</a:t>
                </a:r>
                <a:r>
                  <a:rPr lang="en-US" sz="2400" i="0">
                    <a:latin typeface="Cambria Math"/>
                  </a:rPr>
                  <a:t>𝑝_2 </a:t>
                </a:r>
                <a:r>
                  <a:rPr lang="en-US" sz="2400" dirty="0" smtClean="0"/>
                  <a:t> = 2.</a:t>
                </a:r>
                <a:r>
                  <a:rPr lang="en-US" sz="2400" dirty="0"/>
                  <a:t> </a:t>
                </a:r>
                <a:r>
                  <a:rPr lang="en-US" sz="2400" b="0" i="0" smtClean="0">
                    <a:latin typeface="Cambria Math"/>
                  </a:rPr>
                  <a:t>𝑇</a:t>
                </a:r>
                <a:r>
                  <a:rPr lang="en-US" sz="2400" b="0" i="0">
                    <a:latin typeface="Cambria Math"/>
                  </a:rPr>
                  <a:t>_</a:t>
                </a:r>
                <a:r>
                  <a:rPr lang="en-US" sz="2400" i="0">
                    <a:latin typeface="Cambria Math"/>
                  </a:rPr>
                  <a:t>1/</a:t>
                </a:r>
                <a:r>
                  <a:rPr lang="en-US" sz="2400" b="0" i="0" smtClean="0">
                    <a:latin typeface="Cambria Math"/>
                  </a:rPr>
                  <a:t>𝑇</a:t>
                </a:r>
                <a:r>
                  <a:rPr lang="en-US" sz="2400" b="0" i="0">
                    <a:latin typeface="Cambria Math"/>
                  </a:rPr>
                  <a:t>_</a:t>
                </a:r>
                <a:r>
                  <a:rPr lang="en-US" sz="2400" i="0">
                    <a:latin typeface="Cambria Math"/>
                  </a:rPr>
                  <a:t>2 </a:t>
                </a:r>
                <a:endParaRPr lang="en-US" dirty="0" smtClean="0"/>
              </a:p>
              <a:p>
                <a:pPr algn="ctr"/>
                <a:r>
                  <a:rPr lang="en-US" dirty="0" smtClean="0"/>
                  <a:t>T2 = 400K </a:t>
                </a:r>
                <a:endParaRPr lang="en-US" dirty="0"/>
              </a:p>
            </p:txBody>
          </p:sp>
        </mc:Fallback>
      </mc:AlternateContent>
    </p:spTree>
    <p:extLst>
      <p:ext uri="{BB962C8B-B14F-4D97-AF65-F5344CB8AC3E}">
        <p14:creationId xmlns:p14="http://schemas.microsoft.com/office/powerpoint/2010/main" val="1415617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921134E5-7BDB-4BD4-B532-A0EE5BD855CF}" type="slidenum">
              <a:rPr lang="en-US" smtClean="0"/>
              <a:t>19</a:t>
            </a:fld>
            <a:endParaRPr lang="en-US"/>
          </a:p>
        </p:txBody>
      </p:sp>
      <mc:AlternateContent xmlns:mc="http://schemas.openxmlformats.org/markup-compatibility/2006" xmlns:a14="http://schemas.microsoft.com/office/drawing/2010/main">
        <mc:Choice Requires="a14">
          <p:sp>
            <p:nvSpPr>
              <p:cNvPr id="5" name="Notes Placeholder 4"/>
              <p:cNvSpPr>
                <a:spLocks noGrp="1"/>
              </p:cNvSpPr>
              <p:nvPr>
                <p:ph type="body" idx="1"/>
              </p:nvPr>
            </p:nvSpPr>
            <p:spPr>
              <a:xfrm>
                <a:off x="685800" y="4343400"/>
                <a:ext cx="5105400" cy="2133600"/>
              </a:xfrm>
              <a:prstGeom prst="wedgeEllipse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a:rPr>
                            <m:t>𝑝</m:t>
                          </m:r>
                        </m:e>
                        <m:sub>
                          <m:r>
                            <a:rPr lang="en-US" i="1">
                              <a:latin typeface="Cambria Math"/>
                            </a:rPr>
                            <m:t>2</m:t>
                          </m:r>
                        </m:sub>
                      </m:sSub>
                      <m:r>
                        <a:rPr lang="en-US" i="1">
                          <a:latin typeface="Cambria Math"/>
                        </a:rPr>
                        <m:t>.</m:t>
                      </m:r>
                      <m:r>
                        <a:rPr lang="en-US" i="1">
                          <a:latin typeface="Cambria Math"/>
                        </a:rPr>
                        <m:t>𝑉</m:t>
                      </m:r>
                      <m:r>
                        <a:rPr lang="en-US" i="1">
                          <a:latin typeface="Cambria Math"/>
                        </a:rPr>
                        <m:t>= </m:t>
                      </m:r>
                      <m:f>
                        <m:fPr>
                          <m:ctrlPr>
                            <a:rPr lang="en-US" i="1">
                              <a:latin typeface="Cambria Math" panose="02040503050406030204" pitchFamily="18" charset="0"/>
                            </a:rPr>
                          </m:ctrlPr>
                        </m:fPr>
                        <m:num>
                          <m:r>
                            <a:rPr lang="en-US" b="0" i="1" smtClean="0">
                              <a:latin typeface="Cambria Math"/>
                            </a:rPr>
                            <m:t>𝑚</m:t>
                          </m:r>
                        </m:num>
                        <m:den>
                          <m:r>
                            <a:rPr lang="en-US" i="1">
                              <a:latin typeface="Cambria Math"/>
                              <a:ea typeface="Cambria Math"/>
                            </a:rPr>
                            <m:t>𝜇</m:t>
                          </m:r>
                        </m:den>
                      </m:f>
                      <m:r>
                        <a:rPr lang="en-US" i="1">
                          <a:latin typeface="Cambria Math"/>
                        </a:rPr>
                        <m:t>.</m:t>
                      </m:r>
                      <m:r>
                        <a:rPr lang="en-US" i="1">
                          <a:latin typeface="Cambria Math"/>
                        </a:rPr>
                        <m:t>𝑅</m:t>
                      </m:r>
                      <m:r>
                        <a:rPr lang="en-US" i="1">
                          <a:latin typeface="Cambria Math"/>
                        </a:rPr>
                        <m:t>.</m:t>
                      </m:r>
                      <m:sSub>
                        <m:sSubPr>
                          <m:ctrlPr>
                            <a:rPr lang="en-US" i="1">
                              <a:latin typeface="Cambria Math" panose="02040503050406030204" pitchFamily="18" charset="0"/>
                            </a:rPr>
                          </m:ctrlPr>
                        </m:sSubPr>
                        <m:e>
                          <m:r>
                            <a:rPr lang="en-US" i="1">
                              <a:latin typeface="Cambria Math"/>
                            </a:rPr>
                            <m:t>𝑇</m:t>
                          </m:r>
                        </m:e>
                        <m:sub>
                          <m:r>
                            <a:rPr lang="en-US" i="1">
                              <a:latin typeface="Cambria Math"/>
                            </a:rPr>
                            <m:t>2</m:t>
                          </m:r>
                        </m:sub>
                      </m:sSub>
                    </m:oMath>
                  </m:oMathPara>
                </a14:m>
                <a:endParaRPr lang="en-US"/>
              </a:p>
              <a:p>
                <a:pPr algn="ctr"/>
                <a14:m>
                  <m:oMath xmlns:m="http://schemas.openxmlformats.org/officeDocument/2006/math">
                    <m:r>
                      <a:rPr lang="en-US" i="1" smtClean="0">
                        <a:latin typeface="Cambria Math"/>
                        <a:ea typeface="Cambria Math"/>
                      </a:rPr>
                      <m:t>𝜇</m:t>
                    </m:r>
                  </m:oMath>
                </a14:m>
                <a:r>
                  <a:rPr lang="en-US"/>
                  <a:t> = 28</a:t>
                </a:r>
              </a:p>
            </p:txBody>
          </p:sp>
        </mc:Choice>
        <mc:Fallback xmlns="">
          <p:sp>
            <p:nvSpPr>
              <p:cNvPr id="5" name="Notes Placeholder 4"/>
              <p:cNvSpPr>
                <a:spLocks noGrp="1"/>
              </p:cNvSpPr>
              <p:nvPr>
                <p:ph type="body" idx="1"/>
              </p:nvPr>
            </p:nvSpPr>
            <p:spPr>
              <a:xfrm>
                <a:off x="685800" y="4343400"/>
                <a:ext cx="5105400" cy="2133600"/>
              </a:xfrm>
              <a:prstGeom prst="wedgeEllipse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i="0">
                    <a:latin typeface="Cambria Math"/>
                  </a:rPr>
                  <a:t>𝑝</a:t>
                </a:r>
                <a:r>
                  <a:rPr lang="en-US" i="0" smtClean="0">
                    <a:latin typeface="Cambria Math"/>
                  </a:rPr>
                  <a:t>_</a:t>
                </a:r>
                <a:r>
                  <a:rPr lang="en-US" i="0">
                    <a:latin typeface="Cambria Math"/>
                  </a:rPr>
                  <a:t>2.𝑉= </a:t>
                </a:r>
                <a:r>
                  <a:rPr lang="en-US" b="0" i="0" smtClean="0">
                    <a:latin typeface="Cambria Math"/>
                  </a:rPr>
                  <a:t> 𝑚</a:t>
                </a:r>
                <a:r>
                  <a:rPr lang="en-US" b="0" i="0">
                    <a:latin typeface="Cambria Math"/>
                  </a:rPr>
                  <a:t>/</a:t>
                </a:r>
                <a:r>
                  <a:rPr lang="en-US" i="0">
                    <a:latin typeface="Cambria Math"/>
                    <a:ea typeface="Cambria Math"/>
                  </a:rPr>
                  <a:t>𝜇</a:t>
                </a:r>
                <a:r>
                  <a:rPr lang="en-US" i="0">
                    <a:latin typeface="Cambria Math"/>
                  </a:rPr>
                  <a:t>.𝑅.𝑇_2</a:t>
                </a:r>
                <a:endParaRPr lang="en-US" smtClean="0"/>
              </a:p>
              <a:p>
                <a:pPr algn="ctr"/>
                <a:r>
                  <a:rPr lang="en-US" i="0" smtClean="0">
                    <a:latin typeface="Cambria Math"/>
                    <a:ea typeface="Cambria Math"/>
                  </a:rPr>
                  <a:t>𝜇</a:t>
                </a:r>
                <a:r>
                  <a:rPr lang="en-US" smtClean="0"/>
                  <a:t> = 28</a:t>
                </a:r>
                <a:endParaRPr lang="en-US"/>
              </a:p>
            </p:txBody>
          </p:sp>
        </mc:Fallback>
      </mc:AlternateContent>
    </p:spTree>
    <p:extLst>
      <p:ext uri="{BB962C8B-B14F-4D97-AF65-F5344CB8AC3E}">
        <p14:creationId xmlns:p14="http://schemas.microsoft.com/office/powerpoint/2010/main" val="2173198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921134E5-7BDB-4BD4-B532-A0EE5BD855CF}" type="slidenum">
              <a:rPr lang="en-US" smtClean="0"/>
              <a:t>43</a:t>
            </a:fld>
            <a:endParaRPr lang="en-US"/>
          </a:p>
        </p:txBody>
      </p:sp>
      <mc:AlternateContent xmlns:mc="http://schemas.openxmlformats.org/markup-compatibility/2006" xmlns:a14="http://schemas.microsoft.com/office/drawing/2010/main">
        <mc:Choice Requires="a14">
          <p:sp>
            <p:nvSpPr>
              <p:cNvPr id="5" name="Notes Placeholder 4"/>
              <p:cNvSpPr>
                <a:spLocks noGrp="1"/>
              </p:cNvSpPr>
              <p:nvPr>
                <p:ph type="body" idx="1"/>
              </p:nvPr>
            </p:nvSpPr>
            <p:spPr>
              <a:xfrm>
                <a:off x="685800" y="4343400"/>
                <a:ext cx="5181600" cy="28194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dirty="0"/>
              </a:p>
              <a:p>
                <a:pPr algn="ctr"/>
                <a:r>
                  <a:rPr lang="en-US" dirty="0"/>
                  <a:t>A= 0 , Q = </a:t>
                </a:r>
                <a14:m>
                  <m:oMath xmlns:m="http://schemas.openxmlformats.org/officeDocument/2006/math">
                    <m:r>
                      <a:rPr lang="en-US" i="1" smtClean="0">
                        <a:latin typeface="Cambria Math"/>
                        <a:ea typeface="Cambria Math"/>
                      </a:rPr>
                      <m:t>∆</m:t>
                    </m:r>
                    <m:r>
                      <a:rPr lang="en-US" b="0" i="1" smtClean="0">
                        <a:latin typeface="Cambria Math"/>
                        <a:ea typeface="Cambria Math"/>
                      </a:rPr>
                      <m:t>𝑈</m:t>
                    </m:r>
                    <m:r>
                      <a:rPr lang="en-US" b="0" i="1" smtClean="0">
                        <a:latin typeface="Cambria Math"/>
                        <a:ea typeface="Cambria Math"/>
                      </a:rPr>
                      <m:t>= </m:t>
                    </m:r>
                    <m:f>
                      <m:fPr>
                        <m:ctrlPr>
                          <a:rPr lang="en-US" b="0" i="1" smtClean="0">
                            <a:latin typeface="Cambria Math" panose="02040503050406030204" pitchFamily="18" charset="0"/>
                            <a:ea typeface="Cambria Math"/>
                          </a:rPr>
                        </m:ctrlPr>
                      </m:fPr>
                      <m:num>
                        <m:r>
                          <a:rPr lang="en-US" b="0" i="1" smtClean="0">
                            <a:latin typeface="Cambria Math"/>
                            <a:ea typeface="Cambria Math"/>
                          </a:rPr>
                          <m:t>𝑚</m:t>
                        </m:r>
                      </m:num>
                      <m:den>
                        <m:r>
                          <a:rPr lang="en-US" b="0" i="1" smtClean="0">
                            <a:latin typeface="Cambria Math"/>
                            <a:ea typeface="Cambria Math"/>
                          </a:rPr>
                          <m:t>𝜇</m:t>
                        </m:r>
                      </m:den>
                    </m:f>
                    <m:r>
                      <a:rPr lang="en-US" b="0" i="1" smtClean="0">
                        <a:latin typeface="Cambria Math"/>
                        <a:ea typeface="Cambria Math"/>
                      </a:rPr>
                      <m:t>.</m:t>
                    </m:r>
                    <m:f>
                      <m:fPr>
                        <m:ctrlPr>
                          <a:rPr lang="en-US" b="0" i="1" smtClean="0">
                            <a:latin typeface="Cambria Math" panose="02040503050406030204" pitchFamily="18" charset="0"/>
                            <a:ea typeface="Cambria Math"/>
                          </a:rPr>
                        </m:ctrlPr>
                      </m:fPr>
                      <m:num>
                        <m:r>
                          <a:rPr lang="en-US" b="0" i="1" smtClean="0">
                            <a:latin typeface="Cambria Math"/>
                            <a:ea typeface="Cambria Math"/>
                          </a:rPr>
                          <m:t>𝑖</m:t>
                        </m:r>
                      </m:num>
                      <m:den>
                        <m:r>
                          <a:rPr lang="en-US" b="0" i="1" smtClean="0">
                            <a:latin typeface="Cambria Math"/>
                            <a:ea typeface="Cambria Math"/>
                          </a:rPr>
                          <m:t>2</m:t>
                        </m:r>
                      </m:den>
                    </m:f>
                    <m:r>
                      <a:rPr lang="en-US" b="0" i="1" smtClean="0">
                        <a:latin typeface="Cambria Math"/>
                        <a:ea typeface="Cambria Math"/>
                      </a:rPr>
                      <m:t>.</m:t>
                    </m:r>
                    <m:r>
                      <a:rPr lang="en-US" b="0" i="1" smtClean="0">
                        <a:latin typeface="Cambria Math"/>
                        <a:ea typeface="Cambria Math"/>
                      </a:rPr>
                      <m:t>𝑅</m:t>
                    </m:r>
                    <m:r>
                      <a:rPr lang="en-US" b="0" i="1" smtClean="0">
                        <a:latin typeface="Cambria Math"/>
                        <a:ea typeface="Cambria Math"/>
                      </a:rPr>
                      <m:t>∆</m:t>
                    </m:r>
                    <m:r>
                      <a:rPr lang="en-US" b="0" i="1" smtClean="0">
                        <a:latin typeface="Cambria Math"/>
                        <a:ea typeface="Cambria Math"/>
                      </a:rPr>
                      <m:t>𝑇</m:t>
                    </m:r>
                  </m:oMath>
                </a14:m>
                <a:endParaRPr lang="en-US" dirty="0"/>
              </a:p>
              <a:p>
                <a:pPr algn="ctr"/>
                <a:r>
                  <a:rPr lang="en-US" dirty="0"/>
                  <a:t>pV = </a:t>
                </a:r>
                <a14:m>
                  <m:oMath xmlns:m="http://schemas.openxmlformats.org/officeDocument/2006/math">
                    <m:f>
                      <m:fPr>
                        <m:ctrlPr>
                          <a:rPr lang="en-US" i="1">
                            <a:latin typeface="Cambria Math" panose="02040503050406030204" pitchFamily="18" charset="0"/>
                          </a:rPr>
                        </m:ctrlPr>
                      </m:fPr>
                      <m:num>
                        <m:r>
                          <a:rPr lang="en-US" i="1">
                            <a:latin typeface="Cambria Math"/>
                          </a:rPr>
                          <m:t>𝑚</m:t>
                        </m:r>
                      </m:num>
                      <m:den>
                        <m:r>
                          <a:rPr lang="en-US" i="1">
                            <a:latin typeface="Cambria Math"/>
                            <a:ea typeface="Cambria Math"/>
                          </a:rPr>
                          <m:t>𝜇</m:t>
                        </m:r>
                      </m:den>
                    </m:f>
                    <m:r>
                      <a:rPr lang="en-US" i="1">
                        <a:latin typeface="Cambria Math"/>
                      </a:rPr>
                      <m:t>𝑅</m:t>
                    </m:r>
                    <m:r>
                      <a:rPr lang="en-US" i="1">
                        <a:latin typeface="Cambria Math"/>
                        <a:ea typeface="Cambria Math"/>
                      </a:rPr>
                      <m:t>𝑇</m:t>
                    </m:r>
                  </m:oMath>
                </a14:m>
                <a:r>
                  <a:rPr lang="en-US" dirty="0"/>
                  <a:t> </a:t>
                </a:r>
              </a:p>
              <a:p>
                <a:r>
                  <a:rPr lang="en-US" dirty="0">
                    <a:latin typeface="Times New Roman" pitchFamily="18" charset="0"/>
                    <a:cs typeface="Times New Roman" pitchFamily="18" charset="0"/>
                  </a:rPr>
                  <a:t>1 </a:t>
                </a:r>
                <a:r>
                  <a:rPr lang="en-US" dirty="0" err="1">
                    <a:latin typeface="Times New Roman" pitchFamily="18" charset="0"/>
                    <a:cs typeface="Times New Roman" pitchFamily="18" charset="0"/>
                  </a:rPr>
                  <a:t>atm</a:t>
                </a:r>
                <a:r>
                  <a:rPr lang="en-US" dirty="0">
                    <a:latin typeface="Times New Roman" pitchFamily="18" charset="0"/>
                    <a:cs typeface="Times New Roman" pitchFamily="18" charset="0"/>
                  </a:rPr>
                  <a:t> = </a:t>
                </a:r>
                <a14:m>
                  <m:oMath xmlns:m="http://schemas.openxmlformats.org/officeDocument/2006/math">
                    <m:sSup>
                      <m:sSupPr>
                        <m:ctrlPr>
                          <a:rPr lang="en-US" i="1" smtClean="0">
                            <a:latin typeface="Cambria Math" panose="02040503050406030204" pitchFamily="18" charset="0"/>
                          </a:rPr>
                        </m:ctrlPr>
                      </m:sSupPr>
                      <m:e>
                        <m:r>
                          <a:rPr lang="en-US">
                            <a:latin typeface="Cambria Math"/>
                          </a:rPr>
                          <m:t>10</m:t>
                        </m:r>
                      </m:e>
                      <m:sup>
                        <m:r>
                          <a:rPr lang="en-US">
                            <a:latin typeface="Cambria Math"/>
                          </a:rPr>
                          <m:t>5</m:t>
                        </m:r>
                      </m:sup>
                    </m:sSup>
                  </m:oMath>
                </a14:m>
                <a:r>
                  <a:rPr lang="en-US" dirty="0">
                    <a:latin typeface="Times New Roman" pitchFamily="18" charset="0"/>
                    <a:cs typeface="Times New Roman" pitchFamily="18" charset="0"/>
                  </a:rPr>
                  <a:t> Pa = 760 mmHg</a:t>
                </a:r>
              </a:p>
              <a:p>
                <a:r>
                  <a:rPr lang="en-US" dirty="0">
                    <a:latin typeface="Times New Roman" pitchFamily="18" charset="0"/>
                    <a:cs typeface="Times New Roman" pitchFamily="18" charset="0"/>
                  </a:rPr>
                  <a:t>1 at = 9,81.</a:t>
                </a:r>
                <a14:m>
                  <m:oMath xmlns:m="http://schemas.openxmlformats.org/officeDocument/2006/math">
                    <m:sSup>
                      <m:sSupPr>
                        <m:ctrlPr>
                          <a:rPr lang="en-US" i="1">
                            <a:latin typeface="Cambria Math" panose="02040503050406030204" pitchFamily="18" charset="0"/>
                          </a:rPr>
                        </m:ctrlPr>
                      </m:sSupPr>
                      <m:e>
                        <m:r>
                          <a:rPr lang="en-US">
                            <a:latin typeface="Cambria Math"/>
                          </a:rPr>
                          <m:t>10</m:t>
                        </m:r>
                      </m:e>
                      <m:sup>
                        <m:r>
                          <a:rPr lang="en-US">
                            <a:latin typeface="Cambria Math"/>
                          </a:rPr>
                          <m:t>4</m:t>
                        </m:r>
                      </m:sup>
                    </m:sSup>
                  </m:oMath>
                </a14:m>
                <a:r>
                  <a:rPr lang="en-US" dirty="0">
                    <a:latin typeface="Times New Roman" pitchFamily="18" charset="0"/>
                    <a:cs typeface="Times New Roman" pitchFamily="18" charset="0"/>
                  </a:rPr>
                  <a:t> Pa = 736 mmHg</a:t>
                </a:r>
              </a:p>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𝑝</m:t>
                        </m:r>
                      </m:e>
                      <m:sub>
                        <m:r>
                          <a:rPr lang="en-US" b="0" i="1" smtClean="0">
                            <a:latin typeface="Cambria Math"/>
                          </a:rPr>
                          <m:t>2</m:t>
                        </m:r>
                      </m:sub>
                    </m:sSub>
                  </m:oMath>
                </a14:m>
                <a:r>
                  <a:rPr lang="en-US" dirty="0"/>
                  <a:t>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a:rPr>
                          <m:t>10</m:t>
                        </m:r>
                      </m:e>
                      <m:sup>
                        <m:r>
                          <a:rPr lang="en-US" b="0" i="1" smtClean="0">
                            <a:latin typeface="Cambria Math"/>
                          </a:rPr>
                          <m:t>9</m:t>
                        </m:r>
                      </m:sup>
                    </m:sSup>
                  </m:oMath>
                </a14:m>
                <a:r>
                  <a:rPr lang="en-US" dirty="0"/>
                  <a:t>/760 N/m², </a:t>
                </a:r>
                <a14:m>
                  <m:oMath xmlns:m="http://schemas.openxmlformats.org/officeDocument/2006/math">
                    <m:sSub>
                      <m:sSubPr>
                        <m:ctrlPr>
                          <a:rPr lang="en-US" i="1">
                            <a:latin typeface="Cambria Math" panose="02040503050406030204" pitchFamily="18" charset="0"/>
                          </a:rPr>
                        </m:ctrlPr>
                      </m:sSubPr>
                      <m:e>
                        <m:r>
                          <a:rPr lang="en-US" i="1">
                            <a:latin typeface="Cambria Math"/>
                          </a:rPr>
                          <m:t>𝑝</m:t>
                        </m:r>
                      </m:e>
                      <m:sub>
                        <m:r>
                          <a:rPr lang="en-US" i="1">
                            <a:latin typeface="Cambria Math"/>
                          </a:rPr>
                          <m:t>2</m:t>
                        </m:r>
                      </m:sub>
                    </m:sSub>
                    <m:r>
                      <a:rPr lang="en-US" i="1">
                        <a:latin typeface="Cambria Math"/>
                      </a:rPr>
                      <m:t> </m:t>
                    </m:r>
                  </m:oMath>
                </a14:m>
                <a:r>
                  <a:rPr lang="en-US" dirty="0"/>
                  <a:t>V = </a:t>
                </a:r>
                <a14:m>
                  <m:oMath xmlns:m="http://schemas.openxmlformats.org/officeDocument/2006/math">
                    <m:f>
                      <m:fPr>
                        <m:ctrlPr>
                          <a:rPr lang="en-US" i="1">
                            <a:latin typeface="Cambria Math" panose="02040503050406030204" pitchFamily="18" charset="0"/>
                          </a:rPr>
                        </m:ctrlPr>
                      </m:fPr>
                      <m:num>
                        <m:r>
                          <a:rPr lang="en-US" i="1">
                            <a:latin typeface="Cambria Math"/>
                          </a:rPr>
                          <m:t>𝑚</m:t>
                        </m:r>
                      </m:num>
                      <m:den>
                        <m:r>
                          <a:rPr lang="en-US" i="1">
                            <a:latin typeface="Cambria Math"/>
                            <a:ea typeface="Cambria Math"/>
                          </a:rPr>
                          <m:t>𝜇</m:t>
                        </m:r>
                      </m:den>
                    </m:f>
                    <m:r>
                      <a:rPr lang="en-US" i="1">
                        <a:latin typeface="Cambria Math"/>
                      </a:rPr>
                      <m:t>𝑅</m:t>
                    </m:r>
                    <m:sSub>
                      <m:sSubPr>
                        <m:ctrlPr>
                          <a:rPr lang="en-US" i="1" smtClean="0">
                            <a:latin typeface="Cambria Math" panose="02040503050406030204" pitchFamily="18" charset="0"/>
                          </a:rPr>
                        </m:ctrlPr>
                      </m:sSubPr>
                      <m:e>
                        <m:r>
                          <a:rPr lang="en-US" b="0" i="1" smtClean="0">
                            <a:latin typeface="Cambria Math"/>
                          </a:rPr>
                          <m:t>𝑇</m:t>
                        </m:r>
                      </m:e>
                      <m:sub>
                        <m:r>
                          <a:rPr lang="en-US" b="0" i="1" smtClean="0">
                            <a:latin typeface="Cambria Math"/>
                          </a:rPr>
                          <m:t>2</m:t>
                        </m:r>
                      </m:sub>
                    </m:sSub>
                  </m:oMath>
                </a14:m>
                <a:r>
                  <a:rPr lang="en-US" dirty="0"/>
                  <a:t> , </a:t>
                </a:r>
                <a14:m>
                  <m:oMath xmlns:m="http://schemas.openxmlformats.org/officeDocument/2006/math">
                    <m:sSub>
                      <m:sSubPr>
                        <m:ctrlPr>
                          <a:rPr lang="en-US" i="1">
                            <a:latin typeface="Cambria Math" panose="02040503050406030204" pitchFamily="18" charset="0"/>
                          </a:rPr>
                        </m:ctrlPr>
                      </m:sSubPr>
                      <m:e>
                        <m:r>
                          <a:rPr lang="en-US" i="1">
                            <a:latin typeface="Cambria Math"/>
                          </a:rPr>
                          <m:t>𝑇</m:t>
                        </m:r>
                      </m:e>
                      <m:sub>
                        <m:r>
                          <a:rPr lang="en-US" i="1">
                            <a:latin typeface="Cambria Math"/>
                          </a:rPr>
                          <m:t>2</m:t>
                        </m:r>
                      </m:sub>
                    </m:sSub>
                  </m:oMath>
                </a14:m>
                <a:r>
                  <a:rPr lang="en-US" dirty="0"/>
                  <a:t> = 739K </a:t>
                </a:r>
              </a:p>
              <a:p>
                <a:r>
                  <a:rPr lang="en-US" dirty="0"/>
                  <a:t>V= 2.</a:t>
                </a:r>
                <a14:m>
                  <m:oMath xmlns:m="http://schemas.openxmlformats.org/officeDocument/2006/math">
                    <m:sSup>
                      <m:sSupPr>
                        <m:ctrlPr>
                          <a:rPr lang="en-US" i="1">
                            <a:latin typeface="Cambria Math" panose="02040503050406030204" pitchFamily="18" charset="0"/>
                          </a:rPr>
                        </m:ctrlPr>
                      </m:sSupPr>
                      <m:e>
                        <m:r>
                          <a:rPr lang="en-US" i="1">
                            <a:latin typeface="Cambria Math"/>
                          </a:rPr>
                          <m:t>10</m:t>
                        </m:r>
                      </m:e>
                      <m:sup>
                        <m:r>
                          <a:rPr lang="en-US" i="1">
                            <a:latin typeface="Cambria Math"/>
                          </a:rPr>
                          <m:t>−3</m:t>
                        </m:r>
                      </m:sup>
                    </m:sSup>
                    <m:r>
                      <a:rPr lang="en-US" i="1">
                        <a:latin typeface="Cambria Math"/>
                      </a:rPr>
                      <m:t>𝑚</m:t>
                    </m:r>
                    <m:r>
                      <a:rPr lang="en-US" i="1">
                        <a:latin typeface="Cambria Math"/>
                      </a:rPr>
                      <m:t>³</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𝑇</m:t>
                        </m:r>
                      </m:e>
                      <m:sub>
                        <m:r>
                          <a:rPr lang="en-US" i="1">
                            <a:latin typeface="Cambria Math"/>
                          </a:rPr>
                          <m:t>1</m:t>
                        </m:r>
                      </m:sub>
                    </m:sSub>
                    <m:r>
                      <a:rPr lang="en-US" i="1">
                        <a:latin typeface="Cambria Math"/>
                      </a:rPr>
                      <m:t> </m:t>
                    </m:r>
                  </m:oMath>
                </a14:m>
                <a:r>
                  <a:rPr lang="en-US" dirty="0"/>
                  <a:t>= 283K</a:t>
                </a:r>
              </a:p>
              <a:p>
                <a:endParaRPr lang="en-US" dirty="0"/>
              </a:p>
              <a:p>
                <a:endParaRPr lang="en-US" dirty="0"/>
              </a:p>
            </p:txBody>
          </p:sp>
        </mc:Choice>
        <mc:Fallback xmlns="">
          <p:sp>
            <p:nvSpPr>
              <p:cNvPr id="5" name="Notes Placeholder 4"/>
              <p:cNvSpPr>
                <a:spLocks noGrp="1"/>
              </p:cNvSpPr>
              <p:nvPr>
                <p:ph type="body" idx="1"/>
              </p:nvPr>
            </p:nvSpPr>
            <p:spPr>
              <a:xfrm>
                <a:off x="685800" y="4343400"/>
                <a:ext cx="5181600" cy="28194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dirty="0"/>
              </a:p>
              <a:p>
                <a:pPr algn="ctr"/>
                <a:r>
                  <a:rPr lang="en-US" dirty="0" smtClean="0"/>
                  <a:t>A= 0 , Q = </a:t>
                </a:r>
                <a:r>
                  <a:rPr lang="en-US" i="0" smtClean="0">
                    <a:latin typeface="Cambria Math"/>
                    <a:ea typeface="Cambria Math"/>
                  </a:rPr>
                  <a:t>∆</a:t>
                </a:r>
                <a:r>
                  <a:rPr lang="en-US" b="0" i="0" smtClean="0">
                    <a:latin typeface="Cambria Math"/>
                    <a:ea typeface="Cambria Math"/>
                  </a:rPr>
                  <a:t>𝑈=  𝑚/𝜇.𝑖/2.𝑅∆𝑇</a:t>
                </a:r>
                <a:endParaRPr lang="en-US" dirty="0" smtClean="0"/>
              </a:p>
              <a:p>
                <a:pPr algn="ctr"/>
                <a:r>
                  <a:rPr lang="en-US" dirty="0"/>
                  <a:t>pV = </a:t>
                </a:r>
                <a:r>
                  <a:rPr lang="en-US" i="0">
                    <a:latin typeface="Cambria Math"/>
                  </a:rPr>
                  <a:t>𝑚/</a:t>
                </a:r>
                <a:r>
                  <a:rPr lang="en-US" i="0">
                    <a:latin typeface="Cambria Math"/>
                    <a:ea typeface="Cambria Math"/>
                  </a:rPr>
                  <a:t>𝜇 </a:t>
                </a:r>
                <a:r>
                  <a:rPr lang="en-US" i="0">
                    <a:latin typeface="Cambria Math"/>
                  </a:rPr>
                  <a:t>𝑅</a:t>
                </a:r>
                <a:r>
                  <a:rPr lang="en-US" i="0">
                    <a:latin typeface="Cambria Math"/>
                    <a:ea typeface="Cambria Math"/>
                  </a:rPr>
                  <a:t>𝑇</a:t>
                </a:r>
                <a:r>
                  <a:rPr lang="en-US" dirty="0"/>
                  <a:t> </a:t>
                </a:r>
              </a:p>
              <a:p>
                <a:r>
                  <a:rPr lang="en-US" dirty="0" smtClean="0">
                    <a:latin typeface="Times New Roman" pitchFamily="18" charset="0"/>
                    <a:cs typeface="Times New Roman" pitchFamily="18" charset="0"/>
                  </a:rPr>
                  <a:t>1 </a:t>
                </a:r>
                <a:r>
                  <a:rPr lang="en-US" dirty="0" err="1">
                    <a:latin typeface="Times New Roman" pitchFamily="18" charset="0"/>
                    <a:cs typeface="Times New Roman" pitchFamily="18" charset="0"/>
                  </a:rPr>
                  <a:t>atm</a:t>
                </a:r>
                <a:r>
                  <a:rPr lang="en-US" dirty="0">
                    <a:latin typeface="Times New Roman" pitchFamily="18" charset="0"/>
                    <a:cs typeface="Times New Roman" pitchFamily="18" charset="0"/>
                  </a:rPr>
                  <a:t> = </a:t>
                </a:r>
                <a:r>
                  <a:rPr lang="en-US" i="0" smtClean="0">
                    <a:latin typeface="Cambria Math"/>
                  </a:rPr>
                  <a:t>〖</a:t>
                </a:r>
                <a:r>
                  <a:rPr lang="en-US" i="0">
                    <a:latin typeface="Cambria Math"/>
                  </a:rPr>
                  <a:t>10</a:t>
                </a:r>
                <a:r>
                  <a:rPr lang="en-US" i="0" smtClean="0">
                    <a:latin typeface="Cambria Math"/>
                  </a:rPr>
                  <a:t>〗^</a:t>
                </a:r>
                <a:r>
                  <a:rPr lang="en-US" i="0">
                    <a:latin typeface="Cambria Math"/>
                  </a:rPr>
                  <a:t>5</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Pa = 760 mmHg</a:t>
                </a:r>
              </a:p>
              <a:p>
                <a:r>
                  <a:rPr lang="en-US" dirty="0" smtClean="0">
                    <a:latin typeface="Times New Roman" pitchFamily="18" charset="0"/>
                    <a:cs typeface="Times New Roman" pitchFamily="18" charset="0"/>
                  </a:rPr>
                  <a:t>1 </a:t>
                </a:r>
                <a:r>
                  <a:rPr lang="en-US" dirty="0">
                    <a:latin typeface="Times New Roman" pitchFamily="18" charset="0"/>
                    <a:cs typeface="Times New Roman" pitchFamily="18" charset="0"/>
                  </a:rPr>
                  <a:t>at = 9,81.</a:t>
                </a:r>
                <a:r>
                  <a:rPr lang="en-US" i="0">
                    <a:latin typeface="Cambria Math"/>
                  </a:rPr>
                  <a:t>〖10〗^4</a:t>
                </a:r>
                <a:r>
                  <a:rPr lang="en-US" dirty="0">
                    <a:latin typeface="Times New Roman" pitchFamily="18" charset="0"/>
                    <a:cs typeface="Times New Roman" pitchFamily="18" charset="0"/>
                  </a:rPr>
                  <a:t> Pa = 736 mmHg</a:t>
                </a:r>
                <a:endParaRPr lang="en-US" dirty="0" smtClean="0">
                  <a:latin typeface="Times New Roman" pitchFamily="18" charset="0"/>
                  <a:cs typeface="Times New Roman" pitchFamily="18" charset="0"/>
                </a:endParaRPr>
              </a:p>
              <a:p>
                <a:r>
                  <a:rPr lang="en-US" b="0" i="0" smtClean="0">
                    <a:latin typeface="Cambria Math"/>
                  </a:rPr>
                  <a:t>𝑝_2</a:t>
                </a:r>
                <a:r>
                  <a:rPr lang="en-US" dirty="0" smtClean="0"/>
                  <a:t> = </a:t>
                </a:r>
                <a:r>
                  <a:rPr lang="en-US" i="0" smtClean="0">
                    <a:latin typeface="Cambria Math"/>
                  </a:rPr>
                  <a:t>〖</a:t>
                </a:r>
                <a:r>
                  <a:rPr lang="en-US" b="0" i="0" smtClean="0">
                    <a:latin typeface="Cambria Math"/>
                  </a:rPr>
                  <a:t>10〗^9</a:t>
                </a:r>
                <a:r>
                  <a:rPr lang="en-US" dirty="0" smtClean="0"/>
                  <a:t>/760 N/m², </a:t>
                </a:r>
                <a:r>
                  <a:rPr lang="en-US" i="0">
                    <a:latin typeface="Cambria Math"/>
                  </a:rPr>
                  <a:t>𝑝_2  </a:t>
                </a:r>
                <a:r>
                  <a:rPr lang="en-US" dirty="0" smtClean="0"/>
                  <a:t>V </a:t>
                </a:r>
                <a:r>
                  <a:rPr lang="en-US" dirty="0"/>
                  <a:t>= </a:t>
                </a:r>
                <a:r>
                  <a:rPr lang="en-US" i="0">
                    <a:latin typeface="Cambria Math"/>
                  </a:rPr>
                  <a:t>𝑚/</a:t>
                </a:r>
                <a:r>
                  <a:rPr lang="en-US" i="0">
                    <a:latin typeface="Cambria Math"/>
                    <a:ea typeface="Cambria Math"/>
                  </a:rPr>
                  <a:t>𝜇 </a:t>
                </a:r>
                <a:r>
                  <a:rPr lang="en-US" i="0">
                    <a:latin typeface="Cambria Math"/>
                  </a:rPr>
                  <a:t>𝑅</a:t>
                </a:r>
                <a:r>
                  <a:rPr lang="en-US" b="0" i="0" smtClean="0">
                    <a:latin typeface="Cambria Math"/>
                  </a:rPr>
                  <a:t>𝑇_2</a:t>
                </a:r>
                <a:r>
                  <a:rPr lang="en-US" dirty="0"/>
                  <a:t> </a:t>
                </a:r>
                <a:r>
                  <a:rPr lang="en-US" dirty="0" smtClean="0"/>
                  <a:t>, </a:t>
                </a:r>
                <a:r>
                  <a:rPr lang="en-US" i="0">
                    <a:latin typeface="Cambria Math"/>
                  </a:rPr>
                  <a:t>𝑇_2</a:t>
                </a:r>
                <a:r>
                  <a:rPr lang="en-US" dirty="0" smtClean="0"/>
                  <a:t> = 739K </a:t>
                </a:r>
                <a:endParaRPr lang="en-US" dirty="0"/>
              </a:p>
              <a:p>
                <a:r>
                  <a:rPr lang="en-US" dirty="0"/>
                  <a:t>V= 2.</a:t>
                </a:r>
                <a:r>
                  <a:rPr lang="en-US" i="0">
                    <a:latin typeface="Cambria Math"/>
                  </a:rPr>
                  <a:t>〖10〗^(−3) 𝑚³</a:t>
                </a:r>
                <a:r>
                  <a:rPr lang="en-US" dirty="0"/>
                  <a:t>, </a:t>
                </a:r>
                <a:r>
                  <a:rPr lang="en-US" i="0">
                    <a:latin typeface="Cambria Math"/>
                  </a:rPr>
                  <a:t>𝑇_1  </a:t>
                </a:r>
                <a:r>
                  <a:rPr lang="en-US" dirty="0"/>
                  <a:t>= 283K</a:t>
                </a:r>
              </a:p>
              <a:p>
                <a:endParaRPr lang="en-US" dirty="0"/>
              </a:p>
              <a:p>
                <a:endParaRPr lang="en-US" dirty="0"/>
              </a:p>
            </p:txBody>
          </p:sp>
        </mc:Fallback>
      </mc:AlternateContent>
    </p:spTree>
    <p:extLst>
      <p:ext uri="{BB962C8B-B14F-4D97-AF65-F5344CB8AC3E}">
        <p14:creationId xmlns:p14="http://schemas.microsoft.com/office/powerpoint/2010/main" val="27056595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921134E5-7BDB-4BD4-B532-A0EE5BD855CF}" type="slidenum">
              <a:rPr lang="en-US" smtClean="0"/>
              <a:t>44</a:t>
            </a:fld>
            <a:endParaRPr lang="en-US"/>
          </a:p>
        </p:txBody>
      </p:sp>
      <mc:AlternateContent xmlns:mc="http://schemas.openxmlformats.org/markup-compatibility/2006" xmlns:a14="http://schemas.microsoft.com/office/drawing/2010/main">
        <mc:Choice Requires="a14">
          <p:sp>
            <p:nvSpPr>
              <p:cNvPr id="5" name="Notes Placeholder 4"/>
              <p:cNvSpPr>
                <a:spLocks noGrp="1"/>
              </p:cNvSpPr>
              <p:nvPr>
                <p:ph type="body" idx="1"/>
              </p:nvPr>
            </p:nvSpPr>
            <p:spPr>
              <a:xfrm>
                <a:off x="685800" y="4343400"/>
                <a:ext cx="5562600" cy="22860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2400" dirty="0">
                    <a:latin typeface="Times New Roman" pitchFamily="18" charset="0"/>
                    <a:cs typeface="Times New Roman" pitchFamily="18" charset="0"/>
                  </a:rPr>
                  <a:t>Q =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a:rPr>
                          <m:t>𝑚</m:t>
                        </m:r>
                      </m:num>
                      <m:den>
                        <m:r>
                          <a:rPr lang="en-US" sz="2400" i="1" smtClean="0">
                            <a:latin typeface="Cambria Math"/>
                            <a:ea typeface="Cambria Math"/>
                          </a:rPr>
                          <m:t>𝜇</m:t>
                        </m:r>
                      </m:den>
                    </m:f>
                  </m:oMath>
                </a14:m>
                <a:r>
                  <a:rPr lang="en-US" sz="2400" dirty="0">
                    <a:latin typeface="Times New Roman" pitchFamily="18" charset="0"/>
                    <a:cs typeface="Times New Roman" pitchFamily="18" charset="0"/>
                  </a:rPr>
                  <a:t> </a:t>
                </a:r>
                <a14:m>
                  <m:oMath xmlns:m="http://schemas.openxmlformats.org/officeDocument/2006/math">
                    <m:sSub>
                      <m:sSubPr>
                        <m:ctrlPr>
                          <a:rPr lang="en-US" sz="2400" i="1" dirty="0" smtClean="0">
                            <a:latin typeface="Cambria Math" panose="02040503050406030204" pitchFamily="18" charset="0"/>
                          </a:rPr>
                        </m:ctrlPr>
                      </m:sSubPr>
                      <m:e>
                        <m:r>
                          <a:rPr lang="en-US" sz="2400" b="0" i="1" dirty="0" smtClean="0">
                            <a:latin typeface="Cambria Math"/>
                          </a:rPr>
                          <m:t>𝐶</m:t>
                        </m:r>
                      </m:e>
                      <m:sub>
                        <m:r>
                          <a:rPr lang="en-US" sz="2400" b="0" i="1" dirty="0" smtClean="0">
                            <a:latin typeface="Cambria Math"/>
                          </a:rPr>
                          <m:t>𝑃</m:t>
                        </m:r>
                      </m:sub>
                    </m:sSub>
                    <m:r>
                      <a:rPr lang="en-US" sz="2400" i="1" dirty="0" smtClean="0">
                        <a:latin typeface="Cambria Math"/>
                        <a:ea typeface="Cambria Math"/>
                      </a:rPr>
                      <m:t>∆</m:t>
                    </m:r>
                    <m:r>
                      <a:rPr lang="en-US" sz="2400" b="0" i="1" dirty="0" smtClean="0">
                        <a:latin typeface="Cambria Math"/>
                        <a:ea typeface="Cambria Math"/>
                      </a:rPr>
                      <m:t>𝑇</m:t>
                    </m:r>
                  </m:oMath>
                </a14:m>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p</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a:rPr>
                          <m:t>𝑉</m:t>
                        </m:r>
                      </m:e>
                      <m:sub>
                        <m:r>
                          <a:rPr lang="en-US" sz="2400" b="0" i="1" smtClean="0">
                            <a:latin typeface="Cambria Math"/>
                          </a:rPr>
                          <m:t>2</m:t>
                        </m:r>
                      </m:sub>
                    </m:sSub>
                  </m:oMath>
                </a14:m>
                <a:r>
                  <a:rPr lang="en-US" sz="2400" dirty="0">
                    <a:latin typeface="Times New Roman" pitchFamily="18" charset="0"/>
                    <a:cs typeface="Times New Roman" pitchFamily="18" charset="0"/>
                  </a:rPr>
                  <a:t> = </a:t>
                </a:r>
                <a14:m>
                  <m:oMath xmlns:m="http://schemas.openxmlformats.org/officeDocument/2006/math">
                    <m:f>
                      <m:fPr>
                        <m:ctrlPr>
                          <a:rPr lang="en-US" sz="2400" i="1">
                            <a:latin typeface="Cambria Math" panose="02040503050406030204" pitchFamily="18" charset="0"/>
                          </a:rPr>
                        </m:ctrlPr>
                      </m:fPr>
                      <m:num>
                        <m:r>
                          <a:rPr lang="en-US" sz="2400" i="1">
                            <a:latin typeface="Cambria Math"/>
                          </a:rPr>
                          <m:t>𝑚</m:t>
                        </m:r>
                      </m:num>
                      <m:den>
                        <m:r>
                          <a:rPr lang="en-US" sz="2400" i="1">
                            <a:latin typeface="Cambria Math"/>
                            <a:ea typeface="Cambria Math"/>
                          </a:rPr>
                          <m:t>𝜇</m:t>
                        </m:r>
                      </m:den>
                    </m:f>
                    <m:r>
                      <a:rPr lang="en-US" sz="2400" i="1">
                        <a:latin typeface="Cambria Math"/>
                      </a:rPr>
                      <m:t>𝑅</m:t>
                    </m:r>
                    <m:sSub>
                      <m:sSubPr>
                        <m:ctrlPr>
                          <a:rPr lang="en-US" sz="2400" i="1" smtClean="0">
                            <a:latin typeface="Cambria Math" panose="02040503050406030204" pitchFamily="18" charset="0"/>
                          </a:rPr>
                        </m:ctrlPr>
                      </m:sSubPr>
                      <m:e>
                        <m:r>
                          <a:rPr lang="en-US" sz="2400" b="0" i="1" smtClean="0">
                            <a:latin typeface="Cambria Math"/>
                          </a:rPr>
                          <m:t>𝑇</m:t>
                        </m:r>
                      </m:e>
                      <m:sub>
                        <m:r>
                          <a:rPr lang="en-US" sz="2400" b="0" i="1" smtClean="0">
                            <a:latin typeface="Cambria Math"/>
                          </a:rPr>
                          <m:t>2</m:t>
                        </m:r>
                      </m:sub>
                    </m:sSub>
                  </m:oMath>
                </a14:m>
                <a:r>
                  <a:rPr lang="en-US" sz="2400" dirty="0">
                    <a:latin typeface="Times New Roman" pitchFamily="18" charset="0"/>
                    <a:ea typeface="Cambria Math"/>
                    <a:cs typeface="Times New Roman" pitchFamily="18" charset="0"/>
                  </a:rPr>
                  <a:t> </a:t>
                </a:r>
                <a14:m>
                  <m:oMath xmlns:m="http://schemas.openxmlformats.org/officeDocument/2006/math">
                    <m:r>
                      <a:rPr lang="en-US" sz="2400" i="1" dirty="0" smtClean="0">
                        <a:latin typeface="Cambria Math"/>
                        <a:ea typeface="Cambria Math"/>
                      </a:rPr>
                      <m:t>→</m:t>
                    </m:r>
                  </m:oMath>
                </a14:m>
                <a:r>
                  <a:rPr lang="en-US" sz="2400" dirty="0">
                    <a:latin typeface="Times New Roman" pitchFamily="18" charset="0"/>
                    <a:ea typeface="Cambria Math"/>
                    <a:cs typeface="Times New Roman" pitchFamily="18" charset="0"/>
                  </a:rPr>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𝑇</m:t>
                        </m:r>
                      </m:e>
                      <m:sub>
                        <m:r>
                          <a:rPr lang="en-US" sz="2400" i="1">
                            <a:latin typeface="Cambria Math"/>
                          </a:rPr>
                          <m:t>2</m:t>
                        </m:r>
                      </m:sub>
                    </m:sSub>
                  </m:oMath>
                </a14:m>
                <a:r>
                  <a:rPr lang="en-US" sz="2400" dirty="0">
                    <a:latin typeface="Times New Roman" pitchFamily="18" charset="0"/>
                    <a:ea typeface="Cambria Math"/>
                    <a:cs typeface="Times New Roman" pitchFamily="18" charset="0"/>
                  </a:rPr>
                  <a:t> = 1015(K)</a:t>
                </a:r>
              </a:p>
              <a:p>
                <a:r>
                  <a:rPr lang="en-US" sz="2400" dirty="0">
                    <a:latin typeface="Times New Roman" pitchFamily="18" charset="0"/>
                    <a:ea typeface="Cambria Math"/>
                    <a:cs typeface="Times New Roman" pitchFamily="18" charset="0"/>
                  </a:rPr>
                  <a:t> </a:t>
                </a:r>
              </a:p>
            </p:txBody>
          </p:sp>
        </mc:Choice>
        <mc:Fallback xmlns="">
          <p:sp>
            <p:nvSpPr>
              <p:cNvPr id="5" name="Notes Placeholder 4"/>
              <p:cNvSpPr>
                <a:spLocks noGrp="1"/>
              </p:cNvSpPr>
              <p:nvPr>
                <p:ph type="body" idx="1"/>
              </p:nvPr>
            </p:nvSpPr>
            <p:spPr>
              <a:xfrm>
                <a:off x="685800" y="4343400"/>
                <a:ext cx="5562600" cy="22860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2400" dirty="0" smtClean="0">
                    <a:latin typeface="Times New Roman" pitchFamily="18" charset="0"/>
                    <a:cs typeface="Times New Roman" pitchFamily="18" charset="0"/>
                  </a:rPr>
                  <a:t>Q = </a:t>
                </a:r>
                <a:r>
                  <a:rPr lang="en-US" sz="2400" b="0" i="0" smtClean="0">
                    <a:latin typeface="Cambria Math"/>
                  </a:rPr>
                  <a:t>𝑚/</a:t>
                </a:r>
                <a:r>
                  <a:rPr lang="en-US" sz="2400" i="0" smtClean="0">
                    <a:latin typeface="Cambria Math"/>
                    <a:ea typeface="Cambria Math"/>
                  </a:rPr>
                  <a:t>𝜇</a:t>
                </a:r>
                <a:r>
                  <a:rPr lang="en-US" sz="2400" dirty="0" smtClean="0">
                    <a:latin typeface="Times New Roman" pitchFamily="18" charset="0"/>
                    <a:cs typeface="Times New Roman" pitchFamily="18" charset="0"/>
                  </a:rPr>
                  <a:t> </a:t>
                </a:r>
                <a:r>
                  <a:rPr lang="en-US" sz="2400" b="0" i="0" dirty="0" smtClean="0">
                    <a:latin typeface="Cambria Math"/>
                  </a:rPr>
                  <a:t>𝐶_𝑃</a:t>
                </a:r>
                <a:r>
                  <a:rPr lang="en-US" sz="2400" b="0" i="0" dirty="0" smtClean="0">
                    <a:latin typeface="Cambria Math"/>
                    <a:ea typeface="Cambria Math"/>
                  </a:rPr>
                  <a:t> </a:t>
                </a:r>
                <a:r>
                  <a:rPr lang="en-US" sz="2400" i="0" dirty="0" smtClean="0">
                    <a:latin typeface="Cambria Math"/>
                    <a:ea typeface="Cambria Math"/>
                  </a:rPr>
                  <a:t>∆</a:t>
                </a:r>
                <a:r>
                  <a:rPr lang="en-US" sz="2400" b="0" i="0" dirty="0" smtClean="0">
                    <a:latin typeface="Cambria Math"/>
                    <a:ea typeface="Cambria Math"/>
                  </a:rPr>
                  <a:t>𝑇</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p</a:t>
                </a:r>
                <a:r>
                  <a:rPr lang="en-US" sz="2400" b="0" i="0" smtClean="0">
                    <a:latin typeface="Cambria Math"/>
                  </a:rPr>
                  <a:t>𝑉_2</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 </a:t>
                </a:r>
                <a:r>
                  <a:rPr lang="en-US" sz="2400" i="0">
                    <a:latin typeface="Cambria Math"/>
                  </a:rPr>
                  <a:t>𝑚/</a:t>
                </a:r>
                <a:r>
                  <a:rPr lang="en-US" sz="2400" i="0">
                    <a:latin typeface="Cambria Math"/>
                    <a:ea typeface="Cambria Math"/>
                  </a:rPr>
                  <a:t>𝜇 </a:t>
                </a:r>
                <a:r>
                  <a:rPr lang="en-US" sz="2400" i="0">
                    <a:latin typeface="Cambria Math"/>
                  </a:rPr>
                  <a:t>𝑅</a:t>
                </a:r>
                <a:r>
                  <a:rPr lang="en-US" sz="2400" b="0" i="0" smtClean="0">
                    <a:latin typeface="Cambria Math"/>
                  </a:rPr>
                  <a:t>𝑇_2</a:t>
                </a:r>
                <a:r>
                  <a:rPr lang="en-US" sz="2400" dirty="0" smtClean="0">
                    <a:latin typeface="Times New Roman" pitchFamily="18" charset="0"/>
                    <a:ea typeface="Cambria Math"/>
                    <a:cs typeface="Times New Roman" pitchFamily="18" charset="0"/>
                  </a:rPr>
                  <a:t> </a:t>
                </a:r>
                <a:r>
                  <a:rPr lang="en-US" sz="2400" i="0" dirty="0" smtClean="0">
                    <a:latin typeface="Cambria Math"/>
                    <a:ea typeface="Cambria Math"/>
                  </a:rPr>
                  <a:t>→</a:t>
                </a:r>
                <a:r>
                  <a:rPr lang="en-US" sz="2400" dirty="0" smtClean="0">
                    <a:latin typeface="Times New Roman" pitchFamily="18" charset="0"/>
                    <a:ea typeface="Cambria Math"/>
                    <a:cs typeface="Times New Roman" pitchFamily="18" charset="0"/>
                  </a:rPr>
                  <a:t> </a:t>
                </a:r>
                <a:r>
                  <a:rPr lang="en-US" sz="2400" i="0">
                    <a:latin typeface="Cambria Math"/>
                  </a:rPr>
                  <a:t>𝑇_2</a:t>
                </a:r>
                <a:r>
                  <a:rPr lang="en-US" sz="2400" dirty="0" smtClean="0">
                    <a:latin typeface="Times New Roman" pitchFamily="18" charset="0"/>
                    <a:ea typeface="Cambria Math"/>
                    <a:cs typeface="Times New Roman" pitchFamily="18" charset="0"/>
                  </a:rPr>
                  <a:t> = 1015(K)</a:t>
                </a:r>
              </a:p>
              <a:p>
                <a:r>
                  <a:rPr lang="en-US" sz="2400" dirty="0" smtClean="0">
                    <a:latin typeface="Times New Roman" pitchFamily="18" charset="0"/>
                    <a:ea typeface="Cambria Math"/>
                    <a:cs typeface="Times New Roman" pitchFamily="18" charset="0"/>
                  </a:rPr>
                  <a:t> </a:t>
                </a:r>
                <a:endParaRPr lang="en-US" sz="2400" dirty="0">
                  <a:latin typeface="Times New Roman" pitchFamily="18" charset="0"/>
                  <a:ea typeface="Cambria Math"/>
                  <a:cs typeface="Times New Roman" pitchFamily="18" charset="0"/>
                </a:endParaRPr>
              </a:p>
            </p:txBody>
          </p:sp>
        </mc:Fallback>
      </mc:AlternateContent>
    </p:spTree>
    <p:extLst>
      <p:ext uri="{BB962C8B-B14F-4D97-AF65-F5344CB8AC3E}">
        <p14:creationId xmlns:p14="http://schemas.microsoft.com/office/powerpoint/2010/main" val="37045733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921134E5-7BDB-4BD4-B532-A0EE5BD855CF}" type="slidenum">
              <a:rPr lang="en-US" smtClean="0"/>
              <a:t>45</a:t>
            </a:fld>
            <a:endParaRPr lang="en-US"/>
          </a:p>
        </p:txBody>
      </p:sp>
      <mc:AlternateContent xmlns:mc="http://schemas.openxmlformats.org/markup-compatibility/2006" xmlns:a14="http://schemas.microsoft.com/office/drawing/2010/main">
        <mc:Choice Requires="a14">
          <p:sp>
            <p:nvSpPr>
              <p:cNvPr id="5" name="Notes Placeholder 4"/>
              <p:cNvSpPr>
                <a:spLocks noGrp="1"/>
              </p:cNvSpPr>
              <p:nvPr>
                <p:ph type="body" idx="1"/>
              </p:nvPr>
            </p:nvSpPr>
            <p:spPr>
              <a:xfrm>
                <a:off x="685800" y="4343400"/>
                <a:ext cx="5791200" cy="2819400"/>
              </a:xfrm>
              <a:prstGeom prst="cloudCallout">
                <a:avLst>
                  <a:gd name="adj1" fmla="val -44106"/>
                  <a:gd name="adj2" fmla="val -104600"/>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3200" b="1" dirty="0">
                    <a:latin typeface="Times New Roman" pitchFamily="18" charset="0"/>
                    <a:cs typeface="Times New Roman" pitchFamily="18" charset="0"/>
                  </a:rPr>
                  <a:t>c</a:t>
                </a:r>
                <a:r>
                  <a:rPr lang="en-US" sz="3200" b="1" baseline="-25000" dirty="0" err="1">
                    <a:latin typeface="Times New Roman" pitchFamily="18" charset="0"/>
                    <a:cs typeface="Times New Roman" pitchFamily="18" charset="0"/>
                  </a:rPr>
                  <a:t>p</a:t>
                </a:r>
                <a:r>
                  <a:rPr lang="en-US" sz="3200" b="1" dirty="0">
                    <a:latin typeface="Times New Roman" pitchFamily="18" charset="0"/>
                    <a:cs typeface="Times New Roman" pitchFamily="18" charset="0"/>
                  </a:rPr>
                  <a:t>= 969,5 J/</a:t>
                </a:r>
                <a:r>
                  <a:rPr lang="en-US" sz="3200" b="1" dirty="0" err="1">
                    <a:latin typeface="Times New Roman" pitchFamily="18" charset="0"/>
                    <a:cs typeface="Times New Roman" pitchFamily="18" charset="0"/>
                  </a:rPr>
                  <a:t>kg.K</a:t>
                </a:r>
                <a:endParaRPr lang="en-US" sz="3200" b="1" dirty="0">
                  <a:latin typeface="Times New Roman" pitchFamily="18" charset="0"/>
                  <a:cs typeface="Times New Roman" pitchFamily="18" charset="0"/>
                </a:endParaRPr>
              </a:p>
              <a:p>
                <a:pPr algn="ctr"/>
                <a14:m>
                  <m:oMath xmlns:m="http://schemas.openxmlformats.org/officeDocument/2006/math">
                    <m:sSub>
                      <m:sSubPr>
                        <m:ctrlPr>
                          <a:rPr lang="en-US" sz="3200" b="1" i="1" smtClean="0">
                            <a:latin typeface="Cambria Math" panose="02040503050406030204" pitchFamily="18" charset="0"/>
                            <a:cs typeface="Times New Roman" pitchFamily="18" charset="0"/>
                          </a:rPr>
                        </m:ctrlPr>
                      </m:sSubPr>
                      <m:e>
                        <m:r>
                          <a:rPr lang="en-US" sz="3200" b="1" i="1" smtClean="0">
                            <a:latin typeface="Cambria Math"/>
                            <a:cs typeface="Times New Roman" pitchFamily="18" charset="0"/>
                          </a:rPr>
                          <m:t>𝑪</m:t>
                        </m:r>
                      </m:e>
                      <m:sub>
                        <m:r>
                          <a:rPr lang="en-US" sz="3200" b="1" i="1" smtClean="0">
                            <a:latin typeface="Cambria Math"/>
                            <a:cs typeface="Times New Roman" pitchFamily="18" charset="0"/>
                          </a:rPr>
                          <m:t>𝑷</m:t>
                        </m:r>
                      </m:sub>
                    </m:sSub>
                  </m:oMath>
                </a14:m>
                <a:r>
                  <a:rPr lang="en-US" sz="3200" b="1" dirty="0">
                    <a:latin typeface="Times New Roman" pitchFamily="18" charset="0"/>
                    <a:cs typeface="Times New Roman" pitchFamily="18" charset="0"/>
                  </a:rPr>
                  <a:t> = </a:t>
                </a:r>
                <a14:m>
                  <m:oMath xmlns:m="http://schemas.openxmlformats.org/officeDocument/2006/math">
                    <m:sSub>
                      <m:sSubPr>
                        <m:ctrlPr>
                          <a:rPr lang="en-US" sz="3200" b="1" i="1" smtClean="0">
                            <a:latin typeface="Cambria Math" panose="02040503050406030204" pitchFamily="18" charset="0"/>
                            <a:cs typeface="Times New Roman" pitchFamily="18" charset="0"/>
                          </a:rPr>
                        </m:ctrlPr>
                      </m:sSubPr>
                      <m:e>
                        <m:r>
                          <a:rPr lang="en-US" sz="3200" b="1" i="1" smtClean="0">
                            <a:latin typeface="Cambria Math"/>
                            <a:cs typeface="Times New Roman" pitchFamily="18" charset="0"/>
                          </a:rPr>
                          <m:t>𝒄</m:t>
                        </m:r>
                      </m:e>
                      <m:sub>
                        <m:r>
                          <a:rPr lang="en-US" sz="3200" b="1" i="1" smtClean="0">
                            <a:latin typeface="Cambria Math"/>
                            <a:cs typeface="Times New Roman" pitchFamily="18" charset="0"/>
                          </a:rPr>
                          <m:t>𝒑</m:t>
                        </m:r>
                      </m:sub>
                    </m:sSub>
                  </m:oMath>
                </a14:m>
                <a:r>
                  <a:rPr lang="en-US" sz="3200" b="1" dirty="0">
                    <a:latin typeface="Times New Roman" pitchFamily="18" charset="0"/>
                    <a:cs typeface="Times New Roman" pitchFamily="18" charset="0"/>
                  </a:rPr>
                  <a:t>.µ </a:t>
                </a:r>
                <a:r>
                  <a:rPr lang="en-US" sz="3200" dirty="0"/>
                  <a:t>= </a:t>
                </a:r>
                <a:r>
                  <a:rPr lang="en-US" sz="3200" dirty="0">
                    <a:latin typeface="Times New Roman" pitchFamily="18" charset="0"/>
                    <a:cs typeface="Times New Roman" pitchFamily="18" charset="0"/>
                  </a:rPr>
                  <a:t>(</a:t>
                </a:r>
                <a14:m>
                  <m:oMath xmlns:m="http://schemas.openxmlformats.org/officeDocument/2006/math">
                    <m:f>
                      <m:fPr>
                        <m:ctrlPr>
                          <a:rPr lang="en-US" sz="3200" i="1">
                            <a:latin typeface="Cambria Math" panose="02040503050406030204" pitchFamily="18" charset="0"/>
                          </a:rPr>
                        </m:ctrlPr>
                      </m:fPr>
                      <m:num>
                        <m:r>
                          <a:rPr lang="en-US" sz="3200" i="1">
                            <a:latin typeface="Cambria Math"/>
                          </a:rPr>
                          <m:t>𝑖</m:t>
                        </m:r>
                      </m:num>
                      <m:den>
                        <m:r>
                          <a:rPr lang="en-US" sz="3200" i="1">
                            <a:latin typeface="Cambria Math"/>
                          </a:rPr>
                          <m:t>2</m:t>
                        </m:r>
                      </m:den>
                    </m:f>
                    <m:r>
                      <a:rPr lang="en-US" sz="3200" i="1">
                        <a:latin typeface="Cambria Math"/>
                      </a:rPr>
                      <m:t>+1</m:t>
                    </m:r>
                  </m:oMath>
                </a14:m>
                <a:r>
                  <a:rPr lang="en-US" sz="3200" dirty="0">
                    <a:latin typeface="Times New Roman" pitchFamily="18" charset="0"/>
                    <a:cs typeface="Times New Roman" pitchFamily="18" charset="0"/>
                  </a:rPr>
                  <a:t>)R = 3,5.8,31</a:t>
                </a:r>
              </a:p>
              <a:p>
                <a:pPr algn="ctr"/>
                <a14:m>
                  <m:oMath xmlns:m="http://schemas.openxmlformats.org/officeDocument/2006/math">
                    <m:sSub>
                      <m:sSubPr>
                        <m:ctrlPr>
                          <a:rPr lang="en-US" sz="3200" b="1" i="1">
                            <a:latin typeface="Cambria Math" panose="02040503050406030204" pitchFamily="18" charset="0"/>
                            <a:cs typeface="Times New Roman" pitchFamily="18" charset="0"/>
                          </a:rPr>
                        </m:ctrlPr>
                      </m:sSubPr>
                      <m:e>
                        <m:r>
                          <a:rPr lang="en-US" sz="3200" b="1" i="1">
                            <a:latin typeface="Cambria Math"/>
                            <a:cs typeface="Times New Roman" pitchFamily="18" charset="0"/>
                          </a:rPr>
                          <m:t>𝒄</m:t>
                        </m:r>
                      </m:e>
                      <m:sub>
                        <m:r>
                          <a:rPr lang="en-US" sz="3200" b="1" i="1">
                            <a:latin typeface="Cambria Math"/>
                            <a:cs typeface="Times New Roman" pitchFamily="18" charset="0"/>
                          </a:rPr>
                          <m:t>𝒑</m:t>
                        </m:r>
                      </m:sub>
                    </m:sSub>
                    <m:r>
                      <a:rPr lang="en-US" sz="3200" b="0" i="1" smtClean="0">
                        <a:latin typeface="Cambria Math"/>
                        <a:cs typeface="Times New Roman" pitchFamily="18" charset="0"/>
                      </a:rPr>
                      <m:t>= </m:t>
                    </m:r>
                    <m:f>
                      <m:fPr>
                        <m:ctrlPr>
                          <a:rPr lang="en-US" sz="3200" i="1" smtClean="0">
                            <a:latin typeface="Cambria Math" panose="02040503050406030204" pitchFamily="18" charset="0"/>
                            <a:cs typeface="Times New Roman" pitchFamily="18" charset="0"/>
                          </a:rPr>
                        </m:ctrlPr>
                      </m:fPr>
                      <m:num>
                        <m:r>
                          <a:rPr lang="en-US" sz="3200" b="0" i="1" smtClean="0">
                            <a:latin typeface="Cambria Math"/>
                            <a:cs typeface="Times New Roman" pitchFamily="18" charset="0"/>
                          </a:rPr>
                          <m:t>3,5.8,31</m:t>
                        </m:r>
                      </m:num>
                      <m:den>
                        <m:r>
                          <a:rPr lang="en-US" sz="3200" b="0" i="1" smtClean="0">
                            <a:latin typeface="Cambria Math"/>
                            <a:cs typeface="Times New Roman" pitchFamily="18" charset="0"/>
                          </a:rPr>
                          <m:t>30.</m:t>
                        </m:r>
                        <m:sSup>
                          <m:sSupPr>
                            <m:ctrlPr>
                              <a:rPr lang="en-US" sz="3200" b="0" i="1" smtClean="0">
                                <a:latin typeface="Cambria Math" panose="02040503050406030204" pitchFamily="18" charset="0"/>
                                <a:cs typeface="Times New Roman" pitchFamily="18" charset="0"/>
                              </a:rPr>
                            </m:ctrlPr>
                          </m:sSupPr>
                          <m:e>
                            <m:r>
                              <a:rPr lang="en-US" sz="3200" b="0" i="1" smtClean="0">
                                <a:latin typeface="Cambria Math"/>
                                <a:cs typeface="Times New Roman" pitchFamily="18" charset="0"/>
                              </a:rPr>
                              <m:t>10</m:t>
                            </m:r>
                          </m:e>
                          <m:sup>
                            <m:r>
                              <a:rPr lang="en-US" sz="3200" b="0" i="1" smtClean="0">
                                <a:latin typeface="Cambria Math"/>
                                <a:cs typeface="Times New Roman" pitchFamily="18" charset="0"/>
                              </a:rPr>
                              <m:t>3</m:t>
                            </m:r>
                          </m:sup>
                        </m:sSup>
                      </m:den>
                    </m:f>
                  </m:oMath>
                </a14:m>
                <a:r>
                  <a:rPr lang="en-US" sz="3200" b="1" dirty="0">
                    <a:latin typeface="Times New Roman" pitchFamily="18" charset="0"/>
                    <a:cs typeface="Times New Roman" pitchFamily="18" charset="0"/>
                  </a:rPr>
                  <a:t> = ? </a:t>
                </a:r>
              </a:p>
            </p:txBody>
          </p:sp>
        </mc:Choice>
        <mc:Fallback xmlns="">
          <p:sp>
            <p:nvSpPr>
              <p:cNvPr id="5" name="Notes Placeholder 4"/>
              <p:cNvSpPr>
                <a:spLocks noGrp="1"/>
              </p:cNvSpPr>
              <p:nvPr>
                <p:ph type="body" idx="1"/>
              </p:nvPr>
            </p:nvSpPr>
            <p:spPr>
              <a:xfrm>
                <a:off x="685800" y="4343400"/>
                <a:ext cx="5791200" cy="2819400"/>
              </a:xfrm>
              <a:prstGeom prst="cloudCallout">
                <a:avLst>
                  <a:gd name="adj1" fmla="val -44106"/>
                  <a:gd name="adj2" fmla="val -104600"/>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3200" b="1" dirty="0" smtClean="0">
                    <a:latin typeface="Times New Roman" pitchFamily="18" charset="0"/>
                    <a:cs typeface="Times New Roman" pitchFamily="18" charset="0"/>
                  </a:rPr>
                  <a:t>c</a:t>
                </a:r>
                <a:r>
                  <a:rPr lang="en-US" sz="3200" b="1" baseline="-25000" dirty="0" err="1">
                    <a:latin typeface="Times New Roman" pitchFamily="18" charset="0"/>
                    <a:cs typeface="Times New Roman" pitchFamily="18" charset="0"/>
                  </a:rPr>
                  <a:t>p</a:t>
                </a:r>
                <a:r>
                  <a:rPr lang="en-US" sz="3200" b="1" dirty="0">
                    <a:latin typeface="Times New Roman" pitchFamily="18" charset="0"/>
                    <a:cs typeface="Times New Roman" pitchFamily="18" charset="0"/>
                  </a:rPr>
                  <a:t>= </a:t>
                </a:r>
                <a:r>
                  <a:rPr lang="en-US" sz="3200" b="1" dirty="0" smtClean="0">
                    <a:latin typeface="Times New Roman" pitchFamily="18" charset="0"/>
                    <a:cs typeface="Times New Roman" pitchFamily="18" charset="0"/>
                  </a:rPr>
                  <a:t>969,5 J/</a:t>
                </a:r>
                <a:r>
                  <a:rPr lang="en-US" sz="3200" b="1" dirty="0" err="1" smtClean="0">
                    <a:latin typeface="Times New Roman" pitchFamily="18" charset="0"/>
                    <a:cs typeface="Times New Roman" pitchFamily="18" charset="0"/>
                  </a:rPr>
                  <a:t>kg.K</a:t>
                </a:r>
                <a:endParaRPr lang="en-US" sz="3200" b="1" dirty="0" smtClean="0">
                  <a:latin typeface="Times New Roman" pitchFamily="18" charset="0"/>
                  <a:cs typeface="Times New Roman" pitchFamily="18" charset="0"/>
                </a:endParaRPr>
              </a:p>
              <a:p>
                <a:pPr algn="ctr"/>
                <a:r>
                  <a:rPr lang="en-US" sz="3200" b="1" i="0" smtClean="0">
                    <a:latin typeface="Cambria Math"/>
                    <a:cs typeface="Times New Roman" pitchFamily="18" charset="0"/>
                  </a:rPr>
                  <a:t>𝑪_𝑷</a:t>
                </a:r>
                <a:r>
                  <a:rPr lang="en-US" sz="3200" b="1" dirty="0" smtClean="0">
                    <a:latin typeface="Times New Roman" pitchFamily="18" charset="0"/>
                    <a:cs typeface="Times New Roman" pitchFamily="18" charset="0"/>
                  </a:rPr>
                  <a:t> </a:t>
                </a:r>
                <a:r>
                  <a:rPr lang="en-US" sz="3200" b="1" dirty="0">
                    <a:latin typeface="Times New Roman" pitchFamily="18" charset="0"/>
                    <a:cs typeface="Times New Roman" pitchFamily="18" charset="0"/>
                  </a:rPr>
                  <a:t>= </a:t>
                </a:r>
                <a:r>
                  <a:rPr lang="en-US" sz="3200" b="1" i="0" smtClean="0">
                    <a:latin typeface="Cambria Math"/>
                    <a:cs typeface="Times New Roman" pitchFamily="18" charset="0"/>
                  </a:rPr>
                  <a:t>𝒄_𝒑</a:t>
                </a:r>
                <a:r>
                  <a:rPr lang="en-US" sz="3200" b="1" dirty="0" smtClean="0">
                    <a:latin typeface="Times New Roman" pitchFamily="18" charset="0"/>
                    <a:cs typeface="Times New Roman" pitchFamily="18" charset="0"/>
                  </a:rPr>
                  <a:t>.µ </a:t>
                </a:r>
                <a:r>
                  <a:rPr lang="en-US" sz="3200" dirty="0" smtClean="0"/>
                  <a:t>= </a:t>
                </a:r>
                <a:r>
                  <a:rPr lang="en-US" sz="3200" dirty="0">
                    <a:latin typeface="Times New Roman" pitchFamily="18" charset="0"/>
                    <a:cs typeface="Times New Roman" pitchFamily="18" charset="0"/>
                  </a:rPr>
                  <a:t>(</a:t>
                </a:r>
                <a:r>
                  <a:rPr lang="en-US" sz="3200" i="0">
                    <a:latin typeface="Cambria Math"/>
                  </a:rPr>
                  <a:t>𝑖/2+1</a:t>
                </a:r>
                <a:r>
                  <a:rPr lang="en-US" sz="3200" dirty="0" smtClean="0">
                    <a:latin typeface="Times New Roman" pitchFamily="18" charset="0"/>
                    <a:cs typeface="Times New Roman" pitchFamily="18" charset="0"/>
                  </a:rPr>
                  <a:t>)R = 3,5.8,31</a:t>
                </a:r>
              </a:p>
              <a:p>
                <a:pPr algn="ctr"/>
                <a:r>
                  <a:rPr lang="en-US" sz="3200" b="1" i="0">
                    <a:latin typeface="Cambria Math"/>
                    <a:cs typeface="Times New Roman" pitchFamily="18" charset="0"/>
                  </a:rPr>
                  <a:t>𝒄_𝒑</a:t>
                </a:r>
                <a:r>
                  <a:rPr lang="en-US" sz="3200" b="0" i="0" smtClean="0">
                    <a:latin typeface="Cambria Math"/>
                    <a:cs typeface="Times New Roman" pitchFamily="18" charset="0"/>
                  </a:rPr>
                  <a:t>=  3,5.8,31/(30.〖10〗^3 )</a:t>
                </a:r>
                <a:r>
                  <a:rPr lang="en-US" sz="3200" b="1" dirty="0" smtClean="0">
                    <a:latin typeface="Times New Roman" pitchFamily="18" charset="0"/>
                    <a:cs typeface="Times New Roman" pitchFamily="18" charset="0"/>
                  </a:rPr>
                  <a:t> = ? </a:t>
                </a:r>
                <a:endParaRPr lang="en-US" sz="3200" b="1" dirty="0">
                  <a:latin typeface="Times New Roman" pitchFamily="18" charset="0"/>
                  <a:cs typeface="Times New Roman" pitchFamily="18" charset="0"/>
                </a:endParaRPr>
              </a:p>
            </p:txBody>
          </p:sp>
        </mc:Fallback>
      </mc:AlternateContent>
    </p:spTree>
    <p:extLst>
      <p:ext uri="{BB962C8B-B14F-4D97-AF65-F5344CB8AC3E}">
        <p14:creationId xmlns:p14="http://schemas.microsoft.com/office/powerpoint/2010/main" val="42333247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21134E5-7BDB-4BD4-B532-A0EE5BD855CF}" type="slidenum">
              <a:rPr lang="en-US" smtClean="0"/>
              <a:t>46</a:t>
            </a:fld>
            <a:endParaRPr lang="en-US"/>
          </a:p>
        </p:txBody>
      </p:sp>
    </p:spTree>
    <p:extLst>
      <p:ext uri="{BB962C8B-B14F-4D97-AF65-F5344CB8AC3E}">
        <p14:creationId xmlns:p14="http://schemas.microsoft.com/office/powerpoint/2010/main" val="39461688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921134E5-7BDB-4BD4-B532-A0EE5BD855CF}" type="slidenum">
              <a:rPr lang="en-US" smtClean="0"/>
              <a:t>48</a:t>
            </a:fld>
            <a:endParaRPr lang="en-US"/>
          </a:p>
        </p:txBody>
      </p:sp>
      <mc:AlternateContent xmlns:mc="http://schemas.openxmlformats.org/markup-compatibility/2006" xmlns:a14="http://schemas.microsoft.com/office/drawing/2010/main">
        <mc:Choice Requires="a14">
          <p:sp>
            <p:nvSpPr>
              <p:cNvPr id="5" name="Notes Placeholder 4"/>
              <p:cNvSpPr>
                <a:spLocks noGrp="1"/>
              </p:cNvSpPr>
              <p:nvPr>
                <p:ph type="body" idx="1"/>
              </p:nvPr>
            </p:nvSpPr>
            <p:spPr>
              <a:xfrm>
                <a:off x="685800" y="4343400"/>
                <a:ext cx="5486400" cy="251460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14:m>
                  <m:oMath xmlns:m="http://schemas.openxmlformats.org/officeDocument/2006/math">
                    <m:f>
                      <m:fPr>
                        <m:ctrlPr>
                          <a:rPr lang="en-US" i="1" smtClean="0">
                            <a:latin typeface="Cambria Math" panose="02040503050406030204" pitchFamily="18" charset="0"/>
                          </a:rPr>
                        </m:ctrlPr>
                      </m:fPr>
                      <m:num>
                        <m:r>
                          <a:rPr lang="en-US" b="0" i="1" smtClean="0">
                            <a:latin typeface="Cambria Math"/>
                          </a:rPr>
                          <m:t>𝑉</m:t>
                        </m:r>
                        <m:r>
                          <a:rPr lang="en-US" b="0" i="1" smtClean="0">
                            <a:latin typeface="Cambria Math"/>
                          </a:rPr>
                          <m:t>1</m:t>
                        </m:r>
                      </m:num>
                      <m:den>
                        <m:r>
                          <a:rPr lang="en-US" b="0" i="1" smtClean="0">
                            <a:latin typeface="Cambria Math"/>
                          </a:rPr>
                          <m:t>𝑇</m:t>
                        </m:r>
                        <m:r>
                          <a:rPr lang="en-US" b="0" i="1" smtClean="0">
                            <a:latin typeface="Cambria Math"/>
                          </a:rPr>
                          <m:t>1</m:t>
                        </m:r>
                      </m:den>
                    </m:f>
                  </m:oMath>
                </a14:m>
                <a:r>
                  <a:rPr lang="en-US" dirty="0"/>
                  <a:t>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a:rPr>
                          <m:t>𝑉</m:t>
                        </m:r>
                        <m:r>
                          <a:rPr lang="en-US" b="0" i="1" smtClean="0">
                            <a:latin typeface="Cambria Math"/>
                          </a:rPr>
                          <m:t>2</m:t>
                        </m:r>
                      </m:num>
                      <m:den>
                        <m:r>
                          <a:rPr lang="en-US" b="0" i="1" smtClean="0">
                            <a:latin typeface="Cambria Math"/>
                          </a:rPr>
                          <m:t>𝑇</m:t>
                        </m:r>
                        <m:r>
                          <a:rPr lang="en-US" b="0" i="1" smtClean="0">
                            <a:latin typeface="Cambria Math"/>
                          </a:rPr>
                          <m:t>2</m:t>
                        </m:r>
                      </m:den>
                    </m:f>
                    <m:r>
                      <a:rPr lang="en-US" b="0" i="0" smtClean="0">
                        <a:latin typeface="Cambria Math"/>
                      </a:rPr>
                      <m:t> </m:t>
                    </m:r>
                    <m:r>
                      <a:rPr lang="en-US" b="0" i="1" smtClean="0">
                        <a:latin typeface="Cambria Math"/>
                        <a:ea typeface="Cambria Math"/>
                      </a:rPr>
                      <m:t>→</m:t>
                    </m:r>
                    <m:r>
                      <a:rPr lang="en-US" b="0" i="0" smtClean="0">
                        <a:latin typeface="Cambria Math"/>
                      </a:rPr>
                      <m:t> </m:t>
                    </m:r>
                    <m:r>
                      <a:rPr lang="en-US" b="0" i="1" smtClean="0">
                        <a:latin typeface="Cambria Math"/>
                      </a:rPr>
                      <m:t>  </m:t>
                    </m:r>
                    <m:f>
                      <m:fPr>
                        <m:ctrlPr>
                          <a:rPr lang="en-US" i="1" smtClean="0">
                            <a:latin typeface="Cambria Math" panose="02040503050406030204" pitchFamily="18" charset="0"/>
                          </a:rPr>
                        </m:ctrlPr>
                      </m:fPr>
                      <m:num>
                        <m:r>
                          <a:rPr lang="en-US" b="0" i="1" smtClean="0">
                            <a:latin typeface="Cambria Math"/>
                          </a:rPr>
                          <m:t>𝑇</m:t>
                        </m:r>
                        <m:r>
                          <a:rPr lang="en-US" b="0" i="1" smtClean="0">
                            <a:latin typeface="Cambria Math"/>
                          </a:rPr>
                          <m:t>2</m:t>
                        </m:r>
                      </m:num>
                      <m:den>
                        <m:r>
                          <a:rPr lang="en-US" b="0" i="1" smtClean="0">
                            <a:latin typeface="Cambria Math"/>
                          </a:rPr>
                          <m:t>𝑇</m:t>
                        </m:r>
                        <m:r>
                          <a:rPr lang="en-US" b="0" i="1" smtClean="0">
                            <a:latin typeface="Cambria Math"/>
                          </a:rPr>
                          <m:t>1</m:t>
                        </m:r>
                      </m:den>
                    </m:f>
                  </m:oMath>
                </a14:m>
                <a:r>
                  <a:rPr lang="en-US" dirty="0"/>
                  <a:t>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a:rPr>
                          <m:t>𝑉</m:t>
                        </m:r>
                        <m:r>
                          <a:rPr lang="en-US" b="0" i="1" smtClean="0">
                            <a:latin typeface="Cambria Math"/>
                          </a:rPr>
                          <m:t>2</m:t>
                        </m:r>
                      </m:num>
                      <m:den>
                        <m:r>
                          <a:rPr lang="en-US" b="0" i="1" smtClean="0">
                            <a:latin typeface="Cambria Math"/>
                          </a:rPr>
                          <m:t>𝑉</m:t>
                        </m:r>
                        <m:r>
                          <a:rPr lang="en-US" b="0" i="1" smtClean="0">
                            <a:latin typeface="Cambria Math"/>
                          </a:rPr>
                          <m:t>1</m:t>
                        </m:r>
                      </m:den>
                    </m:f>
                  </m:oMath>
                </a14:m>
                <a:r>
                  <a:rPr lang="en-US" dirty="0"/>
                  <a:t> = 2</a:t>
                </a:r>
              </a:p>
              <a:p>
                <a:pPr algn="ctr"/>
                <a:endParaRPr lang="en-US" dirty="0"/>
              </a:p>
              <a:p>
                <a:pPr algn="ctr"/>
                <a:r>
                  <a:rPr lang="en-US" dirty="0"/>
                  <a:t>Q = </a:t>
                </a:r>
                <a14:m>
                  <m:oMath xmlns:m="http://schemas.openxmlformats.org/officeDocument/2006/math">
                    <m:r>
                      <a:rPr lang="en-US" i="1">
                        <a:latin typeface="Cambria Math"/>
                        <a:ea typeface="Cambria Math"/>
                      </a:rPr>
                      <m:t>∆</m:t>
                    </m:r>
                    <m:r>
                      <a:rPr lang="en-US" i="1">
                        <a:latin typeface="Cambria Math"/>
                        <a:ea typeface="Cambria Math"/>
                      </a:rPr>
                      <m:t>𝑈</m:t>
                    </m:r>
                    <m:r>
                      <a:rPr lang="en-US" i="1">
                        <a:latin typeface="Cambria Math"/>
                        <a:ea typeface="Cambria Math"/>
                      </a:rPr>
                      <m:t> −</m:t>
                    </m:r>
                    <m:r>
                      <a:rPr lang="en-US" i="1">
                        <a:latin typeface="Cambria Math"/>
                        <a:ea typeface="Cambria Math"/>
                      </a:rPr>
                      <m:t>𝐴</m:t>
                    </m:r>
                    <m:r>
                      <a:rPr lang="en-US" i="1">
                        <a:latin typeface="Cambria Math"/>
                        <a:ea typeface="Cambria Math"/>
                      </a:rPr>
                      <m:t>= </m:t>
                    </m:r>
                    <m:f>
                      <m:fPr>
                        <m:ctrlPr>
                          <a:rPr lang="en-US" i="1">
                            <a:latin typeface="Cambria Math" panose="02040503050406030204" pitchFamily="18" charset="0"/>
                            <a:ea typeface="Cambria Math"/>
                          </a:rPr>
                        </m:ctrlPr>
                      </m:fPr>
                      <m:num>
                        <m:r>
                          <a:rPr lang="en-US" i="1">
                            <a:latin typeface="Cambria Math"/>
                            <a:ea typeface="Cambria Math"/>
                          </a:rPr>
                          <m:t>𝑚</m:t>
                        </m:r>
                      </m:num>
                      <m:den>
                        <m:r>
                          <a:rPr lang="en-US" i="1">
                            <a:latin typeface="Cambria Math"/>
                            <a:ea typeface="Cambria Math"/>
                          </a:rPr>
                          <m:t>𝜇</m:t>
                        </m:r>
                      </m:den>
                    </m:f>
                  </m:oMath>
                </a14:m>
                <a:r>
                  <a:rPr lang="en-US" dirty="0"/>
                  <a:t> (</a:t>
                </a:r>
                <a14:m>
                  <m:oMath xmlns:m="http://schemas.openxmlformats.org/officeDocument/2006/math">
                    <m:f>
                      <m:fPr>
                        <m:ctrlPr>
                          <a:rPr lang="en-US" i="1">
                            <a:latin typeface="Cambria Math" panose="02040503050406030204" pitchFamily="18" charset="0"/>
                          </a:rPr>
                        </m:ctrlPr>
                      </m:fPr>
                      <m:num>
                        <m:r>
                          <a:rPr lang="en-US" i="1">
                            <a:latin typeface="Cambria Math"/>
                          </a:rPr>
                          <m:t>𝑖</m:t>
                        </m:r>
                      </m:num>
                      <m:den>
                        <m:r>
                          <a:rPr lang="en-US" i="1">
                            <a:latin typeface="Cambria Math"/>
                          </a:rPr>
                          <m:t>2</m:t>
                        </m:r>
                      </m:den>
                    </m:f>
                    <m:r>
                      <a:rPr lang="en-US" i="1">
                        <a:latin typeface="Cambria Math"/>
                      </a:rPr>
                      <m:t>+1</m:t>
                    </m:r>
                  </m:oMath>
                </a14:m>
                <a:r>
                  <a:rPr lang="en-US" dirty="0"/>
                  <a:t>)R.</a:t>
                </a:r>
                <a14:m>
                  <m:oMath xmlns:m="http://schemas.openxmlformats.org/officeDocument/2006/math">
                    <m:r>
                      <a:rPr lang="en-US" i="1">
                        <a:latin typeface="Cambria Math"/>
                        <a:ea typeface="Cambria Math"/>
                      </a:rPr>
                      <m:t>∆</m:t>
                    </m:r>
                    <m:r>
                      <a:rPr lang="en-US" i="1">
                        <a:latin typeface="Cambria Math"/>
                        <a:ea typeface="Cambria Math"/>
                      </a:rPr>
                      <m:t>𝑇</m:t>
                    </m:r>
                  </m:oMath>
                </a14:m>
                <a:endParaRPr lang="en-US" dirty="0"/>
              </a:p>
            </p:txBody>
          </p:sp>
        </mc:Choice>
        <mc:Fallback xmlns="">
          <p:sp>
            <p:nvSpPr>
              <p:cNvPr id="5" name="Notes Placeholder 4"/>
              <p:cNvSpPr>
                <a:spLocks noGrp="1"/>
              </p:cNvSpPr>
              <p:nvPr>
                <p:ph type="body" idx="1"/>
              </p:nvPr>
            </p:nvSpPr>
            <p:spPr>
              <a:xfrm>
                <a:off x="685800" y="4343400"/>
                <a:ext cx="5486400" cy="251460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b="0" i="0" smtClean="0">
                    <a:latin typeface="Cambria Math"/>
                  </a:rPr>
                  <a:t>𝑉1/𝑇1</a:t>
                </a:r>
                <a:r>
                  <a:rPr lang="en-US" dirty="0" smtClean="0"/>
                  <a:t> = </a:t>
                </a:r>
                <a:r>
                  <a:rPr lang="en-US" b="0" i="0" smtClean="0">
                    <a:latin typeface="Cambria Math"/>
                  </a:rPr>
                  <a:t>𝑉2/𝑇2  </a:t>
                </a:r>
                <a:r>
                  <a:rPr lang="en-US" b="0" i="0" smtClean="0">
                    <a:latin typeface="Cambria Math"/>
                    <a:ea typeface="Cambria Math"/>
                  </a:rPr>
                  <a:t>→</a:t>
                </a:r>
                <a:r>
                  <a:rPr lang="en-US" b="0" i="0" smtClean="0">
                    <a:latin typeface="Cambria Math"/>
                  </a:rPr>
                  <a:t>    𝑇2/𝑇1</a:t>
                </a:r>
                <a:r>
                  <a:rPr lang="en-US" dirty="0" smtClean="0"/>
                  <a:t> = </a:t>
                </a:r>
                <a:r>
                  <a:rPr lang="en-US" b="0" i="0" smtClean="0">
                    <a:latin typeface="Cambria Math"/>
                  </a:rPr>
                  <a:t>𝑉2/𝑉1</a:t>
                </a:r>
                <a:r>
                  <a:rPr lang="en-US" dirty="0" smtClean="0"/>
                  <a:t> = 2</a:t>
                </a:r>
              </a:p>
              <a:p>
                <a:pPr algn="ctr"/>
                <a:endParaRPr lang="en-US" dirty="0" smtClean="0"/>
              </a:p>
              <a:p>
                <a:pPr algn="ctr"/>
                <a:r>
                  <a:rPr lang="en-US" dirty="0"/>
                  <a:t>Q = </a:t>
                </a:r>
                <a:r>
                  <a:rPr lang="en-US" i="0">
                    <a:latin typeface="Cambria Math"/>
                    <a:ea typeface="Cambria Math"/>
                  </a:rPr>
                  <a:t>∆𝑈 −𝐴=  𝑚/𝜇</a:t>
                </a:r>
                <a:r>
                  <a:rPr lang="en-US" dirty="0"/>
                  <a:t> (</a:t>
                </a:r>
                <a:r>
                  <a:rPr lang="en-US" i="0">
                    <a:latin typeface="Cambria Math"/>
                  </a:rPr>
                  <a:t>𝑖/2+1</a:t>
                </a:r>
                <a:r>
                  <a:rPr lang="en-US" dirty="0"/>
                  <a:t>)R.</a:t>
                </a:r>
                <a:r>
                  <a:rPr lang="en-US" i="0">
                    <a:latin typeface="Cambria Math"/>
                    <a:ea typeface="Cambria Math"/>
                  </a:rPr>
                  <a:t>∆𝑇</a:t>
                </a:r>
                <a:endParaRPr lang="en-US" dirty="0"/>
              </a:p>
            </p:txBody>
          </p:sp>
        </mc:Fallback>
      </mc:AlternateContent>
    </p:spTree>
    <p:extLst>
      <p:ext uri="{BB962C8B-B14F-4D97-AF65-F5344CB8AC3E}">
        <p14:creationId xmlns:p14="http://schemas.microsoft.com/office/powerpoint/2010/main" val="36162105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21134E5-7BDB-4BD4-B532-A0EE5BD855CF}" type="slidenum">
              <a:rPr lang="en-US" smtClean="0"/>
              <a:t>56</a:t>
            </a:fld>
            <a:endParaRPr lang="en-US"/>
          </a:p>
        </p:txBody>
      </p:sp>
    </p:spTree>
    <p:extLst>
      <p:ext uri="{BB962C8B-B14F-4D97-AF65-F5344CB8AC3E}">
        <p14:creationId xmlns:p14="http://schemas.microsoft.com/office/powerpoint/2010/main" val="481289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1134E5-7BDB-4BD4-B532-A0EE5BD855CF}" type="slidenum">
              <a:rPr lang="en-US" smtClean="0"/>
              <a:t>59</a:t>
            </a:fld>
            <a:endParaRPr lang="en-US"/>
          </a:p>
        </p:txBody>
      </p:sp>
    </p:spTree>
    <p:extLst>
      <p:ext uri="{BB962C8B-B14F-4D97-AF65-F5344CB8AC3E}">
        <p14:creationId xmlns:p14="http://schemas.microsoft.com/office/powerpoint/2010/main" val="9783551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21134E5-7BDB-4BD4-B532-A0EE5BD855CF}" type="slidenum">
              <a:rPr lang="en-US" smtClean="0"/>
              <a:t>61</a:t>
            </a:fld>
            <a:endParaRPr lang="en-US"/>
          </a:p>
        </p:txBody>
      </p:sp>
    </p:spTree>
    <p:extLst>
      <p:ext uri="{BB962C8B-B14F-4D97-AF65-F5344CB8AC3E}">
        <p14:creationId xmlns:p14="http://schemas.microsoft.com/office/powerpoint/2010/main" val="1422359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2A591BB-57A3-4B7E-B794-B0E5A526455F}" type="datetime1">
              <a:rPr lang="en-US" smtClean="0"/>
              <a:t>9/30/2025</a:t>
            </a:fld>
            <a:endParaRPr lang="en-US"/>
          </a:p>
        </p:txBody>
      </p:sp>
      <p:sp>
        <p:nvSpPr>
          <p:cNvPr id="5" name="Footer Placeholder 4"/>
          <p:cNvSpPr>
            <a:spLocks noGrp="1"/>
          </p:cNvSpPr>
          <p:nvPr>
            <p:ph type="ftr" sz="quarter" idx="11"/>
          </p:nvPr>
        </p:nvSpPr>
        <p:spPr/>
        <p:txBody>
          <a:bodyPr/>
          <a:lstStyle/>
          <a:p>
            <a:r>
              <a:rPr lang="en-US"/>
              <a:t>Bùi Quốc Trung - VLDC</a:t>
            </a:r>
          </a:p>
        </p:txBody>
      </p:sp>
      <p:sp>
        <p:nvSpPr>
          <p:cNvPr id="6" name="Slide Number Placeholder 5"/>
          <p:cNvSpPr>
            <a:spLocks noGrp="1"/>
          </p:cNvSpPr>
          <p:nvPr>
            <p:ph type="sldNum" sz="quarter" idx="12"/>
          </p:nvPr>
        </p:nvSpPr>
        <p:spPr/>
        <p:txBody>
          <a:bodyPr/>
          <a:lstStyle/>
          <a:p>
            <a:fld id="{0C173468-4CCE-478A-9725-791AF0DB04F2}" type="slidenum">
              <a:rPr lang="en-US" smtClean="0"/>
              <a:t>‹#›</a:t>
            </a:fld>
            <a:endParaRPr lang="en-US"/>
          </a:p>
        </p:txBody>
      </p:sp>
    </p:spTree>
    <p:extLst>
      <p:ext uri="{BB962C8B-B14F-4D97-AF65-F5344CB8AC3E}">
        <p14:creationId xmlns:p14="http://schemas.microsoft.com/office/powerpoint/2010/main" val="3942824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ABDFDA-BCF0-4FC8-9B2F-F85E30BE00D2}" type="datetime1">
              <a:rPr lang="en-US" smtClean="0"/>
              <a:t>9/30/2025</a:t>
            </a:fld>
            <a:endParaRPr lang="en-US"/>
          </a:p>
        </p:txBody>
      </p:sp>
      <p:sp>
        <p:nvSpPr>
          <p:cNvPr id="5" name="Footer Placeholder 4"/>
          <p:cNvSpPr>
            <a:spLocks noGrp="1"/>
          </p:cNvSpPr>
          <p:nvPr>
            <p:ph type="ftr" sz="quarter" idx="11"/>
          </p:nvPr>
        </p:nvSpPr>
        <p:spPr/>
        <p:txBody>
          <a:bodyPr/>
          <a:lstStyle/>
          <a:p>
            <a:r>
              <a:rPr lang="en-US"/>
              <a:t>Bùi Quốc Trung - VLDC</a:t>
            </a:r>
          </a:p>
        </p:txBody>
      </p:sp>
      <p:sp>
        <p:nvSpPr>
          <p:cNvPr id="6" name="Slide Number Placeholder 5"/>
          <p:cNvSpPr>
            <a:spLocks noGrp="1"/>
          </p:cNvSpPr>
          <p:nvPr>
            <p:ph type="sldNum" sz="quarter" idx="12"/>
          </p:nvPr>
        </p:nvSpPr>
        <p:spPr/>
        <p:txBody>
          <a:bodyPr/>
          <a:lstStyle/>
          <a:p>
            <a:fld id="{0C173468-4CCE-478A-9725-791AF0DB04F2}" type="slidenum">
              <a:rPr lang="en-US" smtClean="0"/>
              <a:t>‹#›</a:t>
            </a:fld>
            <a:endParaRPr lang="en-US"/>
          </a:p>
        </p:txBody>
      </p:sp>
    </p:spTree>
    <p:extLst>
      <p:ext uri="{BB962C8B-B14F-4D97-AF65-F5344CB8AC3E}">
        <p14:creationId xmlns:p14="http://schemas.microsoft.com/office/powerpoint/2010/main" val="35483599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21B59C-368E-4F38-96DB-C36A6FE47CE4}" type="datetime1">
              <a:rPr lang="en-US" smtClean="0"/>
              <a:t>9/30/2025</a:t>
            </a:fld>
            <a:endParaRPr lang="en-US"/>
          </a:p>
        </p:txBody>
      </p:sp>
      <p:sp>
        <p:nvSpPr>
          <p:cNvPr id="5" name="Footer Placeholder 4"/>
          <p:cNvSpPr>
            <a:spLocks noGrp="1"/>
          </p:cNvSpPr>
          <p:nvPr>
            <p:ph type="ftr" sz="quarter" idx="11"/>
          </p:nvPr>
        </p:nvSpPr>
        <p:spPr/>
        <p:txBody>
          <a:bodyPr/>
          <a:lstStyle/>
          <a:p>
            <a:r>
              <a:rPr lang="en-US"/>
              <a:t>Bùi Quốc Trung - VLDC</a:t>
            </a:r>
          </a:p>
        </p:txBody>
      </p:sp>
      <p:sp>
        <p:nvSpPr>
          <p:cNvPr id="6" name="Slide Number Placeholder 5"/>
          <p:cNvSpPr>
            <a:spLocks noGrp="1"/>
          </p:cNvSpPr>
          <p:nvPr>
            <p:ph type="sldNum" sz="quarter" idx="12"/>
          </p:nvPr>
        </p:nvSpPr>
        <p:spPr/>
        <p:txBody>
          <a:bodyPr/>
          <a:lstStyle/>
          <a:p>
            <a:fld id="{0C173468-4CCE-478A-9725-791AF0DB04F2}" type="slidenum">
              <a:rPr lang="en-US" smtClean="0"/>
              <a:t>‹#›</a:t>
            </a:fld>
            <a:endParaRPr lang="en-US"/>
          </a:p>
        </p:txBody>
      </p:sp>
    </p:spTree>
    <p:extLst>
      <p:ext uri="{BB962C8B-B14F-4D97-AF65-F5344CB8AC3E}">
        <p14:creationId xmlns:p14="http://schemas.microsoft.com/office/powerpoint/2010/main" val="3193685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86F05B4-A1F9-4925-9041-5990B5B383CB}" type="datetime1">
              <a:rPr lang="en-US" smtClean="0"/>
              <a:t>9/30/2025</a:t>
            </a:fld>
            <a:endParaRPr lang="en-US"/>
          </a:p>
        </p:txBody>
      </p:sp>
      <p:sp>
        <p:nvSpPr>
          <p:cNvPr id="6" name="Footer Placeholder 5"/>
          <p:cNvSpPr>
            <a:spLocks noGrp="1"/>
          </p:cNvSpPr>
          <p:nvPr>
            <p:ph type="ftr" sz="quarter" idx="11"/>
          </p:nvPr>
        </p:nvSpPr>
        <p:spPr/>
        <p:txBody>
          <a:bodyPr/>
          <a:lstStyle/>
          <a:p>
            <a:r>
              <a:rPr lang="en-US"/>
              <a:t>Bùi Quốc Trung - VLDC</a:t>
            </a:r>
          </a:p>
        </p:txBody>
      </p:sp>
      <p:sp>
        <p:nvSpPr>
          <p:cNvPr id="7" name="Slide Number Placeholder 6"/>
          <p:cNvSpPr>
            <a:spLocks noGrp="1"/>
          </p:cNvSpPr>
          <p:nvPr>
            <p:ph type="sldNum" sz="quarter" idx="12"/>
          </p:nvPr>
        </p:nvSpPr>
        <p:spPr/>
        <p:txBody>
          <a:bodyPr/>
          <a:lstStyle/>
          <a:p>
            <a:fld id="{0C173468-4CCE-478A-9725-791AF0DB04F2}" type="slidenum">
              <a:rPr lang="en-US" smtClean="0"/>
              <a:t>‹#›</a:t>
            </a:fld>
            <a:endParaRPr lang="en-US"/>
          </a:p>
        </p:txBody>
      </p:sp>
    </p:spTree>
    <p:extLst>
      <p:ext uri="{BB962C8B-B14F-4D97-AF65-F5344CB8AC3E}">
        <p14:creationId xmlns:p14="http://schemas.microsoft.com/office/powerpoint/2010/main" val="581792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671140D-B2BE-4633-9591-2BB08BA8050D}" type="datetime1">
              <a:rPr lang="en-US" smtClean="0"/>
              <a:t>9/30/2025</a:t>
            </a:fld>
            <a:endParaRPr lang="en-US"/>
          </a:p>
        </p:txBody>
      </p:sp>
      <p:sp>
        <p:nvSpPr>
          <p:cNvPr id="8" name="Footer Placeholder 7"/>
          <p:cNvSpPr>
            <a:spLocks noGrp="1"/>
          </p:cNvSpPr>
          <p:nvPr>
            <p:ph type="ftr" sz="quarter" idx="11"/>
          </p:nvPr>
        </p:nvSpPr>
        <p:spPr/>
        <p:txBody>
          <a:bodyPr/>
          <a:lstStyle/>
          <a:p>
            <a:r>
              <a:rPr lang="en-US"/>
              <a:t>Bùi Quốc Trung - VLDC</a:t>
            </a:r>
          </a:p>
        </p:txBody>
      </p:sp>
      <p:sp>
        <p:nvSpPr>
          <p:cNvPr id="9" name="Slide Number Placeholder 8"/>
          <p:cNvSpPr>
            <a:spLocks noGrp="1"/>
          </p:cNvSpPr>
          <p:nvPr>
            <p:ph type="sldNum" sz="quarter" idx="12"/>
          </p:nvPr>
        </p:nvSpPr>
        <p:spPr/>
        <p:txBody>
          <a:bodyPr/>
          <a:lstStyle/>
          <a:p>
            <a:fld id="{0C173468-4CCE-478A-9725-791AF0DB04F2}" type="slidenum">
              <a:rPr lang="en-US" smtClean="0"/>
              <a:t>‹#›</a:t>
            </a:fld>
            <a:endParaRPr lang="en-US"/>
          </a:p>
        </p:txBody>
      </p:sp>
    </p:spTree>
    <p:extLst>
      <p:ext uri="{BB962C8B-B14F-4D97-AF65-F5344CB8AC3E}">
        <p14:creationId xmlns:p14="http://schemas.microsoft.com/office/powerpoint/2010/main" val="3028317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3FF7E36-D4BF-4198-A6EF-AE6E6E7EB485}" type="datetime1">
              <a:rPr lang="en-US" smtClean="0"/>
              <a:t>9/30/2025</a:t>
            </a:fld>
            <a:endParaRPr lang="en-US"/>
          </a:p>
        </p:txBody>
      </p:sp>
      <p:sp>
        <p:nvSpPr>
          <p:cNvPr id="4" name="Footer Placeholder 3"/>
          <p:cNvSpPr>
            <a:spLocks noGrp="1"/>
          </p:cNvSpPr>
          <p:nvPr>
            <p:ph type="ftr" sz="quarter" idx="11"/>
          </p:nvPr>
        </p:nvSpPr>
        <p:spPr/>
        <p:txBody>
          <a:bodyPr/>
          <a:lstStyle/>
          <a:p>
            <a:r>
              <a:rPr lang="en-US"/>
              <a:t>Bùi Quốc Trung - VLDC</a:t>
            </a:r>
          </a:p>
        </p:txBody>
      </p:sp>
      <p:sp>
        <p:nvSpPr>
          <p:cNvPr id="5" name="Slide Number Placeholder 4"/>
          <p:cNvSpPr>
            <a:spLocks noGrp="1"/>
          </p:cNvSpPr>
          <p:nvPr>
            <p:ph type="sldNum" sz="quarter" idx="12"/>
          </p:nvPr>
        </p:nvSpPr>
        <p:spPr/>
        <p:txBody>
          <a:bodyPr/>
          <a:lstStyle/>
          <a:p>
            <a:fld id="{0C173468-4CCE-478A-9725-791AF0DB04F2}" type="slidenum">
              <a:rPr lang="en-US" smtClean="0"/>
              <a:t>‹#›</a:t>
            </a:fld>
            <a:endParaRPr lang="en-US"/>
          </a:p>
        </p:txBody>
      </p:sp>
    </p:spTree>
    <p:extLst>
      <p:ext uri="{BB962C8B-B14F-4D97-AF65-F5344CB8AC3E}">
        <p14:creationId xmlns:p14="http://schemas.microsoft.com/office/powerpoint/2010/main" val="2028074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189475-A24C-4DE8-8DF9-AAFBF06609F6}" type="datetime1">
              <a:rPr lang="en-US" smtClean="0"/>
              <a:t>9/30/2025</a:t>
            </a:fld>
            <a:endParaRPr lang="en-US"/>
          </a:p>
        </p:txBody>
      </p:sp>
      <p:sp>
        <p:nvSpPr>
          <p:cNvPr id="3" name="Footer Placeholder 2"/>
          <p:cNvSpPr>
            <a:spLocks noGrp="1"/>
          </p:cNvSpPr>
          <p:nvPr>
            <p:ph type="ftr" sz="quarter" idx="11"/>
          </p:nvPr>
        </p:nvSpPr>
        <p:spPr/>
        <p:txBody>
          <a:bodyPr/>
          <a:lstStyle/>
          <a:p>
            <a:r>
              <a:rPr lang="en-US"/>
              <a:t>Bùi Quốc Trung - VLDC</a:t>
            </a:r>
          </a:p>
        </p:txBody>
      </p:sp>
      <p:sp>
        <p:nvSpPr>
          <p:cNvPr id="4" name="Slide Number Placeholder 3"/>
          <p:cNvSpPr>
            <a:spLocks noGrp="1"/>
          </p:cNvSpPr>
          <p:nvPr>
            <p:ph type="sldNum" sz="quarter" idx="12"/>
          </p:nvPr>
        </p:nvSpPr>
        <p:spPr/>
        <p:txBody>
          <a:bodyPr/>
          <a:lstStyle/>
          <a:p>
            <a:fld id="{0C173468-4CCE-478A-9725-791AF0DB04F2}" type="slidenum">
              <a:rPr lang="en-US" smtClean="0"/>
              <a:t>‹#›</a:t>
            </a:fld>
            <a:endParaRPr lang="en-US"/>
          </a:p>
        </p:txBody>
      </p:sp>
    </p:spTree>
    <p:extLst>
      <p:ext uri="{BB962C8B-B14F-4D97-AF65-F5344CB8AC3E}">
        <p14:creationId xmlns:p14="http://schemas.microsoft.com/office/powerpoint/2010/main" val="4198046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58AE493-90D5-4A8B-85C9-CD64E99B507E}" type="datetime1">
              <a:rPr lang="en-US" smtClean="0"/>
              <a:t>9/30/2025</a:t>
            </a:fld>
            <a:endParaRPr lang="en-US"/>
          </a:p>
        </p:txBody>
      </p:sp>
      <p:sp>
        <p:nvSpPr>
          <p:cNvPr id="6" name="Footer Placeholder 5"/>
          <p:cNvSpPr>
            <a:spLocks noGrp="1"/>
          </p:cNvSpPr>
          <p:nvPr>
            <p:ph type="ftr" sz="quarter" idx="11"/>
          </p:nvPr>
        </p:nvSpPr>
        <p:spPr/>
        <p:txBody>
          <a:bodyPr/>
          <a:lstStyle/>
          <a:p>
            <a:r>
              <a:rPr lang="en-US"/>
              <a:t>Bùi Quốc Trung - VLDC</a:t>
            </a:r>
          </a:p>
        </p:txBody>
      </p:sp>
      <p:sp>
        <p:nvSpPr>
          <p:cNvPr id="7" name="Slide Number Placeholder 6"/>
          <p:cNvSpPr>
            <a:spLocks noGrp="1"/>
          </p:cNvSpPr>
          <p:nvPr>
            <p:ph type="sldNum" sz="quarter" idx="12"/>
          </p:nvPr>
        </p:nvSpPr>
        <p:spPr/>
        <p:txBody>
          <a:bodyPr/>
          <a:lstStyle/>
          <a:p>
            <a:fld id="{0C173468-4CCE-478A-9725-791AF0DB04F2}" type="slidenum">
              <a:rPr lang="en-US" smtClean="0"/>
              <a:t>‹#›</a:t>
            </a:fld>
            <a:endParaRPr lang="en-US"/>
          </a:p>
        </p:txBody>
      </p:sp>
    </p:spTree>
    <p:extLst>
      <p:ext uri="{BB962C8B-B14F-4D97-AF65-F5344CB8AC3E}">
        <p14:creationId xmlns:p14="http://schemas.microsoft.com/office/powerpoint/2010/main" val="853493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CE3A61-23B1-4F0F-BB27-3305F1F61FD6}" type="datetime1">
              <a:rPr lang="en-US" smtClean="0"/>
              <a:t>9/30/2025</a:t>
            </a:fld>
            <a:endParaRPr lang="en-US"/>
          </a:p>
        </p:txBody>
      </p:sp>
      <p:sp>
        <p:nvSpPr>
          <p:cNvPr id="6" name="Footer Placeholder 5"/>
          <p:cNvSpPr>
            <a:spLocks noGrp="1"/>
          </p:cNvSpPr>
          <p:nvPr>
            <p:ph type="ftr" sz="quarter" idx="11"/>
          </p:nvPr>
        </p:nvSpPr>
        <p:spPr/>
        <p:txBody>
          <a:bodyPr/>
          <a:lstStyle/>
          <a:p>
            <a:r>
              <a:rPr lang="en-US"/>
              <a:t>Bùi Quốc Trung - VLDC</a:t>
            </a:r>
          </a:p>
        </p:txBody>
      </p:sp>
      <p:sp>
        <p:nvSpPr>
          <p:cNvPr id="7" name="Slide Number Placeholder 6"/>
          <p:cNvSpPr>
            <a:spLocks noGrp="1"/>
          </p:cNvSpPr>
          <p:nvPr>
            <p:ph type="sldNum" sz="quarter" idx="12"/>
          </p:nvPr>
        </p:nvSpPr>
        <p:spPr/>
        <p:txBody>
          <a:bodyPr/>
          <a:lstStyle/>
          <a:p>
            <a:fld id="{0C173468-4CCE-478A-9725-791AF0DB04F2}" type="slidenum">
              <a:rPr lang="en-US" smtClean="0"/>
              <a:t>‹#›</a:t>
            </a:fld>
            <a:endParaRPr lang="en-US"/>
          </a:p>
        </p:txBody>
      </p:sp>
    </p:spTree>
    <p:extLst>
      <p:ext uri="{BB962C8B-B14F-4D97-AF65-F5344CB8AC3E}">
        <p14:creationId xmlns:p14="http://schemas.microsoft.com/office/powerpoint/2010/main" val="3849596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E6B9E8-D019-45BD-9417-0E7057BAB670}" type="datetime1">
              <a:rPr lang="en-US" smtClean="0"/>
              <a:t>9/30/2025</a:t>
            </a:fld>
            <a:endParaRPr lang="en-US"/>
          </a:p>
        </p:txBody>
      </p:sp>
      <p:sp>
        <p:nvSpPr>
          <p:cNvPr id="5" name="Footer Placeholder 4"/>
          <p:cNvSpPr>
            <a:spLocks noGrp="1"/>
          </p:cNvSpPr>
          <p:nvPr>
            <p:ph type="ftr" sz="quarter" idx="11"/>
          </p:nvPr>
        </p:nvSpPr>
        <p:spPr/>
        <p:txBody>
          <a:bodyPr/>
          <a:lstStyle/>
          <a:p>
            <a:r>
              <a:rPr lang="en-US"/>
              <a:t>Bùi Quốc Trung - VLDC</a:t>
            </a:r>
          </a:p>
        </p:txBody>
      </p:sp>
      <p:sp>
        <p:nvSpPr>
          <p:cNvPr id="6" name="Slide Number Placeholder 5"/>
          <p:cNvSpPr>
            <a:spLocks noGrp="1"/>
          </p:cNvSpPr>
          <p:nvPr>
            <p:ph type="sldNum" sz="quarter" idx="12"/>
          </p:nvPr>
        </p:nvSpPr>
        <p:spPr/>
        <p:txBody>
          <a:bodyPr/>
          <a:lstStyle/>
          <a:p>
            <a:fld id="{0C173468-4CCE-478A-9725-791AF0DB04F2}" type="slidenum">
              <a:rPr lang="en-US" smtClean="0"/>
              <a:t>‹#›</a:t>
            </a:fld>
            <a:endParaRPr lang="en-US"/>
          </a:p>
        </p:txBody>
      </p:sp>
    </p:spTree>
    <p:extLst>
      <p:ext uri="{BB962C8B-B14F-4D97-AF65-F5344CB8AC3E}">
        <p14:creationId xmlns:p14="http://schemas.microsoft.com/office/powerpoint/2010/main" val="3307802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9BEFBC-56C2-4C39-AECC-9C0201A86C50}" type="datetime1">
              <a:rPr lang="en-US" smtClean="0"/>
              <a:t>9/30/2025</a:t>
            </a:fld>
            <a:endParaRPr lang="en-US"/>
          </a:p>
        </p:txBody>
      </p:sp>
      <p:sp>
        <p:nvSpPr>
          <p:cNvPr id="5" name="Footer Placeholder 4"/>
          <p:cNvSpPr>
            <a:spLocks noGrp="1"/>
          </p:cNvSpPr>
          <p:nvPr>
            <p:ph type="ftr" sz="quarter" idx="11"/>
          </p:nvPr>
        </p:nvSpPr>
        <p:spPr/>
        <p:txBody>
          <a:bodyPr/>
          <a:lstStyle/>
          <a:p>
            <a:r>
              <a:rPr lang="en-US"/>
              <a:t>Bùi Quốc Trung - VLDC</a:t>
            </a:r>
          </a:p>
        </p:txBody>
      </p:sp>
      <p:sp>
        <p:nvSpPr>
          <p:cNvPr id="6" name="Slide Number Placeholder 5"/>
          <p:cNvSpPr>
            <a:spLocks noGrp="1"/>
          </p:cNvSpPr>
          <p:nvPr>
            <p:ph type="sldNum" sz="quarter" idx="12"/>
          </p:nvPr>
        </p:nvSpPr>
        <p:spPr/>
        <p:txBody>
          <a:bodyPr/>
          <a:lstStyle/>
          <a:p>
            <a:fld id="{0C173468-4CCE-478A-9725-791AF0DB04F2}" type="slidenum">
              <a:rPr lang="en-US" smtClean="0"/>
              <a:t>‹#›</a:t>
            </a:fld>
            <a:endParaRPr lang="en-US"/>
          </a:p>
        </p:txBody>
      </p:sp>
    </p:spTree>
    <p:extLst>
      <p:ext uri="{BB962C8B-B14F-4D97-AF65-F5344CB8AC3E}">
        <p14:creationId xmlns:p14="http://schemas.microsoft.com/office/powerpoint/2010/main" val="5296374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p:cNvSpPr>
            <a:spLocks noGrp="1" noChangeArrowheads="1"/>
          </p:cNvSpPr>
          <p:nvPr>
            <p:ph type="dt" sz="half" idx="10"/>
          </p:nvPr>
        </p:nvSpPr>
        <p:spPr>
          <a:ln/>
        </p:spPr>
        <p:txBody>
          <a:bodyPr/>
          <a:lstStyle>
            <a:lvl1pPr>
              <a:defRPr/>
            </a:lvl1pPr>
          </a:lstStyle>
          <a:p>
            <a:pPr>
              <a:defRPr/>
            </a:pPr>
            <a:fld id="{A17228B8-59B8-41D4-AB7E-D6201AC673F6}" type="datetime1">
              <a:rPr lang="en-US" smtClean="0"/>
              <a:t>9/30/2025</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a:t>Bùi Quốc Trung - VLDC</a:t>
            </a:r>
          </a:p>
        </p:txBody>
      </p:sp>
      <p:sp>
        <p:nvSpPr>
          <p:cNvPr id="5" name="Rectangle 6"/>
          <p:cNvSpPr>
            <a:spLocks noGrp="1" noChangeArrowheads="1"/>
          </p:cNvSpPr>
          <p:nvPr>
            <p:ph type="sldNum" sz="quarter" idx="12"/>
          </p:nvPr>
        </p:nvSpPr>
        <p:spPr>
          <a:ln/>
        </p:spPr>
        <p:txBody>
          <a:bodyPr/>
          <a:lstStyle>
            <a:lvl1pPr>
              <a:defRPr/>
            </a:lvl1pPr>
          </a:lstStyle>
          <a:p>
            <a:pPr>
              <a:defRPr/>
            </a:pPr>
            <a:fld id="{003F8D5A-645D-495A-9DEA-99BB03E4A967}" type="slidenum">
              <a:rPr lang="en-US"/>
              <a:pPr>
                <a:defRPr/>
              </a:pPr>
              <a:t>‹#›</a:t>
            </a:fld>
            <a:endParaRPr lang="en-US"/>
          </a:p>
        </p:txBody>
      </p:sp>
    </p:spTree>
    <p:extLst>
      <p:ext uri="{BB962C8B-B14F-4D97-AF65-F5344CB8AC3E}">
        <p14:creationId xmlns:p14="http://schemas.microsoft.com/office/powerpoint/2010/main" val="32931855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15963"/>
          </a:xfrm>
        </p:spPr>
        <p:txBody>
          <a:bodyPr/>
          <a:lstStyle/>
          <a:p>
            <a:r>
              <a:rPr lang="en-US"/>
              <a:t>Click to edit Master title style</a:t>
            </a:r>
          </a:p>
        </p:txBody>
      </p:sp>
      <p:sp>
        <p:nvSpPr>
          <p:cNvPr id="3" name="Text Placeholder 2"/>
          <p:cNvSpPr>
            <a:spLocks noGrp="1"/>
          </p:cNvSpPr>
          <p:nvPr>
            <p:ph type="body" sz="half" idx="1"/>
          </p:nvPr>
        </p:nvSpPr>
        <p:spPr>
          <a:xfrm>
            <a:off x="457200" y="762000"/>
            <a:ext cx="40386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762000"/>
            <a:ext cx="40386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4DE41C94-AA29-412F-A3CF-32AE6C7052C5}" type="datetime1">
              <a:rPr lang="en-US" smtClean="0"/>
              <a:t>9/30/2025</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Bùi Quốc Trung - VLDC</a:t>
            </a:r>
          </a:p>
        </p:txBody>
      </p:sp>
      <p:sp>
        <p:nvSpPr>
          <p:cNvPr id="7" name="Rectangle 6"/>
          <p:cNvSpPr>
            <a:spLocks noGrp="1" noChangeArrowheads="1"/>
          </p:cNvSpPr>
          <p:nvPr>
            <p:ph type="sldNum" sz="quarter" idx="12"/>
          </p:nvPr>
        </p:nvSpPr>
        <p:spPr>
          <a:ln/>
        </p:spPr>
        <p:txBody>
          <a:bodyPr/>
          <a:lstStyle>
            <a:lvl1pPr>
              <a:defRPr/>
            </a:lvl1pPr>
          </a:lstStyle>
          <a:p>
            <a:pPr>
              <a:defRPr/>
            </a:pPr>
            <a:fld id="{302BCF9B-0434-4B1A-8E11-20B3C6761B54}" type="slidenum">
              <a:rPr lang="en-US"/>
              <a:pPr>
                <a:defRPr/>
              </a:pPr>
              <a:t>‹#›</a:t>
            </a:fld>
            <a:endParaRPr lang="en-US"/>
          </a:p>
        </p:txBody>
      </p:sp>
    </p:spTree>
    <p:extLst>
      <p:ext uri="{BB962C8B-B14F-4D97-AF65-F5344CB8AC3E}">
        <p14:creationId xmlns:p14="http://schemas.microsoft.com/office/powerpoint/2010/main" val="548807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54EF59-9EEE-4EF4-A16C-45CC5B2EF685}" type="datetime1">
              <a:rPr lang="en-US" smtClean="0"/>
              <a:t>9/30/2025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Bùi Quốc Trung - VLDC</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173468-4CCE-478A-9725-791AF0DB04F2}" type="slidenum">
              <a:rPr lang="en-US" smtClean="0"/>
              <a:t>‹#›</a:t>
            </a:fld>
            <a:endParaRPr lang="en-US"/>
          </a:p>
        </p:txBody>
      </p:sp>
    </p:spTree>
    <p:extLst>
      <p:ext uri="{BB962C8B-B14F-4D97-AF65-F5344CB8AC3E}">
        <p14:creationId xmlns:p14="http://schemas.microsoft.com/office/powerpoint/2010/main" val="37283613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wmf"/><Relationship Id="rId7"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3.w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control" Target="../activeX/activeX1.xml"/><Relationship Id="rId6" Type="http://schemas.openxmlformats.org/officeDocument/2006/relationships/image" Target="../media/image6.wmf"/><Relationship Id="rId5" Type="http://schemas.openxmlformats.org/officeDocument/2006/relationships/oleObject" Target="../embeddings/oleObject5.bin"/><Relationship Id="rId4" Type="http://schemas.openxmlformats.org/officeDocument/2006/relationships/image" Target="../media/image5.wmf"/></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0.wmf"/><Relationship Id="rId13" Type="http://schemas.openxmlformats.org/officeDocument/2006/relationships/oleObject" Target="../embeddings/oleObject11.bin"/><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image" Target="../media/image12.wmf"/><Relationship Id="rId2" Type="http://schemas.openxmlformats.org/officeDocument/2006/relationships/image" Target="../media/image1.png"/><Relationship Id="rId16" Type="http://schemas.openxmlformats.org/officeDocument/2006/relationships/image" Target="../media/image14.wmf"/><Relationship Id="rId1" Type="http://schemas.openxmlformats.org/officeDocument/2006/relationships/slideLayout" Target="../slideLayouts/slideLayout2.xml"/><Relationship Id="rId6" Type="http://schemas.openxmlformats.org/officeDocument/2006/relationships/image" Target="../media/image9.wmf"/><Relationship Id="rId11" Type="http://schemas.openxmlformats.org/officeDocument/2006/relationships/oleObject" Target="../embeddings/oleObject10.bin"/><Relationship Id="rId5" Type="http://schemas.openxmlformats.org/officeDocument/2006/relationships/oleObject" Target="../embeddings/oleObject7.bin"/><Relationship Id="rId15" Type="http://schemas.openxmlformats.org/officeDocument/2006/relationships/oleObject" Target="../embeddings/oleObject12.bin"/><Relationship Id="rId10" Type="http://schemas.openxmlformats.org/officeDocument/2006/relationships/image" Target="../media/image11.wmf"/><Relationship Id="rId4" Type="http://schemas.openxmlformats.org/officeDocument/2006/relationships/image" Target="../media/image8.wmf"/><Relationship Id="rId9" Type="http://schemas.openxmlformats.org/officeDocument/2006/relationships/oleObject" Target="../embeddings/oleObject9.bin"/><Relationship Id="rId14" Type="http://schemas.openxmlformats.org/officeDocument/2006/relationships/image" Target="../media/image13.wmf"/></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19.wmf"/><Relationship Id="rId3" Type="http://schemas.openxmlformats.org/officeDocument/2006/relationships/image" Target="../media/image1.png"/><Relationship Id="rId7" Type="http://schemas.openxmlformats.org/officeDocument/2006/relationships/image" Target="../media/image16.wmf"/><Relationship Id="rId12" Type="http://schemas.openxmlformats.org/officeDocument/2006/relationships/oleObject" Target="../embeddings/oleObject17.bin"/><Relationship Id="rId2" Type="http://schemas.openxmlformats.org/officeDocument/2006/relationships/slideLayout" Target="../slideLayouts/slideLayout2.xml"/><Relationship Id="rId16" Type="http://schemas.openxmlformats.org/officeDocument/2006/relationships/image" Target="../media/image21.wmf"/><Relationship Id="rId1" Type="http://schemas.openxmlformats.org/officeDocument/2006/relationships/control" Target="../activeX/activeX2.xml"/><Relationship Id="rId6" Type="http://schemas.openxmlformats.org/officeDocument/2006/relationships/oleObject" Target="../embeddings/oleObject14.bin"/><Relationship Id="rId11" Type="http://schemas.openxmlformats.org/officeDocument/2006/relationships/image" Target="../media/image18.wmf"/><Relationship Id="rId5" Type="http://schemas.openxmlformats.org/officeDocument/2006/relationships/image" Target="../media/image15.wmf"/><Relationship Id="rId15" Type="http://schemas.openxmlformats.org/officeDocument/2006/relationships/image" Target="../media/image20.wmf"/><Relationship Id="rId10" Type="http://schemas.openxmlformats.org/officeDocument/2006/relationships/oleObject" Target="../embeddings/oleObject16.bin"/><Relationship Id="rId4" Type="http://schemas.openxmlformats.org/officeDocument/2006/relationships/oleObject" Target="../embeddings/oleObject13.bin"/><Relationship Id="rId9" Type="http://schemas.openxmlformats.org/officeDocument/2006/relationships/image" Target="../media/image17.wmf"/><Relationship Id="rId14" Type="http://schemas.openxmlformats.org/officeDocument/2006/relationships/oleObject" Target="../embeddings/oleObject18.bin"/></Relationships>
</file>

<file path=ppt/slides/_rels/slide1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2.png"/><Relationship Id="rId7"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80.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19.bin"/><Relationship Id="rId1" Type="http://schemas.openxmlformats.org/officeDocument/2006/relationships/slideLayout" Target="../slideLayouts/slideLayout2.xml"/><Relationship Id="rId5" Type="http://schemas.openxmlformats.org/officeDocument/2006/relationships/image" Target="../media/image27.wmf"/><Relationship Id="rId4" Type="http://schemas.openxmlformats.org/officeDocument/2006/relationships/oleObject" Target="../embeddings/oleObject20.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image" Target="../media/image26.wmf"/><Relationship Id="rId7" Type="http://schemas.openxmlformats.org/officeDocument/2006/relationships/image" Target="../media/image28.wmf"/><Relationship Id="rId2" Type="http://schemas.openxmlformats.org/officeDocument/2006/relationships/oleObject" Target="../embeddings/oleObject19.bin"/><Relationship Id="rId1" Type="http://schemas.openxmlformats.org/officeDocument/2006/relationships/slideLayout" Target="../slideLayouts/slideLayout2.xml"/><Relationship Id="rId6" Type="http://schemas.openxmlformats.org/officeDocument/2006/relationships/oleObject" Target="../embeddings/oleObject21.bin"/><Relationship Id="rId5" Type="http://schemas.openxmlformats.org/officeDocument/2006/relationships/image" Target="../media/image27.wmf"/><Relationship Id="rId4" Type="http://schemas.openxmlformats.org/officeDocument/2006/relationships/oleObject" Target="../embeddings/oleObject20.bin"/><Relationship Id="rId9" Type="http://schemas.openxmlformats.org/officeDocument/2006/relationships/image" Target="../media/image29.wmf"/></Relationships>
</file>

<file path=ppt/slides/_rels/slide25.xml.rels><?xml version="1.0" encoding="UTF-8" standalone="yes"?>
<Relationships xmlns="http://schemas.openxmlformats.org/package/2006/relationships"><Relationship Id="rId3" Type="http://schemas.openxmlformats.org/officeDocument/2006/relationships/image" Target="../media/image270.png"/><Relationship Id="rId7" Type="http://schemas.openxmlformats.org/officeDocument/2006/relationships/image" Target="../media/image31.wmf"/><Relationship Id="rId1" Type="http://schemas.openxmlformats.org/officeDocument/2006/relationships/slideLayout" Target="../slideLayouts/slideLayout2.xml"/><Relationship Id="rId6" Type="http://schemas.openxmlformats.org/officeDocument/2006/relationships/oleObject" Target="../embeddings/oleObject24.bin"/><Relationship Id="rId5" Type="http://schemas.openxmlformats.org/officeDocument/2006/relationships/image" Target="../media/image30.wmf"/><Relationship Id="rId4" Type="http://schemas.openxmlformats.org/officeDocument/2006/relationships/oleObject" Target="../embeddings/oleObject23.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25.bin"/><Relationship Id="rId1" Type="http://schemas.openxmlformats.org/officeDocument/2006/relationships/slideLayout" Target="../slideLayouts/slideLayout13.xml"/><Relationship Id="rId6" Type="http://schemas.openxmlformats.org/officeDocument/2006/relationships/image" Target="../media/image35.wmf"/><Relationship Id="rId5" Type="http://schemas.openxmlformats.org/officeDocument/2006/relationships/oleObject" Target="../embeddings/oleObject26.bin"/><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27.bin"/><Relationship Id="rId1" Type="http://schemas.openxmlformats.org/officeDocument/2006/relationships/slideLayout" Target="../slideLayouts/slideLayout13.xml"/><Relationship Id="rId6" Type="http://schemas.openxmlformats.org/officeDocument/2006/relationships/hyperlink" Target="../hai-nguyen-ly-khien-dong-co-vinh-cuu-khong-the-ton-tai-mai.mp4" TargetMode="External"/><Relationship Id="rId5" Type="http://schemas.openxmlformats.org/officeDocument/2006/relationships/image" Target="../media/image37.wmf"/><Relationship Id="rId4" Type="http://schemas.openxmlformats.org/officeDocument/2006/relationships/oleObject" Target="../embeddings/oleObject28.bin"/></Relationships>
</file>

<file path=ppt/slides/_rels/slide3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38.wmf"/><Relationship Id="rId7" Type="http://schemas.openxmlformats.org/officeDocument/2006/relationships/image" Target="../media/image40.wmf"/><Relationship Id="rId2" Type="http://schemas.openxmlformats.org/officeDocument/2006/relationships/oleObject" Target="../embeddings/oleObject29.bin"/><Relationship Id="rId1" Type="http://schemas.openxmlformats.org/officeDocument/2006/relationships/slideLayout" Target="../slideLayouts/slideLayout2.xml"/><Relationship Id="rId6" Type="http://schemas.openxmlformats.org/officeDocument/2006/relationships/oleObject" Target="../embeddings/oleObject31.bin"/><Relationship Id="rId5" Type="http://schemas.openxmlformats.org/officeDocument/2006/relationships/image" Target="../media/image39.wmf"/><Relationship Id="rId4" Type="http://schemas.openxmlformats.org/officeDocument/2006/relationships/oleObject" Target="../embeddings/oleObject30.bin"/></Relationships>
</file>

<file path=ppt/slides/_rels/slide33.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image" Target="../media/image41.wmf"/><Relationship Id="rId7" Type="http://schemas.openxmlformats.org/officeDocument/2006/relationships/oleObject" Target="../embeddings/oleObject33.bin"/><Relationship Id="rId2" Type="http://schemas.openxmlformats.org/officeDocument/2006/relationships/oleObject" Target="../embeddings/oleObject32.bin"/><Relationship Id="rId1" Type="http://schemas.openxmlformats.org/officeDocument/2006/relationships/slideLayout" Target="../slideLayouts/slideLayout2.xml"/><Relationship Id="rId6" Type="http://schemas.openxmlformats.org/officeDocument/2006/relationships/image" Target="../media/image46.png"/><Relationship Id="rId10" Type="http://schemas.openxmlformats.org/officeDocument/2006/relationships/image" Target="../media/image48.png"/><Relationship Id="rId4" Type="http://schemas.openxmlformats.org/officeDocument/2006/relationships/image" Target="../media/image25.png"/><Relationship Id="rId9" Type="http://schemas.openxmlformats.org/officeDocument/2006/relationships/image" Target="../media/image47.png"/></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37.bin"/><Relationship Id="rId3" Type="http://schemas.openxmlformats.org/officeDocument/2006/relationships/image" Target="../media/image43.wmf"/><Relationship Id="rId7" Type="http://schemas.openxmlformats.org/officeDocument/2006/relationships/image" Target="../media/image45.wmf"/><Relationship Id="rId2" Type="http://schemas.openxmlformats.org/officeDocument/2006/relationships/oleObject" Target="../embeddings/oleObject34.bin"/><Relationship Id="rId1" Type="http://schemas.openxmlformats.org/officeDocument/2006/relationships/slideLayout" Target="../slideLayouts/slideLayout2.xml"/><Relationship Id="rId6" Type="http://schemas.openxmlformats.org/officeDocument/2006/relationships/oleObject" Target="../embeddings/oleObject36.bin"/><Relationship Id="rId5" Type="http://schemas.openxmlformats.org/officeDocument/2006/relationships/image" Target="../media/image44.wmf"/><Relationship Id="rId10" Type="http://schemas.openxmlformats.org/officeDocument/2006/relationships/image" Target="../media/image25.png"/><Relationship Id="rId4" Type="http://schemas.openxmlformats.org/officeDocument/2006/relationships/oleObject" Target="../embeddings/oleObject35.bin"/><Relationship Id="rId9" Type="http://schemas.openxmlformats.org/officeDocument/2006/relationships/image" Target="../media/image46.wmf"/></Relationships>
</file>

<file path=ppt/slides/_rels/slide3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47.wmf"/><Relationship Id="rId7" Type="http://schemas.openxmlformats.org/officeDocument/2006/relationships/image" Target="../media/image49.wmf"/><Relationship Id="rId12" Type="http://schemas.openxmlformats.org/officeDocument/2006/relationships/image" Target="../media/image51.png"/><Relationship Id="rId2" Type="http://schemas.openxmlformats.org/officeDocument/2006/relationships/oleObject" Target="../embeddings/oleObject38.bin"/><Relationship Id="rId1" Type="http://schemas.openxmlformats.org/officeDocument/2006/relationships/slideLayout" Target="../slideLayouts/slideLayout2.xml"/><Relationship Id="rId6" Type="http://schemas.openxmlformats.org/officeDocument/2006/relationships/oleObject" Target="../embeddings/oleObject40.bin"/><Relationship Id="rId5" Type="http://schemas.openxmlformats.org/officeDocument/2006/relationships/image" Target="../media/image48.wmf"/><Relationship Id="rId10" Type="http://schemas.openxmlformats.org/officeDocument/2006/relationships/image" Target="../media/image50.wmf"/><Relationship Id="rId4" Type="http://schemas.openxmlformats.org/officeDocument/2006/relationships/oleObject" Target="../embeddings/oleObject39.bin"/><Relationship Id="rId9" Type="http://schemas.openxmlformats.org/officeDocument/2006/relationships/oleObject" Target="../embeddings/oleObject41.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45.bin"/><Relationship Id="rId13" Type="http://schemas.openxmlformats.org/officeDocument/2006/relationships/image" Target="../media/image55.wmf"/><Relationship Id="rId18" Type="http://schemas.openxmlformats.org/officeDocument/2006/relationships/oleObject" Target="../embeddings/oleObject49.bin"/><Relationship Id="rId3" Type="http://schemas.openxmlformats.org/officeDocument/2006/relationships/image" Target="../media/image51.wmf"/><Relationship Id="rId7" Type="http://schemas.openxmlformats.org/officeDocument/2006/relationships/image" Target="../media/image53.wmf"/><Relationship Id="rId12" Type="http://schemas.openxmlformats.org/officeDocument/2006/relationships/oleObject" Target="../embeddings/oleObject46.bin"/><Relationship Id="rId17" Type="http://schemas.openxmlformats.org/officeDocument/2006/relationships/image" Target="../media/image57.wmf"/><Relationship Id="rId2" Type="http://schemas.openxmlformats.org/officeDocument/2006/relationships/oleObject" Target="../embeddings/oleObject42.bin"/><Relationship Id="rId16" Type="http://schemas.openxmlformats.org/officeDocument/2006/relationships/oleObject" Target="../embeddings/oleObject48.bin"/><Relationship Id="rId1" Type="http://schemas.openxmlformats.org/officeDocument/2006/relationships/slideLayout" Target="../slideLayouts/slideLayout2.xml"/><Relationship Id="rId6" Type="http://schemas.openxmlformats.org/officeDocument/2006/relationships/oleObject" Target="../embeddings/oleObject44.bin"/><Relationship Id="rId11" Type="http://schemas.openxmlformats.org/officeDocument/2006/relationships/image" Target="../media/image42.wmf"/><Relationship Id="rId5" Type="http://schemas.openxmlformats.org/officeDocument/2006/relationships/image" Target="../media/image52.wmf"/><Relationship Id="rId15" Type="http://schemas.openxmlformats.org/officeDocument/2006/relationships/image" Target="../media/image56.wmf"/><Relationship Id="rId10" Type="http://schemas.openxmlformats.org/officeDocument/2006/relationships/oleObject" Target="../embeddings/oleObject33.bin"/><Relationship Id="rId19" Type="http://schemas.openxmlformats.org/officeDocument/2006/relationships/image" Target="../media/image58.wmf"/><Relationship Id="rId4" Type="http://schemas.openxmlformats.org/officeDocument/2006/relationships/oleObject" Target="../embeddings/oleObject43.bin"/><Relationship Id="rId9" Type="http://schemas.openxmlformats.org/officeDocument/2006/relationships/image" Target="../media/image54.wmf"/><Relationship Id="rId14" Type="http://schemas.openxmlformats.org/officeDocument/2006/relationships/oleObject" Target="../embeddings/oleObject47.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61.png"/></Relationships>
</file>

<file path=ppt/slides/_rels/slide4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62.png"/><Relationship Id="rId4" Type="http://schemas.openxmlformats.org/officeDocument/2006/relationships/image" Target="../media/image650.png"/></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60.png"/><Relationship Id="rId4" Type="http://schemas.openxmlformats.org/officeDocument/2006/relationships/image" Target="../media/image48.wmf"/></Relationships>
</file>

<file path=ppt/slides/_rels/slide4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oleObject" Target="../embeddings/oleObject47.bin"/><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image" Target="../media/image59.jpg"/><Relationship Id="rId1" Type="http://schemas.openxmlformats.org/officeDocument/2006/relationships/slideLayout" Target="../slideLayouts/slideLayout12.xml"/><Relationship Id="rId4" Type="http://schemas.openxmlformats.org/officeDocument/2006/relationships/image" Target="../media/image61.jpg"/></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73.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66.wmf"/><Relationship Id="rId4" Type="http://schemas.openxmlformats.org/officeDocument/2006/relationships/oleObject" Target="../embeddings/oleObject50.bin"/></Relationships>
</file>

<file path=ppt/slides/_rels/slide55.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430.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69.wmf"/><Relationship Id="rId4" Type="http://schemas.openxmlformats.org/officeDocument/2006/relationships/oleObject" Target="../embeddings/oleObject51.bin"/></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66.wmf"/><Relationship Id="rId5" Type="http://schemas.openxmlformats.org/officeDocument/2006/relationships/oleObject" Target="../embeddings/oleObject50.bin"/><Relationship Id="rId4" Type="http://schemas.openxmlformats.org/officeDocument/2006/relationships/image" Target="../media/image69.wmf"/></Relationships>
</file>

<file path=ppt/slides/_rels/slide5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71.wmf"/><Relationship Id="rId4" Type="http://schemas.openxmlformats.org/officeDocument/2006/relationships/oleObject" Target="../embeddings/oleObject52.bin"/></Relationships>
</file>

<file path=ppt/slides/_rels/slide5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73.wmf"/><Relationship Id="rId4" Type="http://schemas.openxmlformats.org/officeDocument/2006/relationships/oleObject" Target="../embeddings/oleObject53.bin"/></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oleObject" Target="../embeddings/oleObject52.bin"/><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28600" y="609600"/>
            <a:ext cx="8305800" cy="5447645"/>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eaLnBrk="1" hangingPunct="1">
              <a:buFontTx/>
              <a:buNone/>
            </a:pPr>
            <a:r>
              <a:rPr lang="en-US" sz="4400" b="1">
                <a:solidFill>
                  <a:srgbClr val="FF3300"/>
                </a:solidFill>
              </a:rPr>
              <a:t>CHƯƠNG 6</a:t>
            </a:r>
          </a:p>
          <a:p>
            <a:pPr eaLnBrk="1" hangingPunct="1">
              <a:buFontTx/>
              <a:buNone/>
            </a:pPr>
            <a:r>
              <a:rPr lang="en-US" sz="4000" b="1">
                <a:solidFill>
                  <a:srgbClr val="00B050"/>
                </a:solidFill>
              </a:rPr>
              <a:t>Nhiệt động lực học</a:t>
            </a:r>
            <a:endParaRPr lang="en-US" sz="4000"/>
          </a:p>
          <a:p>
            <a:pPr eaLnBrk="1" hangingPunct="1">
              <a:buFontTx/>
              <a:buNone/>
            </a:pPr>
            <a:r>
              <a:rPr lang="en-US" sz="4000"/>
              <a:t>	</a:t>
            </a:r>
            <a:r>
              <a:rPr lang="en-US" sz="3200" i="1"/>
              <a:t>Nghiên cứu các điều kiện &amp; quan hệ biến đổi định lượng của năng lượng từ dạng này sang dạng khác</a:t>
            </a:r>
          </a:p>
          <a:p>
            <a:pPr eaLnBrk="1" hangingPunct="1">
              <a:buFontTx/>
              <a:buNone/>
            </a:pPr>
            <a:endParaRPr lang="en-US" sz="4000" b="1" i="1">
              <a:solidFill>
                <a:srgbClr val="00B0F0"/>
              </a:solidFill>
            </a:endParaRPr>
          </a:p>
          <a:p>
            <a:pPr eaLnBrk="1" hangingPunct="1">
              <a:buFontTx/>
              <a:buNone/>
            </a:pPr>
            <a:r>
              <a:rPr lang="en-US" sz="4000" b="1">
                <a:solidFill>
                  <a:srgbClr val="00B0F0"/>
                </a:solidFill>
              </a:rPr>
              <a:t>Nguyên lý 1</a:t>
            </a:r>
          </a:p>
          <a:p>
            <a:pPr eaLnBrk="1" hangingPunct="1">
              <a:buFontTx/>
              <a:buNone/>
            </a:pPr>
            <a:endParaRPr lang="en-US" sz="4000" b="1">
              <a:solidFill>
                <a:srgbClr val="00B0F0"/>
              </a:solidFill>
            </a:endParaRPr>
          </a:p>
          <a:p>
            <a:pPr eaLnBrk="1" hangingPunct="1">
              <a:buFontTx/>
              <a:buNone/>
            </a:pPr>
            <a:r>
              <a:rPr lang="en-US" sz="4000" b="1">
                <a:solidFill>
                  <a:srgbClr val="00B0F0"/>
                </a:solidFill>
              </a:rPr>
              <a:t>				Nguyên lý 2</a:t>
            </a:r>
          </a:p>
        </p:txBody>
      </p:sp>
      <p:sp>
        <p:nvSpPr>
          <p:cNvPr id="2" name="Footer Placeholder 1">
            <a:extLst>
              <a:ext uri="{FF2B5EF4-FFF2-40B4-BE49-F238E27FC236}">
                <a16:creationId xmlns:a16="http://schemas.microsoft.com/office/drawing/2014/main" id="{41F57CA3-0A9A-5E67-65DB-9BB22F62C17C}"/>
              </a:ext>
            </a:extLst>
          </p:cNvPr>
          <p:cNvSpPr>
            <a:spLocks noGrp="1"/>
          </p:cNvSpPr>
          <p:nvPr>
            <p:ph type="ftr" sz="quarter" idx="11"/>
          </p:nvPr>
        </p:nvSpPr>
        <p:spPr/>
        <p:txBody>
          <a:bodyPr/>
          <a:lstStyle/>
          <a:p>
            <a:r>
              <a:rPr lang="en-US"/>
              <a:t>Bùi Quốc Trung - VLDC</a:t>
            </a:r>
          </a:p>
        </p:txBody>
      </p:sp>
      <p:sp>
        <p:nvSpPr>
          <p:cNvPr id="3" name="Slide Number Placeholder 2">
            <a:extLst>
              <a:ext uri="{FF2B5EF4-FFF2-40B4-BE49-F238E27FC236}">
                <a16:creationId xmlns:a16="http://schemas.microsoft.com/office/drawing/2014/main" id="{5C1AF052-824D-7558-2DAB-F59F8576E663}"/>
              </a:ext>
            </a:extLst>
          </p:cNvPr>
          <p:cNvSpPr>
            <a:spLocks noGrp="1"/>
          </p:cNvSpPr>
          <p:nvPr>
            <p:ph type="sldNum" sz="quarter" idx="12"/>
          </p:nvPr>
        </p:nvSpPr>
        <p:spPr/>
        <p:txBody>
          <a:bodyPr/>
          <a:lstStyle/>
          <a:p>
            <a:fld id="{0C173468-4CCE-478A-9725-791AF0DB04F2}" type="slidenum">
              <a:rPr lang="en-US" smtClean="0"/>
              <a:t>1</a:t>
            </a:fld>
            <a:endParaRPr lang="en-US"/>
          </a:p>
        </p:txBody>
      </p:sp>
    </p:spTree>
    <p:extLst>
      <p:ext uri="{BB962C8B-B14F-4D97-AF65-F5344CB8AC3E}">
        <p14:creationId xmlns:p14="http://schemas.microsoft.com/office/powerpoint/2010/main" val="3741854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24690" y="76200"/>
            <a:ext cx="8915400" cy="1066800"/>
          </a:xfrm>
          <a:prstGeom prst="rect">
            <a:avLst/>
          </a:prstGeom>
          <a:gradFill>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lin ang="5400000" scaled="0"/>
          </a:gradFill>
          <a:ln>
            <a:noFill/>
          </a:ln>
        </p:spPr>
        <p:txBody>
          <a:bodyPr lIns="0" tIns="0" rIns="18288" bIns="0" anchor="b">
            <a:normAutofit lnSpcReduction="10000"/>
            <a:scene3d>
              <a:camera prst="orthographicFront"/>
              <a:lightRig rig="freezing" dir="t">
                <a:rot lat="0" lon="0" rev="5640000"/>
              </a:lightRig>
            </a:scene3d>
            <a:sp3d prstMaterial="flat">
              <a:bevelT w="38100" h="38100"/>
              <a:contourClr>
                <a:schemeClr val="tx2"/>
              </a:contourClr>
            </a:sp3d>
          </a:bodyPr>
          <a:lstStyle/>
          <a:p>
            <a:pPr algn="ctr" fontAlgn="auto">
              <a:spcBef>
                <a:spcPts val="0"/>
              </a:spcBef>
              <a:spcAft>
                <a:spcPts val="0"/>
              </a:spcAft>
              <a:defRPr/>
            </a:pPr>
            <a:r>
              <a:rPr lang="en-US" sz="3600" b="1">
                <a:solidFill>
                  <a:srgbClr val="FFFF99"/>
                </a:solidFill>
                <a:effectLst>
                  <a:outerShdw blurRad="38100" dist="25400" dir="5400000" algn="tl" rotWithShape="0">
                    <a:srgbClr val="000000">
                      <a:alpha val="43000"/>
                    </a:srgbClr>
                  </a:outerShdw>
                </a:effectLst>
                <a:latin typeface="Times New Roman" pitchFamily="18" charset="0"/>
                <a:ea typeface="+mj-ea"/>
                <a:cs typeface="Times New Roman" pitchFamily="18" charset="0"/>
              </a:rPr>
              <a:t>CHƯƠNG 6: CÁC NGUYÊN LÝ </a:t>
            </a:r>
          </a:p>
          <a:p>
            <a:pPr algn="ctr" fontAlgn="auto">
              <a:spcBef>
                <a:spcPts val="0"/>
              </a:spcBef>
              <a:spcAft>
                <a:spcPts val="0"/>
              </a:spcAft>
              <a:defRPr/>
            </a:pPr>
            <a:r>
              <a:rPr lang="en-US" sz="3600" b="1">
                <a:solidFill>
                  <a:srgbClr val="FFFF99"/>
                </a:solidFill>
                <a:effectLst>
                  <a:outerShdw blurRad="38100" dist="25400" dir="5400000" algn="tl" rotWithShape="0">
                    <a:srgbClr val="000000">
                      <a:alpha val="43000"/>
                    </a:srgbClr>
                  </a:outerShdw>
                </a:effectLst>
                <a:latin typeface="Times New Roman" pitchFamily="18" charset="0"/>
                <a:ea typeface="+mj-ea"/>
                <a:cs typeface="Times New Roman" pitchFamily="18" charset="0"/>
              </a:rPr>
              <a:t>NHIỆT ĐỘNG HỌC</a:t>
            </a:r>
          </a:p>
        </p:txBody>
      </p:sp>
      <p:sp>
        <p:nvSpPr>
          <p:cNvPr id="8" name="Subtitle 2"/>
          <p:cNvSpPr txBox="1">
            <a:spLocks/>
          </p:cNvSpPr>
          <p:nvPr/>
        </p:nvSpPr>
        <p:spPr bwMode="auto">
          <a:xfrm>
            <a:off x="609600" y="2286000"/>
            <a:ext cx="8001000" cy="4343400"/>
          </a:xfrm>
          <a:prstGeom prst="rect">
            <a:avLst/>
          </a:prstGeom>
          <a:noFill/>
          <a:ln w="9525">
            <a:noFill/>
            <a:miter lim="800000"/>
            <a:headEnd/>
            <a:tailEnd/>
          </a:ln>
        </p:spPr>
        <p:txBody>
          <a:bodyPr lIns="0" rIns="18288"/>
          <a:lstStyle/>
          <a:p>
            <a:pPr>
              <a:spcBef>
                <a:spcPts val="600"/>
              </a:spcBef>
              <a:spcAft>
                <a:spcPts val="600"/>
              </a:spcAft>
              <a:defRPr/>
            </a:pPr>
            <a:r>
              <a:rPr lang="en-US" sz="3200" b="1" dirty="0">
                <a:solidFill>
                  <a:srgbClr val="0070C0"/>
                </a:solidFill>
                <a:latin typeface="Times New Roman" pitchFamily="18" charset="0"/>
                <a:cs typeface="Times New Roman" pitchFamily="18" charset="0"/>
              </a:rPr>
              <a:t>6.1. </a:t>
            </a:r>
            <a:r>
              <a:rPr lang="en-US" sz="3200" b="1" dirty="0" err="1">
                <a:solidFill>
                  <a:srgbClr val="0070C0"/>
                </a:solidFill>
                <a:latin typeface="Times New Roman" pitchFamily="18" charset="0"/>
                <a:cs typeface="Times New Roman" pitchFamily="18" charset="0"/>
              </a:rPr>
              <a:t>Khí</a:t>
            </a:r>
            <a:r>
              <a:rPr lang="en-US" sz="3200" b="1" dirty="0">
                <a:solidFill>
                  <a:srgbClr val="0070C0"/>
                </a:solidFill>
                <a:latin typeface="Times New Roman" pitchFamily="18" charset="0"/>
                <a:cs typeface="Times New Roman" pitchFamily="18" charset="0"/>
              </a:rPr>
              <a:t> </a:t>
            </a:r>
            <a:r>
              <a:rPr lang="en-US" sz="3200" b="1" dirty="0" err="1">
                <a:solidFill>
                  <a:srgbClr val="0070C0"/>
                </a:solidFill>
                <a:latin typeface="Times New Roman" pitchFamily="18" charset="0"/>
                <a:cs typeface="Times New Roman" pitchFamily="18" charset="0"/>
              </a:rPr>
              <a:t>lí</a:t>
            </a:r>
            <a:r>
              <a:rPr lang="en-US" sz="3200" b="1" dirty="0">
                <a:solidFill>
                  <a:srgbClr val="0070C0"/>
                </a:solidFill>
                <a:latin typeface="Times New Roman" pitchFamily="18" charset="0"/>
                <a:cs typeface="Times New Roman" pitchFamily="18" charset="0"/>
              </a:rPr>
              <a:t> </a:t>
            </a:r>
            <a:r>
              <a:rPr lang="en-US" sz="3200" b="1" dirty="0" err="1">
                <a:solidFill>
                  <a:srgbClr val="0070C0"/>
                </a:solidFill>
                <a:latin typeface="Times New Roman" pitchFamily="18" charset="0"/>
                <a:cs typeface="Times New Roman" pitchFamily="18" charset="0"/>
              </a:rPr>
              <a:t>tưởng</a:t>
            </a:r>
            <a:endParaRPr lang="en-US" sz="3200" dirty="0">
              <a:solidFill>
                <a:srgbClr val="0070C0"/>
              </a:solidFill>
              <a:latin typeface="Times New Roman" pitchFamily="18" charset="0"/>
              <a:cs typeface="Times New Roman" pitchFamily="18" charset="0"/>
            </a:endParaRPr>
          </a:p>
          <a:p>
            <a:pPr>
              <a:spcBef>
                <a:spcPts val="600"/>
              </a:spcBef>
              <a:spcAft>
                <a:spcPts val="600"/>
              </a:spcAft>
              <a:defRPr/>
            </a:pPr>
            <a:r>
              <a:rPr lang="en-US" sz="3200" b="1" dirty="0">
                <a:solidFill>
                  <a:srgbClr val="0070C0"/>
                </a:solidFill>
                <a:latin typeface="Times New Roman" pitchFamily="18" charset="0"/>
                <a:cs typeface="Times New Roman" pitchFamily="18" charset="0"/>
              </a:rPr>
              <a:t>6.2. </a:t>
            </a:r>
            <a:r>
              <a:rPr lang="en-US" sz="3200" b="1" dirty="0" err="1">
                <a:solidFill>
                  <a:srgbClr val="0070C0"/>
                </a:solidFill>
                <a:latin typeface="Times New Roman" pitchFamily="18" charset="0"/>
                <a:cs typeface="Times New Roman" pitchFamily="18" charset="0"/>
              </a:rPr>
              <a:t>Nguyên</a:t>
            </a:r>
            <a:r>
              <a:rPr lang="en-US" sz="3200" b="1" dirty="0">
                <a:solidFill>
                  <a:srgbClr val="0070C0"/>
                </a:solidFill>
                <a:latin typeface="Times New Roman" pitchFamily="18" charset="0"/>
                <a:cs typeface="Times New Roman" pitchFamily="18" charset="0"/>
              </a:rPr>
              <a:t> </a:t>
            </a:r>
            <a:r>
              <a:rPr lang="en-US" sz="3200" b="1" dirty="0" err="1">
                <a:solidFill>
                  <a:srgbClr val="0070C0"/>
                </a:solidFill>
                <a:latin typeface="Times New Roman" pitchFamily="18" charset="0"/>
                <a:cs typeface="Times New Roman" pitchFamily="18" charset="0"/>
              </a:rPr>
              <a:t>lý</a:t>
            </a:r>
            <a:r>
              <a:rPr lang="en-US" sz="3200" b="1" dirty="0">
                <a:solidFill>
                  <a:srgbClr val="0070C0"/>
                </a:solidFill>
                <a:latin typeface="Times New Roman" pitchFamily="18" charset="0"/>
                <a:cs typeface="Times New Roman" pitchFamily="18" charset="0"/>
              </a:rPr>
              <a:t> </a:t>
            </a:r>
            <a:r>
              <a:rPr lang="en-US" sz="3200" b="1" dirty="0" err="1">
                <a:solidFill>
                  <a:srgbClr val="0070C0"/>
                </a:solidFill>
                <a:latin typeface="Times New Roman" pitchFamily="18" charset="0"/>
                <a:cs typeface="Times New Roman" pitchFamily="18" charset="0"/>
              </a:rPr>
              <a:t>thứNguyên</a:t>
            </a:r>
            <a:r>
              <a:rPr lang="en-US" sz="3200" b="1" dirty="0">
                <a:solidFill>
                  <a:srgbClr val="0070C0"/>
                </a:solidFill>
                <a:latin typeface="Times New Roman" pitchFamily="18" charset="0"/>
                <a:cs typeface="Times New Roman" pitchFamily="18" charset="0"/>
              </a:rPr>
              <a:t> </a:t>
            </a:r>
            <a:r>
              <a:rPr lang="en-US" sz="3200" b="1" dirty="0" err="1">
                <a:solidFill>
                  <a:srgbClr val="0070C0"/>
                </a:solidFill>
                <a:latin typeface="Times New Roman" pitchFamily="18" charset="0"/>
                <a:cs typeface="Times New Roman" pitchFamily="18" charset="0"/>
              </a:rPr>
              <a:t>lý</a:t>
            </a:r>
            <a:r>
              <a:rPr lang="en-US" sz="3200" b="1" dirty="0">
                <a:solidFill>
                  <a:srgbClr val="0070C0"/>
                </a:solidFill>
                <a:latin typeface="Times New Roman" pitchFamily="18" charset="0"/>
                <a:cs typeface="Times New Roman" pitchFamily="18" charset="0"/>
              </a:rPr>
              <a:t> </a:t>
            </a:r>
            <a:r>
              <a:rPr lang="en-US" sz="3200" b="1" dirty="0" err="1">
                <a:solidFill>
                  <a:srgbClr val="0070C0"/>
                </a:solidFill>
                <a:latin typeface="Times New Roman" pitchFamily="18" charset="0"/>
                <a:cs typeface="Times New Roman" pitchFamily="18" charset="0"/>
              </a:rPr>
              <a:t>thứ</a:t>
            </a:r>
            <a:r>
              <a:rPr lang="en-US" sz="3200" b="1" dirty="0">
                <a:solidFill>
                  <a:srgbClr val="0070C0"/>
                </a:solidFill>
                <a:latin typeface="Times New Roman" pitchFamily="18" charset="0"/>
                <a:cs typeface="Times New Roman" pitchFamily="18" charset="0"/>
              </a:rPr>
              <a:t> I </a:t>
            </a:r>
            <a:r>
              <a:rPr lang="en-US" sz="3200" b="1" dirty="0" err="1">
                <a:solidFill>
                  <a:srgbClr val="0070C0"/>
                </a:solidFill>
                <a:latin typeface="Times New Roman" pitchFamily="18" charset="0"/>
                <a:cs typeface="Times New Roman" pitchFamily="18" charset="0"/>
              </a:rPr>
              <a:t>nhiệt</a:t>
            </a:r>
            <a:r>
              <a:rPr lang="en-US" sz="3200" b="1" dirty="0">
                <a:solidFill>
                  <a:srgbClr val="0070C0"/>
                </a:solidFill>
                <a:latin typeface="Times New Roman" pitchFamily="18" charset="0"/>
                <a:cs typeface="Times New Roman" pitchFamily="18" charset="0"/>
              </a:rPr>
              <a:t> </a:t>
            </a:r>
            <a:r>
              <a:rPr lang="en-US" sz="3200" b="1" dirty="0" err="1">
                <a:solidFill>
                  <a:srgbClr val="0070C0"/>
                </a:solidFill>
                <a:latin typeface="Times New Roman" pitchFamily="18" charset="0"/>
                <a:cs typeface="Times New Roman" pitchFamily="18" charset="0"/>
              </a:rPr>
              <a:t>động</a:t>
            </a:r>
            <a:r>
              <a:rPr lang="en-US" sz="3200" b="1" dirty="0">
                <a:solidFill>
                  <a:srgbClr val="0070C0"/>
                </a:solidFill>
                <a:latin typeface="Times New Roman" pitchFamily="18" charset="0"/>
                <a:cs typeface="Times New Roman" pitchFamily="18" charset="0"/>
              </a:rPr>
              <a:t> </a:t>
            </a:r>
            <a:r>
              <a:rPr lang="en-US" sz="3200" b="1" dirty="0" err="1">
                <a:solidFill>
                  <a:srgbClr val="0070C0"/>
                </a:solidFill>
                <a:latin typeface="Times New Roman" pitchFamily="18" charset="0"/>
                <a:cs typeface="Times New Roman" pitchFamily="18" charset="0"/>
              </a:rPr>
              <a:t>học</a:t>
            </a:r>
            <a:endParaRPr lang="en-US" sz="3200" b="1" dirty="0">
              <a:solidFill>
                <a:srgbClr val="0070C0"/>
              </a:solidFill>
              <a:latin typeface="Times New Roman" pitchFamily="18" charset="0"/>
              <a:cs typeface="Times New Roman" pitchFamily="18" charset="0"/>
            </a:endParaRPr>
          </a:p>
          <a:p>
            <a:pPr algn="just">
              <a:spcBef>
                <a:spcPts val="600"/>
              </a:spcBef>
              <a:spcAft>
                <a:spcPts val="600"/>
              </a:spcAft>
              <a:defRPr/>
            </a:pPr>
            <a:r>
              <a:rPr lang="en-US" sz="3200" b="1" dirty="0">
                <a:solidFill>
                  <a:srgbClr val="0070C0"/>
                </a:solidFill>
                <a:latin typeface="Times New Roman" pitchFamily="18" charset="0"/>
                <a:cs typeface="Times New Roman" pitchFamily="18" charset="0"/>
              </a:rPr>
              <a:t>6.3. </a:t>
            </a:r>
            <a:r>
              <a:rPr lang="en-US" sz="3200" b="1" dirty="0" err="1">
                <a:solidFill>
                  <a:srgbClr val="0070C0"/>
                </a:solidFill>
                <a:latin typeface="Times New Roman" pitchFamily="18" charset="0"/>
                <a:cs typeface="Times New Roman" pitchFamily="18" charset="0"/>
              </a:rPr>
              <a:t>Nguyên</a:t>
            </a:r>
            <a:r>
              <a:rPr lang="en-US" sz="3200" b="1" dirty="0">
                <a:solidFill>
                  <a:srgbClr val="0070C0"/>
                </a:solidFill>
                <a:latin typeface="Times New Roman" pitchFamily="18" charset="0"/>
                <a:cs typeface="Times New Roman" pitchFamily="18" charset="0"/>
              </a:rPr>
              <a:t> </a:t>
            </a:r>
            <a:r>
              <a:rPr lang="en-US" sz="3200" b="1" dirty="0" err="1">
                <a:solidFill>
                  <a:srgbClr val="0070C0"/>
                </a:solidFill>
                <a:latin typeface="Times New Roman" pitchFamily="18" charset="0"/>
                <a:cs typeface="Times New Roman" pitchFamily="18" charset="0"/>
              </a:rPr>
              <a:t>lý</a:t>
            </a:r>
            <a:r>
              <a:rPr lang="en-US" sz="3200" b="1" dirty="0">
                <a:solidFill>
                  <a:srgbClr val="0070C0"/>
                </a:solidFill>
                <a:latin typeface="Times New Roman" pitchFamily="18" charset="0"/>
                <a:cs typeface="Times New Roman" pitchFamily="18" charset="0"/>
              </a:rPr>
              <a:t> </a:t>
            </a:r>
            <a:r>
              <a:rPr lang="en-US" sz="3200" b="1" dirty="0" err="1">
                <a:solidFill>
                  <a:srgbClr val="0070C0"/>
                </a:solidFill>
                <a:latin typeface="Times New Roman" pitchFamily="18" charset="0"/>
                <a:cs typeface="Times New Roman" pitchFamily="18" charset="0"/>
              </a:rPr>
              <a:t>thứ</a:t>
            </a:r>
            <a:r>
              <a:rPr lang="en-US" sz="3200" b="1" dirty="0">
                <a:solidFill>
                  <a:srgbClr val="0070C0"/>
                </a:solidFill>
                <a:latin typeface="Times New Roman" pitchFamily="18" charset="0"/>
                <a:cs typeface="Times New Roman" pitchFamily="18" charset="0"/>
              </a:rPr>
              <a:t> II </a:t>
            </a:r>
            <a:r>
              <a:rPr lang="en-US" sz="3200" b="1" dirty="0" err="1">
                <a:solidFill>
                  <a:srgbClr val="0070C0"/>
                </a:solidFill>
                <a:latin typeface="Times New Roman" pitchFamily="18" charset="0"/>
                <a:cs typeface="Times New Roman" pitchFamily="18" charset="0"/>
              </a:rPr>
              <a:t>nhiệt</a:t>
            </a:r>
            <a:r>
              <a:rPr lang="en-US" sz="3200" b="1" dirty="0">
                <a:solidFill>
                  <a:srgbClr val="0070C0"/>
                </a:solidFill>
                <a:latin typeface="Times New Roman" pitchFamily="18" charset="0"/>
                <a:cs typeface="Times New Roman" pitchFamily="18" charset="0"/>
              </a:rPr>
              <a:t> </a:t>
            </a:r>
            <a:r>
              <a:rPr lang="en-US" sz="3200" b="1" dirty="0" err="1">
                <a:solidFill>
                  <a:srgbClr val="0070C0"/>
                </a:solidFill>
                <a:latin typeface="Times New Roman" pitchFamily="18" charset="0"/>
                <a:cs typeface="Times New Roman" pitchFamily="18" charset="0"/>
              </a:rPr>
              <a:t>động</a:t>
            </a:r>
            <a:r>
              <a:rPr lang="en-US" sz="3200" b="1" dirty="0">
                <a:solidFill>
                  <a:srgbClr val="0070C0"/>
                </a:solidFill>
                <a:latin typeface="Times New Roman" pitchFamily="18" charset="0"/>
                <a:cs typeface="Times New Roman" pitchFamily="18" charset="0"/>
              </a:rPr>
              <a:t> </a:t>
            </a:r>
            <a:r>
              <a:rPr lang="en-US" sz="3200" b="1" dirty="0" err="1">
                <a:solidFill>
                  <a:srgbClr val="0070C0"/>
                </a:solidFill>
                <a:latin typeface="Times New Roman" pitchFamily="18" charset="0"/>
                <a:cs typeface="Times New Roman" pitchFamily="18" charset="0"/>
              </a:rPr>
              <a:t>học</a:t>
            </a:r>
            <a:endParaRPr lang="en-US" sz="3200" b="1" dirty="0">
              <a:solidFill>
                <a:srgbClr val="0070C0"/>
              </a:solidFill>
              <a:latin typeface="Times New Roman" pitchFamily="18" charset="0"/>
              <a:cs typeface="Times New Roman" pitchFamily="18" charset="0"/>
            </a:endParaRPr>
          </a:p>
          <a:p>
            <a:pPr algn="just" fontAlgn="auto">
              <a:spcBef>
                <a:spcPts val="600"/>
              </a:spcBef>
              <a:spcAft>
                <a:spcPts val="600"/>
              </a:spcAft>
              <a:defRPr/>
            </a:pPr>
            <a:r>
              <a:rPr lang="en-US" sz="3200" b="1" dirty="0">
                <a:solidFill>
                  <a:srgbClr val="C00000"/>
                </a:solidFill>
                <a:latin typeface="Times New Roman" pitchFamily="18" charset="0"/>
                <a:cs typeface="Times New Roman" pitchFamily="18" charset="0"/>
              </a:rPr>
              <a:t>	</a:t>
            </a:r>
          </a:p>
          <a:p>
            <a:pPr algn="just" fontAlgn="auto">
              <a:spcBef>
                <a:spcPts val="600"/>
              </a:spcBef>
              <a:spcAft>
                <a:spcPts val="600"/>
              </a:spcAft>
              <a:defRPr/>
            </a:pPr>
            <a:endParaRPr lang="en-US" sz="3200" b="1" dirty="0">
              <a:solidFill>
                <a:srgbClr val="C00000"/>
              </a:solidFill>
              <a:latin typeface="Times New Roman" pitchFamily="18" charset="0"/>
              <a:cs typeface="Times New Roman" pitchFamily="18" charset="0"/>
            </a:endParaRPr>
          </a:p>
          <a:p>
            <a:pPr algn="just" fontAlgn="auto">
              <a:spcBef>
                <a:spcPts val="600"/>
              </a:spcBef>
              <a:spcAft>
                <a:spcPts val="600"/>
              </a:spcAft>
              <a:buClr>
                <a:srgbClr val="0BD0D9"/>
              </a:buClr>
              <a:buSzPct val="95000"/>
              <a:defRPr/>
            </a:pPr>
            <a:r>
              <a:rPr lang="en-US" sz="3200" b="1" dirty="0">
                <a:solidFill>
                  <a:srgbClr val="C00000"/>
                </a:solidFill>
                <a:latin typeface="Times New Roman" pitchFamily="18" charset="0"/>
                <a:cs typeface="Times New Roman" pitchFamily="18" charset="0"/>
              </a:rPr>
              <a:t> </a:t>
            </a:r>
          </a:p>
        </p:txBody>
      </p:sp>
      <p:sp>
        <p:nvSpPr>
          <p:cNvPr id="2" name="Footer Placeholder 1">
            <a:extLst>
              <a:ext uri="{FF2B5EF4-FFF2-40B4-BE49-F238E27FC236}">
                <a16:creationId xmlns:a16="http://schemas.microsoft.com/office/drawing/2014/main" id="{9FE20926-4EBD-D34B-730D-EB918857BB97}"/>
              </a:ext>
            </a:extLst>
          </p:cNvPr>
          <p:cNvSpPr>
            <a:spLocks noGrp="1"/>
          </p:cNvSpPr>
          <p:nvPr>
            <p:ph type="ftr" sz="quarter" idx="11"/>
          </p:nvPr>
        </p:nvSpPr>
        <p:spPr/>
        <p:txBody>
          <a:bodyPr/>
          <a:lstStyle/>
          <a:p>
            <a:r>
              <a:rPr lang="en-US" dirty="0" err="1"/>
              <a:t>Bùi</a:t>
            </a:r>
            <a:r>
              <a:rPr lang="en-US" dirty="0"/>
              <a:t> </a:t>
            </a:r>
            <a:r>
              <a:rPr lang="en-US" dirty="0" err="1"/>
              <a:t>Quốc</a:t>
            </a:r>
            <a:r>
              <a:rPr lang="en-US" dirty="0"/>
              <a:t> </a:t>
            </a:r>
            <a:r>
              <a:rPr lang="en-US" dirty="0" err="1"/>
              <a:t>Trung</a:t>
            </a:r>
            <a:r>
              <a:rPr lang="en-US" dirty="0"/>
              <a:t> - VLDC</a:t>
            </a:r>
          </a:p>
        </p:txBody>
      </p:sp>
      <p:sp>
        <p:nvSpPr>
          <p:cNvPr id="3" name="Slide Number Placeholder 2">
            <a:extLst>
              <a:ext uri="{FF2B5EF4-FFF2-40B4-BE49-F238E27FC236}">
                <a16:creationId xmlns:a16="http://schemas.microsoft.com/office/drawing/2014/main" id="{C864A49E-76C7-DCDA-E41C-B833974C2327}"/>
              </a:ext>
            </a:extLst>
          </p:cNvPr>
          <p:cNvSpPr>
            <a:spLocks noGrp="1"/>
          </p:cNvSpPr>
          <p:nvPr>
            <p:ph type="sldNum" sz="quarter" idx="12"/>
          </p:nvPr>
        </p:nvSpPr>
        <p:spPr/>
        <p:txBody>
          <a:bodyPr/>
          <a:lstStyle/>
          <a:p>
            <a:fld id="{0C173468-4CCE-478A-9725-791AF0DB04F2}" type="slidenum">
              <a:rPr lang="en-US" smtClean="0"/>
              <a:t>2</a:t>
            </a:fld>
            <a:endParaRPr lang="en-US"/>
          </a:p>
        </p:txBody>
      </p:sp>
    </p:spTree>
    <p:extLst>
      <p:ext uri="{BB962C8B-B14F-4D97-AF65-F5344CB8AC3E}">
        <p14:creationId xmlns:p14="http://schemas.microsoft.com/office/powerpoint/2010/main" val="27871497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8"/>
          <p:cNvGrpSpPr>
            <a:grpSpLocks/>
          </p:cNvGrpSpPr>
          <p:nvPr/>
        </p:nvGrpSpPr>
        <p:grpSpPr bwMode="auto">
          <a:xfrm>
            <a:off x="1447800" y="219749"/>
            <a:ext cx="6629400" cy="770899"/>
            <a:chOff x="1310" y="1392"/>
            <a:chExt cx="5073" cy="4887"/>
          </a:xfrm>
        </p:grpSpPr>
        <p:pic>
          <p:nvPicPr>
            <p:cNvPr id="8205"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5073" cy="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14"/>
            <p:cNvSpPr txBox="1">
              <a:spLocks noChangeArrowheads="1"/>
            </p:cNvSpPr>
            <p:nvPr/>
          </p:nvSpPr>
          <p:spPr bwMode="auto">
            <a:xfrm>
              <a:off x="1835" y="1676"/>
              <a:ext cx="4140" cy="3759"/>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wrap="square">
              <a:spAutoFit/>
            </a:bodyPr>
            <a:lstStyle/>
            <a:p>
              <a:pPr algn="ctr">
                <a:spcBef>
                  <a:spcPts val="600"/>
                </a:spcBef>
                <a:spcAft>
                  <a:spcPts val="600"/>
                </a:spcAft>
                <a:defRPr/>
              </a:pPr>
              <a:r>
                <a:rPr lang="en-US" sz="2800" b="1" i="1" dirty="0">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800" b="1" dirty="0">
                  <a:solidFill>
                    <a:srgbClr val="FF0000"/>
                  </a:solidFill>
                  <a:latin typeface="Times New Roman" pitchFamily="18" charset="0"/>
                  <a:cs typeface="Times New Roman" pitchFamily="18" charset="0"/>
                </a:rPr>
                <a:t>6.1. </a:t>
              </a:r>
              <a:r>
                <a:rPr lang="en-US" sz="2800" b="1" dirty="0" err="1">
                  <a:solidFill>
                    <a:srgbClr val="FF0000"/>
                  </a:solidFill>
                  <a:latin typeface="Times New Roman" pitchFamily="18" charset="0"/>
                  <a:cs typeface="Times New Roman" pitchFamily="18" charset="0"/>
                </a:rPr>
                <a:t>Khí</a:t>
              </a:r>
              <a:r>
                <a:rPr lang="en-US" sz="2800" b="1" dirty="0">
                  <a:solidFill>
                    <a:srgbClr val="FF0000"/>
                  </a:solidFill>
                  <a:latin typeface="Times New Roman" pitchFamily="18" charset="0"/>
                  <a:cs typeface="Times New Roman" pitchFamily="18" charset="0"/>
                </a:rPr>
                <a:t> </a:t>
              </a:r>
              <a:r>
                <a:rPr lang="en-US" sz="2800" b="1" dirty="0" err="1">
                  <a:solidFill>
                    <a:srgbClr val="FF0000"/>
                  </a:solidFill>
                  <a:latin typeface="Times New Roman" pitchFamily="18" charset="0"/>
                  <a:cs typeface="Times New Roman" pitchFamily="18" charset="0"/>
                </a:rPr>
                <a:t>lí</a:t>
              </a:r>
              <a:r>
                <a:rPr lang="en-US" sz="2800" b="1" dirty="0">
                  <a:solidFill>
                    <a:srgbClr val="FF0000"/>
                  </a:solidFill>
                  <a:latin typeface="Times New Roman" pitchFamily="18" charset="0"/>
                  <a:cs typeface="Times New Roman" pitchFamily="18" charset="0"/>
                </a:rPr>
                <a:t> </a:t>
              </a:r>
              <a:r>
                <a:rPr lang="en-US" sz="2800" b="1" dirty="0" err="1">
                  <a:solidFill>
                    <a:srgbClr val="FF0000"/>
                  </a:solidFill>
                  <a:latin typeface="Times New Roman" pitchFamily="18" charset="0"/>
                  <a:cs typeface="Times New Roman" pitchFamily="18" charset="0"/>
                </a:rPr>
                <a:t>tưởng</a:t>
              </a:r>
              <a:endParaRPr lang="en-US" sz="2800" dirty="0">
                <a:solidFill>
                  <a:srgbClr val="FF0000"/>
                </a:solidFill>
                <a:latin typeface="Times New Roman" pitchFamily="18" charset="0"/>
                <a:cs typeface="Times New Roman" pitchFamily="18" charset="0"/>
              </a:endParaRPr>
            </a:p>
            <a:p>
              <a:pPr algn="just" fontAlgn="auto">
                <a:spcBef>
                  <a:spcPts val="600"/>
                </a:spcBef>
                <a:spcAft>
                  <a:spcPts val="600"/>
                </a:spcAft>
                <a:defRPr/>
              </a:pPr>
              <a:r>
                <a:rPr lang="en-US" sz="2800" b="1" dirty="0">
                  <a:solidFill>
                    <a:srgbClr val="C00000"/>
                  </a:solidFill>
                  <a:latin typeface="Times New Roman" pitchFamily="18" charset="0"/>
                  <a:cs typeface="Times New Roman" pitchFamily="18" charset="0"/>
                </a:rPr>
                <a:t> </a:t>
              </a:r>
            </a:p>
          </p:txBody>
        </p:sp>
      </p:grpSp>
      <p:sp>
        <p:nvSpPr>
          <p:cNvPr id="8195" name="Rectangle 16"/>
          <p:cNvSpPr>
            <a:spLocks noChangeArrowheads="1"/>
          </p:cNvSpPr>
          <p:nvPr/>
        </p:nvSpPr>
        <p:spPr bwMode="auto">
          <a:xfrm>
            <a:off x="7543800" y="6596063"/>
            <a:ext cx="1676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just"/>
            <a:endParaRPr lang="en-US" sz="1100" b="1">
              <a:solidFill>
                <a:srgbClr val="002060"/>
              </a:solidFill>
              <a:latin typeface="Times New Roman" pitchFamily="18" charset="0"/>
              <a:cs typeface="Times New Roman" pitchFamily="18" charset="0"/>
            </a:endParaRPr>
          </a:p>
        </p:txBody>
      </p:sp>
      <p:sp>
        <p:nvSpPr>
          <p:cNvPr id="13316" name="Rectangle 39"/>
          <p:cNvSpPr>
            <a:spLocks noChangeArrowheads="1"/>
          </p:cNvSpPr>
          <p:nvPr/>
        </p:nvSpPr>
        <p:spPr bwMode="auto">
          <a:xfrm>
            <a:off x="533400" y="1752600"/>
            <a:ext cx="8382000" cy="954088"/>
          </a:xfrm>
          <a:prstGeom prst="rect">
            <a:avLst/>
          </a:prstGeom>
          <a:noFill/>
          <a:ln w="9525">
            <a:noFill/>
            <a:miter lim="800000"/>
            <a:headEnd/>
            <a:tailEnd/>
          </a:ln>
        </p:spPr>
        <p:txBody>
          <a:bodyPr>
            <a:spAutoFit/>
          </a:bodyPr>
          <a:lstStyle/>
          <a:p>
            <a:pPr algn="just">
              <a:defRPr/>
            </a:pPr>
            <a:r>
              <a:rPr lang="vi-VN" sz="2800" b="1">
                <a:solidFill>
                  <a:srgbClr val="002060"/>
                </a:solidFill>
                <a:latin typeface="+mj-lt"/>
              </a:rPr>
              <a:t>Vật chất được cấu tạo gián đoạn từ những hạt rất nhỏ, gọi là phân tử.</a:t>
            </a:r>
            <a:endParaRPr lang="en-US" sz="2800" b="1">
              <a:solidFill>
                <a:srgbClr val="002060"/>
              </a:solidFill>
              <a:latin typeface="+mj-lt"/>
            </a:endParaRPr>
          </a:p>
        </p:txBody>
      </p:sp>
      <p:sp>
        <p:nvSpPr>
          <p:cNvPr id="13317" name="Rectangle 46"/>
          <p:cNvSpPr>
            <a:spLocks noChangeArrowheads="1"/>
          </p:cNvSpPr>
          <p:nvPr/>
        </p:nvSpPr>
        <p:spPr bwMode="auto">
          <a:xfrm>
            <a:off x="533400" y="3008313"/>
            <a:ext cx="8382000" cy="523875"/>
          </a:xfrm>
          <a:prstGeom prst="rect">
            <a:avLst/>
          </a:prstGeom>
          <a:noFill/>
          <a:ln w="9525">
            <a:noFill/>
            <a:miter lim="800000"/>
            <a:headEnd/>
            <a:tailEnd/>
          </a:ln>
        </p:spPr>
        <p:txBody>
          <a:bodyPr>
            <a:spAutoFit/>
          </a:bodyPr>
          <a:lstStyle/>
          <a:p>
            <a:pPr algn="just">
              <a:defRPr/>
            </a:pPr>
            <a:r>
              <a:rPr lang="vi-VN" sz="2800" b="1" dirty="0">
                <a:solidFill>
                  <a:srgbClr val="002060"/>
                </a:solidFill>
                <a:latin typeface="+mj-lt"/>
              </a:rPr>
              <a:t>Các phân tử chuyển động hỗn loạn không ngừng.</a:t>
            </a:r>
            <a:endParaRPr lang="en-US" sz="2800" b="1" dirty="0">
              <a:solidFill>
                <a:srgbClr val="002060"/>
              </a:solidFill>
              <a:latin typeface="+mj-lt"/>
            </a:endParaRPr>
          </a:p>
        </p:txBody>
      </p:sp>
      <p:sp>
        <p:nvSpPr>
          <p:cNvPr id="13318" name="Rectangle 47"/>
          <p:cNvSpPr>
            <a:spLocks noChangeArrowheads="1"/>
          </p:cNvSpPr>
          <p:nvPr/>
        </p:nvSpPr>
        <p:spPr bwMode="auto">
          <a:xfrm>
            <a:off x="533400" y="3922713"/>
            <a:ext cx="8382000" cy="954087"/>
          </a:xfrm>
          <a:prstGeom prst="rect">
            <a:avLst/>
          </a:prstGeom>
          <a:noFill/>
          <a:ln w="9525">
            <a:noFill/>
            <a:miter lim="800000"/>
            <a:headEnd/>
            <a:tailEnd/>
          </a:ln>
        </p:spPr>
        <p:txBody>
          <a:bodyPr>
            <a:spAutoFit/>
          </a:bodyPr>
          <a:lstStyle/>
          <a:p>
            <a:pPr algn="just">
              <a:defRPr/>
            </a:pPr>
            <a:r>
              <a:rPr lang="vi-VN" sz="2800" b="1">
                <a:solidFill>
                  <a:srgbClr val="002060"/>
                </a:solidFill>
                <a:latin typeface="+mj-lt"/>
              </a:rPr>
              <a:t>Các phân tử tương tác với nhau bằng các lực hút và lực đẩy</a:t>
            </a:r>
            <a:endParaRPr lang="en-US" sz="2800" b="1">
              <a:solidFill>
                <a:srgbClr val="002060"/>
              </a:solidFill>
              <a:latin typeface="+mj-lt"/>
            </a:endParaRPr>
          </a:p>
        </p:txBody>
      </p:sp>
      <p:sp>
        <p:nvSpPr>
          <p:cNvPr id="13319" name="Rectangle 48"/>
          <p:cNvSpPr>
            <a:spLocks noChangeArrowheads="1"/>
          </p:cNvSpPr>
          <p:nvPr/>
        </p:nvSpPr>
        <p:spPr bwMode="auto">
          <a:xfrm>
            <a:off x="533400" y="5218113"/>
            <a:ext cx="8382000" cy="954087"/>
          </a:xfrm>
          <a:prstGeom prst="rect">
            <a:avLst/>
          </a:prstGeom>
          <a:noFill/>
          <a:ln w="9525">
            <a:noFill/>
            <a:miter lim="800000"/>
            <a:headEnd/>
            <a:tailEnd/>
          </a:ln>
        </p:spPr>
        <p:txBody>
          <a:bodyPr>
            <a:spAutoFit/>
          </a:bodyPr>
          <a:lstStyle/>
          <a:p>
            <a:pPr algn="just">
              <a:defRPr/>
            </a:pPr>
            <a:r>
              <a:rPr lang="vi-VN" sz="2800" b="1">
                <a:solidFill>
                  <a:srgbClr val="002060"/>
                </a:solidFill>
                <a:latin typeface="+mj-lt"/>
              </a:rPr>
              <a:t>Chuyển động và tương tác của các phân tử tuân theo các định luật cơ học của Newton</a:t>
            </a:r>
            <a:endParaRPr lang="en-US" sz="2800" b="1">
              <a:solidFill>
                <a:srgbClr val="002060"/>
              </a:solidFill>
              <a:latin typeface="+mj-lt"/>
            </a:endParaRPr>
          </a:p>
        </p:txBody>
      </p:sp>
      <p:sp>
        <p:nvSpPr>
          <p:cNvPr id="11" name="Rectangle 24"/>
          <p:cNvSpPr>
            <a:spLocks noChangeArrowheads="1"/>
          </p:cNvSpPr>
          <p:nvPr/>
        </p:nvSpPr>
        <p:spPr bwMode="auto">
          <a:xfrm>
            <a:off x="63500" y="1763713"/>
            <a:ext cx="4699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r>
              <a:rPr lang="en-US" sz="2800" b="1">
                <a:solidFill>
                  <a:srgbClr val="002060"/>
                </a:solidFill>
                <a:latin typeface="Times New Roman" pitchFamily="18" charset="0"/>
                <a:sym typeface="Wingdings" pitchFamily="2" charset="2"/>
              </a:rPr>
              <a:t></a:t>
            </a:r>
            <a:endParaRPr lang="en-US" sz="2800" b="1">
              <a:solidFill>
                <a:srgbClr val="002060"/>
              </a:solidFill>
            </a:endParaRPr>
          </a:p>
        </p:txBody>
      </p:sp>
      <p:sp>
        <p:nvSpPr>
          <p:cNvPr id="12" name="Rectangle 25"/>
          <p:cNvSpPr>
            <a:spLocks noChangeArrowheads="1"/>
          </p:cNvSpPr>
          <p:nvPr/>
        </p:nvSpPr>
        <p:spPr bwMode="auto">
          <a:xfrm>
            <a:off x="63500" y="2971800"/>
            <a:ext cx="4699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r>
              <a:rPr lang="en-US" sz="2800" b="1">
                <a:solidFill>
                  <a:srgbClr val="002060"/>
                </a:solidFill>
                <a:latin typeface="Times New Roman" pitchFamily="18" charset="0"/>
                <a:sym typeface="Wingdings" pitchFamily="2" charset="2"/>
              </a:rPr>
              <a:t></a:t>
            </a:r>
            <a:endParaRPr lang="en-US" sz="2800" b="1">
              <a:solidFill>
                <a:srgbClr val="002060"/>
              </a:solidFill>
            </a:endParaRPr>
          </a:p>
        </p:txBody>
      </p:sp>
      <p:sp>
        <p:nvSpPr>
          <p:cNvPr id="13" name="Rectangle 24"/>
          <p:cNvSpPr>
            <a:spLocks noChangeArrowheads="1"/>
          </p:cNvSpPr>
          <p:nvPr/>
        </p:nvSpPr>
        <p:spPr bwMode="auto">
          <a:xfrm>
            <a:off x="63500" y="3933825"/>
            <a:ext cx="4699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r>
              <a:rPr lang="en-US" sz="2800" b="1">
                <a:solidFill>
                  <a:srgbClr val="002060"/>
                </a:solidFill>
                <a:latin typeface="Times New Roman" pitchFamily="18" charset="0"/>
                <a:sym typeface="Wingdings" pitchFamily="2" charset="2"/>
              </a:rPr>
              <a:t></a:t>
            </a:r>
            <a:endParaRPr lang="en-US" sz="2800" b="1">
              <a:solidFill>
                <a:srgbClr val="002060"/>
              </a:solidFill>
            </a:endParaRPr>
          </a:p>
        </p:txBody>
      </p:sp>
      <p:sp>
        <p:nvSpPr>
          <p:cNvPr id="14" name="Rectangle 24"/>
          <p:cNvSpPr>
            <a:spLocks noChangeArrowheads="1"/>
          </p:cNvSpPr>
          <p:nvPr/>
        </p:nvSpPr>
        <p:spPr bwMode="auto">
          <a:xfrm>
            <a:off x="76200" y="5197475"/>
            <a:ext cx="4699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r>
              <a:rPr lang="en-US" sz="2800" b="1">
                <a:solidFill>
                  <a:srgbClr val="002060"/>
                </a:solidFill>
                <a:latin typeface="Times New Roman" pitchFamily="18" charset="0"/>
                <a:sym typeface="Wingdings" pitchFamily="2" charset="2"/>
              </a:rPr>
              <a:t></a:t>
            </a:r>
            <a:endParaRPr lang="en-US" sz="2800" b="1">
              <a:solidFill>
                <a:srgbClr val="002060"/>
              </a:solidFill>
            </a:endParaRPr>
          </a:p>
        </p:txBody>
      </p:sp>
      <p:sp>
        <p:nvSpPr>
          <p:cNvPr id="8204" name="Text Box 14"/>
          <p:cNvSpPr txBox="1">
            <a:spLocks noChangeArrowheads="1"/>
          </p:cNvSpPr>
          <p:nvPr/>
        </p:nvSpPr>
        <p:spPr bwMode="auto">
          <a:xfrm>
            <a:off x="301625" y="990600"/>
            <a:ext cx="4956175" cy="523875"/>
          </a:xfrm>
          <a:prstGeom prst="rect">
            <a:avLst/>
          </a:prstGeom>
          <a:noFill/>
          <a:ln>
            <a:noFill/>
          </a:ln>
          <a:effectLst>
            <a:outerShdw dist="20000" dir="5400000" rotWithShape="0">
              <a:srgbClr val="000000">
                <a:alpha val="37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ts val="1200"/>
              </a:spcBef>
              <a:spcAft>
                <a:spcPts val="1200"/>
              </a:spcAft>
            </a:pPr>
            <a:r>
              <a:rPr lang="en-US" sz="2800" b="1" u="sng">
                <a:solidFill>
                  <a:srgbClr val="FF0000"/>
                </a:solidFill>
                <a:latin typeface="Times New Roman" pitchFamily="18" charset="0"/>
                <a:cs typeface="Times New Roman" pitchFamily="18" charset="0"/>
              </a:rPr>
              <a:t>Thuyết động học phân tử</a:t>
            </a:r>
          </a:p>
        </p:txBody>
      </p:sp>
      <p:sp>
        <p:nvSpPr>
          <p:cNvPr id="3" name="Footer Placeholder 2">
            <a:extLst>
              <a:ext uri="{FF2B5EF4-FFF2-40B4-BE49-F238E27FC236}">
                <a16:creationId xmlns:a16="http://schemas.microsoft.com/office/drawing/2014/main" id="{164522AD-6512-8128-F019-E48BB1C2CF33}"/>
              </a:ext>
            </a:extLst>
          </p:cNvPr>
          <p:cNvSpPr>
            <a:spLocks noGrp="1"/>
          </p:cNvSpPr>
          <p:nvPr>
            <p:ph type="ftr" sz="quarter" idx="11"/>
          </p:nvPr>
        </p:nvSpPr>
        <p:spPr/>
        <p:txBody>
          <a:bodyPr/>
          <a:lstStyle/>
          <a:p>
            <a:r>
              <a:rPr lang="en-US"/>
              <a:t>Bùi Quốc Trung - VLDC</a:t>
            </a:r>
          </a:p>
        </p:txBody>
      </p:sp>
      <p:sp>
        <p:nvSpPr>
          <p:cNvPr id="4" name="Slide Number Placeholder 3">
            <a:extLst>
              <a:ext uri="{FF2B5EF4-FFF2-40B4-BE49-F238E27FC236}">
                <a16:creationId xmlns:a16="http://schemas.microsoft.com/office/drawing/2014/main" id="{5F179DFC-ABED-ABC5-67D5-6F7B0994C95D}"/>
              </a:ext>
            </a:extLst>
          </p:cNvPr>
          <p:cNvSpPr>
            <a:spLocks noGrp="1"/>
          </p:cNvSpPr>
          <p:nvPr>
            <p:ph type="sldNum" sz="quarter" idx="12"/>
          </p:nvPr>
        </p:nvSpPr>
        <p:spPr/>
        <p:txBody>
          <a:bodyPr/>
          <a:lstStyle/>
          <a:p>
            <a:fld id="{0C173468-4CCE-478A-9725-791AF0DB04F2}" type="slidenum">
              <a:rPr lang="en-US" smtClean="0"/>
              <a:t>3</a:t>
            </a:fld>
            <a:endParaRPr lang="en-US"/>
          </a:p>
        </p:txBody>
      </p:sp>
    </p:spTree>
    <p:extLst>
      <p:ext uri="{BB962C8B-B14F-4D97-AF65-F5344CB8AC3E}">
        <p14:creationId xmlns:p14="http://schemas.microsoft.com/office/powerpoint/2010/main" val="732642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3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out)">
                                      <p:cBhvr>
                                        <p:cTn id="7" dur="1000"/>
                                        <p:tgtEl>
                                          <p:spTgt spid="2"/>
                                        </p:tgtEl>
                                      </p:cBhvr>
                                    </p:animEffect>
                                  </p:childTnLst>
                                </p:cTn>
                              </p:par>
                            </p:childTnLst>
                          </p:cTn>
                        </p:par>
                        <p:par>
                          <p:cTn id="8" fill="hold" nodeType="afterGroup">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slide(fromBottom)">
                                      <p:cBhvr>
                                        <p:cTn id="11" dur="1000"/>
                                        <p:tgtEl>
                                          <p:spTgt spid="1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2" presetClass="entr" presetSubtype="4" fill="hold" grpId="0" nodeType="clickEffect">
                                  <p:stCondLst>
                                    <p:cond delay="0"/>
                                  </p:stCondLst>
                                  <p:childTnLst>
                                    <p:set>
                                      <p:cBhvr>
                                        <p:cTn id="15" dur="1" fill="hold">
                                          <p:stCondLst>
                                            <p:cond delay="0"/>
                                          </p:stCondLst>
                                        </p:cTn>
                                        <p:tgtEl>
                                          <p:spTgt spid="13316"/>
                                        </p:tgtEl>
                                        <p:attrNameLst>
                                          <p:attrName>style.visibility</p:attrName>
                                        </p:attrNameLst>
                                      </p:cBhvr>
                                      <p:to>
                                        <p:strVal val="visible"/>
                                      </p:to>
                                    </p:set>
                                    <p:animEffect transition="in" filter="slide(fromBottom)">
                                      <p:cBhvr>
                                        <p:cTn id="16" dur="1000"/>
                                        <p:tgtEl>
                                          <p:spTgt spid="13316"/>
                                        </p:tgtEl>
                                      </p:cBhvr>
                                    </p:animEffect>
                                  </p:childTnLst>
                                </p:cTn>
                              </p:par>
                            </p:childTnLst>
                          </p:cTn>
                        </p:par>
                        <p:par>
                          <p:cTn id="17" fill="hold" nodeType="afterGroup">
                            <p:stCondLst>
                              <p:cond delay="1000"/>
                            </p:stCondLst>
                            <p:childTnLst>
                              <p:par>
                                <p:cTn id="18" presetID="12" presetClass="entr" presetSubtype="4"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slide(fromBottom)">
                                      <p:cBhvr>
                                        <p:cTn id="20" dur="1000"/>
                                        <p:tgtEl>
                                          <p:spTgt spid="1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13317"/>
                                        </p:tgtEl>
                                        <p:attrNameLst>
                                          <p:attrName>style.visibility</p:attrName>
                                        </p:attrNameLst>
                                      </p:cBhvr>
                                      <p:to>
                                        <p:strVal val="visible"/>
                                      </p:to>
                                    </p:set>
                                    <p:animEffect transition="in" filter="slide(fromBottom)">
                                      <p:cBhvr>
                                        <p:cTn id="25" dur="1000"/>
                                        <p:tgtEl>
                                          <p:spTgt spid="13317"/>
                                        </p:tgtEl>
                                      </p:cBhvr>
                                    </p:animEffect>
                                  </p:childTnLst>
                                </p:cTn>
                              </p:par>
                            </p:childTnLst>
                          </p:cTn>
                        </p:par>
                        <p:par>
                          <p:cTn id="26" fill="hold" nodeType="afterGroup">
                            <p:stCondLst>
                              <p:cond delay="1000"/>
                            </p:stCondLst>
                            <p:childTnLst>
                              <p:par>
                                <p:cTn id="27" presetID="12" presetClass="entr" presetSubtype="4" fill="hold" grpId="0" nodeType="after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slide(fromBottom)">
                                      <p:cBhvr>
                                        <p:cTn id="29" dur="1000"/>
                                        <p:tgtEl>
                                          <p:spTgt spid="1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2" presetClass="entr" presetSubtype="4" fill="hold" grpId="0" nodeType="clickEffect">
                                  <p:stCondLst>
                                    <p:cond delay="0"/>
                                  </p:stCondLst>
                                  <p:childTnLst>
                                    <p:set>
                                      <p:cBhvr>
                                        <p:cTn id="33" dur="1" fill="hold">
                                          <p:stCondLst>
                                            <p:cond delay="0"/>
                                          </p:stCondLst>
                                        </p:cTn>
                                        <p:tgtEl>
                                          <p:spTgt spid="13318"/>
                                        </p:tgtEl>
                                        <p:attrNameLst>
                                          <p:attrName>style.visibility</p:attrName>
                                        </p:attrNameLst>
                                      </p:cBhvr>
                                      <p:to>
                                        <p:strVal val="visible"/>
                                      </p:to>
                                    </p:set>
                                    <p:animEffect transition="in" filter="slide(fromBottom)">
                                      <p:cBhvr>
                                        <p:cTn id="34" dur="1000"/>
                                        <p:tgtEl>
                                          <p:spTgt spid="13318"/>
                                        </p:tgtEl>
                                      </p:cBhvr>
                                    </p:animEffect>
                                  </p:childTnLst>
                                </p:cTn>
                              </p:par>
                            </p:childTnLst>
                          </p:cTn>
                        </p:par>
                        <p:par>
                          <p:cTn id="35" fill="hold" nodeType="afterGroup">
                            <p:stCondLst>
                              <p:cond delay="1000"/>
                            </p:stCondLst>
                            <p:childTnLst>
                              <p:par>
                                <p:cTn id="36" presetID="12" presetClass="entr" presetSubtype="4" fill="hold" grpId="0" nodeType="after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slide(fromBottom)">
                                      <p:cBhvr>
                                        <p:cTn id="38" dur="1000"/>
                                        <p:tgtEl>
                                          <p:spTgt spid="1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13319"/>
                                        </p:tgtEl>
                                        <p:attrNameLst>
                                          <p:attrName>style.visibility</p:attrName>
                                        </p:attrNameLst>
                                      </p:cBhvr>
                                      <p:to>
                                        <p:strVal val="visible"/>
                                      </p:to>
                                    </p:set>
                                    <p:animEffect transition="in" filter="slide(fromBottom)">
                                      <p:cBhvr>
                                        <p:cTn id="43" dur="1000"/>
                                        <p:tgtEl>
                                          <p:spTgt spid="133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p:bldP spid="13317" grpId="0"/>
      <p:bldP spid="13318" grpId="0"/>
      <p:bldP spid="13319" grpId="0"/>
      <p:bldP spid="11" grpId="0"/>
      <p:bldP spid="12" grpId="0"/>
      <p:bldP spid="13"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16"/>
          <p:cNvSpPr>
            <a:spLocks noChangeArrowheads="1"/>
          </p:cNvSpPr>
          <p:nvPr/>
        </p:nvSpPr>
        <p:spPr bwMode="auto">
          <a:xfrm>
            <a:off x="7543800" y="6596063"/>
            <a:ext cx="1676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just"/>
            <a:endParaRPr lang="en-US" sz="1100" b="1">
              <a:solidFill>
                <a:srgbClr val="002060"/>
              </a:solidFill>
              <a:latin typeface="Times New Roman" pitchFamily="18" charset="0"/>
              <a:cs typeface="Times New Roman" pitchFamily="18" charset="0"/>
            </a:endParaRPr>
          </a:p>
        </p:txBody>
      </p:sp>
      <p:sp>
        <p:nvSpPr>
          <p:cNvPr id="18436" name="Rectangle 5"/>
          <p:cNvSpPr>
            <a:spLocks noChangeArrowheads="1"/>
          </p:cNvSpPr>
          <p:nvPr/>
        </p:nvSpPr>
        <p:spPr bwMode="auto">
          <a:xfrm>
            <a:off x="533400" y="1828800"/>
            <a:ext cx="8386763"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vi-VN" sz="2800" b="1">
                <a:solidFill>
                  <a:srgbClr val="1109B7"/>
                </a:solidFill>
                <a:latin typeface="Times New Roman" pitchFamily="18" charset="0"/>
                <a:cs typeface="Times New Roman" pitchFamily="18" charset="0"/>
              </a:rPr>
              <a:t>Một khối khí bất kì cũng gồm vô số các phân tử. Các phân tử có kích thước rất nhỏ so với khoảng cách giữa chúng, và được coi là những chất điểm</a:t>
            </a:r>
            <a:r>
              <a:rPr lang="en-US" sz="2800" b="1">
                <a:solidFill>
                  <a:srgbClr val="1109B7"/>
                </a:solidFill>
                <a:latin typeface="Times New Roman" pitchFamily="18" charset="0"/>
                <a:cs typeface="Times New Roman" pitchFamily="18" charset="0"/>
              </a:rPr>
              <a:t>.</a:t>
            </a:r>
          </a:p>
        </p:txBody>
      </p:sp>
      <p:sp>
        <p:nvSpPr>
          <p:cNvPr id="18437" name="Rectangle 6"/>
          <p:cNvSpPr>
            <a:spLocks noChangeArrowheads="1"/>
          </p:cNvSpPr>
          <p:nvPr/>
        </p:nvSpPr>
        <p:spPr bwMode="auto">
          <a:xfrm>
            <a:off x="533400" y="3541713"/>
            <a:ext cx="83058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vi-VN" sz="2800" b="1">
                <a:solidFill>
                  <a:srgbClr val="1109B7"/>
                </a:solidFill>
                <a:latin typeface="Times New Roman" pitchFamily="18" charset="0"/>
                <a:cs typeface="Times New Roman" pitchFamily="18" charset="0"/>
              </a:rPr>
              <a:t>Các phân tử khí luôn chuyển động hỗn loạn không ngừng và chỉ tương tác với nhau khi va chạm vào nhau.</a:t>
            </a:r>
            <a:endParaRPr lang="en-US" sz="2800" b="1">
              <a:solidFill>
                <a:srgbClr val="1109B7"/>
              </a:solidFill>
              <a:latin typeface="Times New Roman" pitchFamily="18" charset="0"/>
              <a:cs typeface="Times New Roman" pitchFamily="18" charset="0"/>
            </a:endParaRPr>
          </a:p>
        </p:txBody>
      </p:sp>
      <p:sp>
        <p:nvSpPr>
          <p:cNvPr id="18438" name="Rectangle 8"/>
          <p:cNvSpPr>
            <a:spLocks noChangeArrowheads="1"/>
          </p:cNvSpPr>
          <p:nvPr/>
        </p:nvSpPr>
        <p:spPr bwMode="auto">
          <a:xfrm>
            <a:off x="533400" y="5141913"/>
            <a:ext cx="83820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b="1">
                <a:solidFill>
                  <a:srgbClr val="1109B7"/>
                </a:solidFill>
                <a:latin typeface="Times New Roman" pitchFamily="18" charset="0"/>
                <a:cs typeface="Times New Roman" pitchFamily="18" charset="0"/>
              </a:rPr>
              <a:t>Sự tương tác và v</a:t>
            </a:r>
            <a:r>
              <a:rPr lang="vi-VN" sz="2800" b="1">
                <a:solidFill>
                  <a:srgbClr val="1109B7"/>
                </a:solidFill>
                <a:latin typeface="Times New Roman" pitchFamily="18" charset="0"/>
                <a:cs typeface="Times New Roman" pitchFamily="18" charset="0"/>
              </a:rPr>
              <a:t>a chạm </a:t>
            </a:r>
            <a:r>
              <a:rPr lang="en-US" sz="2800" b="1">
                <a:solidFill>
                  <a:srgbClr val="1109B7"/>
                </a:solidFill>
                <a:latin typeface="Times New Roman" pitchFamily="18" charset="0"/>
                <a:cs typeface="Times New Roman" pitchFamily="18" charset="0"/>
              </a:rPr>
              <a:t>của chúng </a:t>
            </a:r>
            <a:r>
              <a:rPr lang="vi-VN" sz="2800" b="1">
                <a:solidFill>
                  <a:srgbClr val="1109B7"/>
                </a:solidFill>
                <a:latin typeface="Times New Roman" pitchFamily="18" charset="0"/>
                <a:cs typeface="Times New Roman" pitchFamily="18" charset="0"/>
              </a:rPr>
              <a:t>là hoàn toàn đàn hồi.</a:t>
            </a:r>
            <a:endParaRPr lang="en-US" sz="2800" b="1">
              <a:solidFill>
                <a:srgbClr val="1109B7"/>
              </a:solidFill>
              <a:latin typeface="Times New Roman" pitchFamily="18" charset="0"/>
              <a:cs typeface="Times New Roman" pitchFamily="18" charset="0"/>
            </a:endParaRPr>
          </a:p>
        </p:txBody>
      </p:sp>
      <p:sp>
        <p:nvSpPr>
          <p:cNvPr id="9" name="Rectangle 8"/>
          <p:cNvSpPr>
            <a:spLocks noChangeArrowheads="1"/>
          </p:cNvSpPr>
          <p:nvPr/>
        </p:nvSpPr>
        <p:spPr bwMode="auto">
          <a:xfrm>
            <a:off x="457200" y="990600"/>
            <a:ext cx="20558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b="1" dirty="0" err="1">
                <a:solidFill>
                  <a:srgbClr val="FF0000"/>
                </a:solidFill>
                <a:latin typeface="Times New Roman" pitchFamily="18" charset="0"/>
                <a:cs typeface="Times New Roman" pitchFamily="18" charset="0"/>
              </a:rPr>
              <a:t>Khí</a:t>
            </a:r>
            <a:r>
              <a:rPr lang="en-US" sz="2800" b="1" dirty="0">
                <a:solidFill>
                  <a:srgbClr val="FF0000"/>
                </a:solidFill>
                <a:latin typeface="Times New Roman" pitchFamily="18" charset="0"/>
                <a:cs typeface="Times New Roman" pitchFamily="18" charset="0"/>
              </a:rPr>
              <a:t> </a:t>
            </a:r>
            <a:r>
              <a:rPr lang="en-US" sz="2800" b="1" dirty="0" err="1">
                <a:solidFill>
                  <a:srgbClr val="FF0000"/>
                </a:solidFill>
                <a:latin typeface="Times New Roman" pitchFamily="18" charset="0"/>
                <a:cs typeface="Times New Roman" pitchFamily="18" charset="0"/>
              </a:rPr>
              <a:t>lí</a:t>
            </a:r>
            <a:r>
              <a:rPr lang="en-US" sz="2800" b="1" dirty="0">
                <a:solidFill>
                  <a:srgbClr val="FF0000"/>
                </a:solidFill>
                <a:latin typeface="Times New Roman" pitchFamily="18" charset="0"/>
                <a:cs typeface="Times New Roman" pitchFamily="18" charset="0"/>
              </a:rPr>
              <a:t> </a:t>
            </a:r>
            <a:r>
              <a:rPr lang="en-US" sz="2800" b="1" dirty="0" err="1">
                <a:solidFill>
                  <a:srgbClr val="FF0000"/>
                </a:solidFill>
                <a:latin typeface="Times New Roman" pitchFamily="18" charset="0"/>
                <a:cs typeface="Times New Roman" pitchFamily="18" charset="0"/>
              </a:rPr>
              <a:t>tưởng</a:t>
            </a:r>
            <a:endParaRPr lang="en-US" sz="2800" dirty="0">
              <a:solidFill>
                <a:srgbClr val="FF0000"/>
              </a:solidFill>
              <a:latin typeface="Times New Roman" pitchFamily="18" charset="0"/>
              <a:cs typeface="Times New Roman" pitchFamily="18" charset="0"/>
            </a:endParaRPr>
          </a:p>
        </p:txBody>
      </p:sp>
      <p:sp>
        <p:nvSpPr>
          <p:cNvPr id="10" name="Rectangle 24"/>
          <p:cNvSpPr>
            <a:spLocks noChangeArrowheads="1"/>
          </p:cNvSpPr>
          <p:nvPr/>
        </p:nvSpPr>
        <p:spPr bwMode="auto">
          <a:xfrm>
            <a:off x="100013" y="1752600"/>
            <a:ext cx="5095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r>
              <a:rPr lang="en-US" sz="3200" b="1">
                <a:solidFill>
                  <a:srgbClr val="FF0000"/>
                </a:solidFill>
                <a:latin typeface="Times New Roman" pitchFamily="18" charset="0"/>
                <a:sym typeface="Wingdings" pitchFamily="2" charset="2"/>
              </a:rPr>
              <a:t></a:t>
            </a:r>
            <a:endParaRPr lang="en-US" sz="3200" b="1">
              <a:solidFill>
                <a:srgbClr val="FF0000"/>
              </a:solidFill>
            </a:endParaRPr>
          </a:p>
        </p:txBody>
      </p:sp>
      <p:sp>
        <p:nvSpPr>
          <p:cNvPr id="11" name="Rectangle 25"/>
          <p:cNvSpPr>
            <a:spLocks noChangeArrowheads="1"/>
          </p:cNvSpPr>
          <p:nvPr/>
        </p:nvSpPr>
        <p:spPr bwMode="auto">
          <a:xfrm>
            <a:off x="100013" y="3487738"/>
            <a:ext cx="5095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r>
              <a:rPr lang="en-US" sz="3200" b="1">
                <a:solidFill>
                  <a:srgbClr val="FF0000"/>
                </a:solidFill>
                <a:latin typeface="Times New Roman" pitchFamily="18" charset="0"/>
                <a:sym typeface="Wingdings" pitchFamily="2" charset="2"/>
              </a:rPr>
              <a:t></a:t>
            </a:r>
            <a:endParaRPr lang="en-US" sz="3200" b="1">
              <a:solidFill>
                <a:srgbClr val="FF0000"/>
              </a:solidFill>
            </a:endParaRPr>
          </a:p>
        </p:txBody>
      </p:sp>
      <p:sp>
        <p:nvSpPr>
          <p:cNvPr id="12" name="Rectangle 24"/>
          <p:cNvSpPr>
            <a:spLocks noChangeArrowheads="1"/>
          </p:cNvSpPr>
          <p:nvPr/>
        </p:nvSpPr>
        <p:spPr bwMode="auto">
          <a:xfrm>
            <a:off x="100013" y="5086350"/>
            <a:ext cx="5095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r>
              <a:rPr lang="en-US" sz="3200" b="1">
                <a:solidFill>
                  <a:srgbClr val="FF0000"/>
                </a:solidFill>
                <a:latin typeface="Times New Roman" pitchFamily="18" charset="0"/>
                <a:sym typeface="Wingdings" pitchFamily="2" charset="2"/>
              </a:rPr>
              <a:t></a:t>
            </a:r>
            <a:endParaRPr lang="en-US" sz="3200" b="1">
              <a:solidFill>
                <a:srgbClr val="FF0000"/>
              </a:solidFill>
            </a:endParaRPr>
          </a:p>
        </p:txBody>
      </p:sp>
      <p:sp>
        <p:nvSpPr>
          <p:cNvPr id="2" name="Footer Placeholder 1">
            <a:extLst>
              <a:ext uri="{FF2B5EF4-FFF2-40B4-BE49-F238E27FC236}">
                <a16:creationId xmlns:a16="http://schemas.microsoft.com/office/drawing/2014/main" id="{7598F0A5-3063-7533-53B6-23B03C1DDAA2}"/>
              </a:ext>
            </a:extLst>
          </p:cNvPr>
          <p:cNvSpPr>
            <a:spLocks noGrp="1"/>
          </p:cNvSpPr>
          <p:nvPr>
            <p:ph type="ftr" sz="quarter" idx="11"/>
          </p:nvPr>
        </p:nvSpPr>
        <p:spPr/>
        <p:txBody>
          <a:bodyPr/>
          <a:lstStyle/>
          <a:p>
            <a:r>
              <a:rPr lang="en-US"/>
              <a:t>Bùi Quốc Trung - VLDC</a:t>
            </a:r>
          </a:p>
        </p:txBody>
      </p:sp>
      <p:sp>
        <p:nvSpPr>
          <p:cNvPr id="3" name="Slide Number Placeholder 2">
            <a:extLst>
              <a:ext uri="{FF2B5EF4-FFF2-40B4-BE49-F238E27FC236}">
                <a16:creationId xmlns:a16="http://schemas.microsoft.com/office/drawing/2014/main" id="{F61BC144-95FF-75F0-F08D-CC3D69564740}"/>
              </a:ext>
            </a:extLst>
          </p:cNvPr>
          <p:cNvSpPr>
            <a:spLocks noGrp="1"/>
          </p:cNvSpPr>
          <p:nvPr>
            <p:ph type="sldNum" sz="quarter" idx="12"/>
          </p:nvPr>
        </p:nvSpPr>
        <p:spPr/>
        <p:txBody>
          <a:bodyPr/>
          <a:lstStyle/>
          <a:p>
            <a:fld id="{0C173468-4CCE-478A-9725-791AF0DB04F2}" type="slidenum">
              <a:rPr lang="en-US" smtClean="0"/>
              <a:t>4</a:t>
            </a:fld>
            <a:endParaRPr lang="en-US"/>
          </a:p>
        </p:txBody>
      </p:sp>
    </p:spTree>
    <p:extLst>
      <p:ext uri="{BB962C8B-B14F-4D97-AF65-F5344CB8AC3E}">
        <p14:creationId xmlns:p14="http://schemas.microsoft.com/office/powerpoint/2010/main" val="38381680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1" presetClass="entr" presetSubtype="8" fill="hold" grpId="0" nodeType="afterEffect">
                                  <p:stCondLst>
                                    <p:cond delay="500"/>
                                  </p:stCondLst>
                                  <p:childTnLst>
                                    <p:set>
                                      <p:cBhvr>
                                        <p:cTn id="6" dur="1" fill="hold">
                                          <p:stCondLst>
                                            <p:cond delay="0"/>
                                          </p:stCondLst>
                                        </p:cTn>
                                        <p:tgtEl>
                                          <p:spTgt spid="9"/>
                                        </p:tgtEl>
                                        <p:attrNameLst>
                                          <p:attrName>style.visibility</p:attrName>
                                        </p:attrNameLst>
                                      </p:cBhvr>
                                      <p:to>
                                        <p:strVal val="visible"/>
                                      </p:to>
                                    </p:set>
                                    <p:animEffect transition="in" filter="wheel(8)">
                                      <p:cBhvr>
                                        <p:cTn id="7" dur="10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heel(8)">
                                      <p:cBhvr>
                                        <p:cTn id="12" dur="1000"/>
                                        <p:tgtEl>
                                          <p:spTgt spid="10"/>
                                        </p:tgtEl>
                                      </p:cBhvr>
                                    </p:animEffect>
                                  </p:childTnLst>
                                </p:cTn>
                              </p:par>
                            </p:childTnLst>
                          </p:cTn>
                        </p:par>
                        <p:par>
                          <p:cTn id="13" fill="hold" nodeType="afterGroup">
                            <p:stCondLst>
                              <p:cond delay="1000"/>
                            </p:stCondLst>
                            <p:childTnLst>
                              <p:par>
                                <p:cTn id="14" presetID="21" presetClass="entr" presetSubtype="8" fill="hold" grpId="0" nodeType="afterEffect">
                                  <p:stCondLst>
                                    <p:cond delay="0"/>
                                  </p:stCondLst>
                                  <p:childTnLst>
                                    <p:set>
                                      <p:cBhvr>
                                        <p:cTn id="15" dur="1" fill="hold">
                                          <p:stCondLst>
                                            <p:cond delay="0"/>
                                          </p:stCondLst>
                                        </p:cTn>
                                        <p:tgtEl>
                                          <p:spTgt spid="18436"/>
                                        </p:tgtEl>
                                        <p:attrNameLst>
                                          <p:attrName>style.visibility</p:attrName>
                                        </p:attrNameLst>
                                      </p:cBhvr>
                                      <p:to>
                                        <p:strVal val="visible"/>
                                      </p:to>
                                    </p:set>
                                    <p:animEffect transition="in" filter="wheel(8)">
                                      <p:cBhvr>
                                        <p:cTn id="16" dur="1000"/>
                                        <p:tgtEl>
                                          <p:spTgt spid="1843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1" presetClass="entr" presetSubtype="8"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heel(8)">
                                      <p:cBhvr>
                                        <p:cTn id="21" dur="1000"/>
                                        <p:tgtEl>
                                          <p:spTgt spid="11"/>
                                        </p:tgtEl>
                                      </p:cBhvr>
                                    </p:animEffect>
                                  </p:childTnLst>
                                </p:cTn>
                              </p:par>
                            </p:childTnLst>
                          </p:cTn>
                        </p:par>
                        <p:par>
                          <p:cTn id="22" fill="hold" nodeType="afterGroup">
                            <p:stCondLst>
                              <p:cond delay="1000"/>
                            </p:stCondLst>
                            <p:childTnLst>
                              <p:par>
                                <p:cTn id="23" presetID="21" presetClass="entr" presetSubtype="8" fill="hold" grpId="0" nodeType="afterEffect">
                                  <p:stCondLst>
                                    <p:cond delay="0"/>
                                  </p:stCondLst>
                                  <p:childTnLst>
                                    <p:set>
                                      <p:cBhvr>
                                        <p:cTn id="24" dur="1" fill="hold">
                                          <p:stCondLst>
                                            <p:cond delay="0"/>
                                          </p:stCondLst>
                                        </p:cTn>
                                        <p:tgtEl>
                                          <p:spTgt spid="18437"/>
                                        </p:tgtEl>
                                        <p:attrNameLst>
                                          <p:attrName>style.visibility</p:attrName>
                                        </p:attrNameLst>
                                      </p:cBhvr>
                                      <p:to>
                                        <p:strVal val="visible"/>
                                      </p:to>
                                    </p:set>
                                    <p:animEffect transition="in" filter="wheel(8)">
                                      <p:cBhvr>
                                        <p:cTn id="25" dur="1000"/>
                                        <p:tgtEl>
                                          <p:spTgt spid="1843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1" presetClass="entr" presetSubtype="8"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heel(8)">
                                      <p:cBhvr>
                                        <p:cTn id="30" dur="1000"/>
                                        <p:tgtEl>
                                          <p:spTgt spid="12"/>
                                        </p:tgtEl>
                                      </p:cBhvr>
                                    </p:animEffect>
                                  </p:childTnLst>
                                </p:cTn>
                              </p:par>
                            </p:childTnLst>
                          </p:cTn>
                        </p:par>
                        <p:par>
                          <p:cTn id="31" fill="hold" nodeType="afterGroup">
                            <p:stCondLst>
                              <p:cond delay="1000"/>
                            </p:stCondLst>
                            <p:childTnLst>
                              <p:par>
                                <p:cTn id="32" presetID="21" presetClass="entr" presetSubtype="8" fill="hold" grpId="0" nodeType="afterEffect">
                                  <p:stCondLst>
                                    <p:cond delay="0"/>
                                  </p:stCondLst>
                                  <p:childTnLst>
                                    <p:set>
                                      <p:cBhvr>
                                        <p:cTn id="33" dur="1" fill="hold">
                                          <p:stCondLst>
                                            <p:cond delay="0"/>
                                          </p:stCondLst>
                                        </p:cTn>
                                        <p:tgtEl>
                                          <p:spTgt spid="18438"/>
                                        </p:tgtEl>
                                        <p:attrNameLst>
                                          <p:attrName>style.visibility</p:attrName>
                                        </p:attrNameLst>
                                      </p:cBhvr>
                                      <p:to>
                                        <p:strVal val="visible"/>
                                      </p:to>
                                    </p:set>
                                    <p:animEffect transition="in" filter="wheel(8)">
                                      <p:cBhvr>
                                        <p:cTn id="34" dur="1000"/>
                                        <p:tgtEl>
                                          <p:spTgt spid="18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p:bldP spid="18437" grpId="0"/>
      <p:bldP spid="18438" grpId="0"/>
      <p:bldP spid="9" grpId="0"/>
      <p:bldP spid="10" grpId="0"/>
      <p:bldP spid="11"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16"/>
          <p:cNvSpPr>
            <a:spLocks noChangeArrowheads="1"/>
          </p:cNvSpPr>
          <p:nvPr/>
        </p:nvSpPr>
        <p:spPr bwMode="auto">
          <a:xfrm>
            <a:off x="7543800" y="6596063"/>
            <a:ext cx="1676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just"/>
            <a:endParaRPr lang="en-US" sz="1100" b="1">
              <a:solidFill>
                <a:srgbClr val="002060"/>
              </a:solidFill>
              <a:latin typeface="Times New Roman" pitchFamily="18" charset="0"/>
              <a:cs typeface="Times New Roman" pitchFamily="18" charset="0"/>
            </a:endParaRPr>
          </a:p>
        </p:txBody>
      </p:sp>
      <p:sp>
        <p:nvSpPr>
          <p:cNvPr id="7" name="Rectangle 6"/>
          <p:cNvSpPr>
            <a:spLocks noChangeArrowheads="1"/>
          </p:cNvSpPr>
          <p:nvPr/>
        </p:nvSpPr>
        <p:spPr bwMode="auto">
          <a:xfrm>
            <a:off x="685800" y="1000125"/>
            <a:ext cx="2762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b="1">
                <a:solidFill>
                  <a:srgbClr val="FF0000"/>
                </a:solidFill>
                <a:latin typeface="Times New Roman" pitchFamily="18" charset="0"/>
                <a:cs typeface="Times New Roman" pitchFamily="18" charset="0"/>
              </a:rPr>
              <a:t>Định luật Dalton</a:t>
            </a:r>
            <a:endParaRPr lang="en-US" sz="2800">
              <a:solidFill>
                <a:srgbClr val="FF0000"/>
              </a:solidFill>
              <a:latin typeface="Times New Roman" pitchFamily="18" charset="0"/>
              <a:cs typeface="Times New Roman" pitchFamily="18" charset="0"/>
            </a:endParaRPr>
          </a:p>
        </p:txBody>
      </p:sp>
      <p:sp>
        <p:nvSpPr>
          <p:cNvPr id="8" name="Rectangle 7"/>
          <p:cNvSpPr>
            <a:spLocks noChangeArrowheads="1"/>
          </p:cNvSpPr>
          <p:nvPr/>
        </p:nvSpPr>
        <p:spPr bwMode="auto">
          <a:xfrm>
            <a:off x="841375" y="1457325"/>
            <a:ext cx="62341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b="1" i="1">
                <a:solidFill>
                  <a:srgbClr val="1109B7"/>
                </a:solidFill>
                <a:latin typeface="Times New Roman" pitchFamily="18" charset="0"/>
                <a:cs typeface="Times New Roman" pitchFamily="18" charset="0"/>
              </a:rPr>
              <a:t>Áp suất của một hỗn hợp gồm n chất khí</a:t>
            </a:r>
            <a:endParaRPr lang="en-US" sz="2800" i="1">
              <a:solidFill>
                <a:srgbClr val="1109B7"/>
              </a:solidFill>
              <a:latin typeface="Times New Roman" pitchFamily="18" charset="0"/>
              <a:cs typeface="Times New Roman" pitchFamily="18" charset="0"/>
            </a:endParaRPr>
          </a:p>
        </p:txBody>
      </p:sp>
      <p:graphicFrame>
        <p:nvGraphicFramePr>
          <p:cNvPr id="3089" name="Object 17"/>
          <p:cNvGraphicFramePr>
            <a:graphicFrameLocks noChangeAspect="1"/>
          </p:cNvGraphicFramePr>
          <p:nvPr/>
        </p:nvGraphicFramePr>
        <p:xfrm>
          <a:off x="2508250" y="2149475"/>
          <a:ext cx="4252913" cy="879475"/>
        </p:xfrm>
        <a:graphic>
          <a:graphicData uri="http://schemas.openxmlformats.org/presentationml/2006/ole">
            <mc:AlternateContent xmlns:mc="http://schemas.openxmlformats.org/markup-compatibility/2006">
              <mc:Choice xmlns:v="urn:schemas-microsoft-com:vml" Requires="v">
                <p:oleObj name="Equation" r:id="rId2" imgW="1663700" imgH="342900" progId="Equation.DSMT4">
                  <p:embed/>
                </p:oleObj>
              </mc:Choice>
              <mc:Fallback>
                <p:oleObj name="Equation" r:id="rId2" imgW="1663700" imgH="34290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0" y="2149475"/>
                        <a:ext cx="4252913"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13"/>
          <p:cNvSpPr>
            <a:spLocks noChangeArrowheads="1"/>
          </p:cNvSpPr>
          <p:nvPr/>
        </p:nvSpPr>
        <p:spPr bwMode="auto">
          <a:xfrm>
            <a:off x="1524000" y="3133725"/>
            <a:ext cx="6477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b="1">
                <a:solidFill>
                  <a:srgbClr val="C00000"/>
                </a:solidFill>
                <a:latin typeface="Times New Roman" pitchFamily="18" charset="0"/>
                <a:cs typeface="Times New Roman" pitchFamily="18" charset="0"/>
              </a:rPr>
              <a:t>(p</a:t>
            </a:r>
            <a:r>
              <a:rPr lang="en-US" sz="2800" b="1" baseline="-25000">
                <a:solidFill>
                  <a:srgbClr val="C00000"/>
                </a:solidFill>
                <a:latin typeface="Times New Roman" pitchFamily="18" charset="0"/>
                <a:cs typeface="Times New Roman" pitchFamily="18" charset="0"/>
              </a:rPr>
              <a:t>i</a:t>
            </a:r>
            <a:r>
              <a:rPr lang="en-US" sz="2800" b="1" i="1">
                <a:solidFill>
                  <a:srgbClr val="C00000"/>
                </a:solidFill>
                <a:latin typeface="Times New Roman" pitchFamily="18" charset="0"/>
                <a:cs typeface="Times New Roman" pitchFamily="18" charset="0"/>
              </a:rPr>
              <a:t>: Áp suất riêng phần của chất khí thứ i</a:t>
            </a:r>
            <a:r>
              <a:rPr lang="en-US" sz="2800" b="1">
                <a:solidFill>
                  <a:srgbClr val="C00000"/>
                </a:solidFill>
                <a:latin typeface="Times New Roman" pitchFamily="18" charset="0"/>
                <a:cs typeface="Times New Roman" pitchFamily="18" charset="0"/>
              </a:rPr>
              <a:t>)</a:t>
            </a:r>
            <a:endParaRPr lang="en-US" sz="2800">
              <a:solidFill>
                <a:srgbClr val="C00000"/>
              </a:solidFill>
              <a:latin typeface="Times New Roman" pitchFamily="18" charset="0"/>
              <a:cs typeface="Times New Roman" pitchFamily="18" charset="0"/>
            </a:endParaRPr>
          </a:p>
        </p:txBody>
      </p:sp>
      <p:sp>
        <p:nvSpPr>
          <p:cNvPr id="15" name="Rounded Rectangle 14"/>
          <p:cNvSpPr>
            <a:spLocks noChangeArrowheads="1"/>
          </p:cNvSpPr>
          <p:nvPr/>
        </p:nvSpPr>
        <p:spPr bwMode="auto">
          <a:xfrm>
            <a:off x="2291860" y="2031236"/>
            <a:ext cx="4647654" cy="1016764"/>
          </a:xfrm>
          <a:prstGeom prst="roundRect">
            <a:avLst>
              <a:gd name="adj" fmla="val 16667"/>
            </a:avLst>
          </a:prstGeom>
          <a:noFill/>
          <a:ln w="38100" algn="ctr">
            <a:solidFill>
              <a:srgbClr val="FF0000"/>
            </a:solidFill>
            <a:round/>
            <a:headEnd/>
            <a:tailEnd/>
          </a:ln>
          <a:effectLst>
            <a:glow rad="139700">
              <a:schemeClr val="accent2">
                <a:satMod val="175000"/>
                <a:alpha val="40000"/>
              </a:schemeClr>
            </a:glow>
            <a:outerShdw dist="38100" algn="l" rotWithShape="0">
              <a:srgbClr val="000000">
                <a:alpha val="39999"/>
              </a:srgbClr>
            </a:outerShdw>
          </a:effectLst>
        </p:spPr>
        <p:txBody>
          <a:bodyPr anchor="ctr"/>
          <a:lstStyle/>
          <a:p>
            <a:pPr algn="ctr">
              <a:defRPr/>
            </a:pPr>
            <a:endParaRPr lang="vi-VN" sz="2400">
              <a:solidFill>
                <a:schemeClr val="lt1"/>
              </a:solidFill>
              <a:latin typeface="Times New Roman" pitchFamily="18" charset="0"/>
              <a:cs typeface="Times New Roman" pitchFamily="18" charset="0"/>
            </a:endParaRPr>
          </a:p>
        </p:txBody>
      </p:sp>
      <p:sp>
        <p:nvSpPr>
          <p:cNvPr id="16" name="Rectangle 15"/>
          <p:cNvSpPr>
            <a:spLocks noChangeArrowheads="1"/>
          </p:cNvSpPr>
          <p:nvPr/>
        </p:nvSpPr>
        <p:spPr bwMode="auto">
          <a:xfrm>
            <a:off x="685800" y="3962400"/>
            <a:ext cx="63960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b="1">
                <a:solidFill>
                  <a:srgbClr val="FF0000"/>
                </a:solidFill>
                <a:latin typeface="Times New Roman" pitchFamily="18" charset="0"/>
                <a:cs typeface="Times New Roman" pitchFamily="18" charset="0"/>
              </a:rPr>
              <a:t>Phương trình trạng thái của khí lí tưởng</a:t>
            </a:r>
            <a:endParaRPr lang="en-US" sz="2800">
              <a:solidFill>
                <a:srgbClr val="FF0000"/>
              </a:solidFill>
              <a:latin typeface="Times New Roman" pitchFamily="18" charset="0"/>
              <a:cs typeface="Times New Roman" pitchFamily="18" charset="0"/>
            </a:endParaRPr>
          </a:p>
        </p:txBody>
      </p:sp>
      <p:sp>
        <p:nvSpPr>
          <p:cNvPr id="17" name="4-Point Star 16"/>
          <p:cNvSpPr/>
          <p:nvPr/>
        </p:nvSpPr>
        <p:spPr>
          <a:xfrm>
            <a:off x="290513" y="1104900"/>
            <a:ext cx="304800" cy="304800"/>
          </a:xfrm>
          <a:prstGeom prst="star4">
            <a:avLst/>
          </a:prstGeom>
          <a:solidFill>
            <a:srgbClr val="FF000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vi-VN"/>
          </a:p>
        </p:txBody>
      </p:sp>
      <p:sp>
        <p:nvSpPr>
          <p:cNvPr id="18" name="4-Point Star 17"/>
          <p:cNvSpPr/>
          <p:nvPr/>
        </p:nvSpPr>
        <p:spPr>
          <a:xfrm>
            <a:off x="290513" y="4052888"/>
            <a:ext cx="304800" cy="304800"/>
          </a:xfrm>
          <a:prstGeom prst="star4">
            <a:avLst/>
          </a:prstGeom>
          <a:solidFill>
            <a:srgbClr val="FF000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vi-VN"/>
          </a:p>
        </p:txBody>
      </p:sp>
      <p:graphicFrame>
        <p:nvGraphicFramePr>
          <p:cNvPr id="3" name="Object 3"/>
          <p:cNvGraphicFramePr>
            <a:graphicFrameLocks noChangeAspect="1"/>
          </p:cNvGraphicFramePr>
          <p:nvPr/>
        </p:nvGraphicFramePr>
        <p:xfrm>
          <a:off x="1385888" y="5162550"/>
          <a:ext cx="2190750" cy="1230313"/>
        </p:xfrm>
        <a:graphic>
          <a:graphicData uri="http://schemas.openxmlformats.org/presentationml/2006/ole">
            <mc:AlternateContent xmlns:mc="http://schemas.openxmlformats.org/markup-compatibility/2006">
              <mc:Choice xmlns:v="urn:schemas-microsoft-com:vml" Requires="v">
                <p:oleObj name="Equation" r:id="rId4" imgW="749300" imgH="419100" progId="Equation.DSMT4">
                  <p:embed/>
                </p:oleObj>
              </mc:Choice>
              <mc:Fallback>
                <p:oleObj name="Equation" r:id="rId4" imgW="749300" imgH="4191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85888" y="5162550"/>
                        <a:ext cx="2190750" cy="123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Rounded Rectangle 19"/>
          <p:cNvSpPr>
            <a:spLocks noChangeArrowheads="1"/>
          </p:cNvSpPr>
          <p:nvPr/>
        </p:nvSpPr>
        <p:spPr bwMode="auto">
          <a:xfrm>
            <a:off x="1143000" y="5029200"/>
            <a:ext cx="2667000" cy="1447800"/>
          </a:xfrm>
          <a:prstGeom prst="roundRect">
            <a:avLst>
              <a:gd name="adj" fmla="val 16667"/>
            </a:avLst>
          </a:prstGeom>
          <a:noFill/>
          <a:ln w="38100" algn="ctr">
            <a:solidFill>
              <a:srgbClr val="FF0000"/>
            </a:solidFill>
            <a:round/>
            <a:headEnd/>
            <a:tailEnd/>
          </a:ln>
          <a:effectLst>
            <a:glow rad="139700">
              <a:schemeClr val="accent2">
                <a:satMod val="175000"/>
                <a:alpha val="40000"/>
              </a:schemeClr>
            </a:glow>
            <a:outerShdw dist="38100" algn="l" rotWithShape="0">
              <a:srgbClr val="000000">
                <a:alpha val="39999"/>
              </a:srgbClr>
            </a:outerShdw>
          </a:effectLst>
        </p:spPr>
        <p:txBody>
          <a:bodyPr anchor="ctr"/>
          <a:lstStyle/>
          <a:p>
            <a:pPr algn="ctr">
              <a:defRPr/>
            </a:pPr>
            <a:endParaRPr lang="vi-VN" sz="2400">
              <a:solidFill>
                <a:schemeClr val="lt1"/>
              </a:solidFill>
              <a:latin typeface="Times New Roman" pitchFamily="18" charset="0"/>
              <a:cs typeface="Times New Roman" pitchFamily="18" charset="0"/>
            </a:endParaRPr>
          </a:p>
        </p:txBody>
      </p:sp>
      <p:grpSp>
        <p:nvGrpSpPr>
          <p:cNvPr id="5" name="Group 22"/>
          <p:cNvGrpSpPr>
            <a:grpSpLocks/>
          </p:cNvGrpSpPr>
          <p:nvPr/>
        </p:nvGrpSpPr>
        <p:grpSpPr bwMode="auto">
          <a:xfrm>
            <a:off x="4211638" y="5334000"/>
            <a:ext cx="4856162" cy="533400"/>
            <a:chOff x="914400" y="5681004"/>
            <a:chExt cx="4856872" cy="534058"/>
          </a:xfrm>
        </p:grpSpPr>
        <p:sp>
          <p:nvSpPr>
            <p:cNvPr id="14357" name="Rectangle 20"/>
            <p:cNvSpPr>
              <a:spLocks noChangeArrowheads="1"/>
            </p:cNvSpPr>
            <p:nvPr/>
          </p:nvSpPr>
          <p:spPr bwMode="auto">
            <a:xfrm>
              <a:off x="1168730" y="5681004"/>
              <a:ext cx="460254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b="1" i="1">
                  <a:solidFill>
                    <a:srgbClr val="1109B7"/>
                  </a:solidFill>
                  <a:latin typeface="Times New Roman" pitchFamily="18" charset="0"/>
                  <a:cs typeface="Times New Roman" pitchFamily="18" charset="0"/>
                </a:rPr>
                <a:t>: khối lượng mol của chất khí</a:t>
              </a:r>
              <a:endParaRPr lang="en-US" sz="2800" i="1">
                <a:solidFill>
                  <a:srgbClr val="1109B7"/>
                </a:solidFill>
                <a:latin typeface="Times New Roman" pitchFamily="18" charset="0"/>
                <a:cs typeface="Times New Roman" pitchFamily="18" charset="0"/>
              </a:endParaRPr>
            </a:p>
          </p:txBody>
        </p:sp>
        <p:graphicFrame>
          <p:nvGraphicFramePr>
            <p:cNvPr id="14358" name="Object 4"/>
            <p:cNvGraphicFramePr>
              <a:graphicFrameLocks noChangeAspect="1"/>
            </p:cNvGraphicFramePr>
            <p:nvPr/>
          </p:nvGraphicFramePr>
          <p:xfrm>
            <a:off x="914400" y="5791200"/>
            <a:ext cx="323850" cy="423862"/>
          </p:xfrm>
          <a:graphic>
            <a:graphicData uri="http://schemas.openxmlformats.org/presentationml/2006/ole">
              <mc:AlternateContent xmlns:mc="http://schemas.openxmlformats.org/markup-compatibility/2006">
                <mc:Choice xmlns:v="urn:schemas-microsoft-com:vml" Requires="v">
                  <p:oleObj name="Equation" r:id="rId6" imgW="126780" imgH="164814" progId="Equation.DSMT4">
                    <p:embed/>
                  </p:oleObj>
                </mc:Choice>
                <mc:Fallback>
                  <p:oleObj name="Equation" r:id="rId6" imgW="126780" imgH="164814"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4400" y="5791200"/>
                          <a:ext cx="323850"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4" name="Rectangle 23"/>
          <p:cNvSpPr>
            <a:spLocks noChangeArrowheads="1"/>
          </p:cNvSpPr>
          <p:nvPr/>
        </p:nvSpPr>
        <p:spPr bwMode="auto">
          <a:xfrm>
            <a:off x="4135438" y="5824538"/>
            <a:ext cx="37242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b="1">
                <a:solidFill>
                  <a:srgbClr val="1109B7"/>
                </a:solidFill>
                <a:latin typeface="Times New Roman" pitchFamily="18" charset="0"/>
                <a:cs typeface="Times New Roman" pitchFamily="18" charset="0"/>
              </a:rPr>
              <a:t>R</a:t>
            </a:r>
            <a:r>
              <a:rPr lang="en-US" sz="2800" b="1" i="1">
                <a:solidFill>
                  <a:srgbClr val="1109B7"/>
                </a:solidFill>
                <a:latin typeface="Times New Roman" pitchFamily="18" charset="0"/>
                <a:cs typeface="Times New Roman" pitchFamily="18" charset="0"/>
              </a:rPr>
              <a:t> : hằng số khí lí tưởng</a:t>
            </a:r>
            <a:endParaRPr lang="en-US" sz="2800" i="1">
              <a:solidFill>
                <a:srgbClr val="1109B7"/>
              </a:solidFill>
              <a:latin typeface="Times New Roman" pitchFamily="18" charset="0"/>
              <a:cs typeface="Times New Roman" pitchFamily="18" charset="0"/>
            </a:endParaRPr>
          </a:p>
        </p:txBody>
      </p:sp>
      <p:sp>
        <p:nvSpPr>
          <p:cNvPr id="25" name="Rectangle 24"/>
          <p:cNvSpPr>
            <a:spLocks noChangeArrowheads="1"/>
          </p:cNvSpPr>
          <p:nvPr/>
        </p:nvSpPr>
        <p:spPr bwMode="auto">
          <a:xfrm>
            <a:off x="990600" y="4419600"/>
            <a:ext cx="6400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800" b="1" i="1">
                <a:solidFill>
                  <a:srgbClr val="1109B7"/>
                </a:solidFill>
                <a:latin typeface="Times New Roman" pitchFamily="18" charset="0"/>
                <a:cs typeface="Times New Roman" pitchFamily="18" charset="0"/>
              </a:rPr>
              <a:t>(Phương trình Mendeleev - Clapeyron)</a:t>
            </a:r>
            <a:endParaRPr lang="en-US" sz="2800" i="1">
              <a:solidFill>
                <a:srgbClr val="1109B7"/>
              </a:solidFill>
              <a:latin typeface="Times New Roman" pitchFamily="18" charset="0"/>
              <a:cs typeface="Times New Roman" pitchFamily="18" charset="0"/>
            </a:endParaRPr>
          </a:p>
        </p:txBody>
      </p:sp>
      <p:sp>
        <p:nvSpPr>
          <p:cNvPr id="2" name="Footer Placeholder 1">
            <a:extLst>
              <a:ext uri="{FF2B5EF4-FFF2-40B4-BE49-F238E27FC236}">
                <a16:creationId xmlns:a16="http://schemas.microsoft.com/office/drawing/2014/main" id="{C4FE7AAD-E656-EB39-95A4-D574E72323AF}"/>
              </a:ext>
            </a:extLst>
          </p:cNvPr>
          <p:cNvSpPr>
            <a:spLocks noGrp="1"/>
          </p:cNvSpPr>
          <p:nvPr>
            <p:ph type="ftr" sz="quarter" idx="11"/>
          </p:nvPr>
        </p:nvSpPr>
        <p:spPr/>
        <p:txBody>
          <a:bodyPr/>
          <a:lstStyle/>
          <a:p>
            <a:r>
              <a:rPr lang="en-US"/>
              <a:t>Bùi Quốc Trung - VLDC</a:t>
            </a:r>
          </a:p>
        </p:txBody>
      </p:sp>
      <p:sp>
        <p:nvSpPr>
          <p:cNvPr id="4" name="Slide Number Placeholder 3">
            <a:extLst>
              <a:ext uri="{FF2B5EF4-FFF2-40B4-BE49-F238E27FC236}">
                <a16:creationId xmlns:a16="http://schemas.microsoft.com/office/drawing/2014/main" id="{57340A99-34B7-F0B4-7F22-AAAD70030298}"/>
              </a:ext>
            </a:extLst>
          </p:cNvPr>
          <p:cNvSpPr>
            <a:spLocks noGrp="1"/>
          </p:cNvSpPr>
          <p:nvPr>
            <p:ph type="sldNum" sz="quarter" idx="12"/>
          </p:nvPr>
        </p:nvSpPr>
        <p:spPr/>
        <p:txBody>
          <a:bodyPr/>
          <a:lstStyle/>
          <a:p>
            <a:fld id="{0C173468-4CCE-478A-9725-791AF0DB04F2}" type="slidenum">
              <a:rPr lang="en-US" smtClean="0"/>
              <a:t>5</a:t>
            </a:fld>
            <a:endParaRPr lang="en-US"/>
          </a:p>
        </p:txBody>
      </p:sp>
    </p:spTree>
    <p:extLst>
      <p:ext uri="{BB962C8B-B14F-4D97-AF65-F5344CB8AC3E}">
        <p14:creationId xmlns:p14="http://schemas.microsoft.com/office/powerpoint/2010/main" val="33637426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8" presetClass="entr" presetSubtype="16"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amond(in)">
                                      <p:cBhvr>
                                        <p:cTn id="7" dur="1000"/>
                                        <p:tgtEl>
                                          <p:spTgt spid="17"/>
                                        </p:tgtEl>
                                      </p:cBhvr>
                                    </p:animEffect>
                                  </p:childTnLst>
                                </p:cTn>
                              </p:par>
                            </p:childTnLst>
                          </p:cTn>
                        </p:par>
                        <p:par>
                          <p:cTn id="8" fill="hold" nodeType="afterGroup">
                            <p:stCondLst>
                              <p:cond delay="1000"/>
                            </p:stCondLst>
                            <p:childTnLst>
                              <p:par>
                                <p:cTn id="9" presetID="8" presetClass="entr" presetSubtype="16"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diamond(in)">
                                      <p:cBhvr>
                                        <p:cTn id="11" dur="1000"/>
                                        <p:tgtEl>
                                          <p:spTgt spid="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8" presetClass="entr" presetSubtype="16"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diamond(in)">
                                      <p:cBhvr>
                                        <p:cTn id="16" dur="1000"/>
                                        <p:tgtEl>
                                          <p:spTgt spid="8"/>
                                        </p:tgtEl>
                                      </p:cBhvr>
                                    </p:animEffect>
                                  </p:childTnLst>
                                </p:cTn>
                              </p:par>
                            </p:childTnLst>
                          </p:cTn>
                        </p:par>
                        <p:par>
                          <p:cTn id="17" fill="hold" nodeType="afterGroup">
                            <p:stCondLst>
                              <p:cond delay="1000"/>
                            </p:stCondLst>
                            <p:childTnLst>
                              <p:par>
                                <p:cTn id="18" presetID="8" presetClass="entr" presetSubtype="16" fill="hold" nodeType="afterEffect">
                                  <p:stCondLst>
                                    <p:cond delay="0"/>
                                  </p:stCondLst>
                                  <p:childTnLst>
                                    <p:set>
                                      <p:cBhvr>
                                        <p:cTn id="19" dur="1" fill="hold">
                                          <p:stCondLst>
                                            <p:cond delay="0"/>
                                          </p:stCondLst>
                                        </p:cTn>
                                        <p:tgtEl>
                                          <p:spTgt spid="3089"/>
                                        </p:tgtEl>
                                        <p:attrNameLst>
                                          <p:attrName>style.visibility</p:attrName>
                                        </p:attrNameLst>
                                      </p:cBhvr>
                                      <p:to>
                                        <p:strVal val="visible"/>
                                      </p:to>
                                    </p:set>
                                    <p:animEffect transition="in" filter="diamond(in)">
                                      <p:cBhvr>
                                        <p:cTn id="20" dur="1000"/>
                                        <p:tgtEl>
                                          <p:spTgt spid="3089"/>
                                        </p:tgtEl>
                                      </p:cBhvr>
                                    </p:animEffect>
                                  </p:childTnLst>
                                </p:cTn>
                              </p:par>
                            </p:childTnLst>
                          </p:cTn>
                        </p:par>
                        <p:par>
                          <p:cTn id="21" fill="hold" nodeType="afterGroup">
                            <p:stCondLst>
                              <p:cond delay="2000"/>
                            </p:stCondLst>
                            <p:childTnLst>
                              <p:par>
                                <p:cTn id="22" presetID="8" presetClass="entr" presetSubtype="16" fill="hold"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diamond(in)">
                                      <p:cBhvr>
                                        <p:cTn id="24" dur="1000"/>
                                        <p:tgtEl>
                                          <p:spTgt spid="15"/>
                                        </p:tgtEl>
                                      </p:cBhvr>
                                    </p:animEffect>
                                  </p:childTnLst>
                                </p:cTn>
                              </p:par>
                            </p:childTnLst>
                          </p:cTn>
                        </p:par>
                        <p:par>
                          <p:cTn id="25" fill="hold" nodeType="afterGroup">
                            <p:stCondLst>
                              <p:cond delay="3000"/>
                            </p:stCondLst>
                            <p:childTnLst>
                              <p:par>
                                <p:cTn id="26" presetID="8" presetClass="entr" presetSubtype="16"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diamond(in)">
                                      <p:cBhvr>
                                        <p:cTn id="28" dur="1000"/>
                                        <p:tgtEl>
                                          <p:spTgt spid="1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8" presetClass="entr" presetSubtype="16"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diamond(in)">
                                      <p:cBhvr>
                                        <p:cTn id="33" dur="1000"/>
                                        <p:tgtEl>
                                          <p:spTgt spid="18"/>
                                        </p:tgtEl>
                                      </p:cBhvr>
                                    </p:animEffect>
                                  </p:childTnLst>
                                </p:cTn>
                              </p:par>
                            </p:childTnLst>
                          </p:cTn>
                        </p:par>
                        <p:par>
                          <p:cTn id="34" fill="hold" nodeType="afterGroup">
                            <p:stCondLst>
                              <p:cond delay="1000"/>
                            </p:stCondLst>
                            <p:childTnLst>
                              <p:par>
                                <p:cTn id="35" presetID="8" presetClass="entr" presetSubtype="16"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diamond(in)">
                                      <p:cBhvr>
                                        <p:cTn id="37" dur="1000"/>
                                        <p:tgtEl>
                                          <p:spTgt spid="16"/>
                                        </p:tgtEl>
                                      </p:cBhvr>
                                    </p:animEffect>
                                  </p:childTnLst>
                                </p:cTn>
                              </p:par>
                            </p:childTnLst>
                          </p:cTn>
                        </p:par>
                        <p:par>
                          <p:cTn id="38" fill="hold" nodeType="afterGroup">
                            <p:stCondLst>
                              <p:cond delay="2000"/>
                            </p:stCondLst>
                            <p:childTnLst>
                              <p:par>
                                <p:cTn id="39" presetID="8" presetClass="entr" presetSubtype="16" fill="hold" grpId="0" nodeType="after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diamond(in)">
                                      <p:cBhvr>
                                        <p:cTn id="41" dur="1000"/>
                                        <p:tgtEl>
                                          <p:spTgt spid="2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8" presetClass="entr" presetSubtype="16"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diamond(in)">
                                      <p:cBhvr>
                                        <p:cTn id="46" dur="1000"/>
                                        <p:tgtEl>
                                          <p:spTgt spid="3"/>
                                        </p:tgtEl>
                                      </p:cBhvr>
                                    </p:animEffect>
                                  </p:childTnLst>
                                </p:cTn>
                              </p:par>
                            </p:childTnLst>
                          </p:cTn>
                        </p:par>
                        <p:par>
                          <p:cTn id="47" fill="hold" nodeType="afterGroup">
                            <p:stCondLst>
                              <p:cond delay="1000"/>
                            </p:stCondLst>
                            <p:childTnLst>
                              <p:par>
                                <p:cTn id="48" presetID="8" presetClass="entr" presetSubtype="16" fill="hold" nodeType="after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diamond(in)">
                                      <p:cBhvr>
                                        <p:cTn id="50" dur="1000"/>
                                        <p:tgtEl>
                                          <p:spTgt spid="20"/>
                                        </p:tgtEl>
                                      </p:cBhvr>
                                    </p:animEffect>
                                  </p:childTnLst>
                                </p:cTn>
                              </p:par>
                            </p:childTnLst>
                          </p:cTn>
                        </p:par>
                        <p:par>
                          <p:cTn id="51" fill="hold" nodeType="afterGroup">
                            <p:stCondLst>
                              <p:cond delay="2000"/>
                            </p:stCondLst>
                            <p:childTnLst>
                              <p:par>
                                <p:cTn id="52" presetID="8" presetClass="entr" presetSubtype="16" fill="hold" nodeType="afterEffect">
                                  <p:stCondLst>
                                    <p:cond delay="500"/>
                                  </p:stCondLst>
                                  <p:childTnLst>
                                    <p:set>
                                      <p:cBhvr>
                                        <p:cTn id="53" dur="1" fill="hold">
                                          <p:stCondLst>
                                            <p:cond delay="0"/>
                                          </p:stCondLst>
                                        </p:cTn>
                                        <p:tgtEl>
                                          <p:spTgt spid="5"/>
                                        </p:tgtEl>
                                        <p:attrNameLst>
                                          <p:attrName>style.visibility</p:attrName>
                                        </p:attrNameLst>
                                      </p:cBhvr>
                                      <p:to>
                                        <p:strVal val="visible"/>
                                      </p:to>
                                    </p:set>
                                    <p:animEffect transition="in" filter="diamond(in)">
                                      <p:cBhvr>
                                        <p:cTn id="54" dur="1000"/>
                                        <p:tgtEl>
                                          <p:spTgt spid="5"/>
                                        </p:tgtEl>
                                      </p:cBhvr>
                                    </p:animEffect>
                                  </p:childTnLst>
                                </p:cTn>
                              </p:par>
                            </p:childTnLst>
                          </p:cTn>
                        </p:par>
                        <p:par>
                          <p:cTn id="55" fill="hold" nodeType="afterGroup">
                            <p:stCondLst>
                              <p:cond delay="3500"/>
                            </p:stCondLst>
                            <p:childTnLst>
                              <p:par>
                                <p:cTn id="56" presetID="8" presetClass="entr" presetSubtype="16" fill="hold" grpId="0" nodeType="afterEffect">
                                  <p:stCondLst>
                                    <p:cond delay="500"/>
                                  </p:stCondLst>
                                  <p:childTnLst>
                                    <p:set>
                                      <p:cBhvr>
                                        <p:cTn id="57" dur="1" fill="hold">
                                          <p:stCondLst>
                                            <p:cond delay="0"/>
                                          </p:stCondLst>
                                        </p:cTn>
                                        <p:tgtEl>
                                          <p:spTgt spid="24"/>
                                        </p:tgtEl>
                                        <p:attrNameLst>
                                          <p:attrName>style.visibility</p:attrName>
                                        </p:attrNameLst>
                                      </p:cBhvr>
                                      <p:to>
                                        <p:strVal val="visible"/>
                                      </p:to>
                                    </p:set>
                                    <p:animEffect transition="in" filter="diamond(in)">
                                      <p:cBhvr>
                                        <p:cTn id="58"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4" grpId="0"/>
      <p:bldP spid="16" grpId="0"/>
      <p:bldP spid="17" grpId="0" animBg="1"/>
      <p:bldP spid="18" grpId="0" animBg="1"/>
      <p:bldP spid="24" grpId="0"/>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6"/>
          <p:cNvSpPr>
            <a:spLocks noChangeArrowheads="1"/>
          </p:cNvSpPr>
          <p:nvPr/>
        </p:nvSpPr>
        <p:spPr bwMode="auto">
          <a:xfrm>
            <a:off x="7543800" y="6596063"/>
            <a:ext cx="1676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just" eaLnBrk="1" hangingPunct="1"/>
            <a:endParaRPr lang="en-US" altLang="en-US" sz="1100" b="1">
              <a:solidFill>
                <a:srgbClr val="002060"/>
              </a:solidFill>
              <a:latin typeface="Times New Roman" pitchFamily="18" charset="0"/>
              <a:cs typeface="Times New Roman" pitchFamily="18" charset="0"/>
            </a:endParaRPr>
          </a:p>
        </p:txBody>
      </p:sp>
      <p:sp>
        <p:nvSpPr>
          <p:cNvPr id="15" name="Rectangle 5"/>
          <p:cNvSpPr>
            <a:spLocks noChangeArrowheads="1"/>
          </p:cNvSpPr>
          <p:nvPr/>
        </p:nvSpPr>
        <p:spPr bwMode="auto">
          <a:xfrm>
            <a:off x="457200" y="1000125"/>
            <a:ext cx="4572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en-US" sz="2800" b="1">
                <a:solidFill>
                  <a:srgbClr val="FF0000"/>
                </a:solidFill>
                <a:latin typeface="Times New Roman" pitchFamily="18" charset="0"/>
                <a:cs typeface="Times New Roman" pitchFamily="18" charset="0"/>
              </a:rPr>
              <a:t>Thang đo nhiệt độ</a:t>
            </a:r>
          </a:p>
        </p:txBody>
      </p:sp>
      <p:sp>
        <p:nvSpPr>
          <p:cNvPr id="17" name="4-Point Star 16"/>
          <p:cNvSpPr/>
          <p:nvPr/>
        </p:nvSpPr>
        <p:spPr>
          <a:xfrm>
            <a:off x="76200" y="1066800"/>
            <a:ext cx="304800" cy="304800"/>
          </a:xfrm>
          <a:prstGeom prst="star4">
            <a:avLst/>
          </a:prstGeom>
          <a:solidFill>
            <a:srgbClr val="FF000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vi-VN"/>
          </a:p>
        </p:txBody>
      </p:sp>
      <p:sp>
        <p:nvSpPr>
          <p:cNvPr id="1029" name="Rectangle 5"/>
          <p:cNvSpPr>
            <a:spLocks noChangeArrowheads="1"/>
          </p:cNvSpPr>
          <p:nvPr/>
        </p:nvSpPr>
        <p:spPr bwMode="auto">
          <a:xfrm>
            <a:off x="519113" y="2074863"/>
            <a:ext cx="38100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en-US" sz="2800" b="1">
                <a:solidFill>
                  <a:srgbClr val="1109B7"/>
                </a:solidFill>
                <a:latin typeface="Times New Roman" pitchFamily="18" charset="0"/>
                <a:cs typeface="Times New Roman" pitchFamily="18" charset="0"/>
              </a:rPr>
              <a:t>Nhiệt giai Celsius</a:t>
            </a:r>
          </a:p>
          <a:p>
            <a:pPr eaLnBrk="1" hangingPunct="1"/>
            <a:r>
              <a:rPr lang="en-US" altLang="en-US" sz="2800" b="1">
                <a:solidFill>
                  <a:srgbClr val="00B050"/>
                </a:solidFill>
                <a:latin typeface="Times New Roman" pitchFamily="18" charset="0"/>
                <a:cs typeface="Times New Roman" pitchFamily="18" charset="0"/>
              </a:rPr>
              <a:t>(nhiệt giai bách phân)</a:t>
            </a:r>
          </a:p>
        </p:txBody>
      </p:sp>
      <p:sp>
        <p:nvSpPr>
          <p:cNvPr id="5" name="Rectangle 6"/>
          <p:cNvSpPr>
            <a:spLocks noChangeArrowheads="1"/>
          </p:cNvSpPr>
          <p:nvPr/>
        </p:nvSpPr>
        <p:spPr bwMode="auto">
          <a:xfrm>
            <a:off x="457200" y="3052763"/>
            <a:ext cx="34496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en-US" sz="2800" b="1">
                <a:solidFill>
                  <a:srgbClr val="1109B7"/>
                </a:solidFill>
                <a:latin typeface="Times New Roman" pitchFamily="18" charset="0"/>
                <a:cs typeface="Times New Roman" pitchFamily="18" charset="0"/>
              </a:rPr>
              <a:t>Nhiệt giai Fahrenheit</a:t>
            </a:r>
          </a:p>
        </p:txBody>
      </p:sp>
      <p:sp>
        <p:nvSpPr>
          <p:cNvPr id="1031" name="Rectangle 7"/>
          <p:cNvSpPr>
            <a:spLocks noChangeArrowheads="1"/>
          </p:cNvSpPr>
          <p:nvPr/>
        </p:nvSpPr>
        <p:spPr bwMode="auto">
          <a:xfrm>
            <a:off x="377825" y="4737100"/>
            <a:ext cx="3810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en-US" sz="2800" b="1">
                <a:solidFill>
                  <a:srgbClr val="1109B7"/>
                </a:solidFill>
                <a:latin typeface="Times New Roman" pitchFamily="18" charset="0"/>
                <a:cs typeface="Times New Roman" pitchFamily="18" charset="0"/>
              </a:rPr>
              <a:t>Nhiệt giai Kelvin </a:t>
            </a:r>
          </a:p>
          <a:p>
            <a:pPr eaLnBrk="1" hangingPunct="1"/>
            <a:r>
              <a:rPr lang="en-US" altLang="en-US" sz="2800" b="1">
                <a:solidFill>
                  <a:srgbClr val="00B050"/>
                </a:solidFill>
                <a:latin typeface="Times New Roman" pitchFamily="18" charset="0"/>
                <a:cs typeface="Times New Roman" pitchFamily="18" charset="0"/>
              </a:rPr>
              <a:t>(nhiệt giai tuyệt đối)</a:t>
            </a:r>
          </a:p>
        </p:txBody>
      </p:sp>
      <p:graphicFrame>
        <p:nvGraphicFramePr>
          <p:cNvPr id="3" name="Object 17"/>
          <p:cNvGraphicFramePr>
            <a:graphicFrameLocks noChangeAspect="1"/>
          </p:cNvGraphicFramePr>
          <p:nvPr/>
        </p:nvGraphicFramePr>
        <p:xfrm>
          <a:off x="887413" y="3576638"/>
          <a:ext cx="2339975" cy="1073150"/>
        </p:xfrm>
        <a:graphic>
          <a:graphicData uri="http://schemas.openxmlformats.org/presentationml/2006/ole">
            <mc:AlternateContent xmlns:mc="http://schemas.openxmlformats.org/markup-compatibility/2006">
              <mc:Choice xmlns:v="urn:schemas-microsoft-com:vml" Requires="v">
                <p:oleObj name="Equation" r:id="rId3" imgW="914400" imgH="419100" progId="Equation.DSMT4">
                  <p:embed/>
                </p:oleObj>
              </mc:Choice>
              <mc:Fallback>
                <p:oleObj name="Equation" r:id="rId3" imgW="914400" imgH="4191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7413" y="3576638"/>
                        <a:ext cx="2339975"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4"/>
          <p:cNvGraphicFramePr>
            <a:graphicFrameLocks noChangeAspect="1"/>
          </p:cNvGraphicFramePr>
          <p:nvPr/>
        </p:nvGraphicFramePr>
        <p:xfrm>
          <a:off x="574675" y="5691188"/>
          <a:ext cx="2730500" cy="617537"/>
        </p:xfrm>
        <a:graphic>
          <a:graphicData uri="http://schemas.openxmlformats.org/presentationml/2006/ole">
            <mc:AlternateContent xmlns:mc="http://schemas.openxmlformats.org/markup-compatibility/2006">
              <mc:Choice xmlns:v="urn:schemas-microsoft-com:vml" Requires="v">
                <p:oleObj name="Equation" r:id="rId5" imgW="1066800" imgH="241300" progId="Equation.DSMT4">
                  <p:embed/>
                </p:oleObj>
              </mc:Choice>
              <mc:Fallback>
                <p:oleObj name="Equation" r:id="rId5" imgW="1066800" imgH="2413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4675" y="5691188"/>
                        <a:ext cx="2730500"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24"/>
          <p:cNvSpPr>
            <a:spLocks noChangeArrowheads="1"/>
          </p:cNvSpPr>
          <p:nvPr/>
        </p:nvSpPr>
        <p:spPr bwMode="auto">
          <a:xfrm>
            <a:off x="63500" y="2289175"/>
            <a:ext cx="4699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eaLnBrk="1" hangingPunct="1"/>
            <a:r>
              <a:rPr lang="en-US" altLang="en-US" sz="2800" b="1">
                <a:solidFill>
                  <a:srgbClr val="002060"/>
                </a:solidFill>
                <a:latin typeface="Times New Roman" pitchFamily="18" charset="0"/>
                <a:sym typeface="Wingdings" pitchFamily="2" charset="2"/>
              </a:rPr>
              <a:t></a:t>
            </a:r>
            <a:endParaRPr lang="en-US" altLang="en-US" sz="2800" b="1">
              <a:solidFill>
                <a:srgbClr val="002060"/>
              </a:solidFill>
            </a:endParaRPr>
          </a:p>
        </p:txBody>
      </p:sp>
      <p:sp>
        <p:nvSpPr>
          <p:cNvPr id="13" name="Rectangle 25"/>
          <p:cNvSpPr>
            <a:spLocks noChangeArrowheads="1"/>
          </p:cNvSpPr>
          <p:nvPr/>
        </p:nvSpPr>
        <p:spPr bwMode="auto">
          <a:xfrm>
            <a:off x="63500" y="3054350"/>
            <a:ext cx="4699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eaLnBrk="1" hangingPunct="1"/>
            <a:r>
              <a:rPr lang="en-US" altLang="en-US" sz="2800" b="1">
                <a:solidFill>
                  <a:srgbClr val="002060"/>
                </a:solidFill>
                <a:latin typeface="Times New Roman" pitchFamily="18" charset="0"/>
                <a:sym typeface="Wingdings" pitchFamily="2" charset="2"/>
              </a:rPr>
              <a:t></a:t>
            </a:r>
            <a:endParaRPr lang="en-US" altLang="en-US" sz="2800" b="1">
              <a:solidFill>
                <a:srgbClr val="002060"/>
              </a:solidFill>
            </a:endParaRPr>
          </a:p>
        </p:txBody>
      </p:sp>
      <p:sp>
        <p:nvSpPr>
          <p:cNvPr id="14" name="Rectangle 24"/>
          <p:cNvSpPr>
            <a:spLocks noChangeArrowheads="1"/>
          </p:cNvSpPr>
          <p:nvPr/>
        </p:nvSpPr>
        <p:spPr bwMode="auto">
          <a:xfrm>
            <a:off x="49213" y="4768850"/>
            <a:ext cx="4699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eaLnBrk="1" hangingPunct="1"/>
            <a:r>
              <a:rPr lang="en-US" altLang="en-US" sz="2800" b="1">
                <a:solidFill>
                  <a:srgbClr val="002060"/>
                </a:solidFill>
                <a:latin typeface="Times New Roman" pitchFamily="18" charset="0"/>
                <a:sym typeface="Wingdings" pitchFamily="2" charset="2"/>
              </a:rPr>
              <a:t></a:t>
            </a:r>
            <a:endParaRPr lang="en-US" altLang="en-US" sz="2800" b="1">
              <a:solidFill>
                <a:srgbClr val="002060"/>
              </a:solidFill>
            </a:endParaRPr>
          </a:p>
        </p:txBody>
      </p:sp>
      <p:sp>
        <p:nvSpPr>
          <p:cNvPr id="18" name="Title 3"/>
          <p:cNvSpPr>
            <a:spLocks noGrp="1"/>
          </p:cNvSpPr>
          <p:nvPr>
            <p:ph type="title"/>
          </p:nvPr>
        </p:nvSpPr>
        <p:spPr>
          <a:xfrm>
            <a:off x="76200" y="6065838"/>
            <a:ext cx="4495800" cy="792162"/>
          </a:xfrm>
        </p:spPr>
        <p:txBody>
          <a:bodyPr rtlCol="0">
            <a:normAutofit/>
          </a:bodyPr>
          <a:lstStyle/>
          <a:p>
            <a:pPr marL="320040" indent="-320040" algn="l" eaLnBrk="1" fontAlgn="auto" hangingPunct="1">
              <a:spcAft>
                <a:spcPts val="0"/>
              </a:spcAft>
              <a:buClr>
                <a:schemeClr val="accent6">
                  <a:lumMod val="75000"/>
                </a:schemeClr>
              </a:buClr>
              <a:defRPr/>
            </a:pPr>
            <a:r>
              <a:rPr lang="en-US" sz="2400" i="1">
                <a:solidFill>
                  <a:srgbClr val="1109B7"/>
                </a:solidFill>
              </a:rPr>
              <a:t>-273°C ~ 0K: T(K) không thể âm.</a:t>
            </a:r>
          </a:p>
        </p:txBody>
      </p:sp>
      <p:sp>
        <p:nvSpPr>
          <p:cNvPr id="19" name="Rounded Rectangle 18"/>
          <p:cNvSpPr/>
          <p:nvPr/>
        </p:nvSpPr>
        <p:spPr>
          <a:xfrm>
            <a:off x="1411288" y="152400"/>
            <a:ext cx="5903912" cy="609600"/>
          </a:xfrm>
          <a:prstGeom prst="round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hangingPunct="1">
              <a:defRPr/>
            </a:pPr>
            <a:r>
              <a:rPr lang="en-US" sz="2800" b="1" dirty="0">
                <a:solidFill>
                  <a:srgbClr val="FF0000"/>
                </a:solidFill>
                <a:latin typeface="Times New Roman" pitchFamily="18" charset="0"/>
                <a:cs typeface="Times New Roman" pitchFamily="18" charset="0"/>
              </a:rPr>
              <a:t>NHIỆT ĐỘ - THANG ĐO NHIỆT</a:t>
            </a:r>
          </a:p>
        </p:txBody>
      </p:sp>
      <p:sp>
        <p:nvSpPr>
          <p:cNvPr id="2" name="Footer Placeholder 1"/>
          <p:cNvSpPr>
            <a:spLocks noGrp="1"/>
          </p:cNvSpPr>
          <p:nvPr>
            <p:ph type="ftr" sz="quarter" idx="11"/>
          </p:nvPr>
        </p:nvSpPr>
        <p:spPr/>
        <p:txBody>
          <a:bodyPr/>
          <a:lstStyle/>
          <a:p>
            <a:pPr>
              <a:defRPr/>
            </a:pPr>
            <a:r>
              <a:rPr lang="en-US"/>
              <a:t>Bùi Quốc Trung - VLDC</a:t>
            </a:r>
          </a:p>
        </p:txBody>
      </p:sp>
      <p:sp>
        <p:nvSpPr>
          <p:cNvPr id="8209"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Font typeface="Arial" charset="0"/>
              <a:buChar char="»"/>
              <a:defRPr sz="2000">
                <a:solidFill>
                  <a:schemeClr val="tx1"/>
                </a:solidFill>
                <a:latin typeface="Calibri" pitchFamily="34" charset="0"/>
              </a:defRPr>
            </a:lvl6pPr>
            <a:lvl7pPr eaLnBrk="0" fontAlgn="base" hangingPunct="0">
              <a:spcAft>
                <a:spcPct val="0"/>
              </a:spcAft>
              <a:buFont typeface="Arial" charset="0"/>
              <a:buChar char="»"/>
              <a:defRPr sz="2000">
                <a:solidFill>
                  <a:schemeClr val="tx1"/>
                </a:solidFill>
                <a:latin typeface="Calibri" pitchFamily="34" charset="0"/>
              </a:defRPr>
            </a:lvl7pPr>
            <a:lvl8pPr eaLnBrk="0" fontAlgn="base" hangingPunct="0">
              <a:spcAft>
                <a:spcPct val="0"/>
              </a:spcAft>
              <a:buFont typeface="Arial" charset="0"/>
              <a:buChar char="»"/>
              <a:defRPr sz="2000">
                <a:solidFill>
                  <a:schemeClr val="tx1"/>
                </a:solidFill>
                <a:latin typeface="Calibri" pitchFamily="34" charset="0"/>
              </a:defRPr>
            </a:lvl8pPr>
            <a:lvl9pPr eaLnBrk="0" fontAlgn="base" hangingPunct="0">
              <a:spcAft>
                <a:spcPct val="0"/>
              </a:spcAft>
              <a:buFont typeface="Arial" charset="0"/>
              <a:buChar char="»"/>
              <a:defRPr sz="2000">
                <a:solidFill>
                  <a:schemeClr val="tx1"/>
                </a:solidFill>
                <a:latin typeface="Calibri" pitchFamily="34" charset="0"/>
              </a:defRPr>
            </a:lvl9pPr>
          </a:lstStyle>
          <a:p>
            <a:fld id="{DD459288-CE26-402A-BABE-B68EE4A7C0D1}" type="slidenum">
              <a:rPr lang="en-US" altLang="en-US" sz="1200">
                <a:solidFill>
                  <a:srgbClr val="898989"/>
                </a:solidFill>
                <a:latin typeface="Arial" charset="0"/>
              </a:rPr>
              <a:pPr/>
              <a:t>6</a:t>
            </a:fld>
            <a:endParaRPr lang="en-US" altLang="en-US" sz="1200">
              <a:solidFill>
                <a:srgbClr val="898989"/>
              </a:solidFill>
              <a:latin typeface="Arial" charset="0"/>
            </a:endParaRPr>
          </a:p>
        </p:txBody>
      </p:sp>
    </p:spTree>
    <p:controls>
      <mc:AlternateContent xmlns:mc="http://schemas.openxmlformats.org/markup-compatibility/2006">
        <mc:Choice xmlns:v="urn:schemas-microsoft-com:vml" Requires="v">
          <p:control r:id="rId1" imgW="4723810" imgH="4648849"/>
        </mc:Choice>
        <mc:Fallback>
          <p:control r:id="rId1" imgW="4723810" imgH="4648849">
            <p:pic>
              <p:nvPicPr>
                <p:cNvPr id="6" name="ShockwaveFlash1"/>
                <p:cNvPicPr preferRelativeResize="0">
                  <a:picLocks noChangeArrowheads="1" noChangeShapeType="1"/>
                </p:cNvPicPr>
                <p:nvPr/>
              </p:nvPicPr>
              <p:blipFill>
                <a:blip r:embed="rId7">
                  <a:extLst>
                    <a:ext uri="{28A0092B-C50C-407E-A947-70E740481C1C}">
                      <a14:useLocalDpi xmlns:a14="http://schemas.microsoft.com/office/drawing/2010/main" val="0"/>
                    </a:ext>
                  </a:extLst>
                </a:blip>
                <a:srcRect/>
                <a:stretch>
                  <a:fillRect/>
                </a:stretch>
              </p:blipFill>
              <p:spPr bwMode="auto">
                <a:xfrm>
                  <a:off x="4419600" y="1981200"/>
                  <a:ext cx="4724400" cy="4648200"/>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extLst>
      <p:ext uri="{BB962C8B-B14F-4D97-AF65-F5344CB8AC3E}">
        <p14:creationId xmlns:p14="http://schemas.microsoft.com/office/powerpoint/2010/main" val="40547326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9"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ppt_x</p:attrName>
                                        </p:attrNameLst>
                                      </p:cBhvr>
                                      <p:tavLst>
                                        <p:tav tm="0">
                                          <p:val>
                                            <p:strVal val="#ppt_x-.2"/>
                                          </p:val>
                                        </p:tav>
                                        <p:tav tm="100000">
                                          <p:val>
                                            <p:strVal val="#ppt_x"/>
                                          </p:val>
                                        </p:tav>
                                      </p:tavLst>
                                    </p:anim>
                                    <p:anim calcmode="lin" valueType="num">
                                      <p:cBhvr>
                                        <p:cTn id="8" dur="500" fill="hold"/>
                                        <p:tgtEl>
                                          <p:spTgt spid="17"/>
                                        </p:tgtEl>
                                        <p:attrNameLst>
                                          <p:attrName>ppt_y</p:attrName>
                                        </p:attrNameLst>
                                      </p:cBhvr>
                                      <p:tavLst>
                                        <p:tav tm="0">
                                          <p:val>
                                            <p:strVal val="#ppt_y"/>
                                          </p:val>
                                        </p:tav>
                                        <p:tav tm="100000">
                                          <p:val>
                                            <p:strVal val="#ppt_y"/>
                                          </p:val>
                                        </p:tav>
                                      </p:tavLst>
                                    </p:anim>
                                    <p:animEffect transition="in" filter="wipe(right)" prLst="gradientSize: 0.1">
                                      <p:cBhvr>
                                        <p:cTn id="9" dur="500"/>
                                        <p:tgtEl>
                                          <p:spTgt spid="17"/>
                                        </p:tgtEl>
                                      </p:cBhvr>
                                    </p:animEffect>
                                  </p:childTnLst>
                                </p:cTn>
                              </p:par>
                            </p:childTnLst>
                          </p:cTn>
                        </p:par>
                        <p:par>
                          <p:cTn id="10" fill="hold" nodeType="afterGroup">
                            <p:stCondLst>
                              <p:cond delay="500"/>
                            </p:stCondLst>
                            <p:childTnLst>
                              <p:par>
                                <p:cTn id="11" presetID="29" presetClass="entr" presetSubtype="0" fill="hold" nodeType="after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p:cTn id="13" dur="500" fill="hold"/>
                                        <p:tgtEl>
                                          <p:spTgt spid="15"/>
                                        </p:tgtEl>
                                        <p:attrNameLst>
                                          <p:attrName>ppt_x</p:attrName>
                                        </p:attrNameLst>
                                      </p:cBhvr>
                                      <p:tavLst>
                                        <p:tav tm="0">
                                          <p:val>
                                            <p:strVal val="#ppt_x-.2"/>
                                          </p:val>
                                        </p:tav>
                                        <p:tav tm="100000">
                                          <p:val>
                                            <p:strVal val="#ppt_x"/>
                                          </p:val>
                                        </p:tav>
                                      </p:tavLst>
                                    </p:anim>
                                    <p:anim calcmode="lin" valueType="num">
                                      <p:cBhvr>
                                        <p:cTn id="14" dur="500" fill="hold"/>
                                        <p:tgtEl>
                                          <p:spTgt spid="15"/>
                                        </p:tgtEl>
                                        <p:attrNameLst>
                                          <p:attrName>ppt_y</p:attrName>
                                        </p:attrNameLst>
                                      </p:cBhvr>
                                      <p:tavLst>
                                        <p:tav tm="0">
                                          <p:val>
                                            <p:strVal val="#ppt_y"/>
                                          </p:val>
                                        </p:tav>
                                        <p:tav tm="100000">
                                          <p:val>
                                            <p:strVal val="#ppt_y"/>
                                          </p:val>
                                        </p:tav>
                                      </p:tavLst>
                                    </p:anim>
                                    <p:animEffect transition="in" filter="wipe(right)" prLst="gradientSize: 0.1">
                                      <p:cBhvr>
                                        <p:cTn id="15" dur="500"/>
                                        <p:tgtEl>
                                          <p:spTgt spid="1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9"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p:cTn id="20" dur="500" fill="hold"/>
                                        <p:tgtEl>
                                          <p:spTgt spid="12"/>
                                        </p:tgtEl>
                                        <p:attrNameLst>
                                          <p:attrName>ppt_x</p:attrName>
                                        </p:attrNameLst>
                                      </p:cBhvr>
                                      <p:tavLst>
                                        <p:tav tm="0">
                                          <p:val>
                                            <p:strVal val="#ppt_x-.2"/>
                                          </p:val>
                                        </p:tav>
                                        <p:tav tm="100000">
                                          <p:val>
                                            <p:strVal val="#ppt_x"/>
                                          </p:val>
                                        </p:tav>
                                      </p:tavLst>
                                    </p:anim>
                                    <p:anim calcmode="lin" valueType="num">
                                      <p:cBhvr>
                                        <p:cTn id="21" dur="500" fill="hold"/>
                                        <p:tgtEl>
                                          <p:spTgt spid="12"/>
                                        </p:tgtEl>
                                        <p:attrNameLst>
                                          <p:attrName>ppt_y</p:attrName>
                                        </p:attrNameLst>
                                      </p:cBhvr>
                                      <p:tavLst>
                                        <p:tav tm="0">
                                          <p:val>
                                            <p:strVal val="#ppt_y"/>
                                          </p:val>
                                        </p:tav>
                                        <p:tav tm="100000">
                                          <p:val>
                                            <p:strVal val="#ppt_y"/>
                                          </p:val>
                                        </p:tav>
                                      </p:tavLst>
                                    </p:anim>
                                    <p:animEffect transition="in" filter="wipe(right)" prLst="gradientSize: 0.1">
                                      <p:cBhvr>
                                        <p:cTn id="22" dur="500"/>
                                        <p:tgtEl>
                                          <p:spTgt spid="12"/>
                                        </p:tgtEl>
                                      </p:cBhvr>
                                    </p:animEffect>
                                  </p:childTnLst>
                                </p:cTn>
                              </p:par>
                            </p:childTnLst>
                          </p:cTn>
                        </p:par>
                        <p:par>
                          <p:cTn id="23" fill="hold" nodeType="afterGroup">
                            <p:stCondLst>
                              <p:cond delay="500"/>
                            </p:stCondLst>
                            <p:childTnLst>
                              <p:par>
                                <p:cTn id="24" presetID="29" presetClass="entr" presetSubtype="0" fill="hold" nodeType="afterEffect">
                                  <p:stCondLst>
                                    <p:cond delay="0"/>
                                  </p:stCondLst>
                                  <p:childTnLst>
                                    <p:set>
                                      <p:cBhvr>
                                        <p:cTn id="25" dur="1" fill="hold">
                                          <p:stCondLst>
                                            <p:cond delay="0"/>
                                          </p:stCondLst>
                                        </p:cTn>
                                        <p:tgtEl>
                                          <p:spTgt spid="1029"/>
                                        </p:tgtEl>
                                        <p:attrNameLst>
                                          <p:attrName>style.visibility</p:attrName>
                                        </p:attrNameLst>
                                      </p:cBhvr>
                                      <p:to>
                                        <p:strVal val="visible"/>
                                      </p:to>
                                    </p:set>
                                    <p:anim calcmode="lin" valueType="num">
                                      <p:cBhvr>
                                        <p:cTn id="26" dur="500" fill="hold"/>
                                        <p:tgtEl>
                                          <p:spTgt spid="1029"/>
                                        </p:tgtEl>
                                        <p:attrNameLst>
                                          <p:attrName>ppt_x</p:attrName>
                                        </p:attrNameLst>
                                      </p:cBhvr>
                                      <p:tavLst>
                                        <p:tav tm="0">
                                          <p:val>
                                            <p:strVal val="#ppt_x-.2"/>
                                          </p:val>
                                        </p:tav>
                                        <p:tav tm="100000">
                                          <p:val>
                                            <p:strVal val="#ppt_x"/>
                                          </p:val>
                                        </p:tav>
                                      </p:tavLst>
                                    </p:anim>
                                    <p:anim calcmode="lin" valueType="num">
                                      <p:cBhvr>
                                        <p:cTn id="27" dur="500" fill="hold"/>
                                        <p:tgtEl>
                                          <p:spTgt spid="1029"/>
                                        </p:tgtEl>
                                        <p:attrNameLst>
                                          <p:attrName>ppt_y</p:attrName>
                                        </p:attrNameLst>
                                      </p:cBhvr>
                                      <p:tavLst>
                                        <p:tav tm="0">
                                          <p:val>
                                            <p:strVal val="#ppt_y"/>
                                          </p:val>
                                        </p:tav>
                                        <p:tav tm="100000">
                                          <p:val>
                                            <p:strVal val="#ppt_y"/>
                                          </p:val>
                                        </p:tav>
                                      </p:tavLst>
                                    </p:anim>
                                    <p:animEffect transition="in" filter="wipe(right)" prLst="gradientSize: 0.1">
                                      <p:cBhvr>
                                        <p:cTn id="28" dur="500"/>
                                        <p:tgtEl>
                                          <p:spTgt spid="102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9"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p:cTn id="33" dur="500" fill="hold"/>
                                        <p:tgtEl>
                                          <p:spTgt spid="13"/>
                                        </p:tgtEl>
                                        <p:attrNameLst>
                                          <p:attrName>ppt_x</p:attrName>
                                        </p:attrNameLst>
                                      </p:cBhvr>
                                      <p:tavLst>
                                        <p:tav tm="0">
                                          <p:val>
                                            <p:strVal val="#ppt_x-.2"/>
                                          </p:val>
                                        </p:tav>
                                        <p:tav tm="100000">
                                          <p:val>
                                            <p:strVal val="#ppt_x"/>
                                          </p:val>
                                        </p:tav>
                                      </p:tavLst>
                                    </p:anim>
                                    <p:anim calcmode="lin" valueType="num">
                                      <p:cBhvr>
                                        <p:cTn id="34" dur="500" fill="hold"/>
                                        <p:tgtEl>
                                          <p:spTgt spid="13"/>
                                        </p:tgtEl>
                                        <p:attrNameLst>
                                          <p:attrName>ppt_y</p:attrName>
                                        </p:attrNameLst>
                                      </p:cBhvr>
                                      <p:tavLst>
                                        <p:tav tm="0">
                                          <p:val>
                                            <p:strVal val="#ppt_y"/>
                                          </p:val>
                                        </p:tav>
                                        <p:tav tm="100000">
                                          <p:val>
                                            <p:strVal val="#ppt_y"/>
                                          </p:val>
                                        </p:tav>
                                      </p:tavLst>
                                    </p:anim>
                                    <p:animEffect transition="in" filter="wipe(right)" prLst="gradientSize: 0.1">
                                      <p:cBhvr>
                                        <p:cTn id="35" dur="500"/>
                                        <p:tgtEl>
                                          <p:spTgt spid="13"/>
                                        </p:tgtEl>
                                      </p:cBhvr>
                                    </p:animEffect>
                                  </p:childTnLst>
                                </p:cTn>
                              </p:par>
                            </p:childTnLst>
                          </p:cTn>
                        </p:par>
                        <p:par>
                          <p:cTn id="36" fill="hold" nodeType="afterGroup">
                            <p:stCondLst>
                              <p:cond delay="500"/>
                            </p:stCondLst>
                            <p:childTnLst>
                              <p:par>
                                <p:cTn id="37" presetID="29" presetClass="entr" presetSubtype="0" fill="hold" nodeType="after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p:cTn id="39" dur="500" fill="hold"/>
                                        <p:tgtEl>
                                          <p:spTgt spid="5"/>
                                        </p:tgtEl>
                                        <p:attrNameLst>
                                          <p:attrName>ppt_x</p:attrName>
                                        </p:attrNameLst>
                                      </p:cBhvr>
                                      <p:tavLst>
                                        <p:tav tm="0">
                                          <p:val>
                                            <p:strVal val="#ppt_x-.2"/>
                                          </p:val>
                                        </p:tav>
                                        <p:tav tm="100000">
                                          <p:val>
                                            <p:strVal val="#ppt_x"/>
                                          </p:val>
                                        </p:tav>
                                      </p:tavLst>
                                    </p:anim>
                                    <p:anim calcmode="lin" valueType="num">
                                      <p:cBhvr>
                                        <p:cTn id="40" dur="500" fill="hold"/>
                                        <p:tgtEl>
                                          <p:spTgt spid="5"/>
                                        </p:tgtEl>
                                        <p:attrNameLst>
                                          <p:attrName>ppt_y</p:attrName>
                                        </p:attrNameLst>
                                      </p:cBhvr>
                                      <p:tavLst>
                                        <p:tav tm="0">
                                          <p:val>
                                            <p:strVal val="#ppt_y"/>
                                          </p:val>
                                        </p:tav>
                                        <p:tav tm="100000">
                                          <p:val>
                                            <p:strVal val="#ppt_y"/>
                                          </p:val>
                                        </p:tav>
                                      </p:tavLst>
                                    </p:anim>
                                    <p:animEffect transition="in" filter="wipe(right)" prLst="gradientSize: 0.1">
                                      <p:cBhvr>
                                        <p:cTn id="41" dur="500"/>
                                        <p:tgtEl>
                                          <p:spTgt spid="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9"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anim calcmode="lin" valueType="num">
                                      <p:cBhvr>
                                        <p:cTn id="46" dur="500" fill="hold"/>
                                        <p:tgtEl>
                                          <p:spTgt spid="3"/>
                                        </p:tgtEl>
                                        <p:attrNameLst>
                                          <p:attrName>ppt_x</p:attrName>
                                        </p:attrNameLst>
                                      </p:cBhvr>
                                      <p:tavLst>
                                        <p:tav tm="0">
                                          <p:val>
                                            <p:strVal val="#ppt_x-.2"/>
                                          </p:val>
                                        </p:tav>
                                        <p:tav tm="100000">
                                          <p:val>
                                            <p:strVal val="#ppt_x"/>
                                          </p:val>
                                        </p:tav>
                                      </p:tavLst>
                                    </p:anim>
                                    <p:anim calcmode="lin" valueType="num">
                                      <p:cBhvr>
                                        <p:cTn id="47" dur="500" fill="hold"/>
                                        <p:tgtEl>
                                          <p:spTgt spid="3"/>
                                        </p:tgtEl>
                                        <p:attrNameLst>
                                          <p:attrName>ppt_y</p:attrName>
                                        </p:attrNameLst>
                                      </p:cBhvr>
                                      <p:tavLst>
                                        <p:tav tm="0">
                                          <p:val>
                                            <p:strVal val="#ppt_y"/>
                                          </p:val>
                                        </p:tav>
                                        <p:tav tm="100000">
                                          <p:val>
                                            <p:strVal val="#ppt_y"/>
                                          </p:val>
                                        </p:tav>
                                      </p:tavLst>
                                    </p:anim>
                                    <p:animEffect transition="in" filter="wipe(right)" prLst="gradientSize: 0.1">
                                      <p:cBhvr>
                                        <p:cTn id="48" dur="500"/>
                                        <p:tgtEl>
                                          <p:spTgt spid="3"/>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9" presetClass="entr" presetSubtype="0" fill="hold" nodeType="clickEffect">
                                  <p:stCondLst>
                                    <p:cond delay="0"/>
                                  </p:stCondLst>
                                  <p:childTnLst>
                                    <p:set>
                                      <p:cBhvr>
                                        <p:cTn id="52" dur="1" fill="hold">
                                          <p:stCondLst>
                                            <p:cond delay="0"/>
                                          </p:stCondLst>
                                        </p:cTn>
                                        <p:tgtEl>
                                          <p:spTgt spid="14"/>
                                        </p:tgtEl>
                                        <p:attrNameLst>
                                          <p:attrName>style.visibility</p:attrName>
                                        </p:attrNameLst>
                                      </p:cBhvr>
                                      <p:to>
                                        <p:strVal val="visible"/>
                                      </p:to>
                                    </p:set>
                                    <p:anim calcmode="lin" valueType="num">
                                      <p:cBhvr>
                                        <p:cTn id="53" dur="500" fill="hold"/>
                                        <p:tgtEl>
                                          <p:spTgt spid="14"/>
                                        </p:tgtEl>
                                        <p:attrNameLst>
                                          <p:attrName>ppt_x</p:attrName>
                                        </p:attrNameLst>
                                      </p:cBhvr>
                                      <p:tavLst>
                                        <p:tav tm="0">
                                          <p:val>
                                            <p:strVal val="#ppt_x-.2"/>
                                          </p:val>
                                        </p:tav>
                                        <p:tav tm="100000">
                                          <p:val>
                                            <p:strVal val="#ppt_x"/>
                                          </p:val>
                                        </p:tav>
                                      </p:tavLst>
                                    </p:anim>
                                    <p:anim calcmode="lin" valueType="num">
                                      <p:cBhvr>
                                        <p:cTn id="54" dur="500" fill="hold"/>
                                        <p:tgtEl>
                                          <p:spTgt spid="14"/>
                                        </p:tgtEl>
                                        <p:attrNameLst>
                                          <p:attrName>ppt_y</p:attrName>
                                        </p:attrNameLst>
                                      </p:cBhvr>
                                      <p:tavLst>
                                        <p:tav tm="0">
                                          <p:val>
                                            <p:strVal val="#ppt_y"/>
                                          </p:val>
                                        </p:tav>
                                        <p:tav tm="100000">
                                          <p:val>
                                            <p:strVal val="#ppt_y"/>
                                          </p:val>
                                        </p:tav>
                                      </p:tavLst>
                                    </p:anim>
                                    <p:animEffect transition="in" filter="wipe(right)" prLst="gradientSize: 0.1">
                                      <p:cBhvr>
                                        <p:cTn id="55" dur="500"/>
                                        <p:tgtEl>
                                          <p:spTgt spid="14"/>
                                        </p:tgtEl>
                                      </p:cBhvr>
                                    </p:animEffect>
                                  </p:childTnLst>
                                </p:cTn>
                              </p:par>
                            </p:childTnLst>
                          </p:cTn>
                        </p:par>
                        <p:par>
                          <p:cTn id="56" fill="hold" nodeType="afterGroup">
                            <p:stCondLst>
                              <p:cond delay="500"/>
                            </p:stCondLst>
                            <p:childTnLst>
                              <p:par>
                                <p:cTn id="57" presetID="29" presetClass="entr" presetSubtype="0" fill="hold" nodeType="afterEffect">
                                  <p:stCondLst>
                                    <p:cond delay="0"/>
                                  </p:stCondLst>
                                  <p:childTnLst>
                                    <p:set>
                                      <p:cBhvr>
                                        <p:cTn id="58" dur="1" fill="hold">
                                          <p:stCondLst>
                                            <p:cond delay="0"/>
                                          </p:stCondLst>
                                        </p:cTn>
                                        <p:tgtEl>
                                          <p:spTgt spid="1031"/>
                                        </p:tgtEl>
                                        <p:attrNameLst>
                                          <p:attrName>style.visibility</p:attrName>
                                        </p:attrNameLst>
                                      </p:cBhvr>
                                      <p:to>
                                        <p:strVal val="visible"/>
                                      </p:to>
                                    </p:set>
                                    <p:anim calcmode="lin" valueType="num">
                                      <p:cBhvr>
                                        <p:cTn id="59" dur="500" fill="hold"/>
                                        <p:tgtEl>
                                          <p:spTgt spid="1031"/>
                                        </p:tgtEl>
                                        <p:attrNameLst>
                                          <p:attrName>ppt_x</p:attrName>
                                        </p:attrNameLst>
                                      </p:cBhvr>
                                      <p:tavLst>
                                        <p:tav tm="0">
                                          <p:val>
                                            <p:strVal val="#ppt_x-.2"/>
                                          </p:val>
                                        </p:tav>
                                        <p:tav tm="100000">
                                          <p:val>
                                            <p:strVal val="#ppt_x"/>
                                          </p:val>
                                        </p:tav>
                                      </p:tavLst>
                                    </p:anim>
                                    <p:anim calcmode="lin" valueType="num">
                                      <p:cBhvr>
                                        <p:cTn id="60" dur="500" fill="hold"/>
                                        <p:tgtEl>
                                          <p:spTgt spid="1031"/>
                                        </p:tgtEl>
                                        <p:attrNameLst>
                                          <p:attrName>ppt_y</p:attrName>
                                        </p:attrNameLst>
                                      </p:cBhvr>
                                      <p:tavLst>
                                        <p:tav tm="0">
                                          <p:val>
                                            <p:strVal val="#ppt_y"/>
                                          </p:val>
                                        </p:tav>
                                        <p:tav tm="100000">
                                          <p:val>
                                            <p:strVal val="#ppt_y"/>
                                          </p:val>
                                        </p:tav>
                                      </p:tavLst>
                                    </p:anim>
                                    <p:animEffect transition="in" filter="wipe(right)" prLst="gradientSize: 0.1">
                                      <p:cBhvr>
                                        <p:cTn id="61" dur="500"/>
                                        <p:tgtEl>
                                          <p:spTgt spid="1031"/>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9" presetClass="entr" presetSubtype="0" fill="hold" nodeType="clickEffect">
                                  <p:stCondLst>
                                    <p:cond delay="0"/>
                                  </p:stCondLst>
                                  <p:childTnLst>
                                    <p:set>
                                      <p:cBhvr>
                                        <p:cTn id="65" dur="1" fill="hold">
                                          <p:stCondLst>
                                            <p:cond delay="0"/>
                                          </p:stCondLst>
                                        </p:cTn>
                                        <p:tgtEl>
                                          <p:spTgt spid="4"/>
                                        </p:tgtEl>
                                        <p:attrNameLst>
                                          <p:attrName>style.visibility</p:attrName>
                                        </p:attrNameLst>
                                      </p:cBhvr>
                                      <p:to>
                                        <p:strVal val="visible"/>
                                      </p:to>
                                    </p:set>
                                    <p:anim calcmode="lin" valueType="num">
                                      <p:cBhvr>
                                        <p:cTn id="66" dur="500" fill="hold"/>
                                        <p:tgtEl>
                                          <p:spTgt spid="4"/>
                                        </p:tgtEl>
                                        <p:attrNameLst>
                                          <p:attrName>ppt_x</p:attrName>
                                        </p:attrNameLst>
                                      </p:cBhvr>
                                      <p:tavLst>
                                        <p:tav tm="0">
                                          <p:val>
                                            <p:strVal val="#ppt_x-.2"/>
                                          </p:val>
                                        </p:tav>
                                        <p:tav tm="100000">
                                          <p:val>
                                            <p:strVal val="#ppt_x"/>
                                          </p:val>
                                        </p:tav>
                                      </p:tavLst>
                                    </p:anim>
                                    <p:anim calcmode="lin" valueType="num">
                                      <p:cBhvr>
                                        <p:cTn id="67" dur="5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68" dur="500"/>
                                        <p:tgtEl>
                                          <p:spTgt spid="4"/>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10" presetClass="entr" presetSubtype="0" fill="hold" nodeType="click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animBg="1"/>
      <p:bldP spid="1029" grpId="0"/>
      <p:bldP spid="5" grpId="0"/>
      <p:bldP spid="1031" grpId="0"/>
      <p:bldP spid="12" grpId="0"/>
      <p:bldP spid="13"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6781800" cy="563562"/>
          </a:xfrm>
        </p:spPr>
        <p:style>
          <a:lnRef idx="1">
            <a:schemeClr val="accent5"/>
          </a:lnRef>
          <a:fillRef idx="2">
            <a:schemeClr val="accent5"/>
          </a:fillRef>
          <a:effectRef idx="1">
            <a:schemeClr val="accent5"/>
          </a:effectRef>
          <a:fontRef idx="minor">
            <a:schemeClr val="dk1"/>
          </a:fontRef>
        </p:style>
        <p:txBody>
          <a:bodyPr>
            <a:normAutofit fontScale="90000"/>
          </a:bodyPr>
          <a:lstStyle/>
          <a:p>
            <a:pPr marL="0" indent="0"/>
            <a:r>
              <a:rPr lang="en-US" sz="3200" dirty="0" err="1">
                <a:solidFill>
                  <a:srgbClr val="FF0000"/>
                </a:solidFill>
                <a:latin typeface="Times New Roman" pitchFamily="18" charset="0"/>
                <a:cs typeface="Times New Roman" pitchFamily="18" charset="0"/>
              </a:rPr>
              <a:t>Khối</a:t>
            </a:r>
            <a:r>
              <a:rPr lang="en-US" sz="3200" dirty="0">
                <a:solidFill>
                  <a:srgbClr val="FF0000"/>
                </a:solidFill>
                <a:latin typeface="Times New Roman" pitchFamily="18" charset="0"/>
                <a:cs typeface="Times New Roman" pitchFamily="18" charset="0"/>
              </a:rPr>
              <a:t> </a:t>
            </a:r>
            <a:r>
              <a:rPr lang="en-US" sz="3200" dirty="0" err="1">
                <a:solidFill>
                  <a:srgbClr val="FF0000"/>
                </a:solidFill>
                <a:latin typeface="Times New Roman" pitchFamily="18" charset="0"/>
                <a:cs typeface="Times New Roman" pitchFamily="18" charset="0"/>
              </a:rPr>
              <a:t>lượng</a:t>
            </a:r>
            <a:r>
              <a:rPr lang="en-US" sz="3200" dirty="0">
                <a:solidFill>
                  <a:srgbClr val="FF0000"/>
                </a:solidFill>
                <a:latin typeface="Times New Roman" pitchFamily="18" charset="0"/>
                <a:cs typeface="Times New Roman" pitchFamily="18" charset="0"/>
              </a:rPr>
              <a:t> </a:t>
            </a:r>
            <a:r>
              <a:rPr lang="en-US" sz="3200" dirty="0" err="1">
                <a:solidFill>
                  <a:srgbClr val="FF0000"/>
                </a:solidFill>
                <a:latin typeface="Times New Roman" pitchFamily="18" charset="0"/>
                <a:cs typeface="Times New Roman" pitchFamily="18" charset="0"/>
              </a:rPr>
              <a:t>riêng</a:t>
            </a:r>
            <a:r>
              <a:rPr lang="en-US" sz="3200" dirty="0">
                <a:solidFill>
                  <a:srgbClr val="FF0000"/>
                </a:solidFill>
                <a:latin typeface="Times New Roman" pitchFamily="18" charset="0"/>
                <a:cs typeface="Times New Roman" pitchFamily="18" charset="0"/>
              </a:rPr>
              <a:t> </a:t>
            </a:r>
            <a:r>
              <a:rPr lang="en-US" sz="3200" dirty="0" err="1">
                <a:solidFill>
                  <a:srgbClr val="FF0000"/>
                </a:solidFill>
                <a:latin typeface="Times New Roman" pitchFamily="18" charset="0"/>
                <a:cs typeface="Times New Roman" pitchFamily="18" charset="0"/>
              </a:rPr>
              <a:t>và</a:t>
            </a:r>
            <a:r>
              <a:rPr lang="en-US" sz="3200" dirty="0">
                <a:solidFill>
                  <a:srgbClr val="FF0000"/>
                </a:solidFill>
                <a:latin typeface="Times New Roman" pitchFamily="18" charset="0"/>
                <a:cs typeface="Times New Roman" pitchFamily="18" charset="0"/>
              </a:rPr>
              <a:t> </a:t>
            </a:r>
            <a:r>
              <a:rPr lang="en-US" sz="3200" dirty="0" err="1">
                <a:solidFill>
                  <a:srgbClr val="FF0000"/>
                </a:solidFill>
                <a:latin typeface="Times New Roman" pitchFamily="18" charset="0"/>
                <a:cs typeface="Times New Roman" pitchFamily="18" charset="0"/>
              </a:rPr>
              <a:t>áp</a:t>
            </a:r>
            <a:r>
              <a:rPr lang="en-US" sz="3200" dirty="0">
                <a:solidFill>
                  <a:srgbClr val="FF0000"/>
                </a:solidFill>
                <a:latin typeface="Times New Roman" pitchFamily="18" charset="0"/>
                <a:cs typeface="Times New Roman" pitchFamily="18" charset="0"/>
              </a:rPr>
              <a:t> </a:t>
            </a:r>
            <a:r>
              <a:rPr lang="en-US" sz="3200" dirty="0" err="1">
                <a:solidFill>
                  <a:srgbClr val="FF0000"/>
                </a:solidFill>
                <a:latin typeface="Times New Roman" pitchFamily="18" charset="0"/>
                <a:cs typeface="Times New Roman" pitchFamily="18" charset="0"/>
              </a:rPr>
              <a:t>suất</a:t>
            </a:r>
            <a:endParaRPr lang="en-US" sz="3200" dirty="0">
              <a:solidFill>
                <a:srgbClr val="FF0000"/>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914400"/>
                <a:ext cx="8229600" cy="5211763"/>
              </a:xfrm>
              <a:ln>
                <a:noFill/>
              </a:ln>
            </p:spPr>
            <p:style>
              <a:lnRef idx="2">
                <a:schemeClr val="accent2"/>
              </a:lnRef>
              <a:fillRef idx="1">
                <a:schemeClr val="lt1"/>
              </a:fillRef>
              <a:effectRef idx="0">
                <a:schemeClr val="accent2"/>
              </a:effectRef>
              <a:fontRef idx="minor">
                <a:schemeClr val="dk1"/>
              </a:fontRef>
            </p:style>
            <p:txBody>
              <a:bodyPr>
                <a:normAutofit/>
              </a:bodyPr>
              <a:lstStyle/>
              <a:p>
                <a:pPr marL="0" indent="0">
                  <a:buNone/>
                </a:pPr>
                <a:r>
                  <a:rPr lang="en-US" sz="2800" dirty="0" err="1">
                    <a:solidFill>
                      <a:schemeClr val="tx1"/>
                    </a:solidFill>
                    <a:latin typeface="Times New Roman" pitchFamily="18" charset="0"/>
                    <a:cs typeface="Times New Roman" pitchFamily="18" charset="0"/>
                  </a:rPr>
                  <a:t>Chất</a:t>
                </a:r>
                <a:r>
                  <a:rPr lang="en-US" sz="2800" dirty="0">
                    <a:solidFill>
                      <a:schemeClr val="tx1"/>
                    </a:solidFill>
                    <a:latin typeface="Times New Roman" pitchFamily="18" charset="0"/>
                    <a:cs typeface="Times New Roman" pitchFamily="18" charset="0"/>
                  </a:rPr>
                  <a:t> </a:t>
                </a:r>
                <a:r>
                  <a:rPr lang="en-US" sz="2800" dirty="0" err="1">
                    <a:solidFill>
                      <a:schemeClr val="tx1"/>
                    </a:solidFill>
                    <a:latin typeface="Times New Roman" pitchFamily="18" charset="0"/>
                    <a:cs typeface="Times New Roman" pitchFamily="18" charset="0"/>
                  </a:rPr>
                  <a:t>rắn</a:t>
                </a:r>
                <a:r>
                  <a:rPr lang="en-US" sz="2800" dirty="0">
                    <a:solidFill>
                      <a:schemeClr val="tx1"/>
                    </a:solidFill>
                    <a:latin typeface="Times New Roman" pitchFamily="18" charset="0"/>
                    <a:cs typeface="Times New Roman" pitchFamily="18" charset="0"/>
                  </a:rPr>
                  <a:t> ( </a:t>
                </a:r>
                <a:r>
                  <a:rPr lang="en-US" sz="2800" dirty="0" err="1">
                    <a:solidFill>
                      <a:schemeClr val="tx1"/>
                    </a:solidFill>
                    <a:latin typeface="Times New Roman" pitchFamily="18" charset="0"/>
                    <a:cs typeface="Times New Roman" pitchFamily="18" charset="0"/>
                  </a:rPr>
                  <a:t>khối</a:t>
                </a:r>
                <a:r>
                  <a:rPr lang="en-US" sz="2800" dirty="0">
                    <a:solidFill>
                      <a:schemeClr val="tx1"/>
                    </a:solidFill>
                    <a:latin typeface="Times New Roman" pitchFamily="18" charset="0"/>
                    <a:cs typeface="Times New Roman" pitchFamily="18" charset="0"/>
                  </a:rPr>
                  <a:t> </a:t>
                </a:r>
                <a:r>
                  <a:rPr lang="en-US" sz="2800" dirty="0" err="1">
                    <a:solidFill>
                      <a:schemeClr val="tx1"/>
                    </a:solidFill>
                    <a:latin typeface="Times New Roman" pitchFamily="18" charset="0"/>
                    <a:cs typeface="Times New Roman" pitchFamily="18" charset="0"/>
                  </a:rPr>
                  <a:t>lượng</a:t>
                </a:r>
                <a:r>
                  <a:rPr lang="en-US" sz="2800" dirty="0">
                    <a:solidFill>
                      <a:schemeClr val="tx1"/>
                    </a:solidFill>
                    <a:latin typeface="Times New Roman" pitchFamily="18" charset="0"/>
                    <a:cs typeface="Times New Roman" pitchFamily="18" charset="0"/>
                  </a:rPr>
                  <a:t> – </a:t>
                </a:r>
                <a:r>
                  <a:rPr lang="en-US" sz="2800" dirty="0" err="1">
                    <a:solidFill>
                      <a:schemeClr val="tx1"/>
                    </a:solidFill>
                    <a:latin typeface="Times New Roman" pitchFamily="18" charset="0"/>
                    <a:cs typeface="Times New Roman" pitchFamily="18" charset="0"/>
                  </a:rPr>
                  <a:t>lực</a:t>
                </a:r>
                <a:r>
                  <a:rPr lang="en-US" sz="2800" dirty="0">
                    <a:solidFill>
                      <a:schemeClr val="tx1"/>
                    </a:solidFill>
                    <a:latin typeface="Times New Roman" pitchFamily="18" charset="0"/>
                    <a:cs typeface="Times New Roman" pitchFamily="18" charset="0"/>
                  </a:rPr>
                  <a:t> </a:t>
                </a:r>
                <a:r>
                  <a:rPr lang="en-US" sz="2800" dirty="0" err="1">
                    <a:solidFill>
                      <a:schemeClr val="tx1"/>
                    </a:solidFill>
                    <a:latin typeface="Times New Roman" pitchFamily="18" charset="0"/>
                    <a:cs typeface="Times New Roman" pitchFamily="18" charset="0"/>
                  </a:rPr>
                  <a:t>tác</a:t>
                </a:r>
                <a:r>
                  <a:rPr lang="en-US" sz="2800" dirty="0">
                    <a:solidFill>
                      <a:schemeClr val="tx1"/>
                    </a:solidFill>
                    <a:latin typeface="Times New Roman" pitchFamily="18" charset="0"/>
                    <a:cs typeface="Times New Roman" pitchFamily="18" charset="0"/>
                  </a:rPr>
                  <a:t> </a:t>
                </a:r>
                <a:r>
                  <a:rPr lang="en-US" sz="2800" dirty="0" err="1">
                    <a:solidFill>
                      <a:schemeClr val="tx1"/>
                    </a:solidFill>
                    <a:latin typeface="Times New Roman" pitchFamily="18" charset="0"/>
                    <a:cs typeface="Times New Roman" pitchFamily="18" charset="0"/>
                  </a:rPr>
                  <a:t>dụng</a:t>
                </a:r>
                <a:r>
                  <a:rPr lang="en-US" sz="2800" dirty="0">
                    <a:solidFill>
                      <a:schemeClr val="tx1"/>
                    </a:solidFill>
                    <a:latin typeface="Times New Roman" pitchFamily="18" charset="0"/>
                    <a:cs typeface="Times New Roman" pitchFamily="18" charset="0"/>
                  </a:rPr>
                  <a:t> )             </a:t>
                </a:r>
                <a:r>
                  <a:rPr lang="en-US" sz="2800" dirty="0" err="1">
                    <a:solidFill>
                      <a:schemeClr val="tx1"/>
                    </a:solidFill>
                    <a:latin typeface="Times New Roman" pitchFamily="18" charset="0"/>
                    <a:cs typeface="Times New Roman" pitchFamily="18" charset="0"/>
                  </a:rPr>
                  <a:t>Chất</a:t>
                </a:r>
                <a:r>
                  <a:rPr lang="en-US" sz="2800" dirty="0">
                    <a:solidFill>
                      <a:schemeClr val="tx1"/>
                    </a:solidFill>
                    <a:latin typeface="Times New Roman" pitchFamily="18" charset="0"/>
                    <a:cs typeface="Times New Roman" pitchFamily="18" charset="0"/>
                  </a:rPr>
                  <a:t> </a:t>
                </a:r>
                <a:r>
                  <a:rPr lang="en-US" sz="2800" dirty="0" err="1">
                    <a:solidFill>
                      <a:schemeClr val="tx1"/>
                    </a:solidFill>
                    <a:latin typeface="Times New Roman" pitchFamily="18" charset="0"/>
                    <a:cs typeface="Times New Roman" pitchFamily="18" charset="0"/>
                  </a:rPr>
                  <a:t>lưu</a:t>
                </a:r>
                <a:r>
                  <a:rPr lang="en-US" sz="2800" dirty="0">
                    <a:solidFill>
                      <a:schemeClr val="tx1"/>
                    </a:solidFill>
                    <a:latin typeface="Times New Roman" pitchFamily="18" charset="0"/>
                    <a:cs typeface="Times New Roman" pitchFamily="18" charset="0"/>
                  </a:rPr>
                  <a:t> ( </a:t>
                </a:r>
                <a:r>
                  <a:rPr lang="en-US" sz="2800" dirty="0" err="1">
                    <a:solidFill>
                      <a:schemeClr val="tx1"/>
                    </a:solidFill>
                    <a:latin typeface="Times New Roman" pitchFamily="18" charset="0"/>
                    <a:cs typeface="Times New Roman" pitchFamily="18" charset="0"/>
                  </a:rPr>
                  <a:t>khối</a:t>
                </a:r>
                <a:r>
                  <a:rPr lang="en-US" sz="2800" dirty="0">
                    <a:solidFill>
                      <a:schemeClr val="tx1"/>
                    </a:solidFill>
                    <a:latin typeface="Times New Roman" pitchFamily="18" charset="0"/>
                    <a:cs typeface="Times New Roman" pitchFamily="18" charset="0"/>
                  </a:rPr>
                  <a:t> </a:t>
                </a:r>
                <a:r>
                  <a:rPr lang="en-US" sz="2800" dirty="0" err="1">
                    <a:solidFill>
                      <a:schemeClr val="tx1"/>
                    </a:solidFill>
                    <a:latin typeface="Times New Roman" pitchFamily="18" charset="0"/>
                    <a:cs typeface="Times New Roman" pitchFamily="18" charset="0"/>
                  </a:rPr>
                  <a:t>lượng</a:t>
                </a:r>
                <a:r>
                  <a:rPr lang="en-US" sz="2800" dirty="0">
                    <a:solidFill>
                      <a:schemeClr val="tx1"/>
                    </a:solidFill>
                    <a:latin typeface="Times New Roman" pitchFamily="18" charset="0"/>
                    <a:cs typeface="Times New Roman" pitchFamily="18" charset="0"/>
                  </a:rPr>
                  <a:t> </a:t>
                </a:r>
                <a:r>
                  <a:rPr lang="en-US" sz="2800" dirty="0" err="1">
                    <a:solidFill>
                      <a:schemeClr val="tx1"/>
                    </a:solidFill>
                    <a:latin typeface="Times New Roman" pitchFamily="18" charset="0"/>
                    <a:cs typeface="Times New Roman" pitchFamily="18" charset="0"/>
                  </a:rPr>
                  <a:t>riêng</a:t>
                </a:r>
                <a:r>
                  <a:rPr lang="en-US" sz="2800" dirty="0">
                    <a:solidFill>
                      <a:schemeClr val="tx1"/>
                    </a:solidFill>
                    <a:latin typeface="Times New Roman" pitchFamily="18" charset="0"/>
                    <a:cs typeface="Times New Roman" pitchFamily="18" charset="0"/>
                  </a:rPr>
                  <a:t> – </a:t>
                </a:r>
                <a:r>
                  <a:rPr lang="en-US" sz="2800" dirty="0" err="1">
                    <a:solidFill>
                      <a:schemeClr val="tx1"/>
                    </a:solidFill>
                    <a:latin typeface="Times New Roman" pitchFamily="18" charset="0"/>
                    <a:cs typeface="Times New Roman" pitchFamily="18" charset="0"/>
                  </a:rPr>
                  <a:t>áp</a:t>
                </a:r>
                <a:r>
                  <a:rPr lang="en-US" sz="2800" dirty="0">
                    <a:solidFill>
                      <a:schemeClr val="tx1"/>
                    </a:solidFill>
                    <a:latin typeface="Times New Roman" pitchFamily="18" charset="0"/>
                    <a:cs typeface="Times New Roman" pitchFamily="18" charset="0"/>
                  </a:rPr>
                  <a:t> </a:t>
                </a:r>
                <a:r>
                  <a:rPr lang="en-US" sz="2800" dirty="0" err="1">
                    <a:solidFill>
                      <a:schemeClr val="tx1"/>
                    </a:solidFill>
                    <a:latin typeface="Times New Roman" pitchFamily="18" charset="0"/>
                    <a:cs typeface="Times New Roman" pitchFamily="18" charset="0"/>
                  </a:rPr>
                  <a:t>suất</a:t>
                </a:r>
                <a:r>
                  <a:rPr lang="en-US" sz="2800" dirty="0">
                    <a:solidFill>
                      <a:schemeClr val="tx1"/>
                    </a:solidFill>
                    <a:latin typeface="Times New Roman" pitchFamily="18" charset="0"/>
                    <a:cs typeface="Times New Roman" pitchFamily="18" charset="0"/>
                  </a:rPr>
                  <a:t> ) </a:t>
                </a:r>
              </a:p>
              <a:p>
                <a:pPr>
                  <a:buFont typeface="Wingdings" pitchFamily="2" charset="2"/>
                  <a:buChar char="Ø"/>
                </a:pPr>
                <a:r>
                  <a:rPr lang="en-US" sz="2800" b="1" dirty="0">
                    <a:solidFill>
                      <a:schemeClr val="tx1"/>
                    </a:solidFill>
                    <a:latin typeface="Times New Roman" pitchFamily="18" charset="0"/>
                    <a:cs typeface="Times New Roman" pitchFamily="18" charset="0"/>
                  </a:rPr>
                  <a:t> </a:t>
                </a:r>
                <a:r>
                  <a:rPr lang="en-US" sz="2800" b="1" dirty="0" err="1">
                    <a:solidFill>
                      <a:schemeClr val="tx1"/>
                    </a:solidFill>
                    <a:latin typeface="Times New Roman" pitchFamily="18" charset="0"/>
                    <a:cs typeface="Times New Roman" pitchFamily="18" charset="0"/>
                  </a:rPr>
                  <a:t>Khối</a:t>
                </a:r>
                <a:r>
                  <a:rPr lang="en-US" sz="2800" b="1" dirty="0">
                    <a:solidFill>
                      <a:schemeClr val="tx1"/>
                    </a:solidFill>
                    <a:latin typeface="Times New Roman" pitchFamily="18" charset="0"/>
                    <a:cs typeface="Times New Roman" pitchFamily="18" charset="0"/>
                  </a:rPr>
                  <a:t> </a:t>
                </a:r>
                <a:r>
                  <a:rPr lang="en-US" sz="2800" b="1" dirty="0" err="1">
                    <a:solidFill>
                      <a:schemeClr val="tx1"/>
                    </a:solidFill>
                    <a:latin typeface="Times New Roman" pitchFamily="18" charset="0"/>
                    <a:cs typeface="Times New Roman" pitchFamily="18" charset="0"/>
                  </a:rPr>
                  <a:t>lượng</a:t>
                </a:r>
                <a:r>
                  <a:rPr lang="en-US" sz="2800" b="1" dirty="0">
                    <a:solidFill>
                      <a:schemeClr val="tx1"/>
                    </a:solidFill>
                    <a:latin typeface="Times New Roman" pitchFamily="18" charset="0"/>
                    <a:cs typeface="Times New Roman" pitchFamily="18" charset="0"/>
                  </a:rPr>
                  <a:t> </a:t>
                </a:r>
                <a:r>
                  <a:rPr lang="en-US" sz="2800" b="1" dirty="0" err="1">
                    <a:solidFill>
                      <a:schemeClr val="tx1"/>
                    </a:solidFill>
                    <a:latin typeface="Times New Roman" pitchFamily="18" charset="0"/>
                    <a:cs typeface="Times New Roman" pitchFamily="18" charset="0"/>
                  </a:rPr>
                  <a:t>riêng</a:t>
                </a:r>
                <a:r>
                  <a:rPr lang="en-US" sz="2800" b="1" dirty="0">
                    <a:solidFill>
                      <a:schemeClr val="tx1"/>
                    </a:solidFill>
                    <a:latin typeface="Times New Roman" pitchFamily="18" charset="0"/>
                    <a:cs typeface="Times New Roman" pitchFamily="18" charset="0"/>
                  </a:rPr>
                  <a:t> </a:t>
                </a:r>
                <a:r>
                  <a:rPr lang="en-US" sz="2800" dirty="0">
                    <a:solidFill>
                      <a:schemeClr val="tx1"/>
                    </a:solidFill>
                    <a:latin typeface="Times New Roman" pitchFamily="18" charset="0"/>
                    <a:cs typeface="Times New Roman" pitchFamily="18" charset="0"/>
                  </a:rPr>
                  <a:t>(</a:t>
                </a:r>
                <a:r>
                  <a:rPr lang="en-US" sz="2800" dirty="0" err="1">
                    <a:solidFill>
                      <a:schemeClr val="tx1"/>
                    </a:solidFill>
                    <a:latin typeface="Times New Roman" pitchFamily="18" charset="0"/>
                    <a:cs typeface="Times New Roman" pitchFamily="18" charset="0"/>
                  </a:rPr>
                  <a:t>mật</a:t>
                </a:r>
                <a:r>
                  <a:rPr lang="en-US" sz="2800" dirty="0">
                    <a:solidFill>
                      <a:schemeClr val="tx1"/>
                    </a:solidFill>
                    <a:latin typeface="Times New Roman" pitchFamily="18" charset="0"/>
                    <a:cs typeface="Times New Roman" pitchFamily="18" charset="0"/>
                  </a:rPr>
                  <a:t> </a:t>
                </a:r>
                <a:r>
                  <a:rPr lang="en-US" sz="2800" dirty="0" err="1">
                    <a:solidFill>
                      <a:schemeClr val="tx1"/>
                    </a:solidFill>
                    <a:latin typeface="Times New Roman" pitchFamily="18" charset="0"/>
                    <a:cs typeface="Times New Roman" pitchFamily="18" charset="0"/>
                  </a:rPr>
                  <a:t>độ</a:t>
                </a:r>
                <a:r>
                  <a:rPr lang="en-US" sz="2800" dirty="0">
                    <a:solidFill>
                      <a:schemeClr val="tx1"/>
                    </a:solidFill>
                    <a:latin typeface="Times New Roman" pitchFamily="18" charset="0"/>
                    <a:cs typeface="Times New Roman" pitchFamily="18" charset="0"/>
                  </a:rPr>
                  <a:t> </a:t>
                </a:r>
                <a:r>
                  <a:rPr lang="en-US" sz="2800" dirty="0" err="1">
                    <a:solidFill>
                      <a:schemeClr val="tx1"/>
                    </a:solidFill>
                    <a:latin typeface="Times New Roman" pitchFamily="18" charset="0"/>
                    <a:cs typeface="Times New Roman" pitchFamily="18" charset="0"/>
                  </a:rPr>
                  <a:t>chất</a:t>
                </a:r>
                <a:r>
                  <a:rPr lang="en-US" sz="2800" dirty="0">
                    <a:solidFill>
                      <a:schemeClr val="tx1"/>
                    </a:solidFill>
                    <a:latin typeface="Times New Roman" pitchFamily="18" charset="0"/>
                    <a:cs typeface="Times New Roman" pitchFamily="18" charset="0"/>
                  </a:rPr>
                  <a:t> </a:t>
                </a:r>
                <a:r>
                  <a:rPr lang="en-US" sz="2800" dirty="0" err="1">
                    <a:solidFill>
                      <a:schemeClr val="tx1"/>
                    </a:solidFill>
                    <a:latin typeface="Times New Roman" pitchFamily="18" charset="0"/>
                    <a:cs typeface="Times New Roman" pitchFamily="18" charset="0"/>
                  </a:rPr>
                  <a:t>lưu</a:t>
                </a:r>
                <a:r>
                  <a:rPr lang="en-US" sz="2800" dirty="0">
                    <a:solidFill>
                      <a:schemeClr val="tx1"/>
                    </a:solidFill>
                    <a:latin typeface="Times New Roman" pitchFamily="18" charset="0"/>
                    <a:cs typeface="Times New Roman" pitchFamily="18" charset="0"/>
                  </a:rPr>
                  <a:t>)</a:t>
                </a:r>
                <a:endParaRPr lang="en-US" sz="2800" b="1" dirty="0">
                  <a:solidFill>
                    <a:schemeClr val="tx1"/>
                  </a:solidFill>
                  <a:latin typeface="Times New Roman" pitchFamily="18" charset="0"/>
                  <a:cs typeface="Times New Roman" pitchFamily="18" charset="0"/>
                </a:endParaRPr>
              </a:p>
              <a:p>
                <a:pPr marL="0" indent="0">
                  <a:buNone/>
                </a:pPr>
                <a:r>
                  <a:rPr lang="en-US" sz="2800" b="1" dirty="0">
                    <a:solidFill>
                      <a:srgbClr val="0070C0"/>
                    </a:solidFill>
                    <a:latin typeface="Times New Roman" pitchFamily="18" charset="0"/>
                    <a:cs typeface="Times New Roman" pitchFamily="18" charset="0"/>
                  </a:rPr>
                  <a:t>		</a:t>
                </a:r>
                <a:r>
                  <a:rPr lang="el-GR" sz="2800" b="1" i="1" dirty="0">
                    <a:solidFill>
                      <a:srgbClr val="FF0000"/>
                    </a:solidFill>
                    <a:latin typeface="Times New Roman" pitchFamily="18" charset="0"/>
                    <a:cs typeface="Times New Roman" pitchFamily="18" charset="0"/>
                  </a:rPr>
                  <a:t>ρ</a:t>
                </a:r>
                <a:r>
                  <a:rPr lang="en-US" sz="2800" b="1" dirty="0">
                    <a:solidFill>
                      <a:srgbClr val="FF0000"/>
                    </a:solidFill>
                    <a:latin typeface="Times New Roman" pitchFamily="18" charset="0"/>
                    <a:cs typeface="Times New Roman" pitchFamily="18" charset="0"/>
                  </a:rPr>
                  <a:t> = </a:t>
                </a:r>
                <a14:m>
                  <m:oMath xmlns:m="http://schemas.openxmlformats.org/officeDocument/2006/math">
                    <m:f>
                      <m:fPr>
                        <m:ctrlPr>
                          <a:rPr lang="en-US" sz="2800" b="1" i="1" smtClean="0">
                            <a:solidFill>
                              <a:srgbClr val="FF0000"/>
                            </a:solidFill>
                            <a:latin typeface="Cambria Math" panose="02040503050406030204" pitchFamily="18" charset="0"/>
                          </a:rPr>
                        </m:ctrlPr>
                      </m:fPr>
                      <m:num>
                        <m:r>
                          <a:rPr lang="en-US" sz="2800" b="1" i="1" smtClean="0">
                            <a:solidFill>
                              <a:srgbClr val="FF0000"/>
                            </a:solidFill>
                            <a:latin typeface="Cambria Math"/>
                          </a:rPr>
                          <m:t>𝒅𝒎</m:t>
                        </m:r>
                      </m:num>
                      <m:den>
                        <m:r>
                          <a:rPr lang="en-US" sz="2800" b="1" i="1" smtClean="0">
                            <a:solidFill>
                              <a:srgbClr val="FF0000"/>
                            </a:solidFill>
                            <a:latin typeface="Cambria Math"/>
                          </a:rPr>
                          <m:t>𝒅𝑽</m:t>
                        </m:r>
                      </m:den>
                    </m:f>
                    <m:r>
                      <a:rPr lang="en-US" sz="2800" b="1" i="0" smtClean="0">
                        <a:solidFill>
                          <a:srgbClr val="0070C0"/>
                        </a:solidFill>
                        <a:latin typeface="Cambria Math"/>
                      </a:rPr>
                      <m:t> </m:t>
                    </m:r>
                  </m:oMath>
                </a14:m>
                <a:r>
                  <a:rPr lang="en-US" sz="2800" b="1" dirty="0">
                    <a:solidFill>
                      <a:srgbClr val="0070C0"/>
                    </a:solidFill>
                    <a:latin typeface="Times New Roman" pitchFamily="18" charset="0"/>
                    <a:cs typeface="Times New Roman" pitchFamily="18" charset="0"/>
                  </a:rPr>
                  <a:t> </a:t>
                </a:r>
                <a:r>
                  <a:rPr lang="en-US" sz="2800" dirty="0">
                    <a:solidFill>
                      <a:schemeClr val="tx1"/>
                    </a:solidFill>
                    <a:latin typeface="Times New Roman" pitchFamily="18" charset="0"/>
                    <a:cs typeface="Times New Roman" pitchFamily="18" charset="0"/>
                  </a:rPr>
                  <a:t>, hay  </a:t>
                </a:r>
                <a:r>
                  <a:rPr lang="el-GR" sz="2800" b="1" i="1" dirty="0">
                    <a:solidFill>
                      <a:srgbClr val="FF0000"/>
                    </a:solidFill>
                    <a:latin typeface="Times New Roman" pitchFamily="18" charset="0"/>
                    <a:cs typeface="Times New Roman" pitchFamily="18" charset="0"/>
                  </a:rPr>
                  <a:t>ρ</a:t>
                </a:r>
                <a:r>
                  <a:rPr lang="en-US" sz="2800" b="1" i="1" dirty="0">
                    <a:solidFill>
                      <a:srgbClr val="FF0000"/>
                    </a:solidFill>
                    <a:latin typeface="Times New Roman" pitchFamily="18" charset="0"/>
                    <a:cs typeface="Times New Roman" pitchFamily="18" charset="0"/>
                  </a:rPr>
                  <a:t> = </a:t>
                </a:r>
                <a14:m>
                  <m:oMath xmlns:m="http://schemas.openxmlformats.org/officeDocument/2006/math">
                    <m:f>
                      <m:fPr>
                        <m:ctrlPr>
                          <a:rPr lang="en-US" sz="2800" b="1" i="1" smtClean="0">
                            <a:solidFill>
                              <a:srgbClr val="FF0000"/>
                            </a:solidFill>
                            <a:latin typeface="Cambria Math" panose="02040503050406030204" pitchFamily="18" charset="0"/>
                          </a:rPr>
                        </m:ctrlPr>
                      </m:fPr>
                      <m:num>
                        <m:r>
                          <a:rPr lang="en-US" sz="2800" b="1" i="1" smtClean="0">
                            <a:solidFill>
                              <a:srgbClr val="FF0000"/>
                            </a:solidFill>
                            <a:latin typeface="Cambria Math"/>
                          </a:rPr>
                          <m:t>𝒎</m:t>
                        </m:r>
                      </m:num>
                      <m:den>
                        <m:r>
                          <a:rPr lang="en-US" sz="2800" b="1" i="1" smtClean="0">
                            <a:solidFill>
                              <a:srgbClr val="FF0000"/>
                            </a:solidFill>
                            <a:latin typeface="Cambria Math"/>
                          </a:rPr>
                          <m:t>𝑽</m:t>
                        </m:r>
                      </m:den>
                    </m:f>
                  </m:oMath>
                </a14:m>
                <a:r>
                  <a:rPr lang="en-US" sz="2800" b="1" i="1" dirty="0">
                    <a:solidFill>
                      <a:srgbClr val="0070C0"/>
                    </a:solidFill>
                    <a:latin typeface="Times New Roman" pitchFamily="18" charset="0"/>
                    <a:cs typeface="Times New Roman" pitchFamily="18" charset="0"/>
                  </a:rPr>
                  <a:t>  </a:t>
                </a:r>
                <a:r>
                  <a:rPr lang="en-US" sz="2800" i="1" dirty="0">
                    <a:solidFill>
                      <a:schemeClr val="tx1"/>
                    </a:solidFill>
                    <a:latin typeface="Times New Roman" pitchFamily="18" charset="0"/>
                    <a:cs typeface="Times New Roman" pitchFamily="18" charset="0"/>
                  </a:rPr>
                  <a:t>( </a:t>
                </a:r>
                <a:r>
                  <a:rPr lang="en-US" sz="2800" i="1" dirty="0" err="1">
                    <a:solidFill>
                      <a:schemeClr val="tx1"/>
                    </a:solidFill>
                    <a:latin typeface="Times New Roman" pitchFamily="18" charset="0"/>
                    <a:cs typeface="Times New Roman" pitchFamily="18" charset="0"/>
                  </a:rPr>
                  <a:t>chất</a:t>
                </a:r>
                <a:r>
                  <a:rPr lang="en-US" sz="2800" i="1" dirty="0">
                    <a:solidFill>
                      <a:schemeClr val="tx1"/>
                    </a:solidFill>
                    <a:latin typeface="Times New Roman" pitchFamily="18" charset="0"/>
                    <a:cs typeface="Times New Roman" pitchFamily="18" charset="0"/>
                  </a:rPr>
                  <a:t> </a:t>
                </a:r>
                <a:r>
                  <a:rPr lang="en-US" sz="2800" i="1" dirty="0" err="1">
                    <a:solidFill>
                      <a:schemeClr val="tx1"/>
                    </a:solidFill>
                    <a:latin typeface="Times New Roman" pitchFamily="18" charset="0"/>
                    <a:cs typeface="Times New Roman" pitchFamily="18" charset="0"/>
                  </a:rPr>
                  <a:t>lưu</a:t>
                </a:r>
                <a:r>
                  <a:rPr lang="en-US" sz="2800" i="1" dirty="0">
                    <a:solidFill>
                      <a:schemeClr val="tx1"/>
                    </a:solidFill>
                    <a:latin typeface="Times New Roman" pitchFamily="18" charset="0"/>
                    <a:cs typeface="Times New Roman" pitchFamily="18" charset="0"/>
                  </a:rPr>
                  <a:t> </a:t>
                </a:r>
                <a:r>
                  <a:rPr lang="en-US" sz="2800" i="1" dirty="0" err="1">
                    <a:solidFill>
                      <a:schemeClr val="tx1"/>
                    </a:solidFill>
                    <a:latin typeface="Times New Roman" pitchFamily="18" charset="0"/>
                    <a:cs typeface="Times New Roman" pitchFamily="18" charset="0"/>
                  </a:rPr>
                  <a:t>đồng</a:t>
                </a:r>
                <a:r>
                  <a:rPr lang="en-US" sz="2800" i="1" dirty="0">
                    <a:solidFill>
                      <a:schemeClr val="tx1"/>
                    </a:solidFill>
                    <a:latin typeface="Times New Roman" pitchFamily="18" charset="0"/>
                    <a:cs typeface="Times New Roman" pitchFamily="18" charset="0"/>
                  </a:rPr>
                  <a:t> </a:t>
                </a:r>
                <a:r>
                  <a:rPr lang="en-US" sz="2800" i="1" dirty="0" err="1">
                    <a:solidFill>
                      <a:schemeClr val="tx1"/>
                    </a:solidFill>
                    <a:latin typeface="Times New Roman" pitchFamily="18" charset="0"/>
                    <a:cs typeface="Times New Roman" pitchFamily="18" charset="0"/>
                  </a:rPr>
                  <a:t>nhất</a:t>
                </a:r>
                <a:r>
                  <a:rPr lang="en-US" sz="2800" i="1" dirty="0">
                    <a:solidFill>
                      <a:schemeClr val="tx1"/>
                    </a:solidFill>
                    <a:latin typeface="Times New Roman" pitchFamily="18" charset="0"/>
                    <a:cs typeface="Times New Roman" pitchFamily="18" charset="0"/>
                  </a:rPr>
                  <a:t>, </a:t>
                </a:r>
                <a:r>
                  <a:rPr lang="en-US" sz="2800" i="1" dirty="0" err="1">
                    <a:solidFill>
                      <a:schemeClr val="tx1"/>
                    </a:solidFill>
                    <a:latin typeface="Times New Roman" pitchFamily="18" charset="0"/>
                    <a:cs typeface="Times New Roman" pitchFamily="18" charset="0"/>
                  </a:rPr>
                  <a:t>không</a:t>
                </a:r>
                <a:r>
                  <a:rPr lang="en-US" sz="2800" i="1" dirty="0">
                    <a:solidFill>
                      <a:schemeClr val="tx1"/>
                    </a:solidFill>
                    <a:latin typeface="Times New Roman" pitchFamily="18" charset="0"/>
                    <a:cs typeface="Times New Roman" pitchFamily="18" charset="0"/>
                  </a:rPr>
                  <a:t> </a:t>
                </a:r>
                <a:r>
                  <a:rPr lang="en-US" sz="2800" i="1" dirty="0" err="1">
                    <a:solidFill>
                      <a:schemeClr val="tx1"/>
                    </a:solidFill>
                    <a:latin typeface="Times New Roman" pitchFamily="18" charset="0"/>
                    <a:cs typeface="Times New Roman" pitchFamily="18" charset="0"/>
                  </a:rPr>
                  <a:t>nén</a:t>
                </a:r>
                <a:r>
                  <a:rPr lang="en-US" sz="2800" i="1" dirty="0">
                    <a:solidFill>
                      <a:schemeClr val="tx1"/>
                    </a:solidFill>
                    <a:latin typeface="Times New Roman" pitchFamily="18" charset="0"/>
                    <a:cs typeface="Times New Roman" pitchFamily="18" charset="0"/>
                  </a:rPr>
                  <a:t> </a:t>
                </a:r>
                <a:r>
                  <a:rPr lang="en-US" sz="2800" i="1" dirty="0" err="1">
                    <a:solidFill>
                      <a:schemeClr val="tx1"/>
                    </a:solidFill>
                    <a:latin typeface="Times New Roman" pitchFamily="18" charset="0"/>
                    <a:cs typeface="Times New Roman" pitchFamily="18" charset="0"/>
                  </a:rPr>
                  <a:t>được</a:t>
                </a:r>
                <a:r>
                  <a:rPr lang="en-US" sz="2800" i="1" dirty="0">
                    <a:solidFill>
                      <a:schemeClr val="tx1"/>
                    </a:solidFill>
                    <a:latin typeface="Times New Roman" pitchFamily="18" charset="0"/>
                    <a:cs typeface="Times New Roman" pitchFamily="18" charset="0"/>
                  </a:rPr>
                  <a:t> </a:t>
                </a:r>
                <a:r>
                  <a:rPr lang="el-GR" sz="2800" i="1" dirty="0">
                    <a:solidFill>
                      <a:schemeClr val="tx1"/>
                    </a:solidFill>
                    <a:latin typeface="Times New Roman" pitchFamily="18" charset="0"/>
                    <a:cs typeface="Times New Roman" pitchFamily="18" charset="0"/>
                  </a:rPr>
                  <a:t>ρ</a:t>
                </a:r>
                <a:r>
                  <a:rPr lang="en-US" sz="2800" i="1" dirty="0">
                    <a:solidFill>
                      <a:schemeClr val="tx1"/>
                    </a:solidFill>
                    <a:latin typeface="Times New Roman" pitchFamily="18" charset="0"/>
                    <a:cs typeface="Times New Roman" pitchFamily="18" charset="0"/>
                  </a:rPr>
                  <a:t> = </a:t>
                </a:r>
                <a:r>
                  <a:rPr lang="en-US" sz="2800" i="1" dirty="0" err="1">
                    <a:solidFill>
                      <a:schemeClr val="tx1"/>
                    </a:solidFill>
                    <a:latin typeface="Times New Roman" pitchFamily="18" charset="0"/>
                    <a:cs typeface="Times New Roman" pitchFamily="18" charset="0"/>
                  </a:rPr>
                  <a:t>const</a:t>
                </a:r>
                <a:r>
                  <a:rPr lang="en-US" sz="2800" i="1" dirty="0">
                    <a:solidFill>
                      <a:schemeClr val="tx1"/>
                    </a:solidFill>
                    <a:latin typeface="Times New Roman" pitchFamily="18" charset="0"/>
                    <a:cs typeface="Times New Roman" pitchFamily="18" charset="0"/>
                  </a:rPr>
                  <a:t>, kg/m³)</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914400"/>
                <a:ext cx="8229600" cy="5211763"/>
              </a:xfrm>
              <a:blipFill rotWithShape="1">
                <a:blip r:embed="rId2"/>
                <a:stretch>
                  <a:fillRect l="-1481" t="-1170" r="-1630"/>
                </a:stretch>
              </a:blipFill>
              <a:ln>
                <a:noFill/>
              </a:ln>
            </p:spPr>
            <p:txBody>
              <a:bodyPr/>
              <a:lstStyle/>
              <a:p>
                <a:r>
                  <a:rPr lang="en-US">
                    <a:noFill/>
                  </a:rPr>
                  <a:t> </a:t>
                </a:r>
              </a:p>
            </p:txBody>
          </p:sp>
        </mc:Fallback>
      </mc:AlternateContent>
      <p:sp>
        <p:nvSpPr>
          <p:cNvPr id="4" name="Left-Right Arrow 3"/>
          <p:cNvSpPr/>
          <p:nvPr/>
        </p:nvSpPr>
        <p:spPr>
          <a:xfrm>
            <a:off x="6101443" y="1066800"/>
            <a:ext cx="751114" cy="24231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32E8330D-7634-FCBB-E8AF-57518A060B1D}"/>
              </a:ext>
            </a:extLst>
          </p:cNvPr>
          <p:cNvSpPr>
            <a:spLocks noGrp="1"/>
          </p:cNvSpPr>
          <p:nvPr>
            <p:ph type="ftr" sz="quarter" idx="11"/>
          </p:nvPr>
        </p:nvSpPr>
        <p:spPr/>
        <p:txBody>
          <a:bodyPr/>
          <a:lstStyle/>
          <a:p>
            <a:r>
              <a:rPr lang="en-US"/>
              <a:t>Bùi Quốc Trung - VLDC</a:t>
            </a:r>
          </a:p>
        </p:txBody>
      </p:sp>
      <p:sp>
        <p:nvSpPr>
          <p:cNvPr id="6" name="Slide Number Placeholder 5">
            <a:extLst>
              <a:ext uri="{FF2B5EF4-FFF2-40B4-BE49-F238E27FC236}">
                <a16:creationId xmlns:a16="http://schemas.microsoft.com/office/drawing/2014/main" id="{E6304CBB-5105-3225-B1FB-FF2E8CCA68E1}"/>
              </a:ext>
            </a:extLst>
          </p:cNvPr>
          <p:cNvSpPr>
            <a:spLocks noGrp="1"/>
          </p:cNvSpPr>
          <p:nvPr>
            <p:ph type="sldNum" sz="quarter" idx="12"/>
          </p:nvPr>
        </p:nvSpPr>
        <p:spPr/>
        <p:txBody>
          <a:bodyPr/>
          <a:lstStyle/>
          <a:p>
            <a:fld id="{88513A90-B875-4AE7-9593-0DFCDBB3D544}" type="slidenum">
              <a:rPr lang="en-US" smtClean="0"/>
              <a:t>7</a:t>
            </a:fld>
            <a:endParaRPr lang="en-US"/>
          </a:p>
        </p:txBody>
      </p:sp>
    </p:spTree>
    <p:extLst>
      <p:ext uri="{BB962C8B-B14F-4D97-AF65-F5344CB8AC3E}">
        <p14:creationId xmlns:p14="http://schemas.microsoft.com/office/powerpoint/2010/main" val="1350538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685800"/>
                <a:ext cx="8229600" cy="5638800"/>
              </a:xfrm>
            </p:spPr>
            <p:txBody>
              <a:bodyPr>
                <a:normAutofit/>
              </a:bodyPr>
              <a:lstStyle/>
              <a:p>
                <a:pPr>
                  <a:buFont typeface="Wingdings" pitchFamily="2" charset="2"/>
                  <a:buChar char="Ø"/>
                </a:pP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Áp</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suất</a:t>
                </a:r>
                <a:r>
                  <a:rPr lang="en-US" sz="2400" b="1" dirty="0">
                    <a:latin typeface="Times New Roman" pitchFamily="18" charset="0"/>
                    <a:cs typeface="Times New Roman" pitchFamily="18" charset="0"/>
                  </a:rPr>
                  <a:t> </a:t>
                </a:r>
              </a:p>
              <a:p>
                <a:pPr marL="0" indent="0">
                  <a:buNone/>
                </a:pPr>
                <a:r>
                  <a:rPr lang="en-US" sz="2400" b="1" dirty="0">
                    <a:solidFill>
                      <a:srgbClr val="0070C0"/>
                    </a:solidFill>
                    <a:latin typeface="Times New Roman" pitchFamily="18" charset="0"/>
                    <a:cs typeface="Times New Roman" pitchFamily="18" charset="0"/>
                  </a:rPr>
                  <a:t>		</a:t>
                </a:r>
                <a:r>
                  <a:rPr lang="en-US" sz="2400" b="1" i="1" dirty="0">
                    <a:solidFill>
                      <a:srgbClr val="FF0000"/>
                    </a:solidFill>
                    <a:latin typeface="Times New Roman" pitchFamily="18" charset="0"/>
                    <a:cs typeface="Times New Roman" pitchFamily="18" charset="0"/>
                  </a:rPr>
                  <a:t>p = </a:t>
                </a:r>
                <a14:m>
                  <m:oMath xmlns:m="http://schemas.openxmlformats.org/officeDocument/2006/math">
                    <m:f>
                      <m:fPr>
                        <m:ctrlPr>
                          <a:rPr lang="en-US" sz="2400" b="1" i="1">
                            <a:solidFill>
                              <a:srgbClr val="FF0000"/>
                            </a:solidFill>
                            <a:latin typeface="Cambria Math" panose="02040503050406030204" pitchFamily="18" charset="0"/>
                          </a:rPr>
                        </m:ctrlPr>
                      </m:fPr>
                      <m:num>
                        <m:r>
                          <a:rPr lang="en-US" sz="2400" b="1" i="1">
                            <a:solidFill>
                              <a:srgbClr val="FF0000"/>
                            </a:solidFill>
                            <a:latin typeface="Cambria Math"/>
                          </a:rPr>
                          <m:t>𝒅𝑭</m:t>
                        </m:r>
                      </m:num>
                      <m:den>
                        <m:r>
                          <a:rPr lang="en-US" sz="2400" b="1" i="1">
                            <a:solidFill>
                              <a:srgbClr val="FF0000"/>
                            </a:solidFill>
                            <a:latin typeface="Cambria Math"/>
                          </a:rPr>
                          <m:t>𝒅𝑺</m:t>
                        </m:r>
                      </m:den>
                    </m:f>
                  </m:oMath>
                </a14:m>
                <a:r>
                  <a:rPr lang="en-US" sz="2400" b="1" i="1" dirty="0">
                    <a:solidFill>
                      <a:srgbClr val="0070C0"/>
                    </a:solidFill>
                    <a:latin typeface="Times New Roman" pitchFamily="18" charset="0"/>
                    <a:cs typeface="Times New Roman" pitchFamily="18" charset="0"/>
                  </a:rPr>
                  <a:t>  </a:t>
                </a:r>
                <a:endParaRPr lang="en-US" sz="2400" dirty="0">
                  <a:latin typeface="Times New Roman" pitchFamily="18" charset="0"/>
                  <a:cs typeface="Times New Roman" pitchFamily="18" charset="0"/>
                </a:endParaRPr>
              </a:p>
              <a:p>
                <a:pPr marL="0" indent="0">
                  <a:buNone/>
                </a:pPr>
                <a:r>
                  <a:rPr lang="en-US" sz="2400" dirty="0">
                    <a:latin typeface="Times New Roman" pitchFamily="18" charset="0"/>
                    <a:cs typeface="Times New Roman" pitchFamily="18" charset="0"/>
                  </a:rPr>
                  <a:t>	 hay	 </a:t>
                </a:r>
                <a:r>
                  <a:rPr lang="en-US" sz="2400" b="1" i="1" dirty="0">
                    <a:solidFill>
                      <a:srgbClr val="FF0000"/>
                    </a:solidFill>
                    <a:latin typeface="Times New Roman" pitchFamily="18" charset="0"/>
                    <a:cs typeface="Times New Roman" pitchFamily="18" charset="0"/>
                  </a:rPr>
                  <a:t>p = </a:t>
                </a:r>
                <a14:m>
                  <m:oMath xmlns:m="http://schemas.openxmlformats.org/officeDocument/2006/math">
                    <m:f>
                      <m:fPr>
                        <m:ctrlPr>
                          <a:rPr lang="en-US" sz="2400" b="1" i="1">
                            <a:solidFill>
                              <a:srgbClr val="FF0000"/>
                            </a:solidFill>
                            <a:latin typeface="Cambria Math" panose="02040503050406030204" pitchFamily="18" charset="0"/>
                          </a:rPr>
                        </m:ctrlPr>
                      </m:fPr>
                      <m:num>
                        <m:r>
                          <a:rPr lang="en-US" sz="2400" b="1" i="1">
                            <a:solidFill>
                              <a:srgbClr val="FF0000"/>
                            </a:solidFill>
                            <a:latin typeface="Cambria Math"/>
                          </a:rPr>
                          <m:t>𝑭</m:t>
                        </m:r>
                      </m:num>
                      <m:den>
                        <m:r>
                          <a:rPr lang="en-US" sz="2400" b="1" i="1">
                            <a:solidFill>
                              <a:srgbClr val="FF0000"/>
                            </a:solidFill>
                            <a:latin typeface="Cambria Math"/>
                          </a:rPr>
                          <m:t>𝑺</m:t>
                        </m:r>
                      </m:den>
                    </m:f>
                  </m:oMath>
                </a14:m>
                <a:r>
                  <a:rPr lang="en-US" sz="2400" b="1" i="1" dirty="0">
                    <a:solidFill>
                      <a:srgbClr val="FF0000"/>
                    </a:solidFill>
                    <a:latin typeface="Times New Roman" pitchFamily="18" charset="0"/>
                    <a:cs typeface="Times New Roman" pitchFamily="18" charset="0"/>
                  </a:rPr>
                  <a:t>   </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áp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suất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không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đổi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tại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mọi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điểm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diện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tích</a:t>
                </a:r>
                <a:r>
                  <a:rPr lang="en-US" sz="2400" dirty="0">
                    <a:latin typeface="Times New Roman" pitchFamily="18" charset="0"/>
                    <a:cs typeface="Times New Roman" pitchFamily="18" charset="0"/>
                  </a:rPr>
                  <a:t> S: p = </a:t>
                </a:r>
                <a:r>
                  <a:rPr lang="en-US" sz="2400" dirty="0" err="1">
                    <a:latin typeface="Times New Roman" pitchFamily="18" charset="0"/>
                    <a:cs typeface="Times New Roman" pitchFamily="18" charset="0"/>
                  </a:rPr>
                  <a:t>const</a:t>
                </a:r>
                <a:r>
                  <a:rPr lang="en-US" sz="2400" dirty="0">
                    <a:latin typeface="Times New Roman" pitchFamily="18" charset="0"/>
                    <a:cs typeface="Times New Roman" pitchFamily="18" charset="0"/>
                  </a:rPr>
                  <a:t> )</a:t>
                </a:r>
              </a:p>
              <a:p>
                <a:pPr marL="0" indent="0">
                  <a:buNone/>
                </a:pP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áp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suất</a:t>
                </a:r>
                <a:r>
                  <a:rPr lang="en-US" sz="2400" dirty="0">
                    <a:latin typeface="Times New Roman" pitchFamily="18" charset="0"/>
                    <a:cs typeface="Times New Roman" pitchFamily="18" charset="0"/>
                  </a:rPr>
                  <a:t>:  N/m²- Pa</a:t>
                </a:r>
              </a:p>
              <a:p>
                <a:pPr marL="0" indent="0">
                  <a:buNone/>
                </a:pPr>
                <a:r>
                  <a:rPr lang="en-US" sz="2400" dirty="0">
                    <a:latin typeface="Times New Roman" pitchFamily="18" charset="0"/>
                    <a:cs typeface="Times New Roman" pitchFamily="18" charset="0"/>
                  </a:rPr>
                  <a:t>		1 </a:t>
                </a:r>
                <a:r>
                  <a:rPr lang="en-US" sz="2400" dirty="0" err="1">
                    <a:latin typeface="Times New Roman" pitchFamily="18" charset="0"/>
                    <a:cs typeface="Times New Roman" pitchFamily="18" charset="0"/>
                  </a:rPr>
                  <a:t>atm</a:t>
                </a:r>
                <a:r>
                  <a:rPr lang="en-US" sz="2400" dirty="0">
                    <a:latin typeface="Times New Roman" pitchFamily="18" charset="0"/>
                    <a:cs typeface="Times New Roman" pitchFamily="18" charset="0"/>
                  </a:rPr>
                  <a:t> = 1,013.</a:t>
                </a:r>
                <a14:m>
                  <m:oMath xmlns:m="http://schemas.openxmlformats.org/officeDocument/2006/math">
                    <m:sSup>
                      <m:sSupPr>
                        <m:ctrlPr>
                          <a:rPr lang="en-US" sz="2400" i="1">
                            <a:latin typeface="Cambria Math" panose="02040503050406030204" pitchFamily="18" charset="0"/>
                          </a:rPr>
                        </m:ctrlPr>
                      </m:sSupPr>
                      <m:e>
                        <m:r>
                          <a:rPr lang="en-US" sz="2400">
                            <a:latin typeface="Cambria Math"/>
                          </a:rPr>
                          <m:t>10</m:t>
                        </m:r>
                      </m:e>
                      <m:sup>
                        <m:r>
                          <a:rPr lang="en-US" sz="2400">
                            <a:latin typeface="Cambria Math"/>
                          </a:rPr>
                          <m:t>5</m:t>
                        </m:r>
                      </m:sup>
                    </m:sSup>
                  </m:oMath>
                </a14:m>
                <a:r>
                  <a:rPr lang="en-US" sz="2400" dirty="0">
                    <a:latin typeface="Times New Roman" pitchFamily="18" charset="0"/>
                    <a:cs typeface="Times New Roman" pitchFamily="18" charset="0"/>
                  </a:rPr>
                  <a:t> Pa = 760 mmHg</a:t>
                </a:r>
              </a:p>
              <a:p>
                <a:pPr marL="0" indent="0">
                  <a:buNone/>
                </a:pPr>
                <a:r>
                  <a:rPr lang="en-US" sz="2400" dirty="0">
                    <a:latin typeface="Times New Roman" pitchFamily="18" charset="0"/>
                    <a:cs typeface="Times New Roman" pitchFamily="18" charset="0"/>
                  </a:rPr>
                  <a:t>		1 at = 9,81.</a:t>
                </a:r>
                <a14:m>
                  <m:oMath xmlns:m="http://schemas.openxmlformats.org/officeDocument/2006/math">
                    <m:sSup>
                      <m:sSupPr>
                        <m:ctrlPr>
                          <a:rPr lang="en-US" sz="2400" i="1">
                            <a:latin typeface="Cambria Math" panose="02040503050406030204" pitchFamily="18" charset="0"/>
                          </a:rPr>
                        </m:ctrlPr>
                      </m:sSupPr>
                      <m:e>
                        <m:r>
                          <a:rPr lang="en-US" sz="2400">
                            <a:latin typeface="Cambria Math"/>
                          </a:rPr>
                          <m:t>10</m:t>
                        </m:r>
                      </m:e>
                      <m:sup>
                        <m:r>
                          <a:rPr lang="en-US" sz="2400" b="0" i="0" smtClean="0">
                            <a:latin typeface="Cambria Math"/>
                          </a:rPr>
                          <m:t>4</m:t>
                        </m:r>
                      </m:sup>
                    </m:sSup>
                  </m:oMath>
                </a14:m>
                <a:r>
                  <a:rPr lang="en-US" sz="2400" dirty="0">
                    <a:latin typeface="Times New Roman" pitchFamily="18" charset="0"/>
                    <a:cs typeface="Times New Roman" pitchFamily="18" charset="0"/>
                  </a:rPr>
                  <a:t> Pa = 736 mmHg</a:t>
                </a:r>
              </a:p>
              <a:p>
                <a:r>
                  <a:rPr lang="en-US" sz="2800" b="1" i="1" u="sng" dirty="0" err="1">
                    <a:latin typeface="Times New Roman" pitchFamily="18" charset="0"/>
                    <a:cs typeface="Times New Roman" pitchFamily="18" charset="0"/>
                  </a:rPr>
                  <a:t>Ví</a:t>
                </a:r>
                <a:r>
                  <a:rPr lang="en-US" sz="2800" b="1" i="1" u="sng" dirty="0">
                    <a:latin typeface="Times New Roman" pitchFamily="18" charset="0"/>
                    <a:cs typeface="Times New Roman" pitchFamily="18" charset="0"/>
                  </a:rPr>
                  <a:t> </a:t>
                </a:r>
                <a:r>
                  <a:rPr lang="en-US" sz="2800" b="1" i="1" u="sng" dirty="0" err="1">
                    <a:latin typeface="Times New Roman" pitchFamily="18" charset="0"/>
                    <a:cs typeface="Times New Roman" pitchFamily="18" charset="0"/>
                  </a:rPr>
                  <a:t>dụ</a:t>
                </a:r>
                <a:r>
                  <a:rPr lang="en-US" sz="2800" b="1" i="1" u="sng" dirty="0">
                    <a:latin typeface="Times New Roman" pitchFamily="18" charset="0"/>
                    <a:cs typeface="Times New Roman" pitchFamily="18" charset="0"/>
                  </a:rPr>
                  <a:t>: </a:t>
                </a:r>
                <a:r>
                  <a:rPr lang="en-US" sz="2800" dirty="0" err="1">
                    <a:latin typeface="Times New Roman" pitchFamily="18" charset="0"/>
                    <a:cs typeface="Times New Roman" pitchFamily="18" charset="0"/>
                  </a:rPr>
                  <a:t>Tính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suất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gây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bởi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nặng</a:t>
                </a:r>
                <a:r>
                  <a:rPr lang="en-US" sz="2800" dirty="0">
                    <a:latin typeface="Times New Roman" pitchFamily="18" charset="0"/>
                    <a:cs typeface="Times New Roman" pitchFamily="18" charset="0"/>
                  </a:rPr>
                  <a:t> 60kg, </a:t>
                </a:r>
                <a:r>
                  <a:rPr lang="en-US" sz="2800" dirty="0" err="1">
                    <a:latin typeface="Times New Roman" pitchFamily="18" charset="0"/>
                    <a:cs typeface="Times New Roman" pitchFamily="18" charset="0"/>
                  </a:rPr>
                  <a:t>diện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tích</a:t>
                </a:r>
                <a:r>
                  <a:rPr lang="en-US" sz="2800" dirty="0">
                    <a:latin typeface="Times New Roman" pitchFamily="18" charset="0"/>
                    <a:cs typeface="Times New Roman" pitchFamily="18" charset="0"/>
                  </a:rPr>
                  <a:t> 2 </a:t>
                </a:r>
                <a:r>
                  <a:rPr lang="en-US" sz="2800" dirty="0" err="1">
                    <a:latin typeface="Times New Roman" pitchFamily="18" charset="0"/>
                    <a:cs typeface="Times New Roman" pitchFamily="18" charset="0"/>
                  </a:rPr>
                  <a:t>bàn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20 cm² </a:t>
                </a:r>
                <a:r>
                  <a:rPr lang="en-US" sz="2800" dirty="0" err="1">
                    <a:latin typeface="Times New Roman" pitchFamily="18" charset="0"/>
                    <a:cs typeface="Times New Roman" pitchFamily="18" charset="0"/>
                  </a:rPr>
                  <a:t>đứng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g = 10m/s²</a:t>
                </a:r>
              </a:p>
              <a:p>
                <a:r>
                  <a:rPr lang="en-US" sz="2800" b="1" i="1" dirty="0">
                    <a:latin typeface="Times New Roman" pitchFamily="18" charset="0"/>
                    <a:cs typeface="Times New Roman" pitchFamily="18" charset="0"/>
                  </a:rPr>
                  <a:t>p = P/S = mg/S = 60.10/20.</a:t>
                </a:r>
                <a14:m>
                  <m:oMath xmlns:m="http://schemas.openxmlformats.org/officeDocument/2006/math">
                    <m:sSup>
                      <m:sSupPr>
                        <m:ctrlPr>
                          <a:rPr lang="en-US" sz="2800" b="1" i="1" smtClean="0">
                            <a:latin typeface="Cambria Math" panose="02040503050406030204" pitchFamily="18" charset="0"/>
                            <a:cs typeface="Times New Roman" pitchFamily="18" charset="0"/>
                          </a:rPr>
                        </m:ctrlPr>
                      </m:sSupPr>
                      <m:e>
                        <m:r>
                          <a:rPr lang="en-US" sz="2800" b="1" i="1" smtClean="0">
                            <a:latin typeface="Cambria Math"/>
                            <a:cs typeface="Times New Roman" pitchFamily="18" charset="0"/>
                          </a:rPr>
                          <m:t>𝟏𝟎</m:t>
                        </m:r>
                      </m:e>
                      <m:sup>
                        <m:r>
                          <a:rPr lang="en-US" sz="2800" b="1" i="1" smtClean="0">
                            <a:latin typeface="Cambria Math"/>
                            <a:cs typeface="Times New Roman" pitchFamily="18" charset="0"/>
                          </a:rPr>
                          <m:t>−</m:t>
                        </m:r>
                        <m:r>
                          <a:rPr lang="en-US" sz="2800" b="1" i="1" smtClean="0">
                            <a:latin typeface="Cambria Math"/>
                            <a:cs typeface="Times New Roman" pitchFamily="18" charset="0"/>
                          </a:rPr>
                          <m:t>𝟒</m:t>
                        </m:r>
                      </m:sup>
                    </m:sSup>
                  </m:oMath>
                </a14:m>
                <a:r>
                  <a:rPr lang="en-US" sz="2800" b="1" i="1" dirty="0">
                    <a:latin typeface="Times New Roman" pitchFamily="18" charset="0"/>
                    <a:cs typeface="Times New Roman" pitchFamily="18" charset="0"/>
                  </a:rPr>
                  <a:t> = 3.</a:t>
                </a:r>
                <a14:m>
                  <m:oMath xmlns:m="http://schemas.openxmlformats.org/officeDocument/2006/math">
                    <m:sSup>
                      <m:sSupPr>
                        <m:ctrlPr>
                          <a:rPr lang="en-US" sz="2800" b="1" i="1" smtClean="0">
                            <a:latin typeface="Cambria Math" panose="02040503050406030204" pitchFamily="18" charset="0"/>
                            <a:cs typeface="Times New Roman" pitchFamily="18" charset="0"/>
                          </a:rPr>
                        </m:ctrlPr>
                      </m:sSupPr>
                      <m:e>
                        <m:r>
                          <a:rPr lang="en-US" sz="2800" b="1" i="1" smtClean="0">
                            <a:latin typeface="Cambria Math"/>
                            <a:cs typeface="Times New Roman" pitchFamily="18" charset="0"/>
                          </a:rPr>
                          <m:t>𝟏𝟎</m:t>
                        </m:r>
                      </m:e>
                      <m:sup>
                        <m:r>
                          <a:rPr lang="en-US" sz="2800" b="1" i="1" smtClean="0">
                            <a:latin typeface="Cambria Math"/>
                            <a:cs typeface="Times New Roman" pitchFamily="18" charset="0"/>
                          </a:rPr>
                          <m:t>𝟓</m:t>
                        </m:r>
                      </m:sup>
                    </m:sSup>
                    <m:r>
                      <a:rPr lang="en-US" sz="2800" b="1" i="1" smtClean="0">
                        <a:latin typeface="Cambria Math"/>
                        <a:cs typeface="Times New Roman" pitchFamily="18" charset="0"/>
                      </a:rPr>
                      <m:t>𝑵</m:t>
                    </m:r>
                    <m:r>
                      <a:rPr lang="en-US" sz="2800" b="1" i="1" smtClean="0">
                        <a:latin typeface="Cambria Math"/>
                        <a:cs typeface="Times New Roman" pitchFamily="18" charset="0"/>
                      </a:rPr>
                      <m:t>/</m:t>
                    </m:r>
                    <m:r>
                      <a:rPr lang="en-US" sz="2800" b="1" i="1" smtClean="0">
                        <a:latin typeface="Cambria Math"/>
                        <a:cs typeface="Times New Roman" pitchFamily="18" charset="0"/>
                      </a:rPr>
                      <m:t>𝒎</m:t>
                    </m:r>
                    <m:r>
                      <a:rPr lang="en-US" sz="2800" b="1" i="1" smtClean="0">
                        <a:latin typeface="Cambria Math"/>
                        <a:cs typeface="Times New Roman" pitchFamily="18" charset="0"/>
                      </a:rPr>
                      <m:t>²</m:t>
                    </m:r>
                  </m:oMath>
                </a14:m>
                <a:endParaRPr lang="en-US" sz="2800" b="1" i="1"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685800"/>
                <a:ext cx="8229600" cy="5638800"/>
              </a:xfrm>
              <a:blipFill rotWithShape="1">
                <a:blip r:embed="rId2"/>
                <a:stretch>
                  <a:fillRect l="-1259" t="-865"/>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5EC57513-45C1-E549-4F50-B4AA34F21ABD}"/>
              </a:ext>
            </a:extLst>
          </p:cNvPr>
          <p:cNvSpPr>
            <a:spLocks noGrp="1"/>
          </p:cNvSpPr>
          <p:nvPr>
            <p:ph type="ftr" sz="quarter" idx="11"/>
          </p:nvPr>
        </p:nvSpPr>
        <p:spPr/>
        <p:txBody>
          <a:bodyPr/>
          <a:lstStyle/>
          <a:p>
            <a:r>
              <a:rPr lang="en-US"/>
              <a:t>Bùi Quốc Trung - VLDC</a:t>
            </a:r>
          </a:p>
        </p:txBody>
      </p:sp>
      <p:sp>
        <p:nvSpPr>
          <p:cNvPr id="4" name="Slide Number Placeholder 3">
            <a:extLst>
              <a:ext uri="{FF2B5EF4-FFF2-40B4-BE49-F238E27FC236}">
                <a16:creationId xmlns:a16="http://schemas.microsoft.com/office/drawing/2014/main" id="{6C993A90-E5EB-320E-EA98-6CEB82B1283A}"/>
              </a:ext>
            </a:extLst>
          </p:cNvPr>
          <p:cNvSpPr>
            <a:spLocks noGrp="1"/>
          </p:cNvSpPr>
          <p:nvPr>
            <p:ph type="sldNum" sz="quarter" idx="12"/>
          </p:nvPr>
        </p:nvSpPr>
        <p:spPr/>
        <p:txBody>
          <a:bodyPr/>
          <a:lstStyle/>
          <a:p>
            <a:fld id="{88513A90-B875-4AE7-9593-0DFCDBB3D544}" type="slidenum">
              <a:rPr lang="en-US" smtClean="0"/>
              <a:t>8</a:t>
            </a:fld>
            <a:endParaRPr lang="en-US"/>
          </a:p>
        </p:txBody>
      </p:sp>
    </p:spTree>
    <p:extLst>
      <p:ext uri="{BB962C8B-B14F-4D97-AF65-F5344CB8AC3E}">
        <p14:creationId xmlns:p14="http://schemas.microsoft.com/office/powerpoint/2010/main" val="2450708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8"/>
          <p:cNvGrpSpPr>
            <a:grpSpLocks/>
          </p:cNvGrpSpPr>
          <p:nvPr/>
        </p:nvGrpSpPr>
        <p:grpSpPr bwMode="auto">
          <a:xfrm>
            <a:off x="304800" y="0"/>
            <a:ext cx="8534400" cy="685800"/>
            <a:chOff x="86" y="1392"/>
            <a:chExt cx="6531" cy="432"/>
          </a:xfrm>
        </p:grpSpPr>
        <p:pic>
          <p:nvPicPr>
            <p:cNvPr id="15390"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 y="1392"/>
              <a:ext cx="6531"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14"/>
            <p:cNvSpPr txBox="1">
              <a:spLocks noChangeArrowheads="1"/>
            </p:cNvSpPr>
            <p:nvPr/>
          </p:nvSpPr>
          <p:spPr bwMode="auto">
            <a:xfrm>
              <a:off x="876" y="1431"/>
              <a:ext cx="4958" cy="330"/>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a:spAutoFit/>
            </a:bodyPr>
            <a:lstStyle/>
            <a:p>
              <a:pPr algn="ctr">
                <a:spcBef>
                  <a:spcPts val="1200"/>
                </a:spcBef>
                <a:spcAft>
                  <a:spcPts val="1200"/>
                </a:spcAft>
                <a:defRPr/>
              </a:pPr>
              <a:r>
                <a:rPr lang="en-US" sz="2800" b="1" i="1">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800" b="1">
                  <a:solidFill>
                    <a:srgbClr val="FF0000"/>
                  </a:solidFill>
                  <a:latin typeface="Times New Roman" pitchFamily="18" charset="0"/>
                  <a:cs typeface="Times New Roman" pitchFamily="18" charset="0"/>
                </a:rPr>
                <a:t>Hệ quả của thuyết động học phân tử</a:t>
              </a:r>
            </a:p>
          </p:txBody>
        </p:sp>
      </p:grpSp>
      <p:sp>
        <p:nvSpPr>
          <p:cNvPr id="15363" name="Rectangle 16"/>
          <p:cNvSpPr>
            <a:spLocks noChangeArrowheads="1"/>
          </p:cNvSpPr>
          <p:nvPr/>
        </p:nvSpPr>
        <p:spPr bwMode="auto">
          <a:xfrm>
            <a:off x="7543800" y="6596063"/>
            <a:ext cx="1676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just"/>
            <a:endParaRPr lang="en-US" sz="1100" b="1">
              <a:solidFill>
                <a:srgbClr val="002060"/>
              </a:solidFill>
              <a:latin typeface="Times New Roman" pitchFamily="18" charset="0"/>
              <a:cs typeface="Times New Roman" pitchFamily="18" charset="0"/>
            </a:endParaRPr>
          </a:p>
        </p:txBody>
      </p:sp>
      <p:sp>
        <p:nvSpPr>
          <p:cNvPr id="9" name="Rectangle 8"/>
          <p:cNvSpPr>
            <a:spLocks noChangeArrowheads="1"/>
          </p:cNvSpPr>
          <p:nvPr/>
        </p:nvSpPr>
        <p:spPr bwMode="auto">
          <a:xfrm>
            <a:off x="666750" y="762000"/>
            <a:ext cx="3962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b="1">
                <a:solidFill>
                  <a:srgbClr val="1109B7"/>
                </a:solidFill>
                <a:latin typeface="Times New Roman" pitchFamily="18" charset="0"/>
                <a:cs typeface="Times New Roman" pitchFamily="18" charset="0"/>
              </a:rPr>
              <a:t>Hằng số khí lí tưởng </a:t>
            </a:r>
            <a:r>
              <a:rPr lang="en-US" sz="2800" b="1">
                <a:solidFill>
                  <a:srgbClr val="FF0000"/>
                </a:solidFill>
                <a:latin typeface="Times New Roman" pitchFamily="18" charset="0"/>
                <a:cs typeface="Times New Roman" pitchFamily="18" charset="0"/>
              </a:rPr>
              <a:t>R  </a:t>
            </a:r>
            <a:endParaRPr lang="en-US" sz="2800">
              <a:solidFill>
                <a:srgbClr val="FF0000"/>
              </a:solidFill>
              <a:latin typeface="Times New Roman" pitchFamily="18" charset="0"/>
              <a:cs typeface="Times New Roman" pitchFamily="18" charset="0"/>
            </a:endParaRPr>
          </a:p>
        </p:txBody>
      </p:sp>
      <p:grpSp>
        <p:nvGrpSpPr>
          <p:cNvPr id="5" name="Group 12"/>
          <p:cNvGrpSpPr>
            <a:grpSpLocks/>
          </p:cNvGrpSpPr>
          <p:nvPr/>
        </p:nvGrpSpPr>
        <p:grpSpPr bwMode="auto">
          <a:xfrm>
            <a:off x="2293938" y="1066800"/>
            <a:ext cx="5478462" cy="1009650"/>
            <a:chOff x="838200" y="1733550"/>
            <a:chExt cx="5478462" cy="1009650"/>
          </a:xfrm>
        </p:grpSpPr>
        <p:sp>
          <p:nvSpPr>
            <p:cNvPr id="15388" name="Rectangle 9"/>
            <p:cNvSpPr>
              <a:spLocks noChangeArrowheads="1"/>
            </p:cNvSpPr>
            <p:nvPr/>
          </p:nvSpPr>
          <p:spPr bwMode="auto">
            <a:xfrm>
              <a:off x="838200" y="1981200"/>
              <a:ext cx="4451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b="1">
                  <a:solidFill>
                    <a:srgbClr val="C00000"/>
                  </a:solidFill>
                  <a:latin typeface="Times New Roman" pitchFamily="18" charset="0"/>
                  <a:cs typeface="Times New Roman" pitchFamily="18" charset="0"/>
                </a:rPr>
                <a:t>p (N/m</a:t>
              </a:r>
              <a:r>
                <a:rPr lang="en-US" sz="2800" b="1" baseline="30000">
                  <a:solidFill>
                    <a:srgbClr val="C00000"/>
                  </a:solidFill>
                  <a:latin typeface="Times New Roman" pitchFamily="18" charset="0"/>
                  <a:cs typeface="Times New Roman" pitchFamily="18" charset="0"/>
                </a:rPr>
                <a:t>2</a:t>
              </a:r>
              <a:r>
                <a:rPr lang="en-US" sz="2800" b="1">
                  <a:solidFill>
                    <a:srgbClr val="C00000"/>
                  </a:solidFill>
                  <a:latin typeface="Times New Roman" pitchFamily="18" charset="0"/>
                  <a:cs typeface="Times New Roman" pitchFamily="18" charset="0"/>
                </a:rPr>
                <a:t>) , V (m</a:t>
              </a:r>
              <a:r>
                <a:rPr lang="en-US" sz="2800" b="1" baseline="30000">
                  <a:solidFill>
                    <a:srgbClr val="C00000"/>
                  </a:solidFill>
                  <a:latin typeface="Times New Roman" pitchFamily="18" charset="0"/>
                  <a:cs typeface="Times New Roman" pitchFamily="18" charset="0"/>
                </a:rPr>
                <a:t>3</a:t>
              </a:r>
              <a:r>
                <a:rPr lang="en-US" sz="2800" b="1">
                  <a:solidFill>
                    <a:srgbClr val="C00000"/>
                  </a:solidFill>
                  <a:latin typeface="Times New Roman" pitchFamily="18" charset="0"/>
                  <a:cs typeface="Times New Roman" pitchFamily="18" charset="0"/>
                </a:rPr>
                <a:t>) : </a:t>
              </a:r>
              <a:r>
                <a:rPr lang="en-US" sz="2800" b="1">
                  <a:solidFill>
                    <a:srgbClr val="1109B7"/>
                  </a:solidFill>
                  <a:latin typeface="Times New Roman" pitchFamily="18" charset="0"/>
                  <a:cs typeface="Times New Roman" pitchFamily="18" charset="0"/>
                </a:rPr>
                <a:t>R = 8,31</a:t>
              </a:r>
              <a:endParaRPr lang="en-US" sz="2800">
                <a:solidFill>
                  <a:srgbClr val="1109B7"/>
                </a:solidFill>
                <a:latin typeface="Times New Roman" pitchFamily="18" charset="0"/>
                <a:cs typeface="Times New Roman" pitchFamily="18" charset="0"/>
              </a:endParaRPr>
            </a:p>
          </p:txBody>
        </p:sp>
        <p:graphicFrame>
          <p:nvGraphicFramePr>
            <p:cNvPr id="15389" name="Object 2"/>
            <p:cNvGraphicFramePr>
              <a:graphicFrameLocks noChangeAspect="1"/>
            </p:cNvGraphicFramePr>
            <p:nvPr/>
          </p:nvGraphicFramePr>
          <p:xfrm>
            <a:off x="5181600" y="1733550"/>
            <a:ext cx="1135062" cy="1009650"/>
          </p:xfrm>
          <a:graphic>
            <a:graphicData uri="http://schemas.openxmlformats.org/presentationml/2006/ole">
              <mc:AlternateContent xmlns:mc="http://schemas.openxmlformats.org/markup-compatibility/2006">
                <mc:Choice xmlns:v="urn:schemas-microsoft-com:vml" Requires="v">
                  <p:oleObj name="Equation" r:id="rId3" imgW="444307" imgH="393529" progId="Equation.DSMT4">
                    <p:embed/>
                  </p:oleObj>
                </mc:Choice>
                <mc:Fallback>
                  <p:oleObj name="Equation" r:id="rId3" imgW="444307" imgH="393529"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1733550"/>
                          <a:ext cx="1135062"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6" name="Group 13"/>
          <p:cNvGrpSpPr>
            <a:grpSpLocks/>
          </p:cNvGrpSpPr>
          <p:nvPr/>
        </p:nvGrpSpPr>
        <p:grpSpPr bwMode="auto">
          <a:xfrm>
            <a:off x="2293938" y="2057400"/>
            <a:ext cx="5249862" cy="1009650"/>
            <a:chOff x="838200" y="3105150"/>
            <a:chExt cx="5249863" cy="1009650"/>
          </a:xfrm>
        </p:grpSpPr>
        <p:sp>
          <p:nvSpPr>
            <p:cNvPr id="15386" name="Rectangle 10"/>
            <p:cNvSpPr>
              <a:spLocks noChangeArrowheads="1"/>
            </p:cNvSpPr>
            <p:nvPr/>
          </p:nvSpPr>
          <p:spPr bwMode="auto">
            <a:xfrm>
              <a:off x="838200" y="3333750"/>
              <a:ext cx="411189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b="1">
                  <a:solidFill>
                    <a:srgbClr val="C00000"/>
                  </a:solidFill>
                  <a:latin typeface="Times New Roman" pitchFamily="18" charset="0"/>
                  <a:cs typeface="Times New Roman" pitchFamily="18" charset="0"/>
                </a:rPr>
                <a:t>p (at) , V (lít) : </a:t>
              </a:r>
              <a:r>
                <a:rPr lang="en-US" sz="2800" b="1">
                  <a:solidFill>
                    <a:srgbClr val="1109B7"/>
                  </a:solidFill>
                  <a:latin typeface="Times New Roman" pitchFamily="18" charset="0"/>
                  <a:cs typeface="Times New Roman" pitchFamily="18" charset="0"/>
                </a:rPr>
                <a:t>R = 0,0848</a:t>
              </a:r>
              <a:endParaRPr lang="en-US" sz="2800">
                <a:solidFill>
                  <a:srgbClr val="1109B7"/>
                </a:solidFill>
                <a:latin typeface="Times New Roman" pitchFamily="18" charset="0"/>
                <a:cs typeface="Times New Roman" pitchFamily="18" charset="0"/>
              </a:endParaRPr>
            </a:p>
          </p:txBody>
        </p:sp>
        <p:graphicFrame>
          <p:nvGraphicFramePr>
            <p:cNvPr id="15387" name="Object 3"/>
            <p:cNvGraphicFramePr>
              <a:graphicFrameLocks noChangeAspect="1"/>
            </p:cNvGraphicFramePr>
            <p:nvPr/>
          </p:nvGraphicFramePr>
          <p:xfrm>
            <a:off x="4953000" y="3105150"/>
            <a:ext cx="1135063" cy="1009650"/>
          </p:xfrm>
          <a:graphic>
            <a:graphicData uri="http://schemas.openxmlformats.org/presentationml/2006/ole">
              <mc:AlternateContent xmlns:mc="http://schemas.openxmlformats.org/markup-compatibility/2006">
                <mc:Choice xmlns:v="urn:schemas-microsoft-com:vml" Requires="v">
                  <p:oleObj name="Equation" r:id="rId5" imgW="444307" imgH="393529" progId="Equation.DSMT4">
                    <p:embed/>
                  </p:oleObj>
                </mc:Choice>
                <mc:Fallback>
                  <p:oleObj name="Equation" r:id="rId5" imgW="444307" imgH="393529"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3000" y="3105150"/>
                          <a:ext cx="113506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cxnSp>
        <p:nvCxnSpPr>
          <p:cNvPr id="15" name="Straight Arrow Connector 14"/>
          <p:cNvCxnSpPr/>
          <p:nvPr/>
        </p:nvCxnSpPr>
        <p:spPr>
          <a:xfrm flipV="1">
            <a:off x="1524000" y="1576388"/>
            <a:ext cx="623888" cy="523875"/>
          </a:xfrm>
          <a:prstGeom prst="straightConnector1">
            <a:avLst/>
          </a:prstGeom>
          <a:ln w="38100">
            <a:solidFill>
              <a:srgbClr val="00A4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1538288" y="2100263"/>
            <a:ext cx="609600" cy="447675"/>
          </a:xfrm>
          <a:prstGeom prst="straightConnector1">
            <a:avLst/>
          </a:prstGeom>
          <a:ln w="38100">
            <a:solidFill>
              <a:srgbClr val="00A400"/>
            </a:solidFill>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a:spLocks noChangeArrowheads="1"/>
          </p:cNvSpPr>
          <p:nvPr/>
        </p:nvSpPr>
        <p:spPr bwMode="auto">
          <a:xfrm>
            <a:off x="685800" y="1466850"/>
            <a:ext cx="914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7200" b="1">
                <a:solidFill>
                  <a:srgbClr val="1E22C0"/>
                </a:solidFill>
                <a:latin typeface="Times New Roman" pitchFamily="18" charset="0"/>
                <a:cs typeface="Times New Roman" pitchFamily="18" charset="0"/>
              </a:rPr>
              <a:t>R</a:t>
            </a:r>
            <a:endParaRPr lang="en-US" sz="7200">
              <a:solidFill>
                <a:srgbClr val="1E22C0"/>
              </a:solidFill>
            </a:endParaRPr>
          </a:p>
        </p:txBody>
      </p:sp>
      <p:sp>
        <p:nvSpPr>
          <p:cNvPr id="24" name="Sun 23"/>
          <p:cNvSpPr/>
          <p:nvPr/>
        </p:nvSpPr>
        <p:spPr>
          <a:xfrm>
            <a:off x="152400" y="790575"/>
            <a:ext cx="457200" cy="457200"/>
          </a:xfrm>
          <a:prstGeom prst="sun">
            <a:avLst/>
          </a:prstGeom>
          <a:solidFill>
            <a:srgbClr val="002060"/>
          </a:solidFill>
          <a:ln>
            <a:solidFill>
              <a:srgbClr val="90F82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latin typeface="Times New Roman" pitchFamily="18" charset="0"/>
              <a:cs typeface="Times New Roman" pitchFamily="18" charset="0"/>
            </a:endParaRPr>
          </a:p>
        </p:txBody>
      </p:sp>
      <p:sp>
        <p:nvSpPr>
          <p:cNvPr id="25" name="Rectangle 24"/>
          <p:cNvSpPr>
            <a:spLocks noChangeArrowheads="1"/>
          </p:cNvSpPr>
          <p:nvPr/>
        </p:nvSpPr>
        <p:spPr bwMode="auto">
          <a:xfrm>
            <a:off x="762000" y="4572000"/>
            <a:ext cx="67294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b="1">
                <a:solidFill>
                  <a:srgbClr val="1109B7"/>
                </a:solidFill>
                <a:latin typeface="Times New Roman" pitchFamily="18" charset="0"/>
                <a:cs typeface="Times New Roman" pitchFamily="18" charset="0"/>
              </a:rPr>
              <a:t>Đối với một khối khí xác định ( </a:t>
            </a:r>
            <a:r>
              <a:rPr lang="en-US" sz="2800" b="1">
                <a:solidFill>
                  <a:srgbClr val="FF0000"/>
                </a:solidFill>
                <a:latin typeface="Times New Roman" pitchFamily="18" charset="0"/>
                <a:cs typeface="Times New Roman" pitchFamily="18" charset="0"/>
              </a:rPr>
              <a:t>m = const </a:t>
            </a:r>
            <a:r>
              <a:rPr lang="en-US" sz="2800" b="1">
                <a:solidFill>
                  <a:srgbClr val="1109B7"/>
                </a:solidFill>
                <a:latin typeface="Times New Roman" pitchFamily="18" charset="0"/>
                <a:cs typeface="Times New Roman" pitchFamily="18" charset="0"/>
              </a:rPr>
              <a:t>)</a:t>
            </a:r>
            <a:endParaRPr lang="en-US" sz="2800">
              <a:solidFill>
                <a:srgbClr val="FF0000"/>
              </a:solidFill>
              <a:latin typeface="Times New Roman" pitchFamily="18" charset="0"/>
              <a:cs typeface="Times New Roman" pitchFamily="18" charset="0"/>
            </a:endParaRPr>
          </a:p>
        </p:txBody>
      </p:sp>
      <p:sp>
        <p:nvSpPr>
          <p:cNvPr id="27" name="Sun 26"/>
          <p:cNvSpPr/>
          <p:nvPr/>
        </p:nvSpPr>
        <p:spPr>
          <a:xfrm>
            <a:off x="152400" y="4610100"/>
            <a:ext cx="457200" cy="457200"/>
          </a:xfrm>
          <a:prstGeom prst="sun">
            <a:avLst/>
          </a:prstGeom>
          <a:solidFill>
            <a:srgbClr val="002060"/>
          </a:solidFill>
          <a:ln>
            <a:solidFill>
              <a:srgbClr val="90F82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latin typeface="Times New Roman" pitchFamily="18" charset="0"/>
              <a:cs typeface="Times New Roman" pitchFamily="18" charset="0"/>
            </a:endParaRPr>
          </a:p>
        </p:txBody>
      </p:sp>
      <p:graphicFrame>
        <p:nvGraphicFramePr>
          <p:cNvPr id="4" name="Object 4"/>
          <p:cNvGraphicFramePr>
            <a:graphicFrameLocks noChangeAspect="1"/>
          </p:cNvGraphicFramePr>
          <p:nvPr/>
        </p:nvGraphicFramePr>
        <p:xfrm>
          <a:off x="3937000" y="3124200"/>
          <a:ext cx="2284413" cy="1128713"/>
        </p:xfrm>
        <a:graphic>
          <a:graphicData uri="http://schemas.openxmlformats.org/presentationml/2006/ole">
            <mc:AlternateContent xmlns:mc="http://schemas.openxmlformats.org/markup-compatibility/2006">
              <mc:Choice xmlns:v="urn:schemas-microsoft-com:vml" Requires="v">
                <p:oleObj name="Equation" r:id="rId7" imgW="799753" imgH="393529" progId="Equation.DSMT4">
                  <p:embed/>
                </p:oleObj>
              </mc:Choice>
              <mc:Fallback>
                <p:oleObj name="Equation" r:id="rId7" imgW="799753" imgH="393529"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37000" y="3124200"/>
                        <a:ext cx="2284413" cy="112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 name="Rounded Rectangle 27"/>
          <p:cNvSpPr>
            <a:spLocks noChangeArrowheads="1"/>
          </p:cNvSpPr>
          <p:nvPr/>
        </p:nvSpPr>
        <p:spPr bwMode="auto">
          <a:xfrm>
            <a:off x="3733800" y="3048000"/>
            <a:ext cx="2743200" cy="1371600"/>
          </a:xfrm>
          <a:prstGeom prst="roundRect">
            <a:avLst>
              <a:gd name="adj" fmla="val 16667"/>
            </a:avLst>
          </a:prstGeom>
          <a:noFill/>
          <a:ln w="38100" algn="ctr">
            <a:solidFill>
              <a:srgbClr val="FF0000"/>
            </a:solidFill>
            <a:round/>
            <a:headEnd/>
            <a:tailEnd/>
          </a:ln>
          <a:effectLst>
            <a:glow rad="139700">
              <a:schemeClr val="accent2">
                <a:satMod val="175000"/>
                <a:alpha val="40000"/>
              </a:schemeClr>
            </a:glow>
            <a:outerShdw dist="38100" algn="l" rotWithShape="0">
              <a:srgbClr val="000000">
                <a:alpha val="39999"/>
              </a:srgbClr>
            </a:outerShdw>
          </a:effectLst>
        </p:spPr>
        <p:txBody>
          <a:bodyPr anchor="ctr"/>
          <a:lstStyle/>
          <a:p>
            <a:pPr algn="ctr">
              <a:defRPr/>
            </a:pPr>
            <a:endParaRPr lang="vi-VN" sz="2400">
              <a:solidFill>
                <a:schemeClr val="lt1"/>
              </a:solidFill>
              <a:latin typeface="Times New Roman" pitchFamily="18" charset="0"/>
              <a:cs typeface="Times New Roman" pitchFamily="18" charset="0"/>
            </a:endParaRPr>
          </a:p>
        </p:txBody>
      </p:sp>
      <p:graphicFrame>
        <p:nvGraphicFramePr>
          <p:cNvPr id="7" name="Object 5"/>
          <p:cNvGraphicFramePr>
            <a:graphicFrameLocks noChangeAspect="1"/>
          </p:cNvGraphicFramePr>
          <p:nvPr/>
        </p:nvGraphicFramePr>
        <p:xfrm>
          <a:off x="1243013" y="5324475"/>
          <a:ext cx="777875" cy="1155700"/>
        </p:xfrm>
        <a:graphic>
          <a:graphicData uri="http://schemas.openxmlformats.org/presentationml/2006/ole">
            <mc:AlternateContent xmlns:mc="http://schemas.openxmlformats.org/markup-compatibility/2006">
              <mc:Choice xmlns:v="urn:schemas-microsoft-com:vml" Requires="v">
                <p:oleObj name="Equation" r:id="rId9" imgW="266469" imgH="393359" progId="Equation.DSMT4">
                  <p:embed/>
                </p:oleObj>
              </mc:Choice>
              <mc:Fallback>
                <p:oleObj name="Equation" r:id="rId9" imgW="266469" imgH="393359"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43013" y="5324475"/>
                        <a:ext cx="777875"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6"/>
          <p:cNvGraphicFramePr>
            <a:graphicFrameLocks noChangeAspect="1"/>
          </p:cNvGraphicFramePr>
          <p:nvPr/>
        </p:nvGraphicFramePr>
        <p:xfrm>
          <a:off x="5127625" y="5284788"/>
          <a:ext cx="2339975" cy="1268412"/>
        </p:xfrm>
        <a:graphic>
          <a:graphicData uri="http://schemas.openxmlformats.org/presentationml/2006/ole">
            <mc:AlternateContent xmlns:mc="http://schemas.openxmlformats.org/markup-compatibility/2006">
              <mc:Choice xmlns:v="urn:schemas-microsoft-com:vml" Requires="v">
                <p:oleObj name="Equation" r:id="rId11" imgW="799753" imgH="431613" progId="Equation.DSMT4">
                  <p:embed/>
                </p:oleObj>
              </mc:Choice>
              <mc:Fallback>
                <p:oleObj name="Equation" r:id="rId11" imgW="799753" imgH="431613"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27625" y="5284788"/>
                        <a:ext cx="2339975" cy="126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 name="Rectangle 28"/>
          <p:cNvSpPr>
            <a:spLocks noChangeArrowheads="1"/>
          </p:cNvSpPr>
          <p:nvPr/>
        </p:nvSpPr>
        <p:spPr bwMode="auto">
          <a:xfrm>
            <a:off x="762000" y="3352800"/>
            <a:ext cx="29321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b="1">
                <a:solidFill>
                  <a:srgbClr val="1109B7"/>
                </a:solidFill>
                <a:latin typeface="Times New Roman" pitchFamily="18" charset="0"/>
                <a:cs typeface="Times New Roman" pitchFamily="18" charset="0"/>
              </a:rPr>
              <a:t>Khối lượng riêng:</a:t>
            </a:r>
            <a:endParaRPr lang="en-US" sz="2800">
              <a:solidFill>
                <a:srgbClr val="FF0000"/>
              </a:solidFill>
              <a:latin typeface="Times New Roman" pitchFamily="18" charset="0"/>
              <a:cs typeface="Times New Roman" pitchFamily="18" charset="0"/>
            </a:endParaRPr>
          </a:p>
        </p:txBody>
      </p:sp>
      <p:sp>
        <p:nvSpPr>
          <p:cNvPr id="30" name="Rounded Rectangle 29"/>
          <p:cNvSpPr>
            <a:spLocks noChangeArrowheads="1"/>
          </p:cNvSpPr>
          <p:nvPr/>
        </p:nvSpPr>
        <p:spPr bwMode="auto">
          <a:xfrm>
            <a:off x="4876800" y="5105400"/>
            <a:ext cx="2743200" cy="1524000"/>
          </a:xfrm>
          <a:prstGeom prst="roundRect">
            <a:avLst>
              <a:gd name="adj" fmla="val 16667"/>
            </a:avLst>
          </a:prstGeom>
          <a:noFill/>
          <a:ln w="38100" algn="ctr">
            <a:solidFill>
              <a:srgbClr val="FF0000"/>
            </a:solidFill>
            <a:round/>
            <a:headEnd/>
            <a:tailEnd/>
          </a:ln>
          <a:effectLst>
            <a:glow rad="139700">
              <a:schemeClr val="accent2">
                <a:satMod val="175000"/>
                <a:alpha val="40000"/>
              </a:schemeClr>
            </a:glow>
            <a:outerShdw dist="38100" algn="l" rotWithShape="0">
              <a:srgbClr val="000000">
                <a:alpha val="39999"/>
              </a:srgbClr>
            </a:outerShdw>
          </a:effectLst>
        </p:spPr>
        <p:txBody>
          <a:bodyPr anchor="ctr"/>
          <a:lstStyle/>
          <a:p>
            <a:pPr algn="ctr">
              <a:defRPr/>
            </a:pPr>
            <a:endParaRPr lang="vi-VN" sz="2400">
              <a:solidFill>
                <a:schemeClr val="lt1"/>
              </a:solidFill>
              <a:latin typeface="Times New Roman" pitchFamily="18" charset="0"/>
              <a:cs typeface="Times New Roman" pitchFamily="18" charset="0"/>
            </a:endParaRPr>
          </a:p>
        </p:txBody>
      </p:sp>
      <p:sp>
        <p:nvSpPr>
          <p:cNvPr id="31" name="Left-Right Arrow 30"/>
          <p:cNvSpPr/>
          <p:nvPr/>
        </p:nvSpPr>
        <p:spPr>
          <a:xfrm>
            <a:off x="3886200" y="5761038"/>
            <a:ext cx="533400" cy="228600"/>
          </a:xfrm>
          <a:prstGeom prst="leftRightArrow">
            <a:avLst/>
          </a:prstGeom>
          <a:solidFill>
            <a:srgbClr val="43CE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aphicFrame>
        <p:nvGraphicFramePr>
          <p:cNvPr id="10" name="Object 7"/>
          <p:cNvGraphicFramePr>
            <a:graphicFrameLocks noChangeAspect="1"/>
          </p:cNvGraphicFramePr>
          <p:nvPr/>
        </p:nvGraphicFramePr>
        <p:xfrm>
          <a:off x="1958975" y="5638800"/>
          <a:ext cx="1560513" cy="520700"/>
        </p:xfrm>
        <a:graphic>
          <a:graphicData uri="http://schemas.openxmlformats.org/presentationml/2006/ole">
            <mc:AlternateContent xmlns:mc="http://schemas.openxmlformats.org/markup-compatibility/2006">
              <mc:Choice xmlns:v="urn:schemas-microsoft-com:vml" Requires="v">
                <p:oleObj name="Equation" r:id="rId13" imgW="532937" imgH="177646" progId="Equation.DSMT4">
                  <p:embed/>
                </p:oleObj>
              </mc:Choice>
              <mc:Fallback>
                <p:oleObj name="Equation" r:id="rId13" imgW="532937" imgH="177646"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58975" y="5638800"/>
                        <a:ext cx="1560513"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8"/>
          <p:cNvGraphicFramePr>
            <a:graphicFrameLocks noChangeAspect="1"/>
          </p:cNvGraphicFramePr>
          <p:nvPr/>
        </p:nvGraphicFramePr>
        <p:xfrm>
          <a:off x="1981200" y="5334000"/>
          <a:ext cx="1300163" cy="1230313"/>
        </p:xfrm>
        <a:graphic>
          <a:graphicData uri="http://schemas.openxmlformats.org/presentationml/2006/ole">
            <mc:AlternateContent xmlns:mc="http://schemas.openxmlformats.org/markup-compatibility/2006">
              <mc:Choice xmlns:v="urn:schemas-microsoft-com:vml" Requires="v">
                <p:oleObj name="Equation" r:id="rId15" imgW="444307" imgH="418918" progId="Equation.DSMT4">
                  <p:embed/>
                </p:oleObj>
              </mc:Choice>
              <mc:Fallback>
                <p:oleObj name="Equation" r:id="rId15" imgW="444307" imgH="418918"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81200" y="5334000"/>
                        <a:ext cx="1300163" cy="123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Footer Placeholder 2">
            <a:extLst>
              <a:ext uri="{FF2B5EF4-FFF2-40B4-BE49-F238E27FC236}">
                <a16:creationId xmlns:a16="http://schemas.microsoft.com/office/drawing/2014/main" id="{494BA9AD-8B94-F6B7-694A-ABA087C8D695}"/>
              </a:ext>
            </a:extLst>
          </p:cNvPr>
          <p:cNvSpPr>
            <a:spLocks noGrp="1"/>
          </p:cNvSpPr>
          <p:nvPr>
            <p:ph type="ftr" sz="quarter" idx="11"/>
          </p:nvPr>
        </p:nvSpPr>
        <p:spPr/>
        <p:txBody>
          <a:bodyPr/>
          <a:lstStyle/>
          <a:p>
            <a:r>
              <a:rPr lang="en-US"/>
              <a:t>Bùi Quốc Trung - VLDC</a:t>
            </a:r>
          </a:p>
        </p:txBody>
      </p:sp>
      <p:sp>
        <p:nvSpPr>
          <p:cNvPr id="12" name="Slide Number Placeholder 11">
            <a:extLst>
              <a:ext uri="{FF2B5EF4-FFF2-40B4-BE49-F238E27FC236}">
                <a16:creationId xmlns:a16="http://schemas.microsoft.com/office/drawing/2014/main" id="{3D065C20-AD1D-D442-24BE-CFB3BDB187E7}"/>
              </a:ext>
            </a:extLst>
          </p:cNvPr>
          <p:cNvSpPr>
            <a:spLocks noGrp="1"/>
          </p:cNvSpPr>
          <p:nvPr>
            <p:ph type="sldNum" sz="quarter" idx="12"/>
          </p:nvPr>
        </p:nvSpPr>
        <p:spPr/>
        <p:txBody>
          <a:bodyPr/>
          <a:lstStyle/>
          <a:p>
            <a:fld id="{0C173468-4CCE-478A-9725-791AF0DB04F2}" type="slidenum">
              <a:rPr lang="en-US" smtClean="0"/>
              <a:t>9</a:t>
            </a:fld>
            <a:endParaRPr lang="en-US"/>
          </a:p>
        </p:txBody>
      </p:sp>
    </p:spTree>
    <p:extLst>
      <p:ext uri="{BB962C8B-B14F-4D97-AF65-F5344CB8AC3E}">
        <p14:creationId xmlns:p14="http://schemas.microsoft.com/office/powerpoint/2010/main" val="9614489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3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out)">
                                      <p:cBhvr>
                                        <p:cTn id="7" dur="1000"/>
                                        <p:tgtEl>
                                          <p:spTgt spid="2"/>
                                        </p:tgtEl>
                                      </p:cBhvr>
                                    </p:animEffect>
                                  </p:childTnLst>
                                </p:cTn>
                              </p:par>
                            </p:childTnLst>
                          </p:cTn>
                        </p:par>
                        <p:par>
                          <p:cTn id="8" fill="hold" nodeType="afterGroup">
                            <p:stCondLst>
                              <p:cond delay="1000"/>
                            </p:stCondLst>
                            <p:childTnLst>
                              <p:par>
                                <p:cTn id="9" presetID="47" presetClass="entr" presetSubtype="0"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anim calcmode="lin" valueType="num">
                                      <p:cBhvr>
                                        <p:cTn id="12" dur="500" fill="hold"/>
                                        <p:tgtEl>
                                          <p:spTgt spid="24"/>
                                        </p:tgtEl>
                                        <p:attrNameLst>
                                          <p:attrName>ppt_x</p:attrName>
                                        </p:attrNameLst>
                                      </p:cBhvr>
                                      <p:tavLst>
                                        <p:tav tm="0">
                                          <p:val>
                                            <p:strVal val="#ppt_x"/>
                                          </p:val>
                                        </p:tav>
                                        <p:tav tm="100000">
                                          <p:val>
                                            <p:strVal val="#ppt_x"/>
                                          </p:val>
                                        </p:tav>
                                      </p:tavLst>
                                    </p:anim>
                                    <p:anim calcmode="lin" valueType="num">
                                      <p:cBhvr>
                                        <p:cTn id="13" dur="500" fill="hold"/>
                                        <p:tgtEl>
                                          <p:spTgt spid="24"/>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1500"/>
                            </p:stCondLst>
                            <p:childTnLst>
                              <p:par>
                                <p:cTn id="15" presetID="47" presetClass="entr" presetSubtype="0"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anim calcmode="lin" valueType="num">
                                      <p:cBhvr>
                                        <p:cTn id="18" dur="500" fill="hold"/>
                                        <p:tgtEl>
                                          <p:spTgt spid="9"/>
                                        </p:tgtEl>
                                        <p:attrNameLst>
                                          <p:attrName>ppt_x</p:attrName>
                                        </p:attrNameLst>
                                      </p:cBhvr>
                                      <p:tavLst>
                                        <p:tav tm="0">
                                          <p:val>
                                            <p:strVal val="#ppt_x"/>
                                          </p:val>
                                        </p:tav>
                                        <p:tav tm="100000">
                                          <p:val>
                                            <p:strVal val="#ppt_x"/>
                                          </p:val>
                                        </p:tav>
                                      </p:tavLst>
                                    </p:anim>
                                    <p:anim calcmode="lin" valueType="num">
                                      <p:cBhvr>
                                        <p:cTn id="19"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47" presetClass="entr" presetSubtype="0" fill="hold" grpId="0"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500"/>
                                        <p:tgtEl>
                                          <p:spTgt spid="23"/>
                                        </p:tgtEl>
                                      </p:cBhvr>
                                    </p:animEffect>
                                    <p:anim calcmode="lin" valueType="num">
                                      <p:cBhvr>
                                        <p:cTn id="25" dur="500" fill="hold"/>
                                        <p:tgtEl>
                                          <p:spTgt spid="23"/>
                                        </p:tgtEl>
                                        <p:attrNameLst>
                                          <p:attrName>ppt_x</p:attrName>
                                        </p:attrNameLst>
                                      </p:cBhvr>
                                      <p:tavLst>
                                        <p:tav tm="0">
                                          <p:val>
                                            <p:strVal val="#ppt_x"/>
                                          </p:val>
                                        </p:tav>
                                        <p:tav tm="100000">
                                          <p:val>
                                            <p:strVal val="#ppt_x"/>
                                          </p:val>
                                        </p:tav>
                                      </p:tavLst>
                                    </p:anim>
                                    <p:anim calcmode="lin" valueType="num">
                                      <p:cBhvr>
                                        <p:cTn id="26" dur="5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7"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anim calcmode="lin" valueType="num">
                                      <p:cBhvr>
                                        <p:cTn id="32" dur="500" fill="hold"/>
                                        <p:tgtEl>
                                          <p:spTgt spid="15"/>
                                        </p:tgtEl>
                                        <p:attrNameLst>
                                          <p:attrName>ppt_x</p:attrName>
                                        </p:attrNameLst>
                                      </p:cBhvr>
                                      <p:tavLst>
                                        <p:tav tm="0">
                                          <p:val>
                                            <p:strVal val="#ppt_x"/>
                                          </p:val>
                                        </p:tav>
                                        <p:tav tm="100000">
                                          <p:val>
                                            <p:strVal val="#ppt_x"/>
                                          </p:val>
                                        </p:tav>
                                      </p:tavLst>
                                    </p:anim>
                                    <p:anim calcmode="lin" valueType="num">
                                      <p:cBhvr>
                                        <p:cTn id="33" dur="500" fill="hold"/>
                                        <p:tgtEl>
                                          <p:spTgt spid="15"/>
                                        </p:tgtEl>
                                        <p:attrNameLst>
                                          <p:attrName>ppt_y</p:attrName>
                                        </p:attrNameLst>
                                      </p:cBhvr>
                                      <p:tavLst>
                                        <p:tav tm="0">
                                          <p:val>
                                            <p:strVal val="#ppt_y-.1"/>
                                          </p:val>
                                        </p:tav>
                                        <p:tav tm="100000">
                                          <p:val>
                                            <p:strVal val="#ppt_y"/>
                                          </p:val>
                                        </p:tav>
                                      </p:tavLst>
                                    </p:anim>
                                  </p:childTnLst>
                                </p:cTn>
                              </p:par>
                            </p:childTnLst>
                          </p:cTn>
                        </p:par>
                        <p:par>
                          <p:cTn id="34" fill="hold" nodeType="afterGroup">
                            <p:stCondLst>
                              <p:cond delay="500"/>
                            </p:stCondLst>
                            <p:childTnLst>
                              <p:par>
                                <p:cTn id="35" presetID="47" presetClass="entr" presetSubtype="0" fill="hold" nodeType="after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500"/>
                                        <p:tgtEl>
                                          <p:spTgt spid="5"/>
                                        </p:tgtEl>
                                      </p:cBhvr>
                                    </p:animEffect>
                                    <p:anim calcmode="lin" valueType="num">
                                      <p:cBhvr>
                                        <p:cTn id="38" dur="500" fill="hold"/>
                                        <p:tgtEl>
                                          <p:spTgt spid="5"/>
                                        </p:tgtEl>
                                        <p:attrNameLst>
                                          <p:attrName>ppt_x</p:attrName>
                                        </p:attrNameLst>
                                      </p:cBhvr>
                                      <p:tavLst>
                                        <p:tav tm="0">
                                          <p:val>
                                            <p:strVal val="#ppt_x"/>
                                          </p:val>
                                        </p:tav>
                                        <p:tav tm="100000">
                                          <p:val>
                                            <p:strVal val="#ppt_x"/>
                                          </p:val>
                                        </p:tav>
                                      </p:tavLst>
                                    </p:anim>
                                    <p:anim calcmode="lin" valueType="num">
                                      <p:cBhvr>
                                        <p:cTn id="39"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47" presetClass="entr" presetSubtype="0" fill="hold" nodeType="click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anim calcmode="lin" valueType="num">
                                      <p:cBhvr>
                                        <p:cTn id="45" dur="500" fill="hold"/>
                                        <p:tgtEl>
                                          <p:spTgt spid="16"/>
                                        </p:tgtEl>
                                        <p:attrNameLst>
                                          <p:attrName>ppt_x</p:attrName>
                                        </p:attrNameLst>
                                      </p:cBhvr>
                                      <p:tavLst>
                                        <p:tav tm="0">
                                          <p:val>
                                            <p:strVal val="#ppt_x"/>
                                          </p:val>
                                        </p:tav>
                                        <p:tav tm="100000">
                                          <p:val>
                                            <p:strVal val="#ppt_x"/>
                                          </p:val>
                                        </p:tav>
                                      </p:tavLst>
                                    </p:anim>
                                    <p:anim calcmode="lin" valueType="num">
                                      <p:cBhvr>
                                        <p:cTn id="46" dur="500" fill="hold"/>
                                        <p:tgtEl>
                                          <p:spTgt spid="16"/>
                                        </p:tgtEl>
                                        <p:attrNameLst>
                                          <p:attrName>ppt_y</p:attrName>
                                        </p:attrNameLst>
                                      </p:cBhvr>
                                      <p:tavLst>
                                        <p:tav tm="0">
                                          <p:val>
                                            <p:strVal val="#ppt_y-.1"/>
                                          </p:val>
                                        </p:tav>
                                        <p:tav tm="100000">
                                          <p:val>
                                            <p:strVal val="#ppt_y"/>
                                          </p:val>
                                        </p:tav>
                                      </p:tavLst>
                                    </p:anim>
                                  </p:childTnLst>
                                </p:cTn>
                              </p:par>
                            </p:childTnLst>
                          </p:cTn>
                        </p:par>
                        <p:par>
                          <p:cTn id="47" fill="hold" nodeType="afterGroup">
                            <p:stCondLst>
                              <p:cond delay="500"/>
                            </p:stCondLst>
                            <p:childTnLst>
                              <p:par>
                                <p:cTn id="48" presetID="47" presetClass="entr" presetSubtype="0" fill="hold" nodeType="after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fade">
                                      <p:cBhvr>
                                        <p:cTn id="50" dur="500"/>
                                        <p:tgtEl>
                                          <p:spTgt spid="6"/>
                                        </p:tgtEl>
                                      </p:cBhvr>
                                    </p:animEffect>
                                    <p:anim calcmode="lin" valueType="num">
                                      <p:cBhvr>
                                        <p:cTn id="51" dur="500" fill="hold"/>
                                        <p:tgtEl>
                                          <p:spTgt spid="6"/>
                                        </p:tgtEl>
                                        <p:attrNameLst>
                                          <p:attrName>ppt_x</p:attrName>
                                        </p:attrNameLst>
                                      </p:cBhvr>
                                      <p:tavLst>
                                        <p:tav tm="0">
                                          <p:val>
                                            <p:strVal val="#ppt_x"/>
                                          </p:val>
                                        </p:tav>
                                        <p:tav tm="100000">
                                          <p:val>
                                            <p:strVal val="#ppt_x"/>
                                          </p:val>
                                        </p:tav>
                                      </p:tavLst>
                                    </p:anim>
                                    <p:anim calcmode="lin" valueType="num">
                                      <p:cBhvr>
                                        <p:cTn id="52"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47" presetClass="entr" presetSubtype="0" fill="hold" grpId="0" nodeType="click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500"/>
                                        <p:tgtEl>
                                          <p:spTgt spid="29"/>
                                        </p:tgtEl>
                                      </p:cBhvr>
                                    </p:animEffect>
                                    <p:anim calcmode="lin" valueType="num">
                                      <p:cBhvr>
                                        <p:cTn id="58" dur="500" fill="hold"/>
                                        <p:tgtEl>
                                          <p:spTgt spid="29"/>
                                        </p:tgtEl>
                                        <p:attrNameLst>
                                          <p:attrName>ppt_x</p:attrName>
                                        </p:attrNameLst>
                                      </p:cBhvr>
                                      <p:tavLst>
                                        <p:tav tm="0">
                                          <p:val>
                                            <p:strVal val="#ppt_x"/>
                                          </p:val>
                                        </p:tav>
                                        <p:tav tm="100000">
                                          <p:val>
                                            <p:strVal val="#ppt_x"/>
                                          </p:val>
                                        </p:tav>
                                      </p:tavLst>
                                    </p:anim>
                                    <p:anim calcmode="lin" valueType="num">
                                      <p:cBhvr>
                                        <p:cTn id="59" dur="500" fill="hold"/>
                                        <p:tgtEl>
                                          <p:spTgt spid="29"/>
                                        </p:tgtEl>
                                        <p:attrNameLst>
                                          <p:attrName>ppt_y</p:attrName>
                                        </p:attrNameLst>
                                      </p:cBhvr>
                                      <p:tavLst>
                                        <p:tav tm="0">
                                          <p:val>
                                            <p:strVal val="#ppt_y-.1"/>
                                          </p:val>
                                        </p:tav>
                                        <p:tav tm="100000">
                                          <p:val>
                                            <p:strVal val="#ppt_y"/>
                                          </p:val>
                                        </p:tav>
                                      </p:tavLst>
                                    </p:anim>
                                  </p:childTnLst>
                                </p:cTn>
                              </p:par>
                            </p:childTnLst>
                          </p:cTn>
                        </p:par>
                        <p:par>
                          <p:cTn id="60" fill="hold" nodeType="afterGroup">
                            <p:stCondLst>
                              <p:cond delay="500"/>
                            </p:stCondLst>
                            <p:childTnLst>
                              <p:par>
                                <p:cTn id="61" presetID="47" presetClass="entr" presetSubtype="0" fill="hold" nodeType="afterEffect">
                                  <p:stCondLst>
                                    <p:cond delay="0"/>
                                  </p:stCondLst>
                                  <p:childTnLst>
                                    <p:set>
                                      <p:cBhvr>
                                        <p:cTn id="62" dur="1" fill="hold">
                                          <p:stCondLst>
                                            <p:cond delay="0"/>
                                          </p:stCondLst>
                                        </p:cTn>
                                        <p:tgtEl>
                                          <p:spTgt spid="4"/>
                                        </p:tgtEl>
                                        <p:attrNameLst>
                                          <p:attrName>style.visibility</p:attrName>
                                        </p:attrNameLst>
                                      </p:cBhvr>
                                      <p:to>
                                        <p:strVal val="visible"/>
                                      </p:to>
                                    </p:set>
                                    <p:animEffect transition="in" filter="fade">
                                      <p:cBhvr>
                                        <p:cTn id="63" dur="500"/>
                                        <p:tgtEl>
                                          <p:spTgt spid="4"/>
                                        </p:tgtEl>
                                      </p:cBhvr>
                                    </p:animEffect>
                                    <p:anim calcmode="lin" valueType="num">
                                      <p:cBhvr>
                                        <p:cTn id="64" dur="500" fill="hold"/>
                                        <p:tgtEl>
                                          <p:spTgt spid="4"/>
                                        </p:tgtEl>
                                        <p:attrNameLst>
                                          <p:attrName>ppt_x</p:attrName>
                                        </p:attrNameLst>
                                      </p:cBhvr>
                                      <p:tavLst>
                                        <p:tav tm="0">
                                          <p:val>
                                            <p:strVal val="#ppt_x"/>
                                          </p:val>
                                        </p:tav>
                                        <p:tav tm="100000">
                                          <p:val>
                                            <p:strVal val="#ppt_x"/>
                                          </p:val>
                                        </p:tav>
                                      </p:tavLst>
                                    </p:anim>
                                    <p:anim calcmode="lin" valueType="num">
                                      <p:cBhvr>
                                        <p:cTn id="65" dur="500" fill="hold"/>
                                        <p:tgtEl>
                                          <p:spTgt spid="4"/>
                                        </p:tgtEl>
                                        <p:attrNameLst>
                                          <p:attrName>ppt_y</p:attrName>
                                        </p:attrNameLst>
                                      </p:cBhvr>
                                      <p:tavLst>
                                        <p:tav tm="0">
                                          <p:val>
                                            <p:strVal val="#ppt_y-.1"/>
                                          </p:val>
                                        </p:tav>
                                        <p:tav tm="100000">
                                          <p:val>
                                            <p:strVal val="#ppt_y"/>
                                          </p:val>
                                        </p:tav>
                                      </p:tavLst>
                                    </p:anim>
                                  </p:childTnLst>
                                </p:cTn>
                              </p:par>
                            </p:childTnLst>
                          </p:cTn>
                        </p:par>
                        <p:par>
                          <p:cTn id="66" fill="hold" nodeType="afterGroup">
                            <p:stCondLst>
                              <p:cond delay="1000"/>
                            </p:stCondLst>
                            <p:childTnLst>
                              <p:par>
                                <p:cTn id="67" presetID="47" presetClass="entr" presetSubtype="0" fill="hold" nodeType="after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500"/>
                                        <p:tgtEl>
                                          <p:spTgt spid="28"/>
                                        </p:tgtEl>
                                      </p:cBhvr>
                                    </p:animEffect>
                                    <p:anim calcmode="lin" valueType="num">
                                      <p:cBhvr>
                                        <p:cTn id="70" dur="500" fill="hold"/>
                                        <p:tgtEl>
                                          <p:spTgt spid="28"/>
                                        </p:tgtEl>
                                        <p:attrNameLst>
                                          <p:attrName>ppt_x</p:attrName>
                                        </p:attrNameLst>
                                      </p:cBhvr>
                                      <p:tavLst>
                                        <p:tav tm="0">
                                          <p:val>
                                            <p:strVal val="#ppt_x"/>
                                          </p:val>
                                        </p:tav>
                                        <p:tav tm="100000">
                                          <p:val>
                                            <p:strVal val="#ppt_x"/>
                                          </p:val>
                                        </p:tav>
                                      </p:tavLst>
                                    </p:anim>
                                    <p:anim calcmode="lin" valueType="num">
                                      <p:cBhvr>
                                        <p:cTn id="71" dur="5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47" presetClass="entr" presetSubtype="0" fill="hold" grpId="0" nodeType="click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500"/>
                                        <p:tgtEl>
                                          <p:spTgt spid="27"/>
                                        </p:tgtEl>
                                      </p:cBhvr>
                                    </p:animEffect>
                                    <p:anim calcmode="lin" valueType="num">
                                      <p:cBhvr>
                                        <p:cTn id="77" dur="500" fill="hold"/>
                                        <p:tgtEl>
                                          <p:spTgt spid="27"/>
                                        </p:tgtEl>
                                        <p:attrNameLst>
                                          <p:attrName>ppt_x</p:attrName>
                                        </p:attrNameLst>
                                      </p:cBhvr>
                                      <p:tavLst>
                                        <p:tav tm="0">
                                          <p:val>
                                            <p:strVal val="#ppt_x"/>
                                          </p:val>
                                        </p:tav>
                                        <p:tav tm="100000">
                                          <p:val>
                                            <p:strVal val="#ppt_x"/>
                                          </p:val>
                                        </p:tav>
                                      </p:tavLst>
                                    </p:anim>
                                    <p:anim calcmode="lin" valueType="num">
                                      <p:cBhvr>
                                        <p:cTn id="78" dur="500" fill="hold"/>
                                        <p:tgtEl>
                                          <p:spTgt spid="27"/>
                                        </p:tgtEl>
                                        <p:attrNameLst>
                                          <p:attrName>ppt_y</p:attrName>
                                        </p:attrNameLst>
                                      </p:cBhvr>
                                      <p:tavLst>
                                        <p:tav tm="0">
                                          <p:val>
                                            <p:strVal val="#ppt_y-.1"/>
                                          </p:val>
                                        </p:tav>
                                        <p:tav tm="100000">
                                          <p:val>
                                            <p:strVal val="#ppt_y"/>
                                          </p:val>
                                        </p:tav>
                                      </p:tavLst>
                                    </p:anim>
                                  </p:childTnLst>
                                </p:cTn>
                              </p:par>
                            </p:childTnLst>
                          </p:cTn>
                        </p:par>
                        <p:par>
                          <p:cTn id="79" fill="hold" nodeType="afterGroup">
                            <p:stCondLst>
                              <p:cond delay="500"/>
                            </p:stCondLst>
                            <p:childTnLst>
                              <p:par>
                                <p:cTn id="80" presetID="47" presetClass="entr" presetSubtype="0" fill="hold" grpId="0" nodeType="afterEffect">
                                  <p:stCondLst>
                                    <p:cond delay="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500"/>
                                        <p:tgtEl>
                                          <p:spTgt spid="25"/>
                                        </p:tgtEl>
                                      </p:cBhvr>
                                    </p:animEffect>
                                    <p:anim calcmode="lin" valueType="num">
                                      <p:cBhvr>
                                        <p:cTn id="83" dur="500" fill="hold"/>
                                        <p:tgtEl>
                                          <p:spTgt spid="25"/>
                                        </p:tgtEl>
                                        <p:attrNameLst>
                                          <p:attrName>ppt_x</p:attrName>
                                        </p:attrNameLst>
                                      </p:cBhvr>
                                      <p:tavLst>
                                        <p:tav tm="0">
                                          <p:val>
                                            <p:strVal val="#ppt_x"/>
                                          </p:val>
                                        </p:tav>
                                        <p:tav tm="100000">
                                          <p:val>
                                            <p:strVal val="#ppt_x"/>
                                          </p:val>
                                        </p:tav>
                                      </p:tavLst>
                                    </p:anim>
                                    <p:anim calcmode="lin" valueType="num">
                                      <p:cBhvr>
                                        <p:cTn id="84" dur="5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85" fill="hold" nodeType="clickPar">
                      <p:stCondLst>
                        <p:cond delay="indefinite"/>
                      </p:stCondLst>
                      <p:childTnLst>
                        <p:par>
                          <p:cTn id="86" fill="hold" nodeType="withGroup">
                            <p:stCondLst>
                              <p:cond delay="0"/>
                            </p:stCondLst>
                            <p:childTnLst>
                              <p:par>
                                <p:cTn id="87" presetID="8" presetClass="entr" presetSubtype="16" fill="hold" nodeType="clickEffect">
                                  <p:stCondLst>
                                    <p:cond delay="0"/>
                                  </p:stCondLst>
                                  <p:childTnLst>
                                    <p:set>
                                      <p:cBhvr>
                                        <p:cTn id="88" dur="1" fill="hold">
                                          <p:stCondLst>
                                            <p:cond delay="0"/>
                                          </p:stCondLst>
                                        </p:cTn>
                                        <p:tgtEl>
                                          <p:spTgt spid="7"/>
                                        </p:tgtEl>
                                        <p:attrNameLst>
                                          <p:attrName>style.visibility</p:attrName>
                                        </p:attrNameLst>
                                      </p:cBhvr>
                                      <p:to>
                                        <p:strVal val="visible"/>
                                      </p:to>
                                    </p:set>
                                    <p:animEffect transition="in" filter="diamond(in)">
                                      <p:cBhvr>
                                        <p:cTn id="89" dur="1000"/>
                                        <p:tgtEl>
                                          <p:spTgt spid="7"/>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8" presetClass="entr" presetSubtype="16" fill="hold" nodeType="clickEffect">
                                  <p:stCondLst>
                                    <p:cond delay="0"/>
                                  </p:stCondLst>
                                  <p:childTnLst>
                                    <p:set>
                                      <p:cBhvr>
                                        <p:cTn id="93" dur="1" fill="hold">
                                          <p:stCondLst>
                                            <p:cond delay="0"/>
                                          </p:stCondLst>
                                        </p:cTn>
                                        <p:tgtEl>
                                          <p:spTgt spid="11"/>
                                        </p:tgtEl>
                                        <p:attrNameLst>
                                          <p:attrName>style.visibility</p:attrName>
                                        </p:attrNameLst>
                                      </p:cBhvr>
                                      <p:to>
                                        <p:strVal val="visible"/>
                                      </p:to>
                                    </p:set>
                                    <p:animEffect transition="in" filter="diamond(in)">
                                      <p:cBhvr>
                                        <p:cTn id="94" dur="1000"/>
                                        <p:tgtEl>
                                          <p:spTgt spid="11"/>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3" presetClass="exit" presetSubtype="5" fill="hold" nodeType="clickEffect">
                                  <p:stCondLst>
                                    <p:cond delay="0"/>
                                  </p:stCondLst>
                                  <p:childTnLst>
                                    <p:animEffect transition="out" filter="blinds(vertical)">
                                      <p:cBhvr>
                                        <p:cTn id="98" dur="500"/>
                                        <p:tgtEl>
                                          <p:spTgt spid="11"/>
                                        </p:tgtEl>
                                      </p:cBhvr>
                                    </p:animEffect>
                                    <p:set>
                                      <p:cBhvr>
                                        <p:cTn id="99" dur="1" fill="hold">
                                          <p:stCondLst>
                                            <p:cond delay="499"/>
                                          </p:stCondLst>
                                        </p:cTn>
                                        <p:tgtEl>
                                          <p:spTgt spid="11"/>
                                        </p:tgtEl>
                                        <p:attrNameLst>
                                          <p:attrName>style.visibility</p:attrName>
                                        </p:attrNameLst>
                                      </p:cBhvr>
                                      <p:to>
                                        <p:strVal val="hidden"/>
                                      </p:to>
                                    </p:set>
                                  </p:childTnLst>
                                </p:cTn>
                              </p:par>
                            </p:childTnLst>
                          </p:cTn>
                        </p:par>
                        <p:par>
                          <p:cTn id="100" fill="hold" nodeType="afterGroup">
                            <p:stCondLst>
                              <p:cond delay="500"/>
                            </p:stCondLst>
                            <p:childTnLst>
                              <p:par>
                                <p:cTn id="101" presetID="8" presetClass="entr" presetSubtype="32" fill="hold" nodeType="afterEffect">
                                  <p:stCondLst>
                                    <p:cond delay="0"/>
                                  </p:stCondLst>
                                  <p:childTnLst>
                                    <p:set>
                                      <p:cBhvr>
                                        <p:cTn id="102" dur="1" fill="hold">
                                          <p:stCondLst>
                                            <p:cond delay="0"/>
                                          </p:stCondLst>
                                        </p:cTn>
                                        <p:tgtEl>
                                          <p:spTgt spid="10"/>
                                        </p:tgtEl>
                                        <p:attrNameLst>
                                          <p:attrName>style.visibility</p:attrName>
                                        </p:attrNameLst>
                                      </p:cBhvr>
                                      <p:to>
                                        <p:strVal val="visible"/>
                                      </p:to>
                                    </p:set>
                                    <p:animEffect transition="in" filter="diamond(out)">
                                      <p:cBhvr>
                                        <p:cTn id="103" dur="500"/>
                                        <p:tgtEl>
                                          <p:spTgt spid="10"/>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8" presetClass="entr" presetSubtype="32" fill="hold" grpId="0" nodeType="clickEffect">
                                  <p:stCondLst>
                                    <p:cond delay="0"/>
                                  </p:stCondLst>
                                  <p:childTnLst>
                                    <p:set>
                                      <p:cBhvr>
                                        <p:cTn id="107" dur="1" fill="hold">
                                          <p:stCondLst>
                                            <p:cond delay="0"/>
                                          </p:stCondLst>
                                        </p:cTn>
                                        <p:tgtEl>
                                          <p:spTgt spid="31"/>
                                        </p:tgtEl>
                                        <p:attrNameLst>
                                          <p:attrName>style.visibility</p:attrName>
                                        </p:attrNameLst>
                                      </p:cBhvr>
                                      <p:to>
                                        <p:strVal val="visible"/>
                                      </p:to>
                                    </p:set>
                                    <p:animEffect transition="in" filter="diamond(out)">
                                      <p:cBhvr>
                                        <p:cTn id="108" dur="500"/>
                                        <p:tgtEl>
                                          <p:spTgt spid="31"/>
                                        </p:tgtEl>
                                      </p:cBhvr>
                                    </p:animEffect>
                                  </p:childTnLst>
                                </p:cTn>
                              </p:par>
                            </p:childTnLst>
                          </p:cTn>
                        </p:par>
                        <p:par>
                          <p:cTn id="109" fill="hold" nodeType="afterGroup">
                            <p:stCondLst>
                              <p:cond delay="500"/>
                            </p:stCondLst>
                            <p:childTnLst>
                              <p:par>
                                <p:cTn id="110" presetID="8" presetClass="entr" presetSubtype="16" fill="hold" nodeType="afterEffect">
                                  <p:stCondLst>
                                    <p:cond delay="0"/>
                                  </p:stCondLst>
                                  <p:childTnLst>
                                    <p:set>
                                      <p:cBhvr>
                                        <p:cTn id="111" dur="1" fill="hold">
                                          <p:stCondLst>
                                            <p:cond delay="0"/>
                                          </p:stCondLst>
                                        </p:cTn>
                                        <p:tgtEl>
                                          <p:spTgt spid="8"/>
                                        </p:tgtEl>
                                        <p:attrNameLst>
                                          <p:attrName>style.visibility</p:attrName>
                                        </p:attrNameLst>
                                      </p:cBhvr>
                                      <p:to>
                                        <p:strVal val="visible"/>
                                      </p:to>
                                    </p:set>
                                    <p:animEffect transition="in" filter="diamond(in)">
                                      <p:cBhvr>
                                        <p:cTn id="112" dur="1000"/>
                                        <p:tgtEl>
                                          <p:spTgt spid="8"/>
                                        </p:tgtEl>
                                      </p:cBhvr>
                                    </p:animEffect>
                                  </p:childTnLst>
                                </p:cTn>
                              </p:par>
                            </p:childTnLst>
                          </p:cTn>
                        </p:par>
                        <p:par>
                          <p:cTn id="113" fill="hold" nodeType="afterGroup">
                            <p:stCondLst>
                              <p:cond delay="1500"/>
                            </p:stCondLst>
                            <p:childTnLst>
                              <p:par>
                                <p:cTn id="114" presetID="47" presetClass="entr" presetSubtype="0" fill="hold" nodeType="afterEffect">
                                  <p:stCondLst>
                                    <p:cond delay="0"/>
                                  </p:stCondLst>
                                  <p:childTnLst>
                                    <p:set>
                                      <p:cBhvr>
                                        <p:cTn id="115" dur="1" fill="hold">
                                          <p:stCondLst>
                                            <p:cond delay="0"/>
                                          </p:stCondLst>
                                        </p:cTn>
                                        <p:tgtEl>
                                          <p:spTgt spid="30"/>
                                        </p:tgtEl>
                                        <p:attrNameLst>
                                          <p:attrName>style.visibility</p:attrName>
                                        </p:attrNameLst>
                                      </p:cBhvr>
                                      <p:to>
                                        <p:strVal val="visible"/>
                                      </p:to>
                                    </p:set>
                                    <p:animEffect transition="in" filter="fade">
                                      <p:cBhvr>
                                        <p:cTn id="116" dur="500"/>
                                        <p:tgtEl>
                                          <p:spTgt spid="30"/>
                                        </p:tgtEl>
                                      </p:cBhvr>
                                    </p:animEffect>
                                    <p:anim calcmode="lin" valueType="num">
                                      <p:cBhvr>
                                        <p:cTn id="117" dur="500" fill="hold"/>
                                        <p:tgtEl>
                                          <p:spTgt spid="30"/>
                                        </p:tgtEl>
                                        <p:attrNameLst>
                                          <p:attrName>ppt_x</p:attrName>
                                        </p:attrNameLst>
                                      </p:cBhvr>
                                      <p:tavLst>
                                        <p:tav tm="0">
                                          <p:val>
                                            <p:strVal val="#ppt_x"/>
                                          </p:val>
                                        </p:tav>
                                        <p:tav tm="100000">
                                          <p:val>
                                            <p:strVal val="#ppt_x"/>
                                          </p:val>
                                        </p:tav>
                                      </p:tavLst>
                                    </p:anim>
                                    <p:anim calcmode="lin" valueType="num">
                                      <p:cBhvr>
                                        <p:cTn id="118" dur="5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3" grpId="0"/>
      <p:bldP spid="24" grpId="0" animBg="1"/>
      <p:bldP spid="25" grpId="0"/>
      <p:bldP spid="27" grpId="0" animBg="1"/>
      <p:bldP spid="29" grpId="0"/>
      <p:bldP spid="3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685800"/>
            <a:ext cx="4038600" cy="5440363"/>
          </a:xfrm>
        </p:spPr>
        <p:txBody>
          <a:bodyPr/>
          <a:lstStyle/>
          <a:p>
            <a:pPr marL="0" indent="0">
              <a:buFont typeface="Arial" charset="0"/>
              <a:buNone/>
              <a:defRPr/>
            </a:pPr>
            <a:r>
              <a:rPr lang="en-US" b="1" dirty="0" err="1"/>
              <a:t>Tính</a:t>
            </a:r>
            <a:r>
              <a:rPr lang="en-US" b="1" dirty="0"/>
              <a:t> </a:t>
            </a:r>
            <a:r>
              <a:rPr lang="en-US" b="1" dirty="0" err="1"/>
              <a:t>tỉ</a:t>
            </a:r>
            <a:r>
              <a:rPr lang="en-US" b="1" dirty="0"/>
              <a:t> </a:t>
            </a:r>
            <a:r>
              <a:rPr lang="en-US" b="1" dirty="0" err="1"/>
              <a:t>số</a:t>
            </a:r>
            <a:r>
              <a:rPr lang="en-US" b="1" dirty="0"/>
              <a:t> </a:t>
            </a:r>
            <a:r>
              <a:rPr lang="en-US" b="1" dirty="0" err="1"/>
              <a:t>khối</a:t>
            </a:r>
            <a:r>
              <a:rPr lang="en-US" b="1" dirty="0"/>
              <a:t> </a:t>
            </a:r>
            <a:r>
              <a:rPr lang="en-US" b="1" dirty="0" err="1"/>
              <a:t>lượng</a:t>
            </a:r>
            <a:r>
              <a:rPr lang="en-US" b="1" dirty="0"/>
              <a:t> </a:t>
            </a:r>
            <a:r>
              <a:rPr lang="en-US" b="1" dirty="0" err="1"/>
              <a:t>phân</a:t>
            </a:r>
            <a:r>
              <a:rPr lang="en-US" b="1" dirty="0"/>
              <a:t> </a:t>
            </a:r>
            <a:r>
              <a:rPr lang="en-US" b="1" dirty="0" err="1"/>
              <a:t>tử</a:t>
            </a:r>
            <a:r>
              <a:rPr lang="en-US" b="1" dirty="0"/>
              <a:t> </a:t>
            </a:r>
            <a:r>
              <a:rPr lang="en-US" b="1" dirty="0" err="1"/>
              <a:t>nước</a:t>
            </a:r>
            <a:r>
              <a:rPr lang="en-US" b="1" dirty="0"/>
              <a:t> </a:t>
            </a:r>
            <a:r>
              <a:rPr lang="en-US" b="1" dirty="0" err="1"/>
              <a:t>và</a:t>
            </a:r>
            <a:r>
              <a:rPr lang="en-US" b="1" dirty="0"/>
              <a:t> </a:t>
            </a:r>
            <a:r>
              <a:rPr lang="en-US" b="1" dirty="0" err="1"/>
              <a:t>khối</a:t>
            </a:r>
            <a:r>
              <a:rPr lang="en-US" b="1" dirty="0"/>
              <a:t> </a:t>
            </a:r>
            <a:r>
              <a:rPr lang="en-US" b="1" dirty="0" err="1"/>
              <a:t>lượng</a:t>
            </a:r>
            <a:r>
              <a:rPr lang="en-US" b="1" dirty="0"/>
              <a:t> </a:t>
            </a:r>
            <a:r>
              <a:rPr lang="en-US" b="1" dirty="0" err="1"/>
              <a:t>nguyên</a:t>
            </a:r>
            <a:r>
              <a:rPr lang="en-US" b="1" dirty="0"/>
              <a:t> </a:t>
            </a:r>
            <a:r>
              <a:rPr lang="en-US" b="1" dirty="0" err="1"/>
              <a:t>tử</a:t>
            </a:r>
            <a:r>
              <a:rPr lang="en-US" b="1" dirty="0"/>
              <a:t> </a:t>
            </a:r>
            <a:r>
              <a:rPr lang="en-US" b="1" dirty="0" err="1"/>
              <a:t>cacbon</a:t>
            </a:r>
            <a:r>
              <a:rPr lang="en-US" b="1" dirty="0"/>
              <a:t> 12.</a:t>
            </a:r>
          </a:p>
          <a:p>
            <a:pPr marL="0" indent="0">
              <a:buFont typeface="Arial" charset="0"/>
              <a:buNone/>
              <a:defRPr/>
            </a:pPr>
            <a:r>
              <a:rPr lang="en-US" b="1" dirty="0"/>
              <a:t>A.     1,5</a:t>
            </a:r>
          </a:p>
          <a:p>
            <a:pPr marL="0" indent="0">
              <a:buFont typeface="Arial" charset="0"/>
              <a:buNone/>
              <a:defRPr/>
            </a:pPr>
            <a:r>
              <a:rPr lang="en-US" b="1" dirty="0"/>
              <a:t>B.      0,66</a:t>
            </a:r>
          </a:p>
          <a:p>
            <a:pPr marL="0" indent="0">
              <a:buFont typeface="Arial" charset="0"/>
              <a:buNone/>
              <a:defRPr/>
            </a:pPr>
            <a:r>
              <a:rPr lang="en-US" b="1" dirty="0"/>
              <a:t>C.      2,5</a:t>
            </a:r>
          </a:p>
          <a:p>
            <a:pPr marL="0" indent="0">
              <a:buFont typeface="Arial" charset="0"/>
              <a:buNone/>
              <a:defRPr/>
            </a:pPr>
            <a:r>
              <a:rPr lang="en-US" b="1" dirty="0"/>
              <a:t>D.     1,7</a:t>
            </a:r>
          </a:p>
          <a:p>
            <a:endParaRPr lang="en-US" dirty="0"/>
          </a:p>
        </p:txBody>
      </p:sp>
      <p:sp>
        <p:nvSpPr>
          <p:cNvPr id="4" name="Content Placeholder 3"/>
          <p:cNvSpPr>
            <a:spLocks noGrp="1"/>
          </p:cNvSpPr>
          <p:nvPr>
            <p:ph sz="half" idx="2"/>
          </p:nvPr>
        </p:nvSpPr>
        <p:spPr>
          <a:xfrm>
            <a:off x="4648200" y="685800"/>
            <a:ext cx="4038600" cy="5440363"/>
          </a:xfrm>
        </p:spPr>
        <p:txBody>
          <a:bodyPr/>
          <a:lstStyle/>
          <a:p>
            <a:pPr marL="0" indent="0">
              <a:buFont typeface="Arial" charset="0"/>
              <a:buNone/>
              <a:defRPr/>
            </a:pPr>
            <a:r>
              <a:rPr lang="en-US" b="1" dirty="0" err="1"/>
              <a:t>Tính</a:t>
            </a:r>
            <a:r>
              <a:rPr lang="en-US" b="1" dirty="0"/>
              <a:t> </a:t>
            </a:r>
            <a:r>
              <a:rPr lang="en-US" b="1" dirty="0" err="1"/>
              <a:t>số</a:t>
            </a:r>
            <a:r>
              <a:rPr lang="en-US" b="1" dirty="0"/>
              <a:t> </a:t>
            </a:r>
            <a:r>
              <a:rPr lang="en-US" b="1" dirty="0" err="1"/>
              <a:t>phân</a:t>
            </a:r>
            <a:r>
              <a:rPr lang="en-US" b="1" dirty="0"/>
              <a:t> </a:t>
            </a:r>
            <a:r>
              <a:rPr lang="en-US" b="1" dirty="0" err="1"/>
              <a:t>tử</a:t>
            </a:r>
            <a:r>
              <a:rPr lang="en-US" b="1" dirty="0"/>
              <a:t> H</a:t>
            </a:r>
            <a:r>
              <a:rPr lang="en-US" b="1" baseline="-25000" dirty="0"/>
              <a:t>2</a:t>
            </a:r>
            <a:r>
              <a:rPr lang="en-US" b="1" dirty="0"/>
              <a:t>O </a:t>
            </a:r>
            <a:r>
              <a:rPr lang="en-US" b="1" dirty="0" err="1"/>
              <a:t>có</a:t>
            </a:r>
            <a:r>
              <a:rPr lang="en-US" b="1" dirty="0"/>
              <a:t> </a:t>
            </a:r>
            <a:r>
              <a:rPr lang="en-US" b="1" dirty="0" err="1"/>
              <a:t>trong</a:t>
            </a:r>
            <a:r>
              <a:rPr lang="en-US" b="1" dirty="0"/>
              <a:t> 1g </a:t>
            </a:r>
            <a:r>
              <a:rPr lang="en-US" b="1" dirty="0" err="1"/>
              <a:t>nước</a:t>
            </a:r>
            <a:r>
              <a:rPr lang="en-US" b="1" dirty="0"/>
              <a:t>.</a:t>
            </a:r>
          </a:p>
          <a:p>
            <a:pPr marL="0" indent="0">
              <a:buFont typeface="Arial" charset="0"/>
              <a:buNone/>
              <a:defRPr/>
            </a:pPr>
            <a:r>
              <a:rPr lang="en-US" b="1" dirty="0"/>
              <a:t>A. 32,2.10</a:t>
            </a:r>
            <a:r>
              <a:rPr lang="en-US" b="1" baseline="30000" dirty="0"/>
              <a:t>21</a:t>
            </a:r>
            <a:endParaRPr lang="en-US" b="1" dirty="0"/>
          </a:p>
          <a:p>
            <a:pPr marL="0" indent="0">
              <a:buFont typeface="Arial" charset="0"/>
              <a:buNone/>
              <a:defRPr/>
            </a:pPr>
            <a:r>
              <a:rPr lang="en-US" b="1" dirty="0"/>
              <a:t>B. 33,4.10</a:t>
            </a:r>
            <a:r>
              <a:rPr lang="en-US" b="1" baseline="30000" dirty="0"/>
              <a:t>21</a:t>
            </a:r>
            <a:endParaRPr lang="en-US" b="1" dirty="0"/>
          </a:p>
          <a:p>
            <a:pPr marL="0" indent="0">
              <a:buFont typeface="Arial" charset="0"/>
              <a:buNone/>
              <a:defRPr/>
            </a:pPr>
            <a:r>
              <a:rPr lang="en-US" b="1" dirty="0"/>
              <a:t>C. 32,5.10</a:t>
            </a:r>
            <a:r>
              <a:rPr lang="en-US" b="1" baseline="30000" dirty="0"/>
              <a:t>21</a:t>
            </a:r>
            <a:endParaRPr lang="en-US" b="1" dirty="0"/>
          </a:p>
          <a:p>
            <a:pPr marL="0" indent="0">
              <a:buFont typeface="Arial" charset="0"/>
              <a:buNone/>
              <a:defRPr/>
            </a:pPr>
            <a:r>
              <a:rPr lang="en-US" b="1" dirty="0"/>
              <a:t>D. 34,2.10</a:t>
            </a:r>
            <a:r>
              <a:rPr lang="en-US" b="1" baseline="30000" dirty="0"/>
              <a:t>21</a:t>
            </a:r>
            <a:endParaRPr lang="en-US" b="1" dirty="0"/>
          </a:p>
          <a:p>
            <a:endParaRPr lang="en-US" dirty="0"/>
          </a:p>
        </p:txBody>
      </p:sp>
      <mc:AlternateContent xmlns:mc="http://schemas.openxmlformats.org/markup-compatibility/2006" xmlns:a14="http://schemas.microsoft.com/office/drawing/2010/main">
        <mc:Choice Requires="a14">
          <p:sp>
            <p:nvSpPr>
              <p:cNvPr id="5" name="Notes Placeholder 4"/>
              <p:cNvSpPr txBox="1">
                <a:spLocks/>
              </p:cNvSpPr>
              <p:nvPr/>
            </p:nvSpPr>
            <p:spPr>
              <a:xfrm>
                <a:off x="3733800" y="3810000"/>
                <a:ext cx="4953000" cy="1905000"/>
              </a:xfrm>
              <a:prstGeom prst="wedgeEllipseCallou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ormAutofit/>
              </a:bodyPr>
              <a:lstStyle>
                <a:lvl1pPr marL="342900" indent="-34290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dk1"/>
                    </a:solidFill>
                    <a:latin typeface="+mn-lt"/>
                    <a:ea typeface="+mn-ea"/>
                    <a:cs typeface="+mn-cs"/>
                  </a:defRPr>
                </a:lvl9pPr>
              </a:lstStyle>
              <a:p>
                <a:pPr algn="ctr"/>
                <a14:m>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a:rPr>
                          <m:t>𝑁</m:t>
                        </m:r>
                      </m:e>
                      <m:sub>
                        <m:r>
                          <a:rPr lang="en-US" sz="2400" i="1" smtClean="0">
                            <a:latin typeface="Cambria Math"/>
                          </a:rPr>
                          <m:t>𝐴</m:t>
                        </m:r>
                      </m:sub>
                    </m:sSub>
                  </m:oMath>
                </a14:m>
                <a:r>
                  <a:rPr lang="en-US" sz="2400" dirty="0"/>
                  <a:t> = 6,023.</a:t>
                </a:r>
                <a14:m>
                  <m:oMath xmlns:m="http://schemas.openxmlformats.org/officeDocument/2006/math">
                    <m:sSup>
                      <m:sSupPr>
                        <m:ctrlPr>
                          <a:rPr lang="en-US" sz="2400" i="1" smtClean="0">
                            <a:latin typeface="Cambria Math" panose="02040503050406030204" pitchFamily="18" charset="0"/>
                          </a:rPr>
                        </m:ctrlPr>
                      </m:sSupPr>
                      <m:e>
                        <m:r>
                          <a:rPr lang="en-US" sz="2400" i="1" smtClean="0">
                            <a:latin typeface="Cambria Math"/>
                          </a:rPr>
                          <m:t>10</m:t>
                        </m:r>
                      </m:e>
                      <m:sup>
                        <m:r>
                          <a:rPr lang="en-US" sz="2400" i="1" smtClean="0">
                            <a:latin typeface="Cambria Math"/>
                          </a:rPr>
                          <m:t>23</m:t>
                        </m:r>
                      </m:sup>
                    </m:sSup>
                  </m:oMath>
                </a14:m>
                <a:r>
                  <a:rPr lang="en-US" sz="2400" dirty="0"/>
                  <a:t> </a:t>
                </a:r>
                <a:r>
                  <a:rPr lang="en-US" sz="2400" dirty="0" err="1"/>
                  <a:t>phân</a:t>
                </a:r>
                <a:r>
                  <a:rPr lang="en-US" sz="2400" dirty="0"/>
                  <a:t> </a:t>
                </a:r>
                <a:r>
                  <a:rPr lang="en-US" sz="2400" dirty="0" err="1"/>
                  <a:t>tử</a:t>
                </a:r>
                <a:r>
                  <a:rPr lang="en-US" sz="2400" dirty="0"/>
                  <a:t>/</a:t>
                </a:r>
                <a:r>
                  <a:rPr lang="en-US" sz="2400" dirty="0" err="1"/>
                  <a:t>mol</a:t>
                </a:r>
                <a:endParaRPr lang="en-US" sz="2400" dirty="0"/>
              </a:p>
              <a:p>
                <a:pPr algn="ctr"/>
                <a:r>
                  <a:rPr lang="en-US" sz="2400" dirty="0"/>
                  <a:t>N = n.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𝑁</m:t>
                        </m:r>
                      </m:e>
                      <m:sub>
                        <m:r>
                          <a:rPr lang="en-US" sz="2400" i="1">
                            <a:latin typeface="Cambria Math"/>
                          </a:rPr>
                          <m:t>𝐴</m:t>
                        </m:r>
                      </m:sub>
                    </m:sSub>
                    <m:r>
                      <a:rPr lang="en-US" sz="2400" i="1">
                        <a:latin typeface="Cambria Math"/>
                      </a:rPr>
                      <m:t> </m:t>
                    </m:r>
                  </m:oMath>
                </a14:m>
                <a:r>
                  <a:rPr lang="en-US" sz="2400" dirty="0"/>
                  <a:t>= 1/18.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𝑁</m:t>
                        </m:r>
                      </m:e>
                      <m:sub>
                        <m:r>
                          <a:rPr lang="en-US" sz="2400" i="1">
                            <a:latin typeface="Cambria Math"/>
                          </a:rPr>
                          <m:t>𝐴</m:t>
                        </m:r>
                      </m:sub>
                    </m:sSub>
                    <m:r>
                      <a:rPr lang="en-US" sz="2400" i="1">
                        <a:latin typeface="Cambria Math"/>
                      </a:rPr>
                      <m:t> </m:t>
                    </m:r>
                  </m:oMath>
                </a14:m>
                <a:r>
                  <a:rPr lang="en-US" sz="2400" dirty="0"/>
                  <a:t>= </a:t>
                </a:r>
              </a:p>
            </p:txBody>
          </p:sp>
        </mc:Choice>
        <mc:Fallback xmlns="">
          <p:sp>
            <p:nvSpPr>
              <p:cNvPr id="5" name="Notes Placeholder 4"/>
              <p:cNvSpPr txBox="1">
                <a:spLocks noRot="1" noChangeAspect="1" noMove="1" noResize="1" noEditPoints="1" noAdjustHandles="1" noChangeArrowheads="1" noChangeShapeType="1" noTextEdit="1"/>
              </p:cNvSpPr>
              <p:nvPr/>
            </p:nvSpPr>
            <p:spPr>
              <a:xfrm>
                <a:off x="3733800" y="3810000"/>
                <a:ext cx="4953000" cy="1905000"/>
              </a:xfrm>
              <a:prstGeom prst="wedgeEllipseCallout">
                <a:avLst/>
              </a:prstGeom>
              <a:blipFill rotWithShape="1">
                <a:blip r:embed="rId3"/>
                <a:stretch>
                  <a:fillRect/>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D2A3A284-96C3-832D-0040-B6BC97491968}"/>
              </a:ext>
            </a:extLst>
          </p:cNvPr>
          <p:cNvSpPr>
            <a:spLocks noGrp="1"/>
          </p:cNvSpPr>
          <p:nvPr>
            <p:ph type="ftr" sz="quarter" idx="11"/>
          </p:nvPr>
        </p:nvSpPr>
        <p:spPr/>
        <p:txBody>
          <a:bodyPr/>
          <a:lstStyle/>
          <a:p>
            <a:r>
              <a:rPr lang="en-US"/>
              <a:t>Bùi Quốc Trung - VLDC</a:t>
            </a:r>
          </a:p>
        </p:txBody>
      </p:sp>
      <p:sp>
        <p:nvSpPr>
          <p:cNvPr id="6" name="Slide Number Placeholder 5">
            <a:extLst>
              <a:ext uri="{FF2B5EF4-FFF2-40B4-BE49-F238E27FC236}">
                <a16:creationId xmlns:a16="http://schemas.microsoft.com/office/drawing/2014/main" id="{278FEB21-CFD8-7486-FF19-DBE247D4CB8E}"/>
              </a:ext>
            </a:extLst>
          </p:cNvPr>
          <p:cNvSpPr>
            <a:spLocks noGrp="1"/>
          </p:cNvSpPr>
          <p:nvPr>
            <p:ph type="sldNum" sz="quarter" idx="12"/>
          </p:nvPr>
        </p:nvSpPr>
        <p:spPr/>
        <p:txBody>
          <a:bodyPr/>
          <a:lstStyle/>
          <a:p>
            <a:fld id="{0C173468-4CCE-478A-9725-791AF0DB04F2}" type="slidenum">
              <a:rPr lang="en-US" smtClean="0"/>
              <a:t>10</a:t>
            </a:fld>
            <a:endParaRPr lang="en-US"/>
          </a:p>
        </p:txBody>
      </p:sp>
    </p:spTree>
    <p:extLst>
      <p:ext uri="{BB962C8B-B14F-4D97-AF65-F5344CB8AC3E}">
        <p14:creationId xmlns:p14="http://schemas.microsoft.com/office/powerpoint/2010/main" val="4176655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nodeType="clickEffect">
                                  <p:stCondLst>
                                    <p:cond delay="0"/>
                                  </p:stCondLst>
                                  <p:iterate type="lt">
                                    <p:tmPct val="4000"/>
                                  </p:iterate>
                                  <p:childTnLst>
                                    <p:set>
                                      <p:cBhvr override="childStyle">
                                        <p:cTn id="10" dur="500" fill="hold"/>
                                        <p:tgtEl>
                                          <p:spTgt spid="4">
                                            <p:txEl>
                                              <p:pRg st="2" end="2"/>
                                            </p:txEl>
                                          </p:spTgt>
                                        </p:tgtEl>
                                        <p:attrNameLst>
                                          <p:attrName>style.textDecorationUnderline</p:attrName>
                                        </p:attrNameLst>
                                      </p:cBhvr>
                                      <p:to>
                                        <p:strVal val="tru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685800"/>
            <a:ext cx="4038600" cy="5440363"/>
          </a:xfrm>
        </p:spPr>
        <p:txBody>
          <a:bodyPr/>
          <a:lstStyle/>
          <a:p>
            <a:pPr marL="0" indent="0">
              <a:buFont typeface="Arial" charset="0"/>
              <a:buNone/>
              <a:defRPr/>
            </a:pPr>
            <a:r>
              <a:rPr lang="en-US" dirty="0"/>
              <a:t>1 gam </a:t>
            </a:r>
            <a:r>
              <a:rPr lang="en-US" dirty="0" err="1"/>
              <a:t>khí</a:t>
            </a:r>
            <a:r>
              <a:rPr lang="en-US" dirty="0"/>
              <a:t> hydro ở </a:t>
            </a:r>
            <a:r>
              <a:rPr lang="en-US" dirty="0" err="1"/>
              <a:t>trong</a:t>
            </a:r>
            <a:r>
              <a:rPr lang="en-US" dirty="0"/>
              <a:t> </a:t>
            </a:r>
            <a:r>
              <a:rPr lang="en-US" dirty="0" err="1"/>
              <a:t>bình</a:t>
            </a:r>
            <a:r>
              <a:rPr lang="en-US" dirty="0"/>
              <a:t> </a:t>
            </a:r>
            <a:r>
              <a:rPr lang="en-US" dirty="0" err="1"/>
              <a:t>thể</a:t>
            </a:r>
            <a:r>
              <a:rPr lang="en-US" dirty="0"/>
              <a:t> </a:t>
            </a:r>
            <a:r>
              <a:rPr lang="en-US" dirty="0" err="1"/>
              <a:t>tích</a:t>
            </a:r>
            <a:r>
              <a:rPr lang="en-US" dirty="0"/>
              <a:t> 4 </a:t>
            </a:r>
            <a:r>
              <a:rPr lang="en-US" dirty="0" err="1"/>
              <a:t>lít</a:t>
            </a:r>
            <a:r>
              <a:rPr lang="en-US" dirty="0"/>
              <a:t>,</a:t>
            </a:r>
            <a:r>
              <a:rPr lang="en-US" i="1" dirty="0"/>
              <a:t> </a:t>
            </a:r>
            <a:r>
              <a:rPr lang="en-US" dirty="0" err="1"/>
              <a:t>mật</a:t>
            </a:r>
            <a:r>
              <a:rPr lang="en-US" dirty="0"/>
              <a:t> </a:t>
            </a:r>
            <a:r>
              <a:rPr lang="en-US" dirty="0" err="1"/>
              <a:t>độ</a:t>
            </a:r>
            <a:r>
              <a:rPr lang="en-US" dirty="0"/>
              <a:t> </a:t>
            </a:r>
            <a:r>
              <a:rPr lang="en-US" dirty="0" err="1"/>
              <a:t>phân</a:t>
            </a:r>
            <a:r>
              <a:rPr lang="en-US" dirty="0"/>
              <a:t> </a:t>
            </a:r>
            <a:r>
              <a:rPr lang="en-US" dirty="0" err="1"/>
              <a:t>tử</a:t>
            </a:r>
            <a:r>
              <a:rPr lang="en-US" dirty="0"/>
              <a:t> </a:t>
            </a:r>
            <a:r>
              <a:rPr lang="en-US" dirty="0" err="1"/>
              <a:t>khí</a:t>
            </a:r>
            <a:r>
              <a:rPr lang="en-US" dirty="0"/>
              <a:t> </a:t>
            </a:r>
            <a:r>
              <a:rPr lang="en-US" dirty="0" err="1"/>
              <a:t>là</a:t>
            </a:r>
            <a:r>
              <a:rPr lang="en-US" dirty="0"/>
              <a:t>:</a:t>
            </a:r>
          </a:p>
          <a:p>
            <a:pPr marL="0" indent="0">
              <a:buFont typeface="Arial" charset="0"/>
              <a:buNone/>
              <a:defRPr/>
            </a:pPr>
            <a:r>
              <a:rPr lang="en-US" dirty="0"/>
              <a:t>A. 	0,753.10</a:t>
            </a:r>
            <a:r>
              <a:rPr lang="en-US" baseline="30000" dirty="0"/>
              <a:t>26</a:t>
            </a:r>
            <a:r>
              <a:rPr lang="en-US" dirty="0"/>
              <a:t> </a:t>
            </a:r>
            <a:r>
              <a:rPr lang="en-US" dirty="0" err="1"/>
              <a:t>p.tử</a:t>
            </a:r>
            <a:r>
              <a:rPr lang="en-US" dirty="0"/>
              <a:t>/m</a:t>
            </a:r>
            <a:r>
              <a:rPr lang="en-US" baseline="30000" dirty="0"/>
              <a:t>3</a:t>
            </a:r>
            <a:endParaRPr lang="en-US" dirty="0"/>
          </a:p>
          <a:p>
            <a:pPr marL="0" indent="0">
              <a:buFont typeface="Arial" charset="0"/>
              <a:buNone/>
              <a:defRPr/>
            </a:pPr>
            <a:r>
              <a:rPr lang="en-US" dirty="0"/>
              <a:t>B. 	24.10</a:t>
            </a:r>
            <a:r>
              <a:rPr lang="en-US" baseline="30000" dirty="0"/>
              <a:t>22</a:t>
            </a:r>
            <a:r>
              <a:rPr lang="en-US" dirty="0"/>
              <a:t> </a:t>
            </a:r>
            <a:r>
              <a:rPr lang="en-US" dirty="0" err="1"/>
              <a:t>p.tử</a:t>
            </a:r>
            <a:r>
              <a:rPr lang="en-US" dirty="0"/>
              <a:t>/m</a:t>
            </a:r>
            <a:r>
              <a:rPr lang="en-US" baseline="30000" dirty="0"/>
              <a:t>3</a:t>
            </a:r>
            <a:endParaRPr lang="en-US" dirty="0"/>
          </a:p>
          <a:p>
            <a:pPr marL="0" indent="0">
              <a:buFont typeface="Arial" charset="0"/>
              <a:buNone/>
              <a:defRPr/>
            </a:pPr>
            <a:r>
              <a:rPr lang="en-US" dirty="0"/>
              <a:t>C. 	0,753.10</a:t>
            </a:r>
            <a:r>
              <a:rPr lang="en-US" baseline="30000" dirty="0"/>
              <a:t>26</a:t>
            </a:r>
            <a:r>
              <a:rPr lang="en-US" dirty="0"/>
              <a:t> </a:t>
            </a:r>
            <a:r>
              <a:rPr lang="en-US" dirty="0" err="1"/>
              <a:t>p.tử</a:t>
            </a:r>
            <a:r>
              <a:rPr lang="en-US" dirty="0"/>
              <a:t>/cm</a:t>
            </a:r>
            <a:r>
              <a:rPr lang="en-US" baseline="30000" dirty="0"/>
              <a:t>3</a:t>
            </a:r>
            <a:endParaRPr lang="en-US" dirty="0"/>
          </a:p>
          <a:p>
            <a:pPr marL="0" indent="0">
              <a:buFont typeface="Arial" charset="0"/>
              <a:buNone/>
              <a:defRPr/>
            </a:pPr>
            <a:r>
              <a:rPr lang="en-US" dirty="0"/>
              <a:t>D. 	24.10</a:t>
            </a:r>
            <a:r>
              <a:rPr lang="en-US" baseline="30000" dirty="0"/>
              <a:t>22</a:t>
            </a:r>
            <a:r>
              <a:rPr lang="en-US" dirty="0"/>
              <a:t> </a:t>
            </a:r>
            <a:r>
              <a:rPr lang="en-US" dirty="0" err="1"/>
              <a:t>p.tử</a:t>
            </a:r>
            <a:r>
              <a:rPr lang="en-US" dirty="0"/>
              <a:t>/cm</a:t>
            </a:r>
            <a:r>
              <a:rPr lang="en-US" baseline="30000" dirty="0"/>
              <a:t>3</a:t>
            </a:r>
            <a:endParaRPr lang="en-US" dirty="0"/>
          </a:p>
          <a:p>
            <a:pPr>
              <a:defRPr/>
            </a:pPr>
            <a:endParaRPr lang="en-US" dirty="0"/>
          </a:p>
          <a:p>
            <a:endParaRPr lang="en-US" dirty="0"/>
          </a:p>
        </p:txBody>
      </p:sp>
      <p:sp>
        <p:nvSpPr>
          <p:cNvPr id="4" name="Content Placeholder 3"/>
          <p:cNvSpPr>
            <a:spLocks noGrp="1"/>
          </p:cNvSpPr>
          <p:nvPr>
            <p:ph sz="half" idx="2"/>
          </p:nvPr>
        </p:nvSpPr>
        <p:spPr>
          <a:xfrm>
            <a:off x="4648200" y="685800"/>
            <a:ext cx="4038600" cy="5440363"/>
          </a:xfrm>
        </p:spPr>
        <p:txBody>
          <a:bodyPr/>
          <a:lstStyle/>
          <a:p>
            <a:pPr marL="0" indent="0">
              <a:buFont typeface="Arial" charset="0"/>
              <a:buNone/>
              <a:defRPr/>
            </a:pPr>
            <a:r>
              <a:rPr lang="en-US" dirty="0"/>
              <a:t>1g </a:t>
            </a:r>
            <a:r>
              <a:rPr lang="en-US" dirty="0" err="1"/>
              <a:t>khí</a:t>
            </a:r>
            <a:r>
              <a:rPr lang="en-US" dirty="0"/>
              <a:t> H</a:t>
            </a:r>
            <a:r>
              <a:rPr lang="en-US" baseline="-25000" dirty="0"/>
              <a:t>2</a:t>
            </a:r>
            <a:r>
              <a:rPr lang="en-US" dirty="0"/>
              <a:t> </a:t>
            </a:r>
            <a:r>
              <a:rPr lang="en-US" dirty="0" err="1"/>
              <a:t>đựng</a:t>
            </a:r>
            <a:r>
              <a:rPr lang="en-US" dirty="0"/>
              <a:t> </a:t>
            </a:r>
            <a:r>
              <a:rPr lang="en-US" dirty="0" err="1"/>
              <a:t>trong</a:t>
            </a:r>
            <a:r>
              <a:rPr lang="en-US" dirty="0"/>
              <a:t> </a:t>
            </a:r>
            <a:r>
              <a:rPr lang="en-US" dirty="0" err="1"/>
              <a:t>bình</a:t>
            </a:r>
            <a:r>
              <a:rPr lang="en-US" dirty="0"/>
              <a:t> </a:t>
            </a:r>
            <a:r>
              <a:rPr lang="en-US" dirty="0" err="1"/>
              <a:t>kín</a:t>
            </a:r>
            <a:r>
              <a:rPr lang="en-US" dirty="0"/>
              <a:t> </a:t>
            </a:r>
            <a:r>
              <a:rPr lang="en-US" dirty="0" err="1"/>
              <a:t>thể</a:t>
            </a:r>
            <a:r>
              <a:rPr lang="en-US" dirty="0"/>
              <a:t> </a:t>
            </a:r>
            <a:r>
              <a:rPr lang="en-US" dirty="0" err="1"/>
              <a:t>tích</a:t>
            </a:r>
            <a:r>
              <a:rPr lang="en-US" dirty="0"/>
              <a:t> 5 </a:t>
            </a:r>
            <a:r>
              <a:rPr lang="en-US" dirty="0" err="1"/>
              <a:t>lít</a:t>
            </a:r>
            <a:r>
              <a:rPr lang="en-US" dirty="0"/>
              <a:t>, ở </a:t>
            </a:r>
            <a:r>
              <a:rPr lang="en-US" dirty="0" err="1"/>
              <a:t>nhiệt</a:t>
            </a:r>
            <a:r>
              <a:rPr lang="en-US" dirty="0"/>
              <a:t> </a:t>
            </a:r>
            <a:r>
              <a:rPr lang="en-US" dirty="0" err="1"/>
              <a:t>độ</a:t>
            </a:r>
            <a:r>
              <a:rPr lang="en-US" dirty="0"/>
              <a:t> 390K </a:t>
            </a:r>
            <a:r>
              <a:rPr lang="en-US" dirty="0" err="1"/>
              <a:t>sẽ</a:t>
            </a:r>
            <a:r>
              <a:rPr lang="en-US" dirty="0"/>
              <a:t> </a:t>
            </a:r>
            <a:r>
              <a:rPr lang="en-US" dirty="0" err="1"/>
              <a:t>có</a:t>
            </a:r>
            <a:r>
              <a:rPr lang="en-US" dirty="0"/>
              <a:t> </a:t>
            </a:r>
            <a:r>
              <a:rPr lang="en-US" dirty="0" err="1"/>
              <a:t>áp</a:t>
            </a:r>
            <a:r>
              <a:rPr lang="en-US" dirty="0"/>
              <a:t> </a:t>
            </a:r>
            <a:r>
              <a:rPr lang="en-US" dirty="0" err="1"/>
              <a:t>suất</a:t>
            </a:r>
            <a:r>
              <a:rPr lang="en-US" dirty="0"/>
              <a:t>:</a:t>
            </a:r>
          </a:p>
          <a:p>
            <a:pPr marL="0" indent="0">
              <a:buFont typeface="Arial" charset="0"/>
              <a:buNone/>
              <a:defRPr/>
            </a:pPr>
            <a:r>
              <a:rPr lang="en-US" dirty="0"/>
              <a:t>A.	6,614 at</a:t>
            </a:r>
          </a:p>
          <a:p>
            <a:pPr marL="0" indent="0">
              <a:buFont typeface="Arial" charset="0"/>
              <a:buNone/>
              <a:defRPr/>
            </a:pPr>
            <a:r>
              <a:rPr lang="en-US" dirty="0"/>
              <a:t>B.	324 at</a:t>
            </a:r>
          </a:p>
          <a:p>
            <a:pPr marL="0" indent="0">
              <a:buFont typeface="Arial" charset="0"/>
              <a:buNone/>
              <a:defRPr/>
            </a:pPr>
            <a:r>
              <a:rPr lang="en-US" dirty="0"/>
              <a:t>C.	3,3072 at</a:t>
            </a:r>
          </a:p>
          <a:p>
            <a:pPr marL="0" indent="0">
              <a:buFont typeface="Arial" charset="0"/>
              <a:buNone/>
              <a:defRPr/>
            </a:pPr>
            <a:r>
              <a:rPr lang="en-US" dirty="0"/>
              <a:t>D.	0,33 at</a:t>
            </a:r>
          </a:p>
          <a:p>
            <a:pPr>
              <a:defRPr/>
            </a:pPr>
            <a:endParaRPr lang="en-US" dirty="0"/>
          </a:p>
          <a:p>
            <a:endParaRPr lang="en-US" dirty="0"/>
          </a:p>
        </p:txBody>
      </p:sp>
      <mc:AlternateContent xmlns:mc="http://schemas.openxmlformats.org/markup-compatibility/2006" xmlns:a14="http://schemas.microsoft.com/office/drawing/2010/main">
        <mc:Choice Requires="a14">
          <p:sp>
            <p:nvSpPr>
              <p:cNvPr id="5" name="Notes Placeholder 4"/>
              <p:cNvSpPr txBox="1">
                <a:spLocks/>
              </p:cNvSpPr>
              <p:nvPr/>
            </p:nvSpPr>
            <p:spPr>
              <a:xfrm>
                <a:off x="609600" y="4114800"/>
                <a:ext cx="5486400" cy="2209800"/>
              </a:xfrm>
              <a:prstGeom prst="wedgeEllipseCallout">
                <a:avLst>
                  <a:gd name="adj1" fmla="val -25537"/>
                  <a:gd name="adj2" fmla="val 78305"/>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ormAutofit/>
              </a:bodyPr>
              <a:lstStyle>
                <a:lvl1pPr marL="342900" indent="-34290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dk1"/>
                    </a:solidFill>
                    <a:latin typeface="+mn-lt"/>
                    <a:ea typeface="+mn-ea"/>
                    <a:cs typeface="+mn-cs"/>
                  </a:defRPr>
                </a:lvl9pPr>
              </a:lstStyle>
              <a:p>
                <a:pPr marL="0" indent="0" algn="ctr">
                  <a:buNone/>
                </a:pPr>
                <a:r>
                  <a:rPr lang="en-US" sz="2400" dirty="0"/>
                  <a:t>N = n.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𝑁</m:t>
                        </m:r>
                      </m:e>
                      <m:sub>
                        <m:r>
                          <a:rPr lang="en-US" sz="2400" i="1">
                            <a:latin typeface="Cambria Math"/>
                          </a:rPr>
                          <m:t>𝐴</m:t>
                        </m:r>
                      </m:sub>
                    </m:sSub>
                    <m:r>
                      <a:rPr lang="en-US" sz="2400" i="1">
                        <a:latin typeface="Cambria Math"/>
                      </a:rPr>
                      <m:t> </m:t>
                    </m:r>
                  </m:oMath>
                </a14:m>
                <a:r>
                  <a:rPr lang="en-US" sz="2400" dirty="0"/>
                  <a:t>= 1/2.6,023.</a:t>
                </a:r>
                <a14:m>
                  <m:oMath xmlns:m="http://schemas.openxmlformats.org/officeDocument/2006/math">
                    <m:sSup>
                      <m:sSupPr>
                        <m:ctrlPr>
                          <a:rPr lang="en-US" sz="2400" i="1">
                            <a:latin typeface="Cambria Math" panose="02040503050406030204" pitchFamily="18" charset="0"/>
                          </a:rPr>
                        </m:ctrlPr>
                      </m:sSupPr>
                      <m:e>
                        <m:r>
                          <a:rPr lang="en-US" sz="2400" i="1">
                            <a:latin typeface="Cambria Math"/>
                          </a:rPr>
                          <m:t>10</m:t>
                        </m:r>
                      </m:e>
                      <m:sup>
                        <m:r>
                          <a:rPr lang="en-US" sz="2400" i="1">
                            <a:latin typeface="Cambria Math"/>
                          </a:rPr>
                          <m:t>23</m:t>
                        </m:r>
                      </m:sup>
                    </m:sSup>
                  </m:oMath>
                </a14:m>
                <a:endParaRPr lang="en-US" sz="2400" dirty="0"/>
              </a:p>
              <a:p>
                <a:pPr marL="0" indent="0" algn="ctr">
                  <a:buNone/>
                </a:pPr>
                <a:r>
                  <a:rPr lang="en-US" sz="2400" dirty="0"/>
                  <a:t>N*= 1/2.6,023.</a:t>
                </a:r>
                <a14:m>
                  <m:oMath xmlns:m="http://schemas.openxmlformats.org/officeDocument/2006/math">
                    <m:sSup>
                      <m:sSupPr>
                        <m:ctrlPr>
                          <a:rPr lang="en-US" sz="2400" i="1">
                            <a:latin typeface="Cambria Math" panose="02040503050406030204" pitchFamily="18" charset="0"/>
                          </a:rPr>
                        </m:ctrlPr>
                      </m:sSupPr>
                      <m:e>
                        <m:r>
                          <a:rPr lang="en-US" sz="2400" i="1">
                            <a:latin typeface="Cambria Math"/>
                          </a:rPr>
                          <m:t>10</m:t>
                        </m:r>
                      </m:e>
                      <m:sup>
                        <m:r>
                          <a:rPr lang="en-US" sz="2400" i="1">
                            <a:latin typeface="Cambria Math"/>
                          </a:rPr>
                          <m:t>23</m:t>
                        </m:r>
                      </m:sup>
                    </m:sSup>
                  </m:oMath>
                </a14:m>
                <a:r>
                  <a:rPr lang="en-US" sz="2400" dirty="0"/>
                  <a:t>/4. </a:t>
                </a:r>
                <a14:m>
                  <m:oMath xmlns:m="http://schemas.openxmlformats.org/officeDocument/2006/math">
                    <m:sSup>
                      <m:sSupPr>
                        <m:ctrlPr>
                          <a:rPr lang="en-US" sz="2400" i="1" smtClean="0">
                            <a:latin typeface="Cambria Math" panose="02040503050406030204" pitchFamily="18" charset="0"/>
                          </a:rPr>
                        </m:ctrlPr>
                      </m:sSupPr>
                      <m:e>
                        <m:r>
                          <a:rPr lang="en-US" sz="2400" i="1">
                            <a:latin typeface="Cambria Math"/>
                          </a:rPr>
                          <m:t>10</m:t>
                        </m:r>
                      </m:e>
                      <m:sup>
                        <m:r>
                          <a:rPr lang="en-US" sz="2400" b="0" i="1" smtClean="0">
                            <a:latin typeface="Cambria Math"/>
                          </a:rPr>
                          <m:t>−</m:t>
                        </m:r>
                        <m:r>
                          <a:rPr lang="en-US" sz="2400" i="1">
                            <a:latin typeface="Cambria Math"/>
                          </a:rPr>
                          <m:t>3</m:t>
                        </m:r>
                      </m:sup>
                    </m:sSup>
                  </m:oMath>
                </a14:m>
                <a:endParaRPr lang="en-US" sz="2400" dirty="0"/>
              </a:p>
            </p:txBody>
          </p:sp>
        </mc:Choice>
        <mc:Fallback xmlns="">
          <p:sp>
            <p:nvSpPr>
              <p:cNvPr id="5" name="Notes Placeholder 4"/>
              <p:cNvSpPr txBox="1">
                <a:spLocks noRot="1" noChangeAspect="1" noMove="1" noResize="1" noEditPoints="1" noAdjustHandles="1" noChangeArrowheads="1" noChangeShapeType="1" noTextEdit="1"/>
              </p:cNvSpPr>
              <p:nvPr/>
            </p:nvSpPr>
            <p:spPr>
              <a:xfrm>
                <a:off x="609600" y="4114800"/>
                <a:ext cx="5486400" cy="2209800"/>
              </a:xfrm>
              <a:prstGeom prst="wedgeEllipseCallout">
                <a:avLst>
                  <a:gd name="adj1" fmla="val -25537"/>
                  <a:gd name="adj2" fmla="val 78305"/>
                </a:avLst>
              </a:prstGeom>
              <a:blipFill rotWithShape="1">
                <a:blip r:embed="rId3"/>
                <a:stretch>
                  <a:fillRect/>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85FC5614-2030-7AF9-CB45-E9B681944AAD}"/>
              </a:ext>
            </a:extLst>
          </p:cNvPr>
          <p:cNvSpPr>
            <a:spLocks noGrp="1"/>
          </p:cNvSpPr>
          <p:nvPr>
            <p:ph type="ftr" sz="quarter" idx="11"/>
          </p:nvPr>
        </p:nvSpPr>
        <p:spPr/>
        <p:txBody>
          <a:bodyPr/>
          <a:lstStyle/>
          <a:p>
            <a:r>
              <a:rPr lang="en-US"/>
              <a:t>Bùi Quốc Trung - VLDC</a:t>
            </a:r>
          </a:p>
        </p:txBody>
      </p:sp>
      <p:sp>
        <p:nvSpPr>
          <p:cNvPr id="6" name="Slide Number Placeholder 5">
            <a:extLst>
              <a:ext uri="{FF2B5EF4-FFF2-40B4-BE49-F238E27FC236}">
                <a16:creationId xmlns:a16="http://schemas.microsoft.com/office/drawing/2014/main" id="{C3A85F21-FFA4-B20F-F733-1A81F48FFDEE}"/>
              </a:ext>
            </a:extLst>
          </p:cNvPr>
          <p:cNvSpPr>
            <a:spLocks noGrp="1"/>
          </p:cNvSpPr>
          <p:nvPr>
            <p:ph type="sldNum" sz="quarter" idx="12"/>
          </p:nvPr>
        </p:nvSpPr>
        <p:spPr/>
        <p:txBody>
          <a:bodyPr/>
          <a:lstStyle/>
          <a:p>
            <a:fld id="{0C173468-4CCE-478A-9725-791AF0DB04F2}" type="slidenum">
              <a:rPr lang="en-US" smtClean="0"/>
              <a:t>11</a:t>
            </a:fld>
            <a:endParaRPr lang="en-US"/>
          </a:p>
        </p:txBody>
      </p:sp>
    </p:spTree>
    <p:extLst>
      <p:ext uri="{BB962C8B-B14F-4D97-AF65-F5344CB8AC3E}">
        <p14:creationId xmlns:p14="http://schemas.microsoft.com/office/powerpoint/2010/main" val="1032958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nodeType="clickEffect">
                                  <p:stCondLst>
                                    <p:cond delay="0"/>
                                  </p:stCondLst>
                                  <p:iterate type="lt">
                                    <p:tmPct val="4000"/>
                                  </p:iterate>
                                  <p:childTnLst>
                                    <p:set>
                                      <p:cBhvr override="childStyle">
                                        <p:cTn id="10" dur="500" fill="hold"/>
                                        <p:tgtEl>
                                          <p:spTgt spid="4">
                                            <p:txEl>
                                              <p:pRg st="3" end="3"/>
                                            </p:txEl>
                                          </p:spTgt>
                                        </p:tgtEl>
                                        <p:attrNameLst>
                                          <p:attrName>style.textDecorationUnderline</p:attrName>
                                        </p:attrNameLst>
                                      </p:cBhvr>
                                      <p:to>
                                        <p:strVal val="tru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1000"/>
                                        <p:tgtEl>
                                          <p:spTgt spid="5"/>
                                        </p:tgtEl>
                                      </p:cBhvr>
                                    </p:animEffect>
                                    <p:anim calcmode="lin" valueType="num">
                                      <p:cBhvr>
                                        <p:cTn id="16" dur="1000" fill="hold"/>
                                        <p:tgtEl>
                                          <p:spTgt spid="5"/>
                                        </p:tgtEl>
                                        <p:attrNameLst>
                                          <p:attrName>ppt_x</p:attrName>
                                        </p:attrNameLst>
                                      </p:cBhvr>
                                      <p:tavLst>
                                        <p:tav tm="0">
                                          <p:val>
                                            <p:strVal val="#ppt_x"/>
                                          </p:val>
                                        </p:tav>
                                        <p:tav tm="100000">
                                          <p:val>
                                            <p:strVal val="#ppt_x"/>
                                          </p:val>
                                        </p:tav>
                                      </p:tavLst>
                                    </p:anim>
                                    <p:anim calcmode="lin" valueType="num">
                                      <p:cBhvr>
                                        <p:cTn id="1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8"/>
          <p:cNvGrpSpPr>
            <a:grpSpLocks/>
          </p:cNvGrpSpPr>
          <p:nvPr/>
        </p:nvGrpSpPr>
        <p:grpSpPr bwMode="auto">
          <a:xfrm>
            <a:off x="304800" y="0"/>
            <a:ext cx="8534400" cy="685800"/>
            <a:chOff x="86" y="1392"/>
            <a:chExt cx="6531" cy="432"/>
          </a:xfrm>
        </p:grpSpPr>
        <p:pic>
          <p:nvPicPr>
            <p:cNvPr id="2067" name="Picture 24" descr="PPP_CSHAP_CLP_Sleek_Silver">
              <a:hlinkClick r:id="" action="ppaction://hlinkshowjump?jump=nextslide" highlightClick="1"/>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 y="1392"/>
              <a:ext cx="6531"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14"/>
            <p:cNvSpPr txBox="1">
              <a:spLocks noChangeArrowheads="1"/>
            </p:cNvSpPr>
            <p:nvPr/>
          </p:nvSpPr>
          <p:spPr bwMode="auto">
            <a:xfrm>
              <a:off x="876" y="1431"/>
              <a:ext cx="4958" cy="330"/>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a:spAutoFit/>
            </a:bodyPr>
            <a:lstStyle/>
            <a:p>
              <a:pPr algn="ctr">
                <a:spcBef>
                  <a:spcPts val="1200"/>
                </a:spcBef>
                <a:spcAft>
                  <a:spcPts val="1200"/>
                </a:spcAft>
                <a:defRPr/>
              </a:pPr>
              <a:r>
                <a:rPr lang="en-US" sz="2800" b="1">
                  <a:solidFill>
                    <a:srgbClr val="FF0000"/>
                  </a:solidFill>
                  <a:latin typeface="Times New Roman" pitchFamily="18" charset="0"/>
                  <a:cs typeface="Times New Roman" pitchFamily="18" charset="0"/>
                </a:rPr>
                <a:t>Hệ quả của thuyết động học phân tử</a:t>
              </a:r>
            </a:p>
          </p:txBody>
        </p:sp>
      </p:grpSp>
      <p:sp>
        <p:nvSpPr>
          <p:cNvPr id="2052" name="Rectangle 16"/>
          <p:cNvSpPr>
            <a:spLocks noChangeArrowheads="1"/>
          </p:cNvSpPr>
          <p:nvPr/>
        </p:nvSpPr>
        <p:spPr bwMode="auto">
          <a:xfrm>
            <a:off x="7543800" y="6596063"/>
            <a:ext cx="1676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just"/>
            <a:endParaRPr lang="en-US" sz="1100" b="1">
              <a:solidFill>
                <a:srgbClr val="002060"/>
              </a:solidFill>
              <a:latin typeface="Times New Roman" pitchFamily="18" charset="0"/>
              <a:cs typeface="Times New Roman" pitchFamily="18" charset="0"/>
            </a:endParaRPr>
          </a:p>
        </p:txBody>
      </p:sp>
      <p:sp>
        <p:nvSpPr>
          <p:cNvPr id="7" name="Rectangle 6"/>
          <p:cNvSpPr>
            <a:spLocks noChangeArrowheads="1"/>
          </p:cNvSpPr>
          <p:nvPr/>
        </p:nvSpPr>
        <p:spPr bwMode="auto">
          <a:xfrm>
            <a:off x="-15875" y="1000125"/>
            <a:ext cx="40544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b="1" u="sng">
                <a:solidFill>
                  <a:srgbClr val="FF0000"/>
                </a:solidFill>
                <a:latin typeface="Times New Roman" pitchFamily="18" charset="0"/>
                <a:cs typeface="Times New Roman" pitchFamily="18" charset="0"/>
              </a:rPr>
              <a:t>Định luật Boyle-Mariotte</a:t>
            </a:r>
            <a:endParaRPr lang="en-US" sz="2800" u="sng">
              <a:solidFill>
                <a:srgbClr val="FF0000"/>
              </a:solidFill>
              <a:latin typeface="Times New Roman" pitchFamily="18" charset="0"/>
              <a:cs typeface="Times New Roman" pitchFamily="18" charset="0"/>
            </a:endParaRPr>
          </a:p>
        </p:txBody>
      </p:sp>
      <p:sp>
        <p:nvSpPr>
          <p:cNvPr id="8" name="Rectangle 7"/>
          <p:cNvSpPr>
            <a:spLocks noChangeArrowheads="1"/>
          </p:cNvSpPr>
          <p:nvPr/>
        </p:nvSpPr>
        <p:spPr bwMode="auto">
          <a:xfrm>
            <a:off x="127000" y="1600200"/>
            <a:ext cx="3994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b="1" i="1">
                <a:solidFill>
                  <a:srgbClr val="1109B7"/>
                </a:solidFill>
                <a:latin typeface="Times New Roman" pitchFamily="18" charset="0"/>
                <a:cs typeface="Times New Roman" pitchFamily="18" charset="0"/>
              </a:rPr>
              <a:t>QT đẳng nhiệt (T=const):</a:t>
            </a:r>
          </a:p>
        </p:txBody>
      </p:sp>
      <p:sp>
        <p:nvSpPr>
          <p:cNvPr id="13" name="Rectangle 12"/>
          <p:cNvSpPr>
            <a:spLocks noChangeArrowheads="1"/>
          </p:cNvSpPr>
          <p:nvPr/>
        </p:nvSpPr>
        <p:spPr bwMode="auto">
          <a:xfrm>
            <a:off x="0" y="2514600"/>
            <a:ext cx="35385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b="1" u="sng">
                <a:solidFill>
                  <a:srgbClr val="FF0000"/>
                </a:solidFill>
                <a:latin typeface="Times New Roman" pitchFamily="18" charset="0"/>
                <a:cs typeface="Times New Roman" pitchFamily="18" charset="0"/>
              </a:rPr>
              <a:t>Định luật Gay-Lussac</a:t>
            </a:r>
            <a:endParaRPr lang="en-US" sz="2800" u="sng">
              <a:solidFill>
                <a:srgbClr val="FF0000"/>
              </a:solidFill>
              <a:latin typeface="Times New Roman" pitchFamily="18" charset="0"/>
              <a:cs typeface="Times New Roman" pitchFamily="18" charset="0"/>
            </a:endParaRPr>
          </a:p>
        </p:txBody>
      </p:sp>
      <p:sp>
        <p:nvSpPr>
          <p:cNvPr id="18" name="Rectangle 17"/>
          <p:cNvSpPr>
            <a:spLocks noChangeArrowheads="1"/>
          </p:cNvSpPr>
          <p:nvPr/>
        </p:nvSpPr>
        <p:spPr bwMode="auto">
          <a:xfrm>
            <a:off x="381000" y="3190875"/>
            <a:ext cx="3806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b="1" i="1">
                <a:solidFill>
                  <a:srgbClr val="1109B7"/>
                </a:solidFill>
                <a:latin typeface="Times New Roman" pitchFamily="18" charset="0"/>
                <a:cs typeface="Times New Roman" pitchFamily="18" charset="0"/>
              </a:rPr>
              <a:t>QT đẳng tích (V=const):</a:t>
            </a:r>
            <a:endParaRPr lang="en-US" sz="2800" i="1">
              <a:solidFill>
                <a:srgbClr val="1109B7"/>
              </a:solidFill>
              <a:latin typeface="Times New Roman" pitchFamily="18" charset="0"/>
              <a:cs typeface="Times New Roman" pitchFamily="18" charset="0"/>
            </a:endParaRPr>
          </a:p>
        </p:txBody>
      </p:sp>
      <p:sp>
        <p:nvSpPr>
          <p:cNvPr id="19" name="Rectangle 18"/>
          <p:cNvSpPr>
            <a:spLocks noChangeArrowheads="1"/>
          </p:cNvSpPr>
          <p:nvPr/>
        </p:nvSpPr>
        <p:spPr bwMode="auto">
          <a:xfrm>
            <a:off x="381000" y="4943475"/>
            <a:ext cx="35496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b="1" i="1">
                <a:solidFill>
                  <a:srgbClr val="1109B7"/>
                </a:solidFill>
                <a:latin typeface="Times New Roman" pitchFamily="18" charset="0"/>
                <a:cs typeface="Times New Roman" pitchFamily="18" charset="0"/>
              </a:rPr>
              <a:t>QT đẳng áp (p=const):</a:t>
            </a:r>
            <a:endParaRPr lang="en-US" sz="2800" i="1">
              <a:solidFill>
                <a:srgbClr val="1109B7"/>
              </a:solidFill>
              <a:latin typeface="Times New Roman" pitchFamily="18" charset="0"/>
              <a:cs typeface="Times New Roman" pitchFamily="18" charset="0"/>
            </a:endParaRPr>
          </a:p>
        </p:txBody>
      </p:sp>
      <p:graphicFrame>
        <p:nvGraphicFramePr>
          <p:cNvPr id="3" name="Object 3"/>
          <p:cNvGraphicFramePr>
            <a:graphicFrameLocks noChangeAspect="1"/>
          </p:cNvGraphicFramePr>
          <p:nvPr/>
        </p:nvGraphicFramePr>
        <p:xfrm>
          <a:off x="4114800" y="1612900"/>
          <a:ext cx="1781175" cy="509588"/>
        </p:xfrm>
        <a:graphic>
          <a:graphicData uri="http://schemas.openxmlformats.org/presentationml/2006/ole">
            <mc:AlternateContent xmlns:mc="http://schemas.openxmlformats.org/markup-compatibility/2006">
              <mc:Choice xmlns:v="urn:schemas-microsoft-com:vml" Requires="v">
                <p:oleObj name="Equation" r:id="rId4" imgW="710891" imgH="203112" progId="Equation.DSMT4">
                  <p:embed/>
                </p:oleObj>
              </mc:Choice>
              <mc:Fallback>
                <p:oleObj name="Equation" r:id="rId4" imgW="710891" imgH="203112"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1612900"/>
                        <a:ext cx="1781175"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4"/>
          <p:cNvGraphicFramePr>
            <a:graphicFrameLocks noChangeAspect="1"/>
          </p:cNvGraphicFramePr>
          <p:nvPr/>
        </p:nvGraphicFramePr>
        <p:xfrm>
          <a:off x="6629400" y="1554163"/>
          <a:ext cx="1846263" cy="574675"/>
        </p:xfrm>
        <a:graphic>
          <a:graphicData uri="http://schemas.openxmlformats.org/presentationml/2006/ole">
            <mc:AlternateContent xmlns:mc="http://schemas.openxmlformats.org/markup-compatibility/2006">
              <mc:Choice xmlns:v="urn:schemas-microsoft-com:vml" Requires="v">
                <p:oleObj name="Equation" r:id="rId6" imgW="736600" imgH="228600" progId="Equation.DSMT4">
                  <p:embed/>
                </p:oleObj>
              </mc:Choice>
              <mc:Fallback>
                <p:oleObj name="Equation" r:id="rId6" imgW="736600" imgH="2286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29400" y="1554163"/>
                        <a:ext cx="1846263"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5"/>
          <p:cNvGraphicFramePr>
            <a:graphicFrameLocks noChangeAspect="1"/>
          </p:cNvGraphicFramePr>
          <p:nvPr/>
        </p:nvGraphicFramePr>
        <p:xfrm>
          <a:off x="511175" y="3694113"/>
          <a:ext cx="1622425" cy="987425"/>
        </p:xfrm>
        <a:graphic>
          <a:graphicData uri="http://schemas.openxmlformats.org/presentationml/2006/ole">
            <mc:AlternateContent xmlns:mc="http://schemas.openxmlformats.org/markup-compatibility/2006">
              <mc:Choice xmlns:v="urn:schemas-microsoft-com:vml" Requires="v">
                <p:oleObj name="Equation" r:id="rId8" imgW="647419" imgH="393529" progId="Equation.DSMT4">
                  <p:embed/>
                </p:oleObj>
              </mc:Choice>
              <mc:Fallback>
                <p:oleObj name="Equation" r:id="rId8" imgW="647419" imgH="393529"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1175" y="3694113"/>
                        <a:ext cx="1622425"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6"/>
          <p:cNvGraphicFramePr>
            <a:graphicFrameLocks noChangeAspect="1"/>
          </p:cNvGraphicFramePr>
          <p:nvPr/>
        </p:nvGraphicFramePr>
        <p:xfrm>
          <a:off x="2820988" y="3694113"/>
          <a:ext cx="1304925" cy="1085850"/>
        </p:xfrm>
        <a:graphic>
          <a:graphicData uri="http://schemas.openxmlformats.org/presentationml/2006/ole">
            <mc:AlternateContent xmlns:mc="http://schemas.openxmlformats.org/markup-compatibility/2006">
              <mc:Choice xmlns:v="urn:schemas-microsoft-com:vml" Requires="v">
                <p:oleObj name="Equation" r:id="rId10" imgW="520474" imgH="431613" progId="Equation.DSMT4">
                  <p:embed/>
                </p:oleObj>
              </mc:Choice>
              <mc:Fallback>
                <p:oleObj name="Equation" r:id="rId10" imgW="520474" imgH="431613"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20988" y="3694113"/>
                        <a:ext cx="1304925"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7"/>
          <p:cNvGraphicFramePr>
            <a:graphicFrameLocks noChangeAspect="1"/>
          </p:cNvGraphicFramePr>
          <p:nvPr/>
        </p:nvGraphicFramePr>
        <p:xfrm>
          <a:off x="525463" y="5467350"/>
          <a:ext cx="1685925" cy="1008063"/>
        </p:xfrm>
        <a:graphic>
          <a:graphicData uri="http://schemas.openxmlformats.org/presentationml/2006/ole">
            <mc:AlternateContent xmlns:mc="http://schemas.openxmlformats.org/markup-compatibility/2006">
              <mc:Choice xmlns:v="urn:schemas-microsoft-com:vml" Requires="v">
                <p:oleObj name="Equation" r:id="rId12" imgW="660113" imgH="393529" progId="Equation.DSMT4">
                  <p:embed/>
                </p:oleObj>
              </mc:Choice>
              <mc:Fallback>
                <p:oleObj name="Equation" r:id="rId12" imgW="660113" imgH="393529"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5463" y="5467350"/>
                        <a:ext cx="1685925"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Object 8"/>
          <p:cNvGraphicFramePr>
            <a:graphicFrameLocks noChangeAspect="1"/>
          </p:cNvGraphicFramePr>
          <p:nvPr/>
        </p:nvGraphicFramePr>
        <p:xfrm>
          <a:off x="2747963" y="5505450"/>
          <a:ext cx="1366837" cy="1085850"/>
        </p:xfrm>
        <a:graphic>
          <a:graphicData uri="http://schemas.openxmlformats.org/presentationml/2006/ole">
            <mc:AlternateContent xmlns:mc="http://schemas.openxmlformats.org/markup-compatibility/2006">
              <mc:Choice xmlns:v="urn:schemas-microsoft-com:vml" Requires="v">
                <p:oleObj name="Equation" r:id="rId14" imgW="545863" imgH="431613" progId="Equation.DSMT4">
                  <p:embed/>
                </p:oleObj>
              </mc:Choice>
              <mc:Fallback>
                <p:oleObj name="Equation" r:id="rId14" imgW="545863" imgH="431613"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747963" y="5505450"/>
                        <a:ext cx="1366837"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 name="Left-Right Arrow 29"/>
          <p:cNvSpPr/>
          <p:nvPr/>
        </p:nvSpPr>
        <p:spPr>
          <a:xfrm>
            <a:off x="6019800" y="1747838"/>
            <a:ext cx="381000" cy="228600"/>
          </a:xfrm>
          <a:prstGeom prst="leftRightArrow">
            <a:avLst/>
          </a:prstGeom>
          <a:solidFill>
            <a:srgbClr val="43CE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1" name="Left-Right Arrow 30"/>
          <p:cNvSpPr/>
          <p:nvPr/>
        </p:nvSpPr>
        <p:spPr>
          <a:xfrm>
            <a:off x="2255838" y="4105275"/>
            <a:ext cx="381000" cy="228600"/>
          </a:xfrm>
          <a:prstGeom prst="leftRightArrow">
            <a:avLst/>
          </a:prstGeom>
          <a:solidFill>
            <a:srgbClr val="43CE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 name="Left-Right Arrow 31"/>
          <p:cNvSpPr/>
          <p:nvPr/>
        </p:nvSpPr>
        <p:spPr>
          <a:xfrm>
            <a:off x="2286000" y="5867400"/>
            <a:ext cx="381000" cy="228600"/>
          </a:xfrm>
          <a:prstGeom prst="leftRightArrow">
            <a:avLst/>
          </a:prstGeom>
          <a:solidFill>
            <a:srgbClr val="43CE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Footer Placeholder 10">
            <a:extLst>
              <a:ext uri="{FF2B5EF4-FFF2-40B4-BE49-F238E27FC236}">
                <a16:creationId xmlns:a16="http://schemas.microsoft.com/office/drawing/2014/main" id="{A11D68BA-9833-29B7-09DE-58FACA1394F8}"/>
              </a:ext>
            </a:extLst>
          </p:cNvPr>
          <p:cNvSpPr>
            <a:spLocks noGrp="1"/>
          </p:cNvSpPr>
          <p:nvPr>
            <p:ph type="ftr" sz="quarter" idx="11"/>
          </p:nvPr>
        </p:nvSpPr>
        <p:spPr/>
        <p:txBody>
          <a:bodyPr/>
          <a:lstStyle/>
          <a:p>
            <a:r>
              <a:rPr lang="en-US"/>
              <a:t>Bùi Quốc Trung - VLDC</a:t>
            </a:r>
          </a:p>
        </p:txBody>
      </p:sp>
      <p:sp>
        <p:nvSpPr>
          <p:cNvPr id="12" name="Slide Number Placeholder 11">
            <a:extLst>
              <a:ext uri="{FF2B5EF4-FFF2-40B4-BE49-F238E27FC236}">
                <a16:creationId xmlns:a16="http://schemas.microsoft.com/office/drawing/2014/main" id="{CE63D453-4D01-AB31-1526-1F0A1045B913}"/>
              </a:ext>
            </a:extLst>
          </p:cNvPr>
          <p:cNvSpPr>
            <a:spLocks noGrp="1"/>
          </p:cNvSpPr>
          <p:nvPr>
            <p:ph type="sldNum" sz="quarter" idx="12"/>
          </p:nvPr>
        </p:nvSpPr>
        <p:spPr/>
        <p:txBody>
          <a:bodyPr/>
          <a:lstStyle/>
          <a:p>
            <a:fld id="{0C173468-4CCE-478A-9725-791AF0DB04F2}" type="slidenum">
              <a:rPr lang="en-US" smtClean="0"/>
              <a:t>12</a:t>
            </a:fld>
            <a:endParaRPr lang="en-US"/>
          </a:p>
        </p:txBody>
      </p:sp>
    </p:spTree>
    <p:controls>
      <mc:AlternateContent xmlns:mc="http://schemas.openxmlformats.org/markup-compatibility/2006">
        <mc:Choice xmlns:v="urn:schemas-microsoft-com:vml" Requires="v">
          <p:control r:id="rId1" imgW="4343400" imgH="4038480"/>
        </mc:Choice>
        <mc:Fallback>
          <p:control r:id="rId1" imgW="4343400" imgH="4038480">
            <p:pic>
              <p:nvPicPr>
                <p:cNvPr id="6" name="ShockwaveFlash1"/>
                <p:cNvPicPr preferRelativeResize="0">
                  <a:picLocks noChangeArrowheads="1" noChangeShapeType="1"/>
                </p:cNvPicPr>
                <p:nvPr/>
              </p:nvPicPr>
              <p:blipFill>
                <a:blip r:embed="rId16">
                  <a:extLst>
                    <a:ext uri="{28A0092B-C50C-407E-A947-70E740481C1C}">
                      <a14:useLocalDpi xmlns:a14="http://schemas.microsoft.com/office/drawing/2010/main" val="0"/>
                    </a:ext>
                  </a:extLst>
                </a:blip>
                <a:srcRect/>
                <a:stretch>
                  <a:fillRect/>
                </a:stretch>
              </p:blipFill>
              <p:spPr bwMode="auto">
                <a:xfrm>
                  <a:off x="4876800" y="3048000"/>
                  <a:ext cx="3200400" cy="3200400"/>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extLst>
      <p:ext uri="{BB962C8B-B14F-4D97-AF65-F5344CB8AC3E}">
        <p14:creationId xmlns:p14="http://schemas.microsoft.com/office/powerpoint/2010/main" val="5051307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3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out)">
                                      <p:cBhvr>
                                        <p:cTn id="7" dur="1000"/>
                                        <p:tgtEl>
                                          <p:spTgt spid="2"/>
                                        </p:tgtEl>
                                      </p:cBhvr>
                                    </p:animEffect>
                                  </p:childTnLst>
                                </p:cTn>
                              </p:par>
                            </p:childTnLst>
                          </p:cTn>
                        </p:par>
                        <p:par>
                          <p:cTn id="8" fill="hold" nodeType="afterGroup">
                            <p:stCondLst>
                              <p:cond delay="1000"/>
                            </p:stCondLst>
                            <p:childTnLst>
                              <p:par>
                                <p:cTn id="9" presetID="9"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dissolve">
                                      <p:cBhvr>
                                        <p:cTn id="11" dur="500"/>
                                        <p:tgtEl>
                                          <p:spTgt spid="7"/>
                                        </p:tgtEl>
                                      </p:cBhvr>
                                    </p:animEffect>
                                  </p:childTnLst>
                                </p:cTn>
                              </p:par>
                            </p:childTnLst>
                          </p:cTn>
                        </p:par>
                        <p:par>
                          <p:cTn id="12" fill="hold" nodeType="afterGroup">
                            <p:stCondLst>
                              <p:cond delay="1500"/>
                            </p:stCondLst>
                            <p:childTnLst>
                              <p:par>
                                <p:cTn id="13" presetID="9"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500"/>
                                        <p:tgtEl>
                                          <p:spTgt spid="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4" presetClass="entr" presetSubtype="1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randombar(horizontal)">
                                      <p:cBhvr>
                                        <p:cTn id="20" dur="500"/>
                                        <p:tgtEl>
                                          <p:spTgt spid="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randombar(horizontal)">
                                      <p:cBhvr>
                                        <p:cTn id="25" dur="500"/>
                                        <p:tgtEl>
                                          <p:spTgt spid="30"/>
                                        </p:tgtEl>
                                      </p:cBhvr>
                                    </p:animEffect>
                                  </p:childTnLst>
                                </p:cTn>
                              </p:par>
                            </p:childTnLst>
                          </p:cTn>
                        </p:par>
                        <p:par>
                          <p:cTn id="26" fill="hold" nodeType="afterGroup">
                            <p:stCondLst>
                              <p:cond delay="500"/>
                            </p:stCondLst>
                            <p:childTnLst>
                              <p:par>
                                <p:cTn id="27" presetID="14" presetClass="entr" presetSubtype="10"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randombar(horizontal)">
                                      <p:cBhvr>
                                        <p:cTn id="29" dur="500"/>
                                        <p:tgtEl>
                                          <p:spTgt spid="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4" presetClass="entr" presetSubtype="1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randombar(horizontal)">
                                      <p:cBhvr>
                                        <p:cTn id="34" dur="500"/>
                                        <p:tgtEl>
                                          <p:spTgt spid="1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4" presetClass="entr" presetSubtype="1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randombar(horizontal)">
                                      <p:cBhvr>
                                        <p:cTn id="39" dur="500"/>
                                        <p:tgtEl>
                                          <p:spTgt spid="18"/>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4" presetClass="entr" presetSubtype="10" fill="hold" nodeType="click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randombar(horizontal)">
                                      <p:cBhvr>
                                        <p:cTn id="44" dur="500"/>
                                        <p:tgtEl>
                                          <p:spTgt spid="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4" presetClass="entr" presetSubtype="10" fill="hold" grpId="0" nodeType="click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randombar(horizontal)">
                                      <p:cBhvr>
                                        <p:cTn id="49" dur="500"/>
                                        <p:tgtEl>
                                          <p:spTgt spid="31"/>
                                        </p:tgtEl>
                                      </p:cBhvr>
                                    </p:animEffect>
                                  </p:childTnLst>
                                </p:cTn>
                              </p:par>
                            </p:childTnLst>
                          </p:cTn>
                        </p:par>
                        <p:par>
                          <p:cTn id="50" fill="hold" nodeType="afterGroup">
                            <p:stCondLst>
                              <p:cond delay="500"/>
                            </p:stCondLst>
                            <p:childTnLst>
                              <p:par>
                                <p:cTn id="51" presetID="14" presetClass="entr" presetSubtype="10" fill="hold" nodeType="after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randombar(horizontal)">
                                      <p:cBhvr>
                                        <p:cTn id="53" dur="500"/>
                                        <p:tgtEl>
                                          <p:spTgt spid="9"/>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4" presetClass="entr" presetSubtype="10" fill="hold" grpId="0" nodeType="click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randombar(horizontal)">
                                      <p:cBhvr>
                                        <p:cTn id="58" dur="500"/>
                                        <p:tgtEl>
                                          <p:spTgt spid="19"/>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4" presetClass="entr" presetSubtype="10" fill="hold" nodeType="clickEffect">
                                  <p:stCondLst>
                                    <p:cond delay="0"/>
                                  </p:stCondLst>
                                  <p:childTnLst>
                                    <p:set>
                                      <p:cBhvr>
                                        <p:cTn id="62" dur="1" fill="hold">
                                          <p:stCondLst>
                                            <p:cond delay="0"/>
                                          </p:stCondLst>
                                        </p:cTn>
                                        <p:tgtEl>
                                          <p:spTgt spid="10"/>
                                        </p:tgtEl>
                                        <p:attrNameLst>
                                          <p:attrName>style.visibility</p:attrName>
                                        </p:attrNameLst>
                                      </p:cBhvr>
                                      <p:to>
                                        <p:strVal val="visible"/>
                                      </p:to>
                                    </p:set>
                                    <p:animEffect transition="in" filter="randombar(horizontal)">
                                      <p:cBhvr>
                                        <p:cTn id="63" dur="500"/>
                                        <p:tgtEl>
                                          <p:spTgt spid="10"/>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4" presetClass="entr" presetSubtype="10" fill="hold" grpId="0" nodeType="click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randombar(horizontal)">
                                      <p:cBhvr>
                                        <p:cTn id="68" dur="500"/>
                                        <p:tgtEl>
                                          <p:spTgt spid="32"/>
                                        </p:tgtEl>
                                      </p:cBhvr>
                                    </p:animEffect>
                                  </p:childTnLst>
                                </p:cTn>
                              </p:par>
                            </p:childTnLst>
                          </p:cTn>
                        </p:par>
                        <p:par>
                          <p:cTn id="69" fill="hold" nodeType="afterGroup">
                            <p:stCondLst>
                              <p:cond delay="500"/>
                            </p:stCondLst>
                            <p:childTnLst>
                              <p:par>
                                <p:cTn id="70" presetID="14" presetClass="entr" presetSubtype="10" fill="hold" nodeType="after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randombar(horizontal)">
                                      <p:cBhvr>
                                        <p:cTn id="7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3" grpId="0"/>
      <p:bldP spid="18" grpId="0"/>
      <p:bldP spid="19" grpId="0"/>
      <p:bldP spid="30" grpId="0" animBg="1"/>
      <p:bldP spid="31" grpId="0" animBg="1"/>
      <p:bldP spid="3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8"/>
          <p:cNvGrpSpPr>
            <a:grpSpLocks/>
          </p:cNvGrpSpPr>
          <p:nvPr/>
        </p:nvGrpSpPr>
        <p:grpSpPr bwMode="auto">
          <a:xfrm>
            <a:off x="304800" y="0"/>
            <a:ext cx="8534400" cy="685800"/>
            <a:chOff x="86" y="1392"/>
            <a:chExt cx="6531" cy="432"/>
          </a:xfrm>
        </p:grpSpPr>
        <p:pic>
          <p:nvPicPr>
            <p:cNvPr id="21514"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 y="1392"/>
              <a:ext cx="6531"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14"/>
            <p:cNvSpPr txBox="1">
              <a:spLocks noChangeArrowheads="1"/>
            </p:cNvSpPr>
            <p:nvPr/>
          </p:nvSpPr>
          <p:spPr bwMode="auto">
            <a:xfrm>
              <a:off x="876" y="1431"/>
              <a:ext cx="4958" cy="330"/>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a:spAutoFit/>
            </a:bodyPr>
            <a:lstStyle/>
            <a:p>
              <a:pPr algn="ctr">
                <a:spcBef>
                  <a:spcPts val="1200"/>
                </a:spcBef>
                <a:spcAft>
                  <a:spcPts val="1200"/>
                </a:spcAft>
                <a:defRPr/>
              </a:pPr>
              <a:r>
                <a:rPr lang="en-US" sz="2800" b="1">
                  <a:solidFill>
                    <a:srgbClr val="FF0000"/>
                  </a:solidFill>
                  <a:latin typeface="Times New Roman" pitchFamily="18" charset="0"/>
                  <a:cs typeface="Times New Roman" pitchFamily="18" charset="0"/>
                </a:rPr>
                <a:t>Hệ quả của thuyết động học phân tử</a:t>
              </a:r>
            </a:p>
          </p:txBody>
        </p:sp>
      </p:grpSp>
      <p:sp>
        <p:nvSpPr>
          <p:cNvPr id="21507" name="Rectangle 16"/>
          <p:cNvSpPr>
            <a:spLocks noChangeArrowheads="1"/>
          </p:cNvSpPr>
          <p:nvPr/>
        </p:nvSpPr>
        <p:spPr bwMode="auto">
          <a:xfrm>
            <a:off x="7543800" y="6596063"/>
            <a:ext cx="1676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just"/>
            <a:endParaRPr lang="en-US" sz="1100" b="1">
              <a:solidFill>
                <a:srgbClr val="002060"/>
              </a:solidFill>
              <a:latin typeface="Times New Roman" pitchFamily="18" charset="0"/>
              <a:cs typeface="Times New Roman" pitchFamily="18" charset="0"/>
            </a:endParaRPr>
          </a:p>
        </p:txBody>
      </p:sp>
      <p:sp>
        <p:nvSpPr>
          <p:cNvPr id="8" name="Rectangle 7"/>
          <p:cNvSpPr>
            <a:spLocks noChangeArrowheads="1"/>
          </p:cNvSpPr>
          <p:nvPr/>
        </p:nvSpPr>
        <p:spPr bwMode="auto">
          <a:xfrm>
            <a:off x="479425" y="1295400"/>
            <a:ext cx="233997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b="1" i="1">
                <a:solidFill>
                  <a:srgbClr val="1109B7"/>
                </a:solidFill>
                <a:latin typeface="Times New Roman" pitchFamily="18" charset="0"/>
                <a:cs typeface="Times New Roman" pitchFamily="18" charset="0"/>
              </a:rPr>
              <a:t>QT đẳng nhiệt</a:t>
            </a:r>
          </a:p>
          <a:p>
            <a:r>
              <a:rPr lang="en-US" sz="2800" b="1" i="1">
                <a:solidFill>
                  <a:srgbClr val="1109B7"/>
                </a:solidFill>
                <a:latin typeface="Times New Roman" pitchFamily="18" charset="0"/>
                <a:cs typeface="Times New Roman" pitchFamily="18" charset="0"/>
              </a:rPr>
              <a:t> (T=const)</a:t>
            </a:r>
          </a:p>
        </p:txBody>
      </p:sp>
      <p:sp>
        <p:nvSpPr>
          <p:cNvPr id="18" name="Rectangle 17"/>
          <p:cNvSpPr>
            <a:spLocks noChangeArrowheads="1"/>
          </p:cNvSpPr>
          <p:nvPr/>
        </p:nvSpPr>
        <p:spPr bwMode="auto">
          <a:xfrm>
            <a:off x="457200" y="3429000"/>
            <a:ext cx="3663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800" b="1" i="1">
                <a:solidFill>
                  <a:srgbClr val="1109B7"/>
                </a:solidFill>
                <a:latin typeface="Times New Roman" pitchFamily="18" charset="0"/>
                <a:cs typeface="Times New Roman" pitchFamily="18" charset="0"/>
              </a:rPr>
              <a:t>QT đẳng tích (V=const)</a:t>
            </a:r>
            <a:endParaRPr lang="en-US" sz="2800" i="1">
              <a:solidFill>
                <a:srgbClr val="1109B7"/>
              </a:solidFill>
              <a:latin typeface="Times New Roman" pitchFamily="18" charset="0"/>
              <a:cs typeface="Times New Roman" pitchFamily="18" charset="0"/>
            </a:endParaRPr>
          </a:p>
        </p:txBody>
      </p:sp>
      <p:sp>
        <p:nvSpPr>
          <p:cNvPr id="19" name="Rectangle 18"/>
          <p:cNvSpPr>
            <a:spLocks noChangeArrowheads="1"/>
          </p:cNvSpPr>
          <p:nvPr/>
        </p:nvSpPr>
        <p:spPr bwMode="auto">
          <a:xfrm>
            <a:off x="5105400" y="3429000"/>
            <a:ext cx="3505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800" b="1" i="1">
                <a:solidFill>
                  <a:srgbClr val="1109B7"/>
                </a:solidFill>
                <a:latin typeface="Times New Roman" pitchFamily="18" charset="0"/>
                <a:cs typeface="Times New Roman" pitchFamily="18" charset="0"/>
              </a:rPr>
              <a:t>QT đẳng áp (p=const)</a:t>
            </a:r>
            <a:endParaRPr lang="en-US" sz="2800" i="1">
              <a:solidFill>
                <a:srgbClr val="1109B7"/>
              </a:solidFill>
              <a:latin typeface="Times New Roman" pitchFamily="18" charset="0"/>
              <a:cs typeface="Times New Roman" pitchFamily="18" charset="0"/>
            </a:endParaRPr>
          </a:p>
        </p:txBody>
      </p:sp>
      <p:pic>
        <p:nvPicPr>
          <p:cNvPr id="1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838200"/>
            <a:ext cx="48006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930650"/>
            <a:ext cx="4541838"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6800" y="4056063"/>
            <a:ext cx="4191000" cy="2649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Connector 3"/>
          <p:cNvCxnSpPr/>
          <p:nvPr/>
        </p:nvCxnSpPr>
        <p:spPr>
          <a:xfrm>
            <a:off x="5334000" y="914400"/>
            <a:ext cx="0" cy="213360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Rectangle 5"/>
              <p:cNvSpPr/>
              <p:nvPr/>
            </p:nvSpPr>
            <p:spPr>
              <a:xfrm>
                <a:off x="5162550" y="3124200"/>
                <a:ext cx="342900" cy="414337"/>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n>
                                <a:noFill/>
                              </a:ln>
                              <a:latin typeface="Cambria Math" panose="02040503050406030204" pitchFamily="18" charset="0"/>
                            </a:rPr>
                          </m:ctrlPr>
                        </m:sSubPr>
                        <m:e>
                          <m:r>
                            <a:rPr lang="en-US" b="0" i="1" smtClean="0">
                              <a:ln>
                                <a:noFill/>
                              </a:ln>
                              <a:latin typeface="Cambria Math"/>
                            </a:rPr>
                            <m:t>𝑉</m:t>
                          </m:r>
                        </m:e>
                        <m:sub>
                          <m:r>
                            <a:rPr lang="en-US" b="0" i="1" smtClean="0">
                              <a:ln>
                                <a:noFill/>
                              </a:ln>
                              <a:latin typeface="Cambria Math"/>
                            </a:rPr>
                            <m:t>0</m:t>
                          </m:r>
                        </m:sub>
                      </m:sSub>
                    </m:oMath>
                  </m:oMathPara>
                </a14:m>
                <a:endParaRPr lang="en-US">
                  <a:ln>
                    <a:noFill/>
                  </a:ln>
                </a:endParaRPr>
              </a:p>
            </p:txBody>
          </p:sp>
        </mc:Choice>
        <mc:Fallback xmlns="">
          <p:sp>
            <p:nvSpPr>
              <p:cNvPr id="6" name="Rectangle 5"/>
              <p:cNvSpPr>
                <a:spLocks noRot="1" noChangeAspect="1" noMove="1" noResize="1" noEditPoints="1" noAdjustHandles="1" noChangeArrowheads="1" noChangeShapeType="1" noTextEdit="1"/>
              </p:cNvSpPr>
              <p:nvPr/>
            </p:nvSpPr>
            <p:spPr>
              <a:xfrm>
                <a:off x="5162550" y="3124200"/>
                <a:ext cx="342900" cy="414337"/>
              </a:xfrm>
              <a:prstGeom prst="rect">
                <a:avLst/>
              </a:prstGeom>
              <a:blipFill rotWithShape="1">
                <a:blip r:embed="rId6"/>
                <a:stretch>
                  <a:fillRect l="-14286"/>
                </a:stretch>
              </a:blipFill>
              <a:ln>
                <a:noFill/>
              </a:ln>
            </p:spPr>
            <p:txBody>
              <a:bodyPr/>
              <a:lstStyle/>
              <a:p>
                <a:r>
                  <a:rPr lang="en-US">
                    <a:noFill/>
                  </a:rPr>
                  <a:t> </a:t>
                </a:r>
              </a:p>
            </p:txBody>
          </p:sp>
        </mc:Fallback>
      </mc:AlternateContent>
      <p:cxnSp>
        <p:nvCxnSpPr>
          <p:cNvPr id="9" name="Straight Connector 8"/>
          <p:cNvCxnSpPr/>
          <p:nvPr/>
        </p:nvCxnSpPr>
        <p:spPr>
          <a:xfrm>
            <a:off x="3048000" y="1772444"/>
            <a:ext cx="3810000"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Rectangle 19"/>
              <p:cNvSpPr/>
              <p:nvPr/>
            </p:nvSpPr>
            <p:spPr>
              <a:xfrm>
                <a:off x="2658836" y="1566863"/>
                <a:ext cx="342900" cy="414337"/>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n>
                                <a:noFill/>
                              </a:ln>
                              <a:latin typeface="Cambria Math" panose="02040503050406030204" pitchFamily="18" charset="0"/>
                            </a:rPr>
                          </m:ctrlPr>
                        </m:sSubPr>
                        <m:e>
                          <m:r>
                            <a:rPr lang="en-US" b="0" i="1" smtClean="0">
                              <a:ln>
                                <a:noFill/>
                              </a:ln>
                              <a:latin typeface="Cambria Math"/>
                            </a:rPr>
                            <m:t>𝑃</m:t>
                          </m:r>
                        </m:e>
                        <m:sub>
                          <m:r>
                            <a:rPr lang="en-US" b="0" i="1" smtClean="0">
                              <a:ln>
                                <a:noFill/>
                              </a:ln>
                              <a:latin typeface="Cambria Math"/>
                            </a:rPr>
                            <m:t>0</m:t>
                          </m:r>
                        </m:sub>
                      </m:sSub>
                    </m:oMath>
                  </m:oMathPara>
                </a14:m>
                <a:endParaRPr lang="en-US">
                  <a:ln>
                    <a:noFill/>
                  </a:ln>
                </a:endParaRPr>
              </a:p>
            </p:txBody>
          </p:sp>
        </mc:Choice>
        <mc:Fallback xmlns="">
          <p:sp>
            <p:nvSpPr>
              <p:cNvPr id="20" name="Rectangle 19"/>
              <p:cNvSpPr>
                <a:spLocks noRot="1" noChangeAspect="1" noMove="1" noResize="1" noEditPoints="1" noAdjustHandles="1" noChangeArrowheads="1" noChangeShapeType="1" noTextEdit="1"/>
              </p:cNvSpPr>
              <p:nvPr/>
            </p:nvSpPr>
            <p:spPr>
              <a:xfrm>
                <a:off x="2658836" y="1566863"/>
                <a:ext cx="342900" cy="414337"/>
              </a:xfrm>
              <a:prstGeom prst="rect">
                <a:avLst/>
              </a:prstGeom>
              <a:blipFill rotWithShape="1">
                <a:blip r:embed="rId7"/>
                <a:stretch>
                  <a:fillRect l="-14286"/>
                </a:stretch>
              </a:blipFill>
              <a:ln>
                <a:noFill/>
              </a:ln>
            </p:spPr>
            <p:txBody>
              <a:bodyPr/>
              <a:lstStyle/>
              <a:p>
                <a:r>
                  <a:rPr lang="en-US">
                    <a:noFill/>
                  </a:rPr>
                  <a:t> </a:t>
                </a:r>
              </a:p>
            </p:txBody>
          </p:sp>
        </mc:Fallback>
      </mc:AlternateContent>
      <p:cxnSp>
        <p:nvCxnSpPr>
          <p:cNvPr id="12" name="Straight Connector 11"/>
          <p:cNvCxnSpPr/>
          <p:nvPr/>
        </p:nvCxnSpPr>
        <p:spPr>
          <a:xfrm>
            <a:off x="2064635" y="4191000"/>
            <a:ext cx="0" cy="2178050"/>
          </a:xfrm>
          <a:prstGeom prst="line">
            <a:avLst/>
          </a:prstGeom>
        </p:spPr>
        <p:style>
          <a:lnRef idx="3">
            <a:schemeClr val="accent5"/>
          </a:lnRef>
          <a:fillRef idx="0">
            <a:schemeClr val="accent5"/>
          </a:fillRef>
          <a:effectRef idx="2">
            <a:schemeClr val="accent5"/>
          </a:effectRef>
          <a:fontRef idx="minor">
            <a:schemeClr val="tx1"/>
          </a:fontRef>
        </p:style>
      </p:cxnSp>
      <mc:AlternateContent xmlns:mc="http://schemas.openxmlformats.org/markup-compatibility/2006" xmlns:a14="http://schemas.microsoft.com/office/drawing/2010/main">
        <mc:Choice Requires="a14">
          <p:sp>
            <p:nvSpPr>
              <p:cNvPr id="24" name="Rectangle 23"/>
              <p:cNvSpPr/>
              <p:nvPr/>
            </p:nvSpPr>
            <p:spPr>
              <a:xfrm>
                <a:off x="1873885" y="6443663"/>
                <a:ext cx="342900" cy="414337"/>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n>
                                <a:noFill/>
                              </a:ln>
                              <a:latin typeface="Cambria Math" panose="02040503050406030204" pitchFamily="18" charset="0"/>
                            </a:rPr>
                          </m:ctrlPr>
                        </m:sSubPr>
                        <m:e>
                          <m:r>
                            <a:rPr lang="en-US" b="0" i="1" smtClean="0">
                              <a:ln>
                                <a:noFill/>
                              </a:ln>
                              <a:latin typeface="Cambria Math"/>
                            </a:rPr>
                            <m:t>𝑇</m:t>
                          </m:r>
                        </m:e>
                        <m:sub>
                          <m:r>
                            <a:rPr lang="en-US" b="0" i="1" smtClean="0">
                              <a:ln>
                                <a:noFill/>
                              </a:ln>
                              <a:latin typeface="Cambria Math"/>
                            </a:rPr>
                            <m:t>0</m:t>
                          </m:r>
                        </m:sub>
                      </m:sSub>
                    </m:oMath>
                  </m:oMathPara>
                </a14:m>
                <a:endParaRPr lang="en-US">
                  <a:ln>
                    <a:noFill/>
                  </a:ln>
                </a:endParaRPr>
              </a:p>
            </p:txBody>
          </p:sp>
        </mc:Choice>
        <mc:Fallback xmlns="">
          <p:sp>
            <p:nvSpPr>
              <p:cNvPr id="24" name="Rectangle 23"/>
              <p:cNvSpPr>
                <a:spLocks noRot="1" noChangeAspect="1" noMove="1" noResize="1" noEditPoints="1" noAdjustHandles="1" noChangeArrowheads="1" noChangeShapeType="1" noTextEdit="1"/>
              </p:cNvSpPr>
              <p:nvPr/>
            </p:nvSpPr>
            <p:spPr>
              <a:xfrm>
                <a:off x="1873885" y="6443663"/>
                <a:ext cx="342900" cy="414337"/>
              </a:xfrm>
              <a:prstGeom prst="rect">
                <a:avLst/>
              </a:prstGeom>
              <a:blipFill rotWithShape="1">
                <a:blip r:embed="rId8"/>
                <a:stretch>
                  <a:fillRect l="-12281"/>
                </a:stretch>
              </a:blipFill>
              <a:ln>
                <a:noFill/>
              </a:ln>
            </p:spPr>
            <p:txBody>
              <a:bodyPr/>
              <a:lstStyle/>
              <a:p>
                <a:r>
                  <a:rPr lang="en-US">
                    <a:noFill/>
                  </a:rPr>
                  <a:t> </a:t>
                </a:r>
              </a:p>
            </p:txBody>
          </p:sp>
        </mc:Fallback>
      </mc:AlternateContent>
      <p:cxnSp>
        <p:nvCxnSpPr>
          <p:cNvPr id="15" name="Straight Connector 14"/>
          <p:cNvCxnSpPr/>
          <p:nvPr/>
        </p:nvCxnSpPr>
        <p:spPr>
          <a:xfrm>
            <a:off x="345622" y="5105400"/>
            <a:ext cx="2201636" cy="0"/>
          </a:xfrm>
          <a:prstGeom prst="line">
            <a:avLst/>
          </a:prstGeom>
        </p:spPr>
        <p:style>
          <a:lnRef idx="3">
            <a:schemeClr val="accent4"/>
          </a:lnRef>
          <a:fillRef idx="0">
            <a:schemeClr val="accent4"/>
          </a:fillRef>
          <a:effectRef idx="2">
            <a:schemeClr val="accent4"/>
          </a:effectRef>
          <a:fontRef idx="minor">
            <a:schemeClr val="tx1"/>
          </a:fontRef>
        </p:style>
      </p:cxnSp>
      <mc:AlternateContent xmlns:mc="http://schemas.openxmlformats.org/markup-compatibility/2006" xmlns:a14="http://schemas.microsoft.com/office/drawing/2010/main">
        <mc:Choice Requires="a14">
          <p:sp>
            <p:nvSpPr>
              <p:cNvPr id="27" name="Rectangle 26"/>
              <p:cNvSpPr/>
              <p:nvPr/>
            </p:nvSpPr>
            <p:spPr>
              <a:xfrm>
                <a:off x="2722" y="4861334"/>
                <a:ext cx="342900" cy="414337"/>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n>
                                <a:noFill/>
                              </a:ln>
                              <a:latin typeface="Cambria Math" panose="02040503050406030204" pitchFamily="18" charset="0"/>
                            </a:rPr>
                          </m:ctrlPr>
                        </m:sSubPr>
                        <m:e>
                          <m:r>
                            <a:rPr lang="en-US" b="0" i="1" smtClean="0">
                              <a:ln>
                                <a:noFill/>
                              </a:ln>
                              <a:latin typeface="Cambria Math"/>
                            </a:rPr>
                            <m:t>𝑃</m:t>
                          </m:r>
                        </m:e>
                        <m:sub>
                          <m:r>
                            <a:rPr lang="en-US" b="0" i="1" smtClean="0">
                              <a:ln>
                                <a:noFill/>
                              </a:ln>
                              <a:latin typeface="Cambria Math"/>
                            </a:rPr>
                            <m:t>0</m:t>
                          </m:r>
                        </m:sub>
                      </m:sSub>
                    </m:oMath>
                  </m:oMathPara>
                </a14:m>
                <a:endParaRPr lang="en-US">
                  <a:ln>
                    <a:noFill/>
                  </a:ln>
                </a:endParaRPr>
              </a:p>
            </p:txBody>
          </p:sp>
        </mc:Choice>
        <mc:Fallback xmlns="">
          <p:sp>
            <p:nvSpPr>
              <p:cNvPr id="27" name="Rectangle 26"/>
              <p:cNvSpPr>
                <a:spLocks noRot="1" noChangeAspect="1" noMove="1" noResize="1" noEditPoints="1" noAdjustHandles="1" noChangeArrowheads="1" noChangeShapeType="1" noTextEdit="1"/>
              </p:cNvSpPr>
              <p:nvPr/>
            </p:nvSpPr>
            <p:spPr>
              <a:xfrm>
                <a:off x="2722" y="4861334"/>
                <a:ext cx="342900" cy="414337"/>
              </a:xfrm>
              <a:prstGeom prst="rect">
                <a:avLst/>
              </a:prstGeom>
              <a:blipFill rotWithShape="1">
                <a:blip r:embed="rId9"/>
                <a:stretch>
                  <a:fillRect l="-14035"/>
                </a:stretch>
              </a:blipFill>
              <a:ln>
                <a:noFill/>
              </a:ln>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305F53D5-A691-7B5B-975D-25B82D6DF1F4}"/>
              </a:ext>
            </a:extLst>
          </p:cNvPr>
          <p:cNvSpPr>
            <a:spLocks noGrp="1"/>
          </p:cNvSpPr>
          <p:nvPr>
            <p:ph type="ftr" sz="quarter" idx="11"/>
          </p:nvPr>
        </p:nvSpPr>
        <p:spPr/>
        <p:txBody>
          <a:bodyPr/>
          <a:lstStyle/>
          <a:p>
            <a:r>
              <a:rPr lang="en-US"/>
              <a:t>Bùi Quốc Trung - VLDC</a:t>
            </a:r>
          </a:p>
        </p:txBody>
      </p:sp>
      <p:sp>
        <p:nvSpPr>
          <p:cNvPr id="5" name="Slide Number Placeholder 4">
            <a:extLst>
              <a:ext uri="{FF2B5EF4-FFF2-40B4-BE49-F238E27FC236}">
                <a16:creationId xmlns:a16="http://schemas.microsoft.com/office/drawing/2014/main" id="{AEB0B4B0-74CC-6B13-CBFB-DEEED8989E48}"/>
              </a:ext>
            </a:extLst>
          </p:cNvPr>
          <p:cNvSpPr>
            <a:spLocks noGrp="1"/>
          </p:cNvSpPr>
          <p:nvPr>
            <p:ph type="sldNum" sz="quarter" idx="12"/>
          </p:nvPr>
        </p:nvSpPr>
        <p:spPr/>
        <p:txBody>
          <a:bodyPr/>
          <a:lstStyle/>
          <a:p>
            <a:fld id="{0C173468-4CCE-478A-9725-791AF0DB04F2}" type="slidenum">
              <a:rPr lang="en-US" smtClean="0"/>
              <a:t>13</a:t>
            </a:fld>
            <a:endParaRPr lang="en-US"/>
          </a:p>
        </p:txBody>
      </p:sp>
      <p:cxnSp>
        <p:nvCxnSpPr>
          <p:cNvPr id="10" name="Straight Connector 9">
            <a:extLst>
              <a:ext uri="{FF2B5EF4-FFF2-40B4-BE49-F238E27FC236}">
                <a16:creationId xmlns:a16="http://schemas.microsoft.com/office/drawing/2014/main" id="{EAF6F4AF-F8C9-E5FE-BC1E-55B452F84225}"/>
              </a:ext>
            </a:extLst>
          </p:cNvPr>
          <p:cNvCxnSpPr>
            <a:cxnSpLocks/>
          </p:cNvCxnSpPr>
          <p:nvPr/>
        </p:nvCxnSpPr>
        <p:spPr>
          <a:xfrm flipV="1">
            <a:off x="6984507" y="4343400"/>
            <a:ext cx="0" cy="2012950"/>
          </a:xfrm>
          <a:prstGeom prst="line">
            <a:avLst/>
          </a:prstGeom>
        </p:spPr>
        <p:style>
          <a:lnRef idx="3">
            <a:schemeClr val="accent1"/>
          </a:lnRef>
          <a:fillRef idx="0">
            <a:schemeClr val="accent1"/>
          </a:fillRef>
          <a:effectRef idx="2">
            <a:schemeClr val="accent1"/>
          </a:effectRef>
          <a:fontRef idx="minor">
            <a:schemeClr val="tx1"/>
          </a:fontRef>
        </p:style>
      </p:cxnSp>
      <p:cxnSp>
        <p:nvCxnSpPr>
          <p:cNvPr id="16" name="Straight Connector 15">
            <a:extLst>
              <a:ext uri="{FF2B5EF4-FFF2-40B4-BE49-F238E27FC236}">
                <a16:creationId xmlns:a16="http://schemas.microsoft.com/office/drawing/2014/main" id="{60710CE8-1681-988D-565D-55065F56E8DD}"/>
              </a:ext>
            </a:extLst>
          </p:cNvPr>
          <p:cNvCxnSpPr>
            <a:cxnSpLocks/>
          </p:cNvCxnSpPr>
          <p:nvPr/>
        </p:nvCxnSpPr>
        <p:spPr>
          <a:xfrm>
            <a:off x="5294790" y="4861334"/>
            <a:ext cx="2482012" cy="0"/>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0103040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3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out)">
                                      <p:cBhvr>
                                        <p:cTn id="7" dur="1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par>
                          <p:cTn id="13" fill="hold" nodeType="afterGroup">
                            <p:stCondLst>
                              <p:cond delay="500"/>
                            </p:stCondLst>
                            <p:childTnLst>
                              <p:par>
                                <p:cTn id="14" presetID="9" presetClass="entr" presetSubtype="0" fill="hold" nodeType="after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dissolve">
                                      <p:cBhvr>
                                        <p:cTn id="16" dur="500"/>
                                        <p:tgtEl>
                                          <p:spTgt spid="1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dissolve">
                                      <p:cBhvr>
                                        <p:cTn id="21" dur="500"/>
                                        <p:tgtEl>
                                          <p:spTgt spid="18"/>
                                        </p:tgtEl>
                                      </p:cBhvr>
                                    </p:animEffect>
                                  </p:childTnLst>
                                </p:cTn>
                              </p:par>
                            </p:childTnLst>
                          </p:cTn>
                        </p:par>
                        <p:par>
                          <p:cTn id="22" fill="hold" nodeType="afterGroup">
                            <p:stCondLst>
                              <p:cond delay="500"/>
                            </p:stCondLst>
                            <p:childTnLst>
                              <p:par>
                                <p:cTn id="23" presetID="9" presetClass="entr" presetSubtype="0" fill="hold"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dissolve">
                                      <p:cBhvr>
                                        <p:cTn id="25" dur="500"/>
                                        <p:tgtEl>
                                          <p:spTgt spid="2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dissolve">
                                      <p:cBhvr>
                                        <p:cTn id="30" dur="500"/>
                                        <p:tgtEl>
                                          <p:spTgt spid="19"/>
                                        </p:tgtEl>
                                      </p:cBhvr>
                                    </p:animEffect>
                                  </p:childTnLst>
                                </p:cTn>
                              </p:par>
                            </p:childTnLst>
                          </p:cTn>
                        </p:par>
                        <p:par>
                          <p:cTn id="31" fill="hold" nodeType="afterGroup">
                            <p:stCondLst>
                              <p:cond delay="500"/>
                            </p:stCondLst>
                            <p:childTnLst>
                              <p:par>
                                <p:cTn id="32" presetID="9" presetClass="entr" presetSubtype="0" fill="hold" nodeType="after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dissolve">
                                      <p:cBhvr>
                                        <p:cTn id="3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8" grpId="0"/>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762000"/>
            <a:ext cx="4038600" cy="5364163"/>
          </a:xfrm>
        </p:spPr>
        <p:txBody>
          <a:bodyPr>
            <a:normAutofit/>
          </a:bodyPr>
          <a:lstStyle/>
          <a:p>
            <a:pPr marL="0" indent="0">
              <a:buNone/>
            </a:pPr>
            <a:r>
              <a:rPr lang="en-US" dirty="0" err="1"/>
              <a:t>Phát</a:t>
            </a:r>
            <a:r>
              <a:rPr lang="en-US" dirty="0"/>
              <a:t> </a:t>
            </a:r>
            <a:r>
              <a:rPr lang="en-US" dirty="0" err="1"/>
              <a:t>biểu</a:t>
            </a:r>
            <a:r>
              <a:rPr lang="en-US" dirty="0"/>
              <a:t> </a:t>
            </a:r>
            <a:r>
              <a:rPr lang="en-US" dirty="0" err="1"/>
              <a:t>nào</a:t>
            </a:r>
            <a:r>
              <a:rPr lang="en-US" dirty="0"/>
              <a:t> </a:t>
            </a:r>
            <a:r>
              <a:rPr lang="en-US" b="1" u="sng" dirty="0" err="1"/>
              <a:t>sai</a:t>
            </a:r>
            <a:r>
              <a:rPr lang="en-US" dirty="0"/>
              <a:t> </a:t>
            </a:r>
            <a:r>
              <a:rPr lang="en-US" dirty="0" err="1"/>
              <a:t>khi</a:t>
            </a:r>
            <a:r>
              <a:rPr lang="en-US" dirty="0"/>
              <a:t> </a:t>
            </a:r>
            <a:r>
              <a:rPr lang="en-US" dirty="0" err="1"/>
              <a:t>nói</a:t>
            </a:r>
            <a:r>
              <a:rPr lang="en-US" dirty="0"/>
              <a:t> </a:t>
            </a:r>
            <a:r>
              <a:rPr lang="en-US" dirty="0" err="1"/>
              <a:t>về</a:t>
            </a:r>
            <a:r>
              <a:rPr lang="en-US" dirty="0"/>
              <a:t> </a:t>
            </a:r>
            <a:r>
              <a:rPr lang="en-US" dirty="0" err="1"/>
              <a:t>các</a:t>
            </a:r>
            <a:r>
              <a:rPr lang="en-US" dirty="0"/>
              <a:t> </a:t>
            </a:r>
            <a:r>
              <a:rPr lang="en-US" dirty="0" err="1"/>
              <a:t>chất</a:t>
            </a:r>
            <a:r>
              <a:rPr lang="en-US" dirty="0"/>
              <a:t> </a:t>
            </a:r>
            <a:r>
              <a:rPr lang="en-US" dirty="0" err="1"/>
              <a:t>khí</a:t>
            </a:r>
            <a:r>
              <a:rPr lang="en-US" dirty="0"/>
              <a:t> </a:t>
            </a:r>
            <a:r>
              <a:rPr lang="en-US" dirty="0" err="1"/>
              <a:t>lý</a:t>
            </a:r>
            <a:r>
              <a:rPr lang="en-US" dirty="0"/>
              <a:t> </a:t>
            </a:r>
            <a:r>
              <a:rPr lang="en-US" dirty="0" err="1"/>
              <a:t>tưởng</a:t>
            </a:r>
            <a:r>
              <a:rPr lang="en-US" dirty="0"/>
              <a:t>?</a:t>
            </a:r>
          </a:p>
          <a:p>
            <a:pPr marL="0" indent="0">
              <a:buNone/>
            </a:pPr>
            <a:r>
              <a:rPr lang="en-US" dirty="0"/>
              <a:t>A. </a:t>
            </a:r>
            <a:r>
              <a:rPr lang="en-US" dirty="0" err="1"/>
              <a:t>Các</a:t>
            </a:r>
            <a:r>
              <a:rPr lang="en-US" dirty="0"/>
              <a:t> </a:t>
            </a:r>
            <a:r>
              <a:rPr lang="en-US" dirty="0" err="1"/>
              <a:t>phân</a:t>
            </a:r>
            <a:r>
              <a:rPr lang="en-US" dirty="0"/>
              <a:t> </a:t>
            </a:r>
            <a:r>
              <a:rPr lang="en-US" dirty="0" err="1"/>
              <a:t>tử</a:t>
            </a:r>
            <a:r>
              <a:rPr lang="en-US" dirty="0"/>
              <a:t> </a:t>
            </a:r>
            <a:r>
              <a:rPr lang="en-US" dirty="0" err="1"/>
              <a:t>khí</a:t>
            </a:r>
            <a:r>
              <a:rPr lang="en-US" dirty="0"/>
              <a:t> ở </a:t>
            </a:r>
            <a:r>
              <a:rPr lang="en-US" dirty="0" err="1"/>
              <a:t>rất</a:t>
            </a:r>
            <a:r>
              <a:rPr lang="en-US" dirty="0"/>
              <a:t> </a:t>
            </a:r>
            <a:r>
              <a:rPr lang="en-US" dirty="0" err="1"/>
              <a:t>gần</a:t>
            </a:r>
            <a:r>
              <a:rPr lang="en-US" dirty="0"/>
              <a:t> </a:t>
            </a:r>
            <a:r>
              <a:rPr lang="en-US" dirty="0" err="1"/>
              <a:t>nhau</a:t>
            </a:r>
            <a:endParaRPr lang="en-US" dirty="0"/>
          </a:p>
          <a:p>
            <a:pPr marL="0" indent="0">
              <a:buNone/>
            </a:pPr>
            <a:r>
              <a:rPr lang="en-US" dirty="0"/>
              <a:t>B.</a:t>
            </a:r>
            <a:r>
              <a:rPr lang="en-US" b="1" dirty="0"/>
              <a:t> </a:t>
            </a:r>
            <a:r>
              <a:rPr lang="en-US" dirty="0" err="1"/>
              <a:t>Chất</a:t>
            </a:r>
            <a:r>
              <a:rPr lang="en-US" dirty="0"/>
              <a:t> </a:t>
            </a:r>
            <a:r>
              <a:rPr lang="en-US" dirty="0" err="1"/>
              <a:t>khí</a:t>
            </a:r>
            <a:r>
              <a:rPr lang="en-US" dirty="0"/>
              <a:t> </a:t>
            </a:r>
            <a:r>
              <a:rPr lang="en-US" dirty="0" err="1"/>
              <a:t>không</a:t>
            </a:r>
            <a:r>
              <a:rPr lang="en-US" dirty="0"/>
              <a:t> </a:t>
            </a:r>
            <a:r>
              <a:rPr lang="en-US" dirty="0" err="1"/>
              <a:t>có</a:t>
            </a:r>
            <a:r>
              <a:rPr lang="en-US" dirty="0"/>
              <a:t> </a:t>
            </a:r>
            <a:r>
              <a:rPr lang="en-US" dirty="0" err="1"/>
              <a:t>thể</a:t>
            </a:r>
            <a:r>
              <a:rPr lang="en-US" dirty="0"/>
              <a:t> </a:t>
            </a:r>
            <a:r>
              <a:rPr lang="en-US" dirty="0" err="1"/>
              <a:t>tích</a:t>
            </a:r>
            <a:r>
              <a:rPr lang="en-US" dirty="0"/>
              <a:t> </a:t>
            </a:r>
            <a:r>
              <a:rPr lang="en-US" dirty="0" err="1"/>
              <a:t>và</a:t>
            </a:r>
            <a:r>
              <a:rPr lang="en-US" dirty="0"/>
              <a:t> </a:t>
            </a:r>
            <a:r>
              <a:rPr lang="en-US" dirty="0" err="1"/>
              <a:t>hình</a:t>
            </a:r>
            <a:r>
              <a:rPr lang="en-US" dirty="0"/>
              <a:t> </a:t>
            </a:r>
            <a:r>
              <a:rPr lang="en-US" dirty="0" err="1"/>
              <a:t>dạng</a:t>
            </a:r>
            <a:r>
              <a:rPr lang="en-US" dirty="0"/>
              <a:t> </a:t>
            </a:r>
            <a:r>
              <a:rPr lang="en-US" dirty="0" err="1"/>
              <a:t>riêng</a:t>
            </a:r>
            <a:endParaRPr lang="en-US" dirty="0"/>
          </a:p>
          <a:p>
            <a:pPr marL="0" indent="0">
              <a:buNone/>
            </a:pPr>
            <a:r>
              <a:rPr lang="en-US" dirty="0"/>
              <a:t>C.</a:t>
            </a:r>
            <a:r>
              <a:rPr lang="en-US" b="1" dirty="0"/>
              <a:t> </a:t>
            </a:r>
            <a:r>
              <a:rPr lang="en-US" dirty="0" err="1"/>
              <a:t>Lực</a:t>
            </a:r>
            <a:r>
              <a:rPr lang="en-US" dirty="0"/>
              <a:t> </a:t>
            </a:r>
            <a:r>
              <a:rPr lang="en-US" dirty="0" err="1"/>
              <a:t>tương</a:t>
            </a:r>
            <a:r>
              <a:rPr lang="en-US" dirty="0"/>
              <a:t> </a:t>
            </a:r>
            <a:r>
              <a:rPr lang="en-US" dirty="0" err="1"/>
              <a:t>tác</a:t>
            </a:r>
            <a:r>
              <a:rPr lang="en-US" dirty="0"/>
              <a:t> </a:t>
            </a:r>
            <a:r>
              <a:rPr lang="en-US" dirty="0" err="1"/>
              <a:t>giữa</a:t>
            </a:r>
            <a:r>
              <a:rPr lang="en-US" dirty="0"/>
              <a:t> </a:t>
            </a:r>
            <a:r>
              <a:rPr lang="en-US" dirty="0" err="1"/>
              <a:t>các</a:t>
            </a:r>
            <a:r>
              <a:rPr lang="en-US" dirty="0"/>
              <a:t> </a:t>
            </a:r>
            <a:r>
              <a:rPr lang="en-US" dirty="0" err="1"/>
              <a:t>phân</a:t>
            </a:r>
            <a:r>
              <a:rPr lang="en-US" dirty="0"/>
              <a:t> </a:t>
            </a:r>
            <a:r>
              <a:rPr lang="en-US" dirty="0" err="1"/>
              <a:t>tử</a:t>
            </a:r>
            <a:r>
              <a:rPr lang="en-US" dirty="0"/>
              <a:t> </a:t>
            </a:r>
            <a:r>
              <a:rPr lang="en-US" dirty="0" err="1"/>
              <a:t>rất</a:t>
            </a:r>
            <a:r>
              <a:rPr lang="en-US" dirty="0"/>
              <a:t> </a:t>
            </a:r>
            <a:r>
              <a:rPr lang="en-US" dirty="0" err="1"/>
              <a:t>yếu</a:t>
            </a:r>
            <a:endParaRPr lang="en-US" dirty="0"/>
          </a:p>
          <a:p>
            <a:pPr marL="0" indent="0">
              <a:buNone/>
            </a:pPr>
            <a:r>
              <a:rPr lang="en-US" dirty="0"/>
              <a:t>D.</a:t>
            </a:r>
            <a:r>
              <a:rPr lang="en-US" b="1" dirty="0"/>
              <a:t> </a:t>
            </a:r>
            <a:r>
              <a:rPr lang="en-US" dirty="0" err="1"/>
              <a:t>Chất</a:t>
            </a:r>
            <a:r>
              <a:rPr lang="en-US" dirty="0"/>
              <a:t> </a:t>
            </a:r>
            <a:r>
              <a:rPr lang="en-US" dirty="0" err="1"/>
              <a:t>khí</a:t>
            </a:r>
            <a:r>
              <a:rPr lang="en-US" dirty="0"/>
              <a:t> </a:t>
            </a:r>
            <a:r>
              <a:rPr lang="en-US" dirty="0" err="1"/>
              <a:t>luôn</a:t>
            </a:r>
            <a:r>
              <a:rPr lang="en-US" dirty="0"/>
              <a:t> </a:t>
            </a:r>
            <a:r>
              <a:rPr lang="en-US" dirty="0" err="1"/>
              <a:t>chiếm</a:t>
            </a:r>
            <a:r>
              <a:rPr lang="en-US" dirty="0"/>
              <a:t> </a:t>
            </a:r>
            <a:r>
              <a:rPr lang="en-US" dirty="0" err="1"/>
              <a:t>toàn</a:t>
            </a:r>
            <a:r>
              <a:rPr lang="en-US" dirty="0"/>
              <a:t> </a:t>
            </a:r>
            <a:r>
              <a:rPr lang="en-US" dirty="0" err="1"/>
              <a:t>bộ</a:t>
            </a:r>
            <a:r>
              <a:rPr lang="en-US" dirty="0"/>
              <a:t> </a:t>
            </a:r>
            <a:r>
              <a:rPr lang="en-US" dirty="0" err="1"/>
              <a:t>thể</a:t>
            </a:r>
            <a:r>
              <a:rPr lang="en-US" dirty="0"/>
              <a:t> </a:t>
            </a:r>
            <a:r>
              <a:rPr lang="en-US" dirty="0" err="1"/>
              <a:t>tích</a:t>
            </a:r>
            <a:r>
              <a:rPr lang="en-US" dirty="0"/>
              <a:t> </a:t>
            </a:r>
            <a:r>
              <a:rPr lang="en-US" dirty="0" err="1"/>
              <a:t>bình</a:t>
            </a:r>
            <a:r>
              <a:rPr lang="en-US" dirty="0"/>
              <a:t> </a:t>
            </a:r>
            <a:r>
              <a:rPr lang="en-US" dirty="0" err="1"/>
              <a:t>chứa</a:t>
            </a:r>
            <a:r>
              <a:rPr lang="en-US" dirty="0"/>
              <a:t> </a:t>
            </a:r>
            <a:r>
              <a:rPr lang="en-US" dirty="0" err="1"/>
              <a:t>nó</a:t>
            </a:r>
            <a:r>
              <a:rPr lang="en-US" dirty="0"/>
              <a:t> </a:t>
            </a:r>
            <a:r>
              <a:rPr lang="en-US" dirty="0" err="1"/>
              <a:t>và</a:t>
            </a:r>
            <a:r>
              <a:rPr lang="en-US" dirty="0"/>
              <a:t> </a:t>
            </a:r>
            <a:r>
              <a:rPr lang="en-US" dirty="0" err="1"/>
              <a:t>nén</a:t>
            </a:r>
            <a:r>
              <a:rPr lang="en-US" dirty="0"/>
              <a:t> </a:t>
            </a:r>
            <a:r>
              <a:rPr lang="en-US" dirty="0" err="1"/>
              <a:t>được</a:t>
            </a:r>
            <a:r>
              <a:rPr lang="en-US" dirty="0"/>
              <a:t> </a:t>
            </a:r>
            <a:r>
              <a:rPr lang="en-US" dirty="0" err="1"/>
              <a:t>dễ</a:t>
            </a:r>
            <a:r>
              <a:rPr lang="en-US" dirty="0"/>
              <a:t> </a:t>
            </a:r>
            <a:r>
              <a:rPr lang="en-US" dirty="0" err="1"/>
              <a:t>dàng</a:t>
            </a:r>
            <a:endParaRPr lang="en-US" dirty="0"/>
          </a:p>
          <a:p>
            <a:endParaRPr lang="en-US" dirty="0"/>
          </a:p>
        </p:txBody>
      </p:sp>
      <p:sp>
        <p:nvSpPr>
          <p:cNvPr id="4" name="Content Placeholder 3"/>
          <p:cNvSpPr>
            <a:spLocks noGrp="1"/>
          </p:cNvSpPr>
          <p:nvPr>
            <p:ph sz="half" idx="2"/>
          </p:nvPr>
        </p:nvSpPr>
        <p:spPr>
          <a:xfrm>
            <a:off x="4648200" y="762000"/>
            <a:ext cx="4038600" cy="5364163"/>
          </a:xfrm>
        </p:spPr>
        <p:txBody>
          <a:bodyPr>
            <a:normAutofit/>
          </a:bodyPr>
          <a:lstStyle/>
          <a:p>
            <a:pPr marL="0" indent="0">
              <a:buNone/>
            </a:pPr>
            <a:r>
              <a:rPr lang="en-US" dirty="0" err="1"/>
              <a:t>Trong</a:t>
            </a:r>
            <a:r>
              <a:rPr lang="en-US" dirty="0"/>
              <a:t> </a:t>
            </a:r>
            <a:r>
              <a:rPr lang="en-US" dirty="0" err="1"/>
              <a:t>hệ</a:t>
            </a:r>
            <a:r>
              <a:rPr lang="en-US" dirty="0"/>
              <a:t> </a:t>
            </a:r>
            <a:r>
              <a:rPr lang="en-US" dirty="0" err="1"/>
              <a:t>tọa</a:t>
            </a:r>
            <a:r>
              <a:rPr lang="en-US" dirty="0"/>
              <a:t> </a:t>
            </a:r>
            <a:r>
              <a:rPr lang="en-US" dirty="0" err="1"/>
              <a:t>độ</a:t>
            </a:r>
            <a:r>
              <a:rPr lang="en-US" dirty="0"/>
              <a:t> (</a:t>
            </a:r>
            <a:r>
              <a:rPr lang="en-US" dirty="0" err="1"/>
              <a:t>p,V</a:t>
            </a:r>
            <a:r>
              <a:rPr lang="en-US" dirty="0"/>
              <a:t>), </a:t>
            </a:r>
            <a:r>
              <a:rPr lang="en-US" dirty="0" err="1"/>
              <a:t>đường</a:t>
            </a:r>
            <a:r>
              <a:rPr lang="en-US" dirty="0"/>
              <a:t> </a:t>
            </a:r>
            <a:r>
              <a:rPr lang="en-US" dirty="0" err="1"/>
              <a:t>biểu</a:t>
            </a:r>
            <a:r>
              <a:rPr lang="en-US" dirty="0"/>
              <a:t> </a:t>
            </a:r>
            <a:r>
              <a:rPr lang="en-US" dirty="0" err="1"/>
              <a:t>diễn</a:t>
            </a:r>
            <a:r>
              <a:rPr lang="en-US" dirty="0"/>
              <a:t> </a:t>
            </a:r>
            <a:r>
              <a:rPr lang="en-US" dirty="0" err="1"/>
              <a:t>nào</a:t>
            </a:r>
            <a:r>
              <a:rPr lang="en-US" dirty="0"/>
              <a:t> </a:t>
            </a:r>
            <a:r>
              <a:rPr lang="en-US" dirty="0" err="1"/>
              <a:t>sau</a:t>
            </a:r>
            <a:r>
              <a:rPr lang="en-US" dirty="0"/>
              <a:t> </a:t>
            </a:r>
            <a:r>
              <a:rPr lang="en-US" dirty="0" err="1"/>
              <a:t>đây</a:t>
            </a:r>
            <a:r>
              <a:rPr lang="en-US" dirty="0"/>
              <a:t> </a:t>
            </a:r>
            <a:r>
              <a:rPr lang="en-US" dirty="0" err="1"/>
              <a:t>là</a:t>
            </a:r>
            <a:r>
              <a:rPr lang="en-US" dirty="0"/>
              <a:t> </a:t>
            </a:r>
            <a:r>
              <a:rPr lang="en-US" dirty="0" err="1"/>
              <a:t>đường</a:t>
            </a:r>
            <a:r>
              <a:rPr lang="en-US" dirty="0"/>
              <a:t> </a:t>
            </a:r>
            <a:r>
              <a:rPr lang="en-US" dirty="0" err="1"/>
              <a:t>đẳng</a:t>
            </a:r>
            <a:r>
              <a:rPr lang="en-US" dirty="0"/>
              <a:t> </a:t>
            </a:r>
            <a:r>
              <a:rPr lang="en-US" dirty="0" err="1"/>
              <a:t>tích</a:t>
            </a:r>
            <a:r>
              <a:rPr lang="en-US" dirty="0"/>
              <a:t>:</a:t>
            </a:r>
          </a:p>
          <a:p>
            <a:pPr marL="0" indent="0">
              <a:buNone/>
            </a:pPr>
            <a:r>
              <a:rPr lang="en-US" dirty="0"/>
              <a:t>A. </a:t>
            </a:r>
            <a:r>
              <a:rPr lang="en-US" dirty="0" err="1"/>
              <a:t>Đường</a:t>
            </a:r>
            <a:r>
              <a:rPr lang="en-US" dirty="0"/>
              <a:t> </a:t>
            </a:r>
            <a:r>
              <a:rPr lang="en-US" dirty="0" err="1"/>
              <a:t>hyperbol</a:t>
            </a:r>
            <a:endParaRPr lang="en-US" dirty="0"/>
          </a:p>
          <a:p>
            <a:pPr marL="0" indent="0">
              <a:buNone/>
            </a:pPr>
            <a:r>
              <a:rPr lang="en-US" dirty="0"/>
              <a:t>B. </a:t>
            </a:r>
            <a:r>
              <a:rPr lang="en-US" dirty="0" err="1"/>
              <a:t>Đường</a:t>
            </a:r>
            <a:r>
              <a:rPr lang="en-US" dirty="0"/>
              <a:t> </a:t>
            </a:r>
            <a:r>
              <a:rPr lang="en-US" dirty="0" err="1"/>
              <a:t>thẳng</a:t>
            </a:r>
            <a:r>
              <a:rPr lang="en-US" dirty="0"/>
              <a:t> qua </a:t>
            </a:r>
            <a:r>
              <a:rPr lang="en-US" dirty="0" err="1"/>
              <a:t>gốc</a:t>
            </a:r>
            <a:r>
              <a:rPr lang="en-US" dirty="0"/>
              <a:t> </a:t>
            </a:r>
            <a:r>
              <a:rPr lang="en-US" dirty="0" err="1"/>
              <a:t>tọa</a:t>
            </a:r>
            <a:r>
              <a:rPr lang="en-US" dirty="0"/>
              <a:t> </a:t>
            </a:r>
            <a:r>
              <a:rPr lang="en-US" dirty="0" err="1"/>
              <a:t>độ</a:t>
            </a:r>
            <a:r>
              <a:rPr lang="en-US" dirty="0"/>
              <a:t> 0</a:t>
            </a:r>
          </a:p>
          <a:p>
            <a:pPr marL="0" indent="0">
              <a:buNone/>
            </a:pPr>
            <a:r>
              <a:rPr lang="en-US" dirty="0"/>
              <a:t>C. </a:t>
            </a:r>
            <a:r>
              <a:rPr lang="en-US" dirty="0" err="1"/>
              <a:t>Đường</a:t>
            </a:r>
            <a:r>
              <a:rPr lang="en-US" dirty="0"/>
              <a:t> </a:t>
            </a:r>
            <a:r>
              <a:rPr lang="en-US" dirty="0" err="1"/>
              <a:t>thẳng</a:t>
            </a:r>
            <a:r>
              <a:rPr lang="en-US" dirty="0"/>
              <a:t> </a:t>
            </a:r>
            <a:r>
              <a:rPr lang="en-US" dirty="0" err="1"/>
              <a:t>cắt</a:t>
            </a:r>
            <a:r>
              <a:rPr lang="en-US" dirty="0"/>
              <a:t> </a:t>
            </a:r>
            <a:r>
              <a:rPr lang="en-US" dirty="0" err="1"/>
              <a:t>trục</a:t>
            </a:r>
            <a:r>
              <a:rPr lang="en-US" dirty="0"/>
              <a:t> p </a:t>
            </a:r>
            <a:r>
              <a:rPr lang="en-US" dirty="0" err="1"/>
              <a:t>tại</a:t>
            </a:r>
            <a:r>
              <a:rPr lang="en-US" dirty="0"/>
              <a:t> </a:t>
            </a:r>
            <a:r>
              <a:rPr lang="en-US" dirty="0" err="1"/>
              <a:t>điểm</a:t>
            </a:r>
            <a:r>
              <a:rPr lang="en-US" dirty="0"/>
              <a:t> p</a:t>
            </a:r>
            <a:r>
              <a:rPr lang="en-US" baseline="-25000" dirty="0"/>
              <a:t>0</a:t>
            </a:r>
            <a:r>
              <a:rPr lang="en-US" dirty="0"/>
              <a:t>.</a:t>
            </a:r>
          </a:p>
          <a:p>
            <a:pPr marL="0" indent="0">
              <a:buNone/>
            </a:pPr>
            <a:r>
              <a:rPr lang="en-US" dirty="0"/>
              <a:t>D. </a:t>
            </a:r>
            <a:r>
              <a:rPr lang="en-US" dirty="0" err="1"/>
              <a:t>Đường</a:t>
            </a:r>
            <a:r>
              <a:rPr lang="en-US" dirty="0"/>
              <a:t> </a:t>
            </a:r>
            <a:r>
              <a:rPr lang="en-US" dirty="0" err="1"/>
              <a:t>thẳng</a:t>
            </a:r>
            <a:r>
              <a:rPr lang="en-US" dirty="0"/>
              <a:t> song </a:t>
            </a:r>
            <a:r>
              <a:rPr lang="en-US" dirty="0" err="1"/>
              <a:t>song</a:t>
            </a:r>
            <a:r>
              <a:rPr lang="en-US" dirty="0"/>
              <a:t> </a:t>
            </a:r>
            <a:r>
              <a:rPr lang="en-US" dirty="0" err="1"/>
              <a:t>trục</a:t>
            </a:r>
            <a:r>
              <a:rPr lang="en-US" dirty="0"/>
              <a:t> p, </a:t>
            </a:r>
            <a:r>
              <a:rPr lang="en-US" dirty="0" err="1"/>
              <a:t>cắt</a:t>
            </a:r>
            <a:r>
              <a:rPr lang="en-US" dirty="0"/>
              <a:t> </a:t>
            </a:r>
            <a:r>
              <a:rPr lang="en-US" dirty="0" err="1"/>
              <a:t>trục</a:t>
            </a:r>
            <a:r>
              <a:rPr lang="en-US" dirty="0"/>
              <a:t> V </a:t>
            </a:r>
            <a:r>
              <a:rPr lang="en-US" dirty="0" err="1"/>
              <a:t>tại</a:t>
            </a:r>
            <a:r>
              <a:rPr lang="en-US" dirty="0"/>
              <a:t> </a:t>
            </a:r>
            <a:r>
              <a:rPr lang="en-US" dirty="0" err="1"/>
              <a:t>điểm</a:t>
            </a:r>
            <a:r>
              <a:rPr lang="en-US" dirty="0"/>
              <a:t> V = V</a:t>
            </a:r>
            <a:r>
              <a:rPr lang="en-US" baseline="-25000" dirty="0"/>
              <a:t>0</a:t>
            </a:r>
            <a:endParaRPr lang="en-US" dirty="0"/>
          </a:p>
          <a:p>
            <a:endParaRPr lang="en-US" dirty="0"/>
          </a:p>
        </p:txBody>
      </p:sp>
      <p:sp>
        <p:nvSpPr>
          <p:cNvPr id="2" name="Footer Placeholder 1">
            <a:extLst>
              <a:ext uri="{FF2B5EF4-FFF2-40B4-BE49-F238E27FC236}">
                <a16:creationId xmlns:a16="http://schemas.microsoft.com/office/drawing/2014/main" id="{C5E57868-57B7-D394-352D-F529C5129BB0}"/>
              </a:ext>
            </a:extLst>
          </p:cNvPr>
          <p:cNvSpPr>
            <a:spLocks noGrp="1"/>
          </p:cNvSpPr>
          <p:nvPr>
            <p:ph type="ftr" sz="quarter" idx="11"/>
          </p:nvPr>
        </p:nvSpPr>
        <p:spPr/>
        <p:txBody>
          <a:bodyPr/>
          <a:lstStyle/>
          <a:p>
            <a:r>
              <a:rPr lang="en-US"/>
              <a:t>Bùi Quốc Trung - VLDC</a:t>
            </a:r>
          </a:p>
        </p:txBody>
      </p:sp>
      <p:sp>
        <p:nvSpPr>
          <p:cNvPr id="5" name="Slide Number Placeholder 4">
            <a:extLst>
              <a:ext uri="{FF2B5EF4-FFF2-40B4-BE49-F238E27FC236}">
                <a16:creationId xmlns:a16="http://schemas.microsoft.com/office/drawing/2014/main" id="{F947E573-F234-5A41-47C5-AB85E8E417F8}"/>
              </a:ext>
            </a:extLst>
          </p:cNvPr>
          <p:cNvSpPr>
            <a:spLocks noGrp="1"/>
          </p:cNvSpPr>
          <p:nvPr>
            <p:ph type="sldNum" sz="quarter" idx="12"/>
          </p:nvPr>
        </p:nvSpPr>
        <p:spPr/>
        <p:txBody>
          <a:bodyPr/>
          <a:lstStyle/>
          <a:p>
            <a:fld id="{0C173468-4CCE-478A-9725-791AF0DB04F2}" type="slidenum">
              <a:rPr lang="en-US" smtClean="0"/>
              <a:t>14</a:t>
            </a:fld>
            <a:endParaRPr lang="en-US"/>
          </a:p>
        </p:txBody>
      </p:sp>
    </p:spTree>
    <p:extLst>
      <p:ext uri="{BB962C8B-B14F-4D97-AF65-F5344CB8AC3E}">
        <p14:creationId xmlns:p14="http://schemas.microsoft.com/office/powerpoint/2010/main" val="4147722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nodeType="clickEffect">
                                  <p:stCondLst>
                                    <p:cond delay="0"/>
                                  </p:stCondLst>
                                  <p:iterate type="lt">
                                    <p:tmPct val="4000"/>
                                  </p:iterate>
                                  <p:childTnLst>
                                    <p:set>
                                      <p:cBhvr override="childStyle">
                                        <p:cTn id="10" dur="500" fill="hold"/>
                                        <p:tgtEl>
                                          <p:spTgt spid="4">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609600"/>
            <a:ext cx="4038600" cy="5516563"/>
          </a:xfrm>
        </p:spPr>
        <p:txBody>
          <a:bodyPr>
            <a:normAutofit/>
          </a:bodyPr>
          <a:lstStyle/>
          <a:p>
            <a:pPr marL="0" indent="0">
              <a:buFont typeface="Arial" charset="0"/>
              <a:buNone/>
              <a:defRPr/>
            </a:pPr>
            <a:r>
              <a:rPr lang="en-US" dirty="0"/>
              <a:t>1. </a:t>
            </a:r>
            <a:r>
              <a:rPr lang="en-US" dirty="0" err="1"/>
              <a:t>Một</a:t>
            </a:r>
            <a:r>
              <a:rPr lang="en-US" dirty="0"/>
              <a:t> </a:t>
            </a:r>
            <a:r>
              <a:rPr lang="en-US" dirty="0" err="1"/>
              <a:t>bình</a:t>
            </a:r>
            <a:r>
              <a:rPr lang="en-US" dirty="0"/>
              <a:t> </a:t>
            </a:r>
            <a:r>
              <a:rPr lang="en-US" dirty="0" err="1"/>
              <a:t>kín</a:t>
            </a:r>
            <a:r>
              <a:rPr lang="en-US" dirty="0"/>
              <a:t> </a:t>
            </a:r>
            <a:r>
              <a:rPr lang="en-US" dirty="0" err="1"/>
              <a:t>chứa</a:t>
            </a:r>
            <a:r>
              <a:rPr lang="en-US" dirty="0"/>
              <a:t> </a:t>
            </a:r>
            <a:r>
              <a:rPr lang="en-US" dirty="0" err="1"/>
              <a:t>khí</a:t>
            </a:r>
            <a:r>
              <a:rPr lang="en-US" dirty="0"/>
              <a:t> </a:t>
            </a:r>
            <a:r>
              <a:rPr lang="en-US" dirty="0" err="1"/>
              <a:t>ôxy</a:t>
            </a:r>
            <a:r>
              <a:rPr lang="en-US" dirty="0"/>
              <a:t> ở </a:t>
            </a:r>
            <a:r>
              <a:rPr lang="en-US" dirty="0" err="1"/>
              <a:t>nhiệt</a:t>
            </a:r>
            <a:r>
              <a:rPr lang="en-US" dirty="0"/>
              <a:t> </a:t>
            </a:r>
            <a:r>
              <a:rPr lang="en-US" dirty="0" err="1"/>
              <a:t>độ</a:t>
            </a:r>
            <a:r>
              <a:rPr lang="en-US" dirty="0"/>
              <a:t> 20</a:t>
            </a:r>
            <a:r>
              <a:rPr lang="en-US" baseline="30000" dirty="0"/>
              <a:t>0</a:t>
            </a:r>
            <a:r>
              <a:rPr lang="en-US" dirty="0"/>
              <a:t>C </a:t>
            </a:r>
            <a:r>
              <a:rPr lang="en-US" dirty="0" err="1"/>
              <a:t>và</a:t>
            </a:r>
            <a:r>
              <a:rPr lang="en-US" dirty="0"/>
              <a:t> </a:t>
            </a:r>
            <a:r>
              <a:rPr lang="en-US" dirty="0" err="1"/>
              <a:t>áp</a:t>
            </a:r>
            <a:r>
              <a:rPr lang="en-US" dirty="0"/>
              <a:t> </a:t>
            </a:r>
            <a:r>
              <a:rPr lang="en-US" dirty="0" err="1"/>
              <a:t>suất</a:t>
            </a:r>
            <a:r>
              <a:rPr lang="en-US" dirty="0"/>
              <a:t> 10</a:t>
            </a:r>
            <a:r>
              <a:rPr lang="en-US" baseline="30000" dirty="0"/>
              <a:t>5</a:t>
            </a:r>
            <a:r>
              <a:rPr lang="en-US" dirty="0"/>
              <a:t>Pa. </a:t>
            </a:r>
            <a:r>
              <a:rPr lang="en-US" dirty="0" err="1"/>
              <a:t>Nếu</a:t>
            </a:r>
            <a:r>
              <a:rPr lang="en-US" dirty="0"/>
              <a:t> </a:t>
            </a:r>
            <a:r>
              <a:rPr lang="en-US" dirty="0" err="1"/>
              <a:t>đem</a:t>
            </a:r>
            <a:r>
              <a:rPr lang="en-US" dirty="0"/>
              <a:t> </a:t>
            </a:r>
            <a:r>
              <a:rPr lang="en-US" dirty="0" err="1"/>
              <a:t>bình</a:t>
            </a:r>
            <a:r>
              <a:rPr lang="en-US" dirty="0"/>
              <a:t> </a:t>
            </a:r>
            <a:r>
              <a:rPr lang="en-US" dirty="0" err="1"/>
              <a:t>phơi</a:t>
            </a:r>
            <a:r>
              <a:rPr lang="en-US" dirty="0"/>
              <a:t> </a:t>
            </a:r>
            <a:r>
              <a:rPr lang="en-US" dirty="0" err="1"/>
              <a:t>nắng</a:t>
            </a:r>
            <a:r>
              <a:rPr lang="en-US" dirty="0"/>
              <a:t> ở </a:t>
            </a:r>
            <a:r>
              <a:rPr lang="en-US" dirty="0" err="1"/>
              <a:t>nhiệt</a:t>
            </a:r>
            <a:r>
              <a:rPr lang="en-US" dirty="0"/>
              <a:t> </a:t>
            </a:r>
            <a:r>
              <a:rPr lang="en-US" dirty="0" err="1"/>
              <a:t>độ</a:t>
            </a:r>
            <a:r>
              <a:rPr lang="en-US" dirty="0"/>
              <a:t> 40</a:t>
            </a:r>
            <a:r>
              <a:rPr lang="en-US" baseline="30000" dirty="0"/>
              <a:t>0</a:t>
            </a:r>
            <a:r>
              <a:rPr lang="en-US" dirty="0"/>
              <a:t>C </a:t>
            </a:r>
            <a:r>
              <a:rPr lang="en-US" dirty="0" err="1"/>
              <a:t>thì</a:t>
            </a:r>
            <a:r>
              <a:rPr lang="en-US" dirty="0"/>
              <a:t> </a:t>
            </a:r>
            <a:r>
              <a:rPr lang="en-US" dirty="0" err="1"/>
              <a:t>áp</a:t>
            </a:r>
            <a:r>
              <a:rPr lang="en-US" dirty="0"/>
              <a:t> </a:t>
            </a:r>
            <a:r>
              <a:rPr lang="en-US" dirty="0" err="1"/>
              <a:t>suất</a:t>
            </a:r>
            <a:r>
              <a:rPr lang="en-US" dirty="0"/>
              <a:t> </a:t>
            </a:r>
            <a:r>
              <a:rPr lang="en-US" dirty="0" err="1"/>
              <a:t>trong</a:t>
            </a:r>
            <a:r>
              <a:rPr lang="en-US" dirty="0"/>
              <a:t> </a:t>
            </a:r>
            <a:r>
              <a:rPr lang="en-US" dirty="0" err="1"/>
              <a:t>bình</a:t>
            </a:r>
            <a:r>
              <a:rPr lang="en-US" dirty="0"/>
              <a:t> </a:t>
            </a:r>
            <a:r>
              <a:rPr lang="en-US" dirty="0" err="1"/>
              <a:t>sẽ</a:t>
            </a:r>
            <a:r>
              <a:rPr lang="en-US" dirty="0"/>
              <a:t> </a:t>
            </a:r>
            <a:r>
              <a:rPr lang="en-US" dirty="0" err="1"/>
              <a:t>là</a:t>
            </a:r>
            <a:r>
              <a:rPr lang="en-US" dirty="0"/>
              <a:t> </a:t>
            </a:r>
            <a:r>
              <a:rPr lang="en-US" dirty="0" err="1"/>
              <a:t>bao</a:t>
            </a:r>
            <a:r>
              <a:rPr lang="en-US" dirty="0"/>
              <a:t> </a:t>
            </a:r>
            <a:r>
              <a:rPr lang="en-US" dirty="0" err="1"/>
              <a:t>nhiêu</a:t>
            </a:r>
            <a:r>
              <a:rPr lang="en-US" dirty="0"/>
              <a:t>?</a:t>
            </a:r>
          </a:p>
          <a:p>
            <a:pPr marL="0" indent="0">
              <a:buFont typeface="Arial" charset="0"/>
              <a:buNone/>
              <a:defRPr/>
            </a:pPr>
            <a:r>
              <a:rPr lang="en-US" dirty="0"/>
              <a:t>A.	2.10</a:t>
            </a:r>
            <a:r>
              <a:rPr lang="en-US" baseline="30000" dirty="0"/>
              <a:t>5</a:t>
            </a:r>
            <a:r>
              <a:rPr lang="en-US" dirty="0"/>
              <a:t> Pa</a:t>
            </a:r>
          </a:p>
          <a:p>
            <a:pPr marL="0" indent="0">
              <a:buFont typeface="Arial" charset="0"/>
              <a:buNone/>
              <a:defRPr/>
            </a:pPr>
            <a:r>
              <a:rPr lang="en-US" dirty="0"/>
              <a:t>B.	1,6.10</a:t>
            </a:r>
            <a:r>
              <a:rPr lang="en-US" baseline="30000" dirty="0"/>
              <a:t>5</a:t>
            </a:r>
            <a:r>
              <a:rPr lang="en-US" dirty="0"/>
              <a:t> Pa</a:t>
            </a:r>
          </a:p>
          <a:p>
            <a:pPr marL="0" indent="0">
              <a:buFont typeface="Arial" charset="0"/>
              <a:buNone/>
              <a:defRPr/>
            </a:pPr>
            <a:r>
              <a:rPr lang="en-US" dirty="0"/>
              <a:t>C.	1,027.10</a:t>
            </a:r>
            <a:r>
              <a:rPr lang="en-US" baseline="30000" dirty="0"/>
              <a:t>5</a:t>
            </a:r>
            <a:r>
              <a:rPr lang="en-US" dirty="0"/>
              <a:t> Pa</a:t>
            </a:r>
          </a:p>
          <a:p>
            <a:pPr marL="0" indent="0">
              <a:buFont typeface="Arial" charset="0"/>
              <a:buNone/>
              <a:defRPr/>
            </a:pPr>
            <a:r>
              <a:rPr lang="en-US" dirty="0"/>
              <a:t>D.	1,068.10</a:t>
            </a:r>
            <a:r>
              <a:rPr lang="en-US" baseline="30000" dirty="0"/>
              <a:t>5</a:t>
            </a:r>
            <a:r>
              <a:rPr lang="en-US" dirty="0"/>
              <a:t> Pa</a:t>
            </a:r>
          </a:p>
          <a:p>
            <a:endParaRPr lang="en-US" dirty="0"/>
          </a:p>
        </p:txBody>
      </p:sp>
      <p:sp>
        <p:nvSpPr>
          <p:cNvPr id="4" name="Content Placeholder 3"/>
          <p:cNvSpPr>
            <a:spLocks noGrp="1"/>
          </p:cNvSpPr>
          <p:nvPr>
            <p:ph sz="half" idx="2"/>
          </p:nvPr>
        </p:nvSpPr>
        <p:spPr>
          <a:xfrm>
            <a:off x="4648200" y="609600"/>
            <a:ext cx="4038600" cy="5516563"/>
          </a:xfrm>
        </p:spPr>
        <p:txBody>
          <a:bodyPr>
            <a:normAutofit/>
          </a:bodyPr>
          <a:lstStyle/>
          <a:p>
            <a:pPr marL="0" indent="0">
              <a:buFont typeface="Arial" charset="0"/>
              <a:buNone/>
              <a:defRPr/>
            </a:pPr>
            <a:r>
              <a:rPr lang="en-US" dirty="0"/>
              <a:t>2. </a:t>
            </a:r>
            <a:r>
              <a:rPr lang="en-US" dirty="0" err="1"/>
              <a:t>Một</a:t>
            </a:r>
            <a:r>
              <a:rPr lang="en-US" dirty="0"/>
              <a:t> </a:t>
            </a:r>
            <a:r>
              <a:rPr lang="en-US" dirty="0" err="1"/>
              <a:t>lượng</a:t>
            </a:r>
            <a:r>
              <a:rPr lang="en-US" dirty="0"/>
              <a:t> </a:t>
            </a:r>
            <a:r>
              <a:rPr lang="en-US" dirty="0" err="1"/>
              <a:t>khí</a:t>
            </a:r>
            <a:r>
              <a:rPr lang="en-US" dirty="0"/>
              <a:t> ở </a:t>
            </a:r>
            <a:r>
              <a:rPr lang="en-US" dirty="0" err="1"/>
              <a:t>nhiệt</a:t>
            </a:r>
            <a:r>
              <a:rPr lang="en-US" dirty="0"/>
              <a:t> </a:t>
            </a:r>
            <a:r>
              <a:rPr lang="en-US" dirty="0" err="1"/>
              <a:t>độ</a:t>
            </a:r>
            <a:r>
              <a:rPr lang="en-US" dirty="0"/>
              <a:t> 18</a:t>
            </a:r>
            <a:r>
              <a:rPr lang="en-US" baseline="30000" dirty="0"/>
              <a:t>0</a:t>
            </a:r>
            <a:r>
              <a:rPr lang="en-US" dirty="0"/>
              <a:t>C </a:t>
            </a:r>
            <a:r>
              <a:rPr lang="en-US" dirty="0" err="1"/>
              <a:t>có</a:t>
            </a:r>
            <a:r>
              <a:rPr lang="en-US" dirty="0"/>
              <a:t> </a:t>
            </a:r>
            <a:r>
              <a:rPr lang="en-US" dirty="0" err="1"/>
              <a:t>thể</a:t>
            </a:r>
            <a:r>
              <a:rPr lang="en-US" dirty="0"/>
              <a:t> </a:t>
            </a:r>
            <a:r>
              <a:rPr lang="en-US" dirty="0" err="1"/>
              <a:t>tích</a:t>
            </a:r>
            <a:r>
              <a:rPr lang="en-US" dirty="0"/>
              <a:t> 1 m</a:t>
            </a:r>
            <a:r>
              <a:rPr lang="en-US" baseline="30000" dirty="0"/>
              <a:t>3</a:t>
            </a:r>
            <a:r>
              <a:rPr lang="en-US" dirty="0"/>
              <a:t> </a:t>
            </a:r>
            <a:r>
              <a:rPr lang="en-US" dirty="0" err="1"/>
              <a:t>và</a:t>
            </a:r>
            <a:r>
              <a:rPr lang="en-US" dirty="0"/>
              <a:t> </a:t>
            </a:r>
            <a:r>
              <a:rPr lang="en-US" dirty="0" err="1"/>
              <a:t>áp</a:t>
            </a:r>
            <a:r>
              <a:rPr lang="en-US" dirty="0"/>
              <a:t> </a:t>
            </a:r>
            <a:r>
              <a:rPr lang="en-US" dirty="0" err="1"/>
              <a:t>suất</a:t>
            </a:r>
            <a:r>
              <a:rPr lang="en-US" dirty="0"/>
              <a:t> 1 at. </a:t>
            </a:r>
            <a:r>
              <a:rPr lang="en-US" dirty="0" err="1"/>
              <a:t>Người</a:t>
            </a:r>
            <a:r>
              <a:rPr lang="en-US" dirty="0"/>
              <a:t> ta </a:t>
            </a:r>
            <a:r>
              <a:rPr lang="en-US" dirty="0" err="1"/>
              <a:t>biến</a:t>
            </a:r>
            <a:r>
              <a:rPr lang="en-US" dirty="0"/>
              <a:t> </a:t>
            </a:r>
            <a:r>
              <a:rPr lang="en-US" dirty="0" err="1"/>
              <a:t>đổi</a:t>
            </a:r>
            <a:r>
              <a:rPr lang="en-US" dirty="0"/>
              <a:t> </a:t>
            </a:r>
            <a:r>
              <a:rPr lang="en-US" dirty="0" err="1"/>
              <a:t>đẳng</a:t>
            </a:r>
            <a:r>
              <a:rPr lang="en-US" dirty="0"/>
              <a:t> </a:t>
            </a:r>
            <a:r>
              <a:rPr lang="en-US" dirty="0" err="1"/>
              <a:t>nhiệt</a:t>
            </a:r>
            <a:r>
              <a:rPr lang="en-US" dirty="0"/>
              <a:t> </a:t>
            </a:r>
            <a:r>
              <a:rPr lang="en-US" dirty="0" err="1"/>
              <a:t>khí</a:t>
            </a:r>
            <a:r>
              <a:rPr lang="en-US" dirty="0"/>
              <a:t> </a:t>
            </a:r>
            <a:r>
              <a:rPr lang="en-US" dirty="0" err="1"/>
              <a:t>tới</a:t>
            </a:r>
            <a:r>
              <a:rPr lang="en-US" dirty="0"/>
              <a:t> </a:t>
            </a:r>
            <a:r>
              <a:rPr lang="en-US" dirty="0" err="1"/>
              <a:t>áp</a:t>
            </a:r>
            <a:r>
              <a:rPr lang="en-US" dirty="0"/>
              <a:t> </a:t>
            </a:r>
            <a:r>
              <a:rPr lang="en-US" dirty="0" err="1"/>
              <a:t>suất</a:t>
            </a:r>
            <a:r>
              <a:rPr lang="en-US" dirty="0"/>
              <a:t> 3,5 atm. </a:t>
            </a:r>
            <a:r>
              <a:rPr lang="en-US" dirty="0" err="1"/>
              <a:t>Tính</a:t>
            </a:r>
            <a:r>
              <a:rPr lang="en-US" dirty="0"/>
              <a:t> </a:t>
            </a:r>
            <a:r>
              <a:rPr lang="en-US" dirty="0" err="1"/>
              <a:t>thể</a:t>
            </a:r>
            <a:r>
              <a:rPr lang="en-US" dirty="0"/>
              <a:t> </a:t>
            </a:r>
            <a:r>
              <a:rPr lang="en-US" dirty="0" err="1"/>
              <a:t>tích</a:t>
            </a:r>
            <a:r>
              <a:rPr lang="en-US" dirty="0"/>
              <a:t> </a:t>
            </a:r>
            <a:r>
              <a:rPr lang="en-US" dirty="0" err="1"/>
              <a:t>khí</a:t>
            </a:r>
            <a:r>
              <a:rPr lang="en-US" dirty="0"/>
              <a:t> </a:t>
            </a:r>
            <a:r>
              <a:rPr lang="en-US" dirty="0" err="1"/>
              <a:t>sau</a:t>
            </a:r>
            <a:r>
              <a:rPr lang="en-US" dirty="0"/>
              <a:t> </a:t>
            </a:r>
            <a:r>
              <a:rPr lang="en-US" dirty="0" err="1"/>
              <a:t>khi</a:t>
            </a:r>
            <a:r>
              <a:rPr lang="en-US" dirty="0"/>
              <a:t> </a:t>
            </a:r>
            <a:r>
              <a:rPr lang="en-US" dirty="0" err="1"/>
              <a:t>nén</a:t>
            </a:r>
            <a:r>
              <a:rPr lang="en-US" dirty="0"/>
              <a:t>?</a:t>
            </a:r>
          </a:p>
          <a:p>
            <a:pPr marL="0" indent="0">
              <a:buFont typeface="Arial" charset="0"/>
              <a:buNone/>
              <a:defRPr/>
            </a:pPr>
            <a:r>
              <a:rPr lang="fr-FR" dirty="0"/>
              <a:t>A.	2,8 lit</a:t>
            </a:r>
            <a:endParaRPr lang="en-US" dirty="0"/>
          </a:p>
          <a:p>
            <a:pPr marL="0" indent="0">
              <a:buFont typeface="Arial" charset="0"/>
              <a:buNone/>
              <a:defRPr/>
            </a:pPr>
            <a:r>
              <a:rPr lang="fr-FR" dirty="0"/>
              <a:t>B.	3,5 m</a:t>
            </a:r>
            <a:r>
              <a:rPr lang="fr-FR" baseline="30000" dirty="0"/>
              <a:t>3</a:t>
            </a:r>
            <a:endParaRPr lang="en-US" dirty="0"/>
          </a:p>
          <a:p>
            <a:pPr marL="0" indent="0">
              <a:buFont typeface="Arial" charset="0"/>
              <a:buNone/>
              <a:defRPr/>
            </a:pPr>
            <a:r>
              <a:rPr lang="fr-FR" dirty="0"/>
              <a:t>C.	0,286 m</a:t>
            </a:r>
            <a:r>
              <a:rPr lang="fr-FR" baseline="30000" dirty="0"/>
              <a:t>3</a:t>
            </a:r>
            <a:endParaRPr lang="en-US" dirty="0"/>
          </a:p>
          <a:p>
            <a:pPr marL="0" indent="0">
              <a:buFont typeface="Arial" charset="0"/>
              <a:buNone/>
              <a:defRPr/>
            </a:pPr>
            <a:r>
              <a:rPr lang="fr-FR" dirty="0"/>
              <a:t>D.	3,5 lit</a:t>
            </a:r>
            <a:endParaRPr lang="en-US" dirty="0"/>
          </a:p>
          <a:p>
            <a:endParaRPr lang="en-US" dirty="0"/>
          </a:p>
        </p:txBody>
      </p:sp>
      <mc:AlternateContent xmlns:mc="http://schemas.openxmlformats.org/markup-compatibility/2006" xmlns:a14="http://schemas.microsoft.com/office/drawing/2010/main">
        <mc:Choice Requires="a14">
          <p:sp>
            <p:nvSpPr>
              <p:cNvPr id="5" name="Notes Placeholder 4"/>
              <p:cNvSpPr txBox="1">
                <a:spLocks/>
              </p:cNvSpPr>
              <p:nvPr/>
            </p:nvSpPr>
            <p:spPr>
              <a:xfrm>
                <a:off x="228600" y="4953000"/>
                <a:ext cx="5181600" cy="1905000"/>
              </a:xfrm>
              <a:prstGeom prst="wedgeEllipseCallou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chor="ctr">
                <a:normAutofit fontScale="85000" lnSpcReduction="20000"/>
              </a:bodyPr>
              <a:lstStyle>
                <a:lvl1pPr marL="342900" indent="-34290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dk1"/>
                    </a:solidFill>
                    <a:latin typeface="+mn-lt"/>
                    <a:ea typeface="+mn-ea"/>
                    <a:cs typeface="+mn-cs"/>
                  </a:defRPr>
                </a:lvl9pPr>
              </a:lstStyle>
              <a:p>
                <a:pPr algn="ctr"/>
                <a:r>
                  <a:rPr lang="en-US" dirty="0"/>
                  <a:t>1 at = 9,81.</a:t>
                </a:r>
                <a14:m>
                  <m:oMath xmlns:m="http://schemas.openxmlformats.org/officeDocument/2006/math">
                    <m:sSup>
                      <m:sSupPr>
                        <m:ctrlPr>
                          <a:rPr lang="en-US" i="1" smtClean="0">
                            <a:latin typeface="Cambria Math" panose="02040503050406030204" pitchFamily="18" charset="0"/>
                          </a:rPr>
                        </m:ctrlPr>
                      </m:sSupPr>
                      <m:e>
                        <m:r>
                          <a:rPr lang="en-US" i="1" smtClean="0">
                            <a:latin typeface="Cambria Math"/>
                          </a:rPr>
                          <m:t>10</m:t>
                        </m:r>
                      </m:e>
                      <m:sup>
                        <m:r>
                          <a:rPr lang="en-US" i="1" smtClean="0">
                            <a:latin typeface="Cambria Math"/>
                          </a:rPr>
                          <m:t>4</m:t>
                        </m:r>
                      </m:sup>
                    </m:sSup>
                  </m:oMath>
                </a14:m>
                <a:r>
                  <a:rPr lang="en-US" dirty="0"/>
                  <a:t>N/m²</a:t>
                </a:r>
              </a:p>
              <a:p>
                <a:pPr algn="ctr"/>
                <a:r>
                  <a:rPr lang="en-US" dirty="0"/>
                  <a:t>1atm = </a:t>
                </a:r>
                <a14:m>
                  <m:oMath xmlns:m="http://schemas.openxmlformats.org/officeDocument/2006/math">
                    <m:sSup>
                      <m:sSupPr>
                        <m:ctrlPr>
                          <a:rPr lang="en-US" i="1">
                            <a:latin typeface="Cambria Math" panose="02040503050406030204" pitchFamily="18" charset="0"/>
                          </a:rPr>
                        </m:ctrlPr>
                      </m:sSupPr>
                      <m:e>
                        <m:r>
                          <a:rPr lang="en-US" i="1">
                            <a:latin typeface="Cambria Math"/>
                          </a:rPr>
                          <m:t>10</m:t>
                        </m:r>
                      </m:e>
                      <m:sup>
                        <m:r>
                          <a:rPr lang="en-US" i="1" smtClean="0">
                            <a:latin typeface="Cambria Math"/>
                          </a:rPr>
                          <m:t>5</m:t>
                        </m:r>
                      </m:sup>
                    </m:sSup>
                  </m:oMath>
                </a14:m>
                <a:r>
                  <a:rPr lang="en-US" dirty="0"/>
                  <a:t>N/m²</a:t>
                </a:r>
              </a:p>
              <a:p>
                <a:pPr algn="ct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rPr>
                          <m:t>𝑉</m:t>
                        </m:r>
                      </m:e>
                      <m:sub>
                        <m:r>
                          <a:rPr lang="en-US" i="1" smtClean="0">
                            <a:latin typeface="Cambria Math"/>
                          </a:rPr>
                          <m:t>2  </m:t>
                        </m:r>
                      </m:sub>
                    </m:sSub>
                  </m:oMath>
                </a14:m>
                <a:r>
                  <a:rPr lang="en-US" dirty="0"/>
                  <a:t>= </a:t>
                </a:r>
                <a14:m>
                  <m:oMath xmlns:m="http://schemas.openxmlformats.org/officeDocument/2006/math">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i="1" smtClean="0">
                                <a:latin typeface="Cambria Math"/>
                              </a:rPr>
                              <m:t>𝑃</m:t>
                            </m:r>
                          </m:e>
                          <m:sub>
                            <m:r>
                              <a:rPr lang="en-US" i="1" smtClean="0">
                                <a:latin typeface="Cambria Math"/>
                              </a:rPr>
                              <m:t>1</m:t>
                            </m:r>
                          </m:sub>
                        </m:sSub>
                        <m:r>
                          <a:rPr lang="en-US" i="1" smtClean="0">
                            <a:latin typeface="Cambria Math"/>
                          </a:rPr>
                          <m:t>.</m:t>
                        </m:r>
                        <m:sSub>
                          <m:sSubPr>
                            <m:ctrlPr>
                              <a:rPr lang="en-US" i="1" smtClean="0">
                                <a:latin typeface="Cambria Math" panose="02040503050406030204" pitchFamily="18" charset="0"/>
                              </a:rPr>
                            </m:ctrlPr>
                          </m:sSubPr>
                          <m:e>
                            <m:r>
                              <a:rPr lang="en-US" i="1" smtClean="0">
                                <a:latin typeface="Cambria Math"/>
                              </a:rPr>
                              <m:t>𝑉</m:t>
                            </m:r>
                          </m:e>
                          <m:sub>
                            <m:r>
                              <a:rPr lang="en-US" i="1" smtClean="0">
                                <a:latin typeface="Cambria Math"/>
                              </a:rPr>
                              <m:t>1</m:t>
                            </m:r>
                          </m:sub>
                        </m:sSub>
                      </m:num>
                      <m:den>
                        <m:sSub>
                          <m:sSubPr>
                            <m:ctrlPr>
                              <a:rPr lang="en-US" i="1" smtClean="0">
                                <a:latin typeface="Cambria Math" panose="02040503050406030204" pitchFamily="18" charset="0"/>
                              </a:rPr>
                            </m:ctrlPr>
                          </m:sSubPr>
                          <m:e>
                            <m:r>
                              <a:rPr lang="en-US" i="1" smtClean="0">
                                <a:latin typeface="Cambria Math"/>
                              </a:rPr>
                              <m:t>𝑃</m:t>
                            </m:r>
                          </m:e>
                          <m:sub>
                            <m:r>
                              <a:rPr lang="en-US" i="1" smtClean="0">
                                <a:latin typeface="Cambria Math"/>
                              </a:rPr>
                              <m:t>2</m:t>
                            </m:r>
                          </m:sub>
                        </m:sSub>
                      </m:den>
                    </m:f>
                  </m:oMath>
                </a14:m>
                <a:r>
                  <a:rPr lang="en-US" dirty="0"/>
                  <a:t> = 0,28 m³</a:t>
                </a:r>
              </a:p>
              <a:p>
                <a:pPr algn="ctr"/>
                <a:endParaRPr lang="en-US" dirty="0"/>
              </a:p>
            </p:txBody>
          </p:sp>
        </mc:Choice>
        <mc:Fallback xmlns="">
          <p:sp>
            <p:nvSpPr>
              <p:cNvPr id="5" name="Notes Placeholder 4"/>
              <p:cNvSpPr txBox="1">
                <a:spLocks noRot="1" noChangeAspect="1" noMove="1" noResize="1" noEditPoints="1" noAdjustHandles="1" noChangeArrowheads="1" noChangeShapeType="1" noTextEdit="1"/>
              </p:cNvSpPr>
              <p:nvPr/>
            </p:nvSpPr>
            <p:spPr>
              <a:xfrm>
                <a:off x="228600" y="4953000"/>
                <a:ext cx="5181600" cy="1905000"/>
              </a:xfrm>
              <a:prstGeom prst="wedgeEllipseCallout">
                <a:avLst/>
              </a:prstGeom>
              <a:blipFill rotWithShape="1">
                <a:blip r:embed="rId3"/>
                <a:stretch>
                  <a:fillRect/>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42A3E847-BA16-1DC3-388F-DF53B8080CC0}"/>
              </a:ext>
            </a:extLst>
          </p:cNvPr>
          <p:cNvSpPr>
            <a:spLocks noGrp="1"/>
          </p:cNvSpPr>
          <p:nvPr>
            <p:ph type="ftr" sz="quarter" idx="11"/>
          </p:nvPr>
        </p:nvSpPr>
        <p:spPr/>
        <p:txBody>
          <a:bodyPr/>
          <a:lstStyle/>
          <a:p>
            <a:r>
              <a:rPr lang="en-US"/>
              <a:t>Bùi Quốc Trung - VLDC</a:t>
            </a:r>
          </a:p>
        </p:txBody>
      </p:sp>
      <p:sp>
        <p:nvSpPr>
          <p:cNvPr id="6" name="Slide Number Placeholder 5">
            <a:extLst>
              <a:ext uri="{FF2B5EF4-FFF2-40B4-BE49-F238E27FC236}">
                <a16:creationId xmlns:a16="http://schemas.microsoft.com/office/drawing/2014/main" id="{68C7D962-0D40-AA50-DD2C-7A8C66DC0264}"/>
              </a:ext>
            </a:extLst>
          </p:cNvPr>
          <p:cNvSpPr>
            <a:spLocks noGrp="1"/>
          </p:cNvSpPr>
          <p:nvPr>
            <p:ph type="sldNum" sz="quarter" idx="12"/>
          </p:nvPr>
        </p:nvSpPr>
        <p:spPr/>
        <p:txBody>
          <a:bodyPr/>
          <a:lstStyle/>
          <a:p>
            <a:fld id="{0C173468-4CCE-478A-9725-791AF0DB04F2}" type="slidenum">
              <a:rPr lang="en-US" smtClean="0"/>
              <a:t>15</a:t>
            </a:fld>
            <a:endParaRPr lang="en-US"/>
          </a:p>
        </p:txBody>
      </p:sp>
    </p:spTree>
    <p:extLst>
      <p:ext uri="{BB962C8B-B14F-4D97-AF65-F5344CB8AC3E}">
        <p14:creationId xmlns:p14="http://schemas.microsoft.com/office/powerpoint/2010/main" val="3563723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nodeType="clickEffect">
                                  <p:stCondLst>
                                    <p:cond delay="0"/>
                                  </p:stCondLst>
                                  <p:iterate type="lt">
                                    <p:tmPct val="4000"/>
                                  </p:iterate>
                                  <p:childTnLst>
                                    <p:set>
                                      <p:cBhvr override="childStyle">
                                        <p:cTn id="10" dur="500" fill="hold"/>
                                        <p:tgtEl>
                                          <p:spTgt spid="4">
                                            <p:txEl>
                                              <p:pRg st="3" end="3"/>
                                            </p:txEl>
                                          </p:spTgt>
                                        </p:tgtEl>
                                        <p:attrNameLst>
                                          <p:attrName>style.textDecorationUnderline</p:attrName>
                                        </p:attrNameLst>
                                      </p:cBhvr>
                                      <p:to>
                                        <p:strVal val="tru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1000"/>
                                        <p:tgtEl>
                                          <p:spTgt spid="5"/>
                                        </p:tgtEl>
                                      </p:cBhvr>
                                    </p:animEffect>
                                    <p:anim calcmode="lin" valueType="num">
                                      <p:cBhvr>
                                        <p:cTn id="16" dur="1000" fill="hold"/>
                                        <p:tgtEl>
                                          <p:spTgt spid="5"/>
                                        </p:tgtEl>
                                        <p:attrNameLst>
                                          <p:attrName>ppt_x</p:attrName>
                                        </p:attrNameLst>
                                      </p:cBhvr>
                                      <p:tavLst>
                                        <p:tav tm="0">
                                          <p:val>
                                            <p:strVal val="#ppt_x"/>
                                          </p:val>
                                        </p:tav>
                                        <p:tav tm="100000">
                                          <p:val>
                                            <p:strVal val="#ppt_x"/>
                                          </p:val>
                                        </p:tav>
                                      </p:tavLst>
                                    </p:anim>
                                    <p:anim calcmode="lin" valueType="num">
                                      <p:cBhvr>
                                        <p:cTn id="1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pPr marL="0" indent="0">
              <a:buNone/>
            </a:pPr>
            <a:r>
              <a:rPr lang="en-US" b="1" dirty="0" err="1"/>
              <a:t>Một</a:t>
            </a:r>
            <a:r>
              <a:rPr lang="en-US" b="1" dirty="0"/>
              <a:t> </a:t>
            </a:r>
            <a:r>
              <a:rPr lang="en-US" b="1" dirty="0" err="1"/>
              <a:t>bình</a:t>
            </a:r>
            <a:r>
              <a:rPr lang="en-US" b="1" dirty="0"/>
              <a:t>, </a:t>
            </a:r>
            <a:r>
              <a:rPr lang="en-US" b="1" dirty="0" err="1"/>
              <a:t>giãn</a:t>
            </a:r>
            <a:r>
              <a:rPr lang="en-US" b="1" dirty="0"/>
              <a:t> </a:t>
            </a:r>
            <a:r>
              <a:rPr lang="en-US" b="1" dirty="0" err="1"/>
              <a:t>nở</a:t>
            </a:r>
            <a:r>
              <a:rPr lang="en-US" b="1" dirty="0"/>
              <a:t> </a:t>
            </a:r>
            <a:r>
              <a:rPr lang="en-US" b="1" dirty="0" err="1"/>
              <a:t>kém</a:t>
            </a:r>
            <a:r>
              <a:rPr lang="en-US" dirty="0"/>
              <a:t>, </a:t>
            </a:r>
            <a:r>
              <a:rPr lang="en-US" dirty="0" err="1"/>
              <a:t>chứa</a:t>
            </a:r>
            <a:r>
              <a:rPr lang="en-US" dirty="0"/>
              <a:t> </a:t>
            </a:r>
            <a:r>
              <a:rPr lang="en-US" dirty="0" err="1"/>
              <a:t>khí</a:t>
            </a:r>
            <a:r>
              <a:rPr lang="en-US" dirty="0"/>
              <a:t> </a:t>
            </a:r>
            <a:r>
              <a:rPr lang="en-US" dirty="0" err="1"/>
              <a:t>nén</a:t>
            </a:r>
            <a:r>
              <a:rPr lang="en-US" dirty="0"/>
              <a:t> ở </a:t>
            </a:r>
            <a:r>
              <a:rPr lang="en-US" dirty="0" err="1"/>
              <a:t>nhiệt</a:t>
            </a:r>
            <a:r>
              <a:rPr lang="en-US" dirty="0"/>
              <a:t> </a:t>
            </a:r>
            <a:r>
              <a:rPr lang="en-US" dirty="0" err="1"/>
              <a:t>độ</a:t>
            </a:r>
            <a:r>
              <a:rPr lang="en-US" dirty="0"/>
              <a:t> 27</a:t>
            </a:r>
            <a:r>
              <a:rPr lang="en-US" baseline="30000" dirty="0"/>
              <a:t>0</a:t>
            </a:r>
            <a:r>
              <a:rPr lang="en-US" dirty="0"/>
              <a:t>C </a:t>
            </a:r>
            <a:r>
              <a:rPr lang="en-US" dirty="0" err="1"/>
              <a:t>và</a:t>
            </a:r>
            <a:r>
              <a:rPr lang="en-US" dirty="0"/>
              <a:t> </a:t>
            </a:r>
            <a:r>
              <a:rPr lang="en-US" dirty="0" err="1"/>
              <a:t>áp</a:t>
            </a:r>
            <a:r>
              <a:rPr lang="en-US" dirty="0"/>
              <a:t> </a:t>
            </a:r>
            <a:r>
              <a:rPr lang="en-US" dirty="0" err="1"/>
              <a:t>suất</a:t>
            </a:r>
            <a:r>
              <a:rPr lang="en-US" dirty="0"/>
              <a:t> 15 atm. </a:t>
            </a:r>
            <a:r>
              <a:rPr lang="en-US" dirty="0" err="1"/>
              <a:t>Tìm</a:t>
            </a:r>
            <a:r>
              <a:rPr lang="en-US" dirty="0"/>
              <a:t> </a:t>
            </a:r>
            <a:r>
              <a:rPr lang="en-US" dirty="0" err="1"/>
              <a:t>nhiệt</a:t>
            </a:r>
            <a:r>
              <a:rPr lang="en-US" dirty="0"/>
              <a:t> </a:t>
            </a:r>
            <a:r>
              <a:rPr lang="en-US" dirty="0" err="1"/>
              <a:t>độ</a:t>
            </a:r>
            <a:r>
              <a:rPr lang="en-US" dirty="0"/>
              <a:t> </a:t>
            </a:r>
            <a:r>
              <a:rPr lang="en-US" dirty="0" err="1"/>
              <a:t>của</a:t>
            </a:r>
            <a:r>
              <a:rPr lang="en-US" dirty="0"/>
              <a:t> </a:t>
            </a:r>
            <a:r>
              <a:rPr lang="en-US" dirty="0" err="1"/>
              <a:t>khối</a:t>
            </a:r>
            <a:r>
              <a:rPr lang="en-US" dirty="0"/>
              <a:t> </a:t>
            </a:r>
            <a:r>
              <a:rPr lang="en-US" dirty="0" err="1"/>
              <a:t>khí</a:t>
            </a:r>
            <a:r>
              <a:rPr lang="en-US" dirty="0"/>
              <a:t>, </a:t>
            </a:r>
            <a:r>
              <a:rPr lang="en-US" dirty="0" err="1"/>
              <a:t>khi</a:t>
            </a:r>
            <a:r>
              <a:rPr lang="en-US" dirty="0"/>
              <a:t> </a:t>
            </a:r>
            <a:r>
              <a:rPr lang="en-US" dirty="0" err="1"/>
              <a:t>đã</a:t>
            </a:r>
            <a:r>
              <a:rPr lang="en-US" dirty="0"/>
              <a:t> </a:t>
            </a:r>
            <a:r>
              <a:rPr lang="en-US" dirty="0" err="1"/>
              <a:t>có</a:t>
            </a:r>
            <a:r>
              <a:rPr lang="en-US" dirty="0"/>
              <a:t> </a:t>
            </a:r>
            <a:r>
              <a:rPr lang="en-US" dirty="0" err="1"/>
              <a:t>một</a:t>
            </a:r>
            <a:r>
              <a:rPr lang="en-US" dirty="0"/>
              <a:t> </a:t>
            </a:r>
            <a:r>
              <a:rPr lang="en-US" dirty="0" err="1"/>
              <a:t>nửa</a:t>
            </a:r>
            <a:r>
              <a:rPr lang="en-US" dirty="0"/>
              <a:t> </a:t>
            </a:r>
            <a:r>
              <a:rPr lang="en-US" dirty="0" err="1"/>
              <a:t>lượng</a:t>
            </a:r>
            <a:r>
              <a:rPr lang="en-US" dirty="0"/>
              <a:t> </a:t>
            </a:r>
            <a:r>
              <a:rPr lang="en-US" dirty="0" err="1"/>
              <a:t>khí</a:t>
            </a:r>
            <a:r>
              <a:rPr lang="en-US" dirty="0"/>
              <a:t> </a:t>
            </a:r>
            <a:r>
              <a:rPr lang="en-US" dirty="0" err="1"/>
              <a:t>thoát</a:t>
            </a:r>
            <a:r>
              <a:rPr lang="en-US" dirty="0"/>
              <a:t> </a:t>
            </a:r>
            <a:r>
              <a:rPr lang="en-US" dirty="0" err="1"/>
              <a:t>ra</a:t>
            </a:r>
            <a:r>
              <a:rPr lang="en-US" dirty="0"/>
              <a:t> </a:t>
            </a:r>
            <a:r>
              <a:rPr lang="en-US" dirty="0" err="1"/>
              <a:t>khỏi</a:t>
            </a:r>
            <a:r>
              <a:rPr lang="en-US" dirty="0"/>
              <a:t> </a:t>
            </a:r>
            <a:r>
              <a:rPr lang="en-US" dirty="0" err="1"/>
              <a:t>bình</a:t>
            </a:r>
            <a:r>
              <a:rPr lang="en-US" dirty="0"/>
              <a:t> </a:t>
            </a:r>
            <a:r>
              <a:rPr lang="en-US" dirty="0" err="1"/>
              <a:t>và</a:t>
            </a:r>
            <a:r>
              <a:rPr lang="en-US" dirty="0"/>
              <a:t> </a:t>
            </a:r>
            <a:r>
              <a:rPr lang="en-US" dirty="0" err="1"/>
              <a:t>áp</a:t>
            </a:r>
            <a:r>
              <a:rPr lang="en-US" dirty="0"/>
              <a:t> </a:t>
            </a:r>
            <a:r>
              <a:rPr lang="en-US" dirty="0" err="1"/>
              <a:t>suất</a:t>
            </a:r>
            <a:r>
              <a:rPr lang="en-US" dirty="0"/>
              <a:t> </a:t>
            </a:r>
            <a:r>
              <a:rPr lang="en-US" dirty="0" err="1"/>
              <a:t>hạ</a:t>
            </a:r>
            <a:r>
              <a:rPr lang="en-US" dirty="0"/>
              <a:t> </a:t>
            </a:r>
            <a:r>
              <a:rPr lang="en-US" dirty="0" err="1"/>
              <a:t>xuống</a:t>
            </a:r>
            <a:r>
              <a:rPr lang="en-US" dirty="0"/>
              <a:t> 10 atm.</a:t>
            </a:r>
          </a:p>
          <a:p>
            <a:pPr marL="0" indent="0">
              <a:buNone/>
            </a:pPr>
            <a:r>
              <a:rPr lang="en-US" dirty="0"/>
              <a:t>A. 420K</a:t>
            </a:r>
          </a:p>
          <a:p>
            <a:pPr marL="0" indent="0">
              <a:buNone/>
            </a:pPr>
            <a:r>
              <a:rPr lang="en-US" dirty="0"/>
              <a:t>B. 387,5K </a:t>
            </a:r>
          </a:p>
          <a:p>
            <a:pPr marL="0" indent="0">
              <a:buNone/>
            </a:pPr>
            <a:r>
              <a:rPr lang="en-US" dirty="0"/>
              <a:t>C. 400K</a:t>
            </a:r>
          </a:p>
          <a:p>
            <a:pPr marL="0" indent="0">
              <a:buNone/>
            </a:pPr>
            <a:r>
              <a:rPr lang="en-US" dirty="0"/>
              <a:t>D. 289K</a:t>
            </a:r>
          </a:p>
          <a:p>
            <a:endParaRPr lang="en-US" dirty="0"/>
          </a:p>
        </p:txBody>
      </p:sp>
      <mc:AlternateContent xmlns:mc="http://schemas.openxmlformats.org/markup-compatibility/2006" xmlns:a14="http://schemas.microsoft.com/office/drawing/2010/main">
        <mc:Choice Requires="a14">
          <p:sp>
            <p:nvSpPr>
              <p:cNvPr id="4" name="Notes Placeholder 4"/>
              <p:cNvSpPr txBox="1">
                <a:spLocks/>
              </p:cNvSpPr>
              <p:nvPr/>
            </p:nvSpPr>
            <p:spPr>
              <a:xfrm>
                <a:off x="2667000" y="3429000"/>
                <a:ext cx="5029200" cy="2286000"/>
              </a:xfrm>
              <a:prstGeom prst="wedgeEllipseCallou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chor="ctr">
                <a:normAutofit fontScale="55000" lnSpcReduction="20000"/>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algn="ct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rPr>
                          <m:t>𝑝</m:t>
                        </m:r>
                      </m:e>
                      <m:sub>
                        <m:r>
                          <a:rPr lang="en-US" i="1" smtClean="0">
                            <a:latin typeface="Cambria Math"/>
                          </a:rPr>
                          <m:t>1</m:t>
                        </m:r>
                      </m:sub>
                    </m:sSub>
                    <m:r>
                      <a:rPr lang="en-US" i="1" smtClean="0">
                        <a:latin typeface="Cambria Math"/>
                      </a:rPr>
                      <m:t>.</m:t>
                    </m:r>
                    <m:r>
                      <a:rPr lang="en-US" i="1" smtClean="0">
                        <a:latin typeface="Cambria Math"/>
                      </a:rPr>
                      <m:t>𝑉</m:t>
                    </m:r>
                    <m:r>
                      <a:rPr lang="en-US" i="1" smtClean="0">
                        <a:latin typeface="Cambria Math"/>
                      </a:rPr>
                      <m:t>= </m:t>
                    </m:r>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i="1" smtClean="0">
                                <a:latin typeface="Cambria Math"/>
                              </a:rPr>
                              <m:t>𝑚</m:t>
                            </m:r>
                          </m:e>
                          <m:sub>
                            <m:r>
                              <a:rPr lang="en-US" i="1" smtClean="0">
                                <a:latin typeface="Cambria Math"/>
                              </a:rPr>
                              <m:t>1</m:t>
                            </m:r>
                          </m:sub>
                        </m:sSub>
                      </m:num>
                      <m:den>
                        <m:r>
                          <a:rPr lang="en-US" i="1" smtClean="0">
                            <a:latin typeface="Cambria Math"/>
                            <a:ea typeface="Cambria Math"/>
                          </a:rPr>
                          <m:t>𝜇</m:t>
                        </m:r>
                      </m:den>
                    </m:f>
                    <m:r>
                      <a:rPr lang="en-US" i="1" smtClean="0">
                        <a:latin typeface="Cambria Math"/>
                      </a:rPr>
                      <m:t>.</m:t>
                    </m:r>
                    <m:r>
                      <a:rPr lang="en-US" i="1" smtClean="0">
                        <a:latin typeface="Cambria Math"/>
                      </a:rPr>
                      <m:t>𝑅</m:t>
                    </m:r>
                    <m:r>
                      <a:rPr lang="en-US" i="1" smtClean="0">
                        <a:latin typeface="Cambria Math"/>
                      </a:rPr>
                      <m:t>.</m:t>
                    </m:r>
                    <m:sSub>
                      <m:sSubPr>
                        <m:ctrlPr>
                          <a:rPr lang="en-US" i="1" smtClean="0">
                            <a:latin typeface="Cambria Math" panose="02040503050406030204" pitchFamily="18" charset="0"/>
                          </a:rPr>
                        </m:ctrlPr>
                      </m:sSubPr>
                      <m:e>
                        <m:r>
                          <a:rPr lang="en-US" i="1" smtClean="0">
                            <a:latin typeface="Cambria Math"/>
                          </a:rPr>
                          <m:t>𝑇</m:t>
                        </m:r>
                      </m:e>
                      <m:sub>
                        <m:r>
                          <a:rPr lang="en-US" i="1" smtClean="0">
                            <a:latin typeface="Cambria Math"/>
                          </a:rPr>
                          <m:t>1</m:t>
                        </m:r>
                      </m:sub>
                    </m:sSub>
                  </m:oMath>
                </a14:m>
                <a:endParaRPr lang="en-US" dirty="0"/>
              </a:p>
              <a:p>
                <a:pPr algn="ctr"/>
                <a14:m>
                  <m:oMath xmlns:m="http://schemas.openxmlformats.org/officeDocument/2006/math">
                    <m:sSub>
                      <m:sSubPr>
                        <m:ctrlPr>
                          <a:rPr lang="en-US" i="1">
                            <a:latin typeface="Cambria Math" panose="02040503050406030204" pitchFamily="18" charset="0"/>
                          </a:rPr>
                        </m:ctrlPr>
                      </m:sSubPr>
                      <m:e>
                        <m:r>
                          <a:rPr lang="en-US" i="1">
                            <a:latin typeface="Cambria Math"/>
                          </a:rPr>
                          <m:t>𝑝</m:t>
                        </m:r>
                      </m:e>
                      <m:sub>
                        <m:r>
                          <a:rPr lang="en-US" i="1" smtClean="0">
                            <a:latin typeface="Cambria Math"/>
                          </a:rPr>
                          <m:t>2</m:t>
                        </m:r>
                      </m:sub>
                    </m:sSub>
                    <m:r>
                      <a:rPr lang="en-US" i="1">
                        <a:latin typeface="Cambria Math"/>
                      </a:rPr>
                      <m:t>.</m:t>
                    </m:r>
                    <m:r>
                      <a:rPr lang="en-US" i="1">
                        <a:latin typeface="Cambria Math"/>
                      </a:rPr>
                      <m:t>𝑉</m:t>
                    </m:r>
                    <m:r>
                      <a:rPr lang="en-US" i="1">
                        <a:latin typeface="Cambria Math"/>
                      </a:rPr>
                      <m:t>= </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a:rPr>
                              <m:t>𝑚</m:t>
                            </m:r>
                          </m:e>
                          <m:sub>
                            <m:r>
                              <a:rPr lang="en-US" i="1" smtClean="0">
                                <a:latin typeface="Cambria Math"/>
                              </a:rPr>
                              <m:t>2</m:t>
                            </m:r>
                          </m:sub>
                        </m:sSub>
                      </m:num>
                      <m:den>
                        <m:r>
                          <a:rPr lang="en-US" i="1">
                            <a:latin typeface="Cambria Math"/>
                            <a:ea typeface="Cambria Math"/>
                          </a:rPr>
                          <m:t>𝜇</m:t>
                        </m:r>
                      </m:den>
                    </m:f>
                    <m:r>
                      <a:rPr lang="en-US" i="1">
                        <a:latin typeface="Cambria Math"/>
                      </a:rPr>
                      <m:t>.</m:t>
                    </m:r>
                    <m:r>
                      <a:rPr lang="en-US" i="1">
                        <a:latin typeface="Cambria Math"/>
                      </a:rPr>
                      <m:t>𝑅</m:t>
                    </m:r>
                    <m:r>
                      <a:rPr lang="en-US" i="1">
                        <a:latin typeface="Cambria Math"/>
                      </a:rPr>
                      <m:t>.</m:t>
                    </m:r>
                    <m:sSub>
                      <m:sSubPr>
                        <m:ctrlPr>
                          <a:rPr lang="en-US" i="1">
                            <a:latin typeface="Cambria Math" panose="02040503050406030204" pitchFamily="18" charset="0"/>
                          </a:rPr>
                        </m:ctrlPr>
                      </m:sSubPr>
                      <m:e>
                        <m:r>
                          <a:rPr lang="en-US" i="1">
                            <a:latin typeface="Cambria Math"/>
                          </a:rPr>
                          <m:t>𝑇</m:t>
                        </m:r>
                      </m:e>
                      <m:sub>
                        <m:r>
                          <a:rPr lang="en-US" i="1" smtClean="0">
                            <a:latin typeface="Cambria Math"/>
                          </a:rPr>
                          <m:t>2</m:t>
                        </m:r>
                      </m:sub>
                    </m:sSub>
                  </m:oMath>
                </a14:m>
                <a:endParaRPr lang="en-US" dirty="0"/>
              </a:p>
              <a:p>
                <a:pPr algn="ct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rPr>
                          <m:t>𝑚</m:t>
                        </m:r>
                      </m:e>
                      <m:sub>
                        <m:r>
                          <a:rPr lang="en-US" i="1" smtClean="0">
                            <a:latin typeface="Cambria Math"/>
                          </a:rPr>
                          <m:t>2</m:t>
                        </m:r>
                      </m:sub>
                    </m:sSub>
                  </m:oMath>
                </a14:m>
                <a:r>
                  <a:rPr lang="en-US" dirty="0"/>
                  <a:t>= </a:t>
                </a:r>
                <a14:m>
                  <m:oMath xmlns:m="http://schemas.openxmlformats.org/officeDocument/2006/math">
                    <m:r>
                      <a:rPr lang="en-US" smtClean="0">
                        <a:latin typeface="Cambria Math"/>
                      </a:rPr>
                      <m:t>1/2.</m:t>
                    </m:r>
                    <m:sSub>
                      <m:sSubPr>
                        <m:ctrlPr>
                          <a:rPr lang="en-US" i="1" smtClean="0">
                            <a:latin typeface="Cambria Math" panose="02040503050406030204" pitchFamily="18" charset="0"/>
                          </a:rPr>
                        </m:ctrlPr>
                      </m:sSubPr>
                      <m:e>
                        <m:r>
                          <a:rPr lang="en-US" i="1" smtClean="0">
                            <a:latin typeface="Cambria Math"/>
                          </a:rPr>
                          <m:t>𝑚</m:t>
                        </m:r>
                      </m:e>
                      <m:sub>
                        <m:r>
                          <a:rPr lang="en-US" i="1" smtClean="0">
                            <a:latin typeface="Cambria Math"/>
                          </a:rPr>
                          <m:t>1</m:t>
                        </m:r>
                      </m:sub>
                    </m:sSub>
                  </m:oMath>
                </a14:m>
                <a:r>
                  <a:rPr lang="en-US" dirty="0"/>
                  <a:t>, </a:t>
                </a:r>
                <a14:m>
                  <m:oMath xmlns:m="http://schemas.openxmlformats.org/officeDocument/2006/math">
                    <m:f>
                      <m:fPr>
                        <m:ctrlPr>
                          <a:rPr lang="en-US" sz="2400" i="1" smtClean="0">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a:rPr>
                              <m:t>𝑝</m:t>
                            </m:r>
                          </m:e>
                          <m:sub>
                            <m:r>
                              <a:rPr lang="en-US" sz="2400" i="1">
                                <a:latin typeface="Cambria Math"/>
                              </a:rPr>
                              <m:t>1</m:t>
                            </m:r>
                          </m:sub>
                        </m:sSub>
                      </m:num>
                      <m:den>
                        <m:sSub>
                          <m:sSubPr>
                            <m:ctrlPr>
                              <a:rPr lang="en-US" sz="2400" i="1">
                                <a:latin typeface="Cambria Math" panose="02040503050406030204" pitchFamily="18" charset="0"/>
                              </a:rPr>
                            </m:ctrlPr>
                          </m:sSubPr>
                          <m:e>
                            <m:r>
                              <a:rPr lang="en-US" sz="2400" i="1">
                                <a:latin typeface="Cambria Math"/>
                              </a:rPr>
                              <m:t>𝑝</m:t>
                            </m:r>
                          </m:e>
                          <m:sub>
                            <m:r>
                              <a:rPr lang="en-US" sz="2400" i="1">
                                <a:latin typeface="Cambria Math"/>
                              </a:rPr>
                              <m:t>2</m:t>
                            </m:r>
                          </m:sub>
                        </m:sSub>
                      </m:den>
                    </m:f>
                  </m:oMath>
                </a14:m>
                <a:r>
                  <a:rPr lang="en-US" sz="2400" dirty="0"/>
                  <a:t> = 2. </a:t>
                </a:r>
                <a14:m>
                  <m:oMath xmlns:m="http://schemas.openxmlformats.org/officeDocument/2006/math">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smtClean="0">
                                <a:latin typeface="Cambria Math"/>
                              </a:rPr>
                              <m:t>𝑇</m:t>
                            </m:r>
                          </m:e>
                          <m:sub>
                            <m:r>
                              <a:rPr lang="en-US" sz="2400" i="1">
                                <a:latin typeface="Cambria Math"/>
                              </a:rPr>
                              <m:t>1</m:t>
                            </m:r>
                          </m:sub>
                        </m:sSub>
                      </m:num>
                      <m:den>
                        <m:sSub>
                          <m:sSubPr>
                            <m:ctrlPr>
                              <a:rPr lang="en-US" sz="2400" i="1">
                                <a:latin typeface="Cambria Math" panose="02040503050406030204" pitchFamily="18" charset="0"/>
                              </a:rPr>
                            </m:ctrlPr>
                          </m:sSubPr>
                          <m:e>
                            <m:r>
                              <a:rPr lang="en-US" sz="2400" i="1" smtClean="0">
                                <a:latin typeface="Cambria Math"/>
                              </a:rPr>
                              <m:t>𝑇</m:t>
                            </m:r>
                          </m:e>
                          <m:sub>
                            <m:r>
                              <a:rPr lang="en-US" sz="2400" i="1">
                                <a:latin typeface="Cambria Math"/>
                              </a:rPr>
                              <m:t>2</m:t>
                            </m:r>
                          </m:sub>
                        </m:sSub>
                      </m:den>
                    </m:f>
                  </m:oMath>
                </a14:m>
                <a:endParaRPr lang="en-US" dirty="0"/>
              </a:p>
              <a:p>
                <a:pPr algn="ctr"/>
                <a:r>
                  <a:rPr lang="en-US" dirty="0"/>
                  <a:t>T2 = 400K </a:t>
                </a:r>
              </a:p>
            </p:txBody>
          </p:sp>
        </mc:Choice>
        <mc:Fallback xmlns="">
          <p:sp>
            <p:nvSpPr>
              <p:cNvPr id="4" name="Notes Placeholder 4"/>
              <p:cNvSpPr txBox="1">
                <a:spLocks noRot="1" noChangeAspect="1" noMove="1" noResize="1" noEditPoints="1" noAdjustHandles="1" noChangeArrowheads="1" noChangeShapeType="1" noTextEdit="1"/>
              </p:cNvSpPr>
              <p:nvPr/>
            </p:nvSpPr>
            <p:spPr>
              <a:xfrm>
                <a:off x="2667000" y="3429000"/>
                <a:ext cx="5029200" cy="2286000"/>
              </a:xfrm>
              <a:prstGeom prst="wedgeEllipseCallout">
                <a:avLst/>
              </a:prstGeom>
              <a:blipFill rotWithShape="1">
                <a:blip r:embed="rId3"/>
                <a:stretch>
                  <a:fillRect/>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31AB43A9-E010-2712-EDEB-864836C8E9A3}"/>
              </a:ext>
            </a:extLst>
          </p:cNvPr>
          <p:cNvSpPr>
            <a:spLocks noGrp="1"/>
          </p:cNvSpPr>
          <p:nvPr>
            <p:ph type="ftr" sz="quarter" idx="11"/>
          </p:nvPr>
        </p:nvSpPr>
        <p:spPr/>
        <p:txBody>
          <a:bodyPr/>
          <a:lstStyle/>
          <a:p>
            <a:r>
              <a:rPr lang="en-US"/>
              <a:t>Bùi Quốc Trung - VLDC</a:t>
            </a:r>
          </a:p>
        </p:txBody>
      </p:sp>
      <p:sp>
        <p:nvSpPr>
          <p:cNvPr id="5" name="Slide Number Placeholder 4">
            <a:extLst>
              <a:ext uri="{FF2B5EF4-FFF2-40B4-BE49-F238E27FC236}">
                <a16:creationId xmlns:a16="http://schemas.microsoft.com/office/drawing/2014/main" id="{5443E9E7-EA5F-DC1A-67C5-5830CEED4C0E}"/>
              </a:ext>
            </a:extLst>
          </p:cNvPr>
          <p:cNvSpPr>
            <a:spLocks noGrp="1"/>
          </p:cNvSpPr>
          <p:nvPr>
            <p:ph type="sldNum" sz="quarter" idx="12"/>
          </p:nvPr>
        </p:nvSpPr>
        <p:spPr/>
        <p:txBody>
          <a:bodyPr/>
          <a:lstStyle/>
          <a:p>
            <a:fld id="{0C173468-4CCE-478A-9725-791AF0DB04F2}" type="slidenum">
              <a:rPr lang="en-US" smtClean="0"/>
              <a:t>16</a:t>
            </a:fld>
            <a:endParaRPr lang="en-US"/>
          </a:p>
        </p:txBody>
      </p:sp>
    </p:spTree>
    <p:extLst>
      <p:ext uri="{BB962C8B-B14F-4D97-AF65-F5344CB8AC3E}">
        <p14:creationId xmlns:p14="http://schemas.microsoft.com/office/powerpoint/2010/main" val="350672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lstStyle/>
          <a:p>
            <a:pPr marL="0" indent="0">
              <a:buNone/>
            </a:pPr>
            <a:r>
              <a:rPr lang="en-US" dirty="0" err="1"/>
              <a:t>Trong</a:t>
            </a:r>
            <a:r>
              <a:rPr lang="en-US" dirty="0"/>
              <a:t> </a:t>
            </a:r>
            <a:r>
              <a:rPr lang="en-US" dirty="0" err="1"/>
              <a:t>một</a:t>
            </a:r>
            <a:r>
              <a:rPr lang="en-US" dirty="0"/>
              <a:t> </a:t>
            </a:r>
            <a:r>
              <a:rPr lang="en-US" dirty="0" err="1"/>
              <a:t>bình</a:t>
            </a:r>
            <a:r>
              <a:rPr lang="en-US" dirty="0"/>
              <a:t> </a:t>
            </a:r>
            <a:r>
              <a:rPr lang="en-US" dirty="0" err="1"/>
              <a:t>thể</a:t>
            </a:r>
            <a:r>
              <a:rPr lang="en-US" dirty="0"/>
              <a:t> </a:t>
            </a:r>
            <a:r>
              <a:rPr lang="en-US" dirty="0" err="1"/>
              <a:t>tích</a:t>
            </a:r>
            <a:r>
              <a:rPr lang="en-US" dirty="0"/>
              <a:t> 2 </a:t>
            </a:r>
            <a:r>
              <a:rPr lang="en-US" dirty="0" err="1"/>
              <a:t>lít</a:t>
            </a:r>
            <a:r>
              <a:rPr lang="en-US" dirty="0"/>
              <a:t> </a:t>
            </a:r>
            <a:r>
              <a:rPr lang="en-US" dirty="0" err="1"/>
              <a:t>chứa</a:t>
            </a:r>
            <a:r>
              <a:rPr lang="en-US" dirty="0"/>
              <a:t> 10 g </a:t>
            </a:r>
            <a:r>
              <a:rPr lang="en-US" dirty="0" err="1"/>
              <a:t>khí</a:t>
            </a:r>
            <a:r>
              <a:rPr lang="en-US" dirty="0"/>
              <a:t> oxy. </a:t>
            </a:r>
            <a:r>
              <a:rPr lang="en-US" dirty="0" err="1"/>
              <a:t>Tìm</a:t>
            </a:r>
            <a:r>
              <a:rPr lang="en-US" dirty="0"/>
              <a:t> </a:t>
            </a:r>
            <a:r>
              <a:rPr lang="en-US" dirty="0" err="1"/>
              <a:t>khối</a:t>
            </a:r>
            <a:r>
              <a:rPr lang="en-US" dirty="0"/>
              <a:t> </a:t>
            </a:r>
            <a:r>
              <a:rPr lang="en-US" dirty="0" err="1"/>
              <a:t>lượng</a:t>
            </a:r>
            <a:r>
              <a:rPr lang="en-US" dirty="0"/>
              <a:t> </a:t>
            </a:r>
            <a:r>
              <a:rPr lang="en-US" dirty="0" err="1"/>
              <a:t>riêng</a:t>
            </a:r>
            <a:r>
              <a:rPr lang="en-US" dirty="0"/>
              <a:t> </a:t>
            </a:r>
            <a:r>
              <a:rPr lang="en-US" dirty="0" err="1"/>
              <a:t>của</a:t>
            </a:r>
            <a:r>
              <a:rPr lang="en-US" dirty="0"/>
              <a:t> </a:t>
            </a:r>
            <a:r>
              <a:rPr lang="en-US" dirty="0" err="1"/>
              <a:t>khối</a:t>
            </a:r>
            <a:r>
              <a:rPr lang="en-US" dirty="0"/>
              <a:t> </a:t>
            </a:r>
            <a:r>
              <a:rPr lang="en-US" dirty="0" err="1"/>
              <a:t>khí</a:t>
            </a:r>
            <a:r>
              <a:rPr lang="en-US" dirty="0"/>
              <a:t>.</a:t>
            </a:r>
          </a:p>
          <a:p>
            <a:pPr marL="0" indent="0">
              <a:buNone/>
            </a:pPr>
            <a:r>
              <a:rPr lang="en-US" dirty="0"/>
              <a:t>A. 	5 kg/m</a:t>
            </a:r>
            <a:r>
              <a:rPr lang="en-US" baseline="30000" dirty="0"/>
              <a:t>3</a:t>
            </a:r>
            <a:endParaRPr lang="en-US" dirty="0"/>
          </a:p>
          <a:p>
            <a:pPr marL="0" indent="0">
              <a:buNone/>
            </a:pPr>
            <a:r>
              <a:rPr lang="en-US" dirty="0"/>
              <a:t>B. 	4 kg/m</a:t>
            </a:r>
            <a:r>
              <a:rPr lang="en-US" baseline="30000" dirty="0"/>
              <a:t>3</a:t>
            </a:r>
            <a:endParaRPr lang="en-US" dirty="0"/>
          </a:p>
          <a:p>
            <a:pPr marL="0" indent="0">
              <a:buNone/>
            </a:pPr>
            <a:r>
              <a:rPr lang="en-US" dirty="0"/>
              <a:t>C. 	4,5 kg/m</a:t>
            </a:r>
            <a:r>
              <a:rPr lang="en-US" baseline="30000" dirty="0"/>
              <a:t>3</a:t>
            </a:r>
            <a:endParaRPr lang="en-US" dirty="0"/>
          </a:p>
          <a:p>
            <a:pPr marL="0" indent="0">
              <a:buNone/>
            </a:pPr>
            <a:r>
              <a:rPr lang="en-US" dirty="0"/>
              <a:t>D. 	4,8 kg/m</a:t>
            </a:r>
            <a:r>
              <a:rPr lang="en-US" baseline="30000" dirty="0"/>
              <a:t>3</a:t>
            </a:r>
            <a:endParaRPr lang="en-US" dirty="0"/>
          </a:p>
          <a:p>
            <a:endParaRPr lang="en-US" dirty="0"/>
          </a:p>
        </p:txBody>
      </p:sp>
      <p:graphicFrame>
        <p:nvGraphicFramePr>
          <p:cNvPr id="2" name="Object 1"/>
          <p:cNvGraphicFramePr>
            <a:graphicFrameLocks noChangeAspect="1"/>
          </p:cNvGraphicFramePr>
          <p:nvPr>
            <p:extLst>
              <p:ext uri="{D42A27DB-BD31-4B8C-83A1-F6EECF244321}">
                <p14:modId xmlns:p14="http://schemas.microsoft.com/office/powerpoint/2010/main" val="83417831"/>
              </p:ext>
            </p:extLst>
          </p:nvPr>
        </p:nvGraphicFramePr>
        <p:xfrm>
          <a:off x="5181600" y="3048000"/>
          <a:ext cx="2284413" cy="1128713"/>
        </p:xfrm>
        <a:graphic>
          <a:graphicData uri="http://schemas.openxmlformats.org/presentationml/2006/ole">
            <mc:AlternateContent xmlns:mc="http://schemas.openxmlformats.org/markup-compatibility/2006">
              <mc:Choice xmlns:v="urn:schemas-microsoft-com:vml" Requires="v">
                <p:oleObj name="Equation" r:id="rId2" imgW="799753" imgH="393529" progId="Equation.DSMT4">
                  <p:embed/>
                </p:oleObj>
              </mc:Choice>
              <mc:Fallback>
                <p:oleObj name="Equation" r:id="rId2" imgW="799753" imgH="393529"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3048000"/>
                        <a:ext cx="2284413" cy="112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Footer Placeholder 3">
            <a:extLst>
              <a:ext uri="{FF2B5EF4-FFF2-40B4-BE49-F238E27FC236}">
                <a16:creationId xmlns:a16="http://schemas.microsoft.com/office/drawing/2014/main" id="{A31D8DB4-0412-44B8-2191-26980DE074F7}"/>
              </a:ext>
            </a:extLst>
          </p:cNvPr>
          <p:cNvSpPr>
            <a:spLocks noGrp="1"/>
          </p:cNvSpPr>
          <p:nvPr>
            <p:ph type="ftr" sz="quarter" idx="11"/>
          </p:nvPr>
        </p:nvSpPr>
        <p:spPr/>
        <p:txBody>
          <a:bodyPr/>
          <a:lstStyle/>
          <a:p>
            <a:r>
              <a:rPr lang="en-US"/>
              <a:t>Bùi Quốc Trung - VLDC</a:t>
            </a:r>
          </a:p>
        </p:txBody>
      </p:sp>
      <p:sp>
        <p:nvSpPr>
          <p:cNvPr id="5" name="Slide Number Placeholder 4">
            <a:extLst>
              <a:ext uri="{FF2B5EF4-FFF2-40B4-BE49-F238E27FC236}">
                <a16:creationId xmlns:a16="http://schemas.microsoft.com/office/drawing/2014/main" id="{19CB8CEA-54D9-14B7-4BE6-CE80E82B6B8C}"/>
              </a:ext>
            </a:extLst>
          </p:cNvPr>
          <p:cNvSpPr>
            <a:spLocks noGrp="1"/>
          </p:cNvSpPr>
          <p:nvPr>
            <p:ph type="sldNum" sz="quarter" idx="12"/>
          </p:nvPr>
        </p:nvSpPr>
        <p:spPr/>
        <p:txBody>
          <a:bodyPr/>
          <a:lstStyle/>
          <a:p>
            <a:fld id="{0C173468-4CCE-478A-9725-791AF0DB04F2}" type="slidenum">
              <a:rPr lang="en-US" smtClean="0"/>
              <a:t>17</a:t>
            </a:fld>
            <a:endParaRPr lang="en-US"/>
          </a:p>
        </p:txBody>
      </p:sp>
    </p:spTree>
    <p:extLst>
      <p:ext uri="{BB962C8B-B14F-4D97-AF65-F5344CB8AC3E}">
        <p14:creationId xmlns:p14="http://schemas.microsoft.com/office/powerpoint/2010/main" val="1943342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style.textDecorationUnderline</p:attrName>
                                        </p:attrNameLst>
                                      </p:cBhvr>
                                      <p:to>
                                        <p:strVal val="true"/>
                                      </p:to>
                                    </p:set>
                                  </p:childTnLst>
                                </p:cTn>
                              </p:par>
                            </p:childTnLst>
                          </p:cTn>
                        </p:par>
                        <p:par>
                          <p:cTn id="7" fill="hold">
                            <p:stCondLst>
                              <p:cond delay="640"/>
                            </p:stCondLst>
                            <p:childTnLst>
                              <p:par>
                                <p:cTn id="8" presetID="47" presetClass="entr" presetSubtype="0" fill="hold" nodeType="after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anim calcmode="lin" valueType="num">
                                      <p:cBhvr>
                                        <p:cTn id="11" dur="500" fill="hold"/>
                                        <p:tgtEl>
                                          <p:spTgt spid="2"/>
                                        </p:tgtEl>
                                        <p:attrNameLst>
                                          <p:attrName>ppt_x</p:attrName>
                                        </p:attrNameLst>
                                      </p:cBhvr>
                                      <p:tavLst>
                                        <p:tav tm="0">
                                          <p:val>
                                            <p:strVal val="#ppt_x"/>
                                          </p:val>
                                        </p:tav>
                                        <p:tav tm="100000">
                                          <p:val>
                                            <p:strVal val="#ppt_x"/>
                                          </p:val>
                                        </p:tav>
                                      </p:tavLst>
                                    </p:anim>
                                    <p:anim calcmode="lin" valueType="num">
                                      <p:cBhvr>
                                        <p:cTn id="12"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lstStyle/>
          <a:p>
            <a:pPr marL="0" indent="0">
              <a:buNone/>
            </a:pPr>
            <a:r>
              <a:rPr lang="en-US" dirty="0" err="1">
                <a:latin typeface="Times New Roman" pitchFamily="18" charset="0"/>
                <a:cs typeface="Times New Roman" pitchFamily="18" charset="0"/>
              </a:rPr>
              <a:t>Khi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đun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nóng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một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khối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thêm</a:t>
            </a:r>
            <a:r>
              <a:rPr lang="en-US" dirty="0">
                <a:latin typeface="Times New Roman" pitchFamily="18" charset="0"/>
                <a:cs typeface="Times New Roman" pitchFamily="18" charset="0"/>
              </a:rPr>
              <a:t> 1,5 </a:t>
            </a:r>
            <a:r>
              <a:rPr lang="en-US" dirty="0" err="1">
                <a:latin typeface="Times New Roman" pitchFamily="18" charset="0"/>
                <a:cs typeface="Times New Roman" pitchFamily="18" charset="0"/>
              </a:rPr>
              <a:t>độ</a:t>
            </a:r>
            <a:r>
              <a:rPr lang="en-US" dirty="0">
                <a:latin typeface="Times New Roman" pitchFamily="18" charset="0"/>
                <a:cs typeface="Times New Roman" pitchFamily="18" charset="0"/>
              </a:rPr>
              <a:t> (K) </a:t>
            </a:r>
            <a:r>
              <a:rPr lang="en-US" dirty="0" err="1">
                <a:latin typeface="Times New Roman" pitchFamily="18" charset="0"/>
                <a:cs typeface="Times New Roman" pitchFamily="18" charset="0"/>
              </a:rPr>
              <a:t>trong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điều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suất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đổi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người</a:t>
            </a:r>
            <a:r>
              <a:rPr lang="en-US" dirty="0">
                <a:latin typeface="Times New Roman" pitchFamily="18" charset="0"/>
                <a:cs typeface="Times New Roman" pitchFamily="18" charset="0"/>
              </a:rPr>
              <a:t> ta </a:t>
            </a:r>
            <a:r>
              <a:rPr lang="en-US" dirty="0" err="1">
                <a:latin typeface="Times New Roman" pitchFamily="18" charset="0"/>
                <a:cs typeface="Times New Roman" pitchFamily="18" charset="0"/>
              </a:rPr>
              <a:t>nhận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thấy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tích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tăng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thêm</a:t>
            </a:r>
            <a:r>
              <a:rPr lang="en-US" dirty="0">
                <a:latin typeface="Times New Roman" pitchFamily="18" charset="0"/>
                <a:cs typeface="Times New Roman" pitchFamily="18" charset="0"/>
              </a:rPr>
              <a:t> 1/220 </a:t>
            </a:r>
            <a:r>
              <a:rPr lang="en-US" dirty="0" err="1">
                <a:latin typeface="Times New Roman" pitchFamily="18" charset="0"/>
                <a:cs typeface="Times New Roman" pitchFamily="18" charset="0"/>
              </a:rPr>
              <a:t>thể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tích</a:t>
            </a:r>
            <a:r>
              <a:rPr lang="en-US" dirty="0">
                <a:latin typeface="Times New Roman" pitchFamily="18" charset="0"/>
                <a:cs typeface="Times New Roman" pitchFamily="18" charset="0"/>
              </a:rPr>
              <a:t> ban </a:t>
            </a:r>
            <a:r>
              <a:rPr lang="en-US" dirty="0" err="1">
                <a:latin typeface="Times New Roman" pitchFamily="18" charset="0"/>
                <a:cs typeface="Times New Roman" pitchFamily="18" charset="0"/>
              </a:rPr>
              <a:t>đầu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Nhiệt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độ</a:t>
            </a:r>
            <a:r>
              <a:rPr lang="en-US" dirty="0">
                <a:latin typeface="Times New Roman" pitchFamily="18" charset="0"/>
                <a:cs typeface="Times New Roman" pitchFamily="18" charset="0"/>
              </a:rPr>
              <a:t> ban </a:t>
            </a:r>
            <a:r>
              <a:rPr lang="en-US" dirty="0" err="1">
                <a:latin typeface="Times New Roman" pitchFamily="18" charset="0"/>
                <a:cs typeface="Times New Roman" pitchFamily="18" charset="0"/>
              </a:rPr>
              <a:t>đầu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khối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a:t>
            </a:r>
            <a:r>
              <a:rPr lang="en-US" dirty="0">
                <a:latin typeface="Times New Roman" pitchFamily="18" charset="0"/>
                <a:cs typeface="Times New Roman" pitchFamily="18" charset="0"/>
              </a:rPr>
              <a:t>:</a:t>
            </a:r>
          </a:p>
          <a:p>
            <a:pPr marL="514350" indent="-514350">
              <a:buAutoNum type="alphaUcPeriod"/>
            </a:pPr>
            <a:r>
              <a:rPr lang="en-US" dirty="0">
                <a:latin typeface="Times New Roman" pitchFamily="18" charset="0"/>
                <a:cs typeface="Times New Roman" pitchFamily="18" charset="0"/>
              </a:rPr>
              <a:t>220°C</a:t>
            </a:r>
          </a:p>
          <a:p>
            <a:pPr marL="514350" indent="-514350">
              <a:buAutoNum type="alphaUcPeriod"/>
            </a:pPr>
            <a:r>
              <a:rPr lang="en-US" dirty="0">
                <a:latin typeface="Times New Roman" pitchFamily="18" charset="0"/>
                <a:cs typeface="Times New Roman" pitchFamily="18" charset="0"/>
              </a:rPr>
              <a:t>220 K</a:t>
            </a:r>
          </a:p>
          <a:p>
            <a:pPr marL="514350" indent="-514350">
              <a:buAutoNum type="alphaUcPeriod"/>
            </a:pPr>
            <a:r>
              <a:rPr lang="en-US" dirty="0">
                <a:latin typeface="Times New Roman" pitchFamily="18" charset="0"/>
                <a:cs typeface="Times New Roman" pitchFamily="18" charset="0"/>
              </a:rPr>
              <a:t>330°C</a:t>
            </a:r>
          </a:p>
          <a:p>
            <a:pPr marL="514350" indent="-514350">
              <a:buAutoNum type="alphaUcPeriod"/>
            </a:pPr>
            <a:r>
              <a:rPr lang="en-US" dirty="0">
                <a:latin typeface="Times New Roman" pitchFamily="18" charset="0"/>
                <a:cs typeface="Times New Roman" pitchFamily="18" charset="0"/>
              </a:rPr>
              <a:t>330 K</a:t>
            </a:r>
          </a:p>
        </p:txBody>
      </p:sp>
      <p:sp>
        <p:nvSpPr>
          <p:cNvPr id="2" name="Footer Placeholder 1">
            <a:extLst>
              <a:ext uri="{FF2B5EF4-FFF2-40B4-BE49-F238E27FC236}">
                <a16:creationId xmlns:a16="http://schemas.microsoft.com/office/drawing/2014/main" id="{FA5B93FF-2BBA-70BF-4233-9D36DD22D266}"/>
              </a:ext>
            </a:extLst>
          </p:cNvPr>
          <p:cNvSpPr>
            <a:spLocks noGrp="1"/>
          </p:cNvSpPr>
          <p:nvPr>
            <p:ph type="ftr" sz="quarter" idx="11"/>
          </p:nvPr>
        </p:nvSpPr>
        <p:spPr/>
        <p:txBody>
          <a:bodyPr/>
          <a:lstStyle/>
          <a:p>
            <a:r>
              <a:rPr lang="en-US"/>
              <a:t>Bùi Quốc Trung - VLDC</a:t>
            </a:r>
          </a:p>
        </p:txBody>
      </p:sp>
      <p:sp>
        <p:nvSpPr>
          <p:cNvPr id="4" name="Slide Number Placeholder 3">
            <a:extLst>
              <a:ext uri="{FF2B5EF4-FFF2-40B4-BE49-F238E27FC236}">
                <a16:creationId xmlns:a16="http://schemas.microsoft.com/office/drawing/2014/main" id="{ED24A81B-F375-1BA9-D1C9-D3689F7B8B5D}"/>
              </a:ext>
            </a:extLst>
          </p:cNvPr>
          <p:cNvSpPr>
            <a:spLocks noGrp="1"/>
          </p:cNvSpPr>
          <p:nvPr>
            <p:ph type="sldNum" sz="quarter" idx="12"/>
          </p:nvPr>
        </p:nvSpPr>
        <p:spPr/>
        <p:txBody>
          <a:bodyPr/>
          <a:lstStyle/>
          <a:p>
            <a:fld id="{0C173468-4CCE-478A-9725-791AF0DB04F2}" type="slidenum">
              <a:rPr lang="en-US" smtClean="0"/>
              <a:t>18</a:t>
            </a:fld>
            <a:endParaRPr lang="en-US" dirty="0"/>
          </a:p>
        </p:txBody>
      </p:sp>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E29FAB68-3EF4-BB58-D299-A629A3DC7149}"/>
                  </a:ext>
                </a:extLst>
              </p:cNvPr>
              <p:cNvSpPr/>
              <p:nvPr/>
            </p:nvSpPr>
            <p:spPr>
              <a:xfrm>
                <a:off x="3505200" y="3733800"/>
                <a:ext cx="4800600" cy="2286000"/>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𝑉</m:t>
                          </m:r>
                          <m:r>
                            <a:rPr lang="en-US" b="0" i="1" smtClean="0">
                              <a:latin typeface="Cambria Math" panose="02040503050406030204" pitchFamily="18" charset="0"/>
                            </a:rPr>
                            <m:t>1</m:t>
                          </m:r>
                        </m:num>
                        <m:den>
                          <m:r>
                            <a:rPr lang="en-US" b="0" i="1" smtClean="0">
                              <a:latin typeface="Cambria Math" panose="02040503050406030204" pitchFamily="18" charset="0"/>
                            </a:rPr>
                            <m:t>𝑇</m:t>
                          </m:r>
                          <m:r>
                            <a:rPr lang="en-US" b="0" i="1" smtClean="0">
                              <a:latin typeface="Cambria Math" panose="02040503050406030204" pitchFamily="18" charset="0"/>
                            </a:rPr>
                            <m:t>1</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𝑉</m:t>
                          </m:r>
                          <m:r>
                            <a:rPr lang="en-US" b="0" i="1" smtClean="0">
                              <a:latin typeface="Cambria Math" panose="02040503050406030204" pitchFamily="18" charset="0"/>
                            </a:rPr>
                            <m:t>1+</m:t>
                          </m:r>
                          <m:r>
                            <a:rPr lang="en-US" i="1">
                              <a:latin typeface="Cambria Math" panose="02040503050406030204" pitchFamily="18" charset="0"/>
                            </a:rPr>
                            <m:t>𝑉</m:t>
                          </m:r>
                          <m:r>
                            <a:rPr lang="en-US" i="1">
                              <a:latin typeface="Cambria Math" panose="02040503050406030204" pitchFamily="18" charset="0"/>
                            </a:rPr>
                            <m:t>1/220</m:t>
                          </m:r>
                        </m:num>
                        <m:den>
                          <m:r>
                            <a:rPr lang="en-US" b="0" i="1" smtClean="0">
                              <a:latin typeface="Cambria Math" panose="02040503050406030204" pitchFamily="18" charset="0"/>
                            </a:rPr>
                            <m:t>𝑇</m:t>
                          </m:r>
                          <m:r>
                            <a:rPr lang="en-US" b="0" i="1" smtClean="0">
                              <a:latin typeface="Cambria Math" panose="02040503050406030204" pitchFamily="18" charset="0"/>
                            </a:rPr>
                            <m:t>1+1,5</m:t>
                          </m:r>
                        </m:den>
                      </m:f>
                    </m:oMath>
                  </m:oMathPara>
                </a14:m>
                <a:endParaRPr lang="en-US" dirty="0"/>
              </a:p>
            </p:txBody>
          </p:sp>
        </mc:Choice>
        <mc:Fallback xmlns="">
          <p:sp>
            <p:nvSpPr>
              <p:cNvPr id="5" name="Oval 4">
                <a:extLst>
                  <a:ext uri="{FF2B5EF4-FFF2-40B4-BE49-F238E27FC236}">
                    <a16:creationId xmlns:a16="http://schemas.microsoft.com/office/drawing/2014/main" id="{E29FAB68-3EF4-BB58-D299-A629A3DC7149}"/>
                  </a:ext>
                </a:extLst>
              </p:cNvPr>
              <p:cNvSpPr>
                <a:spLocks noRot="1" noChangeAspect="1" noMove="1" noResize="1" noEditPoints="1" noAdjustHandles="1" noChangeArrowheads="1" noChangeShapeType="1" noTextEdit="1"/>
              </p:cNvSpPr>
              <p:nvPr/>
            </p:nvSpPr>
            <p:spPr>
              <a:xfrm>
                <a:off x="3505200" y="3733800"/>
                <a:ext cx="4800600" cy="2286000"/>
              </a:xfrm>
              <a:prstGeom prst="ellipse">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74706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6" presetClass="entr" presetSubtype="16"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circle(in)">
                                      <p:cBhvr>
                                        <p:cTn id="11"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lstStyle/>
          <a:p>
            <a:pPr marL="0" indent="0">
              <a:buNone/>
            </a:pPr>
            <a:r>
              <a:rPr lang="en-US" dirty="0" err="1">
                <a:latin typeface="Times New Roman" pitchFamily="18" charset="0"/>
                <a:cs typeface="Times New Roman" pitchFamily="18" charset="0"/>
              </a:rPr>
              <a:t>Một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kín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giãn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nở</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kém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tích</a:t>
            </a:r>
            <a:r>
              <a:rPr lang="en-US" dirty="0">
                <a:latin typeface="Times New Roman" pitchFamily="18" charset="0"/>
                <a:cs typeface="Times New Roman" pitchFamily="18" charset="0"/>
              </a:rPr>
              <a:t> 1 lit, </a:t>
            </a:r>
            <a:r>
              <a:rPr lang="en-US" dirty="0" err="1">
                <a:latin typeface="Times New Roman" pitchFamily="18" charset="0"/>
                <a:cs typeface="Times New Roman" pitchFamily="18" charset="0"/>
              </a:rPr>
              <a:t>chứa</a:t>
            </a:r>
            <a:r>
              <a:rPr lang="en-US" dirty="0">
                <a:latin typeface="Times New Roman" pitchFamily="18" charset="0"/>
                <a:cs typeface="Times New Roman" pitchFamily="18" charset="0"/>
              </a:rPr>
              <a:t> 14 g </a:t>
            </a:r>
            <a:r>
              <a:rPr lang="en-US" dirty="0" err="1">
                <a:latin typeface="Times New Roman" pitchFamily="18" charset="0"/>
                <a:cs typeface="Times New Roman" pitchFamily="18" charset="0"/>
              </a:rPr>
              <a:t>khí</a:t>
            </a:r>
            <a:r>
              <a:rPr lang="en-US" dirty="0">
                <a:latin typeface="Times New Roman" pitchFamily="18" charset="0"/>
                <a:cs typeface="Times New Roman" pitchFamily="18" charset="0"/>
              </a:rPr>
              <a:t> X. </a:t>
            </a:r>
            <a:r>
              <a:rPr lang="en-US" dirty="0" err="1">
                <a:latin typeface="Times New Roman" pitchFamily="18" charset="0"/>
                <a:cs typeface="Times New Roman" pitchFamily="18" charset="0"/>
              </a:rPr>
              <a:t>Đun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nóng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đến</a:t>
            </a:r>
            <a:r>
              <a:rPr lang="en-US" dirty="0">
                <a:latin typeface="Times New Roman" pitchFamily="18" charset="0"/>
                <a:cs typeface="Times New Roman" pitchFamily="18" charset="0"/>
              </a:rPr>
              <a:t> 127</a:t>
            </a:r>
            <a:r>
              <a:rPr lang="en-US" baseline="30000" dirty="0">
                <a:latin typeface="Times New Roman" pitchFamily="18" charset="0"/>
                <a:cs typeface="Times New Roman" pitchFamily="18" charset="0"/>
              </a:rPr>
              <a:t>0</a:t>
            </a:r>
            <a:r>
              <a:rPr lang="en-US" dirty="0">
                <a:latin typeface="Times New Roman" pitchFamily="18" charset="0"/>
                <a:cs typeface="Times New Roman" pitchFamily="18" charset="0"/>
              </a:rPr>
              <a:t>C </a:t>
            </a:r>
            <a:r>
              <a:rPr lang="en-US" dirty="0" err="1">
                <a:latin typeface="Times New Roman" pitchFamily="18" charset="0"/>
                <a:cs typeface="Times New Roman" pitchFamily="18" charset="0"/>
              </a:rPr>
              <a:t>thì</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suất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trong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a:t>
            </a:r>
            <a:r>
              <a:rPr lang="en-US" dirty="0">
                <a:latin typeface="Times New Roman" pitchFamily="18" charset="0"/>
                <a:cs typeface="Times New Roman" pitchFamily="18" charset="0"/>
              </a:rPr>
              <a:t> 16,6.10</a:t>
            </a:r>
            <a:r>
              <a:rPr lang="en-US" baseline="30000" dirty="0">
                <a:latin typeface="Times New Roman" pitchFamily="18" charset="0"/>
                <a:cs typeface="Times New Roman" pitchFamily="18" charset="0"/>
              </a:rPr>
              <a:t>5</a:t>
            </a:r>
            <a:r>
              <a:rPr lang="en-US" dirty="0">
                <a:latin typeface="Times New Roman" pitchFamily="18" charset="0"/>
                <a:cs typeface="Times New Roman" pitchFamily="18" charset="0"/>
              </a:rPr>
              <a:t> Pa. </a:t>
            </a:r>
            <a:r>
              <a:rPr lang="en-US" dirty="0" err="1">
                <a:latin typeface="Times New Roman" pitchFamily="18" charset="0"/>
                <a:cs typeface="Times New Roman" pitchFamily="18" charset="0"/>
              </a:rPr>
              <a:t>Xác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khí</a:t>
            </a:r>
            <a:r>
              <a:rPr lang="en-US" dirty="0">
                <a:latin typeface="Times New Roman" pitchFamily="18" charset="0"/>
                <a:cs typeface="Times New Roman" pitchFamily="18" charset="0"/>
              </a:rPr>
              <a:t> X ?</a:t>
            </a:r>
          </a:p>
          <a:p>
            <a:pPr marL="0" indent="0">
              <a:buNone/>
            </a:pPr>
            <a:r>
              <a:rPr lang="en-US" dirty="0">
                <a:latin typeface="Times New Roman" pitchFamily="18" charset="0"/>
                <a:cs typeface="Times New Roman" pitchFamily="18" charset="0"/>
              </a:rPr>
              <a:t>A.	</a:t>
            </a:r>
            <a:r>
              <a:rPr lang="en-US" dirty="0" err="1">
                <a:latin typeface="Times New Roman" pitchFamily="18" charset="0"/>
                <a:cs typeface="Times New Roman" pitchFamily="18" charset="0"/>
              </a:rPr>
              <a:t>Khí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Nitơ</a:t>
            </a:r>
            <a:endParaRPr lang="en-US" dirty="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B.	</a:t>
            </a:r>
            <a:r>
              <a:rPr lang="en-US" dirty="0" err="1">
                <a:latin typeface="Times New Roman" pitchFamily="18" charset="0"/>
                <a:cs typeface="Times New Roman" pitchFamily="18" charset="0"/>
              </a:rPr>
              <a:t>Khí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Hiđrô</a:t>
            </a:r>
            <a:endParaRPr lang="en-US" dirty="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C.	</a:t>
            </a:r>
            <a:r>
              <a:rPr lang="en-US" dirty="0" err="1">
                <a:latin typeface="Times New Roman" pitchFamily="18" charset="0"/>
                <a:cs typeface="Times New Roman" pitchFamily="18" charset="0"/>
              </a:rPr>
              <a:t>Khí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Hêli</a:t>
            </a:r>
            <a:endParaRPr lang="en-US" dirty="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D.	</a:t>
            </a:r>
            <a:r>
              <a:rPr lang="en-US" dirty="0" err="1">
                <a:latin typeface="Times New Roman" pitchFamily="18" charset="0"/>
                <a:cs typeface="Times New Roman" pitchFamily="18" charset="0"/>
              </a:rPr>
              <a:t>Khí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Ôxy</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4" name="Notes Placeholder 4"/>
              <p:cNvSpPr txBox="1">
                <a:spLocks/>
              </p:cNvSpPr>
              <p:nvPr/>
            </p:nvSpPr>
            <p:spPr>
              <a:xfrm>
                <a:off x="3124200" y="2895600"/>
                <a:ext cx="5105400" cy="2133600"/>
              </a:xfrm>
              <a:prstGeom prst="wedgeEllipseCallou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chor="ctr">
                <a:norm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algn="ctr"/>
                <a14:m>
                  <m:oMath xmlns:m="http://schemas.openxmlformats.org/officeDocument/2006/math">
                    <m:sSub>
                      <m:sSubPr>
                        <m:ctrlPr>
                          <a:rPr lang="en-US" i="1" smtClean="0">
                            <a:latin typeface="Cambria Math" panose="02040503050406030204" pitchFamily="18" charset="0"/>
                          </a:rPr>
                        </m:ctrlPr>
                      </m:sSubPr>
                      <m:e>
                        <m:r>
                          <a:rPr lang="en-US" i="1">
                            <a:latin typeface="Cambria Math"/>
                          </a:rPr>
                          <m:t>𝑝</m:t>
                        </m:r>
                      </m:e>
                      <m:sub>
                        <m:r>
                          <a:rPr lang="en-US" i="1">
                            <a:latin typeface="Cambria Math"/>
                          </a:rPr>
                          <m:t>2</m:t>
                        </m:r>
                      </m:sub>
                    </m:sSub>
                    <m:r>
                      <a:rPr lang="en-US" i="1">
                        <a:latin typeface="Cambria Math"/>
                      </a:rPr>
                      <m:t>.</m:t>
                    </m:r>
                    <m:r>
                      <a:rPr lang="en-US" i="1">
                        <a:latin typeface="Cambria Math"/>
                      </a:rPr>
                      <m:t>𝑉</m:t>
                    </m:r>
                    <m:r>
                      <a:rPr lang="en-US" i="1">
                        <a:latin typeface="Cambria Math"/>
                      </a:rPr>
                      <m:t>= </m:t>
                    </m:r>
                    <m:f>
                      <m:fPr>
                        <m:ctrlPr>
                          <a:rPr lang="en-US" i="1">
                            <a:latin typeface="Cambria Math" panose="02040503050406030204" pitchFamily="18" charset="0"/>
                          </a:rPr>
                        </m:ctrlPr>
                      </m:fPr>
                      <m:num>
                        <m:r>
                          <a:rPr lang="en-US" i="1" smtClean="0">
                            <a:latin typeface="Cambria Math"/>
                          </a:rPr>
                          <m:t>𝑚</m:t>
                        </m:r>
                      </m:num>
                      <m:den>
                        <m:r>
                          <a:rPr lang="en-US" i="1">
                            <a:latin typeface="Cambria Math"/>
                            <a:ea typeface="Cambria Math"/>
                          </a:rPr>
                          <m:t>𝜇</m:t>
                        </m:r>
                      </m:den>
                    </m:f>
                    <m:r>
                      <a:rPr lang="en-US" i="1">
                        <a:latin typeface="Cambria Math"/>
                      </a:rPr>
                      <m:t>.</m:t>
                    </m:r>
                    <m:r>
                      <a:rPr lang="en-US" i="1">
                        <a:latin typeface="Cambria Math"/>
                      </a:rPr>
                      <m:t>𝑅</m:t>
                    </m:r>
                    <m:r>
                      <a:rPr lang="en-US" i="1">
                        <a:latin typeface="Cambria Math"/>
                      </a:rPr>
                      <m:t>.</m:t>
                    </m:r>
                    <m:sSub>
                      <m:sSubPr>
                        <m:ctrlPr>
                          <a:rPr lang="en-US" i="1">
                            <a:latin typeface="Cambria Math" panose="02040503050406030204" pitchFamily="18" charset="0"/>
                          </a:rPr>
                        </m:ctrlPr>
                      </m:sSubPr>
                      <m:e>
                        <m:r>
                          <a:rPr lang="en-US" i="1">
                            <a:latin typeface="Cambria Math"/>
                          </a:rPr>
                          <m:t>𝑇</m:t>
                        </m:r>
                      </m:e>
                      <m:sub>
                        <m:r>
                          <a:rPr lang="en-US" i="1">
                            <a:latin typeface="Cambria Math"/>
                          </a:rPr>
                          <m:t>2</m:t>
                        </m:r>
                      </m:sub>
                    </m:sSub>
                  </m:oMath>
                </a14:m>
                <a:endParaRPr lang="en-US" dirty="0"/>
              </a:p>
              <a:p>
                <a:pPr algn="ctr"/>
                <a14:m>
                  <m:oMath xmlns:m="http://schemas.openxmlformats.org/officeDocument/2006/math">
                    <m:r>
                      <a:rPr lang="en-US" i="1" smtClean="0">
                        <a:latin typeface="Cambria Math"/>
                        <a:ea typeface="Cambria Math"/>
                      </a:rPr>
                      <m:t>𝜇</m:t>
                    </m:r>
                  </m:oMath>
                </a14:m>
                <a:r>
                  <a:rPr lang="en-US" dirty="0"/>
                  <a:t> = 28</a:t>
                </a:r>
              </a:p>
            </p:txBody>
          </p:sp>
        </mc:Choice>
        <mc:Fallback xmlns="">
          <p:sp>
            <p:nvSpPr>
              <p:cNvPr id="4" name="Notes Placeholder 4"/>
              <p:cNvSpPr txBox="1">
                <a:spLocks noRot="1" noChangeAspect="1" noMove="1" noResize="1" noEditPoints="1" noAdjustHandles="1" noChangeArrowheads="1" noChangeShapeType="1" noTextEdit="1"/>
              </p:cNvSpPr>
              <p:nvPr/>
            </p:nvSpPr>
            <p:spPr>
              <a:xfrm>
                <a:off x="3124200" y="2895600"/>
                <a:ext cx="5105400" cy="2133600"/>
              </a:xfrm>
              <a:prstGeom prst="wedgeEllipseCallout">
                <a:avLst/>
              </a:prstGeom>
              <a:blipFill rotWithShape="1">
                <a:blip r:embed="rId3"/>
                <a:stretch>
                  <a:fillRect/>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03B8D1EF-AA2F-D94A-5A3C-24BB7F0E7CFB}"/>
              </a:ext>
            </a:extLst>
          </p:cNvPr>
          <p:cNvSpPr>
            <a:spLocks noGrp="1"/>
          </p:cNvSpPr>
          <p:nvPr>
            <p:ph type="ftr" sz="quarter" idx="11"/>
          </p:nvPr>
        </p:nvSpPr>
        <p:spPr/>
        <p:txBody>
          <a:bodyPr/>
          <a:lstStyle/>
          <a:p>
            <a:r>
              <a:rPr lang="en-US"/>
              <a:t>Bùi Quốc Trung - VLDC</a:t>
            </a:r>
          </a:p>
        </p:txBody>
      </p:sp>
      <p:sp>
        <p:nvSpPr>
          <p:cNvPr id="5" name="Slide Number Placeholder 4">
            <a:extLst>
              <a:ext uri="{FF2B5EF4-FFF2-40B4-BE49-F238E27FC236}">
                <a16:creationId xmlns:a16="http://schemas.microsoft.com/office/drawing/2014/main" id="{0D2F0C91-3B4F-3C86-2961-235C4F7382CF}"/>
              </a:ext>
            </a:extLst>
          </p:cNvPr>
          <p:cNvSpPr>
            <a:spLocks noGrp="1"/>
          </p:cNvSpPr>
          <p:nvPr>
            <p:ph type="sldNum" sz="quarter" idx="12"/>
          </p:nvPr>
        </p:nvSpPr>
        <p:spPr/>
        <p:txBody>
          <a:bodyPr/>
          <a:lstStyle/>
          <a:p>
            <a:fld id="{0C173468-4CCE-478A-9725-791AF0DB04F2}" type="slidenum">
              <a:rPr lang="en-US" smtClean="0"/>
              <a:t>19</a:t>
            </a:fld>
            <a:endParaRPr lang="en-US"/>
          </a:p>
        </p:txBody>
      </p:sp>
    </p:spTree>
    <p:extLst>
      <p:ext uri="{BB962C8B-B14F-4D97-AF65-F5344CB8AC3E}">
        <p14:creationId xmlns:p14="http://schemas.microsoft.com/office/powerpoint/2010/main" val="3264783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idx="1"/>
          </p:nvPr>
        </p:nvSpPr>
        <p:spPr>
          <a:xfrm>
            <a:off x="457200" y="1981200"/>
            <a:ext cx="8229600" cy="4876800"/>
          </a:xfrm>
        </p:spPr>
        <p:txBody>
          <a:bodyPr/>
          <a:lstStyle/>
          <a:p>
            <a:pPr marL="0" indent="0">
              <a:buNone/>
            </a:pPr>
            <a:r>
              <a:rPr lang="en-US" sz="2800" b="1" dirty="0" err="1">
                <a:solidFill>
                  <a:srgbClr val="FF3300"/>
                </a:solidFill>
              </a:rPr>
              <a:t>Hàm</a:t>
            </a:r>
            <a:r>
              <a:rPr lang="en-US" sz="2800" b="1" dirty="0">
                <a:solidFill>
                  <a:srgbClr val="FF3300"/>
                </a:solidFill>
              </a:rPr>
              <a:t> </a:t>
            </a:r>
            <a:r>
              <a:rPr lang="en-US" sz="2800" b="1" dirty="0" err="1">
                <a:solidFill>
                  <a:srgbClr val="FF3300"/>
                </a:solidFill>
              </a:rPr>
              <a:t>nhiệt</a:t>
            </a:r>
            <a:r>
              <a:rPr lang="en-US" sz="2800" b="1" dirty="0">
                <a:solidFill>
                  <a:srgbClr val="FF3300"/>
                </a:solidFill>
              </a:rPr>
              <a:t> </a:t>
            </a:r>
            <a:r>
              <a:rPr lang="en-US" sz="2800" b="1" dirty="0" err="1">
                <a:solidFill>
                  <a:srgbClr val="FF3300"/>
                </a:solidFill>
              </a:rPr>
              <a:t>động</a:t>
            </a:r>
            <a:endParaRPr lang="en-US" sz="2800" i="1" dirty="0">
              <a:solidFill>
                <a:srgbClr val="FF3300"/>
              </a:solidFill>
            </a:endParaRPr>
          </a:p>
          <a:p>
            <a:pPr eaLnBrk="1" hangingPunct="1"/>
            <a:r>
              <a:rPr lang="en-US" sz="2800" i="1" dirty="0" err="1">
                <a:solidFill>
                  <a:srgbClr val="FF3300"/>
                </a:solidFill>
              </a:rPr>
              <a:t>Hàm</a:t>
            </a:r>
            <a:r>
              <a:rPr lang="en-US" sz="2800" i="1" dirty="0">
                <a:solidFill>
                  <a:srgbClr val="FF3300"/>
                </a:solidFill>
              </a:rPr>
              <a:t> </a:t>
            </a:r>
            <a:r>
              <a:rPr lang="en-US" sz="2800" i="1" dirty="0" err="1">
                <a:solidFill>
                  <a:srgbClr val="FF3300"/>
                </a:solidFill>
              </a:rPr>
              <a:t>trạng</a:t>
            </a:r>
            <a:r>
              <a:rPr lang="en-US" sz="2800" i="1" dirty="0">
                <a:solidFill>
                  <a:srgbClr val="FF3300"/>
                </a:solidFill>
              </a:rPr>
              <a:t> </a:t>
            </a:r>
            <a:r>
              <a:rPr lang="en-US" sz="2800" i="1" dirty="0" err="1">
                <a:solidFill>
                  <a:srgbClr val="FF3300"/>
                </a:solidFill>
              </a:rPr>
              <a:t>thái</a:t>
            </a:r>
            <a:r>
              <a:rPr lang="en-US" sz="2800" i="1" dirty="0">
                <a:solidFill>
                  <a:srgbClr val="FF3300"/>
                </a:solidFill>
              </a:rPr>
              <a:t> – </a:t>
            </a:r>
            <a:r>
              <a:rPr lang="en-US" sz="2800" i="1" dirty="0" err="1">
                <a:solidFill>
                  <a:srgbClr val="FF3300"/>
                </a:solidFill>
              </a:rPr>
              <a:t>Hàm</a:t>
            </a:r>
            <a:r>
              <a:rPr lang="en-US" sz="2800" i="1" dirty="0">
                <a:solidFill>
                  <a:srgbClr val="FF3300"/>
                </a:solidFill>
              </a:rPr>
              <a:t> </a:t>
            </a:r>
            <a:r>
              <a:rPr lang="en-US" sz="2800" i="1" dirty="0" err="1">
                <a:solidFill>
                  <a:srgbClr val="FF3300"/>
                </a:solidFill>
              </a:rPr>
              <a:t>quá</a:t>
            </a:r>
            <a:r>
              <a:rPr lang="en-US" sz="2800" i="1" dirty="0">
                <a:solidFill>
                  <a:srgbClr val="FF3300"/>
                </a:solidFill>
              </a:rPr>
              <a:t> </a:t>
            </a:r>
            <a:r>
              <a:rPr lang="en-US" sz="2800" i="1" dirty="0" err="1">
                <a:solidFill>
                  <a:srgbClr val="FF3300"/>
                </a:solidFill>
              </a:rPr>
              <a:t>trình</a:t>
            </a:r>
            <a:r>
              <a:rPr lang="en-US" sz="2800" dirty="0"/>
              <a:t> </a:t>
            </a:r>
          </a:p>
          <a:p>
            <a:pPr lvl="1" eaLnBrk="1" hangingPunct="1"/>
            <a:r>
              <a:rPr lang="en-US" b="1" u="sng" dirty="0" err="1">
                <a:solidFill>
                  <a:srgbClr val="050579"/>
                </a:solidFill>
              </a:rPr>
              <a:t>Hàm</a:t>
            </a:r>
            <a:r>
              <a:rPr lang="en-US" b="1" u="sng" dirty="0">
                <a:solidFill>
                  <a:srgbClr val="050579"/>
                </a:solidFill>
              </a:rPr>
              <a:t> </a:t>
            </a:r>
            <a:r>
              <a:rPr lang="en-US" b="1" u="sng" dirty="0" err="1">
                <a:solidFill>
                  <a:srgbClr val="050579"/>
                </a:solidFill>
              </a:rPr>
              <a:t>trạng</a:t>
            </a:r>
            <a:r>
              <a:rPr lang="en-US" b="1" u="sng" dirty="0">
                <a:solidFill>
                  <a:srgbClr val="050579"/>
                </a:solidFill>
              </a:rPr>
              <a:t> </a:t>
            </a:r>
            <a:r>
              <a:rPr lang="en-US" b="1" u="sng" dirty="0" err="1">
                <a:solidFill>
                  <a:srgbClr val="050579"/>
                </a:solidFill>
              </a:rPr>
              <a:t>thái</a:t>
            </a:r>
            <a:r>
              <a:rPr lang="en-US" b="1" dirty="0">
                <a:solidFill>
                  <a:srgbClr val="050579"/>
                </a:solidFill>
              </a:rPr>
              <a:t>: </a:t>
            </a:r>
            <a:r>
              <a:rPr lang="en-US" b="1" dirty="0" err="1">
                <a:solidFill>
                  <a:srgbClr val="050579"/>
                </a:solidFill>
              </a:rPr>
              <a:t>hàm</a:t>
            </a:r>
            <a:r>
              <a:rPr lang="en-US" b="1" dirty="0">
                <a:solidFill>
                  <a:srgbClr val="050579"/>
                </a:solidFill>
              </a:rPr>
              <a:t> </a:t>
            </a:r>
            <a:r>
              <a:rPr lang="en-US" b="1" dirty="0" err="1">
                <a:solidFill>
                  <a:srgbClr val="050579"/>
                </a:solidFill>
              </a:rPr>
              <a:t>mà</a:t>
            </a:r>
            <a:r>
              <a:rPr lang="en-US" b="1" dirty="0">
                <a:solidFill>
                  <a:srgbClr val="050579"/>
                </a:solidFill>
              </a:rPr>
              <a:t> </a:t>
            </a:r>
            <a:r>
              <a:rPr lang="en-US" b="1" dirty="0" err="1">
                <a:solidFill>
                  <a:srgbClr val="050579"/>
                </a:solidFill>
              </a:rPr>
              <a:t>độ</a:t>
            </a:r>
            <a:r>
              <a:rPr lang="en-US" b="1" dirty="0">
                <a:solidFill>
                  <a:srgbClr val="050579"/>
                </a:solidFill>
              </a:rPr>
              <a:t> </a:t>
            </a:r>
            <a:r>
              <a:rPr lang="en-US" b="1" dirty="0" err="1">
                <a:solidFill>
                  <a:srgbClr val="050579"/>
                </a:solidFill>
              </a:rPr>
              <a:t>biến</a:t>
            </a:r>
            <a:r>
              <a:rPr lang="en-US" b="1" dirty="0">
                <a:solidFill>
                  <a:srgbClr val="050579"/>
                </a:solidFill>
              </a:rPr>
              <a:t> </a:t>
            </a:r>
            <a:r>
              <a:rPr lang="en-US" b="1" dirty="0" err="1">
                <a:solidFill>
                  <a:srgbClr val="050579"/>
                </a:solidFill>
              </a:rPr>
              <a:t>thiên</a:t>
            </a:r>
            <a:r>
              <a:rPr lang="en-US" b="1" dirty="0">
                <a:solidFill>
                  <a:srgbClr val="050579"/>
                </a:solidFill>
              </a:rPr>
              <a:t> </a:t>
            </a:r>
            <a:r>
              <a:rPr lang="en-US" b="1" dirty="0" err="1">
                <a:solidFill>
                  <a:srgbClr val="050579"/>
                </a:solidFill>
              </a:rPr>
              <a:t>của</a:t>
            </a:r>
            <a:r>
              <a:rPr lang="en-US" b="1" dirty="0">
                <a:solidFill>
                  <a:srgbClr val="050579"/>
                </a:solidFill>
              </a:rPr>
              <a:t> </a:t>
            </a:r>
            <a:r>
              <a:rPr lang="en-US" b="1" dirty="0" err="1">
                <a:solidFill>
                  <a:srgbClr val="050579"/>
                </a:solidFill>
              </a:rPr>
              <a:t>nó</a:t>
            </a:r>
            <a:r>
              <a:rPr lang="en-US" b="1" dirty="0">
                <a:solidFill>
                  <a:srgbClr val="050579"/>
                </a:solidFill>
              </a:rPr>
              <a:t> </a:t>
            </a:r>
            <a:r>
              <a:rPr lang="en-US" b="1" dirty="0" err="1">
                <a:solidFill>
                  <a:srgbClr val="050579"/>
                </a:solidFill>
              </a:rPr>
              <a:t>trong</a:t>
            </a:r>
            <a:r>
              <a:rPr lang="en-US" b="1" dirty="0">
                <a:solidFill>
                  <a:srgbClr val="050579"/>
                </a:solidFill>
              </a:rPr>
              <a:t> </a:t>
            </a:r>
            <a:r>
              <a:rPr lang="en-US" b="1" dirty="0" err="1">
                <a:solidFill>
                  <a:srgbClr val="050579"/>
                </a:solidFill>
              </a:rPr>
              <a:t>một</a:t>
            </a:r>
            <a:r>
              <a:rPr lang="en-US" b="1" dirty="0">
                <a:solidFill>
                  <a:srgbClr val="050579"/>
                </a:solidFill>
              </a:rPr>
              <a:t> </a:t>
            </a:r>
            <a:r>
              <a:rPr lang="en-US" b="1" dirty="0" err="1">
                <a:solidFill>
                  <a:srgbClr val="050579"/>
                </a:solidFill>
              </a:rPr>
              <a:t>quá</a:t>
            </a:r>
            <a:r>
              <a:rPr lang="en-US" b="1" dirty="0">
                <a:solidFill>
                  <a:srgbClr val="050579"/>
                </a:solidFill>
              </a:rPr>
              <a:t> </a:t>
            </a:r>
            <a:r>
              <a:rPr lang="en-US" b="1" dirty="0" err="1">
                <a:solidFill>
                  <a:srgbClr val="050579"/>
                </a:solidFill>
              </a:rPr>
              <a:t>trình</a:t>
            </a:r>
            <a:r>
              <a:rPr lang="en-US" b="1" dirty="0">
                <a:solidFill>
                  <a:srgbClr val="050579"/>
                </a:solidFill>
              </a:rPr>
              <a:t> </a:t>
            </a:r>
            <a:r>
              <a:rPr lang="en-US" b="1" dirty="0" err="1">
                <a:solidFill>
                  <a:srgbClr val="050579"/>
                </a:solidFill>
              </a:rPr>
              <a:t>biến</a:t>
            </a:r>
            <a:r>
              <a:rPr lang="en-US" b="1" dirty="0">
                <a:solidFill>
                  <a:srgbClr val="050579"/>
                </a:solidFill>
              </a:rPr>
              <a:t> </a:t>
            </a:r>
            <a:r>
              <a:rPr lang="en-US" b="1" dirty="0" err="1">
                <a:solidFill>
                  <a:srgbClr val="050579"/>
                </a:solidFill>
              </a:rPr>
              <a:t>đổi</a:t>
            </a:r>
            <a:r>
              <a:rPr lang="en-US" b="1" dirty="0">
                <a:solidFill>
                  <a:srgbClr val="050579"/>
                </a:solidFill>
              </a:rPr>
              <a:t> </a:t>
            </a:r>
            <a:r>
              <a:rPr lang="en-US" b="1" dirty="0" err="1">
                <a:solidFill>
                  <a:srgbClr val="050579"/>
                </a:solidFill>
              </a:rPr>
              <a:t>chỉ</a:t>
            </a:r>
            <a:r>
              <a:rPr lang="en-US" b="1" dirty="0">
                <a:solidFill>
                  <a:srgbClr val="050579"/>
                </a:solidFill>
              </a:rPr>
              <a:t> </a:t>
            </a:r>
            <a:r>
              <a:rPr lang="en-US" b="1" dirty="0" err="1">
                <a:solidFill>
                  <a:srgbClr val="050579"/>
                </a:solidFill>
              </a:rPr>
              <a:t>phụ</a:t>
            </a:r>
            <a:r>
              <a:rPr lang="en-US" b="1" dirty="0">
                <a:solidFill>
                  <a:srgbClr val="050579"/>
                </a:solidFill>
              </a:rPr>
              <a:t> </a:t>
            </a:r>
            <a:r>
              <a:rPr lang="en-US" b="1" dirty="0" err="1">
                <a:solidFill>
                  <a:srgbClr val="050579"/>
                </a:solidFill>
              </a:rPr>
              <a:t>thuộc</a:t>
            </a:r>
            <a:r>
              <a:rPr lang="en-US" b="1" dirty="0">
                <a:solidFill>
                  <a:srgbClr val="050579"/>
                </a:solidFill>
              </a:rPr>
              <a:t> </a:t>
            </a:r>
            <a:r>
              <a:rPr lang="en-US" b="1" dirty="0" err="1">
                <a:solidFill>
                  <a:srgbClr val="050579"/>
                </a:solidFill>
              </a:rPr>
              <a:t>vào</a:t>
            </a:r>
            <a:r>
              <a:rPr lang="en-US" b="1" dirty="0">
                <a:solidFill>
                  <a:srgbClr val="050579"/>
                </a:solidFill>
              </a:rPr>
              <a:t> </a:t>
            </a:r>
            <a:r>
              <a:rPr lang="en-US" b="1" dirty="0" err="1">
                <a:solidFill>
                  <a:srgbClr val="050579"/>
                </a:solidFill>
              </a:rPr>
              <a:t>trạng</a:t>
            </a:r>
            <a:r>
              <a:rPr lang="en-US" b="1" dirty="0">
                <a:solidFill>
                  <a:srgbClr val="050579"/>
                </a:solidFill>
              </a:rPr>
              <a:t> </a:t>
            </a:r>
            <a:r>
              <a:rPr lang="en-US" b="1" dirty="0" err="1">
                <a:solidFill>
                  <a:srgbClr val="050579"/>
                </a:solidFill>
              </a:rPr>
              <a:t>thái</a:t>
            </a:r>
            <a:r>
              <a:rPr lang="en-US" b="1" dirty="0">
                <a:solidFill>
                  <a:srgbClr val="050579"/>
                </a:solidFill>
              </a:rPr>
              <a:t> </a:t>
            </a:r>
            <a:r>
              <a:rPr lang="en-US" b="1" dirty="0" err="1">
                <a:solidFill>
                  <a:srgbClr val="050579"/>
                </a:solidFill>
              </a:rPr>
              <a:t>đầu</a:t>
            </a:r>
            <a:r>
              <a:rPr lang="en-US" b="1" dirty="0">
                <a:solidFill>
                  <a:srgbClr val="050579"/>
                </a:solidFill>
              </a:rPr>
              <a:t> </a:t>
            </a:r>
            <a:r>
              <a:rPr lang="en-US" b="1" dirty="0" err="1">
                <a:solidFill>
                  <a:srgbClr val="050579"/>
                </a:solidFill>
              </a:rPr>
              <a:t>và</a:t>
            </a:r>
            <a:r>
              <a:rPr lang="en-US" b="1" dirty="0">
                <a:solidFill>
                  <a:srgbClr val="050579"/>
                </a:solidFill>
              </a:rPr>
              <a:t> </a:t>
            </a:r>
            <a:r>
              <a:rPr lang="en-US" b="1" dirty="0" err="1">
                <a:solidFill>
                  <a:srgbClr val="050579"/>
                </a:solidFill>
              </a:rPr>
              <a:t>cuối</a:t>
            </a:r>
            <a:r>
              <a:rPr lang="en-US" b="1" dirty="0">
                <a:solidFill>
                  <a:srgbClr val="050579"/>
                </a:solidFill>
              </a:rPr>
              <a:t> </a:t>
            </a:r>
            <a:r>
              <a:rPr lang="en-US" b="1" dirty="0" err="1">
                <a:solidFill>
                  <a:srgbClr val="050579"/>
                </a:solidFill>
              </a:rPr>
              <a:t>mà</a:t>
            </a:r>
            <a:r>
              <a:rPr lang="en-US" b="1" dirty="0">
                <a:solidFill>
                  <a:srgbClr val="050579"/>
                </a:solidFill>
              </a:rPr>
              <a:t> </a:t>
            </a:r>
            <a:r>
              <a:rPr lang="en-US" b="1" dirty="0" err="1">
                <a:solidFill>
                  <a:srgbClr val="050579"/>
                </a:solidFill>
              </a:rPr>
              <a:t>không</a:t>
            </a:r>
            <a:r>
              <a:rPr lang="en-US" b="1" dirty="0">
                <a:solidFill>
                  <a:srgbClr val="050579"/>
                </a:solidFill>
              </a:rPr>
              <a:t> </a:t>
            </a:r>
            <a:r>
              <a:rPr lang="en-US" b="1" dirty="0" err="1">
                <a:solidFill>
                  <a:srgbClr val="050579"/>
                </a:solidFill>
              </a:rPr>
              <a:t>phụ</a:t>
            </a:r>
            <a:r>
              <a:rPr lang="en-US" b="1" dirty="0">
                <a:solidFill>
                  <a:srgbClr val="050579"/>
                </a:solidFill>
              </a:rPr>
              <a:t> </a:t>
            </a:r>
            <a:r>
              <a:rPr lang="en-US" b="1" dirty="0" err="1">
                <a:solidFill>
                  <a:srgbClr val="050579"/>
                </a:solidFill>
              </a:rPr>
              <a:t>thuộc</a:t>
            </a:r>
            <a:r>
              <a:rPr lang="en-US" b="1" dirty="0">
                <a:solidFill>
                  <a:srgbClr val="050579"/>
                </a:solidFill>
              </a:rPr>
              <a:t> </a:t>
            </a:r>
            <a:r>
              <a:rPr lang="en-US" b="1" dirty="0" err="1">
                <a:solidFill>
                  <a:srgbClr val="050579"/>
                </a:solidFill>
              </a:rPr>
              <a:t>vào</a:t>
            </a:r>
            <a:r>
              <a:rPr lang="en-US" b="1" dirty="0">
                <a:solidFill>
                  <a:srgbClr val="050579"/>
                </a:solidFill>
              </a:rPr>
              <a:t> </a:t>
            </a:r>
            <a:r>
              <a:rPr lang="en-US" b="1" dirty="0" err="1">
                <a:solidFill>
                  <a:srgbClr val="050579"/>
                </a:solidFill>
              </a:rPr>
              <a:t>quá</a:t>
            </a:r>
            <a:r>
              <a:rPr lang="en-US" b="1" dirty="0">
                <a:solidFill>
                  <a:srgbClr val="050579"/>
                </a:solidFill>
              </a:rPr>
              <a:t> </a:t>
            </a:r>
            <a:r>
              <a:rPr lang="en-US" b="1" dirty="0" err="1">
                <a:solidFill>
                  <a:srgbClr val="050579"/>
                </a:solidFill>
              </a:rPr>
              <a:t>trình</a:t>
            </a:r>
            <a:r>
              <a:rPr lang="en-US" b="1" dirty="0">
                <a:solidFill>
                  <a:srgbClr val="050579"/>
                </a:solidFill>
              </a:rPr>
              <a:t> </a:t>
            </a:r>
            <a:r>
              <a:rPr lang="en-US" b="1" i="1" dirty="0">
                <a:solidFill>
                  <a:srgbClr val="050579"/>
                </a:solidFill>
              </a:rPr>
              <a:t>(</a:t>
            </a:r>
            <a:r>
              <a:rPr lang="en-US" b="1" i="1" dirty="0" err="1">
                <a:solidFill>
                  <a:srgbClr val="050579"/>
                </a:solidFill>
              </a:rPr>
              <a:t>động</a:t>
            </a:r>
            <a:r>
              <a:rPr lang="en-US" b="1" i="1" dirty="0">
                <a:solidFill>
                  <a:srgbClr val="050579"/>
                </a:solidFill>
              </a:rPr>
              <a:t> </a:t>
            </a:r>
            <a:r>
              <a:rPr lang="en-US" b="1" i="1" dirty="0" err="1">
                <a:solidFill>
                  <a:srgbClr val="050579"/>
                </a:solidFill>
              </a:rPr>
              <a:t>năng</a:t>
            </a:r>
            <a:r>
              <a:rPr lang="en-US" b="1" i="1" dirty="0">
                <a:solidFill>
                  <a:srgbClr val="050579"/>
                </a:solidFill>
              </a:rPr>
              <a:t>)</a:t>
            </a:r>
            <a:endParaRPr lang="en-US" b="1" dirty="0">
              <a:solidFill>
                <a:srgbClr val="050579"/>
              </a:solidFill>
            </a:endParaRPr>
          </a:p>
          <a:p>
            <a:pPr lvl="1" eaLnBrk="1" hangingPunct="1"/>
            <a:r>
              <a:rPr lang="en-US" b="1" u="sng" dirty="0" err="1">
                <a:solidFill>
                  <a:srgbClr val="050579"/>
                </a:solidFill>
              </a:rPr>
              <a:t>Hàm</a:t>
            </a:r>
            <a:r>
              <a:rPr lang="en-US" b="1" u="sng" dirty="0">
                <a:solidFill>
                  <a:srgbClr val="050579"/>
                </a:solidFill>
              </a:rPr>
              <a:t> </a:t>
            </a:r>
            <a:r>
              <a:rPr lang="en-US" b="1" u="sng" dirty="0" err="1">
                <a:solidFill>
                  <a:srgbClr val="050579"/>
                </a:solidFill>
              </a:rPr>
              <a:t>quá</a:t>
            </a:r>
            <a:r>
              <a:rPr lang="en-US" b="1" u="sng" dirty="0">
                <a:solidFill>
                  <a:srgbClr val="050579"/>
                </a:solidFill>
              </a:rPr>
              <a:t> </a:t>
            </a:r>
            <a:r>
              <a:rPr lang="en-US" b="1" u="sng" dirty="0" err="1">
                <a:solidFill>
                  <a:srgbClr val="050579"/>
                </a:solidFill>
              </a:rPr>
              <a:t>trình</a:t>
            </a:r>
            <a:r>
              <a:rPr lang="en-US" b="1" dirty="0">
                <a:solidFill>
                  <a:srgbClr val="050579"/>
                </a:solidFill>
              </a:rPr>
              <a:t>: </a:t>
            </a:r>
            <a:r>
              <a:rPr lang="en-US" b="1" dirty="0" err="1">
                <a:solidFill>
                  <a:srgbClr val="050579"/>
                </a:solidFill>
              </a:rPr>
              <a:t>hàm</a:t>
            </a:r>
            <a:r>
              <a:rPr lang="en-US" b="1" dirty="0">
                <a:solidFill>
                  <a:srgbClr val="050579"/>
                </a:solidFill>
              </a:rPr>
              <a:t> </a:t>
            </a:r>
            <a:r>
              <a:rPr lang="en-US" b="1" dirty="0" err="1">
                <a:solidFill>
                  <a:srgbClr val="050579"/>
                </a:solidFill>
              </a:rPr>
              <a:t>mà</a:t>
            </a:r>
            <a:r>
              <a:rPr lang="en-US" b="1" dirty="0">
                <a:solidFill>
                  <a:srgbClr val="050579"/>
                </a:solidFill>
              </a:rPr>
              <a:t> </a:t>
            </a:r>
            <a:r>
              <a:rPr lang="en-US" b="1" dirty="0" err="1">
                <a:solidFill>
                  <a:srgbClr val="050579"/>
                </a:solidFill>
              </a:rPr>
              <a:t>độ</a:t>
            </a:r>
            <a:r>
              <a:rPr lang="en-US" b="1" dirty="0">
                <a:solidFill>
                  <a:srgbClr val="050579"/>
                </a:solidFill>
              </a:rPr>
              <a:t> </a:t>
            </a:r>
            <a:r>
              <a:rPr lang="en-US" b="1" dirty="0" err="1">
                <a:solidFill>
                  <a:srgbClr val="050579"/>
                </a:solidFill>
              </a:rPr>
              <a:t>biến</a:t>
            </a:r>
            <a:r>
              <a:rPr lang="en-US" b="1" dirty="0">
                <a:solidFill>
                  <a:srgbClr val="050579"/>
                </a:solidFill>
              </a:rPr>
              <a:t> </a:t>
            </a:r>
            <a:r>
              <a:rPr lang="en-US" b="1" dirty="0" err="1">
                <a:solidFill>
                  <a:srgbClr val="050579"/>
                </a:solidFill>
              </a:rPr>
              <a:t>thiên</a:t>
            </a:r>
            <a:r>
              <a:rPr lang="en-US" b="1" dirty="0">
                <a:solidFill>
                  <a:srgbClr val="050579"/>
                </a:solidFill>
              </a:rPr>
              <a:t> </a:t>
            </a:r>
            <a:r>
              <a:rPr lang="en-US" b="1" dirty="0" err="1">
                <a:solidFill>
                  <a:srgbClr val="050579"/>
                </a:solidFill>
              </a:rPr>
              <a:t>của</a:t>
            </a:r>
            <a:r>
              <a:rPr lang="en-US" b="1" dirty="0">
                <a:solidFill>
                  <a:srgbClr val="050579"/>
                </a:solidFill>
              </a:rPr>
              <a:t> </a:t>
            </a:r>
            <a:r>
              <a:rPr lang="en-US" b="1" dirty="0" err="1">
                <a:solidFill>
                  <a:srgbClr val="050579"/>
                </a:solidFill>
              </a:rPr>
              <a:t>nó</a:t>
            </a:r>
            <a:r>
              <a:rPr lang="en-US" b="1" dirty="0">
                <a:solidFill>
                  <a:srgbClr val="050579"/>
                </a:solidFill>
              </a:rPr>
              <a:t> </a:t>
            </a:r>
            <a:r>
              <a:rPr lang="en-US" b="1" dirty="0" err="1">
                <a:solidFill>
                  <a:srgbClr val="050579"/>
                </a:solidFill>
              </a:rPr>
              <a:t>trong</a:t>
            </a:r>
            <a:r>
              <a:rPr lang="en-US" b="1" dirty="0">
                <a:solidFill>
                  <a:srgbClr val="050579"/>
                </a:solidFill>
              </a:rPr>
              <a:t> </a:t>
            </a:r>
            <a:r>
              <a:rPr lang="en-US" b="1" dirty="0" err="1">
                <a:solidFill>
                  <a:srgbClr val="050579"/>
                </a:solidFill>
              </a:rPr>
              <a:t>một</a:t>
            </a:r>
            <a:r>
              <a:rPr lang="en-US" b="1" dirty="0">
                <a:solidFill>
                  <a:srgbClr val="050579"/>
                </a:solidFill>
              </a:rPr>
              <a:t> </a:t>
            </a:r>
            <a:r>
              <a:rPr lang="en-US" b="1" dirty="0" err="1">
                <a:solidFill>
                  <a:srgbClr val="050579"/>
                </a:solidFill>
              </a:rPr>
              <a:t>quá</a:t>
            </a:r>
            <a:r>
              <a:rPr lang="en-US" b="1" dirty="0">
                <a:solidFill>
                  <a:srgbClr val="050579"/>
                </a:solidFill>
              </a:rPr>
              <a:t> </a:t>
            </a:r>
            <a:r>
              <a:rPr lang="en-US" b="1" dirty="0" err="1">
                <a:solidFill>
                  <a:srgbClr val="050579"/>
                </a:solidFill>
              </a:rPr>
              <a:t>trình</a:t>
            </a:r>
            <a:r>
              <a:rPr lang="en-US" b="1" dirty="0">
                <a:solidFill>
                  <a:srgbClr val="050579"/>
                </a:solidFill>
              </a:rPr>
              <a:t> </a:t>
            </a:r>
            <a:r>
              <a:rPr lang="en-US" b="1" dirty="0" err="1">
                <a:solidFill>
                  <a:srgbClr val="050579"/>
                </a:solidFill>
              </a:rPr>
              <a:t>biến</a:t>
            </a:r>
            <a:r>
              <a:rPr lang="en-US" b="1" dirty="0">
                <a:solidFill>
                  <a:srgbClr val="050579"/>
                </a:solidFill>
              </a:rPr>
              <a:t> </a:t>
            </a:r>
            <a:r>
              <a:rPr lang="en-US" b="1" dirty="0" err="1">
                <a:solidFill>
                  <a:srgbClr val="050579"/>
                </a:solidFill>
              </a:rPr>
              <a:t>đổi</a:t>
            </a:r>
            <a:r>
              <a:rPr lang="en-US" b="1" dirty="0">
                <a:solidFill>
                  <a:srgbClr val="050579"/>
                </a:solidFill>
              </a:rPr>
              <a:t> </a:t>
            </a:r>
            <a:r>
              <a:rPr lang="en-US" b="1" dirty="0" err="1">
                <a:solidFill>
                  <a:srgbClr val="050579"/>
                </a:solidFill>
              </a:rPr>
              <a:t>không</a:t>
            </a:r>
            <a:r>
              <a:rPr lang="en-US" b="1" dirty="0">
                <a:solidFill>
                  <a:srgbClr val="050579"/>
                </a:solidFill>
              </a:rPr>
              <a:t> </a:t>
            </a:r>
            <a:r>
              <a:rPr lang="en-US" b="1" dirty="0" err="1">
                <a:solidFill>
                  <a:srgbClr val="050579"/>
                </a:solidFill>
              </a:rPr>
              <a:t>phụ</a:t>
            </a:r>
            <a:r>
              <a:rPr lang="en-US" b="1" dirty="0">
                <a:solidFill>
                  <a:srgbClr val="050579"/>
                </a:solidFill>
              </a:rPr>
              <a:t> </a:t>
            </a:r>
            <a:r>
              <a:rPr lang="en-US" b="1" dirty="0" err="1">
                <a:solidFill>
                  <a:srgbClr val="050579"/>
                </a:solidFill>
              </a:rPr>
              <a:t>thuộc</a:t>
            </a:r>
            <a:r>
              <a:rPr lang="en-US" b="1" dirty="0">
                <a:solidFill>
                  <a:srgbClr val="050579"/>
                </a:solidFill>
              </a:rPr>
              <a:t> </a:t>
            </a:r>
            <a:r>
              <a:rPr lang="en-US" b="1" dirty="0" err="1">
                <a:solidFill>
                  <a:srgbClr val="050579"/>
                </a:solidFill>
              </a:rPr>
              <a:t>vào</a:t>
            </a:r>
            <a:r>
              <a:rPr lang="en-US" b="1" dirty="0">
                <a:solidFill>
                  <a:srgbClr val="050579"/>
                </a:solidFill>
              </a:rPr>
              <a:t> </a:t>
            </a:r>
            <a:r>
              <a:rPr lang="en-US" b="1" dirty="0" err="1">
                <a:solidFill>
                  <a:srgbClr val="050579"/>
                </a:solidFill>
              </a:rPr>
              <a:t>trạng</a:t>
            </a:r>
            <a:r>
              <a:rPr lang="en-US" b="1" dirty="0">
                <a:solidFill>
                  <a:srgbClr val="050579"/>
                </a:solidFill>
              </a:rPr>
              <a:t> </a:t>
            </a:r>
            <a:r>
              <a:rPr lang="en-US" b="1" dirty="0" err="1">
                <a:solidFill>
                  <a:srgbClr val="050579"/>
                </a:solidFill>
              </a:rPr>
              <a:t>thái</a:t>
            </a:r>
            <a:r>
              <a:rPr lang="en-US" b="1" dirty="0">
                <a:solidFill>
                  <a:srgbClr val="050579"/>
                </a:solidFill>
              </a:rPr>
              <a:t> </a:t>
            </a:r>
            <a:r>
              <a:rPr lang="en-US" b="1" dirty="0" err="1">
                <a:solidFill>
                  <a:srgbClr val="050579"/>
                </a:solidFill>
              </a:rPr>
              <a:t>đầu</a:t>
            </a:r>
            <a:r>
              <a:rPr lang="en-US" b="1" dirty="0">
                <a:solidFill>
                  <a:srgbClr val="050579"/>
                </a:solidFill>
              </a:rPr>
              <a:t> </a:t>
            </a:r>
            <a:r>
              <a:rPr lang="en-US" b="1" dirty="0" err="1">
                <a:solidFill>
                  <a:srgbClr val="050579"/>
                </a:solidFill>
              </a:rPr>
              <a:t>và</a:t>
            </a:r>
            <a:r>
              <a:rPr lang="en-US" b="1" dirty="0">
                <a:solidFill>
                  <a:srgbClr val="050579"/>
                </a:solidFill>
              </a:rPr>
              <a:t> </a:t>
            </a:r>
            <a:r>
              <a:rPr lang="en-US" b="1" dirty="0" err="1">
                <a:solidFill>
                  <a:srgbClr val="050579"/>
                </a:solidFill>
              </a:rPr>
              <a:t>cuối</a:t>
            </a:r>
            <a:r>
              <a:rPr lang="en-US" b="1" dirty="0">
                <a:solidFill>
                  <a:srgbClr val="050579"/>
                </a:solidFill>
              </a:rPr>
              <a:t> </a:t>
            </a:r>
            <a:r>
              <a:rPr lang="en-US" b="1" dirty="0" err="1">
                <a:solidFill>
                  <a:srgbClr val="050579"/>
                </a:solidFill>
              </a:rPr>
              <a:t>mà</a:t>
            </a:r>
            <a:r>
              <a:rPr lang="en-US" b="1" dirty="0">
                <a:solidFill>
                  <a:srgbClr val="050579"/>
                </a:solidFill>
              </a:rPr>
              <a:t> </a:t>
            </a:r>
            <a:r>
              <a:rPr lang="en-US" b="1" dirty="0" err="1">
                <a:solidFill>
                  <a:srgbClr val="050579"/>
                </a:solidFill>
              </a:rPr>
              <a:t>chỉ</a:t>
            </a:r>
            <a:r>
              <a:rPr lang="en-US" b="1" dirty="0">
                <a:solidFill>
                  <a:srgbClr val="050579"/>
                </a:solidFill>
              </a:rPr>
              <a:t> </a:t>
            </a:r>
            <a:r>
              <a:rPr lang="en-US" b="1" dirty="0" err="1">
                <a:solidFill>
                  <a:srgbClr val="050579"/>
                </a:solidFill>
              </a:rPr>
              <a:t>phụ</a:t>
            </a:r>
            <a:r>
              <a:rPr lang="en-US" b="1" dirty="0">
                <a:solidFill>
                  <a:srgbClr val="050579"/>
                </a:solidFill>
              </a:rPr>
              <a:t> </a:t>
            </a:r>
            <a:r>
              <a:rPr lang="en-US" b="1" dirty="0" err="1">
                <a:solidFill>
                  <a:srgbClr val="050579"/>
                </a:solidFill>
              </a:rPr>
              <a:t>thuộc</a:t>
            </a:r>
            <a:r>
              <a:rPr lang="en-US" b="1" dirty="0">
                <a:solidFill>
                  <a:srgbClr val="050579"/>
                </a:solidFill>
              </a:rPr>
              <a:t> </a:t>
            </a:r>
            <a:r>
              <a:rPr lang="en-US" b="1" dirty="0" err="1">
                <a:solidFill>
                  <a:srgbClr val="050579"/>
                </a:solidFill>
              </a:rPr>
              <a:t>vào</a:t>
            </a:r>
            <a:r>
              <a:rPr lang="en-US" b="1" dirty="0">
                <a:solidFill>
                  <a:srgbClr val="050579"/>
                </a:solidFill>
              </a:rPr>
              <a:t> </a:t>
            </a:r>
            <a:r>
              <a:rPr lang="en-US" b="1" dirty="0" err="1">
                <a:solidFill>
                  <a:srgbClr val="050579"/>
                </a:solidFill>
              </a:rPr>
              <a:t>quá</a:t>
            </a:r>
            <a:r>
              <a:rPr lang="en-US" b="1" dirty="0">
                <a:solidFill>
                  <a:srgbClr val="050579"/>
                </a:solidFill>
              </a:rPr>
              <a:t> </a:t>
            </a:r>
            <a:r>
              <a:rPr lang="en-US" b="1" dirty="0" err="1">
                <a:solidFill>
                  <a:srgbClr val="050579"/>
                </a:solidFill>
              </a:rPr>
              <a:t>trình</a:t>
            </a:r>
            <a:r>
              <a:rPr lang="en-US" b="1" dirty="0">
                <a:solidFill>
                  <a:srgbClr val="050579"/>
                </a:solidFill>
              </a:rPr>
              <a:t> </a:t>
            </a:r>
            <a:r>
              <a:rPr lang="en-US" b="1" dirty="0" err="1">
                <a:solidFill>
                  <a:srgbClr val="050579"/>
                </a:solidFill>
              </a:rPr>
              <a:t>biến</a:t>
            </a:r>
            <a:r>
              <a:rPr lang="en-US" b="1" dirty="0">
                <a:solidFill>
                  <a:srgbClr val="050579"/>
                </a:solidFill>
              </a:rPr>
              <a:t> </a:t>
            </a:r>
            <a:r>
              <a:rPr lang="en-US" b="1" dirty="0" err="1">
                <a:solidFill>
                  <a:srgbClr val="050579"/>
                </a:solidFill>
              </a:rPr>
              <a:t>đổi</a:t>
            </a:r>
            <a:r>
              <a:rPr lang="en-US" b="1" dirty="0">
                <a:solidFill>
                  <a:srgbClr val="050579"/>
                </a:solidFill>
              </a:rPr>
              <a:t> </a:t>
            </a:r>
            <a:r>
              <a:rPr lang="en-US" b="1" i="1" dirty="0">
                <a:solidFill>
                  <a:srgbClr val="050579"/>
                </a:solidFill>
              </a:rPr>
              <a:t>(</a:t>
            </a:r>
            <a:r>
              <a:rPr lang="en-US" b="1" i="1" dirty="0" err="1">
                <a:solidFill>
                  <a:srgbClr val="050579"/>
                </a:solidFill>
              </a:rPr>
              <a:t>công</a:t>
            </a:r>
            <a:r>
              <a:rPr lang="en-US" b="1" i="1" dirty="0">
                <a:solidFill>
                  <a:srgbClr val="050579"/>
                </a:solidFill>
              </a:rPr>
              <a:t>)</a:t>
            </a:r>
          </a:p>
          <a:p>
            <a:pPr lvl="1" eaLnBrk="1" hangingPunct="1"/>
            <a:endParaRPr lang="en-US" dirty="0"/>
          </a:p>
        </p:txBody>
      </p:sp>
      <p:sp>
        <p:nvSpPr>
          <p:cNvPr id="2" name="Footer Placeholder 1">
            <a:extLst>
              <a:ext uri="{FF2B5EF4-FFF2-40B4-BE49-F238E27FC236}">
                <a16:creationId xmlns:a16="http://schemas.microsoft.com/office/drawing/2014/main" id="{D89BCD33-B66E-5D34-60EA-27540C5617D7}"/>
              </a:ext>
            </a:extLst>
          </p:cNvPr>
          <p:cNvSpPr>
            <a:spLocks noGrp="1"/>
          </p:cNvSpPr>
          <p:nvPr>
            <p:ph type="ftr" sz="quarter" idx="11"/>
          </p:nvPr>
        </p:nvSpPr>
        <p:spPr/>
        <p:txBody>
          <a:bodyPr/>
          <a:lstStyle/>
          <a:p>
            <a:r>
              <a:rPr lang="en-US"/>
              <a:t>Bùi Quốc Trung - VLDC</a:t>
            </a:r>
          </a:p>
        </p:txBody>
      </p:sp>
      <p:sp>
        <p:nvSpPr>
          <p:cNvPr id="3" name="Slide Number Placeholder 2">
            <a:extLst>
              <a:ext uri="{FF2B5EF4-FFF2-40B4-BE49-F238E27FC236}">
                <a16:creationId xmlns:a16="http://schemas.microsoft.com/office/drawing/2014/main" id="{F0FBF7BC-29CF-82D1-65B5-4C475F59A452}"/>
              </a:ext>
            </a:extLst>
          </p:cNvPr>
          <p:cNvSpPr>
            <a:spLocks noGrp="1"/>
          </p:cNvSpPr>
          <p:nvPr>
            <p:ph type="sldNum" sz="quarter" idx="12"/>
          </p:nvPr>
        </p:nvSpPr>
        <p:spPr/>
        <p:txBody>
          <a:bodyPr/>
          <a:lstStyle/>
          <a:p>
            <a:fld id="{0C173468-4CCE-478A-9725-791AF0DB04F2}" type="slidenum">
              <a:rPr lang="en-US" smtClean="0"/>
              <a:t>20</a:t>
            </a:fld>
            <a:endParaRPr lang="en-US"/>
          </a:p>
        </p:txBody>
      </p:sp>
      <p:grpSp>
        <p:nvGrpSpPr>
          <p:cNvPr id="10" name="Group 18"/>
          <p:cNvGrpSpPr>
            <a:grpSpLocks/>
          </p:cNvGrpSpPr>
          <p:nvPr/>
        </p:nvGrpSpPr>
        <p:grpSpPr bwMode="auto">
          <a:xfrm>
            <a:off x="914400" y="0"/>
            <a:ext cx="7543800" cy="889000"/>
            <a:chOff x="1310" y="1392"/>
            <a:chExt cx="5421" cy="560"/>
          </a:xfrm>
        </p:grpSpPr>
        <p:pic>
          <p:nvPicPr>
            <p:cNvPr id="11"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5421"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14"/>
            <p:cNvSpPr txBox="1">
              <a:spLocks noChangeArrowheads="1"/>
            </p:cNvSpPr>
            <p:nvPr/>
          </p:nvSpPr>
          <p:spPr bwMode="auto">
            <a:xfrm>
              <a:off x="2181" y="1510"/>
              <a:ext cx="3784"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wrap="none">
              <a:spAutoFit/>
            </a:bodyPr>
            <a:lstStyle/>
            <a:p>
              <a:pPr algn="ctr" fontAlgn="auto">
                <a:spcBef>
                  <a:spcPts val="2400"/>
                </a:spcBef>
                <a:spcAft>
                  <a:spcPts val="0"/>
                </a:spcAft>
                <a:defRPr/>
              </a:pPr>
              <a:r>
                <a:rPr lang="en-US" sz="2400" b="1" i="1" dirty="0">
                  <a:solidFill>
                    <a:srgbClr val="FF0000"/>
                  </a:solidFill>
                  <a:latin typeface="Times New Roman" pitchFamily="18" charset="0"/>
                  <a:cs typeface="Times New Roman" pitchFamily="18" charset="0"/>
                </a:rPr>
                <a:t> </a:t>
              </a:r>
              <a:r>
                <a:rPr lang="en-US" sz="2400" b="1" dirty="0">
                  <a:solidFill>
                    <a:srgbClr val="050579"/>
                  </a:solidFill>
                  <a:latin typeface="Times New Roman" pitchFamily="18" charset="0"/>
                  <a:cs typeface="Times New Roman" pitchFamily="18" charset="0"/>
                </a:rPr>
                <a:t>6.2</a:t>
              </a:r>
              <a:r>
                <a:rPr lang="en-US" sz="2400" b="1" dirty="0">
                  <a:solidFill>
                    <a:schemeClr val="dk1"/>
                  </a:solidFill>
                  <a:latin typeface="+mn-lt"/>
                  <a:cs typeface="+mn-cs"/>
                </a:rPr>
                <a:t> </a:t>
              </a:r>
              <a:r>
                <a:rPr lang="en-US" sz="2400" b="1" dirty="0" err="1">
                  <a:solidFill>
                    <a:srgbClr val="FF0000"/>
                  </a:solidFill>
                  <a:latin typeface="Times New Roman" pitchFamily="18" charset="0"/>
                  <a:cs typeface="Times New Roman" pitchFamily="18" charset="0"/>
                </a:rPr>
                <a:t>Nguyên</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lý</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thứ</a:t>
              </a:r>
              <a:r>
                <a:rPr lang="en-US" sz="2400" b="1" dirty="0">
                  <a:solidFill>
                    <a:srgbClr val="FF0000"/>
                  </a:solidFill>
                  <a:latin typeface="Times New Roman" pitchFamily="18" charset="0"/>
                  <a:cs typeface="Times New Roman" pitchFamily="18" charset="0"/>
                </a:rPr>
                <a:t> I </a:t>
              </a:r>
              <a:r>
                <a:rPr lang="en-US" sz="2400" b="1" dirty="0" err="1">
                  <a:solidFill>
                    <a:srgbClr val="FF0000"/>
                  </a:solidFill>
                  <a:latin typeface="Times New Roman" pitchFamily="18" charset="0"/>
                  <a:cs typeface="Times New Roman" pitchFamily="18" charset="0"/>
                </a:rPr>
                <a:t>nhiệt</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động</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lực</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học</a:t>
              </a:r>
              <a:endParaRPr lang="en-US" sz="2400" b="1" dirty="0">
                <a:solidFill>
                  <a:srgbClr val="FF0000"/>
                </a:solidFill>
                <a:latin typeface="Times New Roman" pitchFamily="18" charset="0"/>
                <a:cs typeface="Times New Roman" pitchFamily="18" charset="0"/>
              </a:endParaRPr>
            </a:p>
          </p:txBody>
        </p:sp>
      </p:grpSp>
      <p:sp>
        <p:nvSpPr>
          <p:cNvPr id="15" name="Text Box 14"/>
          <p:cNvSpPr txBox="1">
            <a:spLocks noChangeArrowheads="1"/>
          </p:cNvSpPr>
          <p:nvPr/>
        </p:nvSpPr>
        <p:spPr bwMode="auto">
          <a:xfrm>
            <a:off x="533400" y="1066800"/>
            <a:ext cx="4956695" cy="523875"/>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a:spAutoFit/>
          </a:bodyPr>
          <a:lstStyle/>
          <a:p>
            <a:pPr algn="just" fontAlgn="auto">
              <a:spcBef>
                <a:spcPts val="600"/>
              </a:spcBef>
              <a:spcAft>
                <a:spcPts val="600"/>
              </a:spcAft>
              <a:defRPr/>
            </a:pPr>
            <a:r>
              <a:rPr lang="en-US" sz="2800" b="1" i="1" dirty="0">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800" b="1" dirty="0">
                <a:solidFill>
                  <a:srgbClr val="C00000"/>
                </a:solidFill>
                <a:latin typeface="Times New Roman" pitchFamily="18" charset="0"/>
                <a:cs typeface="Times New Roman" pitchFamily="18" charset="0"/>
              </a:rPr>
              <a:t> </a:t>
            </a:r>
            <a:r>
              <a:rPr lang="en-US" sz="2800" b="1" dirty="0" err="1">
                <a:solidFill>
                  <a:srgbClr val="C00000"/>
                </a:solidFill>
                <a:latin typeface="Times New Roman" pitchFamily="18" charset="0"/>
                <a:cs typeface="Times New Roman" pitchFamily="18" charset="0"/>
              </a:rPr>
              <a:t>Các</a:t>
            </a:r>
            <a:r>
              <a:rPr lang="en-US" sz="2800" b="1" dirty="0">
                <a:solidFill>
                  <a:srgbClr val="C00000"/>
                </a:solidFill>
                <a:latin typeface="Times New Roman" pitchFamily="18" charset="0"/>
                <a:cs typeface="Times New Roman" pitchFamily="18" charset="0"/>
              </a:rPr>
              <a:t> </a:t>
            </a:r>
            <a:r>
              <a:rPr lang="en-US" sz="2800" b="1" dirty="0" err="1">
                <a:solidFill>
                  <a:srgbClr val="C00000"/>
                </a:solidFill>
                <a:latin typeface="Times New Roman" pitchFamily="18" charset="0"/>
                <a:cs typeface="Times New Roman" pitchFamily="18" charset="0"/>
              </a:rPr>
              <a:t>khái</a:t>
            </a:r>
            <a:r>
              <a:rPr lang="en-US" sz="2800" b="1" dirty="0">
                <a:solidFill>
                  <a:srgbClr val="C00000"/>
                </a:solidFill>
                <a:latin typeface="Times New Roman" pitchFamily="18" charset="0"/>
                <a:cs typeface="Times New Roman" pitchFamily="18" charset="0"/>
              </a:rPr>
              <a:t> </a:t>
            </a:r>
            <a:r>
              <a:rPr lang="en-US" sz="2800" b="1" dirty="0" err="1">
                <a:solidFill>
                  <a:srgbClr val="C00000"/>
                </a:solidFill>
                <a:latin typeface="Times New Roman" pitchFamily="18" charset="0"/>
                <a:cs typeface="Times New Roman" pitchFamily="18" charset="0"/>
              </a:rPr>
              <a:t>niệm</a:t>
            </a:r>
            <a:r>
              <a:rPr lang="en-US" sz="2800" b="1" dirty="0">
                <a:solidFill>
                  <a:srgbClr val="C00000"/>
                </a:solidFill>
                <a:latin typeface="Times New Roman" pitchFamily="18" charset="0"/>
                <a:cs typeface="Times New Roman" pitchFamily="18" charset="0"/>
              </a:rPr>
              <a:t> </a:t>
            </a:r>
            <a:r>
              <a:rPr lang="en-US" sz="2800" b="1" dirty="0" err="1">
                <a:solidFill>
                  <a:srgbClr val="C00000"/>
                </a:solidFill>
                <a:latin typeface="Times New Roman" pitchFamily="18" charset="0"/>
                <a:cs typeface="Times New Roman" pitchFamily="18" charset="0"/>
              </a:rPr>
              <a:t>cơ</a:t>
            </a:r>
            <a:r>
              <a:rPr lang="en-US" sz="2800" b="1" dirty="0">
                <a:solidFill>
                  <a:srgbClr val="C00000"/>
                </a:solidFill>
                <a:latin typeface="Times New Roman" pitchFamily="18" charset="0"/>
                <a:cs typeface="Times New Roman" pitchFamily="18" charset="0"/>
              </a:rPr>
              <a:t> </a:t>
            </a:r>
            <a:r>
              <a:rPr lang="en-US" sz="2800" b="1" dirty="0" err="1">
                <a:solidFill>
                  <a:srgbClr val="C00000"/>
                </a:solidFill>
                <a:latin typeface="Times New Roman" pitchFamily="18" charset="0"/>
                <a:cs typeface="Times New Roman" pitchFamily="18" charset="0"/>
              </a:rPr>
              <a:t>bản</a:t>
            </a:r>
            <a:endParaRPr lang="en-US" sz="2800" b="1" dirty="0">
              <a:solidFill>
                <a:srgbClr val="C00000"/>
              </a:solidFill>
              <a:latin typeface="Times New Roman" pitchFamily="18" charset="0"/>
              <a:cs typeface="Times New Roman" pitchFamily="18" charset="0"/>
            </a:endParaRPr>
          </a:p>
        </p:txBody>
      </p:sp>
    </p:spTree>
    <p:extLst>
      <p:ext uri="{BB962C8B-B14F-4D97-AF65-F5344CB8AC3E}">
        <p14:creationId xmlns:p14="http://schemas.microsoft.com/office/powerpoint/2010/main" val="1112816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4"/>
          <p:cNvSpPr>
            <a:spLocks noGrp="1" noChangeArrowheads="1"/>
          </p:cNvSpPr>
          <p:nvPr>
            <p:ph/>
          </p:nvPr>
        </p:nvSpPr>
        <p:spPr/>
        <p:txBody>
          <a:bodyPr/>
          <a:lstStyle/>
          <a:p>
            <a:pPr eaLnBrk="1" hangingPunct="1"/>
            <a:r>
              <a:rPr lang="en-US" sz="2800" b="1" u="sng" dirty="0" err="1">
                <a:solidFill>
                  <a:srgbClr val="FF0000"/>
                </a:solidFill>
              </a:rPr>
              <a:t>Nhiệt</a:t>
            </a:r>
            <a:r>
              <a:rPr lang="en-US" sz="2800" b="1" u="sng" dirty="0">
                <a:solidFill>
                  <a:srgbClr val="FF0000"/>
                </a:solidFill>
              </a:rPr>
              <a:t> dung </a:t>
            </a:r>
            <a:r>
              <a:rPr lang="en-US" sz="2800" b="1" u="sng" dirty="0" err="1">
                <a:solidFill>
                  <a:srgbClr val="FF0000"/>
                </a:solidFill>
              </a:rPr>
              <a:t>riêng</a:t>
            </a:r>
            <a:r>
              <a:rPr lang="en-US" sz="2800" b="1" u="sng" dirty="0">
                <a:solidFill>
                  <a:srgbClr val="FF0000"/>
                </a:solidFill>
              </a:rPr>
              <a:t> </a:t>
            </a:r>
            <a:r>
              <a:rPr lang="en-US" sz="2800" b="1" u="sng" dirty="0" err="1">
                <a:solidFill>
                  <a:srgbClr val="FF0000"/>
                </a:solidFill>
              </a:rPr>
              <a:t>của</a:t>
            </a:r>
            <a:r>
              <a:rPr lang="en-US" sz="2800" b="1" u="sng" dirty="0">
                <a:solidFill>
                  <a:srgbClr val="FF0000"/>
                </a:solidFill>
              </a:rPr>
              <a:t> </a:t>
            </a:r>
            <a:r>
              <a:rPr lang="en-US" sz="2800" b="1" u="sng" dirty="0" err="1">
                <a:solidFill>
                  <a:srgbClr val="FF0000"/>
                </a:solidFill>
              </a:rPr>
              <a:t>chất</a:t>
            </a:r>
            <a:r>
              <a:rPr lang="en-US" sz="2800" b="1" u="sng" dirty="0">
                <a:solidFill>
                  <a:srgbClr val="FF0000"/>
                </a:solidFill>
              </a:rPr>
              <a:t> </a:t>
            </a:r>
            <a:r>
              <a:rPr lang="en-US" sz="2800" b="1" u="sng" dirty="0" err="1">
                <a:solidFill>
                  <a:srgbClr val="FF0000"/>
                </a:solidFill>
              </a:rPr>
              <a:t>khí</a:t>
            </a:r>
            <a:endParaRPr lang="en-US" sz="2800" b="1" u="sng" dirty="0">
              <a:solidFill>
                <a:srgbClr val="FF0000"/>
              </a:solidFill>
            </a:endParaRPr>
          </a:p>
          <a:p>
            <a:pPr lvl="1" eaLnBrk="1" hangingPunct="1"/>
            <a:endParaRPr lang="en-US" b="1" dirty="0">
              <a:solidFill>
                <a:srgbClr val="050579"/>
              </a:solidFill>
            </a:endParaRPr>
          </a:p>
          <a:p>
            <a:pPr lvl="1" eaLnBrk="1" hangingPunct="1"/>
            <a:r>
              <a:rPr lang="en-US" b="1" u="sng" dirty="0" err="1">
                <a:solidFill>
                  <a:srgbClr val="050579"/>
                </a:solidFill>
              </a:rPr>
              <a:t>Nhiệt</a:t>
            </a:r>
            <a:r>
              <a:rPr lang="en-US" b="1" u="sng" dirty="0">
                <a:solidFill>
                  <a:srgbClr val="050579"/>
                </a:solidFill>
              </a:rPr>
              <a:t> dung </a:t>
            </a:r>
            <a:r>
              <a:rPr lang="en-US" b="1" u="sng" dirty="0" err="1">
                <a:solidFill>
                  <a:srgbClr val="050579"/>
                </a:solidFill>
              </a:rPr>
              <a:t>riêng</a:t>
            </a:r>
            <a:r>
              <a:rPr lang="en-US" b="1" dirty="0">
                <a:solidFill>
                  <a:srgbClr val="050579"/>
                </a:solidFill>
              </a:rPr>
              <a:t>: </a:t>
            </a:r>
            <a:r>
              <a:rPr lang="en-US" b="1" dirty="0" err="1">
                <a:solidFill>
                  <a:srgbClr val="050579"/>
                </a:solidFill>
              </a:rPr>
              <a:t>nhiệt</a:t>
            </a:r>
            <a:r>
              <a:rPr lang="en-US" b="1" dirty="0">
                <a:solidFill>
                  <a:srgbClr val="050579"/>
                </a:solidFill>
              </a:rPr>
              <a:t> </a:t>
            </a:r>
            <a:r>
              <a:rPr lang="en-US" b="1" dirty="0" err="1">
                <a:solidFill>
                  <a:srgbClr val="050579"/>
                </a:solidFill>
              </a:rPr>
              <a:t>lượng</a:t>
            </a:r>
            <a:r>
              <a:rPr lang="en-US" b="1" dirty="0">
                <a:solidFill>
                  <a:srgbClr val="050579"/>
                </a:solidFill>
              </a:rPr>
              <a:t> </a:t>
            </a:r>
            <a:r>
              <a:rPr lang="en-US" b="1" dirty="0" err="1">
                <a:solidFill>
                  <a:srgbClr val="050579"/>
                </a:solidFill>
              </a:rPr>
              <a:t>cần</a:t>
            </a:r>
            <a:r>
              <a:rPr lang="en-US" b="1" dirty="0">
                <a:solidFill>
                  <a:srgbClr val="050579"/>
                </a:solidFill>
              </a:rPr>
              <a:t> </a:t>
            </a:r>
            <a:r>
              <a:rPr lang="en-US" b="1" dirty="0" err="1">
                <a:solidFill>
                  <a:srgbClr val="050579"/>
                </a:solidFill>
              </a:rPr>
              <a:t>thiết</a:t>
            </a:r>
            <a:r>
              <a:rPr lang="en-US" b="1" dirty="0">
                <a:solidFill>
                  <a:srgbClr val="050579"/>
                </a:solidFill>
              </a:rPr>
              <a:t> </a:t>
            </a:r>
            <a:r>
              <a:rPr lang="en-US" b="1" dirty="0" err="1">
                <a:solidFill>
                  <a:srgbClr val="050579"/>
                </a:solidFill>
              </a:rPr>
              <a:t>để</a:t>
            </a:r>
            <a:r>
              <a:rPr lang="en-US" b="1" dirty="0">
                <a:solidFill>
                  <a:srgbClr val="050579"/>
                </a:solidFill>
              </a:rPr>
              <a:t> </a:t>
            </a:r>
            <a:r>
              <a:rPr lang="en-US" b="1" dirty="0" err="1">
                <a:solidFill>
                  <a:srgbClr val="050579"/>
                </a:solidFill>
              </a:rPr>
              <a:t>đưa</a:t>
            </a:r>
            <a:r>
              <a:rPr lang="en-US" b="1" dirty="0">
                <a:solidFill>
                  <a:srgbClr val="050579"/>
                </a:solidFill>
              </a:rPr>
              <a:t> </a:t>
            </a:r>
            <a:r>
              <a:rPr lang="en-US" b="1" dirty="0" err="1">
                <a:solidFill>
                  <a:srgbClr val="050579"/>
                </a:solidFill>
              </a:rPr>
              <a:t>nhiệt</a:t>
            </a:r>
            <a:r>
              <a:rPr lang="en-US" b="1" dirty="0">
                <a:solidFill>
                  <a:srgbClr val="050579"/>
                </a:solidFill>
              </a:rPr>
              <a:t> </a:t>
            </a:r>
            <a:r>
              <a:rPr lang="en-US" b="1" dirty="0" err="1">
                <a:solidFill>
                  <a:srgbClr val="050579"/>
                </a:solidFill>
              </a:rPr>
              <a:t>độ</a:t>
            </a:r>
            <a:r>
              <a:rPr lang="en-US" b="1" dirty="0">
                <a:solidFill>
                  <a:srgbClr val="050579"/>
                </a:solidFill>
              </a:rPr>
              <a:t> </a:t>
            </a:r>
            <a:r>
              <a:rPr lang="en-US" b="1" dirty="0" err="1">
                <a:solidFill>
                  <a:srgbClr val="050579"/>
                </a:solidFill>
              </a:rPr>
              <a:t>của</a:t>
            </a:r>
            <a:r>
              <a:rPr lang="en-US" b="1" dirty="0">
                <a:solidFill>
                  <a:srgbClr val="050579"/>
                </a:solidFill>
              </a:rPr>
              <a:t> </a:t>
            </a:r>
            <a:r>
              <a:rPr lang="en-US" b="1" dirty="0" err="1">
                <a:solidFill>
                  <a:srgbClr val="050579"/>
                </a:solidFill>
              </a:rPr>
              <a:t>một</a:t>
            </a:r>
            <a:r>
              <a:rPr lang="en-US" b="1" dirty="0">
                <a:solidFill>
                  <a:srgbClr val="050579"/>
                </a:solidFill>
              </a:rPr>
              <a:t> </a:t>
            </a:r>
            <a:r>
              <a:rPr lang="en-US" b="1" dirty="0" err="1">
                <a:solidFill>
                  <a:srgbClr val="050579"/>
                </a:solidFill>
              </a:rPr>
              <a:t>đơn</a:t>
            </a:r>
            <a:r>
              <a:rPr lang="en-US" b="1" dirty="0">
                <a:solidFill>
                  <a:srgbClr val="050579"/>
                </a:solidFill>
              </a:rPr>
              <a:t> </a:t>
            </a:r>
            <a:r>
              <a:rPr lang="en-US" b="1" dirty="0" err="1">
                <a:solidFill>
                  <a:srgbClr val="050579"/>
                </a:solidFill>
              </a:rPr>
              <a:t>vị</a:t>
            </a:r>
            <a:r>
              <a:rPr lang="en-US" b="1" dirty="0">
                <a:solidFill>
                  <a:srgbClr val="050579"/>
                </a:solidFill>
              </a:rPr>
              <a:t> </a:t>
            </a:r>
            <a:r>
              <a:rPr lang="en-US" b="1" dirty="0" err="1">
                <a:solidFill>
                  <a:srgbClr val="050579"/>
                </a:solidFill>
              </a:rPr>
              <a:t>khối</a:t>
            </a:r>
            <a:r>
              <a:rPr lang="en-US" b="1" dirty="0">
                <a:solidFill>
                  <a:srgbClr val="050579"/>
                </a:solidFill>
              </a:rPr>
              <a:t> </a:t>
            </a:r>
            <a:r>
              <a:rPr lang="en-US" b="1" dirty="0" err="1">
                <a:solidFill>
                  <a:srgbClr val="050579"/>
                </a:solidFill>
              </a:rPr>
              <a:t>lượng</a:t>
            </a:r>
            <a:r>
              <a:rPr lang="en-US" b="1" dirty="0">
                <a:solidFill>
                  <a:srgbClr val="050579"/>
                </a:solidFill>
              </a:rPr>
              <a:t> </a:t>
            </a:r>
            <a:r>
              <a:rPr lang="en-US" b="1" dirty="0" err="1">
                <a:solidFill>
                  <a:srgbClr val="050579"/>
                </a:solidFill>
              </a:rPr>
              <a:t>chất</a:t>
            </a:r>
            <a:r>
              <a:rPr lang="en-US" b="1" dirty="0">
                <a:solidFill>
                  <a:srgbClr val="050579"/>
                </a:solidFill>
              </a:rPr>
              <a:t> </a:t>
            </a:r>
            <a:r>
              <a:rPr lang="en-US" b="1" dirty="0" err="1">
                <a:solidFill>
                  <a:srgbClr val="050579"/>
                </a:solidFill>
              </a:rPr>
              <a:t>đó</a:t>
            </a:r>
            <a:r>
              <a:rPr lang="en-US" b="1" dirty="0">
                <a:solidFill>
                  <a:srgbClr val="050579"/>
                </a:solidFill>
              </a:rPr>
              <a:t> </a:t>
            </a:r>
            <a:r>
              <a:rPr lang="en-US" b="1" dirty="0" err="1">
                <a:solidFill>
                  <a:srgbClr val="050579"/>
                </a:solidFill>
              </a:rPr>
              <a:t>tăng</a:t>
            </a:r>
            <a:r>
              <a:rPr lang="en-US" b="1" dirty="0">
                <a:solidFill>
                  <a:srgbClr val="050579"/>
                </a:solidFill>
              </a:rPr>
              <a:t> 1°C (c, J/</a:t>
            </a:r>
            <a:r>
              <a:rPr lang="en-US" b="1" dirty="0" err="1">
                <a:solidFill>
                  <a:srgbClr val="050579"/>
                </a:solidFill>
              </a:rPr>
              <a:t>kg.K</a:t>
            </a:r>
            <a:r>
              <a:rPr lang="en-US" b="1" dirty="0">
                <a:solidFill>
                  <a:srgbClr val="050579"/>
                </a:solidFill>
              </a:rPr>
              <a:t>)</a:t>
            </a:r>
          </a:p>
          <a:p>
            <a:pPr lvl="1" eaLnBrk="1" hangingPunct="1"/>
            <a:r>
              <a:rPr lang="en-US" b="1" u="sng" dirty="0" err="1">
                <a:solidFill>
                  <a:srgbClr val="050579"/>
                </a:solidFill>
              </a:rPr>
              <a:t>Nhiệt</a:t>
            </a:r>
            <a:r>
              <a:rPr lang="en-US" b="1" u="sng" dirty="0">
                <a:solidFill>
                  <a:srgbClr val="050579"/>
                </a:solidFill>
              </a:rPr>
              <a:t> dung </a:t>
            </a:r>
            <a:r>
              <a:rPr lang="en-US" b="1" u="sng" dirty="0" err="1">
                <a:solidFill>
                  <a:srgbClr val="050579"/>
                </a:solidFill>
              </a:rPr>
              <a:t>riêng</a:t>
            </a:r>
            <a:r>
              <a:rPr lang="en-US" b="1" u="sng" dirty="0">
                <a:solidFill>
                  <a:srgbClr val="050579"/>
                </a:solidFill>
              </a:rPr>
              <a:t> </a:t>
            </a:r>
            <a:r>
              <a:rPr lang="en-US" b="1" u="sng" dirty="0" err="1">
                <a:solidFill>
                  <a:srgbClr val="050579"/>
                </a:solidFill>
              </a:rPr>
              <a:t>phân</a:t>
            </a:r>
            <a:r>
              <a:rPr lang="en-US" b="1" u="sng" dirty="0">
                <a:solidFill>
                  <a:srgbClr val="050579"/>
                </a:solidFill>
              </a:rPr>
              <a:t> </a:t>
            </a:r>
            <a:r>
              <a:rPr lang="en-US" b="1" u="sng" dirty="0" err="1">
                <a:solidFill>
                  <a:srgbClr val="050579"/>
                </a:solidFill>
              </a:rPr>
              <a:t>tử</a:t>
            </a:r>
            <a:r>
              <a:rPr lang="en-US" b="1" u="sng" dirty="0">
                <a:solidFill>
                  <a:srgbClr val="050579"/>
                </a:solidFill>
              </a:rPr>
              <a:t> (ND </a:t>
            </a:r>
            <a:r>
              <a:rPr lang="en-US" b="1" u="sng" dirty="0" err="1">
                <a:solidFill>
                  <a:srgbClr val="050579"/>
                </a:solidFill>
              </a:rPr>
              <a:t>mol</a:t>
            </a:r>
            <a:r>
              <a:rPr lang="en-US" b="1" u="sng" dirty="0">
                <a:solidFill>
                  <a:srgbClr val="050579"/>
                </a:solidFill>
              </a:rPr>
              <a:t>): </a:t>
            </a:r>
            <a:r>
              <a:rPr lang="en-US" b="1" dirty="0" err="1">
                <a:solidFill>
                  <a:srgbClr val="050579"/>
                </a:solidFill>
              </a:rPr>
              <a:t>nhiệt</a:t>
            </a:r>
            <a:r>
              <a:rPr lang="en-US" b="1" dirty="0">
                <a:solidFill>
                  <a:srgbClr val="050579"/>
                </a:solidFill>
              </a:rPr>
              <a:t> </a:t>
            </a:r>
            <a:r>
              <a:rPr lang="en-US" b="1" dirty="0" err="1">
                <a:solidFill>
                  <a:srgbClr val="050579"/>
                </a:solidFill>
              </a:rPr>
              <a:t>lượng</a:t>
            </a:r>
            <a:r>
              <a:rPr lang="en-US" b="1" dirty="0">
                <a:solidFill>
                  <a:srgbClr val="050579"/>
                </a:solidFill>
              </a:rPr>
              <a:t> </a:t>
            </a:r>
            <a:r>
              <a:rPr lang="en-US" b="1" dirty="0" err="1">
                <a:solidFill>
                  <a:srgbClr val="050579"/>
                </a:solidFill>
              </a:rPr>
              <a:t>cần</a:t>
            </a:r>
            <a:r>
              <a:rPr lang="en-US" b="1" dirty="0">
                <a:solidFill>
                  <a:srgbClr val="050579"/>
                </a:solidFill>
              </a:rPr>
              <a:t> </a:t>
            </a:r>
            <a:r>
              <a:rPr lang="en-US" b="1" dirty="0" err="1">
                <a:solidFill>
                  <a:srgbClr val="050579"/>
                </a:solidFill>
              </a:rPr>
              <a:t>thiết</a:t>
            </a:r>
            <a:r>
              <a:rPr lang="en-US" b="1" dirty="0">
                <a:solidFill>
                  <a:srgbClr val="050579"/>
                </a:solidFill>
              </a:rPr>
              <a:t> </a:t>
            </a:r>
            <a:r>
              <a:rPr lang="en-US" b="1" dirty="0" err="1">
                <a:solidFill>
                  <a:srgbClr val="050579"/>
                </a:solidFill>
              </a:rPr>
              <a:t>để</a:t>
            </a:r>
            <a:r>
              <a:rPr lang="en-US" b="1" dirty="0">
                <a:solidFill>
                  <a:srgbClr val="050579"/>
                </a:solidFill>
              </a:rPr>
              <a:t> </a:t>
            </a:r>
            <a:r>
              <a:rPr lang="en-US" b="1" dirty="0" err="1">
                <a:solidFill>
                  <a:srgbClr val="050579"/>
                </a:solidFill>
              </a:rPr>
              <a:t>đưa</a:t>
            </a:r>
            <a:r>
              <a:rPr lang="en-US" b="1" dirty="0">
                <a:solidFill>
                  <a:srgbClr val="050579"/>
                </a:solidFill>
              </a:rPr>
              <a:t> </a:t>
            </a:r>
            <a:r>
              <a:rPr lang="en-US" b="1" dirty="0" err="1">
                <a:solidFill>
                  <a:srgbClr val="050579"/>
                </a:solidFill>
              </a:rPr>
              <a:t>nhiệt</a:t>
            </a:r>
            <a:r>
              <a:rPr lang="en-US" b="1" dirty="0">
                <a:solidFill>
                  <a:srgbClr val="050579"/>
                </a:solidFill>
              </a:rPr>
              <a:t> </a:t>
            </a:r>
            <a:r>
              <a:rPr lang="en-US" b="1" dirty="0" err="1">
                <a:solidFill>
                  <a:srgbClr val="050579"/>
                </a:solidFill>
              </a:rPr>
              <a:t>độ</a:t>
            </a:r>
            <a:r>
              <a:rPr lang="en-US" b="1" dirty="0">
                <a:solidFill>
                  <a:srgbClr val="050579"/>
                </a:solidFill>
              </a:rPr>
              <a:t> </a:t>
            </a:r>
            <a:r>
              <a:rPr lang="en-US" b="1" dirty="0" err="1">
                <a:solidFill>
                  <a:srgbClr val="050579"/>
                </a:solidFill>
              </a:rPr>
              <a:t>của</a:t>
            </a:r>
            <a:r>
              <a:rPr lang="en-US" b="1" dirty="0">
                <a:solidFill>
                  <a:srgbClr val="050579"/>
                </a:solidFill>
              </a:rPr>
              <a:t> </a:t>
            </a:r>
            <a:r>
              <a:rPr lang="en-US" b="1" dirty="0" err="1">
                <a:solidFill>
                  <a:srgbClr val="050579"/>
                </a:solidFill>
              </a:rPr>
              <a:t>một</a:t>
            </a:r>
            <a:r>
              <a:rPr lang="en-US" b="1" dirty="0">
                <a:solidFill>
                  <a:srgbClr val="050579"/>
                </a:solidFill>
              </a:rPr>
              <a:t> </a:t>
            </a:r>
            <a:r>
              <a:rPr lang="en-US" b="1" dirty="0" err="1">
                <a:solidFill>
                  <a:srgbClr val="050579"/>
                </a:solidFill>
              </a:rPr>
              <a:t>mol</a:t>
            </a:r>
            <a:r>
              <a:rPr lang="en-US" b="1" dirty="0">
                <a:solidFill>
                  <a:srgbClr val="050579"/>
                </a:solidFill>
              </a:rPr>
              <a:t> </a:t>
            </a:r>
            <a:r>
              <a:rPr lang="en-US" b="1" dirty="0" err="1">
                <a:solidFill>
                  <a:srgbClr val="050579"/>
                </a:solidFill>
              </a:rPr>
              <a:t>chất</a:t>
            </a:r>
            <a:r>
              <a:rPr lang="en-US" b="1" dirty="0">
                <a:solidFill>
                  <a:srgbClr val="050579"/>
                </a:solidFill>
              </a:rPr>
              <a:t> </a:t>
            </a:r>
            <a:r>
              <a:rPr lang="en-US" b="1" dirty="0" err="1">
                <a:solidFill>
                  <a:srgbClr val="050579"/>
                </a:solidFill>
              </a:rPr>
              <a:t>khí</a:t>
            </a:r>
            <a:r>
              <a:rPr lang="en-US" b="1" dirty="0">
                <a:solidFill>
                  <a:srgbClr val="050579"/>
                </a:solidFill>
              </a:rPr>
              <a:t> </a:t>
            </a:r>
            <a:r>
              <a:rPr lang="en-US" b="1" dirty="0" err="1">
                <a:solidFill>
                  <a:srgbClr val="050579"/>
                </a:solidFill>
              </a:rPr>
              <a:t>tăng</a:t>
            </a:r>
            <a:r>
              <a:rPr lang="en-US" b="1" dirty="0">
                <a:solidFill>
                  <a:srgbClr val="050579"/>
                </a:solidFill>
              </a:rPr>
              <a:t> 1°C (C = c.</a:t>
            </a:r>
            <a:r>
              <a:rPr lang="el-GR" b="1" dirty="0">
                <a:solidFill>
                  <a:srgbClr val="050579"/>
                </a:solidFill>
              </a:rPr>
              <a:t>μ</a:t>
            </a:r>
            <a:r>
              <a:rPr lang="en-US" b="1" dirty="0">
                <a:solidFill>
                  <a:srgbClr val="050579"/>
                </a:solidFill>
              </a:rPr>
              <a:t>, J/</a:t>
            </a:r>
            <a:r>
              <a:rPr lang="en-US" b="1" dirty="0" err="1">
                <a:solidFill>
                  <a:srgbClr val="050579"/>
                </a:solidFill>
              </a:rPr>
              <a:t>mol.K</a:t>
            </a:r>
            <a:r>
              <a:rPr lang="en-US" b="1" dirty="0">
                <a:solidFill>
                  <a:srgbClr val="050579"/>
                </a:solidFill>
              </a:rPr>
              <a:t>)</a:t>
            </a:r>
          </a:p>
          <a:p>
            <a:pPr lvl="1" eaLnBrk="1" hangingPunct="1"/>
            <a:r>
              <a:rPr lang="en-US" b="1" dirty="0" err="1">
                <a:solidFill>
                  <a:srgbClr val="050579"/>
                </a:solidFill>
              </a:rPr>
              <a:t>Đun</a:t>
            </a:r>
            <a:r>
              <a:rPr lang="en-US" b="1" dirty="0">
                <a:solidFill>
                  <a:srgbClr val="050579"/>
                </a:solidFill>
              </a:rPr>
              <a:t> </a:t>
            </a:r>
            <a:r>
              <a:rPr lang="en-US" b="1" dirty="0" err="1">
                <a:solidFill>
                  <a:srgbClr val="050579"/>
                </a:solidFill>
              </a:rPr>
              <a:t>nóng</a:t>
            </a:r>
            <a:r>
              <a:rPr lang="en-US" b="1" dirty="0">
                <a:solidFill>
                  <a:srgbClr val="050579"/>
                </a:solidFill>
              </a:rPr>
              <a:t> </a:t>
            </a:r>
            <a:r>
              <a:rPr lang="en-US" b="1" dirty="0" err="1">
                <a:solidFill>
                  <a:srgbClr val="050579"/>
                </a:solidFill>
              </a:rPr>
              <a:t>chất</a:t>
            </a:r>
            <a:r>
              <a:rPr lang="en-US" b="1" dirty="0">
                <a:solidFill>
                  <a:srgbClr val="050579"/>
                </a:solidFill>
              </a:rPr>
              <a:t> </a:t>
            </a:r>
            <a:r>
              <a:rPr lang="en-US" b="1" dirty="0" err="1">
                <a:solidFill>
                  <a:srgbClr val="050579"/>
                </a:solidFill>
              </a:rPr>
              <a:t>khí</a:t>
            </a:r>
            <a:r>
              <a:rPr lang="en-US" b="1" dirty="0">
                <a:solidFill>
                  <a:srgbClr val="050579"/>
                </a:solidFill>
              </a:rPr>
              <a:t> </a:t>
            </a:r>
            <a:r>
              <a:rPr lang="en-US" b="1" dirty="0" err="1">
                <a:solidFill>
                  <a:srgbClr val="050579"/>
                </a:solidFill>
              </a:rPr>
              <a:t>từ</a:t>
            </a:r>
            <a:r>
              <a:rPr lang="en-US" b="1" dirty="0">
                <a:solidFill>
                  <a:srgbClr val="050579"/>
                </a:solidFill>
              </a:rPr>
              <a:t> </a:t>
            </a:r>
            <a:r>
              <a:rPr lang="en-US" b="1" dirty="0" err="1">
                <a:solidFill>
                  <a:srgbClr val="050579"/>
                </a:solidFill>
              </a:rPr>
              <a:t>nhiệt</a:t>
            </a:r>
            <a:r>
              <a:rPr lang="en-US" b="1" dirty="0">
                <a:solidFill>
                  <a:srgbClr val="050579"/>
                </a:solidFill>
              </a:rPr>
              <a:t> </a:t>
            </a:r>
            <a:r>
              <a:rPr lang="en-US" b="1" dirty="0" err="1">
                <a:solidFill>
                  <a:srgbClr val="050579"/>
                </a:solidFill>
              </a:rPr>
              <a:t>độ</a:t>
            </a:r>
            <a:r>
              <a:rPr lang="en-US" b="1" dirty="0">
                <a:solidFill>
                  <a:srgbClr val="050579"/>
                </a:solidFill>
              </a:rPr>
              <a:t> T </a:t>
            </a:r>
            <a:r>
              <a:rPr lang="en-US" b="1" dirty="0" err="1">
                <a:solidFill>
                  <a:srgbClr val="050579"/>
                </a:solidFill>
              </a:rPr>
              <a:t>lên</a:t>
            </a:r>
            <a:r>
              <a:rPr lang="en-US" b="1" dirty="0">
                <a:solidFill>
                  <a:srgbClr val="050579"/>
                </a:solidFill>
              </a:rPr>
              <a:t> T’=</a:t>
            </a:r>
            <a:r>
              <a:rPr lang="en-US" b="1" dirty="0" err="1">
                <a:solidFill>
                  <a:srgbClr val="050579"/>
                </a:solidFill>
              </a:rPr>
              <a:t>T+dT</a:t>
            </a:r>
            <a:endParaRPr lang="en-US" b="1" dirty="0">
              <a:solidFill>
                <a:srgbClr val="050579"/>
              </a:solidFill>
            </a:endParaRPr>
          </a:p>
          <a:p>
            <a:pPr lvl="2" eaLnBrk="1" hangingPunct="1"/>
            <a:r>
              <a:rPr lang="en-US" sz="2800" b="1" dirty="0" err="1">
                <a:solidFill>
                  <a:srgbClr val="050579"/>
                </a:solidFill>
              </a:rPr>
              <a:t>Đẳng</a:t>
            </a:r>
            <a:r>
              <a:rPr lang="en-US" sz="2800" b="1" dirty="0">
                <a:solidFill>
                  <a:srgbClr val="050579"/>
                </a:solidFill>
              </a:rPr>
              <a:t> </a:t>
            </a:r>
            <a:r>
              <a:rPr lang="en-US" sz="2800" b="1" dirty="0" err="1">
                <a:solidFill>
                  <a:srgbClr val="050579"/>
                </a:solidFill>
              </a:rPr>
              <a:t>tích</a:t>
            </a:r>
            <a:r>
              <a:rPr lang="en-US" sz="2800" b="1" dirty="0">
                <a:solidFill>
                  <a:srgbClr val="050579"/>
                </a:solidFill>
              </a:rPr>
              <a:t>: </a:t>
            </a:r>
            <a:r>
              <a:rPr lang="en-US" sz="2800" b="1" dirty="0" err="1">
                <a:solidFill>
                  <a:srgbClr val="050579"/>
                </a:solidFill>
              </a:rPr>
              <a:t>Nhiệt</a:t>
            </a:r>
            <a:r>
              <a:rPr lang="en-US" sz="2800" b="1" dirty="0">
                <a:solidFill>
                  <a:srgbClr val="050579"/>
                </a:solidFill>
              </a:rPr>
              <a:t> dung </a:t>
            </a:r>
            <a:r>
              <a:rPr lang="en-US" sz="2800" b="1" dirty="0" err="1">
                <a:solidFill>
                  <a:srgbClr val="050579"/>
                </a:solidFill>
              </a:rPr>
              <a:t>mol</a:t>
            </a:r>
            <a:r>
              <a:rPr lang="en-US" sz="2800" b="1" dirty="0">
                <a:solidFill>
                  <a:srgbClr val="050579"/>
                </a:solidFill>
              </a:rPr>
              <a:t> </a:t>
            </a:r>
            <a:r>
              <a:rPr lang="en-US" sz="2800" b="1" dirty="0" err="1">
                <a:solidFill>
                  <a:srgbClr val="050579"/>
                </a:solidFill>
              </a:rPr>
              <a:t>đẳng</a:t>
            </a:r>
            <a:r>
              <a:rPr lang="en-US" sz="2800" b="1" dirty="0">
                <a:solidFill>
                  <a:srgbClr val="050579"/>
                </a:solidFill>
              </a:rPr>
              <a:t> </a:t>
            </a:r>
            <a:r>
              <a:rPr lang="en-US" sz="2800" b="1" dirty="0" err="1">
                <a:solidFill>
                  <a:srgbClr val="050579"/>
                </a:solidFill>
              </a:rPr>
              <a:t>tích</a:t>
            </a:r>
            <a:r>
              <a:rPr lang="en-US" sz="2800" b="1" dirty="0">
                <a:solidFill>
                  <a:srgbClr val="050579"/>
                </a:solidFill>
              </a:rPr>
              <a:t> (</a:t>
            </a:r>
            <a:r>
              <a:rPr lang="en-US" sz="2800" b="1" dirty="0" err="1">
                <a:solidFill>
                  <a:srgbClr val="050579"/>
                </a:solidFill>
              </a:rPr>
              <a:t>C</a:t>
            </a:r>
            <a:r>
              <a:rPr lang="en-US" sz="2000" b="1" dirty="0" err="1">
                <a:solidFill>
                  <a:srgbClr val="050579"/>
                </a:solidFill>
              </a:rPr>
              <a:t>v</a:t>
            </a:r>
            <a:r>
              <a:rPr lang="en-US" sz="2800" b="1" dirty="0">
                <a:solidFill>
                  <a:srgbClr val="050579"/>
                </a:solidFill>
              </a:rPr>
              <a:t>)</a:t>
            </a:r>
          </a:p>
          <a:p>
            <a:pPr lvl="2" eaLnBrk="1" hangingPunct="1"/>
            <a:r>
              <a:rPr lang="en-US" sz="2800" b="1" dirty="0" err="1">
                <a:solidFill>
                  <a:srgbClr val="050579"/>
                </a:solidFill>
              </a:rPr>
              <a:t>Đẳng</a:t>
            </a:r>
            <a:r>
              <a:rPr lang="en-US" sz="2800" b="1" dirty="0">
                <a:solidFill>
                  <a:srgbClr val="050579"/>
                </a:solidFill>
              </a:rPr>
              <a:t> </a:t>
            </a:r>
            <a:r>
              <a:rPr lang="en-US" sz="2800" b="1" dirty="0" err="1">
                <a:solidFill>
                  <a:srgbClr val="050579"/>
                </a:solidFill>
              </a:rPr>
              <a:t>áp</a:t>
            </a:r>
            <a:r>
              <a:rPr lang="en-US" sz="2800" b="1" dirty="0">
                <a:solidFill>
                  <a:srgbClr val="050579"/>
                </a:solidFill>
              </a:rPr>
              <a:t>: </a:t>
            </a:r>
            <a:r>
              <a:rPr lang="en-US" sz="2800" b="1" dirty="0" err="1">
                <a:solidFill>
                  <a:srgbClr val="050579"/>
                </a:solidFill>
              </a:rPr>
              <a:t>Nhiệt</a:t>
            </a:r>
            <a:r>
              <a:rPr lang="en-US" sz="2800" b="1" dirty="0">
                <a:solidFill>
                  <a:srgbClr val="050579"/>
                </a:solidFill>
              </a:rPr>
              <a:t> dung </a:t>
            </a:r>
            <a:r>
              <a:rPr lang="en-US" sz="2800" b="1" dirty="0" err="1">
                <a:solidFill>
                  <a:srgbClr val="050579"/>
                </a:solidFill>
              </a:rPr>
              <a:t>mol</a:t>
            </a:r>
            <a:r>
              <a:rPr lang="en-US" sz="2800" b="1" dirty="0">
                <a:solidFill>
                  <a:srgbClr val="050579"/>
                </a:solidFill>
              </a:rPr>
              <a:t> </a:t>
            </a:r>
            <a:r>
              <a:rPr lang="en-US" sz="2800" b="1" dirty="0" err="1">
                <a:solidFill>
                  <a:srgbClr val="050579"/>
                </a:solidFill>
              </a:rPr>
              <a:t>đẳng</a:t>
            </a:r>
            <a:r>
              <a:rPr lang="en-US" sz="2800" b="1" dirty="0">
                <a:solidFill>
                  <a:srgbClr val="050579"/>
                </a:solidFill>
              </a:rPr>
              <a:t> </a:t>
            </a:r>
            <a:r>
              <a:rPr lang="en-US" sz="2800" b="1" dirty="0" err="1">
                <a:solidFill>
                  <a:srgbClr val="050579"/>
                </a:solidFill>
              </a:rPr>
              <a:t>áp</a:t>
            </a:r>
            <a:r>
              <a:rPr lang="en-US" sz="2800" b="1" dirty="0">
                <a:solidFill>
                  <a:srgbClr val="050579"/>
                </a:solidFill>
              </a:rPr>
              <a:t> (</a:t>
            </a:r>
            <a:r>
              <a:rPr lang="en-US" sz="2800" b="1" dirty="0" err="1">
                <a:solidFill>
                  <a:srgbClr val="050579"/>
                </a:solidFill>
              </a:rPr>
              <a:t>C</a:t>
            </a:r>
            <a:r>
              <a:rPr lang="en-US" sz="2000" b="1" dirty="0" err="1">
                <a:solidFill>
                  <a:srgbClr val="050579"/>
                </a:solidFill>
              </a:rPr>
              <a:t>p</a:t>
            </a:r>
            <a:r>
              <a:rPr lang="en-US" sz="2800" b="1" dirty="0">
                <a:solidFill>
                  <a:srgbClr val="050579"/>
                </a:solidFill>
              </a:rPr>
              <a:t>)</a:t>
            </a:r>
          </a:p>
        </p:txBody>
      </p:sp>
      <p:sp>
        <p:nvSpPr>
          <p:cNvPr id="2" name="Footer Placeholder 1">
            <a:extLst>
              <a:ext uri="{FF2B5EF4-FFF2-40B4-BE49-F238E27FC236}">
                <a16:creationId xmlns:a16="http://schemas.microsoft.com/office/drawing/2014/main" id="{0C29ED07-29CF-5E92-B4E4-CC030BAF903C}"/>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9E72F2ED-3263-CC89-BFFE-ECB46C81254C}"/>
              </a:ext>
            </a:extLst>
          </p:cNvPr>
          <p:cNvSpPr>
            <a:spLocks noGrp="1"/>
          </p:cNvSpPr>
          <p:nvPr>
            <p:ph type="sldNum" sz="quarter" idx="12"/>
          </p:nvPr>
        </p:nvSpPr>
        <p:spPr/>
        <p:txBody>
          <a:bodyPr/>
          <a:lstStyle/>
          <a:p>
            <a:pPr>
              <a:defRPr/>
            </a:pPr>
            <a:fld id="{003F8D5A-645D-495A-9DEA-99BB03E4A967}" type="slidenum">
              <a:rPr lang="en-US" smtClean="0"/>
              <a:pPr>
                <a:defRPr/>
              </a:pPr>
              <a:t>21</a:t>
            </a:fld>
            <a:endParaRPr lang="en-US"/>
          </a:p>
        </p:txBody>
      </p:sp>
    </p:spTree>
    <p:extLst>
      <p:ext uri="{BB962C8B-B14F-4D97-AF65-F5344CB8AC3E}">
        <p14:creationId xmlns:p14="http://schemas.microsoft.com/office/powerpoint/2010/main" val="14779911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9460">
                                            <p:txEl>
                                              <p:pRg st="0" end="0"/>
                                            </p:txEl>
                                          </p:spTgt>
                                        </p:tgtEl>
                                        <p:attrNameLst>
                                          <p:attrName>style.visibility</p:attrName>
                                        </p:attrNameLst>
                                      </p:cBhvr>
                                      <p:to>
                                        <p:strVal val="visible"/>
                                      </p:to>
                                    </p:set>
                                    <p:animEffect transition="in" filter="circle(in)">
                                      <p:cBhvr>
                                        <p:cTn id="7" dur="2000"/>
                                        <p:tgtEl>
                                          <p:spTgt spid="19460">
                                            <p:txEl>
                                              <p:pRg st="0" end="0"/>
                                            </p:txEl>
                                          </p:spTgt>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9460">
                                            <p:txEl>
                                              <p:pRg st="2" end="2"/>
                                            </p:txEl>
                                          </p:spTgt>
                                        </p:tgtEl>
                                        <p:attrNameLst>
                                          <p:attrName>style.visibility</p:attrName>
                                        </p:attrNameLst>
                                      </p:cBhvr>
                                      <p:to>
                                        <p:strVal val="visible"/>
                                      </p:to>
                                    </p:set>
                                    <p:animEffect transition="in" filter="circle(in)">
                                      <p:cBhvr>
                                        <p:cTn id="10" dur="2000"/>
                                        <p:tgtEl>
                                          <p:spTgt spid="19460">
                                            <p:txEl>
                                              <p:pRg st="2" end="2"/>
                                            </p:txEl>
                                          </p:spTgt>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19460">
                                            <p:txEl>
                                              <p:pRg st="3" end="3"/>
                                            </p:txEl>
                                          </p:spTgt>
                                        </p:tgtEl>
                                        <p:attrNameLst>
                                          <p:attrName>style.visibility</p:attrName>
                                        </p:attrNameLst>
                                      </p:cBhvr>
                                      <p:to>
                                        <p:strVal val="visible"/>
                                      </p:to>
                                    </p:set>
                                    <p:animEffect transition="in" filter="circle(in)">
                                      <p:cBhvr>
                                        <p:cTn id="13" dur="2000"/>
                                        <p:tgtEl>
                                          <p:spTgt spid="19460">
                                            <p:txEl>
                                              <p:pRg st="3" end="3"/>
                                            </p:txEl>
                                          </p:spTgt>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19460">
                                            <p:txEl>
                                              <p:pRg st="4" end="4"/>
                                            </p:txEl>
                                          </p:spTgt>
                                        </p:tgtEl>
                                        <p:attrNameLst>
                                          <p:attrName>style.visibility</p:attrName>
                                        </p:attrNameLst>
                                      </p:cBhvr>
                                      <p:to>
                                        <p:strVal val="visible"/>
                                      </p:to>
                                    </p:set>
                                    <p:animEffect transition="in" filter="circle(in)">
                                      <p:cBhvr>
                                        <p:cTn id="16" dur="2000"/>
                                        <p:tgtEl>
                                          <p:spTgt spid="19460">
                                            <p:txEl>
                                              <p:pRg st="4" end="4"/>
                                            </p:txEl>
                                          </p:spTgt>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19460">
                                            <p:txEl>
                                              <p:pRg st="5" end="5"/>
                                            </p:txEl>
                                          </p:spTgt>
                                        </p:tgtEl>
                                        <p:attrNameLst>
                                          <p:attrName>style.visibility</p:attrName>
                                        </p:attrNameLst>
                                      </p:cBhvr>
                                      <p:to>
                                        <p:strVal val="visible"/>
                                      </p:to>
                                    </p:set>
                                    <p:animEffect transition="in" filter="circle(in)">
                                      <p:cBhvr>
                                        <p:cTn id="19" dur="2000"/>
                                        <p:tgtEl>
                                          <p:spTgt spid="19460">
                                            <p:txEl>
                                              <p:pRg st="5" end="5"/>
                                            </p:txEl>
                                          </p:spTgt>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19460">
                                            <p:txEl>
                                              <p:pRg st="6" end="6"/>
                                            </p:txEl>
                                          </p:spTgt>
                                        </p:tgtEl>
                                        <p:attrNameLst>
                                          <p:attrName>style.visibility</p:attrName>
                                        </p:attrNameLst>
                                      </p:cBhvr>
                                      <p:to>
                                        <p:strVal val="visible"/>
                                      </p:to>
                                    </p:set>
                                    <p:animEffect transition="in" filter="circle(in)">
                                      <p:cBhvr>
                                        <p:cTn id="22" dur="2000"/>
                                        <p:tgtEl>
                                          <p:spTgt spid="1946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3"/>
          <p:cNvSpPr txBox="1">
            <a:spLocks noChangeArrowheads="1"/>
          </p:cNvSpPr>
          <p:nvPr/>
        </p:nvSpPr>
        <p:spPr bwMode="auto">
          <a:xfrm>
            <a:off x="758588" y="4800600"/>
            <a:ext cx="8229600" cy="1219200"/>
          </a:xfrm>
          <a:prstGeom prst="rect">
            <a:avLst/>
          </a:prstGeom>
          <a:noFill/>
          <a:ln w="9525">
            <a:noFill/>
            <a:miter lim="800000"/>
            <a:headEnd/>
            <a:tailEnd/>
          </a:ln>
        </p:spPr>
        <p:txBody>
          <a:bodyPr/>
          <a:lstStyle/>
          <a:p>
            <a:pPr marL="457200" indent="-457200" algn="just">
              <a:spcBef>
                <a:spcPct val="20000"/>
              </a:spcBef>
              <a:buFontTx/>
              <a:buChar char="-"/>
              <a:defRPr/>
            </a:pPr>
            <a:r>
              <a:rPr lang="en-US" sz="2800" b="1">
                <a:solidFill>
                  <a:srgbClr val="002060"/>
                </a:solidFill>
                <a:latin typeface="Times New Roman" pitchFamily="18" charset="0"/>
                <a:cs typeface="Times New Roman" pitchFamily="18" charset="0"/>
              </a:rPr>
              <a:t>Khi hệ không chuyển động và không nằm trong trường lực nào năng lượng của hệ chỉ là nội năng.</a:t>
            </a:r>
          </a:p>
        </p:txBody>
      </p:sp>
      <p:sp>
        <p:nvSpPr>
          <p:cNvPr id="8" name="Rectangle 3"/>
          <p:cNvSpPr txBox="1">
            <a:spLocks noChangeArrowheads="1"/>
          </p:cNvSpPr>
          <p:nvPr/>
        </p:nvSpPr>
        <p:spPr bwMode="auto">
          <a:xfrm>
            <a:off x="328612" y="960120"/>
            <a:ext cx="8393145" cy="609600"/>
          </a:xfrm>
          <a:prstGeom prst="rect">
            <a:avLst/>
          </a:prstGeom>
          <a:noFill/>
          <a:ln w="9525">
            <a:noFill/>
            <a:miter lim="800000"/>
            <a:headEnd/>
            <a:tailEnd/>
          </a:ln>
        </p:spPr>
        <p:txBody>
          <a:bodyPr/>
          <a:lstStyle/>
          <a:p>
            <a:pPr marL="342900" indent="-342900">
              <a:spcBef>
                <a:spcPct val="20000"/>
              </a:spcBef>
              <a:defRPr/>
            </a:pPr>
            <a:r>
              <a:rPr lang="en-US" sz="2800" b="1" u="sng">
                <a:solidFill>
                  <a:schemeClr val="tx2"/>
                </a:solidFill>
                <a:latin typeface="Times New Roman" pitchFamily="18" charset="0"/>
                <a:cs typeface="+mn-cs"/>
              </a:rPr>
              <a:t>Khái niệm năng lượng, công, nhiệt lượng</a:t>
            </a:r>
          </a:p>
        </p:txBody>
      </p:sp>
      <p:sp>
        <p:nvSpPr>
          <p:cNvPr id="9" name="Rectangle 3"/>
          <p:cNvSpPr txBox="1">
            <a:spLocks noChangeArrowheads="1"/>
          </p:cNvSpPr>
          <p:nvPr/>
        </p:nvSpPr>
        <p:spPr bwMode="auto">
          <a:xfrm>
            <a:off x="762000" y="1600200"/>
            <a:ext cx="8229600" cy="3200400"/>
          </a:xfrm>
          <a:prstGeom prst="rect">
            <a:avLst/>
          </a:prstGeom>
          <a:noFill/>
          <a:ln w="9525">
            <a:noFill/>
            <a:miter lim="800000"/>
            <a:headEnd/>
            <a:tailEnd/>
          </a:ln>
        </p:spPr>
        <p:txBody>
          <a:bodyPr/>
          <a:lstStyle/>
          <a:p>
            <a:pPr marL="342900" indent="-342900" algn="just">
              <a:spcBef>
                <a:spcPct val="20000"/>
              </a:spcBef>
              <a:defRPr/>
            </a:pPr>
            <a:r>
              <a:rPr lang="en-US" sz="2800" b="1">
                <a:solidFill>
                  <a:srgbClr val="934607"/>
                </a:solidFill>
                <a:latin typeface="Times New Roman" pitchFamily="18" charset="0"/>
                <a:cs typeface="Times New Roman" pitchFamily="18" charset="0"/>
              </a:rPr>
              <a:t>Năng lượng</a:t>
            </a:r>
          </a:p>
          <a:p>
            <a:pPr marL="457200" indent="-457200" algn="just">
              <a:spcBef>
                <a:spcPct val="20000"/>
              </a:spcBef>
              <a:buFontTx/>
              <a:buChar char="-"/>
              <a:defRPr/>
            </a:pPr>
            <a:r>
              <a:rPr lang="en-US" sz="2800" b="1">
                <a:solidFill>
                  <a:srgbClr val="050579"/>
                </a:solidFill>
                <a:latin typeface="Times New Roman" pitchFamily="18" charset="0"/>
                <a:cs typeface="Times New Roman" pitchFamily="18" charset="0"/>
              </a:rPr>
              <a:t>Năng lượng của hệ đặc trưng cho mức độ vận động của hệ.</a:t>
            </a:r>
          </a:p>
          <a:p>
            <a:pPr marL="457200" indent="-457200" algn="just">
              <a:spcBef>
                <a:spcPct val="20000"/>
              </a:spcBef>
              <a:buFontTx/>
              <a:buChar char="-"/>
              <a:defRPr/>
            </a:pPr>
            <a:r>
              <a:rPr lang="en-US" sz="2800" b="1">
                <a:solidFill>
                  <a:srgbClr val="050579"/>
                </a:solidFill>
                <a:latin typeface="Times New Roman" pitchFamily="18" charset="0"/>
                <a:cs typeface="Times New Roman" pitchFamily="18" charset="0"/>
              </a:rPr>
              <a:t>Năng lượng toàn phần của hệ bao gồm động năng của hệ, thế năng của hệ và nội năng của hệ.</a:t>
            </a:r>
          </a:p>
          <a:p>
            <a:pPr marL="457200" indent="-457200" algn="just">
              <a:spcBef>
                <a:spcPct val="20000"/>
              </a:spcBef>
              <a:buFontTx/>
              <a:buChar char="-"/>
              <a:defRPr/>
            </a:pPr>
            <a:r>
              <a:rPr lang="en-US" sz="2800" b="1">
                <a:solidFill>
                  <a:srgbClr val="050579"/>
                </a:solidFill>
                <a:latin typeface="Times New Roman" pitchFamily="18" charset="0"/>
                <a:cs typeface="Times New Roman" pitchFamily="18" charset="0"/>
              </a:rPr>
              <a:t>Năng lượng là một hàm của trạng thái</a:t>
            </a:r>
            <a:r>
              <a:rPr lang="en-US" sz="2800">
                <a:latin typeface="Times New Roman" pitchFamily="18" charset="0"/>
                <a:cs typeface="Times New Roman" pitchFamily="18" charset="0"/>
              </a:rPr>
              <a:t>.</a:t>
            </a:r>
          </a:p>
          <a:p>
            <a:pPr marL="457200" indent="-457200" algn="just">
              <a:spcBef>
                <a:spcPct val="20000"/>
              </a:spcBef>
              <a:buFontTx/>
              <a:buChar char="-"/>
              <a:defRPr/>
            </a:pPr>
            <a:endParaRPr lang="en-US" sz="2800" b="1">
              <a:solidFill>
                <a:srgbClr val="002060"/>
              </a:solidFill>
              <a:latin typeface="Times New Roman" pitchFamily="18" charset="0"/>
              <a:cs typeface="Times New Roman" pitchFamily="18" charset="0"/>
            </a:endParaRPr>
          </a:p>
        </p:txBody>
      </p:sp>
      <p:sp>
        <p:nvSpPr>
          <p:cNvPr id="2" name="Footer Placeholder 1">
            <a:extLst>
              <a:ext uri="{FF2B5EF4-FFF2-40B4-BE49-F238E27FC236}">
                <a16:creationId xmlns:a16="http://schemas.microsoft.com/office/drawing/2014/main" id="{561C2735-A305-F021-7346-C9EB42F612D4}"/>
              </a:ext>
            </a:extLst>
          </p:cNvPr>
          <p:cNvSpPr>
            <a:spLocks noGrp="1"/>
          </p:cNvSpPr>
          <p:nvPr>
            <p:ph type="ftr" sz="quarter" idx="11"/>
          </p:nvPr>
        </p:nvSpPr>
        <p:spPr/>
        <p:txBody>
          <a:bodyPr/>
          <a:lstStyle/>
          <a:p>
            <a:r>
              <a:rPr lang="en-US"/>
              <a:t>Bùi Quốc Trung - VLDC</a:t>
            </a:r>
          </a:p>
        </p:txBody>
      </p:sp>
      <p:sp>
        <p:nvSpPr>
          <p:cNvPr id="3" name="Slide Number Placeholder 2">
            <a:extLst>
              <a:ext uri="{FF2B5EF4-FFF2-40B4-BE49-F238E27FC236}">
                <a16:creationId xmlns:a16="http://schemas.microsoft.com/office/drawing/2014/main" id="{F940AC82-B69F-F48B-00F3-AE1436724EE4}"/>
              </a:ext>
            </a:extLst>
          </p:cNvPr>
          <p:cNvSpPr>
            <a:spLocks noGrp="1"/>
          </p:cNvSpPr>
          <p:nvPr>
            <p:ph type="sldNum" sz="quarter" idx="12"/>
          </p:nvPr>
        </p:nvSpPr>
        <p:spPr/>
        <p:txBody>
          <a:bodyPr/>
          <a:lstStyle/>
          <a:p>
            <a:fld id="{0C173468-4CCE-478A-9725-791AF0DB04F2}" type="slidenum">
              <a:rPr lang="en-US" smtClean="0"/>
              <a:t>22</a:t>
            </a:fld>
            <a:endParaRPr lang="en-US"/>
          </a:p>
        </p:txBody>
      </p:sp>
    </p:spTree>
    <p:extLst>
      <p:ext uri="{BB962C8B-B14F-4D97-AF65-F5344CB8AC3E}">
        <p14:creationId xmlns:p14="http://schemas.microsoft.com/office/powerpoint/2010/main" val="2083286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par>
                          <p:cTn id="8" fill="hold" nodeType="afterGroup">
                            <p:stCondLst>
                              <p:cond delay="500"/>
                            </p:stCondLst>
                            <p:childTnLst>
                              <p:par>
                                <p:cTn id="9" presetID="14" presetClass="entr" presetSubtype="5"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randombar(vertical)">
                                      <p:cBhvr>
                                        <p:cTn id="11" dur="1000"/>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9">
                                            <p:txEl>
                                              <p:pRg st="0" end="0"/>
                                            </p:txEl>
                                          </p:spTgt>
                                        </p:tgtEl>
                                        <p:attrNameLst>
                                          <p:attrName>style.visibility</p:attrName>
                                        </p:attrNameLst>
                                      </p:cBhvr>
                                      <p:to>
                                        <p:strVal val="visible"/>
                                      </p:to>
                                    </p:set>
                                    <p:animEffect transition="in" filter="fade">
                                      <p:cBhvr>
                                        <p:cTn id="16" dur="500"/>
                                        <p:tgtEl>
                                          <p:spTgt spid="19">
                                            <p:txEl>
                                              <p:pRg st="0" end="0"/>
                                            </p:txEl>
                                          </p:spTgt>
                                        </p:tgtEl>
                                      </p:cBhvr>
                                    </p:animEffect>
                                  </p:childTnLst>
                                </p:cTn>
                              </p:par>
                            </p:childTnLst>
                          </p:cTn>
                        </p:par>
                        <p:par>
                          <p:cTn id="17" fill="hold">
                            <p:stCondLst>
                              <p:cond delay="500"/>
                            </p:stCondLst>
                            <p:childTnLst>
                              <p:par>
                                <p:cTn id="18" presetID="14" presetClass="entr" presetSubtype="5"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randombar(vertical)">
                                      <p:cBhvr>
                                        <p:cTn id="20" dur="10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
                                            <p:txEl>
                                              <p:pRg st="0" end="0"/>
                                            </p:txEl>
                                          </p:spTgt>
                                        </p:tgtEl>
                                        <p:attrNameLst>
                                          <p:attrName>style.visibility</p:attrName>
                                        </p:attrNameLst>
                                      </p:cBhvr>
                                      <p:to>
                                        <p:strVal val="visible"/>
                                      </p:to>
                                    </p:set>
                                    <p:animEffect transition="in" filter="fade">
                                      <p:cBhvr>
                                        <p:cTn id="25" dur="500"/>
                                        <p:tgtEl>
                                          <p:spTgt spid="9">
                                            <p:txEl>
                                              <p:pRg st="0" end="0"/>
                                            </p:txEl>
                                          </p:spTgt>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9">
                                            <p:txEl>
                                              <p:pRg st="1" end="1"/>
                                            </p:txEl>
                                          </p:spTgt>
                                        </p:tgtEl>
                                        <p:attrNameLst>
                                          <p:attrName>style.visibility</p:attrName>
                                        </p:attrNameLst>
                                      </p:cBhvr>
                                      <p:to>
                                        <p:strVal val="visible"/>
                                      </p:to>
                                    </p:set>
                                    <p:animEffect transition="in" filter="fade">
                                      <p:cBhvr>
                                        <p:cTn id="29" dur="500"/>
                                        <p:tgtEl>
                                          <p:spTgt spid="9">
                                            <p:txEl>
                                              <p:pRg st="1" end="1"/>
                                            </p:txEl>
                                          </p:spTgt>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9">
                                            <p:txEl>
                                              <p:pRg st="2" end="2"/>
                                            </p:txEl>
                                          </p:spTgt>
                                        </p:tgtEl>
                                        <p:attrNameLst>
                                          <p:attrName>style.visibility</p:attrName>
                                        </p:attrNameLst>
                                      </p:cBhvr>
                                      <p:to>
                                        <p:strVal val="visible"/>
                                      </p:to>
                                    </p:set>
                                    <p:animEffect transition="in" filter="fade">
                                      <p:cBhvr>
                                        <p:cTn id="33" dur="500"/>
                                        <p:tgtEl>
                                          <p:spTgt spid="9">
                                            <p:txEl>
                                              <p:pRg st="2" end="2"/>
                                            </p:txEl>
                                          </p:spTgt>
                                        </p:tgtEl>
                                      </p:cBhvr>
                                    </p:animEffect>
                                  </p:childTnLst>
                                </p:cTn>
                              </p:par>
                            </p:childTnLst>
                          </p:cTn>
                        </p:par>
                        <p:par>
                          <p:cTn id="34" fill="hold">
                            <p:stCondLst>
                              <p:cond delay="1500"/>
                            </p:stCondLst>
                            <p:childTnLst>
                              <p:par>
                                <p:cTn id="35" presetID="10" presetClass="entr" presetSubtype="0" fill="hold" nodeType="afterEffect">
                                  <p:stCondLst>
                                    <p:cond delay="0"/>
                                  </p:stCondLst>
                                  <p:childTnLst>
                                    <p:set>
                                      <p:cBhvr>
                                        <p:cTn id="36" dur="1" fill="hold">
                                          <p:stCondLst>
                                            <p:cond delay="0"/>
                                          </p:stCondLst>
                                        </p:cTn>
                                        <p:tgtEl>
                                          <p:spTgt spid="9">
                                            <p:txEl>
                                              <p:pRg st="3" end="3"/>
                                            </p:txEl>
                                          </p:spTgt>
                                        </p:tgtEl>
                                        <p:attrNameLst>
                                          <p:attrName>style.visibility</p:attrName>
                                        </p:attrNameLst>
                                      </p:cBhvr>
                                      <p:to>
                                        <p:strVal val="visible"/>
                                      </p:to>
                                    </p:set>
                                    <p:animEffect transition="in" filter="fade">
                                      <p:cBhvr>
                                        <p:cTn id="37"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8" grpId="0"/>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3"/>
          <p:cNvSpPr txBox="1">
            <a:spLocks noChangeArrowheads="1"/>
          </p:cNvSpPr>
          <p:nvPr/>
        </p:nvSpPr>
        <p:spPr bwMode="auto">
          <a:xfrm>
            <a:off x="152400" y="1099782"/>
            <a:ext cx="6148934" cy="1447800"/>
          </a:xfrm>
          <a:prstGeom prst="rect">
            <a:avLst/>
          </a:prstGeom>
          <a:noFill/>
          <a:ln w="9525">
            <a:noFill/>
            <a:miter lim="800000"/>
            <a:headEnd/>
            <a:tailEnd/>
          </a:ln>
        </p:spPr>
        <p:txBody>
          <a:bodyPr/>
          <a:lstStyle/>
          <a:p>
            <a:pPr marL="1588" indent="-1588" algn="just">
              <a:spcBef>
                <a:spcPct val="20000"/>
              </a:spcBef>
              <a:defRPr/>
            </a:pPr>
            <a:r>
              <a:rPr lang="en-US" sz="2800" b="1" dirty="0">
                <a:solidFill>
                  <a:srgbClr val="FF0000"/>
                </a:solidFill>
                <a:latin typeface="Times New Roman" pitchFamily="18" charset="0"/>
                <a:cs typeface="+mn-cs"/>
              </a:rPr>
              <a:t>   </a:t>
            </a:r>
            <a:r>
              <a:rPr lang="en-US" sz="2800" b="1" u="sng" dirty="0" err="1">
                <a:solidFill>
                  <a:srgbClr val="FF0000"/>
                </a:solidFill>
                <a:latin typeface="Times New Roman" pitchFamily="18" charset="0"/>
                <a:cs typeface="+mn-cs"/>
              </a:rPr>
              <a:t>Công</a:t>
            </a:r>
            <a:r>
              <a:rPr lang="en-US" sz="2800" b="1" u="sng" dirty="0">
                <a:solidFill>
                  <a:srgbClr val="FF0000"/>
                </a:solidFill>
                <a:latin typeface="Times New Roman" pitchFamily="18" charset="0"/>
                <a:cs typeface="+mn-cs"/>
              </a:rPr>
              <a:t> (</a:t>
            </a:r>
            <a:r>
              <a:rPr lang="en-US" sz="2800" b="1" u="sng" dirty="0" err="1">
                <a:solidFill>
                  <a:srgbClr val="FF0000"/>
                </a:solidFill>
                <a:latin typeface="Times New Roman" pitchFamily="18" charset="0"/>
                <a:cs typeface="Times New Roman" pitchFamily="18" charset="0"/>
              </a:rPr>
              <a:t>là</a:t>
            </a:r>
            <a:r>
              <a:rPr lang="en-US" sz="2800" b="1" u="sng" dirty="0">
                <a:solidFill>
                  <a:srgbClr val="FF0000"/>
                </a:solidFill>
                <a:latin typeface="Times New Roman" pitchFamily="18" charset="0"/>
                <a:cs typeface="Times New Roman" pitchFamily="18" charset="0"/>
              </a:rPr>
              <a:t> </a:t>
            </a:r>
            <a:r>
              <a:rPr lang="en-US" sz="2800" b="1" u="sng" dirty="0" err="1">
                <a:solidFill>
                  <a:srgbClr val="FF0000"/>
                </a:solidFill>
                <a:latin typeface="Times New Roman" pitchFamily="18" charset="0"/>
                <a:cs typeface="Times New Roman" pitchFamily="18" charset="0"/>
              </a:rPr>
              <a:t>hàm</a:t>
            </a:r>
            <a:r>
              <a:rPr lang="en-US" sz="2800" b="1" u="sng" dirty="0">
                <a:solidFill>
                  <a:srgbClr val="FF0000"/>
                </a:solidFill>
                <a:latin typeface="Times New Roman" pitchFamily="18" charset="0"/>
                <a:cs typeface="Times New Roman" pitchFamily="18" charset="0"/>
              </a:rPr>
              <a:t> </a:t>
            </a:r>
            <a:r>
              <a:rPr lang="en-US" sz="2800" b="1" u="sng" dirty="0" err="1">
                <a:solidFill>
                  <a:srgbClr val="FF0000"/>
                </a:solidFill>
                <a:latin typeface="Times New Roman" pitchFamily="18" charset="0"/>
                <a:cs typeface="Times New Roman" pitchFamily="18" charset="0"/>
              </a:rPr>
              <a:t>quá</a:t>
            </a:r>
            <a:r>
              <a:rPr lang="en-US" sz="2800" b="1" u="sng" dirty="0">
                <a:solidFill>
                  <a:srgbClr val="FF0000"/>
                </a:solidFill>
                <a:latin typeface="Times New Roman" pitchFamily="18" charset="0"/>
                <a:cs typeface="Times New Roman" pitchFamily="18" charset="0"/>
              </a:rPr>
              <a:t> </a:t>
            </a:r>
            <a:r>
              <a:rPr lang="en-US" sz="2800" b="1" u="sng" dirty="0" err="1">
                <a:solidFill>
                  <a:srgbClr val="FF0000"/>
                </a:solidFill>
                <a:latin typeface="Times New Roman" pitchFamily="18" charset="0"/>
                <a:cs typeface="Times New Roman" pitchFamily="18" charset="0"/>
              </a:rPr>
              <a:t>trình</a:t>
            </a:r>
            <a:r>
              <a:rPr lang="en-US" sz="2800" b="1" u="sng" dirty="0">
                <a:solidFill>
                  <a:srgbClr val="FF0000"/>
                </a:solidFill>
                <a:latin typeface="Times New Roman" pitchFamily="18" charset="0"/>
                <a:cs typeface="+mn-cs"/>
              </a:rPr>
              <a:t>)</a:t>
            </a:r>
            <a:r>
              <a:rPr lang="en-US" sz="2800" b="1" dirty="0">
                <a:solidFill>
                  <a:srgbClr val="FF0000"/>
                </a:solidFill>
                <a:latin typeface="Times New Roman" pitchFamily="18" charset="0"/>
                <a:cs typeface="+mn-cs"/>
              </a:rPr>
              <a:t>: </a:t>
            </a:r>
          </a:p>
          <a:p>
            <a:pPr marL="1588" indent="-1588" algn="just">
              <a:spcBef>
                <a:spcPct val="20000"/>
              </a:spcBef>
              <a:defRPr/>
            </a:pPr>
            <a:r>
              <a:rPr lang="en-US" sz="2800" b="1" dirty="0" err="1">
                <a:solidFill>
                  <a:srgbClr val="050579"/>
                </a:solidFill>
                <a:latin typeface="Times New Roman" pitchFamily="18" charset="0"/>
                <a:cs typeface="Times New Roman" pitchFamily="18" charset="0"/>
              </a:rPr>
              <a:t>đặc</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trưng</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mức</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độ</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trao</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đổi</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năng</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lượng</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thông</a:t>
            </a:r>
            <a:r>
              <a:rPr lang="en-US" sz="2800" b="1" dirty="0">
                <a:solidFill>
                  <a:srgbClr val="050579"/>
                </a:solidFill>
                <a:latin typeface="Times New Roman" pitchFamily="18" charset="0"/>
                <a:cs typeface="Times New Roman" pitchFamily="18" charset="0"/>
              </a:rPr>
              <a:t> qua </a:t>
            </a:r>
            <a:r>
              <a:rPr lang="en-US" sz="2800" b="1" dirty="0" err="1">
                <a:solidFill>
                  <a:srgbClr val="050579"/>
                </a:solidFill>
                <a:latin typeface="Times New Roman" pitchFamily="18" charset="0"/>
                <a:cs typeface="Times New Roman" pitchFamily="18" charset="0"/>
              </a:rPr>
              <a:t>sự</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thay</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đổi</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thể</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tích</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của</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hệ</a:t>
            </a:r>
            <a:r>
              <a:rPr lang="en-US" sz="2800" b="1" dirty="0">
                <a:solidFill>
                  <a:srgbClr val="050579"/>
                </a:solidFill>
                <a:latin typeface="Times New Roman" pitchFamily="18" charset="0"/>
                <a:cs typeface="Times New Roman" pitchFamily="18" charset="0"/>
              </a:rPr>
              <a:t>.</a:t>
            </a:r>
            <a:endParaRPr lang="en-US" sz="2800" b="1" dirty="0">
              <a:solidFill>
                <a:schemeClr val="bg1"/>
              </a:solidFill>
              <a:latin typeface="Times New Roman" pitchFamily="18" charset="0"/>
              <a:cs typeface="+mn-cs"/>
            </a:endParaRPr>
          </a:p>
          <a:p>
            <a:pPr marL="342900" indent="-342900" algn="just">
              <a:spcBef>
                <a:spcPct val="20000"/>
              </a:spcBef>
              <a:buFont typeface="Arial" pitchFamily="34" charset="0"/>
              <a:buChar char="•"/>
              <a:defRPr/>
            </a:pPr>
            <a:endParaRPr lang="en-US" sz="2800" b="1" dirty="0">
              <a:solidFill>
                <a:schemeClr val="accent2"/>
              </a:solidFill>
              <a:latin typeface="Times New Roman" pitchFamily="18" charset="0"/>
              <a:cs typeface="+mn-cs"/>
            </a:endParaRPr>
          </a:p>
        </p:txBody>
      </p:sp>
      <p:graphicFrame>
        <p:nvGraphicFramePr>
          <p:cNvPr id="9" name="Object 8"/>
          <p:cNvGraphicFramePr>
            <a:graphicFrameLocks noChangeAspect="1"/>
          </p:cNvGraphicFramePr>
          <p:nvPr>
            <p:extLst>
              <p:ext uri="{D42A27DB-BD31-4B8C-83A1-F6EECF244321}">
                <p14:modId xmlns:p14="http://schemas.microsoft.com/office/powerpoint/2010/main" val="2297431675"/>
              </p:ext>
            </p:extLst>
          </p:nvPr>
        </p:nvGraphicFramePr>
        <p:xfrm>
          <a:off x="6855928" y="1348096"/>
          <a:ext cx="1890712" cy="1171575"/>
        </p:xfrm>
        <a:graphic>
          <a:graphicData uri="http://schemas.openxmlformats.org/presentationml/2006/ole">
            <mc:AlternateContent xmlns:mc="http://schemas.openxmlformats.org/markup-compatibility/2006">
              <mc:Choice xmlns:v="urn:schemas-microsoft-com:vml" Requires="v">
                <p:oleObj name="Equation" r:id="rId2" imgW="914400" imgH="622080" progId="Equation.DSMT4">
                  <p:embed/>
                </p:oleObj>
              </mc:Choice>
              <mc:Fallback>
                <p:oleObj name="Equation" r:id="rId2" imgW="914400" imgH="622080" progId="Equation.DSMT4">
                  <p:embed/>
                  <p:pic>
                    <p:nvPicPr>
                      <p:cNvPr id="0" name=""/>
                      <p:cNvPicPr>
                        <a:picLocks noChangeAspect="1" noChangeArrowheads="1"/>
                      </p:cNvPicPr>
                      <p:nvPr/>
                    </p:nvPicPr>
                    <p:blipFill>
                      <a:blip r:embed="rId3"/>
                      <a:srcRect/>
                      <a:stretch>
                        <a:fillRect/>
                      </a:stretch>
                    </p:blipFill>
                    <p:spPr bwMode="auto">
                      <a:xfrm>
                        <a:off x="6855928" y="1348096"/>
                        <a:ext cx="1890712" cy="1171575"/>
                      </a:xfrm>
                      <a:prstGeom prst="rect">
                        <a:avLst/>
                      </a:prstGeom>
                      <a:noFill/>
                      <a:ln>
                        <a:noFill/>
                      </a:ln>
                    </p:spPr>
                  </p:pic>
                </p:oleObj>
              </mc:Fallback>
            </mc:AlternateContent>
          </a:graphicData>
        </a:graphic>
      </p:graphicFrame>
      <p:sp>
        <p:nvSpPr>
          <p:cNvPr id="10" name="Rounded Rectangle 9"/>
          <p:cNvSpPr>
            <a:spLocks noChangeArrowheads="1"/>
          </p:cNvSpPr>
          <p:nvPr/>
        </p:nvSpPr>
        <p:spPr bwMode="auto">
          <a:xfrm>
            <a:off x="6629400" y="1245358"/>
            <a:ext cx="2286485" cy="1345442"/>
          </a:xfrm>
          <a:prstGeom prst="roundRect">
            <a:avLst>
              <a:gd name="adj" fmla="val 16667"/>
            </a:avLst>
          </a:prstGeom>
          <a:noFill/>
          <a:ln w="38100" algn="ctr">
            <a:solidFill>
              <a:srgbClr val="FF0000"/>
            </a:solidFill>
            <a:round/>
            <a:headEnd/>
            <a:tailEnd/>
          </a:ln>
          <a:effectLst>
            <a:glow rad="139700">
              <a:schemeClr val="accent2">
                <a:satMod val="175000"/>
                <a:alpha val="40000"/>
              </a:schemeClr>
            </a:glow>
            <a:outerShdw dist="38100" algn="l" rotWithShape="0">
              <a:srgbClr val="000000">
                <a:alpha val="39999"/>
              </a:srgbClr>
            </a:outerShdw>
          </a:effectLst>
        </p:spPr>
        <p:txBody>
          <a:bodyPr anchor="ctr"/>
          <a:lstStyle/>
          <a:p>
            <a:pPr algn="ctr">
              <a:defRPr/>
            </a:pPr>
            <a:endParaRPr lang="vi-VN" sz="2400">
              <a:solidFill>
                <a:schemeClr val="lt1"/>
              </a:solidFill>
              <a:latin typeface="Times New Roman" pitchFamily="18" charset="0"/>
              <a:cs typeface="Times New Roman" pitchFamily="18" charset="0"/>
            </a:endParaRPr>
          </a:p>
        </p:txBody>
      </p:sp>
      <p:sp>
        <p:nvSpPr>
          <p:cNvPr id="11" name="Rectangle 3"/>
          <p:cNvSpPr txBox="1">
            <a:spLocks noChangeArrowheads="1"/>
          </p:cNvSpPr>
          <p:nvPr/>
        </p:nvSpPr>
        <p:spPr bwMode="auto">
          <a:xfrm>
            <a:off x="152400" y="2793810"/>
            <a:ext cx="6626060" cy="2514600"/>
          </a:xfrm>
          <a:prstGeom prst="rect">
            <a:avLst/>
          </a:prstGeom>
          <a:noFill/>
          <a:ln w="9525">
            <a:noFill/>
            <a:miter lim="800000"/>
            <a:headEnd/>
            <a:tailEnd/>
          </a:ln>
        </p:spPr>
        <p:txBody>
          <a:bodyPr/>
          <a:lstStyle/>
          <a:p>
            <a:pPr marL="1588" indent="-1588" algn="just">
              <a:spcBef>
                <a:spcPct val="20000"/>
              </a:spcBef>
              <a:defRPr/>
            </a:pPr>
            <a:r>
              <a:rPr lang="en-US" sz="2800" b="1" dirty="0">
                <a:solidFill>
                  <a:srgbClr val="FF0000"/>
                </a:solidFill>
                <a:latin typeface="Times New Roman" pitchFamily="18" charset="0"/>
                <a:cs typeface="Times New Roman" pitchFamily="18" charset="0"/>
              </a:rPr>
              <a:t>   </a:t>
            </a:r>
            <a:r>
              <a:rPr lang="en-US" sz="2800" b="1" u="sng" dirty="0" err="1">
                <a:solidFill>
                  <a:srgbClr val="FF0000"/>
                </a:solidFill>
                <a:latin typeface="Times New Roman" pitchFamily="18" charset="0"/>
                <a:cs typeface="Times New Roman" pitchFamily="18" charset="0"/>
              </a:rPr>
              <a:t>Nhiệt</a:t>
            </a:r>
            <a:r>
              <a:rPr lang="en-US" sz="2800" b="1" u="sng" dirty="0">
                <a:solidFill>
                  <a:srgbClr val="FF0000"/>
                </a:solidFill>
                <a:latin typeface="Times New Roman" pitchFamily="18" charset="0"/>
                <a:cs typeface="Times New Roman" pitchFamily="18" charset="0"/>
              </a:rPr>
              <a:t> </a:t>
            </a:r>
            <a:r>
              <a:rPr lang="en-US" sz="2800" b="1" u="sng" dirty="0" err="1">
                <a:solidFill>
                  <a:srgbClr val="FF0000"/>
                </a:solidFill>
                <a:latin typeface="Times New Roman" pitchFamily="18" charset="0"/>
                <a:cs typeface="Times New Roman" pitchFamily="18" charset="0"/>
              </a:rPr>
              <a:t>lượng</a:t>
            </a:r>
            <a:r>
              <a:rPr lang="en-US" sz="2800" b="1" u="sng" dirty="0">
                <a:solidFill>
                  <a:srgbClr val="FF0000"/>
                </a:solidFill>
                <a:latin typeface="Times New Roman" pitchFamily="18" charset="0"/>
                <a:cs typeface="Times New Roman" pitchFamily="18" charset="0"/>
              </a:rPr>
              <a:t> (</a:t>
            </a:r>
            <a:r>
              <a:rPr lang="en-US" sz="2800" b="1" u="sng" dirty="0" err="1">
                <a:solidFill>
                  <a:srgbClr val="FF0000"/>
                </a:solidFill>
                <a:latin typeface="Times New Roman" pitchFamily="18" charset="0"/>
                <a:cs typeface="Times New Roman" pitchFamily="18" charset="0"/>
              </a:rPr>
              <a:t>là</a:t>
            </a:r>
            <a:r>
              <a:rPr lang="en-US" sz="2800" b="1" u="sng" dirty="0">
                <a:solidFill>
                  <a:srgbClr val="FF0000"/>
                </a:solidFill>
                <a:latin typeface="Times New Roman" pitchFamily="18" charset="0"/>
                <a:cs typeface="Times New Roman" pitchFamily="18" charset="0"/>
              </a:rPr>
              <a:t> </a:t>
            </a:r>
            <a:r>
              <a:rPr lang="en-US" sz="2800" b="1" u="sng" dirty="0" err="1">
                <a:solidFill>
                  <a:srgbClr val="FF0000"/>
                </a:solidFill>
                <a:latin typeface="Times New Roman" pitchFamily="18" charset="0"/>
                <a:cs typeface="Times New Roman" pitchFamily="18" charset="0"/>
              </a:rPr>
              <a:t>hàm</a:t>
            </a:r>
            <a:r>
              <a:rPr lang="en-US" sz="2800" b="1" u="sng" dirty="0">
                <a:solidFill>
                  <a:srgbClr val="FF0000"/>
                </a:solidFill>
                <a:latin typeface="Times New Roman" pitchFamily="18" charset="0"/>
                <a:cs typeface="Times New Roman" pitchFamily="18" charset="0"/>
              </a:rPr>
              <a:t> </a:t>
            </a:r>
            <a:r>
              <a:rPr lang="en-US" sz="2800" b="1" u="sng" dirty="0" err="1">
                <a:solidFill>
                  <a:srgbClr val="FF0000"/>
                </a:solidFill>
                <a:latin typeface="Times New Roman" pitchFamily="18" charset="0"/>
                <a:cs typeface="Times New Roman" pitchFamily="18" charset="0"/>
              </a:rPr>
              <a:t>quá</a:t>
            </a:r>
            <a:r>
              <a:rPr lang="en-US" sz="2800" b="1" u="sng" dirty="0">
                <a:solidFill>
                  <a:srgbClr val="FF0000"/>
                </a:solidFill>
                <a:latin typeface="Times New Roman" pitchFamily="18" charset="0"/>
                <a:cs typeface="Times New Roman" pitchFamily="18" charset="0"/>
              </a:rPr>
              <a:t> </a:t>
            </a:r>
            <a:r>
              <a:rPr lang="en-US" sz="2800" b="1" u="sng" dirty="0" err="1">
                <a:solidFill>
                  <a:srgbClr val="FF0000"/>
                </a:solidFill>
                <a:latin typeface="Times New Roman" pitchFamily="18" charset="0"/>
                <a:cs typeface="Times New Roman" pitchFamily="18" charset="0"/>
              </a:rPr>
              <a:t>trình</a:t>
            </a:r>
            <a:r>
              <a:rPr lang="en-US" sz="2800" b="1" u="sng" dirty="0">
                <a:solidFill>
                  <a:srgbClr val="FF0000"/>
                </a:solidFill>
                <a:latin typeface="Times New Roman" pitchFamily="18" charset="0"/>
                <a:cs typeface="Times New Roman" pitchFamily="18" charset="0"/>
              </a:rPr>
              <a:t>)</a:t>
            </a:r>
            <a:r>
              <a:rPr lang="en-US" sz="2800" b="1" dirty="0">
                <a:solidFill>
                  <a:srgbClr val="FF0000"/>
                </a:solidFill>
                <a:latin typeface="Times New Roman" pitchFamily="18" charset="0"/>
                <a:cs typeface="Times New Roman" pitchFamily="18" charset="0"/>
              </a:rPr>
              <a:t>: </a:t>
            </a:r>
          </a:p>
          <a:p>
            <a:pPr marL="1588" indent="-1588" algn="just">
              <a:spcBef>
                <a:spcPct val="20000"/>
              </a:spcBef>
              <a:defRPr/>
            </a:pPr>
            <a:r>
              <a:rPr lang="en-US" sz="2800" b="1" dirty="0" err="1">
                <a:solidFill>
                  <a:srgbClr val="050579"/>
                </a:solidFill>
                <a:latin typeface="Times New Roman" pitchFamily="18" charset="0"/>
                <a:cs typeface="Times New Roman" pitchFamily="18" charset="0"/>
              </a:rPr>
              <a:t>đặc</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trưng</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mức</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độ</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trao</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đổi</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năng</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lượng</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thông</a:t>
            </a:r>
            <a:r>
              <a:rPr lang="en-US" sz="2800" b="1" dirty="0">
                <a:solidFill>
                  <a:srgbClr val="050579"/>
                </a:solidFill>
                <a:latin typeface="Times New Roman" pitchFamily="18" charset="0"/>
                <a:cs typeface="Times New Roman" pitchFamily="18" charset="0"/>
              </a:rPr>
              <a:t> qua </a:t>
            </a:r>
            <a:r>
              <a:rPr lang="en-US" sz="2800" b="1" dirty="0" err="1">
                <a:solidFill>
                  <a:srgbClr val="050579"/>
                </a:solidFill>
                <a:latin typeface="Times New Roman" pitchFamily="18" charset="0"/>
                <a:cs typeface="Times New Roman" pitchFamily="18" charset="0"/>
              </a:rPr>
              <a:t>chuyển</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động</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hỗn</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độn</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của</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các</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phân</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tử</a:t>
            </a:r>
            <a:r>
              <a:rPr lang="en-US" sz="2800" b="1" dirty="0">
                <a:solidFill>
                  <a:srgbClr val="050579"/>
                </a:solidFill>
                <a:latin typeface="Times New Roman" pitchFamily="18" charset="0"/>
                <a:cs typeface="Times New Roman" pitchFamily="18" charset="0"/>
              </a:rPr>
              <a:t>.</a:t>
            </a:r>
          </a:p>
          <a:p>
            <a:pPr algn="just">
              <a:spcBef>
                <a:spcPct val="20000"/>
              </a:spcBef>
              <a:defRPr/>
            </a:pPr>
            <a:r>
              <a:rPr lang="en-US" sz="2800" b="1" dirty="0">
                <a:solidFill>
                  <a:srgbClr val="050579"/>
                </a:solidFill>
                <a:latin typeface="Times New Roman" pitchFamily="18" charset="0"/>
                <a:cs typeface="Times New Roman" pitchFamily="18" charset="0"/>
              </a:rPr>
              <a:t>_ </a:t>
            </a:r>
            <a:r>
              <a:rPr lang="en-US" sz="2800" b="1" dirty="0" err="1">
                <a:solidFill>
                  <a:srgbClr val="050579"/>
                </a:solidFill>
                <a:latin typeface="Times New Roman" pitchFamily="18" charset="0"/>
                <a:cs typeface="Times New Roman" pitchFamily="18" charset="0"/>
              </a:rPr>
              <a:t>Đơn</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vị</a:t>
            </a:r>
            <a:r>
              <a:rPr lang="en-US" sz="2800" b="1" dirty="0">
                <a:solidFill>
                  <a:srgbClr val="050579"/>
                </a:solidFill>
                <a:latin typeface="Times New Roman" pitchFamily="18" charset="0"/>
                <a:cs typeface="Times New Roman" pitchFamily="18" charset="0"/>
              </a:rPr>
              <a:t> Joule hay </a:t>
            </a:r>
            <a:r>
              <a:rPr lang="en-US" sz="2800" b="1" dirty="0" err="1">
                <a:solidFill>
                  <a:srgbClr val="050579"/>
                </a:solidFill>
                <a:latin typeface="Times New Roman" pitchFamily="18" charset="0"/>
                <a:cs typeface="Times New Roman" pitchFamily="18" charset="0"/>
              </a:rPr>
              <a:t>calo</a:t>
            </a:r>
            <a:r>
              <a:rPr lang="en-US" sz="2800" b="1" dirty="0">
                <a:solidFill>
                  <a:srgbClr val="050579"/>
                </a:solidFill>
                <a:latin typeface="Times New Roman" pitchFamily="18" charset="0"/>
                <a:cs typeface="Times New Roman" pitchFamily="18" charset="0"/>
              </a:rPr>
              <a:t> (</a:t>
            </a:r>
            <a:r>
              <a:rPr lang="en-US" sz="2800" b="1" dirty="0">
                <a:solidFill>
                  <a:srgbClr val="00B050"/>
                </a:solidFill>
                <a:latin typeface="Times New Roman" pitchFamily="18" charset="0"/>
                <a:cs typeface="Times New Roman" pitchFamily="18" charset="0"/>
              </a:rPr>
              <a:t>1cal = 4,18J</a:t>
            </a:r>
            <a:r>
              <a:rPr lang="en-US" sz="2800" b="1" dirty="0">
                <a:solidFill>
                  <a:srgbClr val="050579"/>
                </a:solidFill>
                <a:latin typeface="Times New Roman" pitchFamily="18" charset="0"/>
                <a:cs typeface="Times New Roman" pitchFamily="18" charset="0"/>
              </a:rPr>
              <a:t>)</a:t>
            </a:r>
          </a:p>
          <a:p>
            <a:pPr marL="457200" indent="-457200" algn="just">
              <a:spcBef>
                <a:spcPct val="20000"/>
              </a:spcBef>
              <a:buFontTx/>
              <a:buChar char="-"/>
              <a:defRPr/>
            </a:pPr>
            <a:endParaRPr lang="en-US" sz="2800" b="1" dirty="0">
              <a:solidFill>
                <a:srgbClr val="002060"/>
              </a:solidFill>
              <a:latin typeface="Times New Roman" pitchFamily="18" charset="0"/>
              <a:cs typeface="Times New Roman" pitchFamily="18"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2385911140"/>
              </p:ext>
            </p:extLst>
          </p:nvPr>
        </p:nvGraphicFramePr>
        <p:xfrm>
          <a:off x="7116764" y="3627438"/>
          <a:ext cx="1843087" cy="466725"/>
        </p:xfrm>
        <a:graphic>
          <a:graphicData uri="http://schemas.openxmlformats.org/presentationml/2006/ole">
            <mc:AlternateContent xmlns:mc="http://schemas.openxmlformats.org/markup-compatibility/2006">
              <mc:Choice xmlns:v="urn:schemas-microsoft-com:vml" Requires="v">
                <p:oleObj name="Equation" r:id="rId4" imgW="736560" imgH="203040" progId="Equation.DSMT4">
                  <p:embed/>
                </p:oleObj>
              </mc:Choice>
              <mc:Fallback>
                <p:oleObj name="Equation" r:id="rId4" imgW="736560" imgH="203040" progId="Equation.DSMT4">
                  <p:embed/>
                  <p:pic>
                    <p:nvPicPr>
                      <p:cNvPr id="0" name=""/>
                      <p:cNvPicPr>
                        <a:picLocks noChangeAspect="1" noChangeArrowheads="1"/>
                      </p:cNvPicPr>
                      <p:nvPr/>
                    </p:nvPicPr>
                    <p:blipFill>
                      <a:blip r:embed="rId5"/>
                      <a:srcRect/>
                      <a:stretch>
                        <a:fillRect/>
                      </a:stretch>
                    </p:blipFill>
                    <p:spPr bwMode="auto">
                      <a:xfrm>
                        <a:off x="7116764" y="3627438"/>
                        <a:ext cx="1843087" cy="466725"/>
                      </a:xfrm>
                      <a:prstGeom prst="rect">
                        <a:avLst/>
                      </a:prstGeom>
                      <a:noFill/>
                      <a:ln w="9525">
                        <a:noFill/>
                        <a:miter lim="800000"/>
                        <a:headEnd/>
                        <a:tailEnd/>
                      </a:ln>
                      <a:effectLst/>
                    </p:spPr>
                  </p:pic>
                </p:oleObj>
              </mc:Fallback>
            </mc:AlternateContent>
          </a:graphicData>
        </a:graphic>
      </p:graphicFrame>
      <p:sp>
        <p:nvSpPr>
          <p:cNvPr id="13" name="Rounded Rectangle 12"/>
          <p:cNvSpPr>
            <a:spLocks noChangeArrowheads="1"/>
          </p:cNvSpPr>
          <p:nvPr/>
        </p:nvSpPr>
        <p:spPr bwMode="auto">
          <a:xfrm>
            <a:off x="6934201" y="3429000"/>
            <a:ext cx="2209799" cy="762000"/>
          </a:xfrm>
          <a:prstGeom prst="roundRect">
            <a:avLst>
              <a:gd name="adj" fmla="val 16667"/>
            </a:avLst>
          </a:prstGeom>
          <a:noFill/>
          <a:ln w="38100" algn="ctr">
            <a:solidFill>
              <a:srgbClr val="FF0000"/>
            </a:solidFill>
            <a:round/>
            <a:headEnd/>
            <a:tailEnd/>
          </a:ln>
          <a:effectLst>
            <a:glow rad="139700">
              <a:schemeClr val="accent2">
                <a:satMod val="175000"/>
                <a:alpha val="40000"/>
              </a:schemeClr>
            </a:glow>
            <a:outerShdw dist="38100" algn="l" rotWithShape="0">
              <a:srgbClr val="000000">
                <a:alpha val="39999"/>
              </a:srgbClr>
            </a:outerShdw>
          </a:effectLst>
        </p:spPr>
        <p:txBody>
          <a:bodyPr anchor="ctr"/>
          <a:lstStyle/>
          <a:p>
            <a:pPr algn="ctr">
              <a:defRPr/>
            </a:pPr>
            <a:endParaRPr lang="vi-VN" sz="2400">
              <a:solidFill>
                <a:schemeClr val="lt1"/>
              </a:solidFill>
              <a:latin typeface="Times New Roman" pitchFamily="18" charset="0"/>
              <a:cs typeface="Times New Roman" pitchFamily="18" charset="0"/>
            </a:endParaRPr>
          </a:p>
        </p:txBody>
      </p:sp>
      <p:sp>
        <p:nvSpPr>
          <p:cNvPr id="14" name="Text Box 9"/>
          <p:cNvSpPr txBox="1">
            <a:spLocks noChangeArrowheads="1"/>
          </p:cNvSpPr>
          <p:nvPr/>
        </p:nvSpPr>
        <p:spPr bwMode="auto">
          <a:xfrm>
            <a:off x="381000" y="5265429"/>
            <a:ext cx="3810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800" b="1" u="sng">
                <a:solidFill>
                  <a:srgbClr val="006600"/>
                </a:solidFill>
                <a:latin typeface="Times New Roman" pitchFamily="18" charset="0"/>
                <a:cs typeface="Times New Roman" pitchFamily="18" charset="0"/>
              </a:rPr>
              <a:t>Qui ước về dấu</a:t>
            </a:r>
            <a:r>
              <a:rPr lang="en-US" sz="2800" b="1">
                <a:solidFill>
                  <a:srgbClr val="006600"/>
                </a:solidFill>
                <a:latin typeface="Times New Roman" pitchFamily="18" charset="0"/>
                <a:cs typeface="Times New Roman" pitchFamily="18" charset="0"/>
              </a:rPr>
              <a:t>:</a:t>
            </a:r>
          </a:p>
        </p:txBody>
      </p:sp>
      <p:sp>
        <p:nvSpPr>
          <p:cNvPr id="15" name="Text Box 10"/>
          <p:cNvSpPr txBox="1">
            <a:spLocks noChangeArrowheads="1"/>
          </p:cNvSpPr>
          <p:nvPr/>
        </p:nvSpPr>
        <p:spPr bwMode="auto">
          <a:xfrm>
            <a:off x="762000" y="5749925"/>
            <a:ext cx="7239000" cy="103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pPr>
            <a:r>
              <a:rPr lang="en-US" sz="2800" b="1" dirty="0">
                <a:solidFill>
                  <a:srgbClr val="FF0000"/>
                </a:solidFill>
                <a:latin typeface="Times New Roman" pitchFamily="18" charset="0"/>
                <a:cs typeface="Times New Roman" pitchFamily="18" charset="0"/>
              </a:rPr>
              <a:t>A, Q &gt; 0: </a:t>
            </a:r>
            <a:r>
              <a:rPr lang="en-US" sz="2800" b="1" dirty="0" err="1">
                <a:solidFill>
                  <a:srgbClr val="050579"/>
                </a:solidFill>
                <a:latin typeface="Times New Roman" pitchFamily="18" charset="0"/>
                <a:cs typeface="Times New Roman" pitchFamily="18" charset="0"/>
              </a:rPr>
              <a:t>khi</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hệ</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nhận</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từ</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bên</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ngoài</a:t>
            </a:r>
            <a:r>
              <a:rPr lang="en-US" sz="2800" b="1" dirty="0">
                <a:solidFill>
                  <a:srgbClr val="050579"/>
                </a:solidFill>
                <a:latin typeface="Times New Roman" pitchFamily="18" charset="0"/>
                <a:cs typeface="Times New Roman" pitchFamily="18" charset="0"/>
              </a:rPr>
              <a:t>.</a:t>
            </a:r>
          </a:p>
          <a:p>
            <a:pPr eaLnBrk="1" hangingPunct="1">
              <a:spcBef>
                <a:spcPct val="20000"/>
              </a:spcBef>
            </a:pPr>
            <a:r>
              <a:rPr lang="en-US" sz="2800" b="1" dirty="0">
                <a:solidFill>
                  <a:srgbClr val="050579"/>
                </a:solidFill>
                <a:latin typeface="Times New Roman" pitchFamily="18" charset="0"/>
                <a:cs typeface="Times New Roman" pitchFamily="18" charset="0"/>
              </a:rPr>
              <a:t>A, Q &lt; 0: </a:t>
            </a:r>
            <a:r>
              <a:rPr lang="en-US" sz="2800" b="1" dirty="0" err="1">
                <a:solidFill>
                  <a:srgbClr val="050579"/>
                </a:solidFill>
                <a:latin typeface="Times New Roman" pitchFamily="18" charset="0"/>
                <a:cs typeface="Times New Roman" pitchFamily="18" charset="0"/>
              </a:rPr>
              <a:t>khi</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hệ</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sinh</a:t>
            </a:r>
            <a:r>
              <a:rPr lang="en-US" sz="2800" b="1" dirty="0">
                <a:solidFill>
                  <a:srgbClr val="050579"/>
                </a:solidFill>
                <a:latin typeface="Times New Roman" pitchFamily="18" charset="0"/>
                <a:cs typeface="Times New Roman" pitchFamily="18" charset="0"/>
              </a:rPr>
              <a:t>/</a:t>
            </a:r>
            <a:r>
              <a:rPr lang="en-US" sz="2800" b="1" dirty="0" err="1">
                <a:solidFill>
                  <a:srgbClr val="050579"/>
                </a:solidFill>
                <a:latin typeface="Times New Roman" pitchFamily="18" charset="0"/>
                <a:cs typeface="Times New Roman" pitchFamily="18" charset="0"/>
              </a:rPr>
              <a:t>tỏa</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ra</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bên</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ngoài</a:t>
            </a:r>
            <a:r>
              <a:rPr lang="en-US" sz="2800" b="1" dirty="0">
                <a:solidFill>
                  <a:srgbClr val="050579"/>
                </a:solidFill>
                <a:latin typeface="Times New Roman" pitchFamily="18" charset="0"/>
                <a:cs typeface="Times New Roman" pitchFamily="18" charset="0"/>
              </a:rPr>
              <a:t>.</a:t>
            </a:r>
          </a:p>
        </p:txBody>
      </p:sp>
      <p:sp>
        <p:nvSpPr>
          <p:cNvPr id="16" name="4-Point Star 15"/>
          <p:cNvSpPr/>
          <p:nvPr/>
        </p:nvSpPr>
        <p:spPr>
          <a:xfrm>
            <a:off x="76200" y="5399881"/>
            <a:ext cx="304800" cy="304800"/>
          </a:xfrm>
          <a:prstGeom prst="star4">
            <a:avLst/>
          </a:prstGeom>
          <a:solidFill>
            <a:srgbClr val="FF000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vi-VN" sz="3200">
              <a:latin typeface="+mj-lt"/>
            </a:endParaRPr>
          </a:p>
        </p:txBody>
      </p:sp>
      <p:sp>
        <p:nvSpPr>
          <p:cNvPr id="4" name="Rectangle 3"/>
          <p:cNvSpPr/>
          <p:nvPr/>
        </p:nvSpPr>
        <p:spPr>
          <a:xfrm>
            <a:off x="-495301" y="374591"/>
            <a:ext cx="9372601" cy="830997"/>
          </a:xfrm>
          <a:prstGeom prst="rect">
            <a:avLst/>
          </a:prstGeom>
        </p:spPr>
        <p:txBody>
          <a:bodyPr wrap="square">
            <a:spAutoFit/>
          </a:bodyPr>
          <a:lstStyle/>
          <a:p>
            <a:pPr lvl="2" eaLnBrk="1" hangingPunct="1"/>
            <a:r>
              <a:rPr lang="en-US" sz="2400" b="1">
                <a:solidFill>
                  <a:srgbClr val="050579"/>
                </a:solidFill>
              </a:rPr>
              <a:t>Các hệ tương tác và truyền năng lượng cho nhau dưới 2 dạng: Công và nhiệt</a:t>
            </a:r>
          </a:p>
        </p:txBody>
      </p:sp>
      <p:sp>
        <p:nvSpPr>
          <p:cNvPr id="2" name="Footer Placeholder 1">
            <a:extLst>
              <a:ext uri="{FF2B5EF4-FFF2-40B4-BE49-F238E27FC236}">
                <a16:creationId xmlns:a16="http://schemas.microsoft.com/office/drawing/2014/main" id="{20B26554-B71B-28BE-4474-AC9D4FB4BB76}"/>
              </a:ext>
            </a:extLst>
          </p:cNvPr>
          <p:cNvSpPr>
            <a:spLocks noGrp="1"/>
          </p:cNvSpPr>
          <p:nvPr>
            <p:ph type="ftr" sz="quarter" idx="11"/>
          </p:nvPr>
        </p:nvSpPr>
        <p:spPr/>
        <p:txBody>
          <a:bodyPr/>
          <a:lstStyle/>
          <a:p>
            <a:r>
              <a:rPr lang="en-US"/>
              <a:t>Bùi Quốc Trung - VLDC</a:t>
            </a:r>
          </a:p>
        </p:txBody>
      </p:sp>
      <p:sp>
        <p:nvSpPr>
          <p:cNvPr id="5" name="Slide Number Placeholder 4">
            <a:extLst>
              <a:ext uri="{FF2B5EF4-FFF2-40B4-BE49-F238E27FC236}">
                <a16:creationId xmlns:a16="http://schemas.microsoft.com/office/drawing/2014/main" id="{DE68A972-6F16-8568-895F-F95800AE8BF6}"/>
              </a:ext>
            </a:extLst>
          </p:cNvPr>
          <p:cNvSpPr>
            <a:spLocks noGrp="1"/>
          </p:cNvSpPr>
          <p:nvPr>
            <p:ph type="sldNum" sz="quarter" idx="12"/>
          </p:nvPr>
        </p:nvSpPr>
        <p:spPr/>
        <p:txBody>
          <a:bodyPr/>
          <a:lstStyle/>
          <a:p>
            <a:fld id="{0C173468-4CCE-478A-9725-791AF0DB04F2}" type="slidenum">
              <a:rPr lang="en-US" smtClean="0"/>
              <a:t>23</a:t>
            </a:fld>
            <a:endParaRPr lang="en-US"/>
          </a:p>
        </p:txBody>
      </p:sp>
    </p:spTree>
    <p:extLst>
      <p:ext uri="{BB962C8B-B14F-4D97-AF65-F5344CB8AC3E}">
        <p14:creationId xmlns:p14="http://schemas.microsoft.com/office/powerpoint/2010/main" val="40509013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randombar(vertical)">
                                      <p:cBhvr>
                                        <p:cTn id="7" dur="10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xEl>
                                              <p:pRg st="0" end="0"/>
                                            </p:txEl>
                                          </p:spTgt>
                                        </p:tgtEl>
                                        <p:attrNameLst>
                                          <p:attrName>style.visibility</p:attrName>
                                        </p:attrNameLst>
                                      </p:cBhvr>
                                      <p:to>
                                        <p:strVal val="visible"/>
                                      </p:to>
                                    </p:set>
                                    <p:animEffect transition="in" filter="fade">
                                      <p:cBhvr>
                                        <p:cTn id="12" dur="500"/>
                                        <p:tgtEl>
                                          <p:spTgt spid="2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xEl>
                                              <p:pRg st="1" end="1"/>
                                            </p:txEl>
                                          </p:spTgt>
                                        </p:tgtEl>
                                        <p:attrNameLst>
                                          <p:attrName>style.visibility</p:attrName>
                                        </p:attrNameLst>
                                      </p:cBhvr>
                                      <p:to>
                                        <p:strVal val="visible"/>
                                      </p:to>
                                    </p:set>
                                    <p:animEffect transition="in" filter="fade">
                                      <p:cBhvr>
                                        <p:cTn id="17" dur="500"/>
                                        <p:tgtEl>
                                          <p:spTgt spid="22">
                                            <p:txEl>
                                              <p:pRg st="1" end="1"/>
                                            </p:txEl>
                                          </p:spTgt>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31"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p:cTn id="26" dur="1000" fill="hold"/>
                                        <p:tgtEl>
                                          <p:spTgt spid="10"/>
                                        </p:tgtEl>
                                        <p:attrNameLst>
                                          <p:attrName>ppt_w</p:attrName>
                                        </p:attrNameLst>
                                      </p:cBhvr>
                                      <p:tavLst>
                                        <p:tav tm="0">
                                          <p:val>
                                            <p:fltVal val="0"/>
                                          </p:val>
                                        </p:tav>
                                        <p:tav tm="100000">
                                          <p:val>
                                            <p:strVal val="#ppt_w"/>
                                          </p:val>
                                        </p:tav>
                                      </p:tavLst>
                                    </p:anim>
                                    <p:anim calcmode="lin" valueType="num">
                                      <p:cBhvr>
                                        <p:cTn id="27" dur="1000" fill="hold"/>
                                        <p:tgtEl>
                                          <p:spTgt spid="10"/>
                                        </p:tgtEl>
                                        <p:attrNameLst>
                                          <p:attrName>ppt_h</p:attrName>
                                        </p:attrNameLst>
                                      </p:cBhvr>
                                      <p:tavLst>
                                        <p:tav tm="0">
                                          <p:val>
                                            <p:fltVal val="0"/>
                                          </p:val>
                                        </p:tav>
                                        <p:tav tm="100000">
                                          <p:val>
                                            <p:strVal val="#ppt_h"/>
                                          </p:val>
                                        </p:tav>
                                      </p:tavLst>
                                    </p:anim>
                                    <p:anim calcmode="lin" valueType="num">
                                      <p:cBhvr>
                                        <p:cTn id="28" dur="1000" fill="hold"/>
                                        <p:tgtEl>
                                          <p:spTgt spid="10"/>
                                        </p:tgtEl>
                                        <p:attrNameLst>
                                          <p:attrName>style.rotation</p:attrName>
                                        </p:attrNameLst>
                                      </p:cBhvr>
                                      <p:tavLst>
                                        <p:tav tm="0">
                                          <p:val>
                                            <p:fltVal val="90"/>
                                          </p:val>
                                        </p:tav>
                                        <p:tav tm="100000">
                                          <p:val>
                                            <p:fltVal val="0"/>
                                          </p:val>
                                        </p:tav>
                                      </p:tavLst>
                                    </p:anim>
                                    <p:animEffect transition="in" filter="fade">
                                      <p:cBhvr>
                                        <p:cTn id="29" dur="1000"/>
                                        <p:tgtEl>
                                          <p:spTgt spid="10"/>
                                        </p:tgtEl>
                                      </p:cBhvr>
                                    </p:animEffect>
                                  </p:childTnLst>
                                </p:cTn>
                              </p:par>
                            </p:childTnLst>
                          </p:cTn>
                        </p:par>
                        <p:par>
                          <p:cTn id="30" fill="hold">
                            <p:stCondLst>
                              <p:cond delay="1000"/>
                            </p:stCondLst>
                            <p:childTnLst>
                              <p:par>
                                <p:cTn id="31" presetID="14" presetClass="entr" presetSubtype="5"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randombar(vertical)">
                                      <p:cBhvr>
                                        <p:cTn id="33" dur="10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1">
                                            <p:txEl>
                                              <p:pRg st="0" end="0"/>
                                            </p:txEl>
                                          </p:spTgt>
                                        </p:tgtEl>
                                        <p:attrNameLst>
                                          <p:attrName>style.visibility</p:attrName>
                                        </p:attrNameLst>
                                      </p:cBhvr>
                                      <p:to>
                                        <p:strVal val="visible"/>
                                      </p:to>
                                    </p:set>
                                    <p:animEffect transition="in" filter="fade">
                                      <p:cBhvr>
                                        <p:cTn id="38" dur="500"/>
                                        <p:tgtEl>
                                          <p:spTgt spid="11">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1">
                                            <p:txEl>
                                              <p:pRg st="1" end="1"/>
                                            </p:txEl>
                                          </p:spTgt>
                                        </p:tgtEl>
                                        <p:attrNameLst>
                                          <p:attrName>style.visibility</p:attrName>
                                        </p:attrNameLst>
                                      </p:cBhvr>
                                      <p:to>
                                        <p:strVal val="visible"/>
                                      </p:to>
                                    </p:set>
                                    <p:animEffect transition="in" filter="fade">
                                      <p:cBhvr>
                                        <p:cTn id="43" dur="500"/>
                                        <p:tgtEl>
                                          <p:spTgt spid="11">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3"/>
                                        </p:tgtEl>
                                        <p:attrNameLst>
                                          <p:attrName>style.visibility</p:attrName>
                                        </p:attrNameLst>
                                      </p:cBhvr>
                                      <p:to>
                                        <p:strVal val="visible"/>
                                      </p:to>
                                    </p:set>
                                    <p:anim calcmode="lin" valueType="num">
                                      <p:cBhvr additive="base">
                                        <p:cTn id="48" dur="500" fill="hold"/>
                                        <p:tgtEl>
                                          <p:spTgt spid="3"/>
                                        </p:tgtEl>
                                        <p:attrNameLst>
                                          <p:attrName>ppt_x</p:attrName>
                                        </p:attrNameLst>
                                      </p:cBhvr>
                                      <p:tavLst>
                                        <p:tav tm="0">
                                          <p:val>
                                            <p:strVal val="#ppt_x"/>
                                          </p:val>
                                        </p:tav>
                                        <p:tav tm="100000">
                                          <p:val>
                                            <p:strVal val="#ppt_x"/>
                                          </p:val>
                                        </p:tav>
                                      </p:tavLst>
                                    </p:anim>
                                    <p:anim calcmode="lin" valueType="num">
                                      <p:cBhvr additive="base">
                                        <p:cTn id="4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31" presetClass="entr" presetSubtype="0" fill="hold" grpId="0" nodeType="clickEffect">
                                  <p:stCondLst>
                                    <p:cond delay="0"/>
                                  </p:stCondLst>
                                  <p:childTnLst>
                                    <p:set>
                                      <p:cBhvr>
                                        <p:cTn id="53" dur="1" fill="hold">
                                          <p:stCondLst>
                                            <p:cond delay="0"/>
                                          </p:stCondLst>
                                        </p:cTn>
                                        <p:tgtEl>
                                          <p:spTgt spid="13"/>
                                        </p:tgtEl>
                                        <p:attrNameLst>
                                          <p:attrName>style.visibility</p:attrName>
                                        </p:attrNameLst>
                                      </p:cBhvr>
                                      <p:to>
                                        <p:strVal val="visible"/>
                                      </p:to>
                                    </p:set>
                                    <p:anim calcmode="lin" valueType="num">
                                      <p:cBhvr>
                                        <p:cTn id="54" dur="1000" fill="hold"/>
                                        <p:tgtEl>
                                          <p:spTgt spid="13"/>
                                        </p:tgtEl>
                                        <p:attrNameLst>
                                          <p:attrName>ppt_w</p:attrName>
                                        </p:attrNameLst>
                                      </p:cBhvr>
                                      <p:tavLst>
                                        <p:tav tm="0">
                                          <p:val>
                                            <p:fltVal val="0"/>
                                          </p:val>
                                        </p:tav>
                                        <p:tav tm="100000">
                                          <p:val>
                                            <p:strVal val="#ppt_w"/>
                                          </p:val>
                                        </p:tav>
                                      </p:tavLst>
                                    </p:anim>
                                    <p:anim calcmode="lin" valueType="num">
                                      <p:cBhvr>
                                        <p:cTn id="55" dur="1000" fill="hold"/>
                                        <p:tgtEl>
                                          <p:spTgt spid="13"/>
                                        </p:tgtEl>
                                        <p:attrNameLst>
                                          <p:attrName>ppt_h</p:attrName>
                                        </p:attrNameLst>
                                      </p:cBhvr>
                                      <p:tavLst>
                                        <p:tav tm="0">
                                          <p:val>
                                            <p:fltVal val="0"/>
                                          </p:val>
                                        </p:tav>
                                        <p:tav tm="100000">
                                          <p:val>
                                            <p:strVal val="#ppt_h"/>
                                          </p:val>
                                        </p:tav>
                                      </p:tavLst>
                                    </p:anim>
                                    <p:anim calcmode="lin" valueType="num">
                                      <p:cBhvr>
                                        <p:cTn id="56" dur="1000" fill="hold"/>
                                        <p:tgtEl>
                                          <p:spTgt spid="13"/>
                                        </p:tgtEl>
                                        <p:attrNameLst>
                                          <p:attrName>style.rotation</p:attrName>
                                        </p:attrNameLst>
                                      </p:cBhvr>
                                      <p:tavLst>
                                        <p:tav tm="0">
                                          <p:val>
                                            <p:fltVal val="90"/>
                                          </p:val>
                                        </p:tav>
                                        <p:tav tm="100000">
                                          <p:val>
                                            <p:fltVal val="0"/>
                                          </p:val>
                                        </p:tav>
                                      </p:tavLst>
                                    </p:anim>
                                    <p:animEffect transition="in" filter="fade">
                                      <p:cBhvr>
                                        <p:cTn id="57" dur="1000"/>
                                        <p:tgtEl>
                                          <p:spTgt spid="13"/>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14"/>
                                        </p:tgtEl>
                                        <p:attrNameLst>
                                          <p:attrName>style.visibility</p:attrName>
                                        </p:attrNameLst>
                                      </p:cBhvr>
                                      <p:to>
                                        <p:strVal val="visible"/>
                                      </p:to>
                                    </p:set>
                                    <p:anim calcmode="lin" valueType="num">
                                      <p:cBhvr additive="base">
                                        <p:cTn id="62" dur="500" fill="hold"/>
                                        <p:tgtEl>
                                          <p:spTgt spid="14"/>
                                        </p:tgtEl>
                                        <p:attrNameLst>
                                          <p:attrName>ppt_x</p:attrName>
                                        </p:attrNameLst>
                                      </p:cBhvr>
                                      <p:tavLst>
                                        <p:tav tm="0">
                                          <p:val>
                                            <p:strVal val="#ppt_x"/>
                                          </p:val>
                                        </p:tav>
                                        <p:tav tm="100000">
                                          <p:val>
                                            <p:strVal val="#ppt_x"/>
                                          </p:val>
                                        </p:tav>
                                      </p:tavLst>
                                    </p:anim>
                                    <p:anim calcmode="lin" valueType="num">
                                      <p:cBhvr additive="base">
                                        <p:cTn id="63"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1" fill="hold" nodeType="clickEffect">
                                  <p:stCondLst>
                                    <p:cond delay="0"/>
                                  </p:stCondLst>
                                  <p:childTnLst>
                                    <p:set>
                                      <p:cBhvr>
                                        <p:cTn id="67" dur="1" fill="hold">
                                          <p:stCondLst>
                                            <p:cond delay="0"/>
                                          </p:stCondLst>
                                        </p:cTn>
                                        <p:tgtEl>
                                          <p:spTgt spid="15">
                                            <p:txEl>
                                              <p:pRg st="0" end="0"/>
                                            </p:txEl>
                                          </p:spTgt>
                                        </p:tgtEl>
                                        <p:attrNameLst>
                                          <p:attrName>style.visibility</p:attrName>
                                        </p:attrNameLst>
                                      </p:cBhvr>
                                      <p:to>
                                        <p:strVal val="visible"/>
                                      </p:to>
                                    </p:set>
                                    <p:anim calcmode="lin" valueType="num">
                                      <p:cBhvr additive="base">
                                        <p:cTn id="68"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69" dur="500" fill="hold"/>
                                        <p:tgtEl>
                                          <p:spTgt spid="15">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 presetClass="entr" presetSubtype="1" fill="hold" nodeType="clickEffect">
                                  <p:stCondLst>
                                    <p:cond delay="0"/>
                                  </p:stCondLst>
                                  <p:childTnLst>
                                    <p:set>
                                      <p:cBhvr>
                                        <p:cTn id="73" dur="1" fill="hold">
                                          <p:stCondLst>
                                            <p:cond delay="0"/>
                                          </p:stCondLst>
                                        </p:cTn>
                                        <p:tgtEl>
                                          <p:spTgt spid="15">
                                            <p:txEl>
                                              <p:pRg st="1" end="1"/>
                                            </p:txEl>
                                          </p:spTgt>
                                        </p:tgtEl>
                                        <p:attrNameLst>
                                          <p:attrName>style.visibility</p:attrName>
                                        </p:attrNameLst>
                                      </p:cBhvr>
                                      <p:to>
                                        <p:strVal val="visible"/>
                                      </p:to>
                                    </p:set>
                                    <p:anim calcmode="lin" valueType="num">
                                      <p:cBhvr additive="base">
                                        <p:cTn id="74" dur="500" fill="hold"/>
                                        <p:tgtEl>
                                          <p:spTgt spid="15">
                                            <p:txEl>
                                              <p:pRg st="1" end="1"/>
                                            </p:txEl>
                                          </p:spTgt>
                                        </p:tgtEl>
                                        <p:attrNameLst>
                                          <p:attrName>ppt_x</p:attrName>
                                        </p:attrNameLst>
                                      </p:cBhvr>
                                      <p:tavLst>
                                        <p:tav tm="0">
                                          <p:val>
                                            <p:strVal val="#ppt_x"/>
                                          </p:val>
                                        </p:tav>
                                        <p:tav tm="100000">
                                          <p:val>
                                            <p:strVal val="#ppt_x"/>
                                          </p:val>
                                        </p:tav>
                                      </p:tavLst>
                                    </p:anim>
                                    <p:anim calcmode="lin" valueType="num">
                                      <p:cBhvr additive="base">
                                        <p:cTn id="75" dur="500" fill="hold"/>
                                        <p:tgtEl>
                                          <p:spTgt spid="15">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14" presetClass="entr" presetSubtype="10" fill="hold" grpId="0" nodeType="clickEffect">
                                  <p:stCondLst>
                                    <p:cond delay="0"/>
                                  </p:stCondLst>
                                  <p:childTnLst>
                                    <p:set>
                                      <p:cBhvr>
                                        <p:cTn id="79" dur="1" fill="hold">
                                          <p:stCondLst>
                                            <p:cond delay="0"/>
                                          </p:stCondLst>
                                        </p:cTn>
                                        <p:tgtEl>
                                          <p:spTgt spid="16"/>
                                        </p:tgtEl>
                                        <p:attrNameLst>
                                          <p:attrName>style.visibility</p:attrName>
                                        </p:attrNameLst>
                                      </p:cBhvr>
                                      <p:to>
                                        <p:strVal val="visible"/>
                                      </p:to>
                                    </p:set>
                                    <p:animEffect transition="in" filter="randombar(horizontal)">
                                      <p:cBhvr>
                                        <p:cTn id="8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10" grpId="0" animBg="1"/>
      <p:bldP spid="11" grpId="0"/>
      <p:bldP spid="13" grpId="0" animBg="1"/>
      <p:bldP spid="14" grpId="0"/>
      <p:bldP spid="1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308591" y="1479288"/>
            <a:ext cx="1825009" cy="578112"/>
          </a:xfrm>
          <a:prstGeom prst="rect">
            <a:avLst/>
          </a:prstGeom>
          <a:noFill/>
          <a:ln w="9525">
            <a:noFill/>
            <a:miter lim="800000"/>
            <a:headEnd/>
            <a:tailEnd/>
          </a:ln>
        </p:spPr>
        <p:txBody>
          <a:bodyPr/>
          <a:lstStyle/>
          <a:p>
            <a:pPr marL="1588" indent="-1588" algn="just">
              <a:spcBef>
                <a:spcPct val="20000"/>
              </a:spcBef>
              <a:defRPr/>
            </a:pPr>
            <a:r>
              <a:rPr lang="en-US" sz="2800" b="1">
                <a:solidFill>
                  <a:srgbClr val="FF0000"/>
                </a:solidFill>
                <a:latin typeface="Times New Roman" pitchFamily="18" charset="0"/>
                <a:cs typeface="+mn-cs"/>
              </a:rPr>
              <a:t>   </a:t>
            </a:r>
            <a:r>
              <a:rPr lang="en-US" sz="2800" b="1" u="sng">
                <a:solidFill>
                  <a:srgbClr val="FF0000"/>
                </a:solidFill>
                <a:latin typeface="Times New Roman" pitchFamily="18" charset="0"/>
                <a:cs typeface="+mn-cs"/>
              </a:rPr>
              <a:t>Công:</a:t>
            </a:r>
            <a:endParaRPr lang="en-US" sz="2800" b="1">
              <a:solidFill>
                <a:schemeClr val="accent2"/>
              </a:solidFill>
              <a:latin typeface="Times New Roman" pitchFamily="18" charset="0"/>
              <a:cs typeface="+mn-cs"/>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2995291007"/>
              </p:ext>
            </p:extLst>
          </p:nvPr>
        </p:nvGraphicFramePr>
        <p:xfrm>
          <a:off x="2133600" y="1066800"/>
          <a:ext cx="2468494" cy="1529596"/>
        </p:xfrm>
        <a:graphic>
          <a:graphicData uri="http://schemas.openxmlformats.org/presentationml/2006/ole">
            <mc:AlternateContent xmlns:mc="http://schemas.openxmlformats.org/markup-compatibility/2006">
              <mc:Choice xmlns:v="urn:schemas-microsoft-com:vml" Requires="v">
                <p:oleObj name="Equation" r:id="rId2" imgW="914400" imgH="622080" progId="Equation.DSMT4">
                  <p:embed/>
                </p:oleObj>
              </mc:Choice>
              <mc:Fallback>
                <p:oleObj name="Equation" r:id="rId2" imgW="914400" imgH="622080" progId="Equation.DSMT4">
                  <p:embed/>
                  <p:pic>
                    <p:nvPicPr>
                      <p:cNvPr id="0" name=""/>
                      <p:cNvPicPr>
                        <a:picLocks noChangeAspect="1" noChangeArrowheads="1"/>
                      </p:cNvPicPr>
                      <p:nvPr/>
                    </p:nvPicPr>
                    <p:blipFill>
                      <a:blip r:embed="rId3"/>
                      <a:srcRect/>
                      <a:stretch>
                        <a:fillRect/>
                      </a:stretch>
                    </p:blipFill>
                    <p:spPr bwMode="auto">
                      <a:xfrm>
                        <a:off x="2133600" y="1066800"/>
                        <a:ext cx="2468494" cy="1529596"/>
                      </a:xfrm>
                      <a:prstGeom prst="rect">
                        <a:avLst/>
                      </a:prstGeom>
                      <a:noFill/>
                      <a:ln w="38100" cmpd="dbl">
                        <a:solidFill>
                          <a:srgbClr val="050579"/>
                        </a:solidFill>
                      </a:ln>
                    </p:spPr>
                  </p:pic>
                </p:oleObj>
              </mc:Fallback>
            </mc:AlternateContent>
          </a:graphicData>
        </a:graphic>
      </p:graphicFrame>
      <p:sp>
        <p:nvSpPr>
          <p:cNvPr id="7" name="Rectangle 3"/>
          <p:cNvSpPr txBox="1">
            <a:spLocks noChangeArrowheads="1"/>
          </p:cNvSpPr>
          <p:nvPr/>
        </p:nvSpPr>
        <p:spPr bwMode="auto">
          <a:xfrm>
            <a:off x="308591" y="3200612"/>
            <a:ext cx="2587009" cy="635190"/>
          </a:xfrm>
          <a:prstGeom prst="rect">
            <a:avLst/>
          </a:prstGeom>
          <a:noFill/>
          <a:ln w="9525">
            <a:noFill/>
            <a:miter lim="800000"/>
            <a:headEnd/>
            <a:tailEnd/>
          </a:ln>
        </p:spPr>
        <p:txBody>
          <a:bodyPr/>
          <a:lstStyle/>
          <a:p>
            <a:pPr marL="1588" indent="-1588" algn="just">
              <a:spcBef>
                <a:spcPct val="20000"/>
              </a:spcBef>
              <a:defRPr/>
            </a:pPr>
            <a:r>
              <a:rPr lang="en-US" sz="2800" b="1">
                <a:solidFill>
                  <a:srgbClr val="FF0000"/>
                </a:solidFill>
                <a:latin typeface="Times New Roman" pitchFamily="18" charset="0"/>
                <a:cs typeface="Times New Roman" pitchFamily="18" charset="0"/>
              </a:rPr>
              <a:t>   </a:t>
            </a:r>
            <a:r>
              <a:rPr lang="en-US" sz="2800" b="1" u="sng">
                <a:solidFill>
                  <a:srgbClr val="FF0000"/>
                </a:solidFill>
                <a:latin typeface="Times New Roman" pitchFamily="18" charset="0"/>
                <a:cs typeface="Times New Roman" pitchFamily="18" charset="0"/>
              </a:rPr>
              <a:t>Nhiệt lượng:</a:t>
            </a:r>
            <a:endParaRPr lang="en-US" sz="2800" b="1">
              <a:solidFill>
                <a:srgbClr val="002060"/>
              </a:solidFill>
              <a:latin typeface="Times New Roman" pitchFamily="18" charset="0"/>
              <a:cs typeface="Times New Roman" pitchFamily="18" charset="0"/>
            </a:endParaRPr>
          </a:p>
        </p:txBody>
      </p:sp>
      <p:graphicFrame>
        <p:nvGraphicFramePr>
          <p:cNvPr id="8" name="Object 7"/>
          <p:cNvGraphicFramePr>
            <a:graphicFrameLocks noChangeAspect="1"/>
          </p:cNvGraphicFramePr>
          <p:nvPr>
            <p:extLst>
              <p:ext uri="{D42A27DB-BD31-4B8C-83A1-F6EECF244321}">
                <p14:modId xmlns:p14="http://schemas.microsoft.com/office/powerpoint/2010/main" val="3272390897"/>
              </p:ext>
            </p:extLst>
          </p:nvPr>
        </p:nvGraphicFramePr>
        <p:xfrm>
          <a:off x="2925764" y="3273020"/>
          <a:ext cx="1843087" cy="466725"/>
        </p:xfrm>
        <a:graphic>
          <a:graphicData uri="http://schemas.openxmlformats.org/presentationml/2006/ole">
            <mc:AlternateContent xmlns:mc="http://schemas.openxmlformats.org/markup-compatibility/2006">
              <mc:Choice xmlns:v="urn:schemas-microsoft-com:vml" Requires="v">
                <p:oleObj name="Equation" r:id="rId4" imgW="736560" imgH="203040" progId="Equation.DSMT4">
                  <p:embed/>
                </p:oleObj>
              </mc:Choice>
              <mc:Fallback>
                <p:oleObj name="Equation" r:id="rId4" imgW="736560" imgH="203040" progId="Equation.DSMT4">
                  <p:embed/>
                  <p:pic>
                    <p:nvPicPr>
                      <p:cNvPr id="0" name=""/>
                      <p:cNvPicPr>
                        <a:picLocks noChangeAspect="1" noChangeArrowheads="1"/>
                      </p:cNvPicPr>
                      <p:nvPr/>
                    </p:nvPicPr>
                    <p:blipFill>
                      <a:blip r:embed="rId5"/>
                      <a:srcRect/>
                      <a:stretch>
                        <a:fillRect/>
                      </a:stretch>
                    </p:blipFill>
                    <p:spPr bwMode="auto">
                      <a:xfrm>
                        <a:off x="2925764" y="3273020"/>
                        <a:ext cx="1843087" cy="466725"/>
                      </a:xfrm>
                      <a:prstGeom prst="rect">
                        <a:avLst/>
                      </a:prstGeom>
                      <a:noFill/>
                      <a:ln w="9525">
                        <a:noFill/>
                        <a:miter lim="800000"/>
                        <a:headEnd/>
                        <a:tailEnd/>
                      </a:ln>
                      <a:effectLst/>
                    </p:spPr>
                  </p:pic>
                </p:oleObj>
              </mc:Fallback>
            </mc:AlternateContent>
          </a:graphicData>
        </a:graphic>
      </p:graphicFrame>
      <p:sp>
        <p:nvSpPr>
          <p:cNvPr id="14" name="Rectangle 13"/>
          <p:cNvSpPr/>
          <p:nvPr/>
        </p:nvSpPr>
        <p:spPr>
          <a:xfrm>
            <a:off x="2133600" y="4099687"/>
            <a:ext cx="6400800" cy="523220"/>
          </a:xfrm>
          <a:prstGeom prst="rect">
            <a:avLst/>
          </a:prstGeom>
        </p:spPr>
        <p:txBody>
          <a:bodyPr wrap="square">
            <a:spAutoFit/>
          </a:bodyPr>
          <a:lstStyle/>
          <a:p>
            <a:r>
              <a:rPr lang="en-US" sz="2800" dirty="0">
                <a:latin typeface="Times New Roman" pitchFamily="18" charset="0"/>
                <a:cs typeface="Times New Roman" pitchFamily="18" charset="0"/>
              </a:rPr>
              <a:t>c</a:t>
            </a:r>
            <a:r>
              <a:rPr lang="en-US" sz="2800" b="1" dirty="0">
                <a:solidFill>
                  <a:srgbClr val="050579"/>
                </a:solidFill>
                <a:latin typeface="Times New Roman" pitchFamily="18" charset="0"/>
                <a:cs typeface="Times New Roman" pitchFamily="18" charset="0"/>
              </a:rPr>
              <a:t> : </a:t>
            </a:r>
            <a:r>
              <a:rPr lang="en-US" sz="2800" b="1" dirty="0" err="1">
                <a:solidFill>
                  <a:srgbClr val="050579"/>
                </a:solidFill>
                <a:latin typeface="Times New Roman" pitchFamily="18" charset="0"/>
                <a:cs typeface="Times New Roman" pitchFamily="18" charset="0"/>
              </a:rPr>
              <a:t>nhiệt</a:t>
            </a:r>
            <a:r>
              <a:rPr lang="en-US" sz="2800" b="1" dirty="0">
                <a:solidFill>
                  <a:srgbClr val="050579"/>
                </a:solidFill>
                <a:latin typeface="Times New Roman" pitchFamily="18" charset="0"/>
                <a:cs typeface="Times New Roman" pitchFamily="18" charset="0"/>
              </a:rPr>
              <a:t> dung </a:t>
            </a:r>
            <a:r>
              <a:rPr lang="en-US" sz="2800" b="1" dirty="0" err="1">
                <a:solidFill>
                  <a:srgbClr val="050579"/>
                </a:solidFill>
                <a:latin typeface="Times New Roman" pitchFamily="18" charset="0"/>
                <a:cs typeface="Times New Roman" pitchFamily="18" charset="0"/>
              </a:rPr>
              <a:t>riêng</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đơn</a:t>
            </a:r>
            <a:r>
              <a:rPr lang="en-US" sz="2800" b="1" dirty="0">
                <a:solidFill>
                  <a:srgbClr val="050579"/>
                </a:solidFill>
                <a:latin typeface="Times New Roman" pitchFamily="18" charset="0"/>
                <a:cs typeface="Times New Roman" pitchFamily="18" charset="0"/>
              </a:rPr>
              <a:t> </a:t>
            </a:r>
            <a:r>
              <a:rPr lang="en-US" sz="2800" b="1" dirty="0" err="1">
                <a:solidFill>
                  <a:srgbClr val="050579"/>
                </a:solidFill>
                <a:latin typeface="Times New Roman" pitchFamily="18" charset="0"/>
                <a:cs typeface="Times New Roman" pitchFamily="18" charset="0"/>
              </a:rPr>
              <a:t>vị</a:t>
            </a:r>
            <a:r>
              <a:rPr lang="en-US" sz="2800" b="1" dirty="0">
                <a:solidFill>
                  <a:srgbClr val="050579"/>
                </a:solidFill>
                <a:latin typeface="Times New Roman" pitchFamily="18" charset="0"/>
                <a:cs typeface="Times New Roman" pitchFamily="18" charset="0"/>
              </a:rPr>
              <a:t>: J/</a:t>
            </a:r>
            <a:r>
              <a:rPr lang="en-US" sz="2800" b="1" dirty="0" err="1">
                <a:solidFill>
                  <a:srgbClr val="050579"/>
                </a:solidFill>
                <a:latin typeface="Times New Roman" pitchFamily="18" charset="0"/>
                <a:cs typeface="Times New Roman" pitchFamily="18" charset="0"/>
              </a:rPr>
              <a:t>kg.K</a:t>
            </a:r>
            <a:r>
              <a:rPr lang="en-US" sz="2800" b="1" dirty="0">
                <a:solidFill>
                  <a:srgbClr val="050579"/>
                </a:solidFill>
                <a:latin typeface="Times New Roman" pitchFamily="18" charset="0"/>
                <a:cs typeface="Times New Roman" pitchFamily="18" charset="0"/>
              </a:rPr>
              <a:t>)</a:t>
            </a:r>
          </a:p>
        </p:txBody>
      </p:sp>
      <p:graphicFrame>
        <p:nvGraphicFramePr>
          <p:cNvPr id="15" name="Object 14"/>
          <p:cNvGraphicFramePr>
            <a:graphicFrameLocks noChangeAspect="1"/>
          </p:cNvGraphicFramePr>
          <p:nvPr>
            <p:extLst>
              <p:ext uri="{D42A27DB-BD31-4B8C-83A1-F6EECF244321}">
                <p14:modId xmlns:p14="http://schemas.microsoft.com/office/powerpoint/2010/main" val="4044067781"/>
              </p:ext>
            </p:extLst>
          </p:nvPr>
        </p:nvGraphicFramePr>
        <p:xfrm>
          <a:off x="5878512" y="3048000"/>
          <a:ext cx="1970088" cy="962025"/>
        </p:xfrm>
        <a:graphic>
          <a:graphicData uri="http://schemas.openxmlformats.org/presentationml/2006/ole">
            <mc:AlternateContent xmlns:mc="http://schemas.openxmlformats.org/markup-compatibility/2006">
              <mc:Choice xmlns:v="urn:schemas-microsoft-com:vml" Requires="v">
                <p:oleObj name="Equation" r:id="rId6" imgW="787320" imgH="419040" progId="Equation.DSMT4">
                  <p:embed/>
                </p:oleObj>
              </mc:Choice>
              <mc:Fallback>
                <p:oleObj name="Equation" r:id="rId6" imgW="787320" imgH="419040" progId="Equation.DSMT4">
                  <p:embed/>
                  <p:pic>
                    <p:nvPicPr>
                      <p:cNvPr id="0" name=""/>
                      <p:cNvPicPr>
                        <a:picLocks noChangeAspect="1" noChangeArrowheads="1"/>
                      </p:cNvPicPr>
                      <p:nvPr/>
                    </p:nvPicPr>
                    <p:blipFill>
                      <a:blip r:embed="rId7"/>
                      <a:srcRect/>
                      <a:stretch>
                        <a:fillRect/>
                      </a:stretch>
                    </p:blipFill>
                    <p:spPr bwMode="auto">
                      <a:xfrm>
                        <a:off x="5878512" y="3048000"/>
                        <a:ext cx="1970088" cy="962025"/>
                      </a:xfrm>
                      <a:prstGeom prst="rect">
                        <a:avLst/>
                      </a:prstGeom>
                      <a:noFill/>
                      <a:ln w="34925" cmpd="thickThin">
                        <a:solidFill>
                          <a:srgbClr val="050579"/>
                        </a:solidFill>
                      </a:ln>
                    </p:spPr>
                  </p:pic>
                </p:oleObj>
              </mc:Fallback>
            </mc:AlternateContent>
          </a:graphicData>
        </a:graphic>
      </p:graphicFrame>
      <p:grpSp>
        <p:nvGrpSpPr>
          <p:cNvPr id="17" name="Group 16"/>
          <p:cNvGrpSpPr/>
          <p:nvPr/>
        </p:nvGrpSpPr>
        <p:grpSpPr>
          <a:xfrm>
            <a:off x="1240809" y="4737152"/>
            <a:ext cx="7293591" cy="525495"/>
            <a:chOff x="6618782" y="5768454"/>
            <a:chExt cx="7293591" cy="525495"/>
          </a:xfrm>
        </p:grpSpPr>
        <p:graphicFrame>
          <p:nvGraphicFramePr>
            <p:cNvPr id="13" name="Object 12"/>
            <p:cNvGraphicFramePr>
              <a:graphicFrameLocks noChangeAspect="1"/>
            </p:cNvGraphicFramePr>
            <p:nvPr>
              <p:extLst>
                <p:ext uri="{D42A27DB-BD31-4B8C-83A1-F6EECF244321}">
                  <p14:modId xmlns:p14="http://schemas.microsoft.com/office/powerpoint/2010/main" val="4110687519"/>
                </p:ext>
              </p:extLst>
            </p:nvPr>
          </p:nvGraphicFramePr>
          <p:xfrm>
            <a:off x="6618782" y="5827224"/>
            <a:ext cx="1208088" cy="466725"/>
          </p:xfrm>
          <a:graphic>
            <a:graphicData uri="http://schemas.openxmlformats.org/presentationml/2006/ole">
              <mc:AlternateContent xmlns:mc="http://schemas.openxmlformats.org/markup-compatibility/2006">
                <mc:Choice xmlns:v="urn:schemas-microsoft-com:vml" Requires="v">
                  <p:oleObj name="Equation" r:id="rId8" imgW="482400" imgH="203040" progId="Equation.DSMT4">
                    <p:embed/>
                  </p:oleObj>
                </mc:Choice>
                <mc:Fallback>
                  <p:oleObj name="Equation" r:id="rId8" imgW="482400" imgH="203040" progId="Equation.DSMT4">
                    <p:embed/>
                    <p:pic>
                      <p:nvPicPr>
                        <p:cNvPr id="0" name=""/>
                        <p:cNvPicPr>
                          <a:picLocks noChangeAspect="1" noChangeArrowheads="1"/>
                        </p:cNvPicPr>
                        <p:nvPr/>
                      </p:nvPicPr>
                      <p:blipFill>
                        <a:blip r:embed="rId9"/>
                        <a:srcRect/>
                        <a:stretch>
                          <a:fillRect/>
                        </a:stretch>
                      </p:blipFill>
                      <p:spPr bwMode="auto">
                        <a:xfrm>
                          <a:off x="6618782" y="5827224"/>
                          <a:ext cx="120808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5"/>
            <p:cNvSpPr/>
            <p:nvPr/>
          </p:nvSpPr>
          <p:spPr>
            <a:xfrm>
              <a:off x="7734299" y="5768454"/>
              <a:ext cx="6178074" cy="523220"/>
            </a:xfrm>
            <a:prstGeom prst="rect">
              <a:avLst/>
            </a:prstGeom>
          </p:spPr>
          <p:txBody>
            <a:bodyPr wrap="square">
              <a:spAutoFit/>
            </a:bodyPr>
            <a:lstStyle/>
            <a:p>
              <a:r>
                <a:rPr lang="en-US" sz="2800" b="1">
                  <a:solidFill>
                    <a:srgbClr val="050579"/>
                  </a:solidFill>
                  <a:latin typeface="Times New Roman" pitchFamily="18" charset="0"/>
                  <a:cs typeface="Times New Roman" pitchFamily="18" charset="0"/>
                </a:rPr>
                <a:t>: nhiệt dung mol (đơn vị: J/mol.K)</a:t>
              </a:r>
            </a:p>
          </p:txBody>
        </p:sp>
      </p:grpSp>
      <p:sp>
        <p:nvSpPr>
          <p:cNvPr id="18" name="Right Arrow 17"/>
          <p:cNvSpPr/>
          <p:nvPr/>
        </p:nvSpPr>
        <p:spPr>
          <a:xfrm>
            <a:off x="5175727" y="3403907"/>
            <a:ext cx="259080" cy="228600"/>
          </a:xfrm>
          <a:prstGeom prst="rightArrow">
            <a:avLst/>
          </a:prstGeom>
          <a:solidFill>
            <a:srgbClr val="90F828"/>
          </a:solidFill>
          <a:ln>
            <a:solidFill>
              <a:srgbClr val="1E22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800">
              <a:solidFill>
                <a:srgbClr val="0070C0"/>
              </a:solidFill>
              <a:latin typeface="Times New Roman" pitchFamily="18" charset="0"/>
              <a:cs typeface="Times New Roman" pitchFamily="18" charset="0"/>
            </a:endParaRPr>
          </a:p>
        </p:txBody>
      </p:sp>
      <p:sp>
        <p:nvSpPr>
          <p:cNvPr id="2" name="Footer Placeholder 1">
            <a:extLst>
              <a:ext uri="{FF2B5EF4-FFF2-40B4-BE49-F238E27FC236}">
                <a16:creationId xmlns:a16="http://schemas.microsoft.com/office/drawing/2014/main" id="{7A03A4C3-74BE-6FF1-2A1B-E0C61FC3458D}"/>
              </a:ext>
            </a:extLst>
          </p:cNvPr>
          <p:cNvSpPr>
            <a:spLocks noGrp="1"/>
          </p:cNvSpPr>
          <p:nvPr>
            <p:ph type="ftr" sz="quarter" idx="11"/>
          </p:nvPr>
        </p:nvSpPr>
        <p:spPr/>
        <p:txBody>
          <a:bodyPr/>
          <a:lstStyle/>
          <a:p>
            <a:r>
              <a:rPr lang="en-US"/>
              <a:t>Bùi Quốc Trung - VLDC</a:t>
            </a:r>
          </a:p>
        </p:txBody>
      </p:sp>
      <p:sp>
        <p:nvSpPr>
          <p:cNvPr id="3" name="Slide Number Placeholder 2">
            <a:extLst>
              <a:ext uri="{FF2B5EF4-FFF2-40B4-BE49-F238E27FC236}">
                <a16:creationId xmlns:a16="http://schemas.microsoft.com/office/drawing/2014/main" id="{EEA18712-B2E8-C15E-C04A-45E2D8428668}"/>
              </a:ext>
            </a:extLst>
          </p:cNvPr>
          <p:cNvSpPr>
            <a:spLocks noGrp="1"/>
          </p:cNvSpPr>
          <p:nvPr>
            <p:ph type="sldNum" sz="quarter" idx="12"/>
          </p:nvPr>
        </p:nvSpPr>
        <p:spPr/>
        <p:txBody>
          <a:bodyPr/>
          <a:lstStyle/>
          <a:p>
            <a:fld id="{0C173468-4CCE-478A-9725-791AF0DB04F2}" type="slidenum">
              <a:rPr lang="en-US" smtClean="0"/>
              <a:t>24</a:t>
            </a:fld>
            <a:endParaRPr lang="en-US"/>
          </a:p>
        </p:txBody>
      </p:sp>
    </p:spTree>
    <p:extLst>
      <p:ext uri="{BB962C8B-B14F-4D97-AF65-F5344CB8AC3E}">
        <p14:creationId xmlns:p14="http://schemas.microsoft.com/office/powerpoint/2010/main" val="828277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vertical)">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par>
                          <p:cTn id="17" fill="hold">
                            <p:stCondLst>
                              <p:cond delay="1000"/>
                            </p:stCondLst>
                            <p:childTnLst>
                              <p:par>
                                <p:cTn id="18" presetID="14" presetClass="entr" presetSubtype="5"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randombar(vertical)">
                                      <p:cBhvr>
                                        <p:cTn id="20" dur="10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Effect transition="in" filter="fade">
                                      <p:cBhvr>
                                        <p:cTn id="25" dur="500"/>
                                        <p:tgtEl>
                                          <p:spTgt spid="7">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ppt_x</p:attrName>
                                        </p:attrNameLst>
                                      </p:cBhvr>
                                      <p:tavLst>
                                        <p:tav tm="0">
                                          <p:val>
                                            <p:strVal val="#ppt_x"/>
                                          </p:val>
                                        </p:tav>
                                        <p:tav tm="100000">
                                          <p:val>
                                            <p:strVal val="#ppt_x"/>
                                          </p:val>
                                        </p:tav>
                                      </p:tavLst>
                                    </p:anim>
                                    <p:anim calcmode="lin" valueType="num">
                                      <p:cBhvr additive="base">
                                        <p:cTn id="3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additive="base">
                                        <p:cTn id="41" dur="500" fill="hold"/>
                                        <p:tgtEl>
                                          <p:spTgt spid="15"/>
                                        </p:tgtEl>
                                        <p:attrNameLst>
                                          <p:attrName>ppt_x</p:attrName>
                                        </p:attrNameLst>
                                      </p:cBhvr>
                                      <p:tavLst>
                                        <p:tav tm="0">
                                          <p:val>
                                            <p:strVal val="#ppt_x"/>
                                          </p:val>
                                        </p:tav>
                                        <p:tav tm="100000">
                                          <p:val>
                                            <p:strVal val="#ppt_x"/>
                                          </p:val>
                                        </p:tav>
                                      </p:tavLst>
                                    </p:anim>
                                    <p:anim calcmode="lin" valueType="num">
                                      <p:cBhvr additive="base">
                                        <p:cTn id="4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dissolve">
                                      <p:cBhvr>
                                        <p:cTn id="4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4" grpId="0"/>
      <p:bldP spid="1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3"/>
          <p:cNvSpPr txBox="1">
            <a:spLocks noChangeArrowheads="1"/>
          </p:cNvSpPr>
          <p:nvPr/>
        </p:nvSpPr>
        <p:spPr bwMode="auto">
          <a:xfrm>
            <a:off x="328612" y="960120"/>
            <a:ext cx="8586788" cy="609600"/>
          </a:xfrm>
          <a:prstGeom prst="rect">
            <a:avLst/>
          </a:prstGeom>
          <a:noFill/>
          <a:ln w="9525">
            <a:noFill/>
            <a:miter lim="800000"/>
            <a:headEnd/>
            <a:tailEnd/>
          </a:ln>
        </p:spPr>
        <p:txBody>
          <a:bodyPr/>
          <a:lstStyle/>
          <a:p>
            <a:pPr marL="342900" indent="-342900">
              <a:spcBef>
                <a:spcPct val="20000"/>
              </a:spcBef>
              <a:defRPr/>
            </a:pPr>
            <a:r>
              <a:rPr lang="en-US" sz="2800" b="1" u="sng">
                <a:solidFill>
                  <a:srgbClr val="050579"/>
                </a:solidFill>
                <a:latin typeface="Times New Roman" pitchFamily="18" charset="0"/>
                <a:cs typeface="Times New Roman" pitchFamily="18" charset="0"/>
              </a:rPr>
              <a:t>Nội năng của chất khí lý tưởng</a:t>
            </a:r>
            <a:endParaRPr lang="en-US" sz="2800" b="1">
              <a:solidFill>
                <a:srgbClr val="FF0000"/>
              </a:solidFill>
              <a:latin typeface="Times New Roman" pitchFamily="18" charset="0"/>
              <a:cs typeface="+mn-cs"/>
            </a:endParaRPr>
          </a:p>
        </p:txBody>
      </p:sp>
      <p:sp>
        <p:nvSpPr>
          <p:cNvPr id="19" name="Rectangle 18"/>
          <p:cNvSpPr/>
          <p:nvPr/>
        </p:nvSpPr>
        <p:spPr>
          <a:xfrm>
            <a:off x="964040" y="2870608"/>
            <a:ext cx="4507706" cy="523220"/>
          </a:xfrm>
          <a:prstGeom prst="rect">
            <a:avLst/>
          </a:prstGeom>
        </p:spPr>
        <p:txBody>
          <a:bodyPr wrap="square">
            <a:spAutoFit/>
          </a:bodyPr>
          <a:lstStyle/>
          <a:p>
            <a:r>
              <a:rPr lang="en-US" sz="2800" b="1">
                <a:solidFill>
                  <a:srgbClr val="050579"/>
                </a:solidFill>
                <a:latin typeface="Times New Roman" pitchFamily="18" charset="0"/>
                <a:cs typeface="Times New Roman" pitchFamily="18" charset="0"/>
              </a:rPr>
              <a:t>Độ biến thiên nội năng:</a:t>
            </a:r>
          </a:p>
        </p:txBody>
      </p:sp>
      <mc:AlternateContent xmlns:mc="http://schemas.openxmlformats.org/markup-compatibility/2006" xmlns:a14="http://schemas.microsoft.com/office/drawing/2010/main">
        <mc:Choice Requires="a14">
          <p:sp>
            <p:nvSpPr>
              <p:cNvPr id="2" name="Rectangle 1"/>
              <p:cNvSpPr/>
              <p:nvPr/>
            </p:nvSpPr>
            <p:spPr>
              <a:xfrm>
                <a:off x="426720" y="1569720"/>
                <a:ext cx="5745480" cy="523220"/>
              </a:xfrm>
              <a:prstGeom prst="rect">
                <a:avLst/>
              </a:prstGeom>
            </p:spPr>
            <p:txBody>
              <a:bodyPr wrap="square">
                <a:spAutoFit/>
              </a:bodyPr>
              <a:lstStyle/>
              <a:p>
                <a:r>
                  <a:rPr lang="en-US" sz="2800">
                    <a:solidFill>
                      <a:srgbClr val="050579"/>
                    </a:solidFill>
                    <a:latin typeface="Times New Roman" pitchFamily="18" charset="0"/>
                    <a:cs typeface="Times New Roman" pitchFamily="18" charset="0"/>
                  </a:rPr>
                  <a:t>Đối với KLT: U = E +</a:t>
                </a:r>
                <a14:m>
                  <m:oMath xmlns:m="http://schemas.openxmlformats.org/officeDocument/2006/math">
                    <m:sSub>
                      <m:sSubPr>
                        <m:ctrlPr>
                          <a:rPr lang="en-US" sz="2800" i="1" smtClean="0">
                            <a:solidFill>
                              <a:srgbClr val="050579"/>
                            </a:solidFill>
                            <a:latin typeface="Cambria Math" panose="02040503050406030204" pitchFamily="18" charset="0"/>
                            <a:cs typeface="Times New Roman" pitchFamily="18" charset="0"/>
                          </a:rPr>
                        </m:ctrlPr>
                      </m:sSubPr>
                      <m:e>
                        <m:r>
                          <a:rPr lang="en-US" sz="2800" b="0" i="1" smtClean="0">
                            <a:solidFill>
                              <a:srgbClr val="050579"/>
                            </a:solidFill>
                            <a:latin typeface="Cambria Math"/>
                            <a:cs typeface="Times New Roman" pitchFamily="18" charset="0"/>
                          </a:rPr>
                          <m:t>𝐸</m:t>
                        </m:r>
                      </m:e>
                      <m:sub>
                        <m:r>
                          <a:rPr lang="en-US" sz="2800" b="0" i="1" smtClean="0">
                            <a:solidFill>
                              <a:srgbClr val="050579"/>
                            </a:solidFill>
                            <a:latin typeface="Cambria Math"/>
                            <a:cs typeface="Times New Roman" pitchFamily="18" charset="0"/>
                          </a:rPr>
                          <m:t>𝑃</m:t>
                        </m:r>
                      </m:sub>
                    </m:sSub>
                  </m:oMath>
                </a14:m>
                <a:r>
                  <a:rPr lang="en-US" sz="2800">
                    <a:solidFill>
                      <a:srgbClr val="050579"/>
                    </a:solidFill>
                    <a:latin typeface="Times New Roman" pitchFamily="18" charset="0"/>
                    <a:cs typeface="Times New Roman" pitchFamily="18" charset="0"/>
                  </a:rPr>
                  <a:t>, </a:t>
                </a:r>
                <a14:m>
                  <m:oMath xmlns:m="http://schemas.openxmlformats.org/officeDocument/2006/math">
                    <m:sSub>
                      <m:sSubPr>
                        <m:ctrlPr>
                          <a:rPr lang="en-US" sz="2800" i="1">
                            <a:solidFill>
                              <a:srgbClr val="050579"/>
                            </a:solidFill>
                            <a:latin typeface="Cambria Math" panose="02040503050406030204" pitchFamily="18" charset="0"/>
                            <a:cs typeface="Times New Roman" pitchFamily="18" charset="0"/>
                          </a:rPr>
                        </m:ctrlPr>
                      </m:sSubPr>
                      <m:e>
                        <m:r>
                          <a:rPr lang="en-US" sz="2800" i="1">
                            <a:solidFill>
                              <a:srgbClr val="050579"/>
                            </a:solidFill>
                            <a:latin typeface="Cambria Math"/>
                            <a:cs typeface="Times New Roman" pitchFamily="18" charset="0"/>
                          </a:rPr>
                          <m:t>𝐸</m:t>
                        </m:r>
                      </m:e>
                      <m:sub>
                        <m:r>
                          <a:rPr lang="en-US" sz="2800" i="1">
                            <a:solidFill>
                              <a:srgbClr val="050579"/>
                            </a:solidFill>
                            <a:latin typeface="Cambria Math"/>
                            <a:cs typeface="Times New Roman" pitchFamily="18" charset="0"/>
                          </a:rPr>
                          <m:t>𝑃</m:t>
                        </m:r>
                      </m:sub>
                    </m:sSub>
                  </m:oMath>
                </a14:m>
                <a:r>
                  <a:rPr lang="en-US" sz="2800">
                    <a:solidFill>
                      <a:srgbClr val="050579"/>
                    </a:solidFill>
                    <a:latin typeface="Times New Roman" pitchFamily="18" charset="0"/>
                    <a:cs typeface="Times New Roman" pitchFamily="18" charset="0"/>
                  </a:rPr>
                  <a:t> = const : </a:t>
                </a:r>
              </a:p>
            </p:txBody>
          </p:sp>
        </mc:Choice>
        <mc:Fallback xmlns="">
          <p:sp>
            <p:nvSpPr>
              <p:cNvPr id="2" name="Rectangle 1"/>
              <p:cNvSpPr>
                <a:spLocks noRot="1" noChangeAspect="1" noMove="1" noResize="1" noEditPoints="1" noAdjustHandles="1" noChangeArrowheads="1" noChangeShapeType="1" noTextEdit="1"/>
              </p:cNvSpPr>
              <p:nvPr/>
            </p:nvSpPr>
            <p:spPr>
              <a:xfrm>
                <a:off x="426720" y="1569720"/>
                <a:ext cx="5745480" cy="523220"/>
              </a:xfrm>
              <a:prstGeom prst="rect">
                <a:avLst/>
              </a:prstGeom>
              <a:blipFill rotWithShape="1">
                <a:blip r:embed="rId3"/>
                <a:stretch>
                  <a:fillRect l="-2121" t="-11765" r="-1060" b="-31765"/>
                </a:stretch>
              </a:blipFill>
            </p:spPr>
            <p:txBody>
              <a:bodyPr/>
              <a:lstStyle/>
              <a:p>
                <a:r>
                  <a:rPr lang="en-US">
                    <a:noFill/>
                  </a:rPr>
                  <a:t> </a:t>
                </a:r>
              </a:p>
            </p:txBody>
          </p:sp>
        </mc:Fallback>
      </mc:AlternateContent>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ight Arrow 12"/>
          <p:cNvSpPr/>
          <p:nvPr/>
        </p:nvSpPr>
        <p:spPr>
          <a:xfrm>
            <a:off x="553591" y="3033939"/>
            <a:ext cx="304800" cy="228600"/>
          </a:xfrm>
          <a:prstGeom prst="rightArrow">
            <a:avLst/>
          </a:prstGeom>
          <a:solidFill>
            <a:srgbClr val="90F828"/>
          </a:solidFill>
          <a:ln>
            <a:solidFill>
              <a:srgbClr val="1E22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800">
              <a:solidFill>
                <a:srgbClr val="0070C0"/>
              </a:solidFill>
              <a:latin typeface="Times New Roman" pitchFamily="18" charset="0"/>
              <a:cs typeface="Times New Roman" pitchFamily="18" charset="0"/>
            </a:endParaRPr>
          </a:p>
        </p:txBody>
      </p:sp>
      <p:sp>
        <p:nvSpPr>
          <p:cNvPr id="6"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ct 6"/>
          <p:cNvGraphicFramePr>
            <a:graphicFrameLocks noChangeAspect="1"/>
          </p:cNvGraphicFramePr>
          <p:nvPr>
            <p:extLst>
              <p:ext uri="{D42A27DB-BD31-4B8C-83A1-F6EECF244321}">
                <p14:modId xmlns:p14="http://schemas.microsoft.com/office/powerpoint/2010/main" val="1304027102"/>
              </p:ext>
            </p:extLst>
          </p:nvPr>
        </p:nvGraphicFramePr>
        <p:xfrm>
          <a:off x="6052132" y="1450999"/>
          <a:ext cx="2417762" cy="957060"/>
        </p:xfrm>
        <a:graphic>
          <a:graphicData uri="http://schemas.openxmlformats.org/presentationml/2006/ole">
            <mc:AlternateContent xmlns:mc="http://schemas.openxmlformats.org/markup-compatibility/2006">
              <mc:Choice xmlns:v="urn:schemas-microsoft-com:vml" Requires="v">
                <p:oleObj name="Equation" r:id="rId4" imgW="825480" imgH="457200" progId="Equation.DSMT4">
                  <p:embed/>
                </p:oleObj>
              </mc:Choice>
              <mc:Fallback>
                <p:oleObj name="Equation" r:id="rId4" imgW="825480" imgH="457200" progId="Equation.DSMT4">
                  <p:embed/>
                  <p:pic>
                    <p:nvPicPr>
                      <p:cNvPr id="0" name=""/>
                      <p:cNvPicPr>
                        <a:picLocks noChangeAspect="1" noChangeArrowheads="1"/>
                      </p:cNvPicPr>
                      <p:nvPr/>
                    </p:nvPicPr>
                    <p:blipFill>
                      <a:blip r:embed="rId5"/>
                      <a:srcRect/>
                      <a:stretch>
                        <a:fillRect/>
                      </a:stretch>
                    </p:blipFill>
                    <p:spPr bwMode="auto">
                      <a:xfrm>
                        <a:off x="6052132" y="1450999"/>
                        <a:ext cx="2417762" cy="957060"/>
                      </a:xfrm>
                      <a:prstGeom prst="rect">
                        <a:avLst/>
                      </a:prstGeom>
                      <a:noFill/>
                    </p:spPr>
                  </p:pic>
                </p:oleObj>
              </mc:Fallback>
            </mc:AlternateContent>
          </a:graphicData>
        </a:graphic>
      </p:graphicFrame>
      <p:sp>
        <p:nvSpPr>
          <p:cNvPr id="8"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4" name="Object 13"/>
          <p:cNvGraphicFramePr>
            <a:graphicFrameLocks noChangeAspect="1"/>
          </p:cNvGraphicFramePr>
          <p:nvPr>
            <p:extLst>
              <p:ext uri="{D42A27DB-BD31-4B8C-83A1-F6EECF244321}">
                <p14:modId xmlns:p14="http://schemas.microsoft.com/office/powerpoint/2010/main" val="2744157485"/>
              </p:ext>
            </p:extLst>
          </p:nvPr>
        </p:nvGraphicFramePr>
        <p:xfrm>
          <a:off x="4911864" y="2747063"/>
          <a:ext cx="2667000" cy="965856"/>
        </p:xfrm>
        <a:graphic>
          <a:graphicData uri="http://schemas.openxmlformats.org/presentationml/2006/ole">
            <mc:AlternateContent xmlns:mc="http://schemas.openxmlformats.org/markup-compatibility/2006">
              <mc:Choice xmlns:v="urn:schemas-microsoft-com:vml" Requires="v">
                <p:oleObj name="Equation" r:id="rId6" imgW="1028520" imgH="457200" progId="Equation.DSMT4">
                  <p:embed/>
                </p:oleObj>
              </mc:Choice>
              <mc:Fallback>
                <p:oleObj name="Equation" r:id="rId6" imgW="1028520" imgH="457200" progId="Equation.DSMT4">
                  <p:embed/>
                  <p:pic>
                    <p:nvPicPr>
                      <p:cNvPr id="0" name=""/>
                      <p:cNvPicPr>
                        <a:picLocks noChangeAspect="1" noChangeArrowheads="1"/>
                      </p:cNvPicPr>
                      <p:nvPr/>
                    </p:nvPicPr>
                    <p:blipFill>
                      <a:blip r:embed="rId7"/>
                      <a:srcRect/>
                      <a:stretch>
                        <a:fillRect/>
                      </a:stretch>
                    </p:blipFill>
                    <p:spPr bwMode="auto">
                      <a:xfrm>
                        <a:off x="4911864" y="2747063"/>
                        <a:ext cx="2667000" cy="965856"/>
                      </a:xfrm>
                      <a:prstGeom prst="rect">
                        <a:avLst/>
                      </a:prstGeom>
                      <a:noFill/>
                    </p:spPr>
                  </p:pic>
                </p:oleObj>
              </mc:Fallback>
            </mc:AlternateContent>
          </a:graphicData>
        </a:graphic>
      </p:graphicFrame>
      <p:sp>
        <p:nvSpPr>
          <p:cNvPr id="23" name="Rectangle 22"/>
          <p:cNvSpPr/>
          <p:nvPr/>
        </p:nvSpPr>
        <p:spPr>
          <a:xfrm>
            <a:off x="298584" y="4621735"/>
            <a:ext cx="2240280" cy="954107"/>
          </a:xfrm>
          <a:prstGeom prst="rect">
            <a:avLst/>
          </a:prstGeom>
        </p:spPr>
        <p:txBody>
          <a:bodyPr wrap="square">
            <a:spAutoFit/>
          </a:bodyPr>
          <a:lstStyle/>
          <a:p>
            <a:r>
              <a:rPr lang="en-US" sz="2800" b="1">
                <a:solidFill>
                  <a:srgbClr val="050579"/>
                </a:solidFill>
                <a:latin typeface="Times New Roman" pitchFamily="18" charset="0"/>
                <a:cs typeface="Times New Roman" pitchFamily="18" charset="0"/>
              </a:rPr>
              <a:t>i: bậc tự do của chất khí</a:t>
            </a:r>
          </a:p>
        </p:txBody>
      </p:sp>
      <p:cxnSp>
        <p:nvCxnSpPr>
          <p:cNvPr id="25" name="Straight Arrow Connector 24"/>
          <p:cNvCxnSpPr/>
          <p:nvPr/>
        </p:nvCxnSpPr>
        <p:spPr>
          <a:xfrm flipV="1">
            <a:off x="2196457" y="4316935"/>
            <a:ext cx="9906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2227293" y="4938322"/>
            <a:ext cx="9906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2203584" y="4938322"/>
            <a:ext cx="99060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3270877" y="3996062"/>
            <a:ext cx="5166360" cy="523220"/>
          </a:xfrm>
          <a:prstGeom prst="rect">
            <a:avLst/>
          </a:prstGeom>
        </p:spPr>
        <p:txBody>
          <a:bodyPr wrap="square">
            <a:spAutoFit/>
          </a:bodyPr>
          <a:lstStyle/>
          <a:p>
            <a:r>
              <a:rPr lang="en-US" sz="2800" b="1">
                <a:solidFill>
                  <a:srgbClr val="FF0000"/>
                </a:solidFill>
                <a:latin typeface="Times New Roman" pitchFamily="18" charset="0"/>
                <a:cs typeface="Times New Roman" pitchFamily="18" charset="0"/>
              </a:rPr>
              <a:t>i = 3 </a:t>
            </a:r>
            <a:r>
              <a:rPr lang="en-US" sz="2800" b="1">
                <a:solidFill>
                  <a:srgbClr val="552579"/>
                </a:solidFill>
                <a:latin typeface="Times New Roman" pitchFamily="18" charset="0"/>
                <a:cs typeface="Times New Roman" pitchFamily="18" charset="0"/>
              </a:rPr>
              <a:t>với chất khí đơn nguyên tử</a:t>
            </a:r>
          </a:p>
        </p:txBody>
      </p:sp>
      <p:sp>
        <p:nvSpPr>
          <p:cNvPr id="34" name="Rectangle 33"/>
          <p:cNvSpPr/>
          <p:nvPr/>
        </p:nvSpPr>
        <p:spPr>
          <a:xfrm>
            <a:off x="3301356" y="4642958"/>
            <a:ext cx="5166360" cy="523220"/>
          </a:xfrm>
          <a:prstGeom prst="rect">
            <a:avLst/>
          </a:prstGeom>
        </p:spPr>
        <p:txBody>
          <a:bodyPr wrap="square">
            <a:spAutoFit/>
          </a:bodyPr>
          <a:lstStyle/>
          <a:p>
            <a:r>
              <a:rPr lang="en-US" sz="2800" b="1">
                <a:solidFill>
                  <a:srgbClr val="FF0000"/>
                </a:solidFill>
                <a:latin typeface="Times New Roman" pitchFamily="18" charset="0"/>
                <a:cs typeface="Times New Roman" pitchFamily="18" charset="0"/>
              </a:rPr>
              <a:t>i = 5 </a:t>
            </a:r>
            <a:r>
              <a:rPr lang="en-US" sz="2800" b="1">
                <a:solidFill>
                  <a:srgbClr val="552579"/>
                </a:solidFill>
                <a:latin typeface="Times New Roman" pitchFamily="18" charset="0"/>
                <a:cs typeface="Times New Roman" pitchFamily="18" charset="0"/>
              </a:rPr>
              <a:t>với chất khí hai nguyên tử</a:t>
            </a:r>
          </a:p>
        </p:txBody>
      </p:sp>
      <p:sp>
        <p:nvSpPr>
          <p:cNvPr id="35" name="Rectangle 34"/>
          <p:cNvSpPr/>
          <p:nvPr/>
        </p:nvSpPr>
        <p:spPr>
          <a:xfrm>
            <a:off x="3301356" y="5271965"/>
            <a:ext cx="6019307" cy="523220"/>
          </a:xfrm>
          <a:prstGeom prst="rect">
            <a:avLst/>
          </a:prstGeom>
        </p:spPr>
        <p:txBody>
          <a:bodyPr wrap="square">
            <a:spAutoFit/>
          </a:bodyPr>
          <a:lstStyle/>
          <a:p>
            <a:r>
              <a:rPr lang="en-US" sz="2800" b="1">
                <a:solidFill>
                  <a:srgbClr val="FF0000"/>
                </a:solidFill>
                <a:latin typeface="Times New Roman" pitchFamily="18" charset="0"/>
                <a:cs typeface="Times New Roman" pitchFamily="18" charset="0"/>
              </a:rPr>
              <a:t>i = 6 </a:t>
            </a:r>
            <a:r>
              <a:rPr lang="en-US" sz="2800" b="1">
                <a:solidFill>
                  <a:srgbClr val="552579"/>
                </a:solidFill>
                <a:latin typeface="Times New Roman" pitchFamily="18" charset="0"/>
                <a:cs typeface="Times New Roman" pitchFamily="18" charset="0"/>
              </a:rPr>
              <a:t>với chất khí ba nguyên tử trở lên</a:t>
            </a:r>
          </a:p>
        </p:txBody>
      </p:sp>
      <p:sp>
        <p:nvSpPr>
          <p:cNvPr id="22" name="Rounded Rectangle 21"/>
          <p:cNvSpPr>
            <a:spLocks noChangeArrowheads="1"/>
          </p:cNvSpPr>
          <p:nvPr/>
        </p:nvSpPr>
        <p:spPr bwMode="auto">
          <a:xfrm>
            <a:off x="4834346" y="2724094"/>
            <a:ext cx="2784634" cy="1037423"/>
          </a:xfrm>
          <a:prstGeom prst="roundRect">
            <a:avLst>
              <a:gd name="adj" fmla="val 16667"/>
            </a:avLst>
          </a:prstGeom>
          <a:noFill/>
          <a:ln w="38100" algn="ctr">
            <a:solidFill>
              <a:srgbClr val="FF0000"/>
            </a:solidFill>
            <a:round/>
            <a:headEnd/>
            <a:tailEnd/>
          </a:ln>
          <a:effectLst>
            <a:glow rad="139700">
              <a:schemeClr val="accent2">
                <a:satMod val="175000"/>
                <a:alpha val="40000"/>
              </a:schemeClr>
            </a:glow>
            <a:outerShdw dist="38100" algn="l" rotWithShape="0">
              <a:srgbClr val="000000">
                <a:alpha val="39999"/>
              </a:srgbClr>
            </a:outerShdw>
          </a:effectLst>
        </p:spPr>
        <p:txBody>
          <a:bodyPr anchor="ctr"/>
          <a:lstStyle/>
          <a:p>
            <a:pPr algn="ctr">
              <a:defRPr/>
            </a:pPr>
            <a:endParaRPr lang="vi-VN" sz="2400">
              <a:solidFill>
                <a:schemeClr val="lt1"/>
              </a:solidFill>
              <a:latin typeface="Times New Roman" pitchFamily="18" charset="0"/>
              <a:cs typeface="Times New Roman" pitchFamily="18" charset="0"/>
            </a:endParaRPr>
          </a:p>
        </p:txBody>
      </p:sp>
      <p:sp>
        <p:nvSpPr>
          <p:cNvPr id="4" name="Footer Placeholder 3">
            <a:extLst>
              <a:ext uri="{FF2B5EF4-FFF2-40B4-BE49-F238E27FC236}">
                <a16:creationId xmlns:a16="http://schemas.microsoft.com/office/drawing/2014/main" id="{F97A7705-C3F2-B5FB-4D66-35775215F725}"/>
              </a:ext>
            </a:extLst>
          </p:cNvPr>
          <p:cNvSpPr>
            <a:spLocks noGrp="1"/>
          </p:cNvSpPr>
          <p:nvPr>
            <p:ph type="ftr" sz="quarter" idx="11"/>
          </p:nvPr>
        </p:nvSpPr>
        <p:spPr/>
        <p:txBody>
          <a:bodyPr/>
          <a:lstStyle/>
          <a:p>
            <a:r>
              <a:rPr lang="en-US"/>
              <a:t>Bùi Quốc Trung - VLDC</a:t>
            </a:r>
          </a:p>
        </p:txBody>
      </p:sp>
      <p:sp>
        <p:nvSpPr>
          <p:cNvPr id="5" name="Slide Number Placeholder 4">
            <a:extLst>
              <a:ext uri="{FF2B5EF4-FFF2-40B4-BE49-F238E27FC236}">
                <a16:creationId xmlns:a16="http://schemas.microsoft.com/office/drawing/2014/main" id="{10AF993C-4154-4235-D30A-83A134D47F22}"/>
              </a:ext>
            </a:extLst>
          </p:cNvPr>
          <p:cNvSpPr>
            <a:spLocks noGrp="1"/>
          </p:cNvSpPr>
          <p:nvPr>
            <p:ph type="sldNum" sz="quarter" idx="12"/>
          </p:nvPr>
        </p:nvSpPr>
        <p:spPr/>
        <p:txBody>
          <a:bodyPr/>
          <a:lstStyle/>
          <a:p>
            <a:fld id="{0C173468-4CCE-478A-9725-791AF0DB04F2}" type="slidenum">
              <a:rPr lang="en-US" smtClean="0"/>
              <a:t>25</a:t>
            </a:fld>
            <a:endParaRPr lang="en-US"/>
          </a:p>
        </p:txBody>
      </p:sp>
    </p:spTree>
    <p:extLst>
      <p:ext uri="{BB962C8B-B14F-4D97-AF65-F5344CB8AC3E}">
        <p14:creationId xmlns:p14="http://schemas.microsoft.com/office/powerpoint/2010/main" val="556855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childTnLst>
                          </p:cTn>
                        </p:par>
                        <p:par>
                          <p:cTn id="30" fill="hold">
                            <p:stCondLst>
                              <p:cond delay="1500"/>
                            </p:stCondLst>
                            <p:childTnLst>
                              <p:par>
                                <p:cTn id="31" presetID="10" presetClass="entr" presetSubtype="0" fill="hold" grpId="0" nodeType="after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childTnLst>
                          </p:cTn>
                        </p:par>
                        <p:par>
                          <p:cTn id="39" fill="hold">
                            <p:stCondLst>
                              <p:cond delay="500"/>
                            </p:stCondLst>
                            <p:childTnLst>
                              <p:par>
                                <p:cTn id="40" presetID="10" presetClass="entr" presetSubtype="0" fill="hold" nodeType="after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childTnLst>
                          </p:cTn>
                        </p:par>
                        <p:par>
                          <p:cTn id="43" fill="hold">
                            <p:stCondLst>
                              <p:cond delay="1000"/>
                            </p:stCondLst>
                            <p:childTnLst>
                              <p:par>
                                <p:cTn id="44" presetID="10" presetClass="entr" presetSubtype="0" fill="hold" grpId="0" nodeType="after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fade">
                                      <p:cBhvr>
                                        <p:cTn id="46" dur="500"/>
                                        <p:tgtEl>
                                          <p:spTgt spid="31"/>
                                        </p:tgtEl>
                                      </p:cBhvr>
                                    </p:animEffect>
                                  </p:childTnLst>
                                </p:cTn>
                              </p:par>
                            </p:childTnLst>
                          </p:cTn>
                        </p:par>
                        <p:par>
                          <p:cTn id="47" fill="hold">
                            <p:stCondLst>
                              <p:cond delay="1500"/>
                            </p:stCondLst>
                            <p:childTnLst>
                              <p:par>
                                <p:cTn id="48" presetID="10" presetClass="entr" presetSubtype="0" fill="hold" nodeType="after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500"/>
                                        <p:tgtEl>
                                          <p:spTgt spid="27"/>
                                        </p:tgtEl>
                                      </p:cBhvr>
                                    </p:animEffect>
                                  </p:childTnLst>
                                </p:cTn>
                              </p:par>
                            </p:childTnLst>
                          </p:cTn>
                        </p:par>
                        <p:par>
                          <p:cTn id="51" fill="hold">
                            <p:stCondLst>
                              <p:cond delay="2000"/>
                            </p:stCondLst>
                            <p:childTnLst>
                              <p:par>
                                <p:cTn id="52" presetID="10" presetClass="entr" presetSubtype="0" fill="hold" grpId="0" nodeType="after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fade">
                                      <p:cBhvr>
                                        <p:cTn id="54" dur="500"/>
                                        <p:tgtEl>
                                          <p:spTgt spid="34"/>
                                        </p:tgtEl>
                                      </p:cBhvr>
                                    </p:animEffect>
                                  </p:childTnLst>
                                </p:cTn>
                              </p:par>
                            </p:childTnLst>
                          </p:cTn>
                        </p:par>
                        <p:par>
                          <p:cTn id="55" fill="hold">
                            <p:stCondLst>
                              <p:cond delay="2500"/>
                            </p:stCondLst>
                            <p:childTnLst>
                              <p:par>
                                <p:cTn id="56" presetID="10" presetClass="entr" presetSubtype="0" fill="hold" nodeType="after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500"/>
                                        <p:tgtEl>
                                          <p:spTgt spid="30"/>
                                        </p:tgtEl>
                                      </p:cBhvr>
                                    </p:animEffect>
                                  </p:childTnLst>
                                </p:cTn>
                              </p:par>
                            </p:childTnLst>
                          </p:cTn>
                        </p:par>
                        <p:par>
                          <p:cTn id="59" fill="hold">
                            <p:stCondLst>
                              <p:cond delay="3000"/>
                            </p:stCondLst>
                            <p:childTnLst>
                              <p:par>
                                <p:cTn id="60" presetID="10" presetClass="entr" presetSubtype="0" fill="hold" grpId="0" nodeType="afterEffect">
                                  <p:stCondLst>
                                    <p:cond delay="0"/>
                                  </p:stCondLst>
                                  <p:childTnLst>
                                    <p:set>
                                      <p:cBhvr>
                                        <p:cTn id="61" dur="1" fill="hold">
                                          <p:stCondLst>
                                            <p:cond delay="0"/>
                                          </p:stCondLst>
                                        </p:cTn>
                                        <p:tgtEl>
                                          <p:spTgt spid="35"/>
                                        </p:tgtEl>
                                        <p:attrNameLst>
                                          <p:attrName>style.visibility</p:attrName>
                                        </p:attrNameLst>
                                      </p:cBhvr>
                                      <p:to>
                                        <p:strVal val="visible"/>
                                      </p:to>
                                    </p:set>
                                    <p:animEffect transition="in" filter="fade">
                                      <p:cBhvr>
                                        <p:cTn id="6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9" grpId="0"/>
      <p:bldP spid="2" grpId="0"/>
      <p:bldP spid="13" grpId="0" animBg="1"/>
      <p:bldP spid="23" grpId="0"/>
      <p:bldP spid="31" grpId="0"/>
      <p:bldP spid="34" grpId="0"/>
      <p:bldP spid="35" grpId="0"/>
      <p:bldP spid="2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idx="1"/>
          </p:nvPr>
        </p:nvSpPr>
        <p:spPr>
          <a:xfrm>
            <a:off x="228600" y="852488"/>
            <a:ext cx="8686800" cy="457200"/>
          </a:xfrm>
        </p:spPr>
        <p:txBody>
          <a:bodyPr>
            <a:normAutofit lnSpcReduction="10000"/>
          </a:bodyPr>
          <a:lstStyle/>
          <a:p>
            <a:pPr marL="0" indent="0" eaLnBrk="1" hangingPunct="1">
              <a:lnSpc>
                <a:spcPct val="90000"/>
              </a:lnSpc>
              <a:buNone/>
            </a:pPr>
            <a:r>
              <a:rPr lang="en-US" sz="2400" b="1">
                <a:solidFill>
                  <a:srgbClr val="990033"/>
                </a:solidFill>
              </a:rPr>
              <a:t> </a:t>
            </a:r>
            <a:r>
              <a:rPr lang="en-US" sz="2800" b="1">
                <a:solidFill>
                  <a:srgbClr val="FF0000"/>
                </a:solidFill>
              </a:rPr>
              <a:t> Trạng thái cân bằng, quá trình cân bằng</a:t>
            </a:r>
          </a:p>
        </p:txBody>
      </p:sp>
      <p:sp>
        <p:nvSpPr>
          <p:cNvPr id="11268" name="Text Box 4"/>
          <p:cNvSpPr txBox="1">
            <a:spLocks noChangeArrowheads="1"/>
          </p:cNvSpPr>
          <p:nvPr/>
        </p:nvSpPr>
        <p:spPr bwMode="auto">
          <a:xfrm>
            <a:off x="152400" y="1309688"/>
            <a:ext cx="8915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400" b="1">
                <a:solidFill>
                  <a:srgbClr val="050579"/>
                </a:solidFill>
              </a:rPr>
              <a:t>Trạng thái của một hệ nhiệt động được xác định bởi các thông số trạng thái: </a:t>
            </a:r>
            <a:r>
              <a:rPr lang="en-US" sz="2400" b="1" i="1">
                <a:solidFill>
                  <a:srgbClr val="FF0000"/>
                </a:solidFill>
              </a:rPr>
              <a:t>p, V, T, n</a:t>
            </a:r>
            <a:r>
              <a:rPr lang="en-US" sz="2400" b="1">
                <a:solidFill>
                  <a:srgbClr val="050579"/>
                </a:solidFill>
              </a:rPr>
              <a:t>.</a:t>
            </a:r>
          </a:p>
        </p:txBody>
      </p:sp>
      <p:sp>
        <p:nvSpPr>
          <p:cNvPr id="11269" name="Text Box 5"/>
          <p:cNvSpPr txBox="1">
            <a:spLocks noChangeArrowheads="1"/>
          </p:cNvSpPr>
          <p:nvPr/>
        </p:nvSpPr>
        <p:spPr bwMode="auto">
          <a:xfrm>
            <a:off x="152400" y="2286000"/>
            <a:ext cx="8915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400" b="1">
                <a:solidFill>
                  <a:srgbClr val="050579"/>
                </a:solidFill>
              </a:rPr>
              <a:t>Nếu p, T không thay đổi tại mọi điểm trong hệ thì ta có</a:t>
            </a:r>
            <a:r>
              <a:rPr lang="en-US" sz="2400" b="1" i="1">
                <a:solidFill>
                  <a:srgbClr val="050579"/>
                </a:solidFill>
              </a:rPr>
              <a:t> </a:t>
            </a:r>
            <a:r>
              <a:rPr lang="en-US" sz="2400" b="1" i="1">
                <a:solidFill>
                  <a:srgbClr val="FF0000"/>
                </a:solidFill>
              </a:rPr>
              <a:t>trạng thái cân bằng</a:t>
            </a:r>
            <a:r>
              <a:rPr lang="en-US" sz="2400" b="1">
                <a:solidFill>
                  <a:srgbClr val="006600"/>
                </a:solidFill>
              </a:rPr>
              <a:t>.</a:t>
            </a:r>
          </a:p>
        </p:txBody>
      </p:sp>
      <p:sp>
        <p:nvSpPr>
          <p:cNvPr id="11270" name="Text Box 6"/>
          <p:cNvSpPr txBox="1">
            <a:spLocks noChangeArrowheads="1"/>
          </p:cNvSpPr>
          <p:nvPr/>
        </p:nvSpPr>
        <p:spPr bwMode="auto">
          <a:xfrm>
            <a:off x="152400" y="3352800"/>
            <a:ext cx="89154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400" b="1">
                <a:solidFill>
                  <a:srgbClr val="050579"/>
                </a:solidFill>
              </a:rPr>
              <a:t>Một quá trình biến đổi, hệ liên tục trải qua nhiều trạng thái. Nếu quá trình biến đổi là đủ chậm để các trạng thái mà hệ trải qua luôn là trạng thái cân bằng thì gọi là </a:t>
            </a:r>
            <a:r>
              <a:rPr lang="en-US" sz="2400" b="1" i="1">
                <a:solidFill>
                  <a:srgbClr val="FF0000"/>
                </a:solidFill>
              </a:rPr>
              <a:t>quá trình cân bằng</a:t>
            </a:r>
            <a:r>
              <a:rPr lang="en-US" sz="2400" b="1">
                <a:solidFill>
                  <a:srgbClr val="006600"/>
                </a:solidFill>
              </a:rPr>
              <a:t>.</a:t>
            </a:r>
          </a:p>
        </p:txBody>
      </p:sp>
      <p:sp>
        <p:nvSpPr>
          <p:cNvPr id="11272" name="Text Box 8"/>
          <p:cNvSpPr txBox="1">
            <a:spLocks noChangeArrowheads="1"/>
          </p:cNvSpPr>
          <p:nvPr/>
        </p:nvSpPr>
        <p:spPr bwMode="auto">
          <a:xfrm>
            <a:off x="228600" y="5257800"/>
            <a:ext cx="83058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400" b="1" i="1">
                <a:solidFill>
                  <a:srgbClr val="050579"/>
                </a:solidFill>
              </a:rPr>
              <a:t>Chú ý: </a:t>
            </a:r>
            <a:r>
              <a:rPr lang="en-US" sz="2400" b="1">
                <a:solidFill>
                  <a:srgbClr val="0000CC"/>
                </a:solidFill>
              </a:rPr>
              <a:t>Ta chỉ xét các quá trình cân bằng.</a:t>
            </a:r>
          </a:p>
          <a:p>
            <a:pPr eaLnBrk="1" hangingPunct="1">
              <a:spcBef>
                <a:spcPct val="50000"/>
              </a:spcBef>
            </a:pPr>
            <a:endParaRPr lang="en-US" sz="2400" b="1">
              <a:solidFill>
                <a:srgbClr val="006600"/>
              </a:solidFill>
            </a:endParaRPr>
          </a:p>
        </p:txBody>
      </p:sp>
      <p:sp>
        <p:nvSpPr>
          <p:cNvPr id="2" name="Footer Placeholder 1">
            <a:extLst>
              <a:ext uri="{FF2B5EF4-FFF2-40B4-BE49-F238E27FC236}">
                <a16:creationId xmlns:a16="http://schemas.microsoft.com/office/drawing/2014/main" id="{1C4A2964-BECA-0A63-4591-632A5CE14353}"/>
              </a:ext>
            </a:extLst>
          </p:cNvPr>
          <p:cNvSpPr>
            <a:spLocks noGrp="1"/>
          </p:cNvSpPr>
          <p:nvPr>
            <p:ph type="ftr" sz="quarter" idx="11"/>
          </p:nvPr>
        </p:nvSpPr>
        <p:spPr/>
        <p:txBody>
          <a:bodyPr/>
          <a:lstStyle/>
          <a:p>
            <a:r>
              <a:rPr lang="en-US"/>
              <a:t>Bùi Quốc Trung - VLDC</a:t>
            </a:r>
          </a:p>
        </p:txBody>
      </p:sp>
      <p:sp>
        <p:nvSpPr>
          <p:cNvPr id="3" name="Slide Number Placeholder 2">
            <a:extLst>
              <a:ext uri="{FF2B5EF4-FFF2-40B4-BE49-F238E27FC236}">
                <a16:creationId xmlns:a16="http://schemas.microsoft.com/office/drawing/2014/main" id="{DDE252F9-4E48-2F61-DD0D-B6654A4A0DAD}"/>
              </a:ext>
            </a:extLst>
          </p:cNvPr>
          <p:cNvSpPr>
            <a:spLocks noGrp="1"/>
          </p:cNvSpPr>
          <p:nvPr>
            <p:ph type="sldNum" sz="quarter" idx="12"/>
          </p:nvPr>
        </p:nvSpPr>
        <p:spPr/>
        <p:txBody>
          <a:bodyPr/>
          <a:lstStyle/>
          <a:p>
            <a:fld id="{0C173468-4CCE-478A-9725-791AF0DB04F2}" type="slidenum">
              <a:rPr lang="en-US" smtClean="0"/>
              <a:t>26</a:t>
            </a:fld>
            <a:endParaRPr lang="en-US"/>
          </a:p>
        </p:txBody>
      </p:sp>
    </p:spTree>
    <p:extLst>
      <p:ext uri="{BB962C8B-B14F-4D97-AF65-F5344CB8AC3E}">
        <p14:creationId xmlns:p14="http://schemas.microsoft.com/office/powerpoint/2010/main" val="28065231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1268"/>
                                        </p:tgtEl>
                                        <p:attrNameLst>
                                          <p:attrName>style.visibility</p:attrName>
                                        </p:attrNameLst>
                                      </p:cBhvr>
                                      <p:to>
                                        <p:strVal val="visible"/>
                                      </p:to>
                                    </p:set>
                                    <p:animEffect transition="in" filter="diamond(in)">
                                      <p:cBhvr>
                                        <p:cTn id="7" dur="2000"/>
                                        <p:tgtEl>
                                          <p:spTgt spid="112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1269"/>
                                        </p:tgtEl>
                                        <p:attrNameLst>
                                          <p:attrName>style.visibility</p:attrName>
                                        </p:attrNameLst>
                                      </p:cBhvr>
                                      <p:to>
                                        <p:strVal val="visible"/>
                                      </p:to>
                                    </p:set>
                                    <p:animEffect transition="in" filter="diamond(in)">
                                      <p:cBhvr>
                                        <p:cTn id="12" dur="2000"/>
                                        <p:tgtEl>
                                          <p:spTgt spid="112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11270"/>
                                        </p:tgtEl>
                                        <p:attrNameLst>
                                          <p:attrName>style.visibility</p:attrName>
                                        </p:attrNameLst>
                                      </p:cBhvr>
                                      <p:to>
                                        <p:strVal val="visible"/>
                                      </p:to>
                                    </p:set>
                                    <p:animEffect transition="in" filter="diamond(in)">
                                      <p:cBhvr>
                                        <p:cTn id="17" dur="2000"/>
                                        <p:tgtEl>
                                          <p:spTgt spid="1127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11272"/>
                                        </p:tgtEl>
                                        <p:attrNameLst>
                                          <p:attrName>style.visibility</p:attrName>
                                        </p:attrNameLst>
                                      </p:cBhvr>
                                      <p:to>
                                        <p:strVal val="visible"/>
                                      </p:to>
                                    </p:set>
                                    <p:animEffect transition="in" filter="diamond(in)">
                                      <p:cBhvr>
                                        <p:cTn id="22" dur="2000"/>
                                        <p:tgtEl>
                                          <p:spTgt spid="112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p:bldP spid="11269" grpId="0"/>
      <p:bldP spid="11270" grpId="0"/>
      <p:bldP spid="1127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305800" cy="1371600"/>
          </a:xfrm>
        </p:spPr>
        <p:txBody>
          <a:bodyPr/>
          <a:lstStyle/>
          <a:p>
            <a:r>
              <a:rPr lang="en-US" b="1" i="1">
                <a:solidFill>
                  <a:srgbClr val="FF0000"/>
                </a:solidFill>
                <a:effectLst>
                  <a:outerShdw blurRad="60007" dist="310007" dir="7680000" sy="30000" kx="1300200" algn="ctr" rotWithShape="0">
                    <a:prstClr val="black">
                      <a:alpha val="32000"/>
                    </a:prstClr>
                  </a:outerShdw>
                </a:effectLst>
                <a:latin typeface="Times New Roman" pitchFamily="18" charset="0"/>
                <a:cs typeface="Times New Roman" pitchFamily="18" charset="0"/>
              </a:rPr>
              <a:t>NGUYÊN LÝ I</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2209800"/>
            <a:ext cx="4476750" cy="35052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8800" y="2209800"/>
            <a:ext cx="2819400" cy="3505200"/>
          </a:xfrm>
          <a:prstGeom prst="rect">
            <a:avLst/>
          </a:prstGeom>
        </p:spPr>
      </p:pic>
      <p:sp>
        <p:nvSpPr>
          <p:cNvPr id="6" name="Rectangle 5"/>
          <p:cNvSpPr/>
          <p:nvPr/>
        </p:nvSpPr>
        <p:spPr>
          <a:xfrm>
            <a:off x="5753100" y="5867400"/>
            <a:ext cx="2590800" cy="685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i="1">
                <a:solidFill>
                  <a:schemeClr val="tx1"/>
                </a:solidFill>
                <a:latin typeface="Times New Roman" pitchFamily="18" charset="0"/>
                <a:cs typeface="Times New Roman" pitchFamily="18" charset="0"/>
              </a:rPr>
              <a:t>ĐỘNG CƠ ĐỐT TRONG</a:t>
            </a:r>
          </a:p>
        </p:txBody>
      </p:sp>
      <p:sp>
        <p:nvSpPr>
          <p:cNvPr id="3" name="Footer Placeholder 2">
            <a:extLst>
              <a:ext uri="{FF2B5EF4-FFF2-40B4-BE49-F238E27FC236}">
                <a16:creationId xmlns:a16="http://schemas.microsoft.com/office/drawing/2014/main" id="{0C593BC4-B929-BAF4-2A11-62AEEBA4101B}"/>
              </a:ext>
            </a:extLst>
          </p:cNvPr>
          <p:cNvSpPr>
            <a:spLocks noGrp="1"/>
          </p:cNvSpPr>
          <p:nvPr>
            <p:ph type="ftr" sz="quarter" idx="11"/>
          </p:nvPr>
        </p:nvSpPr>
        <p:spPr/>
        <p:txBody>
          <a:bodyPr/>
          <a:lstStyle/>
          <a:p>
            <a:r>
              <a:rPr lang="en-US"/>
              <a:t>Bùi Quốc Trung - VLDC</a:t>
            </a:r>
          </a:p>
        </p:txBody>
      </p:sp>
      <p:sp>
        <p:nvSpPr>
          <p:cNvPr id="7" name="Slide Number Placeholder 6">
            <a:extLst>
              <a:ext uri="{FF2B5EF4-FFF2-40B4-BE49-F238E27FC236}">
                <a16:creationId xmlns:a16="http://schemas.microsoft.com/office/drawing/2014/main" id="{95F28D42-09FE-79BD-9D0F-C04242B04068}"/>
              </a:ext>
            </a:extLst>
          </p:cNvPr>
          <p:cNvSpPr>
            <a:spLocks noGrp="1"/>
          </p:cNvSpPr>
          <p:nvPr>
            <p:ph type="sldNum" sz="quarter" idx="12"/>
          </p:nvPr>
        </p:nvSpPr>
        <p:spPr/>
        <p:txBody>
          <a:bodyPr/>
          <a:lstStyle/>
          <a:p>
            <a:fld id="{0C173468-4CCE-478A-9725-791AF0DB04F2}" type="slidenum">
              <a:rPr lang="en-US" smtClean="0"/>
              <a:t>27</a:t>
            </a:fld>
            <a:endParaRPr lang="en-US"/>
          </a:p>
        </p:txBody>
      </p:sp>
    </p:spTree>
    <p:extLst>
      <p:ext uri="{BB962C8B-B14F-4D97-AF65-F5344CB8AC3E}">
        <p14:creationId xmlns:p14="http://schemas.microsoft.com/office/powerpoint/2010/main" val="40116411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3"/>
          <p:cNvSpPr txBox="1">
            <a:spLocks noChangeArrowheads="1"/>
          </p:cNvSpPr>
          <p:nvPr/>
        </p:nvSpPr>
        <p:spPr bwMode="auto">
          <a:xfrm>
            <a:off x="328613" y="960120"/>
            <a:ext cx="3862387" cy="609600"/>
          </a:xfrm>
          <a:prstGeom prst="rect">
            <a:avLst/>
          </a:prstGeom>
          <a:noFill/>
          <a:ln w="9525">
            <a:noFill/>
            <a:miter lim="800000"/>
            <a:headEnd/>
            <a:tailEnd/>
          </a:ln>
        </p:spPr>
        <p:txBody>
          <a:bodyPr/>
          <a:lstStyle/>
          <a:p>
            <a:pPr marL="342900" indent="-342900">
              <a:spcBef>
                <a:spcPct val="20000"/>
              </a:spcBef>
              <a:defRPr/>
            </a:pPr>
            <a:r>
              <a:rPr lang="en-US" sz="2800" b="1" dirty="0" err="1">
                <a:solidFill>
                  <a:srgbClr val="FF0000"/>
                </a:solidFill>
                <a:latin typeface="Times New Roman" pitchFamily="18" charset="0"/>
                <a:cs typeface="+mn-cs"/>
              </a:rPr>
              <a:t>Nội</a:t>
            </a:r>
            <a:r>
              <a:rPr lang="en-US" sz="2800" b="1" dirty="0">
                <a:solidFill>
                  <a:srgbClr val="FF0000"/>
                </a:solidFill>
                <a:latin typeface="Times New Roman" pitchFamily="18" charset="0"/>
                <a:cs typeface="+mn-cs"/>
              </a:rPr>
              <a:t> dung </a:t>
            </a:r>
            <a:r>
              <a:rPr lang="en-US" sz="2800" b="1" dirty="0" err="1">
                <a:solidFill>
                  <a:srgbClr val="FF0000"/>
                </a:solidFill>
                <a:latin typeface="Times New Roman" pitchFamily="18" charset="0"/>
                <a:cs typeface="+mn-cs"/>
              </a:rPr>
              <a:t>nguyên</a:t>
            </a:r>
            <a:r>
              <a:rPr lang="en-US" sz="2800" b="1" dirty="0">
                <a:solidFill>
                  <a:srgbClr val="FF0000"/>
                </a:solidFill>
                <a:latin typeface="Times New Roman" pitchFamily="18" charset="0"/>
                <a:cs typeface="+mn-cs"/>
              </a:rPr>
              <a:t> </a:t>
            </a:r>
            <a:r>
              <a:rPr lang="en-US" sz="2800" b="1" dirty="0" err="1">
                <a:solidFill>
                  <a:srgbClr val="FF0000"/>
                </a:solidFill>
                <a:latin typeface="Times New Roman" pitchFamily="18" charset="0"/>
                <a:cs typeface="+mn-cs"/>
              </a:rPr>
              <a:t>lý</a:t>
            </a:r>
            <a:r>
              <a:rPr lang="en-US" sz="2800" b="1" dirty="0">
                <a:solidFill>
                  <a:srgbClr val="FF0000"/>
                </a:solidFill>
                <a:latin typeface="Times New Roman" pitchFamily="18" charset="0"/>
                <a:cs typeface="+mn-cs"/>
              </a:rPr>
              <a:t> I</a:t>
            </a:r>
          </a:p>
        </p:txBody>
      </p:sp>
      <p:sp>
        <p:nvSpPr>
          <p:cNvPr id="2" name="Rectangle 1"/>
          <p:cNvSpPr/>
          <p:nvPr/>
        </p:nvSpPr>
        <p:spPr>
          <a:xfrm>
            <a:off x="328612" y="1569720"/>
            <a:ext cx="8434387" cy="1384995"/>
          </a:xfrm>
          <a:prstGeom prst="rect">
            <a:avLst/>
          </a:prstGeom>
        </p:spPr>
        <p:txBody>
          <a:bodyPr wrap="square">
            <a:spAutoFit/>
          </a:bodyPr>
          <a:lstStyle/>
          <a:p>
            <a:pPr algn="just"/>
            <a:r>
              <a:rPr lang="en-US" sz="2800" b="1">
                <a:solidFill>
                  <a:srgbClr val="050579"/>
                </a:solidFill>
                <a:latin typeface="Times New Roman" pitchFamily="18" charset="0"/>
                <a:cs typeface="Times New Roman" pitchFamily="18" charset="0"/>
              </a:rPr>
              <a:t>Độ biến thiên nội năng của hệ trong một qúa trình biến đổi bất kì luôn bằng tổng công và nhiệt mà hệ đã trao đổi trong quá trình biến đổi đó.</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ounded Rectangle 3"/>
          <p:cNvSpPr/>
          <p:nvPr/>
        </p:nvSpPr>
        <p:spPr>
          <a:xfrm>
            <a:off x="2869405" y="3200400"/>
            <a:ext cx="3352800" cy="685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a:solidFill>
                  <a:srgbClr val="FF3300"/>
                </a:solidFill>
                <a:latin typeface="Times New Roman" pitchFamily="18" charset="0"/>
                <a:cs typeface="Times New Roman" pitchFamily="18" charset="0"/>
              </a:rPr>
              <a:t>∆U = A + Q</a:t>
            </a:r>
          </a:p>
        </p:txBody>
      </p:sp>
      <p:sp>
        <p:nvSpPr>
          <p:cNvPr id="5" name="Footer Placeholder 4">
            <a:extLst>
              <a:ext uri="{FF2B5EF4-FFF2-40B4-BE49-F238E27FC236}">
                <a16:creationId xmlns:a16="http://schemas.microsoft.com/office/drawing/2014/main" id="{608188CC-6786-9F55-275E-3234372E5FD3}"/>
              </a:ext>
            </a:extLst>
          </p:cNvPr>
          <p:cNvSpPr>
            <a:spLocks noGrp="1"/>
          </p:cNvSpPr>
          <p:nvPr>
            <p:ph type="ftr" sz="quarter" idx="11"/>
          </p:nvPr>
        </p:nvSpPr>
        <p:spPr/>
        <p:txBody>
          <a:bodyPr/>
          <a:lstStyle/>
          <a:p>
            <a:r>
              <a:rPr lang="en-US"/>
              <a:t>Bùi Quốc Trung - VLDC</a:t>
            </a:r>
          </a:p>
        </p:txBody>
      </p:sp>
      <p:sp>
        <p:nvSpPr>
          <p:cNvPr id="7" name="Slide Number Placeholder 6">
            <a:extLst>
              <a:ext uri="{FF2B5EF4-FFF2-40B4-BE49-F238E27FC236}">
                <a16:creationId xmlns:a16="http://schemas.microsoft.com/office/drawing/2014/main" id="{AA6CFA85-951A-495B-7C03-93F0E7D84FDF}"/>
              </a:ext>
            </a:extLst>
          </p:cNvPr>
          <p:cNvSpPr>
            <a:spLocks noGrp="1"/>
          </p:cNvSpPr>
          <p:nvPr>
            <p:ph type="sldNum" sz="quarter" idx="12"/>
          </p:nvPr>
        </p:nvSpPr>
        <p:spPr/>
        <p:txBody>
          <a:bodyPr/>
          <a:lstStyle/>
          <a:p>
            <a:fld id="{0C173468-4CCE-478A-9725-791AF0DB04F2}" type="slidenum">
              <a:rPr lang="en-US" smtClean="0"/>
              <a:t>28</a:t>
            </a:fld>
            <a:endParaRPr lang="en-US"/>
          </a:p>
        </p:txBody>
      </p:sp>
      <p:grpSp>
        <p:nvGrpSpPr>
          <p:cNvPr id="13" name="Group 18"/>
          <p:cNvGrpSpPr>
            <a:grpSpLocks/>
          </p:cNvGrpSpPr>
          <p:nvPr/>
        </p:nvGrpSpPr>
        <p:grpSpPr bwMode="auto">
          <a:xfrm>
            <a:off x="762000" y="0"/>
            <a:ext cx="7543800" cy="889000"/>
            <a:chOff x="1310" y="1392"/>
            <a:chExt cx="5421" cy="560"/>
          </a:xfrm>
        </p:grpSpPr>
        <p:pic>
          <p:nvPicPr>
            <p:cNvPr id="14"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5421"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14"/>
            <p:cNvSpPr txBox="1">
              <a:spLocks noChangeArrowheads="1"/>
            </p:cNvSpPr>
            <p:nvPr/>
          </p:nvSpPr>
          <p:spPr bwMode="auto">
            <a:xfrm>
              <a:off x="2181" y="1510"/>
              <a:ext cx="3784"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wrap="none">
              <a:spAutoFit/>
            </a:bodyPr>
            <a:lstStyle/>
            <a:p>
              <a:pPr algn="ctr" fontAlgn="auto">
                <a:spcBef>
                  <a:spcPts val="2400"/>
                </a:spcBef>
                <a:spcAft>
                  <a:spcPts val="0"/>
                </a:spcAft>
                <a:defRPr/>
              </a:pPr>
              <a:r>
                <a:rPr lang="en-US" sz="2400" b="1" i="1" dirty="0">
                  <a:solidFill>
                    <a:srgbClr val="FF0000"/>
                  </a:solidFill>
                  <a:latin typeface="Times New Roman" pitchFamily="18" charset="0"/>
                  <a:cs typeface="Times New Roman" pitchFamily="18" charset="0"/>
                </a:rPr>
                <a:t> </a:t>
              </a:r>
              <a:r>
                <a:rPr lang="en-US" sz="2400" b="1" dirty="0">
                  <a:solidFill>
                    <a:srgbClr val="050579"/>
                  </a:solidFill>
                  <a:latin typeface="Times New Roman" pitchFamily="18" charset="0"/>
                  <a:cs typeface="Times New Roman" pitchFamily="18" charset="0"/>
                </a:rPr>
                <a:t>6.2</a:t>
              </a:r>
              <a:r>
                <a:rPr lang="en-US" sz="2400" b="1" dirty="0">
                  <a:solidFill>
                    <a:schemeClr val="dk1"/>
                  </a:solidFill>
                  <a:latin typeface="+mn-lt"/>
                  <a:cs typeface="+mn-cs"/>
                </a:rPr>
                <a:t> </a:t>
              </a:r>
              <a:r>
                <a:rPr lang="en-US" sz="2400" b="1" dirty="0" err="1">
                  <a:solidFill>
                    <a:srgbClr val="FF0000"/>
                  </a:solidFill>
                  <a:latin typeface="Times New Roman" pitchFamily="18" charset="0"/>
                  <a:cs typeface="Times New Roman" pitchFamily="18" charset="0"/>
                </a:rPr>
                <a:t>Nguyên</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lý</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thứ</a:t>
              </a:r>
              <a:r>
                <a:rPr lang="en-US" sz="2400" b="1" dirty="0">
                  <a:solidFill>
                    <a:srgbClr val="FF0000"/>
                  </a:solidFill>
                  <a:latin typeface="Times New Roman" pitchFamily="18" charset="0"/>
                  <a:cs typeface="Times New Roman" pitchFamily="18" charset="0"/>
                </a:rPr>
                <a:t> I </a:t>
              </a:r>
              <a:r>
                <a:rPr lang="en-US" sz="2400" b="1" dirty="0" err="1">
                  <a:solidFill>
                    <a:srgbClr val="FF0000"/>
                  </a:solidFill>
                  <a:latin typeface="Times New Roman" pitchFamily="18" charset="0"/>
                  <a:cs typeface="Times New Roman" pitchFamily="18" charset="0"/>
                </a:rPr>
                <a:t>nhiệt</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động</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lực</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học</a:t>
              </a:r>
              <a:endParaRPr lang="en-US" sz="2400" b="1" dirty="0">
                <a:solidFill>
                  <a:srgbClr val="FF0000"/>
                </a:solidFill>
                <a:latin typeface="Times New Roman" pitchFamily="18" charset="0"/>
                <a:cs typeface="Times New Roman" pitchFamily="18" charset="0"/>
              </a:endParaRPr>
            </a:p>
          </p:txBody>
        </p:sp>
      </p:grpSp>
    </p:spTree>
    <p:extLst>
      <p:ext uri="{BB962C8B-B14F-4D97-AF65-F5344CB8AC3E}">
        <p14:creationId xmlns:p14="http://schemas.microsoft.com/office/powerpoint/2010/main" val="2107841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checkerboard(across)">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dissolve">
                                      <p:cBhvr>
                                        <p:cTn id="16"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4"/>
          <p:cNvSpPr>
            <a:spLocks noGrp="1" noChangeArrowheads="1"/>
          </p:cNvSpPr>
          <p:nvPr>
            <p:ph/>
          </p:nvPr>
        </p:nvSpPr>
        <p:spPr/>
        <p:txBody>
          <a:bodyPr>
            <a:normAutofit/>
          </a:bodyPr>
          <a:lstStyle/>
          <a:p>
            <a:pPr eaLnBrk="1" hangingPunct="1"/>
            <a:r>
              <a:rPr lang="en-US" b="1" i="1" dirty="0" err="1">
                <a:solidFill>
                  <a:srgbClr val="FF3300"/>
                </a:solidFill>
              </a:rPr>
              <a:t>Nội</a:t>
            </a:r>
            <a:r>
              <a:rPr lang="en-US" b="1" i="1" dirty="0">
                <a:solidFill>
                  <a:srgbClr val="FF3300"/>
                </a:solidFill>
              </a:rPr>
              <a:t> dung </a:t>
            </a:r>
            <a:r>
              <a:rPr lang="en-US" b="1" i="1" dirty="0" err="1">
                <a:solidFill>
                  <a:srgbClr val="FF3300"/>
                </a:solidFill>
              </a:rPr>
              <a:t>nguyên</a:t>
            </a:r>
            <a:r>
              <a:rPr lang="en-US" b="1" i="1" dirty="0">
                <a:solidFill>
                  <a:srgbClr val="FF3300"/>
                </a:solidFill>
              </a:rPr>
              <a:t> </a:t>
            </a:r>
            <a:r>
              <a:rPr lang="en-US" b="1" i="1" dirty="0" err="1">
                <a:solidFill>
                  <a:srgbClr val="FF3300"/>
                </a:solidFill>
              </a:rPr>
              <a:t>lý</a:t>
            </a:r>
            <a:r>
              <a:rPr lang="en-US" b="1" dirty="0"/>
              <a:t> </a:t>
            </a:r>
          </a:p>
          <a:p>
            <a:pPr eaLnBrk="1" hangingPunct="1">
              <a:buFontTx/>
              <a:buNone/>
            </a:pPr>
            <a:r>
              <a:rPr lang="en-US" sz="4400" b="1" dirty="0">
                <a:solidFill>
                  <a:srgbClr val="FF3300"/>
                </a:solidFill>
              </a:rPr>
              <a:t>			∆U = A + Q</a:t>
            </a:r>
          </a:p>
          <a:p>
            <a:pPr lvl="4" eaLnBrk="1" hangingPunct="1"/>
            <a:r>
              <a:rPr lang="en-US" sz="3200" b="1" dirty="0"/>
              <a:t> Q = ∆U – A</a:t>
            </a:r>
          </a:p>
          <a:p>
            <a:pPr lvl="4" eaLnBrk="1" hangingPunct="1">
              <a:buFontTx/>
              <a:buNone/>
            </a:pPr>
            <a:r>
              <a:rPr lang="en-US" sz="2800" b="1" dirty="0" err="1"/>
              <a:t>Nếu</a:t>
            </a:r>
            <a:r>
              <a:rPr lang="en-US" sz="2800" b="1" dirty="0"/>
              <a:t> A, Q </a:t>
            </a:r>
            <a:r>
              <a:rPr lang="en-US" sz="2800" b="1" dirty="0" err="1"/>
              <a:t>là</a:t>
            </a:r>
            <a:r>
              <a:rPr lang="en-US" sz="2800" b="1" dirty="0"/>
              <a:t> </a:t>
            </a:r>
            <a:r>
              <a:rPr lang="en-US" sz="2800" b="1" dirty="0" err="1"/>
              <a:t>công</a:t>
            </a:r>
            <a:r>
              <a:rPr lang="en-US" sz="2800" b="1" dirty="0"/>
              <a:t>, </a:t>
            </a:r>
            <a:r>
              <a:rPr lang="en-US" sz="2800" b="1" dirty="0" err="1"/>
              <a:t>nhiệt</a:t>
            </a:r>
            <a:r>
              <a:rPr lang="en-US" sz="2800" b="1" dirty="0"/>
              <a:t> </a:t>
            </a:r>
            <a:r>
              <a:rPr lang="en-US" sz="2800" b="1" dirty="0" err="1"/>
              <a:t>hệ</a:t>
            </a:r>
            <a:r>
              <a:rPr lang="en-US" sz="2800" b="1" dirty="0"/>
              <a:t> </a:t>
            </a:r>
            <a:r>
              <a:rPr lang="en-US" sz="2800" b="1" dirty="0" err="1"/>
              <a:t>nhận</a:t>
            </a:r>
            <a:r>
              <a:rPr lang="en-US" sz="2800" b="1" dirty="0"/>
              <a:t> </a:t>
            </a:r>
            <a:r>
              <a:rPr lang="en-US" sz="2800" b="1" dirty="0" err="1"/>
              <a:t>thì</a:t>
            </a:r>
            <a:r>
              <a:rPr lang="en-US" sz="2800" b="1" dirty="0"/>
              <a:t> –A, -Q </a:t>
            </a:r>
            <a:r>
              <a:rPr lang="en-US" sz="2800" b="1" dirty="0" err="1"/>
              <a:t>là</a:t>
            </a:r>
            <a:r>
              <a:rPr lang="en-US" sz="2800" b="1" dirty="0"/>
              <a:t> </a:t>
            </a:r>
            <a:r>
              <a:rPr lang="en-US" sz="2800" b="1" dirty="0" err="1"/>
              <a:t>công</a:t>
            </a:r>
            <a:r>
              <a:rPr lang="en-US" sz="2800" b="1" dirty="0"/>
              <a:t>, </a:t>
            </a:r>
            <a:r>
              <a:rPr lang="en-US" sz="2800" b="1" dirty="0" err="1"/>
              <a:t>nhiệt</a:t>
            </a:r>
            <a:r>
              <a:rPr lang="en-US" sz="2800" b="1" dirty="0"/>
              <a:t> </a:t>
            </a:r>
            <a:r>
              <a:rPr lang="en-US" sz="2800" b="1" dirty="0" err="1"/>
              <a:t>hệ</a:t>
            </a:r>
            <a:r>
              <a:rPr lang="en-US" sz="2800" b="1" dirty="0"/>
              <a:t> </a:t>
            </a:r>
            <a:r>
              <a:rPr lang="en-US" sz="2800" b="1" dirty="0" err="1"/>
              <a:t>sinh</a:t>
            </a:r>
            <a:r>
              <a:rPr lang="en-US" sz="2800" b="1" dirty="0"/>
              <a:t> </a:t>
            </a:r>
            <a:r>
              <a:rPr lang="en-US" sz="2800" b="1" dirty="0" err="1"/>
              <a:t>ra</a:t>
            </a:r>
            <a:endParaRPr lang="en-US" sz="2800" b="1" dirty="0"/>
          </a:p>
          <a:p>
            <a:pPr lvl="4" eaLnBrk="1" hangingPunct="1"/>
            <a:r>
              <a:rPr lang="en-US" sz="3200" b="1" dirty="0"/>
              <a:t> Q = ∆U + A’  (A’ = -A)</a:t>
            </a:r>
            <a:endParaRPr lang="en-US" b="1" dirty="0"/>
          </a:p>
          <a:p>
            <a:pPr eaLnBrk="1" hangingPunct="1"/>
            <a:r>
              <a:rPr lang="en-US" sz="2800" b="1" i="1" dirty="0" err="1">
                <a:solidFill>
                  <a:srgbClr val="FF3300"/>
                </a:solidFill>
              </a:rPr>
              <a:t>Hệ</a:t>
            </a:r>
            <a:r>
              <a:rPr lang="en-US" sz="2800" b="1" i="1" dirty="0">
                <a:solidFill>
                  <a:srgbClr val="FF3300"/>
                </a:solidFill>
              </a:rPr>
              <a:t> </a:t>
            </a:r>
            <a:r>
              <a:rPr lang="en-US" sz="2800" b="1" i="1" dirty="0" err="1">
                <a:solidFill>
                  <a:srgbClr val="FF3300"/>
                </a:solidFill>
              </a:rPr>
              <a:t>quả</a:t>
            </a:r>
            <a:r>
              <a:rPr lang="en-US" sz="2800" b="1" i="1" dirty="0">
                <a:solidFill>
                  <a:srgbClr val="FF3300"/>
                </a:solidFill>
              </a:rPr>
              <a:t> - ý </a:t>
            </a:r>
            <a:r>
              <a:rPr lang="en-US" sz="2800" b="1" i="1" dirty="0" err="1">
                <a:solidFill>
                  <a:srgbClr val="FF3300"/>
                </a:solidFill>
              </a:rPr>
              <a:t>nghĩa</a:t>
            </a:r>
            <a:endParaRPr lang="en-US" sz="2800" b="1" i="1" dirty="0">
              <a:solidFill>
                <a:srgbClr val="FF3300"/>
              </a:solidFill>
            </a:endParaRPr>
          </a:p>
          <a:p>
            <a:pPr lvl="1"/>
            <a:r>
              <a:rPr lang="en-US" dirty="0"/>
              <a:t>A &gt; 0, Q &gt; 0 ?</a:t>
            </a:r>
          </a:p>
          <a:p>
            <a:pPr lvl="1"/>
            <a:r>
              <a:rPr lang="en-US" dirty="0"/>
              <a:t>A &lt; 0, Q &lt; 0 ?</a:t>
            </a:r>
          </a:p>
          <a:p>
            <a:pPr lvl="1"/>
            <a:r>
              <a:rPr lang="en-US" dirty="0"/>
              <a:t>A = 0, Q = 0 ?</a:t>
            </a:r>
          </a:p>
          <a:p>
            <a:pPr marL="457200" lvl="1" indent="0" eaLnBrk="1" hangingPunct="1">
              <a:buNone/>
            </a:pPr>
            <a:endParaRPr lang="en-US" sz="4400" b="1" dirty="0">
              <a:solidFill>
                <a:srgbClr val="FF3300"/>
              </a:solidFill>
            </a:endParaRPr>
          </a:p>
          <a:p>
            <a:pPr lvl="4" eaLnBrk="1" hangingPunct="1">
              <a:buFontTx/>
              <a:buNone/>
            </a:pPr>
            <a:endParaRPr lang="en-US" sz="2800" dirty="0">
              <a:solidFill>
                <a:srgbClr val="FF3300"/>
              </a:solidFill>
            </a:endParaRPr>
          </a:p>
          <a:p>
            <a:pPr lvl="4" eaLnBrk="1" hangingPunct="1">
              <a:buFontTx/>
              <a:buNone/>
            </a:pPr>
            <a:endParaRPr lang="en-US" sz="2800" dirty="0">
              <a:solidFill>
                <a:srgbClr val="FF3300"/>
              </a:solidFill>
            </a:endParaRPr>
          </a:p>
        </p:txBody>
      </p:sp>
      <p:sp>
        <p:nvSpPr>
          <p:cNvPr id="2" name="Footer Placeholder 1">
            <a:extLst>
              <a:ext uri="{FF2B5EF4-FFF2-40B4-BE49-F238E27FC236}">
                <a16:creationId xmlns:a16="http://schemas.microsoft.com/office/drawing/2014/main" id="{EA43E61E-6FB2-BD0D-A7D7-8341E2ECF9FE}"/>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7A5BEE53-59E2-F373-B19C-C9A987FA71FA}"/>
              </a:ext>
            </a:extLst>
          </p:cNvPr>
          <p:cNvSpPr>
            <a:spLocks noGrp="1"/>
          </p:cNvSpPr>
          <p:nvPr>
            <p:ph type="sldNum" sz="quarter" idx="12"/>
          </p:nvPr>
        </p:nvSpPr>
        <p:spPr/>
        <p:txBody>
          <a:bodyPr/>
          <a:lstStyle/>
          <a:p>
            <a:pPr>
              <a:defRPr/>
            </a:pPr>
            <a:fld id="{003F8D5A-645D-495A-9DEA-99BB03E4A967}" type="slidenum">
              <a:rPr lang="en-US" smtClean="0"/>
              <a:pPr>
                <a:defRPr/>
              </a:pPr>
              <a:t>29</a:t>
            </a:fld>
            <a:endParaRPr lang="en-US"/>
          </a:p>
        </p:txBody>
      </p:sp>
    </p:spTree>
    <p:extLst>
      <p:ext uri="{BB962C8B-B14F-4D97-AF65-F5344CB8AC3E}">
        <p14:creationId xmlns:p14="http://schemas.microsoft.com/office/powerpoint/2010/main" val="1999862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148">
                                            <p:txEl>
                                              <p:pRg st="0" end="0"/>
                                            </p:txEl>
                                          </p:spTgt>
                                        </p:tgtEl>
                                        <p:attrNameLst>
                                          <p:attrName>style.visibility</p:attrName>
                                        </p:attrNameLst>
                                      </p:cBhvr>
                                      <p:to>
                                        <p:strVal val="visible"/>
                                      </p:to>
                                    </p:set>
                                    <p:animEffect transition="in" filter="barn(inVertical)">
                                      <p:cBhvr>
                                        <p:cTn id="7" dur="500"/>
                                        <p:tgtEl>
                                          <p:spTgt spid="614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148">
                                            <p:txEl>
                                              <p:pRg st="1" end="1"/>
                                            </p:txEl>
                                          </p:spTgt>
                                        </p:tgtEl>
                                        <p:attrNameLst>
                                          <p:attrName>style.visibility</p:attrName>
                                        </p:attrNameLst>
                                      </p:cBhvr>
                                      <p:to>
                                        <p:strVal val="visible"/>
                                      </p:to>
                                    </p:set>
                                    <p:animEffect transition="in" filter="barn(inVertical)">
                                      <p:cBhvr>
                                        <p:cTn id="12" dur="500"/>
                                        <p:tgtEl>
                                          <p:spTgt spid="6148">
                                            <p:txEl>
                                              <p:pRg st="1" end="1"/>
                                            </p:txEl>
                                          </p:spTgt>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6148">
                                            <p:txEl>
                                              <p:pRg st="2" end="2"/>
                                            </p:txEl>
                                          </p:spTgt>
                                        </p:tgtEl>
                                        <p:attrNameLst>
                                          <p:attrName>style.visibility</p:attrName>
                                        </p:attrNameLst>
                                      </p:cBhvr>
                                      <p:to>
                                        <p:strVal val="visible"/>
                                      </p:to>
                                    </p:set>
                                    <p:animEffect transition="in" filter="barn(inVertical)">
                                      <p:cBhvr>
                                        <p:cTn id="15" dur="500"/>
                                        <p:tgtEl>
                                          <p:spTgt spid="6148">
                                            <p:txEl>
                                              <p:pRg st="2" end="2"/>
                                            </p:txEl>
                                          </p:spTgt>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6148">
                                            <p:txEl>
                                              <p:pRg st="3" end="3"/>
                                            </p:txEl>
                                          </p:spTgt>
                                        </p:tgtEl>
                                        <p:attrNameLst>
                                          <p:attrName>style.visibility</p:attrName>
                                        </p:attrNameLst>
                                      </p:cBhvr>
                                      <p:to>
                                        <p:strVal val="visible"/>
                                      </p:to>
                                    </p:set>
                                    <p:animEffect transition="in" filter="barn(inVertical)">
                                      <p:cBhvr>
                                        <p:cTn id="18" dur="500"/>
                                        <p:tgtEl>
                                          <p:spTgt spid="6148">
                                            <p:txEl>
                                              <p:pRg st="3" end="3"/>
                                            </p:txEl>
                                          </p:spTgt>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6148">
                                            <p:txEl>
                                              <p:pRg st="4" end="4"/>
                                            </p:txEl>
                                          </p:spTgt>
                                        </p:tgtEl>
                                        <p:attrNameLst>
                                          <p:attrName>style.visibility</p:attrName>
                                        </p:attrNameLst>
                                      </p:cBhvr>
                                      <p:to>
                                        <p:strVal val="visible"/>
                                      </p:to>
                                    </p:set>
                                    <p:animEffect transition="in" filter="barn(inVertical)">
                                      <p:cBhvr>
                                        <p:cTn id="21" dur="500"/>
                                        <p:tgtEl>
                                          <p:spTgt spid="6148">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6148">
                                            <p:txEl>
                                              <p:pRg st="5" end="5"/>
                                            </p:txEl>
                                          </p:spTgt>
                                        </p:tgtEl>
                                        <p:attrNameLst>
                                          <p:attrName>style.visibility</p:attrName>
                                        </p:attrNameLst>
                                      </p:cBhvr>
                                      <p:to>
                                        <p:strVal val="visible"/>
                                      </p:to>
                                    </p:set>
                                    <p:animEffect transition="in" filter="barn(inVertical)">
                                      <p:cBhvr>
                                        <p:cTn id="26" dur="500"/>
                                        <p:tgtEl>
                                          <p:spTgt spid="6148">
                                            <p:txEl>
                                              <p:pRg st="5" end="5"/>
                                            </p:txEl>
                                          </p:spTgt>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6148">
                                            <p:txEl>
                                              <p:pRg st="6" end="6"/>
                                            </p:txEl>
                                          </p:spTgt>
                                        </p:tgtEl>
                                        <p:attrNameLst>
                                          <p:attrName>style.visibility</p:attrName>
                                        </p:attrNameLst>
                                      </p:cBhvr>
                                      <p:to>
                                        <p:strVal val="visible"/>
                                      </p:to>
                                    </p:set>
                                    <p:animEffect transition="in" filter="barn(inVertical)">
                                      <p:cBhvr>
                                        <p:cTn id="29" dur="500"/>
                                        <p:tgtEl>
                                          <p:spTgt spid="6148">
                                            <p:txEl>
                                              <p:pRg st="6" end="6"/>
                                            </p:txEl>
                                          </p:spTgt>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6148">
                                            <p:txEl>
                                              <p:pRg st="7" end="7"/>
                                            </p:txEl>
                                          </p:spTgt>
                                        </p:tgtEl>
                                        <p:attrNameLst>
                                          <p:attrName>style.visibility</p:attrName>
                                        </p:attrNameLst>
                                      </p:cBhvr>
                                      <p:to>
                                        <p:strVal val="visible"/>
                                      </p:to>
                                    </p:set>
                                    <p:animEffect transition="in" filter="barn(inVertical)">
                                      <p:cBhvr>
                                        <p:cTn id="32" dur="500"/>
                                        <p:tgtEl>
                                          <p:spTgt spid="6148">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6148">
                                            <p:txEl>
                                              <p:pRg st="8" end="8"/>
                                            </p:txEl>
                                          </p:spTgt>
                                        </p:tgtEl>
                                        <p:attrNameLst>
                                          <p:attrName>style.visibility</p:attrName>
                                        </p:attrNameLst>
                                      </p:cBhvr>
                                      <p:to>
                                        <p:strVal val="visible"/>
                                      </p:to>
                                    </p:set>
                                    <p:animEffect transition="in" filter="barn(inVertical)">
                                      <p:cBhvr>
                                        <p:cTn id="37" dur="500"/>
                                        <p:tgtEl>
                                          <p:spTgt spid="614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3" name="Text Box 7"/>
          <p:cNvSpPr txBox="1">
            <a:spLocks noChangeArrowheads="1"/>
          </p:cNvSpPr>
          <p:nvPr/>
        </p:nvSpPr>
        <p:spPr bwMode="auto">
          <a:xfrm>
            <a:off x="725456" y="2286000"/>
            <a:ext cx="2133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800" b="1">
                <a:solidFill>
                  <a:srgbClr val="0000CC"/>
                </a:solidFill>
              </a:rPr>
              <a:t>Hệ cô lập:</a:t>
            </a:r>
            <a:endParaRPr lang="en-US" sz="2800" b="1">
              <a:solidFill>
                <a:srgbClr val="006600"/>
              </a:solidFill>
            </a:endParaRPr>
          </a:p>
        </p:txBody>
      </p:sp>
      <p:graphicFrame>
        <p:nvGraphicFramePr>
          <p:cNvPr id="14344" name="Object 8"/>
          <p:cNvGraphicFramePr>
            <a:graphicFrameLocks noChangeAspect="1"/>
          </p:cNvGraphicFramePr>
          <p:nvPr>
            <p:extLst>
              <p:ext uri="{D42A27DB-BD31-4B8C-83A1-F6EECF244321}">
                <p14:modId xmlns:p14="http://schemas.microsoft.com/office/powerpoint/2010/main" val="858838680"/>
              </p:ext>
            </p:extLst>
          </p:nvPr>
        </p:nvGraphicFramePr>
        <p:xfrm>
          <a:off x="3250727" y="2286000"/>
          <a:ext cx="2063750" cy="565150"/>
        </p:xfrm>
        <a:graphic>
          <a:graphicData uri="http://schemas.openxmlformats.org/presentationml/2006/ole">
            <mc:AlternateContent xmlns:mc="http://schemas.openxmlformats.org/markup-compatibility/2006">
              <mc:Choice xmlns:v="urn:schemas-microsoft-com:vml" Requires="v">
                <p:oleObj name="Equation" r:id="rId2" imgW="647640" imgH="203040" progId="Equation.DSMT4">
                  <p:embed/>
                </p:oleObj>
              </mc:Choice>
              <mc:Fallback>
                <p:oleObj name="Equation" r:id="rId2" imgW="647640" imgH="203040" progId="Equation.DSMT4">
                  <p:embed/>
                  <p:pic>
                    <p:nvPicPr>
                      <p:cNvPr id="0" name=""/>
                      <p:cNvPicPr>
                        <a:picLocks noChangeAspect="1" noChangeArrowheads="1"/>
                      </p:cNvPicPr>
                      <p:nvPr/>
                    </p:nvPicPr>
                    <p:blipFill>
                      <a:blip r:embed="rId3"/>
                      <a:srcRect/>
                      <a:stretch>
                        <a:fillRect/>
                      </a:stretch>
                    </p:blipFill>
                    <p:spPr bwMode="auto">
                      <a:xfrm>
                        <a:off x="3250727" y="2286000"/>
                        <a:ext cx="2063750" cy="565150"/>
                      </a:xfrm>
                      <a:prstGeom prst="rect">
                        <a:avLst/>
                      </a:prstGeom>
                      <a:noFill/>
                      <a:ln w="9525">
                        <a:noFill/>
                        <a:miter lim="800000"/>
                        <a:headEnd/>
                        <a:tailEnd/>
                      </a:ln>
                      <a:effectLst/>
                    </p:spPr>
                  </p:pic>
                </p:oleObj>
              </mc:Fallback>
            </mc:AlternateContent>
          </a:graphicData>
        </a:graphic>
      </p:graphicFrame>
      <p:sp>
        <p:nvSpPr>
          <p:cNvPr id="14346" name="Text Box 10"/>
          <p:cNvSpPr txBox="1">
            <a:spLocks noChangeArrowheads="1"/>
          </p:cNvSpPr>
          <p:nvPr/>
        </p:nvSpPr>
        <p:spPr bwMode="auto">
          <a:xfrm>
            <a:off x="1828871" y="4495800"/>
            <a:ext cx="701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800" b="1">
                <a:solidFill>
                  <a:srgbClr val="002060"/>
                </a:solidFill>
              </a:rPr>
              <a:t>Nội năng của hệ cô lập được bảo toàn.</a:t>
            </a:r>
          </a:p>
        </p:txBody>
      </p:sp>
      <p:sp>
        <p:nvSpPr>
          <p:cNvPr id="11" name="Rectangle 10"/>
          <p:cNvSpPr/>
          <p:nvPr/>
        </p:nvSpPr>
        <p:spPr>
          <a:xfrm>
            <a:off x="1043059" y="5334000"/>
            <a:ext cx="7796212" cy="523220"/>
          </a:xfrm>
          <a:prstGeom prst="rect">
            <a:avLst/>
          </a:prstGeom>
        </p:spPr>
        <p:txBody>
          <a:bodyPr wrap="square">
            <a:spAutoFit/>
          </a:bodyPr>
          <a:lstStyle/>
          <a:p>
            <a:r>
              <a:rPr lang="en-US" sz="2800" b="1">
                <a:solidFill>
                  <a:srgbClr val="552579"/>
                </a:solidFill>
                <a:latin typeface="Times New Roman" pitchFamily="18" charset="0"/>
                <a:cs typeface="Times New Roman" pitchFamily="18" charset="0"/>
              </a:rPr>
              <a:t>(định luật bảo toàn và chuyển hóa năng lượng)</a:t>
            </a:r>
          </a:p>
        </p:txBody>
      </p:sp>
      <p:grpSp>
        <p:nvGrpSpPr>
          <p:cNvPr id="13" name="Group 18"/>
          <p:cNvGrpSpPr>
            <a:grpSpLocks/>
          </p:cNvGrpSpPr>
          <p:nvPr/>
        </p:nvGrpSpPr>
        <p:grpSpPr bwMode="auto">
          <a:xfrm>
            <a:off x="762000" y="0"/>
            <a:ext cx="7543800" cy="889000"/>
            <a:chOff x="1310" y="1392"/>
            <a:chExt cx="5421" cy="560"/>
          </a:xfrm>
        </p:grpSpPr>
        <p:pic>
          <p:nvPicPr>
            <p:cNvPr id="14" name="Picture 24" descr="PPP_CSHAP_CLP_Sleek_Silver">
              <a:hlinkClick r:id="" action="ppaction://hlinkshowjump?jump=nextslide" highlightClick="1"/>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0" y="1392"/>
              <a:ext cx="5421"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14"/>
            <p:cNvSpPr txBox="1">
              <a:spLocks noChangeArrowheads="1"/>
            </p:cNvSpPr>
            <p:nvPr/>
          </p:nvSpPr>
          <p:spPr bwMode="auto">
            <a:xfrm>
              <a:off x="2181" y="1510"/>
              <a:ext cx="3784"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wrap="none">
              <a:spAutoFit/>
            </a:bodyPr>
            <a:lstStyle/>
            <a:p>
              <a:pPr algn="ctr" fontAlgn="auto">
                <a:spcBef>
                  <a:spcPts val="2400"/>
                </a:spcBef>
                <a:spcAft>
                  <a:spcPts val="0"/>
                </a:spcAft>
                <a:defRPr/>
              </a:pPr>
              <a:r>
                <a:rPr lang="en-US" sz="2400" b="1" i="1" dirty="0">
                  <a:solidFill>
                    <a:srgbClr val="FF0000"/>
                  </a:solidFill>
                  <a:latin typeface="Times New Roman" pitchFamily="18" charset="0"/>
                  <a:cs typeface="Times New Roman" pitchFamily="18" charset="0"/>
                </a:rPr>
                <a:t> </a:t>
              </a:r>
              <a:r>
                <a:rPr lang="en-US" sz="2400" b="1" dirty="0">
                  <a:solidFill>
                    <a:srgbClr val="050579"/>
                  </a:solidFill>
                  <a:latin typeface="Times New Roman" pitchFamily="18" charset="0"/>
                  <a:cs typeface="Times New Roman" pitchFamily="18" charset="0"/>
                </a:rPr>
                <a:t>6.2</a:t>
              </a:r>
              <a:r>
                <a:rPr lang="en-US" sz="2400" b="1" dirty="0">
                  <a:solidFill>
                    <a:schemeClr val="dk1"/>
                  </a:solidFill>
                  <a:latin typeface="+mn-lt"/>
                  <a:cs typeface="+mn-cs"/>
                </a:rPr>
                <a:t> </a:t>
              </a:r>
              <a:r>
                <a:rPr lang="en-US" sz="2400" b="1" dirty="0" err="1">
                  <a:solidFill>
                    <a:srgbClr val="FF0000"/>
                  </a:solidFill>
                  <a:latin typeface="Times New Roman" pitchFamily="18" charset="0"/>
                  <a:cs typeface="Times New Roman" pitchFamily="18" charset="0"/>
                </a:rPr>
                <a:t>Nguyên</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lý</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thứ</a:t>
              </a:r>
              <a:r>
                <a:rPr lang="en-US" sz="2400" b="1" dirty="0">
                  <a:solidFill>
                    <a:srgbClr val="FF0000"/>
                  </a:solidFill>
                  <a:latin typeface="Times New Roman" pitchFamily="18" charset="0"/>
                  <a:cs typeface="Times New Roman" pitchFamily="18" charset="0"/>
                </a:rPr>
                <a:t> I </a:t>
              </a:r>
              <a:r>
                <a:rPr lang="en-US" sz="2400" b="1" dirty="0" err="1">
                  <a:solidFill>
                    <a:srgbClr val="FF0000"/>
                  </a:solidFill>
                  <a:latin typeface="Times New Roman" pitchFamily="18" charset="0"/>
                  <a:cs typeface="Times New Roman" pitchFamily="18" charset="0"/>
                </a:rPr>
                <a:t>nhiệt</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động</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lực</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học</a:t>
              </a:r>
              <a:endParaRPr lang="en-US" sz="2400" b="1" dirty="0">
                <a:solidFill>
                  <a:srgbClr val="FF0000"/>
                </a:solidFill>
                <a:latin typeface="Times New Roman" pitchFamily="18" charset="0"/>
                <a:cs typeface="Times New Roman" pitchFamily="18" charset="0"/>
              </a:endParaRPr>
            </a:p>
          </p:txBody>
        </p:sp>
      </p:grpSp>
      <p:sp>
        <p:nvSpPr>
          <p:cNvPr id="20" name="4-Point Star 19"/>
          <p:cNvSpPr/>
          <p:nvPr/>
        </p:nvSpPr>
        <p:spPr>
          <a:xfrm>
            <a:off x="318799" y="2393156"/>
            <a:ext cx="304800" cy="304800"/>
          </a:xfrm>
          <a:prstGeom prst="star4">
            <a:avLst/>
          </a:prstGeom>
          <a:solidFill>
            <a:srgbClr val="FF000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vi-VN" sz="3200">
              <a:latin typeface="+mj-lt"/>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1157023992"/>
              </p:ext>
            </p:extLst>
          </p:nvPr>
        </p:nvGraphicFramePr>
        <p:xfrm>
          <a:off x="2227262" y="3429000"/>
          <a:ext cx="4613275" cy="565150"/>
        </p:xfrm>
        <a:graphic>
          <a:graphicData uri="http://schemas.openxmlformats.org/presentationml/2006/ole">
            <mc:AlternateContent xmlns:mc="http://schemas.openxmlformats.org/markup-compatibility/2006">
              <mc:Choice xmlns:v="urn:schemas-microsoft-com:vml" Requires="v">
                <p:oleObj name="Equation" r:id="rId5" imgW="1447560" imgH="203040" progId="Equation.DSMT4">
                  <p:embed/>
                </p:oleObj>
              </mc:Choice>
              <mc:Fallback>
                <p:oleObj name="Equation" r:id="rId5" imgW="1447560" imgH="203040" progId="Equation.DSMT4">
                  <p:embed/>
                  <p:pic>
                    <p:nvPicPr>
                      <p:cNvPr id="0" name=""/>
                      <p:cNvPicPr>
                        <a:picLocks noChangeAspect="1" noChangeArrowheads="1"/>
                      </p:cNvPicPr>
                      <p:nvPr/>
                    </p:nvPicPr>
                    <p:blipFill>
                      <a:blip r:embed="rId6"/>
                      <a:srcRect/>
                      <a:stretch>
                        <a:fillRect/>
                      </a:stretch>
                    </p:blipFill>
                    <p:spPr bwMode="auto">
                      <a:xfrm>
                        <a:off x="2227262" y="3429000"/>
                        <a:ext cx="4613275" cy="56515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 name="Right Arrow 21"/>
          <p:cNvSpPr/>
          <p:nvPr/>
        </p:nvSpPr>
        <p:spPr>
          <a:xfrm>
            <a:off x="1180011" y="3581400"/>
            <a:ext cx="304800" cy="228600"/>
          </a:xfrm>
          <a:prstGeom prst="rightArrow">
            <a:avLst/>
          </a:prstGeom>
          <a:solidFill>
            <a:srgbClr val="90F828"/>
          </a:solidFill>
          <a:ln>
            <a:solidFill>
              <a:srgbClr val="1E22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800">
              <a:solidFill>
                <a:srgbClr val="0070C0"/>
              </a:solidFill>
              <a:latin typeface="Times New Roman" pitchFamily="18" charset="0"/>
              <a:cs typeface="Times New Roman" pitchFamily="18" charset="0"/>
            </a:endParaRPr>
          </a:p>
        </p:txBody>
      </p:sp>
      <p:sp>
        <p:nvSpPr>
          <p:cNvPr id="23" name="Right Arrow 22"/>
          <p:cNvSpPr/>
          <p:nvPr/>
        </p:nvSpPr>
        <p:spPr>
          <a:xfrm>
            <a:off x="1206137" y="4641056"/>
            <a:ext cx="304800" cy="228600"/>
          </a:xfrm>
          <a:prstGeom prst="rightArrow">
            <a:avLst/>
          </a:prstGeom>
          <a:solidFill>
            <a:srgbClr val="90F828"/>
          </a:solidFill>
          <a:ln>
            <a:solidFill>
              <a:srgbClr val="1E22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800">
              <a:solidFill>
                <a:srgbClr val="0070C0"/>
              </a:solidFill>
              <a:latin typeface="Times New Roman" pitchFamily="18" charset="0"/>
              <a:cs typeface="Times New Roman" pitchFamily="18" charset="0"/>
            </a:endParaRPr>
          </a:p>
        </p:txBody>
      </p:sp>
      <p:sp>
        <p:nvSpPr>
          <p:cNvPr id="16" name="Rectangle 3"/>
          <p:cNvSpPr>
            <a:spLocks noGrp="1" noChangeArrowheads="1"/>
          </p:cNvSpPr>
          <p:nvPr>
            <p:ph type="body" sz="half" idx="1"/>
          </p:nvPr>
        </p:nvSpPr>
        <p:spPr>
          <a:xfrm>
            <a:off x="449427" y="1295400"/>
            <a:ext cx="2057400" cy="457200"/>
          </a:xfrm>
        </p:spPr>
        <p:txBody>
          <a:bodyPr>
            <a:normAutofit fontScale="92500" lnSpcReduction="10000"/>
          </a:bodyPr>
          <a:lstStyle/>
          <a:p>
            <a:pPr marL="0" indent="0" eaLnBrk="1" hangingPunct="1">
              <a:buNone/>
            </a:pPr>
            <a:r>
              <a:rPr lang="en-US" sz="2800" b="1">
                <a:solidFill>
                  <a:srgbClr val="FF0000"/>
                </a:solidFill>
                <a:latin typeface="Times New Roman" pitchFamily="18" charset="0"/>
                <a:cs typeface="Times New Roman" pitchFamily="18" charset="0"/>
              </a:rPr>
              <a:t>c. Hệ quả:</a:t>
            </a:r>
          </a:p>
        </p:txBody>
      </p:sp>
      <p:sp>
        <p:nvSpPr>
          <p:cNvPr id="2" name="Footer Placeholder 1">
            <a:extLst>
              <a:ext uri="{FF2B5EF4-FFF2-40B4-BE49-F238E27FC236}">
                <a16:creationId xmlns:a16="http://schemas.microsoft.com/office/drawing/2014/main" id="{3D456E71-0B46-B7ED-1BCC-170BE2776248}"/>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E408F6C9-1324-179B-524D-153E402122E2}"/>
              </a:ext>
            </a:extLst>
          </p:cNvPr>
          <p:cNvSpPr>
            <a:spLocks noGrp="1"/>
          </p:cNvSpPr>
          <p:nvPr>
            <p:ph type="sldNum" sz="quarter" idx="12"/>
          </p:nvPr>
        </p:nvSpPr>
        <p:spPr/>
        <p:txBody>
          <a:bodyPr/>
          <a:lstStyle/>
          <a:p>
            <a:pPr>
              <a:defRPr/>
            </a:pPr>
            <a:fld id="{302BCF9B-0434-4B1A-8E11-20B3C6761B54}" type="slidenum">
              <a:rPr lang="en-US" smtClean="0"/>
              <a:pPr>
                <a:defRPr/>
              </a:pPr>
              <a:t>30</a:t>
            </a:fld>
            <a:endParaRPr lang="en-US"/>
          </a:p>
        </p:txBody>
      </p:sp>
    </p:spTree>
    <p:extLst>
      <p:ext uri="{BB962C8B-B14F-4D97-AF65-F5344CB8AC3E}">
        <p14:creationId xmlns:p14="http://schemas.microsoft.com/office/powerpoint/2010/main" val="26481025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1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randombar(horizontal)">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14343"/>
                                        </p:tgtEl>
                                        <p:attrNameLst>
                                          <p:attrName>style.visibility</p:attrName>
                                        </p:attrNameLst>
                                      </p:cBhvr>
                                      <p:to>
                                        <p:strVal val="visible"/>
                                      </p:to>
                                    </p:set>
                                    <p:animEffect transition="in" filter="diamond(in)">
                                      <p:cBhvr>
                                        <p:cTn id="17" dur="2000"/>
                                        <p:tgtEl>
                                          <p:spTgt spid="14343"/>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4344"/>
                                        </p:tgtEl>
                                        <p:attrNameLst>
                                          <p:attrName>style.visibility</p:attrName>
                                        </p:attrNameLst>
                                      </p:cBhvr>
                                      <p:to>
                                        <p:strVal val="visible"/>
                                      </p:to>
                                    </p:set>
                                    <p:animEffect transition="in" filter="checkerboard(across)">
                                      <p:cBhvr>
                                        <p:cTn id="22" dur="500"/>
                                        <p:tgtEl>
                                          <p:spTgt spid="1434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checkerboard(across)">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8" presetClass="entr" presetSubtype="16" fill="hold" grpId="0" nodeType="clickEffect">
                                  <p:stCondLst>
                                    <p:cond delay="0"/>
                                  </p:stCondLst>
                                  <p:childTnLst>
                                    <p:set>
                                      <p:cBhvr>
                                        <p:cTn id="41" dur="1" fill="hold">
                                          <p:stCondLst>
                                            <p:cond delay="0"/>
                                          </p:stCondLst>
                                        </p:cTn>
                                        <p:tgtEl>
                                          <p:spTgt spid="14346"/>
                                        </p:tgtEl>
                                        <p:attrNameLst>
                                          <p:attrName>style.visibility</p:attrName>
                                        </p:attrNameLst>
                                      </p:cBhvr>
                                      <p:to>
                                        <p:strVal val="visible"/>
                                      </p:to>
                                    </p:set>
                                    <p:animEffect transition="in" filter="diamond(in)">
                                      <p:cBhvr>
                                        <p:cTn id="42" dur="2000"/>
                                        <p:tgtEl>
                                          <p:spTgt spid="1434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3" grpId="0"/>
      <p:bldP spid="14346" grpId="0"/>
      <p:bldP spid="11" grpId="0"/>
      <p:bldP spid="20" grpId="0" animBg="1"/>
      <p:bldP spid="22" grpId="0" animBg="1"/>
      <p:bldP spid="2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41" name="Object 5"/>
          <p:cNvGraphicFramePr>
            <a:graphicFrameLocks noGrp="1" noChangeAspect="1"/>
          </p:cNvGraphicFramePr>
          <p:nvPr>
            <p:ph sz="half" idx="2"/>
            <p:extLst>
              <p:ext uri="{D42A27DB-BD31-4B8C-83A1-F6EECF244321}">
                <p14:modId xmlns:p14="http://schemas.microsoft.com/office/powerpoint/2010/main" val="4103182099"/>
              </p:ext>
            </p:extLst>
          </p:nvPr>
        </p:nvGraphicFramePr>
        <p:xfrm>
          <a:off x="1304925" y="2646363"/>
          <a:ext cx="1412875" cy="565150"/>
        </p:xfrm>
        <a:graphic>
          <a:graphicData uri="http://schemas.openxmlformats.org/presentationml/2006/ole">
            <mc:AlternateContent xmlns:mc="http://schemas.openxmlformats.org/markup-compatibility/2006">
              <mc:Choice xmlns:v="urn:schemas-microsoft-com:vml" Requires="v">
                <p:oleObj name="Equation" r:id="rId2" imgW="507960" imgH="203040" progId="Equation.DSMT4">
                  <p:embed/>
                </p:oleObj>
              </mc:Choice>
              <mc:Fallback>
                <p:oleObj name="Equation" r:id="rId2" imgW="507960" imgH="203040" progId="Equation.DSMT4">
                  <p:embed/>
                  <p:pic>
                    <p:nvPicPr>
                      <p:cNvPr id="0" name=""/>
                      <p:cNvPicPr>
                        <a:picLocks noChangeAspect="1" noChangeArrowheads="1"/>
                      </p:cNvPicPr>
                      <p:nvPr/>
                    </p:nvPicPr>
                    <p:blipFill>
                      <a:blip r:embed="rId3"/>
                      <a:srcRect/>
                      <a:stretch>
                        <a:fillRect/>
                      </a:stretch>
                    </p:blipFill>
                    <p:spPr bwMode="auto">
                      <a:xfrm>
                        <a:off x="1304925" y="2646363"/>
                        <a:ext cx="1412875" cy="56515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0" name="Text Box 4"/>
          <p:cNvSpPr txBox="1">
            <a:spLocks noChangeArrowheads="1"/>
          </p:cNvSpPr>
          <p:nvPr/>
        </p:nvSpPr>
        <p:spPr bwMode="auto">
          <a:xfrm>
            <a:off x="544785" y="1199689"/>
            <a:ext cx="636111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800" b="1">
                <a:solidFill>
                  <a:srgbClr val="0000CC"/>
                </a:solidFill>
              </a:rPr>
              <a:t>Sau một quá trình kín (chu trình):</a:t>
            </a:r>
            <a:endParaRPr lang="en-US" sz="2800" b="1">
              <a:solidFill>
                <a:srgbClr val="006600"/>
              </a:solidFill>
            </a:endParaRPr>
          </a:p>
        </p:txBody>
      </p:sp>
      <p:sp>
        <p:nvSpPr>
          <p:cNvPr id="14345" name="Text Box 9"/>
          <p:cNvSpPr txBox="1">
            <a:spLocks noChangeArrowheads="1"/>
          </p:cNvSpPr>
          <p:nvPr/>
        </p:nvSpPr>
        <p:spPr bwMode="auto">
          <a:xfrm>
            <a:off x="2743200" y="2647146"/>
            <a:ext cx="60198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800" b="1">
                <a:solidFill>
                  <a:srgbClr val="002060"/>
                </a:solidFill>
              </a:rPr>
              <a:t>: hệ nhận bao nhiêu nhiệt thì sinh bấy nhiêu công và ngược lại.</a:t>
            </a:r>
          </a:p>
        </p:txBody>
      </p:sp>
      <p:graphicFrame>
        <p:nvGraphicFramePr>
          <p:cNvPr id="3" name="Object 2"/>
          <p:cNvGraphicFramePr>
            <a:graphicFrameLocks noChangeAspect="1"/>
          </p:cNvGraphicFramePr>
          <p:nvPr>
            <p:extLst>
              <p:ext uri="{D42A27DB-BD31-4B8C-83A1-F6EECF244321}">
                <p14:modId xmlns:p14="http://schemas.microsoft.com/office/powerpoint/2010/main" val="1275687784"/>
              </p:ext>
            </p:extLst>
          </p:nvPr>
        </p:nvGraphicFramePr>
        <p:xfrm>
          <a:off x="3753644" y="1865470"/>
          <a:ext cx="2755900" cy="565150"/>
        </p:xfrm>
        <a:graphic>
          <a:graphicData uri="http://schemas.openxmlformats.org/presentationml/2006/ole">
            <mc:AlternateContent xmlns:mc="http://schemas.openxmlformats.org/markup-compatibility/2006">
              <mc:Choice xmlns:v="urn:schemas-microsoft-com:vml" Requires="v">
                <p:oleObj name="Equation" r:id="rId4" imgW="990360" imgH="203040" progId="Equation.DSMT4">
                  <p:embed/>
                </p:oleObj>
              </mc:Choice>
              <mc:Fallback>
                <p:oleObj name="Equation" r:id="rId4" imgW="990360" imgH="203040" progId="Equation.DSMT4">
                  <p:embed/>
                  <p:pic>
                    <p:nvPicPr>
                      <p:cNvPr id="0" name=""/>
                      <p:cNvPicPr>
                        <a:picLocks noChangeAspect="1" noChangeArrowheads="1"/>
                      </p:cNvPicPr>
                      <p:nvPr/>
                    </p:nvPicPr>
                    <p:blipFill>
                      <a:blip r:embed="rId5"/>
                      <a:srcRect/>
                      <a:stretch>
                        <a:fillRect/>
                      </a:stretch>
                    </p:blipFill>
                    <p:spPr bwMode="auto">
                      <a:xfrm>
                        <a:off x="3753644" y="1865470"/>
                        <a:ext cx="2755900" cy="565150"/>
                      </a:xfrm>
                      <a:prstGeom prst="rect">
                        <a:avLst/>
                      </a:prstGeom>
                      <a:noFill/>
                      <a:ln w="9525">
                        <a:noFill/>
                        <a:miter lim="800000"/>
                        <a:headEnd/>
                        <a:tailEnd/>
                      </a:ln>
                      <a:effectLst/>
                    </p:spPr>
                  </p:pic>
                </p:oleObj>
              </mc:Fallback>
            </mc:AlternateContent>
          </a:graphicData>
        </a:graphic>
      </p:graphicFrame>
      <p:sp>
        <p:nvSpPr>
          <p:cNvPr id="17" name="Right Arrow 16"/>
          <p:cNvSpPr/>
          <p:nvPr/>
        </p:nvSpPr>
        <p:spPr>
          <a:xfrm>
            <a:off x="766549" y="2819400"/>
            <a:ext cx="304800" cy="228600"/>
          </a:xfrm>
          <a:prstGeom prst="rightArrow">
            <a:avLst/>
          </a:prstGeom>
          <a:solidFill>
            <a:srgbClr val="90F828"/>
          </a:solidFill>
          <a:ln>
            <a:solidFill>
              <a:srgbClr val="1E22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800">
              <a:solidFill>
                <a:srgbClr val="0070C0"/>
              </a:solidFill>
              <a:latin typeface="Times New Roman" pitchFamily="18" charset="0"/>
              <a:cs typeface="Times New Roman" pitchFamily="18" charset="0"/>
            </a:endParaRPr>
          </a:p>
        </p:txBody>
      </p:sp>
      <p:sp>
        <p:nvSpPr>
          <p:cNvPr id="19" name="4-Point Star 18"/>
          <p:cNvSpPr/>
          <p:nvPr/>
        </p:nvSpPr>
        <p:spPr>
          <a:xfrm>
            <a:off x="168791" y="1281738"/>
            <a:ext cx="304800" cy="304800"/>
          </a:xfrm>
          <a:prstGeom prst="star4">
            <a:avLst/>
          </a:prstGeom>
          <a:solidFill>
            <a:srgbClr val="FF000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vi-VN" sz="3200">
              <a:latin typeface="+mj-lt"/>
            </a:endParaRPr>
          </a:p>
        </p:txBody>
      </p:sp>
      <p:sp>
        <p:nvSpPr>
          <p:cNvPr id="2" name="Rectangle 1"/>
          <p:cNvSpPr/>
          <p:nvPr/>
        </p:nvSpPr>
        <p:spPr>
          <a:xfrm>
            <a:off x="-838200" y="3657600"/>
            <a:ext cx="9005176" cy="2677656"/>
          </a:xfrm>
          <a:prstGeom prst="rect">
            <a:avLst/>
          </a:prstGeom>
        </p:spPr>
        <p:txBody>
          <a:bodyPr wrap="square">
            <a:spAutoFit/>
          </a:bodyPr>
          <a:lstStyle/>
          <a:p>
            <a:pPr lvl="4" algn="just" eaLnBrk="1" hangingPunct="1"/>
            <a:r>
              <a:rPr lang="en-US" sz="2400" b="1">
                <a:solidFill>
                  <a:srgbClr val="050579"/>
                </a:solidFill>
              </a:rPr>
              <a:t>Hệ nhận công thì toả nhiệt, hệ sinh công thì thu nhiệt.</a:t>
            </a:r>
          </a:p>
          <a:p>
            <a:pPr lvl="4" eaLnBrk="1" hangingPunct="1"/>
            <a:r>
              <a:rPr lang="en-US" sz="2400" b="1">
                <a:solidFill>
                  <a:srgbClr val="050579"/>
                </a:solidFill>
              </a:rPr>
              <a:t>Một động cơ muốn sinh công phải nhận nhiệt (tiêu thụ năng lượng), động cơ sinh công mãi mãi mà không cần cung cấp năng lượng gọi là động cơ vĩnh cửu loại một.</a:t>
            </a:r>
          </a:p>
          <a:p>
            <a:pPr lvl="4" eaLnBrk="1" hangingPunct="1"/>
            <a:r>
              <a:rPr lang="en-US" sz="2400" b="1">
                <a:solidFill>
                  <a:srgbClr val="050579"/>
                </a:solidFill>
              </a:rPr>
              <a:t>Không tồn tại động cơ vĩnh cửu loại 1</a:t>
            </a:r>
          </a:p>
        </p:txBody>
      </p:sp>
      <p:sp>
        <p:nvSpPr>
          <p:cNvPr id="4" name="Oval 3">
            <a:hlinkClick r:id="rId6" action="ppaction://hlinkfile"/>
          </p:cNvPr>
          <p:cNvSpPr/>
          <p:nvPr/>
        </p:nvSpPr>
        <p:spPr>
          <a:xfrm>
            <a:off x="6951260" y="5878056"/>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1447800" y="2151017"/>
            <a:ext cx="1524000" cy="60959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latin typeface="Times New Roman" pitchFamily="18" charset="0"/>
                <a:cs typeface="Times New Roman" pitchFamily="18" charset="0"/>
              </a:rPr>
              <a:t>Q = -A</a:t>
            </a:r>
          </a:p>
        </p:txBody>
      </p:sp>
      <p:sp>
        <p:nvSpPr>
          <p:cNvPr id="6" name="Footer Placeholder 5">
            <a:extLst>
              <a:ext uri="{FF2B5EF4-FFF2-40B4-BE49-F238E27FC236}">
                <a16:creationId xmlns:a16="http://schemas.microsoft.com/office/drawing/2014/main" id="{B7E100DF-ACFD-659B-EBEE-06339508D58E}"/>
              </a:ext>
            </a:extLst>
          </p:cNvPr>
          <p:cNvSpPr>
            <a:spLocks noGrp="1"/>
          </p:cNvSpPr>
          <p:nvPr>
            <p:ph type="ftr" sz="quarter" idx="11"/>
          </p:nvPr>
        </p:nvSpPr>
        <p:spPr/>
        <p:txBody>
          <a:bodyPr/>
          <a:lstStyle/>
          <a:p>
            <a:pPr>
              <a:defRPr/>
            </a:pPr>
            <a:r>
              <a:rPr lang="en-US"/>
              <a:t>Bùi Quốc Trung - VLDC</a:t>
            </a:r>
          </a:p>
        </p:txBody>
      </p:sp>
      <p:sp>
        <p:nvSpPr>
          <p:cNvPr id="7" name="Slide Number Placeholder 6">
            <a:extLst>
              <a:ext uri="{FF2B5EF4-FFF2-40B4-BE49-F238E27FC236}">
                <a16:creationId xmlns:a16="http://schemas.microsoft.com/office/drawing/2014/main" id="{96704301-97B2-B426-E2BF-66B8094D0E14}"/>
              </a:ext>
            </a:extLst>
          </p:cNvPr>
          <p:cNvSpPr>
            <a:spLocks noGrp="1"/>
          </p:cNvSpPr>
          <p:nvPr>
            <p:ph type="sldNum" sz="quarter" idx="12"/>
          </p:nvPr>
        </p:nvSpPr>
        <p:spPr/>
        <p:txBody>
          <a:bodyPr/>
          <a:lstStyle/>
          <a:p>
            <a:pPr>
              <a:defRPr/>
            </a:pPr>
            <a:fld id="{302BCF9B-0434-4B1A-8E11-20B3C6761B54}" type="slidenum">
              <a:rPr lang="en-US" smtClean="0"/>
              <a:pPr>
                <a:defRPr/>
              </a:pPr>
              <a:t>31</a:t>
            </a:fld>
            <a:endParaRPr lang="en-US"/>
          </a:p>
        </p:txBody>
      </p:sp>
    </p:spTree>
    <p:extLst>
      <p:ext uri="{BB962C8B-B14F-4D97-AF65-F5344CB8AC3E}">
        <p14:creationId xmlns:p14="http://schemas.microsoft.com/office/powerpoint/2010/main" val="789842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randombar(horizontal)">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4340"/>
                                        </p:tgtEl>
                                        <p:attrNameLst>
                                          <p:attrName>style.visibility</p:attrName>
                                        </p:attrNameLst>
                                      </p:cBhvr>
                                      <p:to>
                                        <p:strVal val="visible"/>
                                      </p:to>
                                    </p:set>
                                    <p:animEffect transition="in" filter="diamond(in)">
                                      <p:cBhvr>
                                        <p:cTn id="12" dur="2000"/>
                                        <p:tgtEl>
                                          <p:spTgt spid="143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checkerboard(across)">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14341"/>
                                        </p:tgtEl>
                                        <p:attrNameLst>
                                          <p:attrName>style.visibility</p:attrName>
                                        </p:attrNameLst>
                                      </p:cBhvr>
                                      <p:to>
                                        <p:strVal val="visible"/>
                                      </p:to>
                                    </p:set>
                                    <p:animEffect transition="in" filter="checkerboard(across)">
                                      <p:cBhvr>
                                        <p:cTn id="27" dur="500"/>
                                        <p:tgtEl>
                                          <p:spTgt spid="1434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14345"/>
                                        </p:tgtEl>
                                        <p:attrNameLst>
                                          <p:attrName>style.visibility</p:attrName>
                                        </p:attrNameLst>
                                      </p:cBhvr>
                                      <p:to>
                                        <p:strVal val="visible"/>
                                      </p:to>
                                    </p:set>
                                    <p:animEffect transition="in" filter="diamond(in)">
                                      <p:cBhvr>
                                        <p:cTn id="32" dur="2000"/>
                                        <p:tgtEl>
                                          <p:spTgt spid="14345"/>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barn(inVertical)">
                                      <p:cBhvr>
                                        <p:cTn id="4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p:bldP spid="14345" grpId="0"/>
      <p:bldP spid="17" grpId="0" animBg="1"/>
      <p:bldP spid="19" grpId="0" animBg="1"/>
      <p:bldP spid="2" grpId="0"/>
      <p:bldP spid="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6720" y="1569720"/>
            <a:ext cx="8131492" cy="523220"/>
          </a:xfrm>
          <a:prstGeom prst="rect">
            <a:avLst/>
          </a:prstGeom>
        </p:spPr>
        <p:txBody>
          <a:bodyPr wrap="square">
            <a:spAutoFit/>
          </a:bodyPr>
          <a:lstStyle/>
          <a:p>
            <a:r>
              <a:rPr lang="en-US" sz="2800" b="1" u="sng">
                <a:solidFill>
                  <a:srgbClr val="050579"/>
                </a:solidFill>
                <a:latin typeface="Times New Roman" pitchFamily="18" charset="0"/>
                <a:cs typeface="Times New Roman" pitchFamily="18" charset="0"/>
              </a:rPr>
              <a:t>Quá trình biến đổi đẳng tích </a:t>
            </a:r>
            <a:r>
              <a:rPr lang="en-US" sz="2800" b="1">
                <a:solidFill>
                  <a:srgbClr val="050579"/>
                </a:solidFill>
                <a:latin typeface="Times New Roman" pitchFamily="18" charset="0"/>
                <a:cs typeface="Times New Roman" pitchFamily="18" charset="0"/>
              </a:rPr>
              <a:t>(V=const)</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8" name="Rectangle 1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8" name="Rectangle 2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9" name="Object 18"/>
          <p:cNvGraphicFramePr>
            <a:graphicFrameLocks noChangeAspect="1"/>
          </p:cNvGraphicFramePr>
          <p:nvPr>
            <p:extLst>
              <p:ext uri="{D42A27DB-BD31-4B8C-83A1-F6EECF244321}">
                <p14:modId xmlns:p14="http://schemas.microsoft.com/office/powerpoint/2010/main" val="688618792"/>
              </p:ext>
            </p:extLst>
          </p:nvPr>
        </p:nvGraphicFramePr>
        <p:xfrm>
          <a:off x="1592263" y="3429000"/>
          <a:ext cx="4794250" cy="928688"/>
        </p:xfrm>
        <a:graphic>
          <a:graphicData uri="http://schemas.openxmlformats.org/presentationml/2006/ole">
            <mc:AlternateContent xmlns:mc="http://schemas.openxmlformats.org/markup-compatibility/2006">
              <mc:Choice xmlns:v="urn:schemas-microsoft-com:vml" Requires="v">
                <p:oleObj name="Equation" r:id="rId2" imgW="2006280" imgH="457200" progId="Equation.DSMT4">
                  <p:embed/>
                </p:oleObj>
              </mc:Choice>
              <mc:Fallback>
                <p:oleObj name="Equation" r:id="rId2" imgW="2006280" imgH="457200" progId="Equation.DSMT4">
                  <p:embed/>
                  <p:pic>
                    <p:nvPicPr>
                      <p:cNvPr id="0" name=""/>
                      <p:cNvPicPr>
                        <a:picLocks noChangeAspect="1" noChangeArrowheads="1"/>
                      </p:cNvPicPr>
                      <p:nvPr/>
                    </p:nvPicPr>
                    <p:blipFill>
                      <a:blip r:embed="rId3"/>
                      <a:srcRect/>
                      <a:stretch>
                        <a:fillRect/>
                      </a:stretch>
                    </p:blipFill>
                    <p:spPr bwMode="auto">
                      <a:xfrm>
                        <a:off x="1592263" y="3429000"/>
                        <a:ext cx="4794250" cy="928688"/>
                      </a:xfrm>
                      <a:prstGeom prst="rect">
                        <a:avLst/>
                      </a:prstGeom>
                      <a:noFill/>
                    </p:spPr>
                  </p:pic>
                </p:oleObj>
              </mc:Fallback>
            </mc:AlternateContent>
          </a:graphicData>
        </a:graphic>
      </p:graphicFrame>
      <p:sp>
        <p:nvSpPr>
          <p:cNvPr id="30" name="Right Arrow 29"/>
          <p:cNvSpPr/>
          <p:nvPr/>
        </p:nvSpPr>
        <p:spPr>
          <a:xfrm>
            <a:off x="1143000" y="3720152"/>
            <a:ext cx="259080" cy="228600"/>
          </a:xfrm>
          <a:prstGeom prst="rightArrow">
            <a:avLst/>
          </a:prstGeom>
          <a:solidFill>
            <a:srgbClr val="90F828"/>
          </a:solidFill>
          <a:ln>
            <a:solidFill>
              <a:srgbClr val="1E22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800">
              <a:solidFill>
                <a:srgbClr val="0070C0"/>
              </a:solidFill>
              <a:latin typeface="Times New Roman" pitchFamily="18" charset="0"/>
              <a:cs typeface="Times New Roman" pitchFamily="18" charset="0"/>
            </a:endParaRPr>
          </a:p>
        </p:txBody>
      </p:sp>
      <p:sp>
        <p:nvSpPr>
          <p:cNvPr id="20" name="Rectangle 19"/>
          <p:cNvSpPr/>
          <p:nvPr/>
        </p:nvSpPr>
        <p:spPr>
          <a:xfrm>
            <a:off x="526690" y="4826006"/>
            <a:ext cx="4273910" cy="523220"/>
          </a:xfrm>
          <a:prstGeom prst="rect">
            <a:avLst/>
          </a:prstGeom>
        </p:spPr>
        <p:txBody>
          <a:bodyPr wrap="square">
            <a:spAutoFit/>
          </a:bodyPr>
          <a:lstStyle/>
          <a:p>
            <a:r>
              <a:rPr lang="en-US" sz="2800" b="1">
                <a:solidFill>
                  <a:srgbClr val="050579"/>
                </a:solidFill>
                <a:latin typeface="Times New Roman" pitchFamily="18" charset="0"/>
                <a:cs typeface="Times New Roman" pitchFamily="18" charset="0"/>
              </a:rPr>
              <a:t>Nhiệt dung mol đẳng tích:</a:t>
            </a:r>
          </a:p>
        </p:txBody>
      </p:sp>
      <p:graphicFrame>
        <p:nvGraphicFramePr>
          <p:cNvPr id="23" name="Object 22"/>
          <p:cNvGraphicFramePr>
            <a:graphicFrameLocks noChangeAspect="1"/>
          </p:cNvGraphicFramePr>
          <p:nvPr>
            <p:extLst>
              <p:ext uri="{D42A27DB-BD31-4B8C-83A1-F6EECF244321}">
                <p14:modId xmlns:p14="http://schemas.microsoft.com/office/powerpoint/2010/main" val="2240851974"/>
              </p:ext>
            </p:extLst>
          </p:nvPr>
        </p:nvGraphicFramePr>
        <p:xfrm>
          <a:off x="4693936" y="4584703"/>
          <a:ext cx="1550988" cy="995362"/>
        </p:xfrm>
        <a:graphic>
          <a:graphicData uri="http://schemas.openxmlformats.org/presentationml/2006/ole">
            <mc:AlternateContent xmlns:mc="http://schemas.openxmlformats.org/markup-compatibility/2006">
              <mc:Choice xmlns:v="urn:schemas-microsoft-com:vml" Requires="v">
                <p:oleObj name="Equation" r:id="rId4" imgW="660240" imgH="431640" progId="Equation.DSMT4">
                  <p:embed/>
                </p:oleObj>
              </mc:Choice>
              <mc:Fallback>
                <p:oleObj name="Equation" r:id="rId4" imgW="660240" imgH="431640" progId="Equation.DSMT4">
                  <p:embed/>
                  <p:pic>
                    <p:nvPicPr>
                      <p:cNvPr id="0" name=""/>
                      <p:cNvPicPr>
                        <a:picLocks noChangeAspect="1" noChangeArrowheads="1"/>
                      </p:cNvPicPr>
                      <p:nvPr/>
                    </p:nvPicPr>
                    <p:blipFill>
                      <a:blip r:embed="rId5"/>
                      <a:srcRect/>
                      <a:stretch>
                        <a:fillRect/>
                      </a:stretch>
                    </p:blipFill>
                    <p:spPr bwMode="auto">
                      <a:xfrm>
                        <a:off x="4693936" y="4584703"/>
                        <a:ext cx="1550988" cy="995362"/>
                      </a:xfrm>
                      <a:prstGeom prst="rect">
                        <a:avLst/>
                      </a:prstGeom>
                      <a:noFill/>
                    </p:spPr>
                  </p:pic>
                </p:oleObj>
              </mc:Fallback>
            </mc:AlternateContent>
          </a:graphicData>
        </a:graphic>
      </p:graphicFrame>
      <p:sp>
        <p:nvSpPr>
          <p:cNvPr id="25" name="Rounded Rectangle 24"/>
          <p:cNvSpPr>
            <a:spLocks noChangeArrowheads="1"/>
          </p:cNvSpPr>
          <p:nvPr/>
        </p:nvSpPr>
        <p:spPr bwMode="auto">
          <a:xfrm>
            <a:off x="4610101" y="4484088"/>
            <a:ext cx="1757060" cy="1207056"/>
          </a:xfrm>
          <a:prstGeom prst="roundRect">
            <a:avLst>
              <a:gd name="adj" fmla="val 16667"/>
            </a:avLst>
          </a:prstGeom>
          <a:noFill/>
          <a:ln w="38100" algn="ctr">
            <a:solidFill>
              <a:srgbClr val="FF0000"/>
            </a:solidFill>
            <a:round/>
            <a:headEnd/>
            <a:tailEnd/>
          </a:ln>
          <a:effectLst>
            <a:glow rad="139700">
              <a:schemeClr val="accent2">
                <a:satMod val="175000"/>
                <a:alpha val="40000"/>
              </a:schemeClr>
            </a:glow>
            <a:outerShdw dist="38100" algn="l" rotWithShape="0">
              <a:srgbClr val="000000">
                <a:alpha val="39999"/>
              </a:srgbClr>
            </a:outerShdw>
          </a:effectLst>
        </p:spPr>
        <p:txBody>
          <a:bodyPr anchor="ctr"/>
          <a:lstStyle/>
          <a:p>
            <a:pPr algn="ctr">
              <a:defRPr/>
            </a:pPr>
            <a:endParaRPr lang="vi-VN" sz="2400">
              <a:solidFill>
                <a:schemeClr val="lt1"/>
              </a:solidFill>
              <a:latin typeface="Times New Roman" pitchFamily="18" charset="0"/>
              <a:cs typeface="Times New Roman" pitchFamily="18" charset="0"/>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858219215"/>
              </p:ext>
            </p:extLst>
          </p:nvPr>
        </p:nvGraphicFramePr>
        <p:xfrm>
          <a:off x="1772466" y="2092940"/>
          <a:ext cx="2570934" cy="1259860"/>
        </p:xfrm>
        <a:graphic>
          <a:graphicData uri="http://schemas.openxmlformats.org/presentationml/2006/ole">
            <mc:AlternateContent xmlns:mc="http://schemas.openxmlformats.org/markup-compatibility/2006">
              <mc:Choice xmlns:v="urn:schemas-microsoft-com:vml" Requires="v">
                <p:oleObj name="Equation" r:id="rId6" imgW="1155600" imgH="622080" progId="Equation.DSMT4">
                  <p:embed/>
                </p:oleObj>
              </mc:Choice>
              <mc:Fallback>
                <p:oleObj name="Equation" r:id="rId6" imgW="1155600" imgH="622080" progId="Equation.DSMT4">
                  <p:embed/>
                  <p:pic>
                    <p:nvPicPr>
                      <p:cNvPr id="0" name=""/>
                      <p:cNvPicPr>
                        <a:picLocks noChangeAspect="1" noChangeArrowheads="1"/>
                      </p:cNvPicPr>
                      <p:nvPr/>
                    </p:nvPicPr>
                    <p:blipFill>
                      <a:blip r:embed="rId7"/>
                      <a:srcRect/>
                      <a:stretch>
                        <a:fillRect/>
                      </a:stretch>
                    </p:blipFill>
                    <p:spPr bwMode="auto">
                      <a:xfrm>
                        <a:off x="1772466" y="2092940"/>
                        <a:ext cx="2570934" cy="1259860"/>
                      </a:xfrm>
                      <a:prstGeom prst="rect">
                        <a:avLst/>
                      </a:prstGeom>
                      <a:noFill/>
                      <a:ln>
                        <a:noFill/>
                      </a:ln>
                    </p:spPr>
                  </p:pic>
                </p:oleObj>
              </mc:Fallback>
            </mc:AlternateContent>
          </a:graphicData>
        </a:graphic>
      </p:graphicFrame>
      <p:grpSp>
        <p:nvGrpSpPr>
          <p:cNvPr id="26" name="Group 18"/>
          <p:cNvGrpSpPr>
            <a:grpSpLocks/>
          </p:cNvGrpSpPr>
          <p:nvPr/>
        </p:nvGrpSpPr>
        <p:grpSpPr bwMode="auto">
          <a:xfrm>
            <a:off x="1828801" y="0"/>
            <a:ext cx="5562600" cy="889000"/>
            <a:chOff x="1858" y="1392"/>
            <a:chExt cx="3821" cy="560"/>
          </a:xfrm>
        </p:grpSpPr>
        <p:pic>
          <p:nvPicPr>
            <p:cNvPr id="27" name="Picture 24" descr="PPP_CSHAP_CLP_Sleek_Silver">
              <a:hlinkClick r:id="" action="ppaction://hlinkshowjump?jump=nextslide" highlightClick="1"/>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58" y="1392"/>
              <a:ext cx="3821"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Text Box 14"/>
            <p:cNvSpPr txBox="1">
              <a:spLocks noChangeArrowheads="1"/>
            </p:cNvSpPr>
            <p:nvPr/>
          </p:nvSpPr>
          <p:spPr bwMode="auto">
            <a:xfrm>
              <a:off x="2662" y="1510"/>
              <a:ext cx="2200"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wrap="none">
              <a:spAutoFit/>
            </a:bodyPr>
            <a:lstStyle/>
            <a:p>
              <a:pPr algn="just" fontAlgn="auto">
                <a:spcBef>
                  <a:spcPts val="600"/>
                </a:spcBef>
                <a:spcAft>
                  <a:spcPts val="600"/>
                </a:spcAft>
                <a:defRPr/>
              </a:pPr>
              <a:r>
                <a:rPr lang="en-US" sz="2400" b="1" i="1" dirty="0">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400" b="1" dirty="0">
                  <a:solidFill>
                    <a:srgbClr val="C0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Ứng</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dụng</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nguyên</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lý</a:t>
              </a:r>
              <a:r>
                <a:rPr lang="en-US" sz="2400" b="1" dirty="0">
                  <a:solidFill>
                    <a:srgbClr val="FF0000"/>
                  </a:solidFill>
                  <a:latin typeface="Times New Roman" pitchFamily="18" charset="0"/>
                  <a:cs typeface="Times New Roman" pitchFamily="18" charset="0"/>
                </a:rPr>
                <a:t> I</a:t>
              </a:r>
            </a:p>
          </p:txBody>
        </p:sp>
      </p:grpSp>
      <p:sp>
        <p:nvSpPr>
          <p:cNvPr id="9" name="Footer Placeholder 8">
            <a:extLst>
              <a:ext uri="{FF2B5EF4-FFF2-40B4-BE49-F238E27FC236}">
                <a16:creationId xmlns:a16="http://schemas.microsoft.com/office/drawing/2014/main" id="{8F3F5815-215B-EDF2-4C46-D7EDAE9B5631}"/>
              </a:ext>
            </a:extLst>
          </p:cNvPr>
          <p:cNvSpPr>
            <a:spLocks noGrp="1"/>
          </p:cNvSpPr>
          <p:nvPr>
            <p:ph type="ftr" sz="quarter" idx="11"/>
          </p:nvPr>
        </p:nvSpPr>
        <p:spPr/>
        <p:txBody>
          <a:bodyPr/>
          <a:lstStyle/>
          <a:p>
            <a:r>
              <a:rPr lang="en-US"/>
              <a:t>Bùi Quốc Trung - VLDC</a:t>
            </a:r>
          </a:p>
        </p:txBody>
      </p:sp>
      <p:sp>
        <p:nvSpPr>
          <p:cNvPr id="10" name="Slide Number Placeholder 9">
            <a:extLst>
              <a:ext uri="{FF2B5EF4-FFF2-40B4-BE49-F238E27FC236}">
                <a16:creationId xmlns:a16="http://schemas.microsoft.com/office/drawing/2014/main" id="{ECA164EA-D98E-15F1-FAE6-95A1D60BD7F5}"/>
              </a:ext>
            </a:extLst>
          </p:cNvPr>
          <p:cNvSpPr>
            <a:spLocks noGrp="1"/>
          </p:cNvSpPr>
          <p:nvPr>
            <p:ph type="sldNum" sz="quarter" idx="12"/>
          </p:nvPr>
        </p:nvSpPr>
        <p:spPr/>
        <p:txBody>
          <a:bodyPr/>
          <a:lstStyle/>
          <a:p>
            <a:fld id="{0C173468-4CCE-478A-9725-791AF0DB04F2}" type="slidenum">
              <a:rPr lang="en-US" smtClean="0"/>
              <a:t>32</a:t>
            </a:fld>
            <a:endParaRPr lang="en-US"/>
          </a:p>
        </p:txBody>
      </p:sp>
    </p:spTree>
    <p:extLst>
      <p:ext uri="{BB962C8B-B14F-4D97-AF65-F5344CB8AC3E}">
        <p14:creationId xmlns:p14="http://schemas.microsoft.com/office/powerpoint/2010/main" val="1657176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dissolve">
                                      <p:cBhvr>
                                        <p:cTn id="12" dur="500"/>
                                        <p:tgtEl>
                                          <p:spTgt spid="30"/>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childTnLst>
                          </p:cTn>
                        </p:par>
                        <p:par>
                          <p:cTn id="26" fill="hold">
                            <p:stCondLst>
                              <p:cond delay="1000"/>
                            </p:stCondLst>
                            <p:childTnLst>
                              <p:par>
                                <p:cTn id="27" presetID="22" presetClass="entr" presetSubtype="1" fill="hold" nodeType="after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wipe(up)">
                                      <p:cBhvr>
                                        <p:cTn id="29" dur="1000"/>
                                        <p:tgtEl>
                                          <p:spTgt spid="25"/>
                                        </p:tgtEl>
                                      </p:cBhvr>
                                    </p:animEffect>
                                  </p:childTnLst>
                                </p:cTn>
                              </p:par>
                            </p:childTnLst>
                          </p:cTn>
                        </p:par>
                        <p:par>
                          <p:cTn id="30" fill="hold">
                            <p:stCondLst>
                              <p:cond delay="2000"/>
                            </p:stCondLst>
                            <p:childTnLst>
                              <p:par>
                                <p:cTn id="31" presetID="10" presetClass="entr" presetSubtype="0" fill="hold" nodeType="after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childTnLst>
                          </p:cTn>
                        </p:par>
                        <p:par>
                          <p:cTn id="34" fill="hold">
                            <p:stCondLst>
                              <p:cond delay="2500"/>
                            </p:stCondLst>
                            <p:childTnLst>
                              <p:par>
                                <p:cTn id="35" presetID="9" presetClass="entr" presetSubtype="0" fill="hold" nodeType="after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dissolve">
                                      <p:cBhvr>
                                        <p:cTn id="37"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0" grpId="0" animBg="1"/>
      <p:bldP spid="2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6720" y="1569720"/>
            <a:ext cx="8131492" cy="523220"/>
          </a:xfrm>
          <a:prstGeom prst="rect">
            <a:avLst/>
          </a:prstGeom>
        </p:spPr>
        <p:txBody>
          <a:bodyPr wrap="square">
            <a:spAutoFit/>
          </a:bodyPr>
          <a:lstStyle/>
          <a:p>
            <a:r>
              <a:rPr lang="en-US" sz="2800" b="1" u="sng">
                <a:solidFill>
                  <a:srgbClr val="050579"/>
                </a:solidFill>
                <a:latin typeface="Times New Roman" pitchFamily="18" charset="0"/>
                <a:cs typeface="Times New Roman" pitchFamily="18" charset="0"/>
              </a:rPr>
              <a:t>Quá trình biến đổi đẳng áp </a:t>
            </a:r>
            <a:r>
              <a:rPr lang="en-US" sz="2800" b="1">
                <a:solidFill>
                  <a:srgbClr val="050579"/>
                </a:solidFill>
                <a:latin typeface="Times New Roman" pitchFamily="18" charset="0"/>
                <a:cs typeface="Times New Roman" pitchFamily="18" charset="0"/>
              </a:rPr>
              <a:t>(p=const):</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8" name="Rectangle 1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8" name="Rectangle 2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0" name="Object 19"/>
          <p:cNvGraphicFramePr>
            <a:graphicFrameLocks noChangeAspect="1"/>
          </p:cNvGraphicFramePr>
          <p:nvPr>
            <p:extLst>
              <p:ext uri="{D42A27DB-BD31-4B8C-83A1-F6EECF244321}">
                <p14:modId xmlns:p14="http://schemas.microsoft.com/office/powerpoint/2010/main" val="2830030951"/>
              </p:ext>
            </p:extLst>
          </p:nvPr>
        </p:nvGraphicFramePr>
        <p:xfrm>
          <a:off x="1561306" y="2092940"/>
          <a:ext cx="6021388" cy="1409700"/>
        </p:xfrm>
        <a:graphic>
          <a:graphicData uri="http://schemas.openxmlformats.org/presentationml/2006/ole">
            <mc:AlternateContent xmlns:mc="http://schemas.openxmlformats.org/markup-compatibility/2006">
              <mc:Choice xmlns:v="urn:schemas-microsoft-com:vml" Requires="v">
                <p:oleObj name="Equation" r:id="rId2" imgW="2641320" imgH="622080" progId="Equation.DSMT4">
                  <p:embed/>
                </p:oleObj>
              </mc:Choice>
              <mc:Fallback>
                <p:oleObj name="Equation" r:id="rId2" imgW="2641320" imgH="622080" progId="Equation.DSMT4">
                  <p:embed/>
                  <p:pic>
                    <p:nvPicPr>
                      <p:cNvPr id="0" name=""/>
                      <p:cNvPicPr>
                        <a:picLocks noChangeAspect="1" noChangeArrowheads="1"/>
                      </p:cNvPicPr>
                      <p:nvPr/>
                    </p:nvPicPr>
                    <p:blipFill>
                      <a:blip r:embed="rId3"/>
                      <a:srcRect/>
                      <a:stretch>
                        <a:fillRect/>
                      </a:stretch>
                    </p:blipFill>
                    <p:spPr bwMode="auto">
                      <a:xfrm>
                        <a:off x="1561306" y="2092940"/>
                        <a:ext cx="6021388" cy="1409700"/>
                      </a:xfrm>
                      <a:prstGeom prst="rect">
                        <a:avLst/>
                      </a:prstGeom>
                      <a:noFill/>
                    </p:spPr>
                  </p:pic>
                </p:oleObj>
              </mc:Fallback>
            </mc:AlternateContent>
          </a:graphicData>
        </a:graphic>
      </p:graphicFrame>
      <p:sp>
        <p:nvSpPr>
          <p:cNvPr id="22"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5" name="Rectangle 24"/>
          <p:cNvSpPr/>
          <p:nvPr/>
        </p:nvSpPr>
        <p:spPr>
          <a:xfrm>
            <a:off x="559594" y="4763544"/>
            <a:ext cx="5583170" cy="523220"/>
          </a:xfrm>
          <a:prstGeom prst="rect">
            <a:avLst/>
          </a:prstGeom>
        </p:spPr>
        <p:txBody>
          <a:bodyPr wrap="square">
            <a:spAutoFit/>
          </a:bodyPr>
          <a:lstStyle/>
          <a:p>
            <a:r>
              <a:rPr lang="en-US" sz="2800" b="1">
                <a:solidFill>
                  <a:srgbClr val="050579"/>
                </a:solidFill>
                <a:latin typeface="Times New Roman" pitchFamily="18" charset="0"/>
                <a:cs typeface="Times New Roman" pitchFamily="18" charset="0"/>
              </a:rPr>
              <a:t>Nhiệt dung mol đẳng áp:</a:t>
            </a:r>
          </a:p>
        </p:txBody>
      </p:sp>
      <p:sp>
        <p:nvSpPr>
          <p:cNvPr id="31" name="Rectangle 30"/>
          <p:cNvSpPr/>
          <p:nvPr/>
        </p:nvSpPr>
        <p:spPr>
          <a:xfrm>
            <a:off x="609600" y="5715000"/>
            <a:ext cx="3120866" cy="523220"/>
          </a:xfrm>
          <a:prstGeom prst="rect">
            <a:avLst/>
          </a:prstGeom>
        </p:spPr>
        <p:txBody>
          <a:bodyPr wrap="square">
            <a:spAutoFit/>
          </a:bodyPr>
          <a:lstStyle/>
          <a:p>
            <a:r>
              <a:rPr lang="en-US" sz="2800" b="1">
                <a:solidFill>
                  <a:srgbClr val="050579"/>
                </a:solidFill>
                <a:latin typeface="Times New Roman" pitchFamily="18" charset="0"/>
                <a:cs typeface="Times New Roman" pitchFamily="18" charset="0"/>
              </a:rPr>
              <a:t>Hệ thức Mayer</a:t>
            </a:r>
          </a:p>
        </p:txBody>
      </p:sp>
      <p:grpSp>
        <p:nvGrpSpPr>
          <p:cNvPr id="34" name="Group 18"/>
          <p:cNvGrpSpPr>
            <a:grpSpLocks/>
          </p:cNvGrpSpPr>
          <p:nvPr/>
        </p:nvGrpSpPr>
        <p:grpSpPr bwMode="auto">
          <a:xfrm>
            <a:off x="1828801" y="0"/>
            <a:ext cx="5562600" cy="889000"/>
            <a:chOff x="1858" y="1392"/>
            <a:chExt cx="3821" cy="560"/>
          </a:xfrm>
        </p:grpSpPr>
        <p:pic>
          <p:nvPicPr>
            <p:cNvPr id="35" name="Picture 24" descr="PPP_CSHAP_CLP_Sleek_Silver">
              <a:hlinkClick r:id="" action="ppaction://hlinkshowjump?jump=nextslide" highlightClick="1"/>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8" y="1392"/>
              <a:ext cx="3821"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Text Box 14"/>
            <p:cNvSpPr txBox="1">
              <a:spLocks noChangeArrowheads="1"/>
            </p:cNvSpPr>
            <p:nvPr/>
          </p:nvSpPr>
          <p:spPr bwMode="auto">
            <a:xfrm>
              <a:off x="2451" y="1510"/>
              <a:ext cx="2623"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wrap="none">
              <a:spAutoFit/>
            </a:bodyPr>
            <a:lstStyle/>
            <a:p>
              <a:pPr algn="just" fontAlgn="auto">
                <a:spcBef>
                  <a:spcPts val="600"/>
                </a:spcBef>
                <a:spcAft>
                  <a:spcPts val="600"/>
                </a:spcAft>
                <a:defRPr/>
              </a:pPr>
              <a:r>
                <a:rPr lang="en-US" sz="2400" b="1" i="1">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400" b="1">
                  <a:solidFill>
                    <a:srgbClr val="050579"/>
                  </a:solidFill>
                  <a:latin typeface="Times New Roman" pitchFamily="18" charset="0"/>
                  <a:cs typeface="Times New Roman" pitchFamily="18" charset="0"/>
                </a:rPr>
                <a:t>6.1.3</a:t>
              </a:r>
              <a:r>
                <a:rPr lang="en-US" sz="2400" b="1">
                  <a:solidFill>
                    <a:srgbClr val="C00000"/>
                  </a:solidFill>
                  <a:latin typeface="Times New Roman" pitchFamily="18" charset="0"/>
                  <a:cs typeface="Times New Roman" pitchFamily="18" charset="0"/>
                </a:rPr>
                <a:t> </a:t>
              </a:r>
              <a:r>
                <a:rPr lang="en-US" sz="2400" b="1">
                  <a:solidFill>
                    <a:srgbClr val="FF0000"/>
                  </a:solidFill>
                  <a:latin typeface="Times New Roman" pitchFamily="18" charset="0"/>
                  <a:cs typeface="Times New Roman" pitchFamily="18" charset="0"/>
                </a:rPr>
                <a:t>Ứng dụng nguyên lý I</a:t>
              </a:r>
            </a:p>
          </p:txBody>
        </p:sp>
      </p:grpSp>
      <mc:AlternateContent xmlns:mc="http://schemas.openxmlformats.org/markup-compatibility/2006" xmlns:a14="http://schemas.microsoft.com/office/drawing/2010/main">
        <mc:Choice Requires="a14">
          <p:sp>
            <p:nvSpPr>
              <p:cNvPr id="10" name="Rectangle 9"/>
              <p:cNvSpPr/>
              <p:nvPr/>
            </p:nvSpPr>
            <p:spPr>
              <a:xfrm>
                <a:off x="1828800" y="3437224"/>
                <a:ext cx="6400800" cy="9144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Q = </a:t>
                </a:r>
                <a14:m>
                  <m:oMath xmlns:m="http://schemas.openxmlformats.org/officeDocument/2006/math">
                    <m:r>
                      <a:rPr lang="en-US" i="1" smtClean="0">
                        <a:latin typeface="Cambria Math"/>
                        <a:ea typeface="Cambria Math"/>
                      </a:rPr>
                      <m:t>∆</m:t>
                    </m:r>
                    <m:r>
                      <a:rPr lang="en-US" b="0" i="1" smtClean="0">
                        <a:latin typeface="Cambria Math"/>
                        <a:ea typeface="Cambria Math"/>
                      </a:rPr>
                      <m:t>𝑈</m:t>
                    </m:r>
                    <m:r>
                      <a:rPr lang="en-US" b="0" i="1" smtClean="0">
                        <a:latin typeface="Cambria Math"/>
                        <a:ea typeface="Cambria Math"/>
                      </a:rPr>
                      <m:t> −</m:t>
                    </m:r>
                    <m:r>
                      <a:rPr lang="en-US" b="0" i="1" smtClean="0">
                        <a:latin typeface="Cambria Math"/>
                        <a:ea typeface="Cambria Math"/>
                      </a:rPr>
                      <m:t>𝐴</m:t>
                    </m:r>
                    <m:r>
                      <a:rPr lang="en-US" b="0" i="1" smtClean="0">
                        <a:latin typeface="Cambria Math"/>
                        <a:ea typeface="Cambria Math"/>
                      </a:rPr>
                      <m:t>= </m:t>
                    </m:r>
                    <m:f>
                      <m:fPr>
                        <m:ctrlPr>
                          <a:rPr lang="en-US" b="0" i="1" smtClean="0">
                            <a:latin typeface="Cambria Math" panose="02040503050406030204" pitchFamily="18" charset="0"/>
                            <a:ea typeface="Cambria Math"/>
                          </a:rPr>
                        </m:ctrlPr>
                      </m:fPr>
                      <m:num>
                        <m:r>
                          <a:rPr lang="en-US" b="0" i="1" smtClean="0">
                            <a:latin typeface="Cambria Math"/>
                            <a:ea typeface="Cambria Math"/>
                          </a:rPr>
                          <m:t>𝑚</m:t>
                        </m:r>
                      </m:num>
                      <m:den>
                        <m:r>
                          <a:rPr lang="en-US" b="0" i="1" smtClean="0">
                            <a:latin typeface="Cambria Math"/>
                            <a:ea typeface="Cambria Math"/>
                          </a:rPr>
                          <m:t>𝜇</m:t>
                        </m:r>
                      </m:den>
                    </m:f>
                  </m:oMath>
                </a14:m>
                <a:r>
                  <a:rPr lang="en-US" dirty="0"/>
                  <a:t>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a:rPr>
                          <m:t>𝑖</m:t>
                        </m:r>
                      </m:num>
                      <m:den>
                        <m:r>
                          <a:rPr lang="en-US" b="0" i="1" smtClean="0">
                            <a:latin typeface="Cambria Math"/>
                          </a:rPr>
                          <m:t>2</m:t>
                        </m:r>
                      </m:den>
                    </m:f>
                    <m:r>
                      <a:rPr lang="en-US" b="0" i="1" smtClean="0">
                        <a:latin typeface="Cambria Math"/>
                      </a:rPr>
                      <m:t>+1</m:t>
                    </m:r>
                  </m:oMath>
                </a14:m>
                <a:r>
                  <a:rPr lang="en-US" dirty="0"/>
                  <a:t>)R.</a:t>
                </a:r>
                <a14:m>
                  <m:oMath xmlns:m="http://schemas.openxmlformats.org/officeDocument/2006/math">
                    <m:r>
                      <a:rPr lang="en-US" i="1" smtClean="0">
                        <a:latin typeface="Cambria Math"/>
                        <a:ea typeface="Cambria Math"/>
                      </a:rPr>
                      <m:t>∆</m:t>
                    </m:r>
                    <m:r>
                      <a:rPr lang="en-US" b="0" i="1" smtClean="0">
                        <a:latin typeface="Cambria Math"/>
                        <a:ea typeface="Cambria Math"/>
                      </a:rPr>
                      <m:t>𝑇</m:t>
                    </m:r>
                    <m:r>
                      <a:rPr lang="en-US" b="0" i="1" smtClean="0">
                        <a:latin typeface="Cambria Math"/>
                        <a:ea typeface="Cambria Math"/>
                      </a:rPr>
                      <m:t>=</m:t>
                    </m:r>
                  </m:oMath>
                </a14:m>
                <a:endParaRPr lang="en-US" dirty="0"/>
              </a:p>
            </p:txBody>
          </p:sp>
        </mc:Choice>
        <mc:Fallback xmlns="">
          <p:sp>
            <p:nvSpPr>
              <p:cNvPr id="10" name="Rectangle 9"/>
              <p:cNvSpPr>
                <a:spLocks noRot="1" noChangeAspect="1" noMove="1" noResize="1" noEditPoints="1" noAdjustHandles="1" noChangeArrowheads="1" noChangeShapeType="1" noTextEdit="1"/>
              </p:cNvSpPr>
              <p:nvPr/>
            </p:nvSpPr>
            <p:spPr>
              <a:xfrm>
                <a:off x="1828800" y="3437224"/>
                <a:ext cx="6400800" cy="914400"/>
              </a:xfrm>
              <a:prstGeom prst="rect">
                <a:avLst/>
              </a:prstGeom>
              <a:blipFill rotWithShape="1">
                <a:blip r:embed="rId6"/>
                <a:stretch>
                  <a:fillRect/>
                </a:stretch>
              </a:blipFill>
            </p:spPr>
            <p:txBody>
              <a:bodyPr/>
              <a:lstStyle/>
              <a:p>
                <a:r>
                  <a:rPr lang="en-US">
                    <a:noFill/>
                  </a:rPr>
                  <a:t> </a:t>
                </a:r>
              </a:p>
            </p:txBody>
          </p:sp>
        </mc:Fallback>
      </mc:AlternateContent>
      <p:graphicFrame>
        <p:nvGraphicFramePr>
          <p:cNvPr id="11" name="Object 10"/>
          <p:cNvGraphicFramePr>
            <a:graphicFrameLocks noChangeAspect="1"/>
          </p:cNvGraphicFramePr>
          <p:nvPr>
            <p:extLst>
              <p:ext uri="{D42A27DB-BD31-4B8C-83A1-F6EECF244321}">
                <p14:modId xmlns:p14="http://schemas.microsoft.com/office/powerpoint/2010/main" val="2641603674"/>
              </p:ext>
            </p:extLst>
          </p:nvPr>
        </p:nvGraphicFramePr>
        <p:xfrm>
          <a:off x="6743701" y="3406267"/>
          <a:ext cx="1295400" cy="976313"/>
        </p:xfrm>
        <a:graphic>
          <a:graphicData uri="http://schemas.openxmlformats.org/presentationml/2006/ole">
            <mc:AlternateContent xmlns:mc="http://schemas.openxmlformats.org/markup-compatibility/2006">
              <mc:Choice xmlns:v="urn:schemas-microsoft-com:vml" Requires="v">
                <p:oleObj name="Equation" r:id="rId7" imgW="558800" imgH="419100" progId="Equation.DSMT4">
                  <p:embed/>
                </p:oleObj>
              </mc:Choice>
              <mc:Fallback>
                <p:oleObj name="Equation" r:id="rId7" imgW="558800" imgH="41910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43701" y="3406267"/>
                        <a:ext cx="1295400" cy="97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12" name="Rectangle 11"/>
              <p:cNvSpPr/>
              <p:nvPr/>
            </p:nvSpPr>
            <p:spPr>
              <a:xfrm>
                <a:off x="5153207" y="4567954"/>
                <a:ext cx="2238193"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𝐶</m:t>
                        </m:r>
                      </m:e>
                      <m:sub>
                        <m:r>
                          <a:rPr lang="en-US" b="0" i="1" smtClean="0">
                            <a:latin typeface="Cambria Math"/>
                          </a:rPr>
                          <m:t>𝑝</m:t>
                        </m:r>
                      </m:sub>
                    </m:sSub>
                  </m:oMath>
                </a14:m>
                <a:r>
                  <a:rPr lang="en-US" dirty="0"/>
                  <a:t> = (</a:t>
                </a:r>
                <a14:m>
                  <m:oMath xmlns:m="http://schemas.openxmlformats.org/officeDocument/2006/math">
                    <m:f>
                      <m:fPr>
                        <m:ctrlPr>
                          <a:rPr lang="en-US" i="1">
                            <a:latin typeface="Cambria Math" panose="02040503050406030204" pitchFamily="18" charset="0"/>
                          </a:rPr>
                        </m:ctrlPr>
                      </m:fPr>
                      <m:num>
                        <m:r>
                          <a:rPr lang="en-US" i="1">
                            <a:latin typeface="Cambria Math"/>
                          </a:rPr>
                          <m:t>𝑖</m:t>
                        </m:r>
                      </m:num>
                      <m:den>
                        <m:r>
                          <a:rPr lang="en-US" i="1">
                            <a:latin typeface="Cambria Math"/>
                          </a:rPr>
                          <m:t>2</m:t>
                        </m:r>
                      </m:den>
                    </m:f>
                    <m:r>
                      <a:rPr lang="en-US" i="1">
                        <a:latin typeface="Cambria Math"/>
                      </a:rPr>
                      <m:t>+1</m:t>
                    </m:r>
                  </m:oMath>
                </a14:m>
                <a:r>
                  <a:rPr lang="en-US" dirty="0"/>
                  <a:t>)R </a:t>
                </a:r>
              </a:p>
            </p:txBody>
          </p:sp>
        </mc:Choice>
        <mc:Fallback xmlns="">
          <p:sp>
            <p:nvSpPr>
              <p:cNvPr id="12" name="Rectangle 11"/>
              <p:cNvSpPr>
                <a:spLocks noRot="1" noChangeAspect="1" noMove="1" noResize="1" noEditPoints="1" noAdjustHandles="1" noChangeArrowheads="1" noChangeShapeType="1" noTextEdit="1"/>
              </p:cNvSpPr>
              <p:nvPr/>
            </p:nvSpPr>
            <p:spPr>
              <a:xfrm>
                <a:off x="5153207" y="4567954"/>
                <a:ext cx="2238193" cy="914400"/>
              </a:xfrm>
              <a:prstGeom prst="rect">
                <a:avLst/>
              </a:prstGeom>
              <a:blipFill rotWithShape="1">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3351179" y="5715000"/>
                <a:ext cx="2060734" cy="9144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t>R =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𝐶</m:t>
                        </m:r>
                      </m:e>
                      <m:sub>
                        <m:r>
                          <a:rPr lang="en-US" b="0" i="1" smtClean="0">
                            <a:latin typeface="Cambria Math"/>
                          </a:rPr>
                          <m:t>𝑝</m:t>
                        </m:r>
                      </m:sub>
                    </m:sSub>
                  </m:oMath>
                </a14:m>
                <a:r>
                  <a:rPr lang="en-US"/>
                  <a:t> -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𝐶</m:t>
                        </m:r>
                      </m:e>
                      <m:sub>
                        <m:r>
                          <a:rPr lang="en-US" b="0" i="1" smtClean="0">
                            <a:latin typeface="Cambria Math"/>
                          </a:rPr>
                          <m:t>𝑉</m:t>
                        </m:r>
                      </m:sub>
                    </m:sSub>
                  </m:oMath>
                </a14:m>
                <a:endParaRPr lang="en-US"/>
              </a:p>
            </p:txBody>
          </p:sp>
        </mc:Choice>
        <mc:Fallback xmlns="">
          <p:sp>
            <p:nvSpPr>
              <p:cNvPr id="16" name="Rectangle 15"/>
              <p:cNvSpPr>
                <a:spLocks noRot="1" noChangeAspect="1" noMove="1" noResize="1" noEditPoints="1" noAdjustHandles="1" noChangeArrowheads="1" noChangeShapeType="1" noTextEdit="1"/>
              </p:cNvSpPr>
              <p:nvPr/>
            </p:nvSpPr>
            <p:spPr>
              <a:xfrm>
                <a:off x="3351179" y="5715000"/>
                <a:ext cx="2060734" cy="914400"/>
              </a:xfrm>
              <a:prstGeom prst="rect">
                <a:avLst/>
              </a:prstGeom>
              <a:blipFill rotWithShape="1">
                <a:blip r:embed="rId10"/>
                <a:stretch>
                  <a:fillRect/>
                </a:stretch>
              </a:blipFill>
            </p:spPr>
            <p:txBody>
              <a:bodyPr/>
              <a:lstStyle/>
              <a:p>
                <a:r>
                  <a:rPr lang="en-US">
                    <a:noFill/>
                  </a:rPr>
                  <a:t> </a:t>
                </a:r>
              </a:p>
            </p:txBody>
          </p:sp>
        </mc:Fallback>
      </mc:AlternateContent>
      <p:sp>
        <p:nvSpPr>
          <p:cNvPr id="9" name="Footer Placeholder 8">
            <a:extLst>
              <a:ext uri="{FF2B5EF4-FFF2-40B4-BE49-F238E27FC236}">
                <a16:creationId xmlns:a16="http://schemas.microsoft.com/office/drawing/2014/main" id="{8B81DC24-9963-C3FF-93D7-352EA7C2C724}"/>
              </a:ext>
            </a:extLst>
          </p:cNvPr>
          <p:cNvSpPr>
            <a:spLocks noGrp="1"/>
          </p:cNvSpPr>
          <p:nvPr>
            <p:ph type="ftr" sz="quarter" idx="11"/>
          </p:nvPr>
        </p:nvSpPr>
        <p:spPr/>
        <p:txBody>
          <a:bodyPr/>
          <a:lstStyle/>
          <a:p>
            <a:r>
              <a:rPr lang="en-US"/>
              <a:t>Bùi Quốc Trung - VLDC</a:t>
            </a:r>
          </a:p>
        </p:txBody>
      </p:sp>
      <p:sp>
        <p:nvSpPr>
          <p:cNvPr id="13" name="Slide Number Placeholder 12">
            <a:extLst>
              <a:ext uri="{FF2B5EF4-FFF2-40B4-BE49-F238E27FC236}">
                <a16:creationId xmlns:a16="http://schemas.microsoft.com/office/drawing/2014/main" id="{2D13C297-ED14-3740-0751-6477451EE10D}"/>
              </a:ext>
            </a:extLst>
          </p:cNvPr>
          <p:cNvSpPr>
            <a:spLocks noGrp="1"/>
          </p:cNvSpPr>
          <p:nvPr>
            <p:ph type="sldNum" sz="quarter" idx="12"/>
          </p:nvPr>
        </p:nvSpPr>
        <p:spPr/>
        <p:txBody>
          <a:bodyPr/>
          <a:lstStyle/>
          <a:p>
            <a:fld id="{0C173468-4CCE-478A-9725-791AF0DB04F2}" type="slidenum">
              <a:rPr lang="en-US" smtClean="0"/>
              <a:t>33</a:t>
            </a:fld>
            <a:endParaRPr lang="en-US"/>
          </a:p>
        </p:txBody>
      </p:sp>
    </p:spTree>
    <p:extLst>
      <p:ext uri="{BB962C8B-B14F-4D97-AF65-F5344CB8AC3E}">
        <p14:creationId xmlns:p14="http://schemas.microsoft.com/office/powerpoint/2010/main" val="448670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childTnLst>
                          </p:cTn>
                        </p:par>
                        <p:par>
                          <p:cTn id="23" fill="hold">
                            <p:stCondLst>
                              <p:cond delay="500"/>
                            </p:stCondLst>
                            <p:childTnLst>
                              <p:par>
                                <p:cTn id="24" presetID="9" presetClass="entr" presetSubtype="0" fill="hold" nodeType="after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dissolve">
                                      <p:cBhvr>
                                        <p:cTn id="26" dur="1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5" grpId="0"/>
      <p:bldP spid="3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6720" y="1569720"/>
            <a:ext cx="6659880" cy="523220"/>
          </a:xfrm>
          <a:prstGeom prst="rect">
            <a:avLst/>
          </a:prstGeom>
        </p:spPr>
        <p:txBody>
          <a:bodyPr wrap="square">
            <a:spAutoFit/>
          </a:bodyPr>
          <a:lstStyle/>
          <a:p>
            <a:r>
              <a:rPr lang="en-US" sz="2800" b="1" u="sng">
                <a:solidFill>
                  <a:srgbClr val="050579"/>
                </a:solidFill>
                <a:latin typeface="Times New Roman" pitchFamily="18" charset="0"/>
                <a:cs typeface="Times New Roman" pitchFamily="18" charset="0"/>
              </a:rPr>
              <a:t>Quá trình biến đổi đẳng nhiệt </a:t>
            </a:r>
            <a:r>
              <a:rPr lang="en-US" sz="2800" b="1">
                <a:solidFill>
                  <a:srgbClr val="050579"/>
                </a:solidFill>
                <a:latin typeface="Times New Roman" pitchFamily="18" charset="0"/>
                <a:cs typeface="Times New Roman" pitchFamily="18" charset="0"/>
              </a:rPr>
              <a:t>(T=const):</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8" name="Rectangle 1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8" name="Rectangle 2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4"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5" name="Object 24"/>
          <p:cNvGraphicFramePr>
            <a:graphicFrameLocks noChangeAspect="1"/>
          </p:cNvGraphicFramePr>
          <p:nvPr>
            <p:extLst>
              <p:ext uri="{D42A27DB-BD31-4B8C-83A1-F6EECF244321}">
                <p14:modId xmlns:p14="http://schemas.microsoft.com/office/powerpoint/2010/main" val="2374778813"/>
              </p:ext>
            </p:extLst>
          </p:nvPr>
        </p:nvGraphicFramePr>
        <p:xfrm>
          <a:off x="6781800" y="1640213"/>
          <a:ext cx="1421606" cy="486563"/>
        </p:xfrm>
        <a:graphic>
          <a:graphicData uri="http://schemas.openxmlformats.org/presentationml/2006/ole">
            <mc:AlternateContent xmlns:mc="http://schemas.openxmlformats.org/markup-compatibility/2006">
              <mc:Choice xmlns:v="urn:schemas-microsoft-com:vml" Requires="v">
                <p:oleObj name="Equation" r:id="rId2" imgW="532937" imgH="177646" progId="Equation.DSMT4">
                  <p:embed/>
                </p:oleObj>
              </mc:Choice>
              <mc:Fallback>
                <p:oleObj name="Equation" r:id="rId2" imgW="532937" imgH="177646"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1640213"/>
                        <a:ext cx="1421606" cy="486563"/>
                      </a:xfrm>
                      <a:prstGeom prst="rect">
                        <a:avLst/>
                      </a:prstGeom>
                      <a:noFill/>
                    </p:spPr>
                  </p:pic>
                </p:oleObj>
              </mc:Fallback>
            </mc:AlternateContent>
          </a:graphicData>
        </a:graphic>
      </p:graphicFrame>
      <p:sp>
        <p:nvSpPr>
          <p:cNvPr id="26"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7" name="Object 26"/>
          <p:cNvGraphicFramePr>
            <a:graphicFrameLocks noChangeAspect="1"/>
          </p:cNvGraphicFramePr>
          <p:nvPr>
            <p:extLst>
              <p:ext uri="{D42A27DB-BD31-4B8C-83A1-F6EECF244321}">
                <p14:modId xmlns:p14="http://schemas.microsoft.com/office/powerpoint/2010/main" val="522979179"/>
              </p:ext>
            </p:extLst>
          </p:nvPr>
        </p:nvGraphicFramePr>
        <p:xfrm>
          <a:off x="1447800" y="2078717"/>
          <a:ext cx="1524000" cy="566966"/>
        </p:xfrm>
        <a:graphic>
          <a:graphicData uri="http://schemas.openxmlformats.org/presentationml/2006/ole">
            <mc:AlternateContent xmlns:mc="http://schemas.openxmlformats.org/markup-compatibility/2006">
              <mc:Choice xmlns:v="urn:schemas-microsoft-com:vml" Requires="v">
                <p:oleObj name="Equation" r:id="rId4" imgW="533169" imgH="203112" progId="Equation.DSMT4">
                  <p:embed/>
                </p:oleObj>
              </mc:Choice>
              <mc:Fallback>
                <p:oleObj name="Equation" r:id="rId4" imgW="533169" imgH="203112"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800" y="2078717"/>
                        <a:ext cx="1524000" cy="566966"/>
                      </a:xfrm>
                      <a:prstGeom prst="rect">
                        <a:avLst/>
                      </a:prstGeom>
                      <a:noFill/>
                    </p:spPr>
                  </p:pic>
                </p:oleObj>
              </mc:Fallback>
            </mc:AlternateContent>
          </a:graphicData>
        </a:graphic>
      </p:graphicFrame>
      <p:sp>
        <p:nvSpPr>
          <p:cNvPr id="31" name="Right Arrow 30"/>
          <p:cNvSpPr/>
          <p:nvPr/>
        </p:nvSpPr>
        <p:spPr>
          <a:xfrm>
            <a:off x="838200" y="2209800"/>
            <a:ext cx="407194" cy="304800"/>
          </a:xfrm>
          <a:prstGeom prst="rightArrow">
            <a:avLst/>
          </a:prstGeom>
          <a:solidFill>
            <a:srgbClr val="90F828"/>
          </a:solidFill>
          <a:ln>
            <a:solidFill>
              <a:srgbClr val="1E22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800">
              <a:solidFill>
                <a:srgbClr val="0070C0"/>
              </a:solidFill>
              <a:latin typeface="Times New Roman" pitchFamily="18" charset="0"/>
              <a:cs typeface="Times New Roman" pitchFamily="18" charset="0"/>
            </a:endParaRPr>
          </a:p>
        </p:txBody>
      </p:sp>
      <p:sp>
        <p:nvSpPr>
          <p:cNvPr id="29" name="Rectangle 1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2" name="Object 31"/>
          <p:cNvGraphicFramePr>
            <a:graphicFrameLocks noChangeAspect="1"/>
          </p:cNvGraphicFramePr>
          <p:nvPr>
            <p:extLst>
              <p:ext uri="{D42A27DB-BD31-4B8C-83A1-F6EECF244321}">
                <p14:modId xmlns:p14="http://schemas.microsoft.com/office/powerpoint/2010/main" val="351557936"/>
              </p:ext>
            </p:extLst>
          </p:nvPr>
        </p:nvGraphicFramePr>
        <p:xfrm>
          <a:off x="1272690" y="2971800"/>
          <a:ext cx="5864274" cy="1130320"/>
        </p:xfrm>
        <a:graphic>
          <a:graphicData uri="http://schemas.openxmlformats.org/presentationml/2006/ole">
            <mc:AlternateContent xmlns:mc="http://schemas.openxmlformats.org/markup-compatibility/2006">
              <mc:Choice xmlns:v="urn:schemas-microsoft-com:vml" Requires="v">
                <p:oleObj name="Equation" r:id="rId6" imgW="2311400" imgH="508000" progId="Equation.DSMT4">
                  <p:embed/>
                </p:oleObj>
              </mc:Choice>
              <mc:Fallback>
                <p:oleObj name="Equation" r:id="rId6" imgW="2311400" imgH="5080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72690" y="2971800"/>
                        <a:ext cx="5864274" cy="1130320"/>
                      </a:xfrm>
                      <a:prstGeom prst="rect">
                        <a:avLst/>
                      </a:prstGeom>
                      <a:noFill/>
                    </p:spPr>
                  </p:pic>
                </p:oleObj>
              </mc:Fallback>
            </mc:AlternateContent>
          </a:graphicData>
        </a:graphic>
      </p:graphicFrame>
      <p:sp>
        <p:nvSpPr>
          <p:cNvPr id="35" name="Rectangle 2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6" name="Object 35"/>
          <p:cNvGraphicFramePr>
            <a:graphicFrameLocks noChangeAspect="1"/>
          </p:cNvGraphicFramePr>
          <p:nvPr>
            <p:extLst>
              <p:ext uri="{D42A27DB-BD31-4B8C-83A1-F6EECF244321}">
                <p14:modId xmlns:p14="http://schemas.microsoft.com/office/powerpoint/2010/main" val="3533833255"/>
              </p:ext>
            </p:extLst>
          </p:nvPr>
        </p:nvGraphicFramePr>
        <p:xfrm>
          <a:off x="1152212" y="4267200"/>
          <a:ext cx="6741825" cy="1066800"/>
        </p:xfrm>
        <a:graphic>
          <a:graphicData uri="http://schemas.openxmlformats.org/presentationml/2006/ole">
            <mc:AlternateContent xmlns:mc="http://schemas.openxmlformats.org/markup-compatibility/2006">
              <mc:Choice xmlns:v="urn:schemas-microsoft-com:vml" Requires="v">
                <p:oleObj name="Equation" r:id="rId8" imgW="2476500" imgH="482600" progId="Equation.DSMT4">
                  <p:embed/>
                </p:oleObj>
              </mc:Choice>
              <mc:Fallback>
                <p:oleObj name="Equation" r:id="rId8" imgW="2476500" imgH="4826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52212" y="4267200"/>
                        <a:ext cx="6741825" cy="1066800"/>
                      </a:xfrm>
                      <a:prstGeom prst="rect">
                        <a:avLst/>
                      </a:prstGeom>
                      <a:noFill/>
                    </p:spPr>
                  </p:pic>
                </p:oleObj>
              </mc:Fallback>
            </mc:AlternateContent>
          </a:graphicData>
        </a:graphic>
      </p:graphicFrame>
      <p:grpSp>
        <p:nvGrpSpPr>
          <p:cNvPr id="37" name="Group 18"/>
          <p:cNvGrpSpPr>
            <a:grpSpLocks/>
          </p:cNvGrpSpPr>
          <p:nvPr/>
        </p:nvGrpSpPr>
        <p:grpSpPr bwMode="auto">
          <a:xfrm>
            <a:off x="1828801" y="0"/>
            <a:ext cx="5562600" cy="889000"/>
            <a:chOff x="1858" y="1392"/>
            <a:chExt cx="3821" cy="560"/>
          </a:xfrm>
        </p:grpSpPr>
        <p:pic>
          <p:nvPicPr>
            <p:cNvPr id="38" name="Picture 24" descr="PPP_CSHAP_CLP_Sleek_Silver">
              <a:hlinkClick r:id="" action="ppaction://hlinkshowjump?jump=nextslide" highlightClick="1"/>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58" y="1392"/>
              <a:ext cx="3821"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Text Box 14"/>
            <p:cNvSpPr txBox="1">
              <a:spLocks noChangeArrowheads="1"/>
            </p:cNvSpPr>
            <p:nvPr/>
          </p:nvSpPr>
          <p:spPr bwMode="auto">
            <a:xfrm>
              <a:off x="2451" y="1510"/>
              <a:ext cx="2623"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wrap="none">
              <a:spAutoFit/>
            </a:bodyPr>
            <a:lstStyle/>
            <a:p>
              <a:pPr algn="just" fontAlgn="auto">
                <a:spcBef>
                  <a:spcPts val="600"/>
                </a:spcBef>
                <a:spcAft>
                  <a:spcPts val="600"/>
                </a:spcAft>
                <a:defRPr/>
              </a:pPr>
              <a:r>
                <a:rPr lang="en-US" sz="2400" b="1" i="1">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400" b="1">
                  <a:solidFill>
                    <a:srgbClr val="050579"/>
                  </a:solidFill>
                  <a:latin typeface="Times New Roman" pitchFamily="18" charset="0"/>
                  <a:cs typeface="Times New Roman" pitchFamily="18" charset="0"/>
                </a:rPr>
                <a:t>6.1.3</a:t>
              </a:r>
              <a:r>
                <a:rPr lang="en-US" sz="2400" b="1">
                  <a:solidFill>
                    <a:srgbClr val="C00000"/>
                  </a:solidFill>
                  <a:latin typeface="Times New Roman" pitchFamily="18" charset="0"/>
                  <a:cs typeface="Times New Roman" pitchFamily="18" charset="0"/>
                </a:rPr>
                <a:t> </a:t>
              </a:r>
              <a:r>
                <a:rPr lang="en-US" sz="2400" b="1">
                  <a:solidFill>
                    <a:srgbClr val="FF0000"/>
                  </a:solidFill>
                  <a:latin typeface="Times New Roman" pitchFamily="18" charset="0"/>
                  <a:cs typeface="Times New Roman" pitchFamily="18" charset="0"/>
                </a:rPr>
                <a:t>Ứng dụng nguyên lý I</a:t>
              </a:r>
            </a:p>
          </p:txBody>
        </p:sp>
      </p:grpSp>
      <p:sp>
        <p:nvSpPr>
          <p:cNvPr id="9" name="Footer Placeholder 8">
            <a:extLst>
              <a:ext uri="{FF2B5EF4-FFF2-40B4-BE49-F238E27FC236}">
                <a16:creationId xmlns:a16="http://schemas.microsoft.com/office/drawing/2014/main" id="{70236FCC-13E2-74F0-423B-868B0B4EEC53}"/>
              </a:ext>
            </a:extLst>
          </p:cNvPr>
          <p:cNvSpPr>
            <a:spLocks noGrp="1"/>
          </p:cNvSpPr>
          <p:nvPr>
            <p:ph type="ftr" sz="quarter" idx="11"/>
          </p:nvPr>
        </p:nvSpPr>
        <p:spPr/>
        <p:txBody>
          <a:bodyPr/>
          <a:lstStyle/>
          <a:p>
            <a:r>
              <a:rPr lang="en-US"/>
              <a:t>Bùi Quốc Trung - VLDC</a:t>
            </a:r>
          </a:p>
        </p:txBody>
      </p:sp>
      <p:sp>
        <p:nvSpPr>
          <p:cNvPr id="10" name="Slide Number Placeholder 9">
            <a:extLst>
              <a:ext uri="{FF2B5EF4-FFF2-40B4-BE49-F238E27FC236}">
                <a16:creationId xmlns:a16="http://schemas.microsoft.com/office/drawing/2014/main" id="{BE72023B-00A5-CB68-0FB7-F04E4BCD5E87}"/>
              </a:ext>
            </a:extLst>
          </p:cNvPr>
          <p:cNvSpPr>
            <a:spLocks noGrp="1"/>
          </p:cNvSpPr>
          <p:nvPr>
            <p:ph type="sldNum" sz="quarter" idx="12"/>
          </p:nvPr>
        </p:nvSpPr>
        <p:spPr/>
        <p:txBody>
          <a:bodyPr/>
          <a:lstStyle/>
          <a:p>
            <a:fld id="{0C173468-4CCE-478A-9725-791AF0DB04F2}" type="slidenum">
              <a:rPr lang="en-US" smtClean="0"/>
              <a:t>34</a:t>
            </a:fld>
            <a:endParaRPr lang="en-US"/>
          </a:p>
        </p:txBody>
      </p:sp>
    </p:spTree>
    <p:extLst>
      <p:ext uri="{BB962C8B-B14F-4D97-AF65-F5344CB8AC3E}">
        <p14:creationId xmlns:p14="http://schemas.microsoft.com/office/powerpoint/2010/main" val="3157941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500"/>
                                        <p:tgtEl>
                                          <p:spTgt spid="25"/>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dissolve">
                                      <p:cBhvr>
                                        <p:cTn id="16" dur="500"/>
                                        <p:tgtEl>
                                          <p:spTgt spid="31"/>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500"/>
                                        <p:tgtEl>
                                          <p:spTgt spid="27"/>
                                        </p:tgtEl>
                                      </p:cBhvr>
                                    </p:animEffect>
                                  </p:childTnLst>
                                </p:cTn>
                              </p:par>
                            </p:childTnLst>
                          </p:cTn>
                        </p:par>
                        <p:par>
                          <p:cTn id="21" fill="hold">
                            <p:stCondLst>
                              <p:cond delay="1000"/>
                            </p:stCondLst>
                            <p:childTnLst>
                              <p:par>
                                <p:cTn id="22" presetID="10" presetClass="entr" presetSubtype="0" fill="hold" nodeType="after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childTnLst>
                          </p:cTn>
                        </p:par>
                        <p:par>
                          <p:cTn id="25" fill="hold">
                            <p:stCondLst>
                              <p:cond delay="1500"/>
                            </p:stCondLst>
                            <p:childTnLst>
                              <p:par>
                                <p:cTn id="26" presetID="10" presetClass="entr" presetSubtype="0" fill="hold" nodeType="after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500"/>
                                        <p:tgtEl>
                                          <p:spTgt spid="36"/>
                                        </p:tgtEl>
                                      </p:cBhvr>
                                    </p:animEffect>
                                  </p:childTnLst>
                                </p:cTn>
                              </p:par>
                            </p:childTnLst>
                          </p:cTn>
                        </p:par>
                        <p:par>
                          <p:cTn id="29" fill="hold">
                            <p:stCondLst>
                              <p:cond delay="2000"/>
                            </p:stCondLst>
                            <p:childTnLst>
                              <p:par>
                                <p:cTn id="30" presetID="9" presetClass="entr" presetSubtype="0" fill="hold" nodeType="after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dissolve">
                                      <p:cBhvr>
                                        <p:cTn id="32"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6720" y="1569720"/>
            <a:ext cx="5059680" cy="523220"/>
          </a:xfrm>
          <a:prstGeom prst="rect">
            <a:avLst/>
          </a:prstGeom>
        </p:spPr>
        <p:txBody>
          <a:bodyPr wrap="square">
            <a:spAutoFit/>
          </a:bodyPr>
          <a:lstStyle/>
          <a:p>
            <a:r>
              <a:rPr lang="en-US" sz="2800" b="1" u="sng">
                <a:solidFill>
                  <a:srgbClr val="050579"/>
                </a:solidFill>
                <a:latin typeface="Times New Roman" pitchFamily="18" charset="0"/>
                <a:cs typeface="Times New Roman" pitchFamily="18" charset="0"/>
              </a:rPr>
              <a:t>Quá trình biến đổi đoạn nhiệt</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8" name="Rectangle 1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8" name="Rectangle 2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0" name="Right Arrow 29"/>
          <p:cNvSpPr/>
          <p:nvPr/>
        </p:nvSpPr>
        <p:spPr>
          <a:xfrm>
            <a:off x="328612" y="5448300"/>
            <a:ext cx="814388" cy="685800"/>
          </a:xfrm>
          <a:prstGeom prst="rightArrow">
            <a:avLst/>
          </a:prstGeom>
          <a:solidFill>
            <a:srgbClr val="90F828"/>
          </a:solidFill>
          <a:ln>
            <a:solidFill>
              <a:srgbClr val="1E22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800">
              <a:solidFill>
                <a:srgbClr val="0070C0"/>
              </a:solidFill>
              <a:latin typeface="Times New Roman" pitchFamily="18" charset="0"/>
              <a:cs typeface="Times New Roman" pitchFamily="18" charset="0"/>
            </a:endParaRPr>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6" name="Object 15"/>
          <p:cNvGraphicFramePr>
            <a:graphicFrameLocks noChangeAspect="1"/>
          </p:cNvGraphicFramePr>
          <p:nvPr>
            <p:extLst>
              <p:ext uri="{D42A27DB-BD31-4B8C-83A1-F6EECF244321}">
                <p14:modId xmlns:p14="http://schemas.microsoft.com/office/powerpoint/2010/main" val="1563594888"/>
              </p:ext>
            </p:extLst>
          </p:nvPr>
        </p:nvGraphicFramePr>
        <p:xfrm>
          <a:off x="5328560" y="1599267"/>
          <a:ext cx="1719940" cy="523220"/>
        </p:xfrm>
        <a:graphic>
          <a:graphicData uri="http://schemas.openxmlformats.org/presentationml/2006/ole">
            <mc:AlternateContent xmlns:mc="http://schemas.openxmlformats.org/markup-compatibility/2006">
              <mc:Choice xmlns:v="urn:schemas-microsoft-com:vml" Requires="v">
                <p:oleObj name="Equation" r:id="rId2" imgW="406048" imgH="203024" progId="Equation.DSMT4">
                  <p:embed/>
                </p:oleObj>
              </mc:Choice>
              <mc:Fallback>
                <p:oleObj name="Equation" r:id="rId2" imgW="406048" imgH="203024"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8560" y="1599267"/>
                        <a:ext cx="1719940" cy="523220"/>
                      </a:xfrm>
                      <a:prstGeom prst="rect">
                        <a:avLst/>
                      </a:prstGeom>
                      <a:noFill/>
                    </p:spPr>
                  </p:pic>
                </p:oleObj>
              </mc:Fallback>
            </mc:AlternateContent>
          </a:graphicData>
        </a:graphic>
      </p:graphicFrame>
      <p:sp>
        <p:nvSpPr>
          <p:cNvPr id="17"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3" name="Object 22"/>
          <p:cNvGraphicFramePr>
            <a:graphicFrameLocks noChangeAspect="1"/>
          </p:cNvGraphicFramePr>
          <p:nvPr>
            <p:extLst>
              <p:ext uri="{D42A27DB-BD31-4B8C-83A1-F6EECF244321}">
                <p14:modId xmlns:p14="http://schemas.microsoft.com/office/powerpoint/2010/main" val="103430045"/>
              </p:ext>
            </p:extLst>
          </p:nvPr>
        </p:nvGraphicFramePr>
        <p:xfrm>
          <a:off x="1935797" y="3243797"/>
          <a:ext cx="2041526" cy="990600"/>
        </p:xfrm>
        <a:graphic>
          <a:graphicData uri="http://schemas.openxmlformats.org/presentationml/2006/ole">
            <mc:AlternateContent xmlns:mc="http://schemas.openxmlformats.org/markup-compatibility/2006">
              <mc:Choice xmlns:v="urn:schemas-microsoft-com:vml" Requires="v">
                <p:oleObj name="Equation" r:id="rId4" imgW="1015559" imgH="495085" progId="Equation.DSMT4">
                  <p:embed/>
                </p:oleObj>
              </mc:Choice>
              <mc:Fallback>
                <p:oleObj name="Equation" r:id="rId4" imgW="1015559" imgH="495085"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5797" y="3243797"/>
                        <a:ext cx="2041526" cy="990600"/>
                      </a:xfrm>
                      <a:prstGeom prst="rect">
                        <a:avLst/>
                      </a:prstGeom>
                      <a:noFill/>
                    </p:spPr>
                  </p:pic>
                </p:oleObj>
              </mc:Fallback>
            </mc:AlternateContent>
          </a:graphicData>
        </a:graphic>
      </p:graphicFrame>
      <p:sp>
        <p:nvSpPr>
          <p:cNvPr id="29" name="Rectangle 1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2" name="Rectangle 2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4" name="Rectangle 4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5" name="Object 34"/>
          <p:cNvGraphicFramePr>
            <a:graphicFrameLocks noChangeAspect="1"/>
          </p:cNvGraphicFramePr>
          <p:nvPr>
            <p:extLst>
              <p:ext uri="{D42A27DB-BD31-4B8C-83A1-F6EECF244321}">
                <p14:modId xmlns:p14="http://schemas.microsoft.com/office/powerpoint/2010/main" val="1651254445"/>
              </p:ext>
            </p:extLst>
          </p:nvPr>
        </p:nvGraphicFramePr>
        <p:xfrm>
          <a:off x="1813241" y="5353684"/>
          <a:ext cx="3476425" cy="1123315"/>
        </p:xfrm>
        <a:graphic>
          <a:graphicData uri="http://schemas.openxmlformats.org/presentationml/2006/ole">
            <mc:AlternateContent xmlns:mc="http://schemas.openxmlformats.org/markup-compatibility/2006">
              <mc:Choice xmlns:v="urn:schemas-microsoft-com:vml" Requires="v">
                <p:oleObj name="Equation" r:id="rId6" imgW="1117600" imgH="457200" progId="Equation.DSMT4">
                  <p:embed/>
                </p:oleObj>
              </mc:Choice>
              <mc:Fallback>
                <p:oleObj name="Equation" r:id="rId6" imgW="1117600" imgH="4572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13241" y="5353684"/>
                        <a:ext cx="3476425" cy="1123315"/>
                      </a:xfrm>
                      <a:prstGeom prst="rect">
                        <a:avLst/>
                      </a:prstGeom>
                      <a:noFill/>
                    </p:spPr>
                  </p:pic>
                </p:oleObj>
              </mc:Fallback>
            </mc:AlternateContent>
          </a:graphicData>
        </a:graphic>
      </p:graphicFrame>
      <p:grpSp>
        <p:nvGrpSpPr>
          <p:cNvPr id="31" name="Group 18"/>
          <p:cNvGrpSpPr>
            <a:grpSpLocks/>
          </p:cNvGrpSpPr>
          <p:nvPr/>
        </p:nvGrpSpPr>
        <p:grpSpPr bwMode="auto">
          <a:xfrm>
            <a:off x="1828801" y="0"/>
            <a:ext cx="5562600" cy="889000"/>
            <a:chOff x="1858" y="1392"/>
            <a:chExt cx="3821" cy="560"/>
          </a:xfrm>
        </p:grpSpPr>
        <p:pic>
          <p:nvPicPr>
            <p:cNvPr id="36" name="Picture 24" descr="PPP_CSHAP_CLP_Sleek_Silver">
              <a:hlinkClick r:id="" action="ppaction://hlinkshowjump?jump=nextslide" highlightClick="1"/>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58" y="1392"/>
              <a:ext cx="3821"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Text Box 14"/>
            <p:cNvSpPr txBox="1">
              <a:spLocks noChangeArrowheads="1"/>
            </p:cNvSpPr>
            <p:nvPr/>
          </p:nvSpPr>
          <p:spPr bwMode="auto">
            <a:xfrm>
              <a:off x="2662" y="1510"/>
              <a:ext cx="2200"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wrap="none">
              <a:spAutoFit/>
            </a:bodyPr>
            <a:lstStyle/>
            <a:p>
              <a:pPr algn="just" fontAlgn="auto">
                <a:spcBef>
                  <a:spcPts val="600"/>
                </a:spcBef>
                <a:spcAft>
                  <a:spcPts val="600"/>
                </a:spcAft>
                <a:defRPr/>
              </a:pPr>
              <a:r>
                <a:rPr lang="en-US" sz="2400" b="1" i="1" dirty="0">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400" b="1" dirty="0">
                  <a:solidFill>
                    <a:srgbClr val="C0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Ứng</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dụng</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nguyên</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lý</a:t>
              </a:r>
              <a:r>
                <a:rPr lang="en-US" sz="2400" b="1" dirty="0">
                  <a:solidFill>
                    <a:srgbClr val="FF0000"/>
                  </a:solidFill>
                  <a:latin typeface="Times New Roman" pitchFamily="18" charset="0"/>
                  <a:cs typeface="Times New Roman" pitchFamily="18" charset="0"/>
                </a:rPr>
                <a:t> I</a:t>
              </a:r>
            </a:p>
          </p:txBody>
        </p:sp>
      </p:grpSp>
      <p:graphicFrame>
        <p:nvGraphicFramePr>
          <p:cNvPr id="13" name="Object 12"/>
          <p:cNvGraphicFramePr>
            <a:graphicFrameLocks noChangeAspect="1"/>
          </p:cNvGraphicFramePr>
          <p:nvPr>
            <p:extLst>
              <p:ext uri="{D42A27DB-BD31-4B8C-83A1-F6EECF244321}">
                <p14:modId xmlns:p14="http://schemas.microsoft.com/office/powerpoint/2010/main" val="3665913308"/>
              </p:ext>
            </p:extLst>
          </p:nvPr>
        </p:nvGraphicFramePr>
        <p:xfrm>
          <a:off x="5867400" y="3886200"/>
          <a:ext cx="2357438" cy="2025650"/>
        </p:xfrm>
        <a:graphic>
          <a:graphicData uri="http://schemas.openxmlformats.org/presentationml/2006/ole">
            <mc:AlternateContent xmlns:mc="http://schemas.openxmlformats.org/markup-compatibility/2006">
              <mc:Choice xmlns:v="urn:schemas-microsoft-com:vml" Requires="v">
                <p:oleObj name="Equation" r:id="rId9" imgW="901700" imgH="736600" progId="Equation.DSMT4">
                  <p:embed/>
                </p:oleObj>
              </mc:Choice>
              <mc:Fallback>
                <p:oleObj name="Equation" r:id="rId9" imgW="901700" imgH="7366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67400" y="3886200"/>
                        <a:ext cx="2357438" cy="202565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 name="Text Box 10"/>
          <p:cNvSpPr txBox="1">
            <a:spLocks noChangeArrowheads="1"/>
          </p:cNvSpPr>
          <p:nvPr/>
        </p:nvSpPr>
        <p:spPr bwMode="auto">
          <a:xfrm>
            <a:off x="5715000" y="3114020"/>
            <a:ext cx="2667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400" b="1">
                <a:solidFill>
                  <a:srgbClr val="002060"/>
                </a:solidFill>
              </a:rPr>
              <a:t>Hệ thức Laplace</a:t>
            </a:r>
          </a:p>
        </p:txBody>
      </p:sp>
      <mc:AlternateContent xmlns:mc="http://schemas.openxmlformats.org/markup-compatibility/2006" xmlns:a14="http://schemas.microsoft.com/office/drawing/2010/main">
        <mc:Choice Requires="a14">
          <p:sp>
            <p:nvSpPr>
              <p:cNvPr id="39" name="Text Box 10"/>
              <p:cNvSpPr txBox="1">
                <a:spLocks noChangeArrowheads="1"/>
              </p:cNvSpPr>
              <p:nvPr/>
            </p:nvSpPr>
            <p:spPr bwMode="auto">
              <a:xfrm>
                <a:off x="1810604" y="2074246"/>
                <a:ext cx="5105329" cy="79085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US" sz="2800" i="1" dirty="0"/>
                  <a:t>hay      A = ΔU = </a:t>
                </a:r>
                <a14:m>
                  <m:oMath xmlns:m="http://schemas.openxmlformats.org/officeDocument/2006/math">
                    <m:f>
                      <m:fPr>
                        <m:ctrlPr>
                          <a:rPr lang="en-US" sz="2800" i="1" smtClean="0">
                            <a:latin typeface="Cambria Math" panose="02040503050406030204" pitchFamily="18" charset="0"/>
                          </a:rPr>
                        </m:ctrlPr>
                      </m:fPr>
                      <m:num>
                        <m:r>
                          <a:rPr lang="en-US" sz="2800" b="0" i="1" smtClean="0">
                            <a:latin typeface="Cambria Math"/>
                          </a:rPr>
                          <m:t>𝑚</m:t>
                        </m:r>
                      </m:num>
                      <m:den>
                        <m:r>
                          <a:rPr lang="en-US" sz="2800" i="1" smtClean="0">
                            <a:latin typeface="Cambria Math"/>
                            <a:ea typeface="Cambria Math"/>
                          </a:rPr>
                          <m:t>𝜇</m:t>
                        </m:r>
                      </m:den>
                    </m:f>
                    <m:f>
                      <m:fPr>
                        <m:ctrlPr>
                          <a:rPr lang="en-US" sz="2800" i="1" smtClean="0">
                            <a:latin typeface="Cambria Math" panose="02040503050406030204" pitchFamily="18" charset="0"/>
                          </a:rPr>
                        </m:ctrlPr>
                      </m:fPr>
                      <m:num>
                        <m:r>
                          <a:rPr lang="en-US" sz="2800" b="0" i="1" smtClean="0">
                            <a:latin typeface="Cambria Math"/>
                          </a:rPr>
                          <m:t>𝑖</m:t>
                        </m:r>
                      </m:num>
                      <m:den>
                        <m:r>
                          <a:rPr lang="en-US" sz="2800" b="0" i="1" smtClean="0">
                            <a:latin typeface="Cambria Math"/>
                          </a:rPr>
                          <m:t>2</m:t>
                        </m:r>
                      </m:den>
                    </m:f>
                    <m:r>
                      <a:rPr lang="en-US" sz="2800" b="0" i="1" smtClean="0">
                        <a:latin typeface="Cambria Math"/>
                      </a:rPr>
                      <m:t>𝑅</m:t>
                    </m:r>
                    <m:r>
                      <m:rPr>
                        <m:sty m:val="p"/>
                      </m:rPr>
                      <a:rPr lang="el-GR" sz="2800" b="0" i="1" smtClean="0">
                        <a:latin typeface="Cambria Math"/>
                      </a:rPr>
                      <m:t>Δ</m:t>
                    </m:r>
                    <m:r>
                      <a:rPr lang="en-US" sz="2800" b="0" i="1" smtClean="0">
                        <a:latin typeface="Cambria Math"/>
                      </a:rPr>
                      <m:t>𝑇</m:t>
                    </m:r>
                  </m:oMath>
                </a14:m>
                <a:endParaRPr lang="en-US" sz="2800" i="1" dirty="0"/>
              </a:p>
            </p:txBody>
          </p:sp>
        </mc:Choice>
        <mc:Fallback xmlns="">
          <p:sp>
            <p:nvSpPr>
              <p:cNvPr id="39" name="Text Box 10"/>
              <p:cNvSpPr txBox="1">
                <a:spLocks noRot="1" noChangeAspect="1" noMove="1" noResize="1" noEditPoints="1" noAdjustHandles="1" noChangeArrowheads="1" noChangeShapeType="1" noTextEdit="1"/>
              </p:cNvSpPr>
              <p:nvPr/>
            </p:nvSpPr>
            <p:spPr bwMode="auto">
              <a:xfrm>
                <a:off x="1810604" y="2074246"/>
                <a:ext cx="5105329" cy="790858"/>
              </a:xfrm>
              <a:prstGeom prst="rect">
                <a:avLst/>
              </a:prstGeom>
              <a:blipFill rotWithShape="1">
                <a:blip r:embed="rId12"/>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40" name="Rectangle 39"/>
          <p:cNvSpPr/>
          <p:nvPr/>
        </p:nvSpPr>
        <p:spPr>
          <a:xfrm>
            <a:off x="427857" y="4390141"/>
            <a:ext cx="4802982" cy="523220"/>
          </a:xfrm>
          <a:prstGeom prst="rect">
            <a:avLst/>
          </a:prstGeom>
        </p:spPr>
        <p:txBody>
          <a:bodyPr wrap="square">
            <a:spAutoFit/>
          </a:bodyPr>
          <a:lstStyle/>
          <a:p>
            <a:r>
              <a:rPr lang="en-US" sz="2800" b="1">
                <a:solidFill>
                  <a:srgbClr val="050579"/>
                </a:solidFill>
                <a:latin typeface="Times New Roman" pitchFamily="18" charset="0"/>
                <a:cs typeface="Times New Roman" pitchFamily="18" charset="0"/>
              </a:rPr>
              <a:t>Trong đó </a:t>
            </a:r>
            <a:r>
              <a:rPr lang="el-GR" sz="2800" b="1">
                <a:solidFill>
                  <a:srgbClr val="050579"/>
                </a:solidFill>
                <a:latin typeface="Times New Roman" pitchFamily="18" charset="0"/>
                <a:cs typeface="Times New Roman" pitchFamily="18" charset="0"/>
              </a:rPr>
              <a:t>γ</a:t>
            </a:r>
            <a:r>
              <a:rPr lang="en-US" sz="2800" b="1">
                <a:solidFill>
                  <a:srgbClr val="050579"/>
                </a:solidFill>
                <a:latin typeface="Times New Roman" pitchFamily="18" charset="0"/>
                <a:cs typeface="Times New Roman" pitchFamily="18" charset="0"/>
              </a:rPr>
              <a:t> là hệ số Poisson.</a:t>
            </a:r>
          </a:p>
        </p:txBody>
      </p:sp>
      <p:sp>
        <p:nvSpPr>
          <p:cNvPr id="9" name="Footer Placeholder 8">
            <a:extLst>
              <a:ext uri="{FF2B5EF4-FFF2-40B4-BE49-F238E27FC236}">
                <a16:creationId xmlns:a16="http://schemas.microsoft.com/office/drawing/2014/main" id="{846B1DFA-4825-534E-BFB1-8FD9328E58D3}"/>
              </a:ext>
            </a:extLst>
          </p:cNvPr>
          <p:cNvSpPr>
            <a:spLocks noGrp="1"/>
          </p:cNvSpPr>
          <p:nvPr>
            <p:ph type="ftr" sz="quarter" idx="11"/>
          </p:nvPr>
        </p:nvSpPr>
        <p:spPr/>
        <p:txBody>
          <a:bodyPr/>
          <a:lstStyle/>
          <a:p>
            <a:r>
              <a:rPr lang="en-US"/>
              <a:t>Bùi Quốc Trung - VLDC</a:t>
            </a:r>
          </a:p>
        </p:txBody>
      </p:sp>
      <p:sp>
        <p:nvSpPr>
          <p:cNvPr id="10" name="Slide Number Placeholder 9">
            <a:extLst>
              <a:ext uri="{FF2B5EF4-FFF2-40B4-BE49-F238E27FC236}">
                <a16:creationId xmlns:a16="http://schemas.microsoft.com/office/drawing/2014/main" id="{21365BA7-4C6B-EF2F-3179-1BADD2BBCA63}"/>
              </a:ext>
            </a:extLst>
          </p:cNvPr>
          <p:cNvSpPr>
            <a:spLocks noGrp="1"/>
          </p:cNvSpPr>
          <p:nvPr>
            <p:ph type="sldNum" sz="quarter" idx="12"/>
          </p:nvPr>
        </p:nvSpPr>
        <p:spPr/>
        <p:txBody>
          <a:bodyPr/>
          <a:lstStyle/>
          <a:p>
            <a:fld id="{0C173468-4CCE-478A-9725-791AF0DB04F2}" type="slidenum">
              <a:rPr lang="en-US" smtClean="0"/>
              <a:t>35</a:t>
            </a:fld>
            <a:endParaRPr lang="en-US"/>
          </a:p>
        </p:txBody>
      </p:sp>
    </p:spTree>
    <p:extLst>
      <p:ext uri="{BB962C8B-B14F-4D97-AF65-F5344CB8AC3E}">
        <p14:creationId xmlns:p14="http://schemas.microsoft.com/office/powerpoint/2010/main" val="121371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8" presetClass="entr" presetSubtype="16" fill="hold" grpId="0" nodeType="click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diamond(in)">
                                      <p:cBhvr>
                                        <p:cTn id="16" dur="2000"/>
                                        <p:tgtEl>
                                          <p:spTgt spid="39"/>
                                        </p:tgtEl>
                                      </p:cBhvr>
                                    </p:animEffect>
                                  </p:childTnLst>
                                </p:cTn>
                              </p:par>
                            </p:childTnLst>
                          </p:cTn>
                        </p:par>
                        <p:par>
                          <p:cTn id="17" fill="hold">
                            <p:stCondLst>
                              <p:cond delay="2000"/>
                            </p:stCondLst>
                            <p:childTnLst>
                              <p:par>
                                <p:cTn id="18" presetID="10" presetClass="entr" presetSubtype="0" fill="hold" nodeType="after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5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1000"/>
                                        <p:tgtEl>
                                          <p:spTgt spid="40"/>
                                        </p:tgtEl>
                                      </p:cBhvr>
                                    </p:animEffect>
                                    <p:anim calcmode="lin" valueType="num">
                                      <p:cBhvr>
                                        <p:cTn id="26" dur="1000" fill="hold"/>
                                        <p:tgtEl>
                                          <p:spTgt spid="40"/>
                                        </p:tgtEl>
                                        <p:attrNameLst>
                                          <p:attrName>ppt_x</p:attrName>
                                        </p:attrNameLst>
                                      </p:cBhvr>
                                      <p:tavLst>
                                        <p:tav tm="0">
                                          <p:val>
                                            <p:strVal val="#ppt_x"/>
                                          </p:val>
                                        </p:tav>
                                        <p:tav tm="100000">
                                          <p:val>
                                            <p:strVal val="#ppt_x"/>
                                          </p:val>
                                        </p:tav>
                                      </p:tavLst>
                                    </p:anim>
                                    <p:anim calcmode="lin" valueType="num">
                                      <p:cBhvr>
                                        <p:cTn id="27"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dissolve">
                                      <p:cBhvr>
                                        <p:cTn id="32" dur="500"/>
                                        <p:tgtEl>
                                          <p:spTgt spid="30"/>
                                        </p:tgtEl>
                                      </p:cBhvr>
                                    </p:animEffect>
                                  </p:childTnLst>
                                </p:cTn>
                              </p:par>
                            </p:childTnLst>
                          </p:cTn>
                        </p:par>
                        <p:par>
                          <p:cTn id="33" fill="hold">
                            <p:stCondLst>
                              <p:cond delay="500"/>
                            </p:stCondLst>
                            <p:childTnLst>
                              <p:par>
                                <p:cTn id="34" presetID="10" presetClass="entr" presetSubtype="0" fill="hold" nodeType="afterEffect">
                                  <p:stCondLst>
                                    <p:cond delay="0"/>
                                  </p:stCondLst>
                                  <p:childTnLst>
                                    <p:set>
                                      <p:cBhvr>
                                        <p:cTn id="35" dur="1" fill="hold">
                                          <p:stCondLst>
                                            <p:cond delay="0"/>
                                          </p:stCondLst>
                                        </p:cTn>
                                        <p:tgtEl>
                                          <p:spTgt spid="35"/>
                                        </p:tgtEl>
                                        <p:attrNameLst>
                                          <p:attrName>style.visibility</p:attrName>
                                        </p:attrNameLst>
                                      </p:cBhvr>
                                      <p:to>
                                        <p:strVal val="visible"/>
                                      </p:to>
                                    </p:set>
                                    <p:animEffect transition="in" filter="fade">
                                      <p:cBhvr>
                                        <p:cTn id="36" dur="500"/>
                                        <p:tgtEl>
                                          <p:spTgt spid="35"/>
                                        </p:tgtEl>
                                      </p:cBhvr>
                                    </p:animEffect>
                                  </p:childTnLst>
                                </p:cTn>
                              </p:par>
                            </p:childTnLst>
                          </p:cTn>
                        </p:par>
                        <p:par>
                          <p:cTn id="37" fill="hold">
                            <p:stCondLst>
                              <p:cond delay="1000"/>
                            </p:stCondLst>
                            <p:childTnLst>
                              <p:par>
                                <p:cTn id="38" presetID="9" presetClass="entr" presetSubtype="0" fill="hold" nodeType="after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dissolve">
                                      <p:cBhvr>
                                        <p:cTn id="40" dur="1000"/>
                                        <p:tgtEl>
                                          <p:spTgt spid="31"/>
                                        </p:tgtEl>
                                      </p:cBhvr>
                                    </p:animEffect>
                                  </p:childTnLst>
                                </p:cTn>
                              </p:par>
                            </p:childTnLst>
                          </p:cTn>
                        </p:par>
                      </p:childTnLst>
                    </p:cTn>
                  </p:par>
                  <p:par>
                    <p:cTn id="41" fill="hold">
                      <p:stCondLst>
                        <p:cond delay="indefinite"/>
                      </p:stCondLst>
                      <p:childTnLst>
                        <p:par>
                          <p:cTn id="42" fill="hold">
                            <p:stCondLst>
                              <p:cond delay="0"/>
                            </p:stCondLst>
                            <p:childTnLst>
                              <p:par>
                                <p:cTn id="43" presetID="8" presetClass="entr" presetSubtype="16" fill="hold" grpId="0" nodeType="clickEffect">
                                  <p:stCondLst>
                                    <p:cond delay="0"/>
                                  </p:stCondLst>
                                  <p:childTnLst>
                                    <p:set>
                                      <p:cBhvr>
                                        <p:cTn id="44" dur="1" fill="hold">
                                          <p:stCondLst>
                                            <p:cond delay="0"/>
                                          </p:stCondLst>
                                        </p:cTn>
                                        <p:tgtEl>
                                          <p:spTgt spid="38"/>
                                        </p:tgtEl>
                                        <p:attrNameLst>
                                          <p:attrName>style.visibility</p:attrName>
                                        </p:attrNameLst>
                                      </p:cBhvr>
                                      <p:to>
                                        <p:strVal val="visible"/>
                                      </p:to>
                                    </p:set>
                                    <p:animEffect transition="in" filter="diamond(in)">
                                      <p:cBhvr>
                                        <p:cTn id="45" dur="2000"/>
                                        <p:tgtEl>
                                          <p:spTgt spid="38"/>
                                        </p:tgtEl>
                                      </p:cBhvr>
                                    </p:animEffect>
                                  </p:childTnLst>
                                </p:cTn>
                              </p:par>
                            </p:childTnLst>
                          </p:cTn>
                        </p:par>
                      </p:childTnLst>
                    </p:cTn>
                  </p:par>
                  <p:par>
                    <p:cTn id="46" fill="hold">
                      <p:stCondLst>
                        <p:cond delay="indefinite"/>
                      </p:stCondLst>
                      <p:childTnLst>
                        <p:par>
                          <p:cTn id="47" fill="hold">
                            <p:stCondLst>
                              <p:cond delay="0"/>
                            </p:stCondLst>
                            <p:childTnLst>
                              <p:par>
                                <p:cTn id="48" presetID="5" presetClass="entr" presetSubtype="10" fill="hold"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checkerboard(across)">
                                      <p:cBhvr>
                                        <p:cTn id="5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0" grpId="0" animBg="1"/>
      <p:bldP spid="38" grpId="0"/>
      <p:bldP spid="39" grpId="0"/>
      <p:bldP spid="4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441827984"/>
              </p:ext>
            </p:extLst>
          </p:nvPr>
        </p:nvGraphicFramePr>
        <p:xfrm>
          <a:off x="228600" y="228600"/>
          <a:ext cx="8763000" cy="6050280"/>
        </p:xfrm>
        <a:graphic>
          <a:graphicData uri="http://schemas.openxmlformats.org/drawingml/2006/table">
            <a:tbl>
              <a:tblPr firstRow="1" firstCol="1" bandRow="1">
                <a:tableStyleId>{5C22544A-7EE6-4342-B048-85BDC9FD1C3A}</a:tableStyleId>
              </a:tblPr>
              <a:tblGrid>
                <a:gridCol w="1828800">
                  <a:extLst>
                    <a:ext uri="{9D8B030D-6E8A-4147-A177-3AD203B41FA5}">
                      <a16:colId xmlns:a16="http://schemas.microsoft.com/office/drawing/2014/main" val="20000"/>
                    </a:ext>
                  </a:extLst>
                </a:gridCol>
                <a:gridCol w="1676034">
                  <a:extLst>
                    <a:ext uri="{9D8B030D-6E8A-4147-A177-3AD203B41FA5}">
                      <a16:colId xmlns:a16="http://schemas.microsoft.com/office/drawing/2014/main" val="20001"/>
                    </a:ext>
                  </a:extLst>
                </a:gridCol>
                <a:gridCol w="1752417">
                  <a:extLst>
                    <a:ext uri="{9D8B030D-6E8A-4147-A177-3AD203B41FA5}">
                      <a16:colId xmlns:a16="http://schemas.microsoft.com/office/drawing/2014/main" val="20002"/>
                    </a:ext>
                  </a:extLst>
                </a:gridCol>
                <a:gridCol w="1752417">
                  <a:extLst>
                    <a:ext uri="{9D8B030D-6E8A-4147-A177-3AD203B41FA5}">
                      <a16:colId xmlns:a16="http://schemas.microsoft.com/office/drawing/2014/main" val="20003"/>
                    </a:ext>
                  </a:extLst>
                </a:gridCol>
                <a:gridCol w="1753332">
                  <a:extLst>
                    <a:ext uri="{9D8B030D-6E8A-4147-A177-3AD203B41FA5}">
                      <a16:colId xmlns:a16="http://schemas.microsoft.com/office/drawing/2014/main" val="20004"/>
                    </a:ext>
                  </a:extLst>
                </a:gridCol>
              </a:tblGrid>
              <a:tr h="1316383">
                <a:tc>
                  <a:txBody>
                    <a:bodyPr/>
                    <a:lstStyle/>
                    <a:p>
                      <a:pPr marL="0" marR="0" algn="ctr">
                        <a:lnSpc>
                          <a:spcPct val="115000"/>
                        </a:lnSpc>
                        <a:spcBef>
                          <a:spcPts val="0"/>
                        </a:spcBef>
                        <a:spcAft>
                          <a:spcPts val="0"/>
                        </a:spcAft>
                      </a:pPr>
                      <a:r>
                        <a:rPr lang="en-US" sz="2800">
                          <a:effectLst/>
                        </a:rPr>
                        <a:t>Quá trình</a:t>
                      </a:r>
                      <a:endParaRPr lang="en-US" sz="2800">
                        <a:effectLst/>
                        <a:latin typeface="Calibri"/>
                        <a:ea typeface="Calibri"/>
                        <a:cs typeface="Times New Roman"/>
                      </a:endParaRPr>
                    </a:p>
                  </a:txBody>
                  <a:tcPr marL="68580" marR="68580" marT="0" marB="0"/>
                </a:tc>
                <a:tc>
                  <a:txBody>
                    <a:bodyPr/>
                    <a:lstStyle/>
                    <a:p>
                      <a:pPr marL="0" marR="0" algn="ctr">
                        <a:lnSpc>
                          <a:spcPct val="100000"/>
                        </a:lnSpc>
                        <a:spcBef>
                          <a:spcPts val="0"/>
                        </a:spcBef>
                        <a:spcAft>
                          <a:spcPts val="0"/>
                        </a:spcAft>
                      </a:pPr>
                      <a:r>
                        <a:rPr lang="en-US" sz="2800">
                          <a:effectLst/>
                        </a:rPr>
                        <a:t>PT của QT</a:t>
                      </a:r>
                      <a:endParaRPr lang="en-US" sz="2800">
                        <a:effectLst/>
                        <a:latin typeface="Calibri"/>
                        <a:ea typeface="Calibri"/>
                        <a:cs typeface="Times New Roman"/>
                      </a:endParaRPr>
                    </a:p>
                  </a:txBody>
                  <a:tcPr marL="68580" marR="68580" marT="0" marB="0"/>
                </a:tc>
                <a:tc>
                  <a:txBody>
                    <a:bodyPr/>
                    <a:lstStyle/>
                    <a:p>
                      <a:pPr marL="0" marR="0" algn="ctr">
                        <a:lnSpc>
                          <a:spcPct val="200000"/>
                        </a:lnSpc>
                        <a:spcBef>
                          <a:spcPts val="0"/>
                        </a:spcBef>
                        <a:spcAft>
                          <a:spcPts val="0"/>
                        </a:spcAft>
                      </a:pPr>
                      <a:r>
                        <a:rPr lang="en-US" sz="2800">
                          <a:effectLst/>
                        </a:rPr>
                        <a:t>A</a:t>
                      </a:r>
                      <a:endParaRPr lang="en-US" sz="2800">
                        <a:effectLst/>
                        <a:latin typeface="Calibri"/>
                        <a:ea typeface="Calibri"/>
                        <a:cs typeface="Times New Roman"/>
                      </a:endParaRPr>
                    </a:p>
                  </a:txBody>
                  <a:tcPr marL="68580" marR="68580" marT="0" marB="0"/>
                </a:tc>
                <a:tc>
                  <a:txBody>
                    <a:bodyPr/>
                    <a:lstStyle/>
                    <a:p>
                      <a:pPr marL="0" marR="0" algn="ctr">
                        <a:lnSpc>
                          <a:spcPct val="200000"/>
                        </a:lnSpc>
                        <a:spcBef>
                          <a:spcPts val="0"/>
                        </a:spcBef>
                        <a:spcAft>
                          <a:spcPts val="0"/>
                        </a:spcAft>
                      </a:pPr>
                      <a:r>
                        <a:rPr lang="en-US" sz="2800">
                          <a:effectLst/>
                        </a:rPr>
                        <a:t>Q</a:t>
                      </a:r>
                      <a:endParaRPr lang="en-US" sz="2800">
                        <a:effectLst/>
                        <a:latin typeface="Calibri"/>
                        <a:ea typeface="Calibri"/>
                        <a:cs typeface="Times New Roman"/>
                      </a:endParaRPr>
                    </a:p>
                  </a:txBody>
                  <a:tcPr marL="68580" marR="68580" marT="0" marB="0"/>
                </a:tc>
                <a:tc>
                  <a:txBody>
                    <a:bodyPr/>
                    <a:lstStyle/>
                    <a:p>
                      <a:pPr marL="0" marR="0" algn="ctr">
                        <a:lnSpc>
                          <a:spcPct val="200000"/>
                        </a:lnSpc>
                        <a:spcBef>
                          <a:spcPts val="0"/>
                        </a:spcBef>
                        <a:spcAft>
                          <a:spcPts val="0"/>
                        </a:spcAft>
                      </a:pPr>
                      <a:r>
                        <a:rPr lang="en-US" sz="2800">
                          <a:effectLst/>
                        </a:rPr>
                        <a:t>ΔU</a:t>
                      </a:r>
                      <a:endParaRPr lang="en-US" sz="280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1198217">
                <a:tc>
                  <a:txBody>
                    <a:bodyPr/>
                    <a:lstStyle/>
                    <a:p>
                      <a:pPr marL="0" marR="0" algn="ctr">
                        <a:lnSpc>
                          <a:spcPct val="115000"/>
                        </a:lnSpc>
                        <a:spcBef>
                          <a:spcPts val="0"/>
                        </a:spcBef>
                        <a:spcAft>
                          <a:spcPts val="0"/>
                        </a:spcAft>
                      </a:pPr>
                      <a:r>
                        <a:rPr lang="en-US" sz="2800">
                          <a:effectLst/>
                        </a:rPr>
                        <a:t>Đẳng tích</a:t>
                      </a:r>
                      <a:endParaRPr lang="en-US" sz="280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endParaRPr lang="en-US" sz="2800">
                        <a:effectLst/>
                        <a:latin typeface="Times New Roman"/>
                        <a:ea typeface="Calibri"/>
                        <a:cs typeface="Times New Roman"/>
                      </a:endParaRPr>
                    </a:p>
                  </a:txBody>
                  <a:tcPr marL="68580" marR="68580" marT="0" marB="0"/>
                </a:tc>
                <a:tc>
                  <a:txBody>
                    <a:bodyPr/>
                    <a:lstStyle/>
                    <a:p>
                      <a:pPr marL="0" marR="0" algn="ctr">
                        <a:lnSpc>
                          <a:spcPct val="200000"/>
                        </a:lnSpc>
                        <a:spcBef>
                          <a:spcPts val="0"/>
                        </a:spcBef>
                        <a:spcAft>
                          <a:spcPts val="0"/>
                        </a:spcAft>
                      </a:pPr>
                      <a:r>
                        <a:rPr lang="en-US" sz="3600" b="1">
                          <a:solidFill>
                            <a:srgbClr val="FF0000"/>
                          </a:solidFill>
                          <a:effectLst/>
                        </a:rPr>
                        <a:t>0</a:t>
                      </a:r>
                      <a:endParaRPr lang="en-US" sz="3600" b="1">
                        <a:solidFill>
                          <a:srgbClr val="FF0000"/>
                        </a:solidFill>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endParaRPr lang="en-US" sz="2800">
                        <a:effectLst/>
                        <a:latin typeface="Times New Roman"/>
                        <a:ea typeface="Calibri"/>
                        <a:cs typeface="Times New Roman"/>
                      </a:endParaRPr>
                    </a:p>
                  </a:txBody>
                  <a:tcPr marL="68580" marR="68580" marT="0" marB="0"/>
                </a:tc>
                <a:tc>
                  <a:txBody>
                    <a:bodyPr/>
                    <a:lstStyle/>
                    <a:p>
                      <a:pPr marL="0" marR="0" algn="ctr">
                        <a:lnSpc>
                          <a:spcPct val="115000"/>
                        </a:lnSpc>
                        <a:spcBef>
                          <a:spcPts val="0"/>
                        </a:spcBef>
                        <a:spcAft>
                          <a:spcPts val="0"/>
                        </a:spcAft>
                      </a:pPr>
                      <a:endParaRPr lang="en-US" sz="2800">
                        <a:effectLst/>
                        <a:latin typeface="Times New Roman"/>
                        <a:ea typeface="Calibri"/>
                        <a:cs typeface="Times New Roman"/>
                      </a:endParaRPr>
                    </a:p>
                  </a:txBody>
                  <a:tcPr marL="68580" marR="68580" marT="0" marB="0"/>
                </a:tc>
                <a:extLst>
                  <a:ext uri="{0D108BD9-81ED-4DB2-BD59-A6C34878D82A}">
                    <a16:rowId xmlns:a16="http://schemas.microsoft.com/office/drawing/2014/main" val="10001"/>
                  </a:ext>
                </a:extLst>
              </a:tr>
              <a:tr h="1295400">
                <a:tc>
                  <a:txBody>
                    <a:bodyPr/>
                    <a:lstStyle/>
                    <a:p>
                      <a:pPr marL="0" marR="0" algn="ctr">
                        <a:lnSpc>
                          <a:spcPct val="115000"/>
                        </a:lnSpc>
                        <a:spcBef>
                          <a:spcPts val="0"/>
                        </a:spcBef>
                        <a:spcAft>
                          <a:spcPts val="0"/>
                        </a:spcAft>
                      </a:pPr>
                      <a:r>
                        <a:rPr lang="en-US" sz="2800">
                          <a:effectLst/>
                        </a:rPr>
                        <a:t>Đẳng áp</a:t>
                      </a:r>
                      <a:endParaRPr lang="en-US" sz="280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endParaRPr lang="en-US" sz="2800">
                        <a:effectLst/>
                        <a:latin typeface="Times New Roman"/>
                        <a:ea typeface="Calibri"/>
                        <a:cs typeface="Times New Roman"/>
                      </a:endParaRPr>
                    </a:p>
                  </a:txBody>
                  <a:tcPr marL="68580" marR="68580" marT="0" marB="0"/>
                </a:tc>
                <a:tc>
                  <a:txBody>
                    <a:bodyPr/>
                    <a:lstStyle/>
                    <a:p>
                      <a:pPr marL="0" marR="0" algn="ctr">
                        <a:lnSpc>
                          <a:spcPct val="115000"/>
                        </a:lnSpc>
                        <a:spcBef>
                          <a:spcPts val="0"/>
                        </a:spcBef>
                        <a:spcAft>
                          <a:spcPts val="0"/>
                        </a:spcAft>
                      </a:pPr>
                      <a:endParaRPr lang="en-US" sz="2800">
                        <a:effectLst/>
                        <a:latin typeface="Times New Roman"/>
                        <a:ea typeface="Calibri"/>
                        <a:cs typeface="Times New Roman"/>
                      </a:endParaRPr>
                    </a:p>
                  </a:txBody>
                  <a:tcPr marL="68580" marR="68580" marT="0" marB="0"/>
                </a:tc>
                <a:tc>
                  <a:txBody>
                    <a:bodyPr/>
                    <a:lstStyle/>
                    <a:p>
                      <a:pPr marL="0" marR="0" algn="ctr">
                        <a:lnSpc>
                          <a:spcPct val="115000"/>
                        </a:lnSpc>
                        <a:spcBef>
                          <a:spcPts val="0"/>
                        </a:spcBef>
                        <a:spcAft>
                          <a:spcPts val="0"/>
                        </a:spcAft>
                      </a:pPr>
                      <a:endParaRPr lang="en-US" sz="2800">
                        <a:effectLst/>
                        <a:latin typeface="Times New Roman"/>
                        <a:ea typeface="Calibri"/>
                        <a:cs typeface="Times New Roman"/>
                      </a:endParaRPr>
                    </a:p>
                  </a:txBody>
                  <a:tcPr marL="68580" marR="68580" marT="0" marB="0"/>
                </a:tc>
                <a:tc>
                  <a:txBody>
                    <a:bodyPr/>
                    <a:lstStyle/>
                    <a:p>
                      <a:pPr marL="0" marR="0" algn="ctr">
                        <a:lnSpc>
                          <a:spcPct val="115000"/>
                        </a:lnSpc>
                        <a:spcBef>
                          <a:spcPts val="0"/>
                        </a:spcBef>
                        <a:spcAft>
                          <a:spcPts val="0"/>
                        </a:spcAft>
                      </a:pPr>
                      <a:endParaRPr lang="en-US" sz="2800">
                        <a:effectLst/>
                        <a:latin typeface="Times New Roman"/>
                        <a:ea typeface="Calibri"/>
                        <a:cs typeface="Times New Roman"/>
                      </a:endParaRPr>
                    </a:p>
                  </a:txBody>
                  <a:tcPr marL="68580" marR="68580" marT="0" marB="0"/>
                </a:tc>
                <a:extLst>
                  <a:ext uri="{0D108BD9-81ED-4DB2-BD59-A6C34878D82A}">
                    <a16:rowId xmlns:a16="http://schemas.microsoft.com/office/drawing/2014/main" val="10002"/>
                  </a:ext>
                </a:extLst>
              </a:tr>
              <a:tr h="1143000">
                <a:tc>
                  <a:txBody>
                    <a:bodyPr/>
                    <a:lstStyle/>
                    <a:p>
                      <a:pPr marL="0" marR="0" algn="ctr">
                        <a:lnSpc>
                          <a:spcPct val="115000"/>
                        </a:lnSpc>
                        <a:spcBef>
                          <a:spcPts val="0"/>
                        </a:spcBef>
                        <a:spcAft>
                          <a:spcPts val="0"/>
                        </a:spcAft>
                      </a:pPr>
                      <a:r>
                        <a:rPr lang="en-US" sz="2800">
                          <a:effectLst/>
                        </a:rPr>
                        <a:t>Đẳng nhiệt</a:t>
                      </a:r>
                      <a:endParaRPr lang="en-US" sz="280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endParaRPr lang="en-US" sz="2800">
                        <a:effectLst/>
                        <a:latin typeface="Times New Roman"/>
                        <a:ea typeface="Calibri"/>
                        <a:cs typeface="Times New Roman"/>
                      </a:endParaRPr>
                    </a:p>
                  </a:txBody>
                  <a:tcPr marL="68580" marR="68580" marT="0" marB="0"/>
                </a:tc>
                <a:tc>
                  <a:txBody>
                    <a:bodyPr/>
                    <a:lstStyle/>
                    <a:p>
                      <a:pPr marL="0" marR="0" algn="ctr">
                        <a:lnSpc>
                          <a:spcPct val="115000"/>
                        </a:lnSpc>
                        <a:spcBef>
                          <a:spcPts val="0"/>
                        </a:spcBef>
                        <a:spcAft>
                          <a:spcPts val="0"/>
                        </a:spcAft>
                      </a:pPr>
                      <a:endParaRPr lang="en-US" sz="2800">
                        <a:effectLst/>
                        <a:latin typeface="Times New Roman"/>
                        <a:ea typeface="Calibri"/>
                        <a:cs typeface="Times New Roman"/>
                      </a:endParaRPr>
                    </a:p>
                  </a:txBody>
                  <a:tcPr marL="68580" marR="68580" marT="0" marB="0"/>
                </a:tc>
                <a:tc>
                  <a:txBody>
                    <a:bodyPr/>
                    <a:lstStyle/>
                    <a:p>
                      <a:pPr marL="0" marR="0" algn="ctr">
                        <a:lnSpc>
                          <a:spcPct val="115000"/>
                        </a:lnSpc>
                        <a:spcBef>
                          <a:spcPts val="0"/>
                        </a:spcBef>
                        <a:spcAft>
                          <a:spcPts val="0"/>
                        </a:spcAft>
                      </a:pPr>
                      <a:endParaRPr lang="en-US" sz="2800">
                        <a:effectLst/>
                        <a:latin typeface="Times New Roman"/>
                        <a:ea typeface="Calibri"/>
                        <a:cs typeface="Times New Roman"/>
                      </a:endParaRPr>
                    </a:p>
                  </a:txBody>
                  <a:tcPr marL="68580" marR="68580" marT="0" marB="0"/>
                </a:tc>
                <a:tc>
                  <a:txBody>
                    <a:bodyPr/>
                    <a:lstStyle/>
                    <a:p>
                      <a:pPr marL="0" marR="0" algn="ctr">
                        <a:lnSpc>
                          <a:spcPct val="200000"/>
                        </a:lnSpc>
                        <a:spcBef>
                          <a:spcPts val="0"/>
                        </a:spcBef>
                        <a:spcAft>
                          <a:spcPts val="0"/>
                        </a:spcAft>
                      </a:pPr>
                      <a:r>
                        <a:rPr lang="en-US" sz="3600" b="1">
                          <a:solidFill>
                            <a:srgbClr val="FF0000"/>
                          </a:solidFill>
                          <a:effectLst/>
                        </a:rPr>
                        <a:t>0</a:t>
                      </a:r>
                      <a:endParaRPr lang="en-US" sz="3600" b="1">
                        <a:solidFill>
                          <a:srgbClr val="FF0000"/>
                        </a:solidFill>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1066800">
                <a:tc>
                  <a:txBody>
                    <a:bodyPr/>
                    <a:lstStyle/>
                    <a:p>
                      <a:pPr marL="0" marR="0" algn="ctr">
                        <a:lnSpc>
                          <a:spcPct val="115000"/>
                        </a:lnSpc>
                        <a:spcBef>
                          <a:spcPts val="0"/>
                        </a:spcBef>
                        <a:spcAft>
                          <a:spcPts val="0"/>
                        </a:spcAft>
                      </a:pPr>
                      <a:r>
                        <a:rPr lang="en-US" sz="2800">
                          <a:effectLst/>
                        </a:rPr>
                        <a:t>Đoạn nhiệt</a:t>
                      </a:r>
                      <a:endParaRPr lang="en-US" sz="280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endParaRPr lang="en-US" sz="2800">
                        <a:effectLst/>
                        <a:latin typeface="Times New Roman"/>
                        <a:ea typeface="Calibri"/>
                        <a:cs typeface="Times New Roman"/>
                      </a:endParaRPr>
                    </a:p>
                  </a:txBody>
                  <a:tcPr marL="68580" marR="68580" marT="0" marB="0"/>
                </a:tc>
                <a:tc>
                  <a:txBody>
                    <a:bodyPr/>
                    <a:lstStyle/>
                    <a:p>
                      <a:pPr marL="0" marR="0" algn="ctr">
                        <a:lnSpc>
                          <a:spcPct val="115000"/>
                        </a:lnSpc>
                        <a:spcBef>
                          <a:spcPts val="0"/>
                        </a:spcBef>
                        <a:spcAft>
                          <a:spcPts val="0"/>
                        </a:spcAft>
                      </a:pPr>
                      <a:endParaRPr lang="en-US" sz="2800">
                        <a:effectLst/>
                        <a:latin typeface="Times New Roman"/>
                        <a:ea typeface="Calibri"/>
                        <a:cs typeface="Times New Roman"/>
                      </a:endParaRPr>
                    </a:p>
                  </a:txBody>
                  <a:tcPr marL="68580" marR="68580" marT="0" marB="0"/>
                </a:tc>
                <a:tc>
                  <a:txBody>
                    <a:bodyPr/>
                    <a:lstStyle/>
                    <a:p>
                      <a:pPr marL="0" marR="0" algn="ctr">
                        <a:lnSpc>
                          <a:spcPct val="200000"/>
                        </a:lnSpc>
                        <a:spcBef>
                          <a:spcPts val="0"/>
                        </a:spcBef>
                        <a:spcAft>
                          <a:spcPts val="0"/>
                        </a:spcAft>
                      </a:pPr>
                      <a:r>
                        <a:rPr lang="en-US" sz="3600" b="1">
                          <a:solidFill>
                            <a:srgbClr val="FF0000"/>
                          </a:solidFill>
                          <a:effectLst/>
                        </a:rPr>
                        <a:t>0</a:t>
                      </a:r>
                      <a:endParaRPr lang="en-US" sz="3600" b="1">
                        <a:solidFill>
                          <a:srgbClr val="FF0000"/>
                        </a:solidFill>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endParaRPr lang="en-US" sz="2800">
                        <a:effectLst/>
                        <a:latin typeface="Times New Roman"/>
                        <a:ea typeface="Calibri"/>
                        <a:cs typeface="Times New Roman"/>
                      </a:endParaRPr>
                    </a:p>
                  </a:txBody>
                  <a:tcPr marL="68580" marR="68580" marT="0" marB="0"/>
                </a:tc>
                <a:extLst>
                  <a:ext uri="{0D108BD9-81ED-4DB2-BD59-A6C34878D82A}">
                    <a16:rowId xmlns:a16="http://schemas.microsoft.com/office/drawing/2014/main" val="10004"/>
                  </a:ext>
                </a:extLst>
              </a:tr>
            </a:tbl>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2576945882"/>
              </p:ext>
            </p:extLst>
          </p:nvPr>
        </p:nvGraphicFramePr>
        <p:xfrm>
          <a:off x="2209800" y="1828800"/>
          <a:ext cx="1247851" cy="746323"/>
        </p:xfrm>
        <a:graphic>
          <a:graphicData uri="http://schemas.openxmlformats.org/presentationml/2006/ole">
            <mc:AlternateContent xmlns:mc="http://schemas.openxmlformats.org/markup-compatibility/2006">
              <mc:Choice xmlns:v="urn:schemas-microsoft-com:vml" Requires="v">
                <p:oleObj name="Equation" r:id="rId2" imgW="660113" imgH="393529" progId="Equation.DSMT4">
                  <p:embed/>
                </p:oleObj>
              </mc:Choice>
              <mc:Fallback>
                <p:oleObj name="Equation" r:id="rId2" imgW="660113" imgH="393529"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828800"/>
                        <a:ext cx="1247851" cy="746323"/>
                      </a:xfrm>
                      <a:prstGeom prst="rect">
                        <a:avLst/>
                      </a:prstGeom>
                      <a:noFill/>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30675241"/>
              </p:ext>
            </p:extLst>
          </p:nvPr>
        </p:nvGraphicFramePr>
        <p:xfrm>
          <a:off x="5562600" y="1600200"/>
          <a:ext cx="1371600" cy="1066800"/>
        </p:xfrm>
        <a:graphic>
          <a:graphicData uri="http://schemas.openxmlformats.org/presentationml/2006/ole">
            <mc:AlternateContent xmlns:mc="http://schemas.openxmlformats.org/markup-compatibility/2006">
              <mc:Choice xmlns:v="urn:schemas-microsoft-com:vml" Requires="v">
                <p:oleObj name="Equation" r:id="rId4" imgW="545863" imgH="418918" progId="Equation.DSMT4">
                  <p:embed/>
                </p:oleObj>
              </mc:Choice>
              <mc:Fallback>
                <p:oleObj name="Equation" r:id="rId4" imgW="545863" imgH="418918"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2600" y="1600200"/>
                        <a:ext cx="1371600" cy="1066800"/>
                      </a:xfrm>
                      <a:prstGeom prst="rect">
                        <a:avLst/>
                      </a:prstGeom>
                      <a:noFill/>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388370112"/>
              </p:ext>
            </p:extLst>
          </p:nvPr>
        </p:nvGraphicFramePr>
        <p:xfrm>
          <a:off x="7467600" y="1600200"/>
          <a:ext cx="1295400" cy="1066800"/>
        </p:xfrm>
        <a:graphic>
          <a:graphicData uri="http://schemas.openxmlformats.org/presentationml/2006/ole">
            <mc:AlternateContent xmlns:mc="http://schemas.openxmlformats.org/markup-compatibility/2006">
              <mc:Choice xmlns:v="urn:schemas-microsoft-com:vml" Requires="v">
                <p:oleObj name="Equation" r:id="rId4" imgW="545863" imgH="418918" progId="Equation.DSMT4">
                  <p:embed/>
                </p:oleObj>
              </mc:Choice>
              <mc:Fallback>
                <p:oleObj name="Equation" r:id="rId4" imgW="545863" imgH="418918"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7600" y="1600200"/>
                        <a:ext cx="1295400" cy="1066800"/>
                      </a:xfrm>
                      <a:prstGeom prst="rect">
                        <a:avLst/>
                      </a:prstGeom>
                      <a:noFill/>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935371423"/>
              </p:ext>
            </p:extLst>
          </p:nvPr>
        </p:nvGraphicFramePr>
        <p:xfrm>
          <a:off x="2209800" y="2895599"/>
          <a:ext cx="1295400" cy="774761"/>
        </p:xfrm>
        <a:graphic>
          <a:graphicData uri="http://schemas.openxmlformats.org/presentationml/2006/ole">
            <mc:AlternateContent xmlns:mc="http://schemas.openxmlformats.org/markup-compatibility/2006">
              <mc:Choice xmlns:v="urn:schemas-microsoft-com:vml" Requires="v">
                <p:oleObj name="Equation" r:id="rId6" imgW="660113" imgH="393529" progId="Equation.DSMT4">
                  <p:embed/>
                </p:oleObj>
              </mc:Choice>
              <mc:Fallback>
                <p:oleObj name="Equation" r:id="rId6" imgW="660113" imgH="393529"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9800" y="2895599"/>
                        <a:ext cx="1295400" cy="774761"/>
                      </a:xfrm>
                      <a:prstGeom prst="rect">
                        <a:avLst/>
                      </a:prstGeom>
                      <a:noFill/>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4236573637"/>
              </p:ext>
            </p:extLst>
          </p:nvPr>
        </p:nvGraphicFramePr>
        <p:xfrm>
          <a:off x="3886200" y="3124200"/>
          <a:ext cx="1371600" cy="533400"/>
        </p:xfrm>
        <a:graphic>
          <a:graphicData uri="http://schemas.openxmlformats.org/presentationml/2006/ole">
            <mc:AlternateContent xmlns:mc="http://schemas.openxmlformats.org/markup-compatibility/2006">
              <mc:Choice xmlns:v="urn:schemas-microsoft-com:vml" Requires="v">
                <p:oleObj name="Equation" r:id="rId8" imgW="647700" imgH="228600" progId="Equation.DSMT4">
                  <p:embed/>
                </p:oleObj>
              </mc:Choice>
              <mc:Fallback>
                <p:oleObj name="Equation" r:id="rId8" imgW="647700" imgH="2286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86200" y="3124200"/>
                        <a:ext cx="1371600" cy="533400"/>
                      </a:xfrm>
                      <a:prstGeom prst="rect">
                        <a:avLst/>
                      </a:prstGeom>
                      <a:noFill/>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2466578088"/>
              </p:ext>
            </p:extLst>
          </p:nvPr>
        </p:nvGraphicFramePr>
        <p:xfrm>
          <a:off x="5638800" y="2971800"/>
          <a:ext cx="1295400" cy="977102"/>
        </p:xfrm>
        <a:graphic>
          <a:graphicData uri="http://schemas.openxmlformats.org/presentationml/2006/ole">
            <mc:AlternateContent xmlns:mc="http://schemas.openxmlformats.org/markup-compatibility/2006">
              <mc:Choice xmlns:v="urn:schemas-microsoft-com:vml" Requires="v">
                <p:oleObj name="Equation" r:id="rId10" imgW="558800" imgH="419100" progId="Equation.DSMT4">
                  <p:embed/>
                </p:oleObj>
              </mc:Choice>
              <mc:Fallback>
                <p:oleObj name="Equation" r:id="rId10" imgW="558800" imgH="4191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38800" y="2971800"/>
                        <a:ext cx="1295400" cy="977102"/>
                      </a:xfrm>
                      <a:prstGeom prst="rect">
                        <a:avLst/>
                      </a:prstGeom>
                      <a:noFill/>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4274116906"/>
              </p:ext>
            </p:extLst>
          </p:nvPr>
        </p:nvGraphicFramePr>
        <p:xfrm>
          <a:off x="7467600" y="2971800"/>
          <a:ext cx="1219200" cy="930257"/>
        </p:xfrm>
        <a:graphic>
          <a:graphicData uri="http://schemas.openxmlformats.org/presentationml/2006/ole">
            <mc:AlternateContent xmlns:mc="http://schemas.openxmlformats.org/markup-compatibility/2006">
              <mc:Choice xmlns:v="urn:schemas-microsoft-com:vml" Requires="v">
                <p:oleObj name="Equation" r:id="rId4" imgW="545863" imgH="418918" progId="Equation.DSMT4">
                  <p:embed/>
                </p:oleObj>
              </mc:Choice>
              <mc:Fallback>
                <p:oleObj name="Equation" r:id="rId4" imgW="545863" imgH="418918"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7600" y="2971800"/>
                        <a:ext cx="1219200" cy="930257"/>
                      </a:xfrm>
                      <a:prstGeom prst="rect">
                        <a:avLst/>
                      </a:prstGeom>
                      <a:noFill/>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513320882"/>
              </p:ext>
            </p:extLst>
          </p:nvPr>
        </p:nvGraphicFramePr>
        <p:xfrm>
          <a:off x="2133600" y="4419600"/>
          <a:ext cx="1295400" cy="381000"/>
        </p:xfrm>
        <a:graphic>
          <a:graphicData uri="http://schemas.openxmlformats.org/presentationml/2006/ole">
            <mc:AlternateContent xmlns:mc="http://schemas.openxmlformats.org/markup-compatibility/2006">
              <mc:Choice xmlns:v="urn:schemas-microsoft-com:vml" Requires="v">
                <p:oleObj name="Equation" r:id="rId12" imgW="685502" imgH="165028" progId="Equation.DSMT4">
                  <p:embed/>
                </p:oleObj>
              </mc:Choice>
              <mc:Fallback>
                <p:oleObj name="Equation" r:id="rId12" imgW="685502" imgH="165028"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33600" y="4419600"/>
                        <a:ext cx="1295400" cy="381000"/>
                      </a:xfrm>
                      <a:prstGeom prst="rect">
                        <a:avLst/>
                      </a:prstGeom>
                      <a:noFill/>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3813757532"/>
              </p:ext>
            </p:extLst>
          </p:nvPr>
        </p:nvGraphicFramePr>
        <p:xfrm>
          <a:off x="3886200" y="4191000"/>
          <a:ext cx="1447800" cy="869951"/>
        </p:xfrm>
        <a:graphic>
          <a:graphicData uri="http://schemas.openxmlformats.org/presentationml/2006/ole">
            <mc:AlternateContent xmlns:mc="http://schemas.openxmlformats.org/markup-compatibility/2006">
              <mc:Choice xmlns:v="urn:schemas-microsoft-com:vml" Requires="v">
                <p:oleObj name="Equation" r:id="rId14" imgW="723586" imgH="431613" progId="Equation.DSMT4">
                  <p:embed/>
                </p:oleObj>
              </mc:Choice>
              <mc:Fallback>
                <p:oleObj name="Equation" r:id="rId14" imgW="723586" imgH="431613"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86200" y="4191000"/>
                        <a:ext cx="1447800" cy="869951"/>
                      </a:xfrm>
                      <a:prstGeom prst="rect">
                        <a:avLst/>
                      </a:prstGeom>
                      <a:noFill/>
                    </p:spPr>
                  </p:pic>
                </p:oleObj>
              </mc:Fallback>
            </mc:AlternateContent>
          </a:graphicData>
        </a:graphic>
      </p:graphicFrame>
      <p:graphicFrame>
        <p:nvGraphicFramePr>
          <p:cNvPr id="14" name="Object 13"/>
          <p:cNvGraphicFramePr>
            <a:graphicFrameLocks noChangeAspect="1"/>
          </p:cNvGraphicFramePr>
          <p:nvPr>
            <p:extLst>
              <p:ext uri="{D42A27DB-BD31-4B8C-83A1-F6EECF244321}">
                <p14:modId xmlns:p14="http://schemas.microsoft.com/office/powerpoint/2010/main" val="3140637881"/>
              </p:ext>
            </p:extLst>
          </p:nvPr>
        </p:nvGraphicFramePr>
        <p:xfrm>
          <a:off x="5638800" y="4191000"/>
          <a:ext cx="1524000" cy="915737"/>
        </p:xfrm>
        <a:graphic>
          <a:graphicData uri="http://schemas.openxmlformats.org/presentationml/2006/ole">
            <mc:AlternateContent xmlns:mc="http://schemas.openxmlformats.org/markup-compatibility/2006">
              <mc:Choice xmlns:v="urn:schemas-microsoft-com:vml" Requires="v">
                <p:oleObj name="Equation" r:id="rId16" imgW="723586" imgH="431613" progId="Equation.DSMT4">
                  <p:embed/>
                </p:oleObj>
              </mc:Choice>
              <mc:Fallback>
                <p:oleObj name="Equation" r:id="rId16" imgW="723586" imgH="431613"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638800" y="4191000"/>
                        <a:ext cx="1524000" cy="915737"/>
                      </a:xfrm>
                      <a:prstGeom prst="rect">
                        <a:avLst/>
                      </a:prstGeom>
                      <a:noFill/>
                    </p:spPr>
                  </p:pic>
                </p:oleObj>
              </mc:Fallback>
            </mc:AlternateContent>
          </a:graphicData>
        </a:graphic>
      </p:graphicFrame>
      <p:graphicFrame>
        <p:nvGraphicFramePr>
          <p:cNvPr id="15" name="Object 14"/>
          <p:cNvGraphicFramePr>
            <a:graphicFrameLocks noChangeAspect="1"/>
          </p:cNvGraphicFramePr>
          <p:nvPr>
            <p:extLst>
              <p:ext uri="{D42A27DB-BD31-4B8C-83A1-F6EECF244321}">
                <p14:modId xmlns:p14="http://schemas.microsoft.com/office/powerpoint/2010/main" val="82937720"/>
              </p:ext>
            </p:extLst>
          </p:nvPr>
        </p:nvGraphicFramePr>
        <p:xfrm>
          <a:off x="2057401" y="5410200"/>
          <a:ext cx="1600200" cy="537882"/>
        </p:xfrm>
        <a:graphic>
          <a:graphicData uri="http://schemas.openxmlformats.org/presentationml/2006/ole">
            <mc:AlternateContent xmlns:mc="http://schemas.openxmlformats.org/markup-compatibility/2006">
              <mc:Choice xmlns:v="urn:schemas-microsoft-com:vml" Requires="v">
                <p:oleObj name="Equation" r:id="rId18" imgW="812447" imgH="203112" progId="Equation.DSMT4">
                  <p:embed/>
                </p:oleObj>
              </mc:Choice>
              <mc:Fallback>
                <p:oleObj name="Equation" r:id="rId18" imgW="812447" imgH="203112"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057401" y="5410200"/>
                        <a:ext cx="1600200" cy="537882"/>
                      </a:xfrm>
                      <a:prstGeom prst="rect">
                        <a:avLst/>
                      </a:prstGeom>
                      <a:noFill/>
                    </p:spPr>
                  </p:pic>
                </p:oleObj>
              </mc:Fallback>
            </mc:AlternateContent>
          </a:graphicData>
        </a:graphic>
      </p:graphicFrame>
      <p:graphicFrame>
        <p:nvGraphicFramePr>
          <p:cNvPr id="2" name="Object 1"/>
          <p:cNvGraphicFramePr>
            <a:graphicFrameLocks noChangeAspect="1"/>
          </p:cNvGraphicFramePr>
          <p:nvPr>
            <p:extLst>
              <p:ext uri="{D42A27DB-BD31-4B8C-83A1-F6EECF244321}">
                <p14:modId xmlns:p14="http://schemas.microsoft.com/office/powerpoint/2010/main" val="908353213"/>
              </p:ext>
            </p:extLst>
          </p:nvPr>
        </p:nvGraphicFramePr>
        <p:xfrm>
          <a:off x="7543800" y="5257800"/>
          <a:ext cx="1219200" cy="930275"/>
        </p:xfrm>
        <a:graphic>
          <a:graphicData uri="http://schemas.openxmlformats.org/presentationml/2006/ole">
            <mc:AlternateContent xmlns:mc="http://schemas.openxmlformats.org/markup-compatibility/2006">
              <mc:Choice xmlns:v="urn:schemas-microsoft-com:vml" Requires="v">
                <p:oleObj name="Equation" r:id="rId4" imgW="545863" imgH="418918" progId="Equation.DSMT4">
                  <p:embed/>
                </p:oleObj>
              </mc:Choice>
              <mc:Fallback>
                <p:oleObj name="Equation" r:id="rId4" imgW="545863" imgH="418918"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43800" y="5257800"/>
                        <a:ext cx="1219200"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1542031928"/>
              </p:ext>
            </p:extLst>
          </p:nvPr>
        </p:nvGraphicFramePr>
        <p:xfrm>
          <a:off x="3962400" y="5257800"/>
          <a:ext cx="1219200" cy="930275"/>
        </p:xfrm>
        <a:graphic>
          <a:graphicData uri="http://schemas.openxmlformats.org/presentationml/2006/ole">
            <mc:AlternateContent xmlns:mc="http://schemas.openxmlformats.org/markup-compatibility/2006">
              <mc:Choice xmlns:v="urn:schemas-microsoft-com:vml" Requires="v">
                <p:oleObj name="Equation" r:id="rId4" imgW="545863" imgH="418918" progId="Equation.DSMT4">
                  <p:embed/>
                </p:oleObj>
              </mc:Choice>
              <mc:Fallback>
                <p:oleObj name="Equation" r:id="rId4" imgW="545863" imgH="418918"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62400" y="5257800"/>
                        <a:ext cx="1219200"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Footer Placeholder 15">
            <a:extLst>
              <a:ext uri="{FF2B5EF4-FFF2-40B4-BE49-F238E27FC236}">
                <a16:creationId xmlns:a16="http://schemas.microsoft.com/office/drawing/2014/main" id="{3453F6D2-2AE3-331F-AA25-6BF17E9846C4}"/>
              </a:ext>
            </a:extLst>
          </p:cNvPr>
          <p:cNvSpPr>
            <a:spLocks noGrp="1"/>
          </p:cNvSpPr>
          <p:nvPr>
            <p:ph type="ftr" sz="quarter" idx="11"/>
          </p:nvPr>
        </p:nvSpPr>
        <p:spPr/>
        <p:txBody>
          <a:bodyPr/>
          <a:lstStyle/>
          <a:p>
            <a:r>
              <a:rPr lang="en-US"/>
              <a:t>Bùi Quốc Trung - VLDC</a:t>
            </a:r>
          </a:p>
        </p:txBody>
      </p:sp>
      <p:sp>
        <p:nvSpPr>
          <p:cNvPr id="17" name="Slide Number Placeholder 16">
            <a:extLst>
              <a:ext uri="{FF2B5EF4-FFF2-40B4-BE49-F238E27FC236}">
                <a16:creationId xmlns:a16="http://schemas.microsoft.com/office/drawing/2014/main" id="{56846FC1-E0CE-F864-808D-F82BAFE16C1A}"/>
              </a:ext>
            </a:extLst>
          </p:cNvPr>
          <p:cNvSpPr>
            <a:spLocks noGrp="1"/>
          </p:cNvSpPr>
          <p:nvPr>
            <p:ph type="sldNum" sz="quarter" idx="12"/>
          </p:nvPr>
        </p:nvSpPr>
        <p:spPr/>
        <p:txBody>
          <a:bodyPr/>
          <a:lstStyle/>
          <a:p>
            <a:fld id="{0C173468-4CCE-478A-9725-791AF0DB04F2}" type="slidenum">
              <a:rPr lang="en-US" smtClean="0"/>
              <a:t>36</a:t>
            </a:fld>
            <a:endParaRPr lang="en-US"/>
          </a:p>
        </p:txBody>
      </p:sp>
    </p:spTree>
    <p:extLst>
      <p:ext uri="{BB962C8B-B14F-4D97-AF65-F5344CB8AC3E}">
        <p14:creationId xmlns:p14="http://schemas.microsoft.com/office/powerpoint/2010/main" val="23664905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4"/>
          <p:cNvSpPr>
            <a:spLocks noGrp="1" noChangeArrowheads="1"/>
          </p:cNvSpPr>
          <p:nvPr>
            <p:ph/>
          </p:nvPr>
        </p:nvSpPr>
        <p:spPr/>
        <p:style>
          <a:lnRef idx="1">
            <a:schemeClr val="accent3"/>
          </a:lnRef>
          <a:fillRef idx="2">
            <a:schemeClr val="accent3"/>
          </a:fillRef>
          <a:effectRef idx="1">
            <a:schemeClr val="accent3"/>
          </a:effectRef>
          <a:fontRef idx="minor">
            <a:schemeClr val="dk1"/>
          </a:fontRef>
        </p:style>
        <p:txBody>
          <a:bodyPr/>
          <a:lstStyle/>
          <a:p>
            <a:pPr marL="0" indent="0" eaLnBrk="1" hangingPunct="1">
              <a:buNone/>
            </a:pPr>
            <a:endParaRPr lang="en-US" dirty="0"/>
          </a:p>
          <a:p>
            <a:pPr marL="0" indent="0" eaLnBrk="1" hangingPunct="1">
              <a:buNone/>
            </a:pPr>
            <a:r>
              <a:rPr lang="en-US" b="1" dirty="0" err="1"/>
              <a:t>Trong</a:t>
            </a:r>
            <a:r>
              <a:rPr lang="en-US" b="1" dirty="0"/>
              <a:t> </a:t>
            </a:r>
            <a:r>
              <a:rPr lang="en-US" b="1" dirty="0" err="1"/>
              <a:t>quá</a:t>
            </a:r>
            <a:r>
              <a:rPr lang="en-US" b="1" dirty="0"/>
              <a:t> </a:t>
            </a:r>
            <a:r>
              <a:rPr lang="en-US" b="1" dirty="0" err="1"/>
              <a:t>trình</a:t>
            </a:r>
            <a:r>
              <a:rPr lang="en-US" b="1" dirty="0"/>
              <a:t> </a:t>
            </a:r>
            <a:r>
              <a:rPr lang="en-US" b="1" dirty="0" err="1"/>
              <a:t>biến</a:t>
            </a:r>
            <a:r>
              <a:rPr lang="en-US" b="1" dirty="0"/>
              <a:t> </a:t>
            </a:r>
            <a:r>
              <a:rPr lang="en-US" b="1" dirty="0" err="1"/>
              <a:t>đổi</a:t>
            </a:r>
            <a:r>
              <a:rPr lang="en-US" b="1" dirty="0"/>
              <a:t>, </a:t>
            </a:r>
            <a:r>
              <a:rPr lang="en-US" b="1" dirty="0" err="1"/>
              <a:t>công</a:t>
            </a:r>
            <a:r>
              <a:rPr lang="en-US" b="1" dirty="0"/>
              <a:t> </a:t>
            </a:r>
            <a:r>
              <a:rPr lang="en-US" b="1" dirty="0" err="1"/>
              <a:t>sinh</a:t>
            </a:r>
            <a:r>
              <a:rPr lang="en-US" b="1" dirty="0"/>
              <a:t> </a:t>
            </a:r>
            <a:r>
              <a:rPr lang="en-US" b="1" dirty="0" err="1"/>
              <a:t>ra</a:t>
            </a:r>
            <a:r>
              <a:rPr lang="en-US" b="1" dirty="0"/>
              <a:t> </a:t>
            </a:r>
            <a:r>
              <a:rPr lang="en-US" b="1" dirty="0" err="1"/>
              <a:t>luôn</a:t>
            </a:r>
            <a:r>
              <a:rPr lang="en-US" b="1" dirty="0"/>
              <a:t> </a:t>
            </a:r>
            <a:r>
              <a:rPr lang="en-US" b="1" dirty="0" err="1"/>
              <a:t>luôn</a:t>
            </a:r>
            <a:r>
              <a:rPr lang="en-US" b="1" dirty="0"/>
              <a:t> </a:t>
            </a:r>
            <a:r>
              <a:rPr lang="en-US" b="1" dirty="0" err="1"/>
              <a:t>bằng</a:t>
            </a:r>
            <a:r>
              <a:rPr lang="en-US" b="1" dirty="0"/>
              <a:t> </a:t>
            </a:r>
            <a:r>
              <a:rPr lang="en-US" b="1" dirty="0" err="1"/>
              <a:t>nhiệt</a:t>
            </a:r>
            <a:r>
              <a:rPr lang="en-US" b="1" dirty="0"/>
              <a:t> </a:t>
            </a:r>
            <a:r>
              <a:rPr lang="en-US" b="1" dirty="0" err="1"/>
              <a:t>nhận</a:t>
            </a:r>
            <a:r>
              <a:rPr lang="en-US" b="1" dirty="0"/>
              <a:t> </a:t>
            </a:r>
            <a:r>
              <a:rPr lang="en-US" b="1" dirty="0" err="1"/>
              <a:t>được</a:t>
            </a:r>
            <a:r>
              <a:rPr lang="en-US" b="1" dirty="0"/>
              <a:t>. </a:t>
            </a:r>
            <a:r>
              <a:rPr lang="en-US" b="1" dirty="0" err="1"/>
              <a:t>Quá</a:t>
            </a:r>
            <a:r>
              <a:rPr lang="en-US" b="1" dirty="0"/>
              <a:t> </a:t>
            </a:r>
            <a:r>
              <a:rPr lang="en-US" b="1" dirty="0" err="1"/>
              <a:t>trình</a:t>
            </a:r>
            <a:r>
              <a:rPr lang="en-US" b="1" dirty="0"/>
              <a:t> </a:t>
            </a:r>
            <a:r>
              <a:rPr lang="en-US" b="1" dirty="0" err="1"/>
              <a:t>biến</a:t>
            </a:r>
            <a:r>
              <a:rPr lang="en-US" b="1" dirty="0"/>
              <a:t> </a:t>
            </a:r>
            <a:r>
              <a:rPr lang="en-US" b="1" dirty="0" err="1"/>
              <a:t>đổi</a:t>
            </a:r>
            <a:r>
              <a:rPr lang="en-US" b="1" dirty="0"/>
              <a:t> </a:t>
            </a:r>
            <a:r>
              <a:rPr lang="en-US" b="1" dirty="0" err="1"/>
              <a:t>đó</a:t>
            </a:r>
            <a:r>
              <a:rPr lang="en-US" b="1" dirty="0"/>
              <a:t> </a:t>
            </a:r>
            <a:r>
              <a:rPr lang="en-US" b="1" dirty="0" err="1"/>
              <a:t>là</a:t>
            </a:r>
            <a:r>
              <a:rPr lang="en-US" b="1" dirty="0"/>
              <a:t>:</a:t>
            </a:r>
          </a:p>
          <a:p>
            <a:pPr eaLnBrk="1" hangingPunct="1">
              <a:buFontTx/>
              <a:buNone/>
            </a:pPr>
            <a:r>
              <a:rPr lang="en-US" b="1" dirty="0"/>
              <a:t>	A.	</a:t>
            </a:r>
            <a:r>
              <a:rPr lang="en-US" b="1" dirty="0" err="1"/>
              <a:t>Thuận</a:t>
            </a:r>
            <a:r>
              <a:rPr lang="en-US" b="1" dirty="0"/>
              <a:t> </a:t>
            </a:r>
            <a:r>
              <a:rPr lang="en-US" b="1" dirty="0" err="1"/>
              <a:t>nghịch</a:t>
            </a:r>
            <a:r>
              <a:rPr lang="en-US" b="1" dirty="0"/>
              <a:t>.</a:t>
            </a:r>
          </a:p>
          <a:p>
            <a:pPr eaLnBrk="1" hangingPunct="1">
              <a:buFontTx/>
              <a:buNone/>
            </a:pPr>
            <a:r>
              <a:rPr lang="en-US" b="1" dirty="0"/>
              <a:t>	B.	</a:t>
            </a:r>
            <a:r>
              <a:rPr lang="en-US" b="1" dirty="0" err="1"/>
              <a:t>Đẳng</a:t>
            </a:r>
            <a:r>
              <a:rPr lang="en-US" b="1" dirty="0"/>
              <a:t> </a:t>
            </a:r>
            <a:r>
              <a:rPr lang="en-US" b="1" dirty="0" err="1"/>
              <a:t>tích</a:t>
            </a:r>
            <a:r>
              <a:rPr lang="en-US" b="1" dirty="0"/>
              <a:t>.</a:t>
            </a:r>
          </a:p>
          <a:p>
            <a:pPr eaLnBrk="1" hangingPunct="1">
              <a:buFontTx/>
              <a:buNone/>
            </a:pPr>
            <a:r>
              <a:rPr lang="en-US" b="1" dirty="0"/>
              <a:t>	C.	</a:t>
            </a:r>
            <a:r>
              <a:rPr lang="en-US" b="1" dirty="0" err="1"/>
              <a:t>Đẳng</a:t>
            </a:r>
            <a:r>
              <a:rPr lang="en-US" b="1" dirty="0"/>
              <a:t> </a:t>
            </a:r>
            <a:r>
              <a:rPr lang="en-US" b="1" dirty="0" err="1"/>
              <a:t>áp</a:t>
            </a:r>
            <a:r>
              <a:rPr lang="en-US" b="1" dirty="0"/>
              <a:t>.</a:t>
            </a:r>
            <a:endParaRPr lang="en-US" b="1" u="sng" dirty="0"/>
          </a:p>
          <a:p>
            <a:pPr eaLnBrk="1" hangingPunct="1">
              <a:buFontTx/>
              <a:buNone/>
            </a:pPr>
            <a:r>
              <a:rPr lang="en-US" b="1" dirty="0"/>
              <a:t>	D.	</a:t>
            </a:r>
            <a:r>
              <a:rPr lang="en-US" b="1" dirty="0" err="1"/>
              <a:t>Đẳng</a:t>
            </a:r>
            <a:r>
              <a:rPr lang="en-US" b="1" dirty="0"/>
              <a:t> </a:t>
            </a:r>
            <a:r>
              <a:rPr lang="en-US" b="1" dirty="0" err="1"/>
              <a:t>nhiệt</a:t>
            </a:r>
            <a:r>
              <a:rPr lang="en-US" b="1" dirty="0"/>
              <a:t>.</a:t>
            </a:r>
          </a:p>
        </p:txBody>
      </p:sp>
      <p:sp>
        <p:nvSpPr>
          <p:cNvPr id="2" name="Footer Placeholder 1">
            <a:extLst>
              <a:ext uri="{FF2B5EF4-FFF2-40B4-BE49-F238E27FC236}">
                <a16:creationId xmlns:a16="http://schemas.microsoft.com/office/drawing/2014/main" id="{B82E41EF-E401-A92B-E437-5580672BA5EA}"/>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E7353DA1-E454-5E68-F32B-1ACDFD10D7E9}"/>
              </a:ext>
            </a:extLst>
          </p:cNvPr>
          <p:cNvSpPr>
            <a:spLocks noGrp="1"/>
          </p:cNvSpPr>
          <p:nvPr>
            <p:ph type="sldNum" sz="quarter" idx="12"/>
          </p:nvPr>
        </p:nvSpPr>
        <p:spPr/>
        <p:txBody>
          <a:bodyPr/>
          <a:lstStyle/>
          <a:p>
            <a:pPr>
              <a:defRPr/>
            </a:pPr>
            <a:fld id="{003F8D5A-645D-495A-9DEA-99BB03E4A967}" type="slidenum">
              <a:rPr lang="en-US" smtClean="0"/>
              <a:pPr>
                <a:defRPr/>
              </a:pPr>
              <a:t>37</a:t>
            </a:fld>
            <a:endParaRPr lang="en-US"/>
          </a:p>
        </p:txBody>
      </p:sp>
    </p:spTree>
    <p:extLst>
      <p:ext uri="{BB962C8B-B14F-4D97-AF65-F5344CB8AC3E}">
        <p14:creationId xmlns:p14="http://schemas.microsoft.com/office/powerpoint/2010/main" val="1725869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6868">
                                            <p:txEl>
                                              <p:pRg st="5" end="5"/>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4"/>
          <p:cNvSpPr>
            <a:spLocks noGrp="1" noChangeArrowheads="1"/>
          </p:cNvSpPr>
          <p:nvPr>
            <p:ph/>
          </p:nvPr>
        </p:nvSpPr>
        <p:spPr/>
        <p:style>
          <a:lnRef idx="1">
            <a:schemeClr val="accent3"/>
          </a:lnRef>
          <a:fillRef idx="2">
            <a:schemeClr val="accent3"/>
          </a:fillRef>
          <a:effectRef idx="1">
            <a:schemeClr val="accent3"/>
          </a:effectRef>
          <a:fontRef idx="minor">
            <a:schemeClr val="dk1"/>
          </a:fontRef>
        </p:style>
        <p:txBody>
          <a:bodyPr/>
          <a:lstStyle/>
          <a:p>
            <a:pPr marL="0" indent="0" eaLnBrk="1" hangingPunct="1">
              <a:buNone/>
            </a:pPr>
            <a:endParaRPr lang="en-US" dirty="0"/>
          </a:p>
          <a:p>
            <a:pPr marL="0" indent="0" eaLnBrk="1" hangingPunct="1">
              <a:buNone/>
            </a:pPr>
            <a:r>
              <a:rPr lang="en-US" dirty="0"/>
              <a:t>	</a:t>
            </a:r>
            <a:r>
              <a:rPr lang="en-US" b="1" dirty="0" err="1"/>
              <a:t>Chọn</a:t>
            </a:r>
            <a:r>
              <a:rPr lang="en-US" b="1" dirty="0"/>
              <a:t> </a:t>
            </a:r>
            <a:r>
              <a:rPr lang="en-US" b="1" dirty="0" err="1"/>
              <a:t>phát</a:t>
            </a:r>
            <a:r>
              <a:rPr lang="en-US" b="1" dirty="0"/>
              <a:t> </a:t>
            </a:r>
            <a:r>
              <a:rPr lang="en-US" b="1" dirty="0" err="1"/>
              <a:t>biểu</a:t>
            </a:r>
            <a:r>
              <a:rPr lang="en-US" b="1" dirty="0"/>
              <a:t> </a:t>
            </a:r>
            <a:r>
              <a:rPr lang="en-US" b="1" dirty="0" err="1"/>
              <a:t>đúng</a:t>
            </a:r>
            <a:r>
              <a:rPr lang="en-US" b="1" dirty="0"/>
              <a:t>:</a:t>
            </a:r>
            <a:endParaRPr lang="en-US" b="1" u="sng" dirty="0"/>
          </a:p>
          <a:p>
            <a:pPr eaLnBrk="1" hangingPunct="1">
              <a:buFontTx/>
              <a:buNone/>
            </a:pPr>
            <a:r>
              <a:rPr lang="en-US" b="1" dirty="0"/>
              <a:t>	A.	Q = </a:t>
            </a:r>
            <a:r>
              <a:rPr lang="en-US" b="1" dirty="0">
                <a:sym typeface="Symbol" pitchFamily="18" charset="2"/>
              </a:rPr>
              <a:t></a:t>
            </a:r>
            <a:r>
              <a:rPr lang="en-US" b="1" dirty="0"/>
              <a:t> A: </a:t>
            </a:r>
            <a:r>
              <a:rPr lang="en-US" b="1" dirty="0" err="1"/>
              <a:t>hệ</a:t>
            </a:r>
            <a:r>
              <a:rPr lang="en-US" b="1" dirty="0"/>
              <a:t> </a:t>
            </a:r>
            <a:r>
              <a:rPr lang="en-US" b="1" dirty="0" err="1"/>
              <a:t>biến</a:t>
            </a:r>
            <a:r>
              <a:rPr lang="en-US" b="1" dirty="0"/>
              <a:t> </a:t>
            </a:r>
            <a:r>
              <a:rPr lang="en-US" b="1" dirty="0" err="1"/>
              <a:t>đổi</a:t>
            </a:r>
            <a:r>
              <a:rPr lang="en-US" b="1" dirty="0"/>
              <a:t> </a:t>
            </a:r>
            <a:r>
              <a:rPr lang="en-US" b="1" dirty="0" err="1"/>
              <a:t>đẳng</a:t>
            </a:r>
            <a:r>
              <a:rPr lang="en-US" b="1" dirty="0"/>
              <a:t> </a:t>
            </a:r>
            <a:r>
              <a:rPr lang="en-US" b="1" dirty="0" err="1"/>
              <a:t>nhiệt</a:t>
            </a:r>
            <a:r>
              <a:rPr lang="en-US" b="1" dirty="0"/>
              <a:t>.</a:t>
            </a:r>
          </a:p>
          <a:p>
            <a:pPr eaLnBrk="1" hangingPunct="1">
              <a:buFontTx/>
              <a:buNone/>
            </a:pPr>
            <a:r>
              <a:rPr lang="en-US" b="1" dirty="0"/>
              <a:t>	B.	</a:t>
            </a:r>
            <a:r>
              <a:rPr lang="el-GR" b="1" dirty="0"/>
              <a:t>Δ</a:t>
            </a:r>
            <a:r>
              <a:rPr lang="en-US" b="1" dirty="0"/>
              <a:t>U = </a:t>
            </a:r>
            <a:r>
              <a:rPr lang="en-US" b="1" dirty="0">
                <a:sym typeface="Symbol" pitchFamily="18" charset="2"/>
              </a:rPr>
              <a:t></a:t>
            </a:r>
            <a:r>
              <a:rPr lang="en-US" b="1" dirty="0"/>
              <a:t> A: </a:t>
            </a:r>
            <a:r>
              <a:rPr lang="en-US" b="1" dirty="0" err="1"/>
              <a:t>hệ</a:t>
            </a:r>
            <a:r>
              <a:rPr lang="en-US" b="1" dirty="0"/>
              <a:t> </a:t>
            </a:r>
            <a:r>
              <a:rPr lang="en-US" b="1" dirty="0" err="1"/>
              <a:t>biến</a:t>
            </a:r>
            <a:r>
              <a:rPr lang="en-US" b="1" dirty="0"/>
              <a:t> </a:t>
            </a:r>
            <a:r>
              <a:rPr lang="en-US" b="1" dirty="0" err="1"/>
              <a:t>đổi</a:t>
            </a:r>
            <a:r>
              <a:rPr lang="en-US" b="1" dirty="0"/>
              <a:t> </a:t>
            </a:r>
            <a:r>
              <a:rPr lang="en-US" b="1" dirty="0" err="1"/>
              <a:t>đoạn</a:t>
            </a:r>
            <a:r>
              <a:rPr lang="en-US" b="1" dirty="0"/>
              <a:t> </a:t>
            </a:r>
            <a:r>
              <a:rPr lang="en-US" b="1" dirty="0" err="1"/>
              <a:t>nhiệt</a:t>
            </a:r>
            <a:endParaRPr lang="en-US" b="1" dirty="0"/>
          </a:p>
          <a:p>
            <a:pPr eaLnBrk="1" hangingPunct="1">
              <a:buFontTx/>
              <a:buNone/>
            </a:pPr>
            <a:r>
              <a:rPr lang="en-US" b="1" dirty="0"/>
              <a:t>	C.	</a:t>
            </a:r>
            <a:r>
              <a:rPr lang="el-GR" b="1" dirty="0"/>
              <a:t>Δ</a:t>
            </a:r>
            <a:r>
              <a:rPr lang="en-US" b="1" dirty="0"/>
              <a:t>U = Q - A: </a:t>
            </a:r>
            <a:r>
              <a:rPr lang="en-US" b="1" dirty="0" err="1"/>
              <a:t>hệ</a:t>
            </a:r>
            <a:r>
              <a:rPr lang="en-US" b="1" dirty="0"/>
              <a:t> </a:t>
            </a:r>
            <a:r>
              <a:rPr lang="en-US" b="1" dirty="0" err="1"/>
              <a:t>biến</a:t>
            </a:r>
            <a:r>
              <a:rPr lang="en-US" b="1" dirty="0"/>
              <a:t> </a:t>
            </a:r>
            <a:r>
              <a:rPr lang="en-US" b="1" dirty="0" err="1"/>
              <a:t>đổi</a:t>
            </a:r>
            <a:r>
              <a:rPr lang="en-US" b="1" dirty="0"/>
              <a:t> </a:t>
            </a:r>
            <a:r>
              <a:rPr lang="en-US" b="1" dirty="0" err="1"/>
              <a:t>đẳng</a:t>
            </a:r>
            <a:r>
              <a:rPr lang="en-US" b="1" dirty="0"/>
              <a:t> </a:t>
            </a:r>
            <a:r>
              <a:rPr lang="en-US" b="1" dirty="0" err="1"/>
              <a:t>áp</a:t>
            </a:r>
            <a:r>
              <a:rPr lang="en-US" b="1" dirty="0"/>
              <a:t>.</a:t>
            </a:r>
          </a:p>
          <a:p>
            <a:pPr eaLnBrk="1" hangingPunct="1">
              <a:buFontTx/>
              <a:buNone/>
            </a:pPr>
            <a:r>
              <a:rPr lang="en-US" b="1" dirty="0"/>
              <a:t>	D.	A = Q: </a:t>
            </a:r>
            <a:r>
              <a:rPr lang="en-US" b="1" dirty="0" err="1"/>
              <a:t>hệ</a:t>
            </a:r>
            <a:r>
              <a:rPr lang="en-US" b="1" dirty="0"/>
              <a:t> </a:t>
            </a:r>
            <a:r>
              <a:rPr lang="en-US" b="1" dirty="0" err="1"/>
              <a:t>biến</a:t>
            </a:r>
            <a:r>
              <a:rPr lang="en-US" b="1" dirty="0"/>
              <a:t> </a:t>
            </a:r>
            <a:r>
              <a:rPr lang="en-US" b="1" dirty="0" err="1"/>
              <a:t>đổi</a:t>
            </a:r>
            <a:r>
              <a:rPr lang="en-US" b="1" dirty="0"/>
              <a:t> </a:t>
            </a:r>
            <a:r>
              <a:rPr lang="en-US" b="1" dirty="0" err="1"/>
              <a:t>đẳng</a:t>
            </a:r>
            <a:r>
              <a:rPr lang="en-US" b="1" dirty="0"/>
              <a:t> </a:t>
            </a:r>
            <a:r>
              <a:rPr lang="en-US" b="1" dirty="0" err="1"/>
              <a:t>tích</a:t>
            </a:r>
            <a:endParaRPr lang="en-US" b="1" dirty="0"/>
          </a:p>
          <a:p>
            <a:pPr eaLnBrk="1" hangingPunct="1">
              <a:buFontTx/>
              <a:buNone/>
            </a:pPr>
            <a:r>
              <a:rPr lang="en-US" dirty="0"/>
              <a:t>            	</a:t>
            </a:r>
          </a:p>
        </p:txBody>
      </p:sp>
      <p:sp>
        <p:nvSpPr>
          <p:cNvPr id="2" name="Footer Placeholder 1">
            <a:extLst>
              <a:ext uri="{FF2B5EF4-FFF2-40B4-BE49-F238E27FC236}">
                <a16:creationId xmlns:a16="http://schemas.microsoft.com/office/drawing/2014/main" id="{0E206AE1-248F-BF0B-10ED-2456E9A0073E}"/>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CF9FDE89-E189-D575-2BCD-4ADD25F7A85A}"/>
              </a:ext>
            </a:extLst>
          </p:cNvPr>
          <p:cNvSpPr>
            <a:spLocks noGrp="1"/>
          </p:cNvSpPr>
          <p:nvPr>
            <p:ph type="sldNum" sz="quarter" idx="12"/>
          </p:nvPr>
        </p:nvSpPr>
        <p:spPr/>
        <p:txBody>
          <a:bodyPr/>
          <a:lstStyle/>
          <a:p>
            <a:pPr>
              <a:defRPr/>
            </a:pPr>
            <a:fld id="{003F8D5A-645D-495A-9DEA-99BB03E4A967}" type="slidenum">
              <a:rPr lang="en-US" smtClean="0"/>
              <a:pPr>
                <a:defRPr/>
              </a:pPr>
              <a:t>38</a:t>
            </a:fld>
            <a:endParaRPr lang="en-US"/>
          </a:p>
        </p:txBody>
      </p:sp>
    </p:spTree>
    <p:extLst>
      <p:ext uri="{BB962C8B-B14F-4D97-AF65-F5344CB8AC3E}">
        <p14:creationId xmlns:p14="http://schemas.microsoft.com/office/powerpoint/2010/main" val="118607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8916">
                                            <p:txEl>
                                              <p:pRg st="2" end="2"/>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4"/>
          <p:cNvSpPr>
            <a:spLocks noGrp="1" noChangeArrowheads="1"/>
          </p:cNvSpPr>
          <p:nvPr>
            <p:ph/>
          </p:nvPr>
        </p:nvSpPr>
        <p:spPr/>
        <p:style>
          <a:lnRef idx="1">
            <a:schemeClr val="accent3"/>
          </a:lnRef>
          <a:fillRef idx="2">
            <a:schemeClr val="accent3"/>
          </a:fillRef>
          <a:effectRef idx="1">
            <a:schemeClr val="accent3"/>
          </a:effectRef>
          <a:fontRef idx="minor">
            <a:schemeClr val="dk1"/>
          </a:fontRef>
        </p:style>
        <p:txBody>
          <a:bodyPr/>
          <a:lstStyle/>
          <a:p>
            <a:pPr marL="0" indent="0" eaLnBrk="1" hangingPunct="1">
              <a:buNone/>
            </a:pPr>
            <a:endParaRPr lang="en-US" dirty="0"/>
          </a:p>
          <a:p>
            <a:pPr marL="0" indent="0" eaLnBrk="1" hangingPunct="1">
              <a:buNone/>
            </a:pPr>
            <a:r>
              <a:rPr lang="en-US" b="1" dirty="0" err="1"/>
              <a:t>Trong</a:t>
            </a:r>
            <a:r>
              <a:rPr lang="en-US" b="1" dirty="0"/>
              <a:t> </a:t>
            </a:r>
            <a:r>
              <a:rPr lang="en-US" b="1" dirty="0" err="1"/>
              <a:t>quá</a:t>
            </a:r>
            <a:r>
              <a:rPr lang="en-US" b="1" dirty="0"/>
              <a:t> </a:t>
            </a:r>
            <a:r>
              <a:rPr lang="en-US" b="1" dirty="0" err="1"/>
              <a:t>trình</a:t>
            </a:r>
            <a:r>
              <a:rPr lang="en-US" b="1" dirty="0"/>
              <a:t> </a:t>
            </a:r>
            <a:r>
              <a:rPr lang="en-US" b="1" dirty="0" err="1"/>
              <a:t>biến</a:t>
            </a:r>
            <a:r>
              <a:rPr lang="en-US" b="1" dirty="0"/>
              <a:t> </a:t>
            </a:r>
            <a:r>
              <a:rPr lang="en-US" b="1" dirty="0" err="1"/>
              <a:t>đổi</a:t>
            </a:r>
            <a:r>
              <a:rPr lang="en-US" b="1" dirty="0"/>
              <a:t> </a:t>
            </a:r>
            <a:r>
              <a:rPr lang="en-US" b="1" dirty="0" err="1"/>
              <a:t>nào</a:t>
            </a:r>
            <a:r>
              <a:rPr lang="en-US" b="1" dirty="0"/>
              <a:t> </a:t>
            </a:r>
            <a:r>
              <a:rPr lang="en-US" b="1" dirty="0" err="1"/>
              <a:t>dưới</a:t>
            </a:r>
            <a:r>
              <a:rPr lang="en-US" b="1" dirty="0"/>
              <a:t> </a:t>
            </a:r>
            <a:r>
              <a:rPr lang="en-US" b="1" dirty="0" err="1"/>
              <a:t>đây</a:t>
            </a:r>
            <a:r>
              <a:rPr lang="en-US" b="1" dirty="0"/>
              <a:t> </a:t>
            </a:r>
            <a:r>
              <a:rPr lang="en-US" b="1" dirty="0" err="1"/>
              <a:t>của</a:t>
            </a:r>
            <a:r>
              <a:rPr lang="en-US" b="1" dirty="0"/>
              <a:t> </a:t>
            </a:r>
            <a:r>
              <a:rPr lang="en-US" b="1" dirty="0" err="1"/>
              <a:t>khí</a:t>
            </a:r>
            <a:r>
              <a:rPr lang="en-US" b="1" dirty="0"/>
              <a:t> </a:t>
            </a:r>
            <a:r>
              <a:rPr lang="en-US" b="1" dirty="0" err="1"/>
              <a:t>lý</a:t>
            </a:r>
            <a:r>
              <a:rPr lang="en-US" b="1" dirty="0"/>
              <a:t> </a:t>
            </a:r>
            <a:r>
              <a:rPr lang="en-US" b="1" dirty="0" err="1"/>
              <a:t>tưởng</a:t>
            </a:r>
            <a:r>
              <a:rPr lang="en-US" b="1" dirty="0"/>
              <a:t> </a:t>
            </a:r>
            <a:r>
              <a:rPr lang="en-US" b="1" dirty="0" err="1"/>
              <a:t>thì</a:t>
            </a:r>
            <a:r>
              <a:rPr lang="en-US" b="1" dirty="0"/>
              <a:t> </a:t>
            </a:r>
            <a:r>
              <a:rPr lang="en-US" b="1" dirty="0" err="1"/>
              <a:t>Nhiệt</a:t>
            </a:r>
            <a:r>
              <a:rPr lang="en-US" b="1" dirty="0"/>
              <a:t> </a:t>
            </a:r>
            <a:r>
              <a:rPr lang="en-US" b="1" dirty="0" err="1"/>
              <a:t>lượng</a:t>
            </a:r>
            <a:r>
              <a:rPr lang="en-US" b="1" dirty="0"/>
              <a:t> </a:t>
            </a:r>
            <a:r>
              <a:rPr lang="en-US" b="1" dirty="0" err="1"/>
              <a:t>hệ</a:t>
            </a:r>
            <a:r>
              <a:rPr lang="en-US" b="1" dirty="0"/>
              <a:t> </a:t>
            </a:r>
            <a:r>
              <a:rPr lang="en-US" b="1" dirty="0" err="1"/>
              <a:t>thu</a:t>
            </a:r>
            <a:r>
              <a:rPr lang="en-US" b="1" dirty="0"/>
              <a:t> </a:t>
            </a:r>
            <a:r>
              <a:rPr lang="en-US" b="1" dirty="0" err="1"/>
              <a:t>được</a:t>
            </a:r>
            <a:r>
              <a:rPr lang="en-US" b="1" dirty="0"/>
              <a:t>, </a:t>
            </a:r>
            <a:r>
              <a:rPr lang="en-US" b="1" dirty="0" err="1"/>
              <a:t>một</a:t>
            </a:r>
            <a:r>
              <a:rPr lang="en-US" b="1" dirty="0"/>
              <a:t> </a:t>
            </a:r>
            <a:r>
              <a:rPr lang="en-US" b="1" dirty="0" err="1"/>
              <a:t>phần</a:t>
            </a:r>
            <a:r>
              <a:rPr lang="en-US" b="1" dirty="0"/>
              <a:t> </a:t>
            </a:r>
            <a:r>
              <a:rPr lang="en-US" b="1" dirty="0" err="1"/>
              <a:t>chuyển</a:t>
            </a:r>
            <a:r>
              <a:rPr lang="en-US" b="1" dirty="0"/>
              <a:t> </a:t>
            </a:r>
            <a:r>
              <a:rPr lang="en-US" b="1" dirty="0" err="1"/>
              <a:t>thành</a:t>
            </a:r>
            <a:r>
              <a:rPr lang="en-US" b="1" dirty="0"/>
              <a:t> </a:t>
            </a:r>
            <a:r>
              <a:rPr lang="en-US" b="1" dirty="0" err="1"/>
              <a:t>nội</a:t>
            </a:r>
            <a:r>
              <a:rPr lang="en-US" b="1" dirty="0"/>
              <a:t> </a:t>
            </a:r>
            <a:r>
              <a:rPr lang="en-US" b="1" dirty="0" err="1"/>
              <a:t>năng</a:t>
            </a:r>
            <a:r>
              <a:rPr lang="en-US" b="1" dirty="0"/>
              <a:t>, </a:t>
            </a:r>
            <a:r>
              <a:rPr lang="en-US" b="1" dirty="0" err="1"/>
              <a:t>một</a:t>
            </a:r>
            <a:r>
              <a:rPr lang="en-US" b="1" dirty="0"/>
              <a:t> </a:t>
            </a:r>
            <a:r>
              <a:rPr lang="en-US" b="1" dirty="0" err="1"/>
              <a:t>phần</a:t>
            </a:r>
            <a:r>
              <a:rPr lang="en-US" b="1" dirty="0"/>
              <a:t> </a:t>
            </a:r>
            <a:r>
              <a:rPr lang="en-US" b="1" dirty="0" err="1"/>
              <a:t>chuyển</a:t>
            </a:r>
            <a:r>
              <a:rPr lang="en-US" b="1" dirty="0"/>
              <a:t> </a:t>
            </a:r>
            <a:r>
              <a:rPr lang="en-US" b="1" dirty="0" err="1"/>
              <a:t>thành</a:t>
            </a:r>
            <a:r>
              <a:rPr lang="en-US" b="1" dirty="0"/>
              <a:t> </a:t>
            </a:r>
            <a:r>
              <a:rPr lang="en-US" b="1" dirty="0" err="1"/>
              <a:t>công</a:t>
            </a:r>
            <a:r>
              <a:rPr lang="en-US" b="1" dirty="0"/>
              <a:t> </a:t>
            </a:r>
          </a:p>
          <a:p>
            <a:pPr eaLnBrk="1" hangingPunct="1">
              <a:buFontTx/>
              <a:buNone/>
            </a:pPr>
            <a:r>
              <a:rPr lang="en-US" b="1" dirty="0"/>
              <a:t>	A.	</a:t>
            </a:r>
            <a:r>
              <a:rPr lang="en-US" b="1" dirty="0" err="1"/>
              <a:t>Quá</a:t>
            </a:r>
            <a:r>
              <a:rPr lang="en-US" b="1" dirty="0"/>
              <a:t> </a:t>
            </a:r>
            <a:r>
              <a:rPr lang="en-US" b="1" dirty="0" err="1"/>
              <a:t>trình</a:t>
            </a:r>
            <a:r>
              <a:rPr lang="en-US" b="1" dirty="0"/>
              <a:t> </a:t>
            </a:r>
            <a:r>
              <a:rPr lang="en-US" b="1" dirty="0" err="1"/>
              <a:t>đoạn</a:t>
            </a:r>
            <a:r>
              <a:rPr lang="en-US" b="1" dirty="0"/>
              <a:t> </a:t>
            </a:r>
            <a:r>
              <a:rPr lang="en-US" b="1" dirty="0" err="1"/>
              <a:t>nhiệt</a:t>
            </a:r>
            <a:endParaRPr lang="en-US" b="1" dirty="0"/>
          </a:p>
          <a:p>
            <a:pPr eaLnBrk="1" hangingPunct="1">
              <a:buFontTx/>
              <a:buNone/>
            </a:pPr>
            <a:r>
              <a:rPr lang="en-US" b="1" dirty="0"/>
              <a:t>	B.	</a:t>
            </a:r>
            <a:r>
              <a:rPr lang="en-US" b="1" dirty="0" err="1"/>
              <a:t>Quá</a:t>
            </a:r>
            <a:r>
              <a:rPr lang="en-US" b="1" dirty="0"/>
              <a:t> </a:t>
            </a:r>
            <a:r>
              <a:rPr lang="en-US" b="1" dirty="0" err="1"/>
              <a:t>trình</a:t>
            </a:r>
            <a:r>
              <a:rPr lang="en-US" b="1" dirty="0"/>
              <a:t> </a:t>
            </a:r>
            <a:r>
              <a:rPr lang="en-US" b="1" dirty="0" err="1"/>
              <a:t>đẳng</a:t>
            </a:r>
            <a:r>
              <a:rPr lang="en-US" b="1" dirty="0"/>
              <a:t> </a:t>
            </a:r>
            <a:r>
              <a:rPr lang="en-US" b="1" dirty="0" err="1"/>
              <a:t>tích</a:t>
            </a:r>
            <a:r>
              <a:rPr lang="en-US" b="1" dirty="0"/>
              <a:t>.</a:t>
            </a:r>
            <a:endParaRPr lang="en-US" b="1" u="sng" dirty="0"/>
          </a:p>
          <a:p>
            <a:pPr eaLnBrk="1" hangingPunct="1">
              <a:buFontTx/>
              <a:buNone/>
            </a:pPr>
            <a:r>
              <a:rPr lang="en-US" b="1" dirty="0"/>
              <a:t>	C.	</a:t>
            </a:r>
            <a:r>
              <a:rPr lang="en-US" b="1" dirty="0" err="1"/>
              <a:t>Quá</a:t>
            </a:r>
            <a:r>
              <a:rPr lang="en-US" b="1" dirty="0"/>
              <a:t> </a:t>
            </a:r>
            <a:r>
              <a:rPr lang="en-US" b="1" dirty="0" err="1"/>
              <a:t>trình</a:t>
            </a:r>
            <a:r>
              <a:rPr lang="en-US" b="1" dirty="0"/>
              <a:t> </a:t>
            </a:r>
            <a:r>
              <a:rPr lang="en-US" b="1" dirty="0" err="1"/>
              <a:t>đẳng</a:t>
            </a:r>
            <a:r>
              <a:rPr lang="en-US" b="1" dirty="0"/>
              <a:t> </a:t>
            </a:r>
            <a:r>
              <a:rPr lang="en-US" b="1" dirty="0" err="1"/>
              <a:t>áp</a:t>
            </a:r>
            <a:r>
              <a:rPr lang="en-US" b="1" dirty="0"/>
              <a:t>.</a:t>
            </a:r>
          </a:p>
          <a:p>
            <a:pPr eaLnBrk="1" hangingPunct="1">
              <a:buFontTx/>
              <a:buNone/>
            </a:pPr>
            <a:r>
              <a:rPr lang="en-US" b="1" dirty="0"/>
              <a:t>	D.	</a:t>
            </a:r>
            <a:r>
              <a:rPr lang="en-US" b="1" dirty="0" err="1"/>
              <a:t>Quá</a:t>
            </a:r>
            <a:r>
              <a:rPr lang="en-US" b="1" dirty="0"/>
              <a:t> </a:t>
            </a:r>
            <a:r>
              <a:rPr lang="en-US" b="1" dirty="0" err="1"/>
              <a:t>trình</a:t>
            </a:r>
            <a:r>
              <a:rPr lang="en-US" b="1" dirty="0"/>
              <a:t> </a:t>
            </a:r>
            <a:r>
              <a:rPr lang="en-US" b="1" dirty="0" err="1"/>
              <a:t>đẳng</a:t>
            </a:r>
            <a:r>
              <a:rPr lang="en-US" b="1" dirty="0"/>
              <a:t> </a:t>
            </a:r>
            <a:r>
              <a:rPr lang="en-US" b="1" dirty="0" err="1"/>
              <a:t>nhiệt</a:t>
            </a:r>
            <a:r>
              <a:rPr lang="en-US" b="1" dirty="0"/>
              <a:t>.</a:t>
            </a:r>
          </a:p>
        </p:txBody>
      </p:sp>
      <p:sp>
        <p:nvSpPr>
          <p:cNvPr id="2" name="Footer Placeholder 1">
            <a:extLst>
              <a:ext uri="{FF2B5EF4-FFF2-40B4-BE49-F238E27FC236}">
                <a16:creationId xmlns:a16="http://schemas.microsoft.com/office/drawing/2014/main" id="{900BB24A-2170-5595-29C5-90177B3348FC}"/>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339E671F-3BB2-4FF3-A5F6-0910AEE7DBA5}"/>
              </a:ext>
            </a:extLst>
          </p:cNvPr>
          <p:cNvSpPr>
            <a:spLocks noGrp="1"/>
          </p:cNvSpPr>
          <p:nvPr>
            <p:ph type="sldNum" sz="quarter" idx="12"/>
          </p:nvPr>
        </p:nvSpPr>
        <p:spPr/>
        <p:txBody>
          <a:bodyPr/>
          <a:lstStyle/>
          <a:p>
            <a:pPr>
              <a:defRPr/>
            </a:pPr>
            <a:fld id="{003F8D5A-645D-495A-9DEA-99BB03E4A967}" type="slidenum">
              <a:rPr lang="en-US" smtClean="0"/>
              <a:pPr>
                <a:defRPr/>
              </a:pPr>
              <a:t>39</a:t>
            </a:fld>
            <a:endParaRPr lang="en-US"/>
          </a:p>
        </p:txBody>
      </p:sp>
    </p:spTree>
    <p:extLst>
      <p:ext uri="{BB962C8B-B14F-4D97-AF65-F5344CB8AC3E}">
        <p14:creationId xmlns:p14="http://schemas.microsoft.com/office/powerpoint/2010/main" val="3817394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40964">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style>
          <a:lnRef idx="1">
            <a:schemeClr val="accent3"/>
          </a:lnRef>
          <a:fillRef idx="2">
            <a:schemeClr val="accent3"/>
          </a:fillRef>
          <a:effectRef idx="1">
            <a:schemeClr val="accent3"/>
          </a:effectRef>
          <a:fontRef idx="minor">
            <a:schemeClr val="dk1"/>
          </a:fontRef>
        </p:style>
        <p:txBody>
          <a:bodyPr/>
          <a:lstStyle/>
          <a:p>
            <a:pPr marL="0" indent="0">
              <a:buNone/>
            </a:pPr>
            <a:endParaRPr lang="en-US" dirty="0"/>
          </a:p>
          <a:p>
            <a:pPr marL="0" indent="0">
              <a:buNone/>
            </a:pPr>
            <a:r>
              <a:rPr lang="en-US" b="1" dirty="0" err="1"/>
              <a:t>Biểu</a:t>
            </a:r>
            <a:r>
              <a:rPr lang="en-US" b="1" dirty="0"/>
              <a:t> </a:t>
            </a:r>
            <a:r>
              <a:rPr lang="en-US" b="1" dirty="0" err="1"/>
              <a:t>thức</a:t>
            </a:r>
            <a:r>
              <a:rPr lang="en-US" b="1" dirty="0"/>
              <a:t> </a:t>
            </a:r>
            <a:r>
              <a:rPr lang="en-US" b="1" dirty="0" err="1"/>
              <a:t>của</a:t>
            </a:r>
            <a:r>
              <a:rPr lang="en-US" b="1" dirty="0"/>
              <a:t> </a:t>
            </a:r>
            <a:r>
              <a:rPr lang="en-US" b="1" dirty="0" err="1"/>
              <a:t>nguyên</a:t>
            </a:r>
            <a:r>
              <a:rPr lang="en-US" b="1" dirty="0"/>
              <a:t> </a:t>
            </a:r>
            <a:r>
              <a:rPr lang="en-US" b="1" dirty="0" err="1"/>
              <a:t>lý</a:t>
            </a:r>
            <a:r>
              <a:rPr lang="en-US" b="1" dirty="0"/>
              <a:t> </a:t>
            </a:r>
            <a:r>
              <a:rPr lang="en-US" b="1" dirty="0" err="1"/>
              <a:t>thứ</a:t>
            </a:r>
            <a:r>
              <a:rPr lang="en-US" b="1" dirty="0"/>
              <a:t> </a:t>
            </a:r>
            <a:r>
              <a:rPr lang="en-US" b="1" dirty="0" err="1"/>
              <a:t>nhất</a:t>
            </a:r>
            <a:r>
              <a:rPr lang="en-US" b="1" dirty="0"/>
              <a:t> </a:t>
            </a:r>
            <a:r>
              <a:rPr lang="en-US" b="1" dirty="0" err="1"/>
              <a:t>nhiệt</a:t>
            </a:r>
            <a:r>
              <a:rPr lang="en-US" b="1" dirty="0"/>
              <a:t> </a:t>
            </a:r>
            <a:r>
              <a:rPr lang="en-US" b="1" dirty="0" err="1"/>
              <a:t>động</a:t>
            </a:r>
            <a:r>
              <a:rPr lang="en-US" b="1" dirty="0"/>
              <a:t> </a:t>
            </a:r>
            <a:r>
              <a:rPr lang="en-US" b="1" dirty="0" err="1"/>
              <a:t>lực</a:t>
            </a:r>
            <a:r>
              <a:rPr lang="en-US" b="1" dirty="0"/>
              <a:t> </a:t>
            </a:r>
            <a:r>
              <a:rPr lang="en-US" b="1" dirty="0" err="1"/>
              <a:t>học</a:t>
            </a:r>
            <a:r>
              <a:rPr lang="en-US" b="1" dirty="0"/>
              <a:t> </a:t>
            </a:r>
            <a:r>
              <a:rPr lang="en-US" b="1" dirty="0" err="1"/>
              <a:t>cho</a:t>
            </a:r>
            <a:r>
              <a:rPr lang="en-US" b="1" dirty="0"/>
              <a:t> </a:t>
            </a:r>
            <a:r>
              <a:rPr lang="en-US" b="1" dirty="0" err="1"/>
              <a:t>trường</a:t>
            </a:r>
            <a:r>
              <a:rPr lang="en-US" b="1" dirty="0"/>
              <a:t> </a:t>
            </a:r>
            <a:r>
              <a:rPr lang="en-US" b="1" dirty="0" err="1"/>
              <a:t>hợp</a:t>
            </a:r>
            <a:r>
              <a:rPr lang="en-US" b="1" dirty="0"/>
              <a:t> </a:t>
            </a:r>
            <a:r>
              <a:rPr lang="en-US" b="1" dirty="0" err="1"/>
              <a:t>khối</a:t>
            </a:r>
            <a:r>
              <a:rPr lang="en-US" b="1" dirty="0"/>
              <a:t> </a:t>
            </a:r>
            <a:r>
              <a:rPr lang="en-US" b="1" dirty="0" err="1"/>
              <a:t>khí</a:t>
            </a:r>
            <a:r>
              <a:rPr lang="en-US" b="1" dirty="0"/>
              <a:t> </a:t>
            </a:r>
            <a:r>
              <a:rPr lang="en-US" b="1" dirty="0" err="1"/>
              <a:t>giãn</a:t>
            </a:r>
            <a:r>
              <a:rPr lang="en-US" b="1" dirty="0"/>
              <a:t> </a:t>
            </a:r>
            <a:r>
              <a:rPr lang="en-US" b="1" dirty="0" err="1"/>
              <a:t>nở</a:t>
            </a:r>
            <a:r>
              <a:rPr lang="en-US" b="1" dirty="0"/>
              <a:t> </a:t>
            </a:r>
            <a:r>
              <a:rPr lang="en-US" b="1" dirty="0" err="1"/>
              <a:t>đẳng</a:t>
            </a:r>
            <a:r>
              <a:rPr lang="en-US" b="1" dirty="0"/>
              <a:t> </a:t>
            </a:r>
            <a:r>
              <a:rPr lang="en-US" b="1" dirty="0" err="1"/>
              <a:t>nhiệt</a:t>
            </a:r>
            <a:r>
              <a:rPr lang="en-US" b="1" dirty="0"/>
              <a:t>, </a:t>
            </a:r>
            <a:r>
              <a:rPr lang="en-US" b="1" dirty="0" err="1"/>
              <a:t>là</a:t>
            </a:r>
            <a:r>
              <a:rPr lang="en-US" b="1" dirty="0"/>
              <a:t>:</a:t>
            </a:r>
          </a:p>
          <a:p>
            <a:r>
              <a:rPr lang="en-US" b="1" dirty="0"/>
              <a:t>A.	 </a:t>
            </a:r>
            <a:r>
              <a:rPr lang="el-GR" b="1" dirty="0"/>
              <a:t>Δ</a:t>
            </a:r>
            <a:r>
              <a:rPr lang="en-US" b="1" dirty="0"/>
              <a:t>U = </a:t>
            </a:r>
            <a:r>
              <a:rPr lang="en-US" b="1" dirty="0">
                <a:sym typeface="Symbol"/>
              </a:rPr>
              <a:t></a:t>
            </a:r>
            <a:r>
              <a:rPr lang="en-US" b="1" dirty="0"/>
              <a:t> Q</a:t>
            </a:r>
          </a:p>
          <a:p>
            <a:r>
              <a:rPr lang="en-US" b="1" dirty="0"/>
              <a:t>B.	Q = 0</a:t>
            </a:r>
          </a:p>
          <a:p>
            <a:r>
              <a:rPr lang="en-US" b="1" dirty="0"/>
              <a:t>C.	A = Q</a:t>
            </a:r>
          </a:p>
          <a:p>
            <a:r>
              <a:rPr lang="en-US" b="1" dirty="0"/>
              <a:t>D.	A = </a:t>
            </a:r>
            <a:r>
              <a:rPr lang="en-US" b="1" dirty="0">
                <a:sym typeface="Symbol"/>
              </a:rPr>
              <a:t></a:t>
            </a:r>
            <a:r>
              <a:rPr lang="en-US" b="1" dirty="0"/>
              <a:t> Q</a:t>
            </a:r>
          </a:p>
          <a:p>
            <a:endParaRPr lang="en-US" dirty="0"/>
          </a:p>
        </p:txBody>
      </p:sp>
      <p:sp>
        <p:nvSpPr>
          <p:cNvPr id="3" name="Footer Placeholder 2">
            <a:extLst>
              <a:ext uri="{FF2B5EF4-FFF2-40B4-BE49-F238E27FC236}">
                <a16:creationId xmlns:a16="http://schemas.microsoft.com/office/drawing/2014/main" id="{2E57FC53-6DF8-D22A-9F8B-EE28459829E8}"/>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8C7F7071-D3BB-3999-2063-D48C58D17FD1}"/>
              </a:ext>
            </a:extLst>
          </p:cNvPr>
          <p:cNvSpPr>
            <a:spLocks noGrp="1"/>
          </p:cNvSpPr>
          <p:nvPr>
            <p:ph type="sldNum" sz="quarter" idx="12"/>
          </p:nvPr>
        </p:nvSpPr>
        <p:spPr/>
        <p:txBody>
          <a:bodyPr/>
          <a:lstStyle/>
          <a:p>
            <a:pPr>
              <a:defRPr/>
            </a:pPr>
            <a:fld id="{003F8D5A-645D-495A-9DEA-99BB03E4A967}" type="slidenum">
              <a:rPr lang="en-US" smtClean="0"/>
              <a:pPr>
                <a:defRPr/>
              </a:pPr>
              <a:t>40</a:t>
            </a:fld>
            <a:endParaRPr lang="en-US"/>
          </a:p>
        </p:txBody>
      </p:sp>
    </p:spTree>
    <p:extLst>
      <p:ext uri="{BB962C8B-B14F-4D97-AF65-F5344CB8AC3E}">
        <p14:creationId xmlns:p14="http://schemas.microsoft.com/office/powerpoint/2010/main" val="1876479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2">
                                            <p:txEl>
                                              <p:pRg st="5" end="5"/>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p:nvPr>
            </p:nvSpPr>
            <p:spPr/>
            <p:style>
              <a:lnRef idx="1">
                <a:schemeClr val="accent3"/>
              </a:lnRef>
              <a:fillRef idx="2">
                <a:schemeClr val="accent3"/>
              </a:fillRef>
              <a:effectRef idx="1">
                <a:schemeClr val="accent3"/>
              </a:effectRef>
              <a:fontRef idx="minor">
                <a:schemeClr val="dk1"/>
              </a:fontRef>
            </p:style>
            <p:txBody>
              <a:bodyPr/>
              <a:lstStyle/>
              <a:p>
                <a:pPr marL="0" indent="0">
                  <a:buNone/>
                </a:pPr>
                <a:endParaRPr lang="en-US" dirty="0"/>
              </a:p>
              <a:p>
                <a:pPr marL="0" indent="0">
                  <a:buNone/>
                </a:pPr>
                <a:r>
                  <a:rPr lang="en-US" b="1" dirty="0"/>
                  <a:t>Theo </a:t>
                </a:r>
                <a:r>
                  <a:rPr lang="en-US" b="1" dirty="0" err="1"/>
                  <a:t>nguyên</a:t>
                </a:r>
                <a:r>
                  <a:rPr lang="en-US" b="1" dirty="0"/>
                  <a:t> </a:t>
                </a:r>
                <a:r>
                  <a:rPr lang="en-US" b="1" dirty="0" err="1"/>
                  <a:t>lý</a:t>
                </a:r>
                <a:r>
                  <a:rPr lang="en-US" b="1" dirty="0"/>
                  <a:t> </a:t>
                </a:r>
                <a:r>
                  <a:rPr lang="en-US" b="1" dirty="0" err="1"/>
                  <a:t>thứ</a:t>
                </a:r>
                <a:r>
                  <a:rPr lang="en-US" b="1" dirty="0"/>
                  <a:t> </a:t>
                </a:r>
                <a:r>
                  <a:rPr lang="en-US" b="1" dirty="0" err="1"/>
                  <a:t>nhất</a:t>
                </a:r>
                <a:r>
                  <a:rPr lang="en-US" b="1" dirty="0"/>
                  <a:t>, </a:t>
                </a:r>
                <a:r>
                  <a:rPr lang="en-US" b="1" dirty="0" err="1"/>
                  <a:t>biểu</a:t>
                </a:r>
                <a:r>
                  <a:rPr lang="en-US" b="1" dirty="0"/>
                  <a:t> </a:t>
                </a:r>
                <a:r>
                  <a:rPr lang="en-US" b="1" dirty="0" err="1"/>
                  <a:t>thức</a:t>
                </a:r>
                <a:r>
                  <a:rPr lang="en-US" b="1" dirty="0"/>
                  <a:t> </a:t>
                </a:r>
                <a:r>
                  <a:rPr lang="en-US" b="1" dirty="0" err="1"/>
                  <a:t>nào</a:t>
                </a:r>
                <a:r>
                  <a:rPr lang="en-US" b="1" dirty="0"/>
                  <a:t> </a:t>
                </a:r>
                <a:r>
                  <a:rPr lang="en-US" b="1" dirty="0" err="1"/>
                  <a:t>dưới</a:t>
                </a:r>
                <a:r>
                  <a:rPr lang="en-US" b="1" dirty="0"/>
                  <a:t> </a:t>
                </a:r>
                <a:r>
                  <a:rPr lang="en-US" b="1" dirty="0" err="1"/>
                  <a:t>đây</a:t>
                </a:r>
                <a:r>
                  <a:rPr lang="en-US" b="1" dirty="0"/>
                  <a:t> </a:t>
                </a:r>
                <a:r>
                  <a:rPr lang="en-US" b="1" dirty="0" err="1"/>
                  <a:t>mô</a:t>
                </a:r>
                <a:r>
                  <a:rPr lang="en-US" b="1" dirty="0"/>
                  <a:t> </a:t>
                </a:r>
                <a:r>
                  <a:rPr lang="en-US" b="1" dirty="0" err="1"/>
                  <a:t>tả</a:t>
                </a:r>
                <a:r>
                  <a:rPr lang="en-US" b="1" dirty="0"/>
                  <a:t> </a:t>
                </a:r>
                <a:r>
                  <a:rPr lang="en-US" b="1" dirty="0" err="1"/>
                  <a:t>quá</a:t>
                </a:r>
                <a:r>
                  <a:rPr lang="en-US" b="1" dirty="0"/>
                  <a:t> </a:t>
                </a:r>
                <a:r>
                  <a:rPr lang="en-US" b="1" dirty="0" err="1"/>
                  <a:t>trình</a:t>
                </a:r>
                <a:r>
                  <a:rPr lang="en-US" b="1" dirty="0"/>
                  <a:t> </a:t>
                </a:r>
                <a:r>
                  <a:rPr lang="en-US" b="1" dirty="0" err="1"/>
                  <a:t>nung</a:t>
                </a:r>
                <a:r>
                  <a:rPr lang="en-US" b="1" dirty="0"/>
                  <a:t> </a:t>
                </a:r>
                <a:r>
                  <a:rPr lang="en-US" b="1" dirty="0" err="1"/>
                  <a:t>nóng</a:t>
                </a:r>
                <a:r>
                  <a:rPr lang="en-US" b="1" dirty="0"/>
                  <a:t> </a:t>
                </a:r>
                <a:r>
                  <a:rPr lang="en-US" b="1" dirty="0" err="1"/>
                  <a:t>khí</a:t>
                </a:r>
                <a:r>
                  <a:rPr lang="en-US" b="1" dirty="0"/>
                  <a:t> </a:t>
                </a:r>
                <a:r>
                  <a:rPr lang="en-US" b="1" dirty="0" err="1"/>
                  <a:t>trong</a:t>
                </a:r>
                <a:r>
                  <a:rPr lang="en-US" b="1" dirty="0"/>
                  <a:t> </a:t>
                </a:r>
                <a:r>
                  <a:rPr lang="en-US" b="1" dirty="0" err="1"/>
                  <a:t>bình</a:t>
                </a:r>
                <a:r>
                  <a:rPr lang="en-US" b="1" dirty="0"/>
                  <a:t> </a:t>
                </a:r>
                <a:r>
                  <a:rPr lang="en-US" b="1" dirty="0" err="1"/>
                  <a:t>kín</a:t>
                </a:r>
                <a:r>
                  <a:rPr lang="en-US" b="1" dirty="0"/>
                  <a:t>?</a:t>
                </a:r>
              </a:p>
              <a:p>
                <a:r>
                  <a:rPr lang="en-US" b="1" dirty="0"/>
                  <a:t>A.	 </a:t>
                </a:r>
                <a:r>
                  <a:rPr lang="el-GR" b="1" dirty="0"/>
                  <a:t>Δ</a:t>
                </a:r>
                <a:r>
                  <a:rPr lang="en-US" b="1" dirty="0"/>
                  <a:t>U = 0</a:t>
                </a:r>
              </a:p>
              <a:p>
                <a:r>
                  <a:rPr lang="en-US" b="1" dirty="0"/>
                  <a:t>B.	 </a:t>
                </a:r>
                <a:r>
                  <a:rPr lang="el-GR" b="1" dirty="0"/>
                  <a:t>Δ</a:t>
                </a:r>
                <a:r>
                  <a:rPr lang="en-US" b="1" dirty="0"/>
                  <a:t>U  = A</a:t>
                </a:r>
              </a:p>
              <a:p>
                <a:r>
                  <a:rPr lang="en-US" b="1" dirty="0"/>
                  <a:t>C.	Q&lt; 0</a:t>
                </a:r>
              </a:p>
              <a:p>
                <a:r>
                  <a:rPr lang="en-US" b="1" dirty="0"/>
                  <a:t>D.	 </a:t>
                </a:r>
                <a14:m>
                  <m:oMath xmlns:m="http://schemas.openxmlformats.org/officeDocument/2006/math">
                    <m:r>
                      <m:rPr>
                        <m:sty m:val="p"/>
                      </m:rPr>
                      <a:rPr lang="el-GR" b="1" i="1" smtClean="0">
                        <a:latin typeface="Cambria Math"/>
                      </a:rPr>
                      <m:t>Δ</m:t>
                    </m:r>
                  </m:oMath>
                </a14:m>
                <a:r>
                  <a:rPr lang="en-US" b="1" dirty="0"/>
                  <a:t>U &gt; 0  </a:t>
                </a:r>
              </a:p>
              <a:p>
                <a:endParaRPr lang="en-US" dirty="0"/>
              </a:p>
            </p:txBody>
          </p:sp>
        </mc:Choice>
        <mc:Fallback xmlns="">
          <p:sp>
            <p:nvSpPr>
              <p:cNvPr id="2" name="Content Placeholder 1"/>
              <p:cNvSpPr>
                <a:spLocks noGrp="1" noRot="1" noChangeAspect="1" noMove="1" noResize="1" noEditPoints="1" noAdjustHandles="1" noChangeArrowheads="1" noChangeShapeType="1" noTextEdit="1"/>
              </p:cNvSpPr>
              <p:nvPr>
                <p:ph/>
              </p:nvPr>
            </p:nvSpPr>
            <p:spPr>
              <a:blipFill rotWithShape="1">
                <a:blip r:embed="rId2"/>
                <a:stretch>
                  <a:fillRect/>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38BA17E9-5C3A-1929-3D40-16D29F08A7C6}"/>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A901AC00-A1C7-DAE6-AF73-EE8D05D9207E}"/>
              </a:ext>
            </a:extLst>
          </p:cNvPr>
          <p:cNvSpPr>
            <a:spLocks noGrp="1"/>
          </p:cNvSpPr>
          <p:nvPr>
            <p:ph type="sldNum" sz="quarter" idx="12"/>
          </p:nvPr>
        </p:nvSpPr>
        <p:spPr/>
        <p:txBody>
          <a:bodyPr/>
          <a:lstStyle/>
          <a:p>
            <a:pPr>
              <a:defRPr/>
            </a:pPr>
            <a:fld id="{003F8D5A-645D-495A-9DEA-99BB03E4A967}" type="slidenum">
              <a:rPr lang="en-US" smtClean="0"/>
              <a:pPr>
                <a:defRPr/>
              </a:pPr>
              <a:t>41</a:t>
            </a:fld>
            <a:endParaRPr lang="en-US"/>
          </a:p>
        </p:txBody>
      </p:sp>
    </p:spTree>
    <p:extLst>
      <p:ext uri="{BB962C8B-B14F-4D97-AF65-F5344CB8AC3E}">
        <p14:creationId xmlns:p14="http://schemas.microsoft.com/office/powerpoint/2010/main" val="3484038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2">
                                            <p:txEl>
                                              <p:pRg st="5" end="5"/>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533400"/>
                <a:ext cx="8229600" cy="5592763"/>
              </a:xfrm>
            </p:spPr>
            <p:txBody>
              <a:bodyPr>
                <a:normAutofit lnSpcReduction="10000"/>
              </a:bodyPr>
              <a:lstStyle/>
              <a:p>
                <a:r>
                  <a:rPr lang="en-US" dirty="0"/>
                  <a:t>pV = </a:t>
                </a:r>
                <a14:m>
                  <m:oMath xmlns:m="http://schemas.openxmlformats.org/officeDocument/2006/math">
                    <m:f>
                      <m:fPr>
                        <m:ctrlPr>
                          <a:rPr lang="en-US" i="1">
                            <a:latin typeface="Cambria Math" panose="02040503050406030204" pitchFamily="18" charset="0"/>
                          </a:rPr>
                        </m:ctrlPr>
                      </m:fPr>
                      <m:num>
                        <m:r>
                          <a:rPr lang="en-US" i="1">
                            <a:latin typeface="Cambria Math"/>
                          </a:rPr>
                          <m:t>𝑚</m:t>
                        </m:r>
                      </m:num>
                      <m:den>
                        <m:r>
                          <a:rPr lang="en-US" i="1">
                            <a:latin typeface="Cambria Math"/>
                            <a:ea typeface="Cambria Math"/>
                          </a:rPr>
                          <m:t>𝜇</m:t>
                        </m:r>
                      </m:den>
                    </m:f>
                    <m:r>
                      <a:rPr lang="en-US" i="1">
                        <a:latin typeface="Cambria Math"/>
                      </a:rPr>
                      <m:t>𝑅</m:t>
                    </m:r>
                    <m:r>
                      <a:rPr lang="en-US" i="1">
                        <a:latin typeface="Cambria Math"/>
                        <a:ea typeface="Cambria Math"/>
                      </a:rPr>
                      <m:t>𝑇</m:t>
                    </m:r>
                  </m:oMath>
                </a14:m>
                <a:r>
                  <a:rPr lang="en-US" dirty="0">
                    <a:ea typeface="Cambria Math"/>
                  </a:rPr>
                  <a:t> (PT </a:t>
                </a:r>
                <a:r>
                  <a:rPr lang="en-US" dirty="0" err="1">
                    <a:ea typeface="Cambria Math"/>
                  </a:rPr>
                  <a:t>TrT.KLT</a:t>
                </a:r>
                <a:r>
                  <a:rPr lang="en-US" dirty="0">
                    <a:ea typeface="Cambria Math"/>
                  </a:rPr>
                  <a:t>)</a:t>
                </a:r>
              </a:p>
              <a:p>
                <a14:m>
                  <m:oMath xmlns:m="http://schemas.openxmlformats.org/officeDocument/2006/math">
                    <m:d>
                      <m:dPr>
                        <m:begChr m:val="{"/>
                        <m:endChr m:val=""/>
                        <m:ctrlPr>
                          <a:rPr lang="en-US" i="1" smtClean="0">
                            <a:latin typeface="Cambria Math" panose="02040503050406030204" pitchFamily="18" charset="0"/>
                          </a:rPr>
                        </m:ctrlPr>
                      </m:dPr>
                      <m:e>
                        <m:eqArr>
                          <m:eqArrPr>
                            <m:ctrlPr>
                              <a:rPr lang="en-US" i="1" smtClean="0">
                                <a:latin typeface="Cambria Math" panose="02040503050406030204" pitchFamily="18" charset="0"/>
                              </a:rPr>
                            </m:ctrlPr>
                          </m:eqArrPr>
                          <m:e>
                            <m:sSub>
                              <m:sSubPr>
                                <m:ctrlPr>
                                  <a:rPr lang="en-US" i="1" smtClean="0">
                                    <a:latin typeface="Cambria Math" panose="02040503050406030204" pitchFamily="18" charset="0"/>
                                  </a:rPr>
                                </m:ctrlPr>
                              </m:sSubPr>
                              <m:e>
                                <m:r>
                                  <a:rPr lang="en-US" b="0" i="1" smtClean="0">
                                    <a:latin typeface="Cambria Math"/>
                                  </a:rPr>
                                  <m:t>𝑝</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𝑉</m:t>
                                </m:r>
                              </m:e>
                              <m:sub>
                                <m:r>
                                  <a:rPr lang="en-US" b="0" i="1" smtClean="0">
                                    <a:latin typeface="Cambria Math"/>
                                  </a:rPr>
                                  <m:t>1</m:t>
                                </m:r>
                              </m:sub>
                            </m:sSub>
                            <m:r>
                              <a:rPr lang="en-US" b="0" i="1" smtClean="0">
                                <a:latin typeface="Cambria Math"/>
                              </a:rPr>
                              <m:t>=</m:t>
                            </m:r>
                            <m:sSub>
                              <m:sSubPr>
                                <m:ctrlPr>
                                  <a:rPr lang="en-US" i="1">
                                    <a:latin typeface="Cambria Math" panose="02040503050406030204" pitchFamily="18" charset="0"/>
                                  </a:rPr>
                                </m:ctrlPr>
                              </m:sSubPr>
                              <m:e>
                                <m:r>
                                  <a:rPr lang="en-US" i="1">
                                    <a:latin typeface="Cambria Math"/>
                                  </a:rPr>
                                  <m:t>𝑝</m:t>
                                </m:r>
                              </m:e>
                              <m:sub>
                                <m:r>
                                  <a:rPr lang="en-US" b="0" i="1" smtClean="0">
                                    <a:latin typeface="Cambria Math"/>
                                  </a:rPr>
                                  <m:t>2</m:t>
                                </m:r>
                              </m:sub>
                            </m:sSub>
                            <m:r>
                              <a:rPr lang="en-US" i="1">
                                <a:latin typeface="Cambria Math"/>
                              </a:rPr>
                              <m:t>.</m:t>
                            </m:r>
                            <m:sSub>
                              <m:sSubPr>
                                <m:ctrlPr>
                                  <a:rPr lang="en-US" i="1">
                                    <a:latin typeface="Cambria Math" panose="02040503050406030204" pitchFamily="18" charset="0"/>
                                  </a:rPr>
                                </m:ctrlPr>
                              </m:sSubPr>
                              <m:e>
                                <m:r>
                                  <a:rPr lang="en-US" i="1">
                                    <a:latin typeface="Cambria Math"/>
                                  </a:rPr>
                                  <m:t>𝑉</m:t>
                                </m:r>
                              </m:e>
                              <m:sub>
                                <m:r>
                                  <a:rPr lang="en-US" b="0" i="1" smtClean="0">
                                    <a:latin typeface="Cambria Math"/>
                                  </a:rPr>
                                  <m:t>2</m:t>
                                </m:r>
                              </m:sub>
                            </m:sSub>
                          </m:e>
                          <m:e>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b="0" i="1" smtClean="0">
                                        <a:latin typeface="Cambria Math"/>
                                      </a:rPr>
                                      <m:t>𝑝</m:t>
                                    </m:r>
                                  </m:e>
                                  <m:sub>
                                    <m:r>
                                      <a:rPr lang="en-US" b="0" i="1" smtClean="0">
                                        <a:latin typeface="Cambria Math"/>
                                      </a:rPr>
                                      <m:t>1</m:t>
                                    </m:r>
                                  </m:sub>
                                </m:sSub>
                              </m:num>
                              <m:den>
                                <m:sSub>
                                  <m:sSubPr>
                                    <m:ctrlPr>
                                      <a:rPr lang="en-US" i="1" smtClean="0">
                                        <a:latin typeface="Cambria Math" panose="02040503050406030204" pitchFamily="18" charset="0"/>
                                      </a:rPr>
                                    </m:ctrlPr>
                                  </m:sSubPr>
                                  <m:e>
                                    <m:r>
                                      <a:rPr lang="en-US" b="0" i="1" smtClean="0">
                                        <a:latin typeface="Cambria Math"/>
                                      </a:rPr>
                                      <m:t>𝑇</m:t>
                                    </m:r>
                                  </m:e>
                                  <m:sub>
                                    <m:r>
                                      <a:rPr lang="en-US" b="0" i="1" smtClean="0">
                                        <a:latin typeface="Cambria Math"/>
                                      </a:rPr>
                                      <m:t>1</m:t>
                                    </m:r>
                                  </m:sub>
                                </m:sSub>
                              </m:den>
                            </m:f>
                            <m:r>
                              <a:rPr lang="en-US" b="0" i="1" smtClean="0">
                                <a:latin typeface="Cambria Math"/>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a:rPr>
                                      <m:t>𝑝</m:t>
                                    </m:r>
                                  </m:e>
                                  <m:sub>
                                    <m:r>
                                      <a:rPr lang="en-US" b="0" i="1" smtClean="0">
                                        <a:latin typeface="Cambria Math"/>
                                      </a:rPr>
                                      <m:t>2</m:t>
                                    </m:r>
                                  </m:sub>
                                </m:sSub>
                              </m:num>
                              <m:den>
                                <m:sSub>
                                  <m:sSubPr>
                                    <m:ctrlPr>
                                      <a:rPr lang="en-US" b="0" i="1" smtClean="0">
                                        <a:latin typeface="Cambria Math" panose="02040503050406030204" pitchFamily="18" charset="0"/>
                                      </a:rPr>
                                    </m:ctrlPr>
                                  </m:sSubPr>
                                  <m:e>
                                    <m:r>
                                      <a:rPr lang="en-US" b="0" i="1" smtClean="0">
                                        <a:latin typeface="Cambria Math"/>
                                      </a:rPr>
                                      <m:t>𝑇</m:t>
                                    </m:r>
                                  </m:e>
                                  <m:sub>
                                    <m:r>
                                      <a:rPr lang="en-US" b="0" i="1" smtClean="0">
                                        <a:latin typeface="Cambria Math"/>
                                      </a:rPr>
                                      <m:t>2</m:t>
                                    </m:r>
                                  </m:sub>
                                </m:sSub>
                              </m:den>
                            </m:f>
                          </m:e>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b="0" i="1" smtClean="0">
                                        <a:latin typeface="Cambria Math"/>
                                      </a:rPr>
                                      <m:t>𝑉</m:t>
                                    </m:r>
                                  </m:e>
                                  <m:sub>
                                    <m:r>
                                      <a:rPr lang="en-US" i="1">
                                        <a:latin typeface="Cambria Math"/>
                                      </a:rPr>
                                      <m:t>1</m:t>
                                    </m:r>
                                  </m:sub>
                                </m:sSub>
                              </m:num>
                              <m:den>
                                <m:sSub>
                                  <m:sSubPr>
                                    <m:ctrlPr>
                                      <a:rPr lang="en-US" i="1">
                                        <a:latin typeface="Cambria Math" panose="02040503050406030204" pitchFamily="18" charset="0"/>
                                      </a:rPr>
                                    </m:ctrlPr>
                                  </m:sSubPr>
                                  <m:e>
                                    <m:r>
                                      <a:rPr lang="en-US" i="1">
                                        <a:latin typeface="Cambria Math"/>
                                      </a:rPr>
                                      <m:t>𝑇</m:t>
                                    </m:r>
                                  </m:e>
                                  <m:sub>
                                    <m:r>
                                      <a:rPr lang="en-US" i="1">
                                        <a:latin typeface="Cambria Math"/>
                                      </a:rPr>
                                      <m:t>1</m:t>
                                    </m:r>
                                  </m:sub>
                                </m:sSub>
                              </m:den>
                            </m:f>
                            <m:r>
                              <a:rPr lang="en-US" i="1">
                                <a:latin typeface="Cambria Math"/>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b="0" i="1" smtClean="0">
                                        <a:latin typeface="Cambria Math"/>
                                      </a:rPr>
                                      <m:t>𝑉</m:t>
                                    </m:r>
                                  </m:e>
                                  <m:sub>
                                    <m:r>
                                      <a:rPr lang="en-US" i="1">
                                        <a:latin typeface="Cambria Math"/>
                                      </a:rPr>
                                      <m:t>2</m:t>
                                    </m:r>
                                  </m:sub>
                                </m:sSub>
                              </m:num>
                              <m:den>
                                <m:sSub>
                                  <m:sSubPr>
                                    <m:ctrlPr>
                                      <a:rPr lang="en-US" i="1">
                                        <a:latin typeface="Cambria Math" panose="02040503050406030204" pitchFamily="18" charset="0"/>
                                      </a:rPr>
                                    </m:ctrlPr>
                                  </m:sSubPr>
                                  <m:e>
                                    <m:r>
                                      <a:rPr lang="en-US" i="1">
                                        <a:latin typeface="Cambria Math"/>
                                      </a:rPr>
                                      <m:t>𝑇</m:t>
                                    </m:r>
                                  </m:e>
                                  <m:sub>
                                    <m:r>
                                      <a:rPr lang="en-US" i="1">
                                        <a:latin typeface="Cambria Math"/>
                                      </a:rPr>
                                      <m:t>2</m:t>
                                    </m:r>
                                  </m:sub>
                                </m:sSub>
                              </m:den>
                            </m:f>
                          </m:e>
                        </m:eqArr>
                      </m:e>
                    </m:d>
                  </m:oMath>
                </a14:m>
                <a:r>
                  <a:rPr lang="en-US" dirty="0"/>
                  <a:t> </a:t>
                </a:r>
              </a:p>
              <a:p>
                <a14:m>
                  <m:oMath xmlns:m="http://schemas.openxmlformats.org/officeDocument/2006/math">
                    <m:d>
                      <m:dPr>
                        <m:begChr m:val="{"/>
                        <m:endChr m:val=""/>
                        <m:ctrlPr>
                          <a:rPr lang="en-US"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a:rPr>
                              <m:t>𝐴</m:t>
                            </m:r>
                            <m:r>
                              <a:rPr lang="en-US" b="0" i="1" smtClean="0">
                                <a:latin typeface="Cambria Math"/>
                              </a:rPr>
                              <m:t>=0, </m:t>
                            </m:r>
                            <m:r>
                              <a:rPr lang="en-US" b="0" i="1" smtClean="0">
                                <a:latin typeface="Cambria Math"/>
                              </a:rPr>
                              <m:t>𝑄</m:t>
                            </m:r>
                            <m:r>
                              <a:rPr lang="en-US" b="0" i="1" smtClean="0">
                                <a:latin typeface="Cambria Math"/>
                              </a:rPr>
                              <m:t>=∆</m:t>
                            </m:r>
                            <m:r>
                              <a:rPr lang="en-US" b="0" i="1" smtClean="0">
                                <a:latin typeface="Cambria Math"/>
                                <a:ea typeface="Cambria Math"/>
                              </a:rPr>
                              <m:t>𝑈</m:t>
                            </m:r>
                            <m:r>
                              <a:rPr lang="en-US" b="0" i="1" smtClean="0">
                                <a:latin typeface="Cambria Math"/>
                              </a:rPr>
                              <m:t> </m:t>
                            </m:r>
                          </m:e>
                          <m:e>
                            <m:r>
                              <a:rPr lang="en-US" b="0" i="1" smtClean="0">
                                <a:latin typeface="Cambria Math"/>
                              </a:rPr>
                              <m:t>𝐴</m:t>
                            </m:r>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𝑚</m:t>
                                </m:r>
                              </m:num>
                              <m:den>
                                <m:r>
                                  <a:rPr lang="en-US" b="0" i="1" smtClean="0">
                                    <a:latin typeface="Cambria Math"/>
                                    <a:ea typeface="Cambria Math"/>
                                  </a:rPr>
                                  <m:t>𝜇</m:t>
                                </m:r>
                              </m:den>
                            </m:f>
                            <m:r>
                              <a:rPr lang="en-US" b="0" i="1" smtClean="0">
                                <a:latin typeface="Cambria Math"/>
                              </a:rPr>
                              <m:t>𝑅</m:t>
                            </m:r>
                            <m:r>
                              <a:rPr lang="en-US" b="0" i="1" smtClean="0">
                                <a:latin typeface="Cambria Math"/>
                                <a:ea typeface="Cambria Math"/>
                              </a:rPr>
                              <m:t>∆</m:t>
                            </m:r>
                            <m:r>
                              <a:rPr lang="en-US" b="0" i="1" smtClean="0">
                                <a:latin typeface="Cambria Math"/>
                                <a:ea typeface="Cambria Math"/>
                              </a:rPr>
                              <m:t>𝑇</m:t>
                            </m:r>
                            <m:r>
                              <a:rPr lang="en-US" b="0" i="1" smtClean="0">
                                <a:latin typeface="Cambria Math"/>
                                <a:ea typeface="Cambria Math"/>
                              </a:rPr>
                              <m:t>, </m:t>
                            </m:r>
                            <m:r>
                              <a:rPr lang="en-US" b="0" i="1" smtClean="0">
                                <a:latin typeface="Cambria Math"/>
                                <a:ea typeface="Cambria Math"/>
                              </a:rPr>
                              <m:t>𝑄</m:t>
                            </m:r>
                            <m:r>
                              <a:rPr lang="en-US" b="0" i="1" smtClean="0">
                                <a:latin typeface="Cambria Math"/>
                                <a:ea typeface="Cambria Math"/>
                              </a:rPr>
                              <m:t>=∆</m:t>
                            </m:r>
                            <m:r>
                              <a:rPr lang="en-US" b="0" i="1" smtClean="0">
                                <a:latin typeface="Cambria Math"/>
                                <a:ea typeface="Cambria Math"/>
                              </a:rPr>
                              <m:t>𝑈</m:t>
                            </m:r>
                            <m:r>
                              <a:rPr lang="en-US" b="0" i="1" smtClean="0">
                                <a:latin typeface="Cambria Math"/>
                                <a:ea typeface="Cambria Math"/>
                              </a:rPr>
                              <m:t>−</m:t>
                            </m:r>
                            <m:r>
                              <a:rPr lang="en-US" b="0" i="1" smtClean="0">
                                <a:latin typeface="Cambria Math"/>
                                <a:ea typeface="Cambria Math"/>
                              </a:rPr>
                              <m:t>𝐴</m:t>
                            </m:r>
                          </m:e>
                          <m:e>
                            <m:r>
                              <a:rPr lang="en-US" i="1" smtClean="0">
                                <a:latin typeface="Cambria Math"/>
                                <a:ea typeface="Cambria Math"/>
                              </a:rPr>
                              <m:t>∆</m:t>
                            </m:r>
                            <m:r>
                              <a:rPr lang="en-US" b="0" i="1" smtClean="0">
                                <a:latin typeface="Cambria Math"/>
                                <a:ea typeface="Cambria Math"/>
                              </a:rPr>
                              <m:t>𝑈</m:t>
                            </m:r>
                            <m:r>
                              <a:rPr lang="en-US" b="0" i="1" smtClean="0">
                                <a:latin typeface="Cambria Math"/>
                                <a:ea typeface="Cambria Math"/>
                              </a:rPr>
                              <m:t>=0, </m:t>
                            </m:r>
                            <m:r>
                              <a:rPr lang="en-US" b="0" i="1" smtClean="0">
                                <a:latin typeface="Cambria Math"/>
                                <a:ea typeface="Cambria Math"/>
                              </a:rPr>
                              <m:t>𝑄</m:t>
                            </m:r>
                            <m:r>
                              <a:rPr lang="en-US" b="0" i="1" smtClean="0">
                                <a:latin typeface="Cambria Math"/>
                                <a:ea typeface="Cambria Math"/>
                              </a:rPr>
                              <m:t>=−</m:t>
                            </m:r>
                            <m:r>
                              <a:rPr lang="en-US" b="0" i="1" smtClean="0">
                                <a:latin typeface="Cambria Math"/>
                                <a:ea typeface="Cambria Math"/>
                              </a:rPr>
                              <m:t>𝐴</m:t>
                            </m:r>
                          </m:e>
                          <m:e>
                            <m:r>
                              <a:rPr lang="en-US" b="0" i="1" smtClean="0">
                                <a:latin typeface="Cambria Math"/>
                                <a:ea typeface="Cambria Math"/>
                              </a:rPr>
                              <m:t>𝑄</m:t>
                            </m:r>
                            <m:r>
                              <a:rPr lang="en-US" b="0" i="1" smtClean="0">
                                <a:latin typeface="Cambria Math"/>
                                <a:ea typeface="Cambria Math"/>
                              </a:rPr>
                              <m:t>=0, </m:t>
                            </m:r>
                            <m:r>
                              <a:rPr lang="en-US" b="0" i="1" smtClean="0">
                                <a:latin typeface="Cambria Math"/>
                                <a:ea typeface="Cambria Math"/>
                              </a:rPr>
                              <m:t>𝐴</m:t>
                            </m:r>
                            <m:r>
                              <a:rPr lang="en-US" b="0" i="1" smtClean="0">
                                <a:latin typeface="Cambria Math"/>
                                <a:ea typeface="Cambria Math"/>
                              </a:rPr>
                              <m:t>=∆</m:t>
                            </m:r>
                            <m:r>
                              <a:rPr lang="en-US" b="0" i="1" smtClean="0">
                                <a:latin typeface="Cambria Math"/>
                                <a:ea typeface="Cambria Math"/>
                              </a:rPr>
                              <m:t>𝑈</m:t>
                            </m:r>
                          </m:e>
                        </m:eqArr>
                      </m:e>
                    </m:d>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533400"/>
                <a:ext cx="8229600" cy="5592763"/>
              </a:xfrm>
              <a:blipFill>
                <a:blip r:embed="rId2"/>
                <a:stretch>
                  <a:fillRect l="-1481" t="-1200"/>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4360DD56-0C16-B30A-5A56-DFEE059727A8}"/>
              </a:ext>
            </a:extLst>
          </p:cNvPr>
          <p:cNvSpPr>
            <a:spLocks noGrp="1"/>
          </p:cNvSpPr>
          <p:nvPr>
            <p:ph type="ftr" sz="quarter" idx="11"/>
          </p:nvPr>
        </p:nvSpPr>
        <p:spPr/>
        <p:txBody>
          <a:bodyPr/>
          <a:lstStyle/>
          <a:p>
            <a:r>
              <a:rPr lang="en-US"/>
              <a:t>Bùi Quốc Trung - VLDC</a:t>
            </a:r>
          </a:p>
        </p:txBody>
      </p:sp>
      <p:sp>
        <p:nvSpPr>
          <p:cNvPr id="4" name="Slide Number Placeholder 3">
            <a:extLst>
              <a:ext uri="{FF2B5EF4-FFF2-40B4-BE49-F238E27FC236}">
                <a16:creationId xmlns:a16="http://schemas.microsoft.com/office/drawing/2014/main" id="{C6F4745D-706D-054D-F93A-6E1353125301}"/>
              </a:ext>
            </a:extLst>
          </p:cNvPr>
          <p:cNvSpPr>
            <a:spLocks noGrp="1"/>
          </p:cNvSpPr>
          <p:nvPr>
            <p:ph type="sldNum" sz="quarter" idx="12"/>
          </p:nvPr>
        </p:nvSpPr>
        <p:spPr/>
        <p:txBody>
          <a:bodyPr/>
          <a:lstStyle/>
          <a:p>
            <a:fld id="{0C173468-4CCE-478A-9725-791AF0DB04F2}" type="slidenum">
              <a:rPr lang="en-US" smtClean="0"/>
              <a:t>42</a:t>
            </a:fld>
            <a:endParaRPr lang="en-US"/>
          </a:p>
        </p:txBody>
      </p:sp>
    </p:spTree>
    <p:extLst>
      <p:ext uri="{BB962C8B-B14F-4D97-AF65-F5344CB8AC3E}">
        <p14:creationId xmlns:p14="http://schemas.microsoft.com/office/powerpoint/2010/main" val="27504393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p:cNvSpPr>
                <a:spLocks noGrp="1"/>
              </p:cNvSpPr>
              <p:nvPr>
                <p:ph/>
              </p:nvPr>
            </p:nvSpPr>
            <p:spPr/>
            <p:txBody>
              <a:bodyPr/>
              <a:lstStyle/>
              <a:p>
                <a:pPr marL="0" indent="0">
                  <a:buNone/>
                </a:pPr>
                <a:endParaRPr lang="en-US" b="1" dirty="0"/>
              </a:p>
              <a:p>
                <a:pPr marL="0" indent="0">
                  <a:buNone/>
                </a:pPr>
                <a:r>
                  <a:rPr lang="en-US" sz="3600" b="1" dirty="0" err="1"/>
                  <a:t>Một</a:t>
                </a:r>
                <a:r>
                  <a:rPr lang="en-US" sz="3600" b="1" dirty="0"/>
                  <a:t> </a:t>
                </a:r>
                <a:r>
                  <a:rPr lang="en-US" sz="3600" b="1" dirty="0" err="1"/>
                  <a:t>bình</a:t>
                </a:r>
                <a:r>
                  <a:rPr lang="en-US" sz="3600" b="1" dirty="0"/>
                  <a:t> </a:t>
                </a:r>
                <a:r>
                  <a:rPr lang="en-US" sz="3600" b="1" dirty="0" err="1"/>
                  <a:t>kín</a:t>
                </a:r>
                <a:r>
                  <a:rPr lang="en-US" sz="3600" b="1" dirty="0"/>
                  <a:t> </a:t>
                </a:r>
                <a:r>
                  <a:rPr lang="en-US" sz="3600" b="1" dirty="0" err="1"/>
                  <a:t>có</a:t>
                </a:r>
                <a:r>
                  <a:rPr lang="en-US" sz="3600" b="1" dirty="0"/>
                  <a:t> </a:t>
                </a:r>
                <a:r>
                  <a:rPr lang="en-US" sz="3600" b="1" dirty="0" err="1"/>
                  <a:t>thể</a:t>
                </a:r>
                <a:r>
                  <a:rPr lang="en-US" sz="3600" b="1" dirty="0"/>
                  <a:t> </a:t>
                </a:r>
                <a:r>
                  <a:rPr lang="en-US" sz="3600" b="1" dirty="0" err="1"/>
                  <a:t>tích</a:t>
                </a:r>
                <a:r>
                  <a:rPr lang="en-US" sz="3600" b="1" dirty="0"/>
                  <a:t> 2 </a:t>
                </a:r>
                <a:r>
                  <a:rPr lang="en-US" sz="3600" b="1" dirty="0" err="1"/>
                  <a:t>lít</a:t>
                </a:r>
                <a:r>
                  <a:rPr lang="en-US" sz="3600" b="1" dirty="0"/>
                  <a:t>, </a:t>
                </a:r>
                <a:r>
                  <a:rPr lang="en-US" sz="3600" b="1" dirty="0" err="1"/>
                  <a:t>đựng</a:t>
                </a:r>
                <a:r>
                  <a:rPr lang="en-US" sz="3600" b="1" dirty="0"/>
                  <a:t> 12g </a:t>
                </a:r>
                <a:r>
                  <a:rPr lang="en-US" sz="3600" b="1" dirty="0" err="1"/>
                  <a:t>khí</a:t>
                </a:r>
                <a:r>
                  <a:rPr lang="en-US" sz="3600" b="1" dirty="0"/>
                  <a:t> </a:t>
                </a:r>
                <a:r>
                  <a:rPr lang="en-US" sz="3600" b="1" dirty="0" err="1"/>
                  <a:t>Nitơ</a:t>
                </a:r>
                <a:r>
                  <a:rPr lang="en-US" sz="3600" b="1" dirty="0"/>
                  <a:t> ở </a:t>
                </a:r>
                <a:r>
                  <a:rPr lang="en-US" sz="3600" b="1" dirty="0" err="1"/>
                  <a:t>nhiệt</a:t>
                </a:r>
                <a:r>
                  <a:rPr lang="en-US" sz="3600" b="1" dirty="0"/>
                  <a:t> </a:t>
                </a:r>
                <a:r>
                  <a:rPr lang="en-US" sz="3600" b="1" dirty="0" err="1"/>
                  <a:t>độ</a:t>
                </a:r>
                <a:r>
                  <a:rPr lang="en-US" sz="3600" b="1" dirty="0"/>
                  <a:t> 10°C. </a:t>
                </a:r>
                <a:r>
                  <a:rPr lang="en-US" sz="3600" b="1" dirty="0" err="1"/>
                  <a:t>Sau</a:t>
                </a:r>
                <a:r>
                  <a:rPr lang="en-US" sz="3600" b="1" dirty="0"/>
                  <a:t> </a:t>
                </a:r>
                <a:r>
                  <a:rPr lang="en-US" sz="3600" b="1" dirty="0" err="1"/>
                  <a:t>khi</a:t>
                </a:r>
                <a:r>
                  <a:rPr lang="en-US" sz="3600" b="1" dirty="0"/>
                  <a:t> </a:t>
                </a:r>
                <a:r>
                  <a:rPr lang="en-US" sz="3600" b="1" dirty="0" err="1"/>
                  <a:t>hơ</a:t>
                </a:r>
                <a:r>
                  <a:rPr lang="en-US" sz="3600" b="1" dirty="0"/>
                  <a:t> </a:t>
                </a:r>
                <a:r>
                  <a:rPr lang="en-US" sz="3600" b="1" dirty="0" err="1"/>
                  <a:t>nóng</a:t>
                </a:r>
                <a:r>
                  <a:rPr lang="en-US" sz="3600" b="1" dirty="0"/>
                  <a:t>, </a:t>
                </a:r>
                <a:r>
                  <a:rPr lang="en-US" sz="3600" b="1" dirty="0" err="1"/>
                  <a:t>áp</a:t>
                </a:r>
                <a:r>
                  <a:rPr lang="en-US" sz="3600" b="1" dirty="0"/>
                  <a:t> </a:t>
                </a:r>
                <a:r>
                  <a:rPr lang="en-US" sz="3600" b="1" dirty="0" err="1"/>
                  <a:t>suất</a:t>
                </a:r>
                <a:r>
                  <a:rPr lang="en-US" sz="3600" b="1" dirty="0"/>
                  <a:t> </a:t>
                </a:r>
                <a:r>
                  <a:rPr lang="en-US" sz="3600" b="1" dirty="0" err="1"/>
                  <a:t>trong</a:t>
                </a:r>
                <a:r>
                  <a:rPr lang="en-US" sz="3600" b="1" dirty="0"/>
                  <a:t> </a:t>
                </a:r>
                <a:r>
                  <a:rPr lang="en-US" sz="3600" b="1" dirty="0" err="1"/>
                  <a:t>bình</a:t>
                </a:r>
                <a:r>
                  <a:rPr lang="en-US" sz="3600" b="1" dirty="0"/>
                  <a:t> </a:t>
                </a:r>
                <a:r>
                  <a:rPr lang="en-US" sz="3600" b="1" dirty="0" err="1"/>
                  <a:t>lên</a:t>
                </a:r>
                <a:r>
                  <a:rPr lang="en-US" sz="3600" b="1" dirty="0"/>
                  <a:t> </a:t>
                </a:r>
                <a:r>
                  <a:rPr lang="en-US" sz="3600" b="1" dirty="0" err="1"/>
                  <a:t>đến</a:t>
                </a:r>
                <a:r>
                  <a:rPr lang="en-US" sz="3600" b="1" dirty="0"/>
                  <a:t> </a:t>
                </a:r>
                <a14:m>
                  <m:oMath xmlns:m="http://schemas.openxmlformats.org/officeDocument/2006/math">
                    <m:sSup>
                      <m:sSupPr>
                        <m:ctrlPr>
                          <a:rPr lang="en-US" sz="3600" b="1" i="1" smtClean="0">
                            <a:latin typeface="Cambria Math" panose="02040503050406030204" pitchFamily="18" charset="0"/>
                          </a:rPr>
                        </m:ctrlPr>
                      </m:sSupPr>
                      <m:e>
                        <m:r>
                          <a:rPr lang="en-US" sz="3600" b="1" i="1" smtClean="0">
                            <a:latin typeface="Cambria Math"/>
                          </a:rPr>
                          <m:t>𝟏𝟎</m:t>
                        </m:r>
                      </m:e>
                      <m:sup>
                        <m:r>
                          <a:rPr lang="en-US" sz="3600" b="1" i="1" smtClean="0">
                            <a:latin typeface="Cambria Math"/>
                          </a:rPr>
                          <m:t>𝟒</m:t>
                        </m:r>
                      </m:sup>
                    </m:sSup>
                  </m:oMath>
                </a14:m>
                <a:r>
                  <a:rPr lang="en-US" sz="3600" b="1" dirty="0"/>
                  <a:t>mmHg. </a:t>
                </a:r>
                <a:r>
                  <a:rPr lang="en-US" sz="3600" b="1" dirty="0" err="1"/>
                  <a:t>Tìm</a:t>
                </a:r>
                <a:r>
                  <a:rPr lang="en-US" sz="3600" b="1" dirty="0"/>
                  <a:t> </a:t>
                </a:r>
                <a:r>
                  <a:rPr lang="en-US" sz="3600" b="1" dirty="0" err="1"/>
                  <a:t>nhiệt</a:t>
                </a:r>
                <a:r>
                  <a:rPr lang="en-US" sz="3600" b="1" dirty="0"/>
                  <a:t> </a:t>
                </a:r>
                <a:r>
                  <a:rPr lang="en-US" sz="3600" b="1" dirty="0" err="1"/>
                  <a:t>lượng</a:t>
                </a:r>
                <a:r>
                  <a:rPr lang="en-US" sz="3600" b="1" dirty="0"/>
                  <a:t> </a:t>
                </a:r>
                <a:r>
                  <a:rPr lang="en-US" sz="3600" b="1" dirty="0" err="1"/>
                  <a:t>mà</a:t>
                </a:r>
                <a:r>
                  <a:rPr lang="en-US" sz="3600" b="1" dirty="0"/>
                  <a:t> </a:t>
                </a:r>
                <a:r>
                  <a:rPr lang="en-US" sz="3600" b="1" dirty="0" err="1"/>
                  <a:t>khối</a:t>
                </a:r>
                <a:r>
                  <a:rPr lang="en-US" sz="3600" b="1" dirty="0"/>
                  <a:t> </a:t>
                </a:r>
                <a:r>
                  <a:rPr lang="en-US" sz="3600" b="1" dirty="0" err="1"/>
                  <a:t>khí</a:t>
                </a:r>
                <a:r>
                  <a:rPr lang="en-US" sz="3600" b="1" dirty="0"/>
                  <a:t> </a:t>
                </a:r>
                <a:r>
                  <a:rPr lang="en-US" sz="3600" b="1" dirty="0" err="1"/>
                  <a:t>nhận</a:t>
                </a:r>
                <a:r>
                  <a:rPr lang="en-US" sz="3600" b="1" dirty="0"/>
                  <a:t> </a:t>
                </a:r>
                <a:r>
                  <a:rPr lang="en-US" sz="3600" b="1" dirty="0" err="1"/>
                  <a:t>được</a:t>
                </a:r>
                <a:r>
                  <a:rPr lang="en-US" sz="3600" b="1" dirty="0"/>
                  <a:t>, </a:t>
                </a:r>
                <a:r>
                  <a:rPr lang="en-US" sz="3600" b="1" dirty="0" err="1"/>
                  <a:t>biết</a:t>
                </a:r>
                <a:r>
                  <a:rPr lang="en-US" sz="3600" b="1" dirty="0"/>
                  <a:t> </a:t>
                </a:r>
                <a:r>
                  <a:rPr lang="en-US" sz="3600" b="1" dirty="0" err="1"/>
                  <a:t>bình</a:t>
                </a:r>
                <a:r>
                  <a:rPr lang="en-US" sz="3600" b="1" dirty="0"/>
                  <a:t> </a:t>
                </a:r>
                <a:r>
                  <a:rPr lang="en-US" sz="3600" b="1" dirty="0" err="1"/>
                  <a:t>giãn</a:t>
                </a:r>
                <a:r>
                  <a:rPr lang="en-US" sz="3600" b="1" dirty="0"/>
                  <a:t> </a:t>
                </a:r>
                <a:r>
                  <a:rPr lang="en-US" sz="3600" b="1" dirty="0" err="1"/>
                  <a:t>nở</a:t>
                </a:r>
                <a:r>
                  <a:rPr lang="en-US" sz="3600" b="1" dirty="0"/>
                  <a:t> </a:t>
                </a:r>
                <a:r>
                  <a:rPr lang="en-US" sz="3600" b="1" dirty="0" err="1"/>
                  <a:t>kém</a:t>
                </a:r>
                <a:r>
                  <a:rPr lang="en-US" sz="3600" b="1" dirty="0"/>
                  <a:t>.</a:t>
                </a:r>
              </a:p>
            </p:txBody>
          </p:sp>
        </mc:Choice>
        <mc:Fallback xmlns="">
          <p:sp>
            <p:nvSpPr>
              <p:cNvPr id="4" name="Content Placeholder 3"/>
              <p:cNvSpPr>
                <a:spLocks noGrp="1" noRot="1" noChangeAspect="1" noMove="1" noResize="1" noEditPoints="1" noAdjustHandles="1" noChangeArrowheads="1" noChangeShapeType="1" noTextEdit="1"/>
              </p:cNvSpPr>
              <p:nvPr>
                <p:ph/>
              </p:nvPr>
            </p:nvSpPr>
            <p:spPr>
              <a:blipFill rotWithShape="1">
                <a:blip r:embed="rId3"/>
                <a:stretch>
                  <a:fillRect l="-2222" r="-3111"/>
                </a:stretch>
              </a:blipFill>
            </p:spPr>
            <p:txBody>
              <a:bodyPr/>
              <a:lstStyle/>
              <a:p>
                <a:r>
                  <a:rPr lang="en-US">
                    <a:noFill/>
                  </a:rPr>
                  <a:t> </a:t>
                </a:r>
              </a:p>
            </p:txBody>
          </p:sp>
        </mc:Fallback>
      </mc:AlternateContent>
      <p:sp>
        <p:nvSpPr>
          <p:cNvPr id="2" name="Oval Callout 1"/>
          <p:cNvSpPr/>
          <p:nvPr/>
        </p:nvSpPr>
        <p:spPr>
          <a:xfrm>
            <a:off x="413657" y="4572000"/>
            <a:ext cx="3352800" cy="1143000"/>
          </a:xfrm>
          <a:prstGeom prst="wedgeEllipseCallout">
            <a:avLst>
              <a:gd name="adj1" fmla="val 28325"/>
              <a:gd name="adj2" fmla="val -121742"/>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3600" b="1" dirty="0">
                <a:solidFill>
                  <a:schemeClr val="tx1"/>
                </a:solidFill>
                <a:latin typeface="Times New Roman" pitchFamily="18" charset="0"/>
                <a:cs typeface="Times New Roman" pitchFamily="18" charset="0"/>
              </a:rPr>
              <a:t>Q = 4060 J</a:t>
            </a:r>
          </a:p>
        </p:txBody>
      </p:sp>
      <mc:AlternateContent xmlns:mc="http://schemas.openxmlformats.org/markup-compatibility/2006" xmlns:a14="http://schemas.microsoft.com/office/drawing/2010/main">
        <mc:Choice Requires="a14">
          <p:sp>
            <p:nvSpPr>
              <p:cNvPr id="5" name="Notes Placeholder 4"/>
              <p:cNvSpPr txBox="1">
                <a:spLocks/>
              </p:cNvSpPr>
              <p:nvPr/>
            </p:nvSpPr>
            <p:spPr>
              <a:xfrm>
                <a:off x="3429000" y="3733800"/>
                <a:ext cx="5181600" cy="28194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endParaRPr lang="en-US" dirty="0"/>
              </a:p>
              <a:p>
                <a:pPr algn="ctr"/>
                <a:r>
                  <a:rPr lang="en-US" dirty="0"/>
                  <a:t>A= 0 , Q = </a:t>
                </a:r>
                <a14:m>
                  <m:oMath xmlns:m="http://schemas.openxmlformats.org/officeDocument/2006/math">
                    <m:r>
                      <a:rPr lang="en-US" i="1">
                        <a:latin typeface="Cambria Math"/>
                        <a:ea typeface="Cambria Math"/>
                      </a:rPr>
                      <m:t>∆</m:t>
                    </m:r>
                    <m:r>
                      <a:rPr lang="en-US" i="1">
                        <a:latin typeface="Cambria Math"/>
                        <a:ea typeface="Cambria Math"/>
                      </a:rPr>
                      <m:t>𝑈</m:t>
                    </m:r>
                    <m:r>
                      <a:rPr lang="en-US" i="1">
                        <a:latin typeface="Cambria Math"/>
                        <a:ea typeface="Cambria Math"/>
                      </a:rPr>
                      <m:t>= </m:t>
                    </m:r>
                    <m:f>
                      <m:fPr>
                        <m:ctrlPr>
                          <a:rPr lang="en-US" i="1">
                            <a:latin typeface="Cambria Math" panose="02040503050406030204" pitchFamily="18" charset="0"/>
                            <a:ea typeface="Cambria Math"/>
                          </a:rPr>
                        </m:ctrlPr>
                      </m:fPr>
                      <m:num>
                        <m:r>
                          <a:rPr lang="en-US" i="1">
                            <a:latin typeface="Cambria Math"/>
                            <a:ea typeface="Cambria Math"/>
                          </a:rPr>
                          <m:t>𝑚</m:t>
                        </m:r>
                      </m:num>
                      <m:den>
                        <m:r>
                          <a:rPr lang="en-US" i="1">
                            <a:latin typeface="Cambria Math"/>
                            <a:ea typeface="Cambria Math"/>
                          </a:rPr>
                          <m:t>𝜇</m:t>
                        </m:r>
                      </m:den>
                    </m:f>
                    <m:r>
                      <a:rPr lang="en-US" i="1">
                        <a:latin typeface="Cambria Math"/>
                        <a:ea typeface="Cambria Math"/>
                      </a:rPr>
                      <m:t>.</m:t>
                    </m:r>
                    <m:f>
                      <m:fPr>
                        <m:ctrlPr>
                          <a:rPr lang="en-US" i="1">
                            <a:latin typeface="Cambria Math" panose="02040503050406030204" pitchFamily="18" charset="0"/>
                            <a:ea typeface="Cambria Math"/>
                          </a:rPr>
                        </m:ctrlPr>
                      </m:fPr>
                      <m:num>
                        <m:r>
                          <a:rPr lang="en-US" i="1">
                            <a:latin typeface="Cambria Math"/>
                            <a:ea typeface="Cambria Math"/>
                          </a:rPr>
                          <m:t>𝑖</m:t>
                        </m:r>
                      </m:num>
                      <m:den>
                        <m:r>
                          <a:rPr lang="en-US" i="1">
                            <a:latin typeface="Cambria Math"/>
                            <a:ea typeface="Cambria Math"/>
                          </a:rPr>
                          <m:t>2</m:t>
                        </m:r>
                      </m:den>
                    </m:f>
                    <m:r>
                      <a:rPr lang="en-US" i="1">
                        <a:latin typeface="Cambria Math"/>
                        <a:ea typeface="Cambria Math"/>
                      </a:rPr>
                      <m:t>.</m:t>
                    </m:r>
                    <m:r>
                      <a:rPr lang="en-US" i="1">
                        <a:latin typeface="Cambria Math"/>
                        <a:ea typeface="Cambria Math"/>
                      </a:rPr>
                      <m:t>𝑅</m:t>
                    </m:r>
                    <m:r>
                      <a:rPr lang="en-US" i="1">
                        <a:latin typeface="Cambria Math"/>
                        <a:ea typeface="Cambria Math"/>
                      </a:rPr>
                      <m:t>∆</m:t>
                    </m:r>
                    <m:r>
                      <a:rPr lang="en-US" i="1">
                        <a:latin typeface="Cambria Math"/>
                        <a:ea typeface="Cambria Math"/>
                      </a:rPr>
                      <m:t>𝑇</m:t>
                    </m:r>
                  </m:oMath>
                </a14:m>
                <a:endParaRPr lang="en-US" dirty="0"/>
              </a:p>
              <a:p>
                <a:pPr algn="ctr"/>
                <a:r>
                  <a:rPr lang="en-US" dirty="0"/>
                  <a:t>pV = </a:t>
                </a:r>
                <a14:m>
                  <m:oMath xmlns:m="http://schemas.openxmlformats.org/officeDocument/2006/math">
                    <m:f>
                      <m:fPr>
                        <m:ctrlPr>
                          <a:rPr lang="en-US" i="1">
                            <a:latin typeface="Cambria Math" panose="02040503050406030204" pitchFamily="18" charset="0"/>
                          </a:rPr>
                        </m:ctrlPr>
                      </m:fPr>
                      <m:num>
                        <m:r>
                          <a:rPr lang="en-US" i="1">
                            <a:latin typeface="Cambria Math"/>
                          </a:rPr>
                          <m:t>𝑚</m:t>
                        </m:r>
                      </m:num>
                      <m:den>
                        <m:r>
                          <a:rPr lang="en-US" i="1">
                            <a:latin typeface="Cambria Math"/>
                            <a:ea typeface="Cambria Math"/>
                          </a:rPr>
                          <m:t>𝜇</m:t>
                        </m:r>
                      </m:den>
                    </m:f>
                    <m:r>
                      <a:rPr lang="en-US" i="1">
                        <a:latin typeface="Cambria Math"/>
                      </a:rPr>
                      <m:t>𝑅</m:t>
                    </m:r>
                    <m:r>
                      <a:rPr lang="en-US" i="1">
                        <a:latin typeface="Cambria Math"/>
                        <a:ea typeface="Cambria Math"/>
                      </a:rPr>
                      <m:t>𝑇</m:t>
                    </m:r>
                  </m:oMath>
                </a14:m>
                <a:r>
                  <a:rPr lang="en-US" dirty="0"/>
                  <a:t> </a:t>
                </a:r>
              </a:p>
              <a:p>
                <a:r>
                  <a:rPr lang="en-US" dirty="0">
                    <a:latin typeface="Times New Roman" pitchFamily="18" charset="0"/>
                    <a:cs typeface="Times New Roman" pitchFamily="18" charset="0"/>
                  </a:rPr>
                  <a:t>1 </a:t>
                </a:r>
                <a:r>
                  <a:rPr lang="en-US" dirty="0" err="1">
                    <a:latin typeface="Times New Roman" pitchFamily="18" charset="0"/>
                    <a:cs typeface="Times New Roman" pitchFamily="18" charset="0"/>
                  </a:rPr>
                  <a:t>atm</a:t>
                </a:r>
                <a:r>
                  <a:rPr lang="en-US" dirty="0">
                    <a:latin typeface="Times New Roman" pitchFamily="18" charset="0"/>
                    <a:cs typeface="Times New Roman" pitchFamily="18" charset="0"/>
                  </a:rPr>
                  <a:t> = </a:t>
                </a:r>
                <a14:m>
                  <m:oMath xmlns:m="http://schemas.openxmlformats.org/officeDocument/2006/math">
                    <m:sSup>
                      <m:sSupPr>
                        <m:ctrlPr>
                          <a:rPr lang="en-US" i="1">
                            <a:latin typeface="Cambria Math" panose="02040503050406030204" pitchFamily="18" charset="0"/>
                          </a:rPr>
                        </m:ctrlPr>
                      </m:sSupPr>
                      <m:e>
                        <m:r>
                          <a:rPr lang="en-US">
                            <a:latin typeface="Cambria Math"/>
                          </a:rPr>
                          <m:t>10</m:t>
                        </m:r>
                      </m:e>
                      <m:sup>
                        <m:r>
                          <a:rPr lang="en-US">
                            <a:latin typeface="Cambria Math"/>
                          </a:rPr>
                          <m:t>5</m:t>
                        </m:r>
                      </m:sup>
                    </m:sSup>
                  </m:oMath>
                </a14:m>
                <a:r>
                  <a:rPr lang="en-US" dirty="0">
                    <a:latin typeface="Times New Roman" pitchFamily="18" charset="0"/>
                    <a:cs typeface="Times New Roman" pitchFamily="18" charset="0"/>
                  </a:rPr>
                  <a:t> Pa = 760 mmHg</a:t>
                </a:r>
              </a:p>
              <a:p>
                <a:r>
                  <a:rPr lang="en-US" dirty="0">
                    <a:latin typeface="Times New Roman" pitchFamily="18" charset="0"/>
                    <a:cs typeface="Times New Roman" pitchFamily="18" charset="0"/>
                  </a:rPr>
                  <a:t>1 at = 9,81.</a:t>
                </a:r>
                <a14:m>
                  <m:oMath xmlns:m="http://schemas.openxmlformats.org/officeDocument/2006/math">
                    <m:sSup>
                      <m:sSupPr>
                        <m:ctrlPr>
                          <a:rPr lang="en-US" i="1">
                            <a:latin typeface="Cambria Math" panose="02040503050406030204" pitchFamily="18" charset="0"/>
                          </a:rPr>
                        </m:ctrlPr>
                      </m:sSupPr>
                      <m:e>
                        <m:r>
                          <a:rPr lang="en-US">
                            <a:latin typeface="Cambria Math"/>
                          </a:rPr>
                          <m:t>10</m:t>
                        </m:r>
                      </m:e>
                      <m:sup>
                        <m:r>
                          <a:rPr lang="en-US">
                            <a:latin typeface="Cambria Math"/>
                          </a:rPr>
                          <m:t>4</m:t>
                        </m:r>
                      </m:sup>
                    </m:sSup>
                  </m:oMath>
                </a14:m>
                <a:r>
                  <a:rPr lang="en-US" dirty="0">
                    <a:latin typeface="Times New Roman" pitchFamily="18" charset="0"/>
                    <a:cs typeface="Times New Roman" pitchFamily="18" charset="0"/>
                  </a:rPr>
                  <a:t> Pa = 736 mmHg</a:t>
                </a:r>
              </a:p>
              <a:p>
                <a14:m>
                  <m:oMath xmlns:m="http://schemas.openxmlformats.org/officeDocument/2006/math">
                    <m:sSub>
                      <m:sSubPr>
                        <m:ctrlPr>
                          <a:rPr lang="en-US" i="1">
                            <a:latin typeface="Cambria Math" panose="02040503050406030204" pitchFamily="18" charset="0"/>
                          </a:rPr>
                        </m:ctrlPr>
                      </m:sSubPr>
                      <m:e>
                        <m:r>
                          <a:rPr lang="en-US" i="1">
                            <a:latin typeface="Cambria Math"/>
                          </a:rPr>
                          <m:t>𝑝</m:t>
                        </m:r>
                      </m:e>
                      <m:sub>
                        <m:r>
                          <a:rPr lang="en-US" i="1">
                            <a:latin typeface="Cambria Math"/>
                          </a:rPr>
                          <m:t>2</m:t>
                        </m:r>
                      </m:sub>
                    </m:sSub>
                  </m:oMath>
                </a14:m>
                <a:r>
                  <a:rPr lang="en-US" dirty="0"/>
                  <a:t> = </a:t>
                </a:r>
                <a14:m>
                  <m:oMath xmlns:m="http://schemas.openxmlformats.org/officeDocument/2006/math">
                    <m:sSup>
                      <m:sSupPr>
                        <m:ctrlPr>
                          <a:rPr lang="en-US" i="1">
                            <a:latin typeface="Cambria Math" panose="02040503050406030204" pitchFamily="18" charset="0"/>
                          </a:rPr>
                        </m:ctrlPr>
                      </m:sSupPr>
                      <m:e>
                        <m:r>
                          <a:rPr lang="en-US" i="1">
                            <a:latin typeface="Cambria Math"/>
                          </a:rPr>
                          <m:t>10</m:t>
                        </m:r>
                      </m:e>
                      <m:sup>
                        <m:r>
                          <a:rPr lang="en-US" i="1">
                            <a:latin typeface="Cambria Math"/>
                          </a:rPr>
                          <m:t>9</m:t>
                        </m:r>
                      </m:sup>
                    </m:sSup>
                  </m:oMath>
                </a14:m>
                <a:r>
                  <a:rPr lang="en-US" dirty="0"/>
                  <a:t>/760 N/m², </a:t>
                </a:r>
                <a14:m>
                  <m:oMath xmlns:m="http://schemas.openxmlformats.org/officeDocument/2006/math">
                    <m:sSub>
                      <m:sSubPr>
                        <m:ctrlPr>
                          <a:rPr lang="en-US" i="1">
                            <a:latin typeface="Cambria Math" panose="02040503050406030204" pitchFamily="18" charset="0"/>
                          </a:rPr>
                        </m:ctrlPr>
                      </m:sSubPr>
                      <m:e>
                        <m:r>
                          <a:rPr lang="en-US" i="1">
                            <a:latin typeface="Cambria Math"/>
                          </a:rPr>
                          <m:t>𝑝</m:t>
                        </m:r>
                      </m:e>
                      <m:sub>
                        <m:r>
                          <a:rPr lang="en-US" i="1">
                            <a:latin typeface="Cambria Math"/>
                          </a:rPr>
                          <m:t>2</m:t>
                        </m:r>
                      </m:sub>
                    </m:sSub>
                    <m:r>
                      <a:rPr lang="en-US" i="1">
                        <a:latin typeface="Cambria Math"/>
                      </a:rPr>
                      <m:t> </m:t>
                    </m:r>
                  </m:oMath>
                </a14:m>
                <a:r>
                  <a:rPr lang="en-US" dirty="0"/>
                  <a:t>V = </a:t>
                </a:r>
                <a14:m>
                  <m:oMath xmlns:m="http://schemas.openxmlformats.org/officeDocument/2006/math">
                    <m:f>
                      <m:fPr>
                        <m:ctrlPr>
                          <a:rPr lang="en-US" i="1">
                            <a:latin typeface="Cambria Math" panose="02040503050406030204" pitchFamily="18" charset="0"/>
                          </a:rPr>
                        </m:ctrlPr>
                      </m:fPr>
                      <m:num>
                        <m:r>
                          <a:rPr lang="en-US" i="1">
                            <a:latin typeface="Cambria Math"/>
                          </a:rPr>
                          <m:t>𝑚</m:t>
                        </m:r>
                      </m:num>
                      <m:den>
                        <m:r>
                          <a:rPr lang="en-US" i="1">
                            <a:latin typeface="Cambria Math"/>
                            <a:ea typeface="Cambria Math"/>
                          </a:rPr>
                          <m:t>𝜇</m:t>
                        </m:r>
                      </m:den>
                    </m:f>
                    <m:r>
                      <a:rPr lang="en-US" i="1">
                        <a:latin typeface="Cambria Math"/>
                      </a:rPr>
                      <m:t>𝑅</m:t>
                    </m:r>
                    <m:sSub>
                      <m:sSubPr>
                        <m:ctrlPr>
                          <a:rPr lang="en-US" i="1">
                            <a:latin typeface="Cambria Math" panose="02040503050406030204" pitchFamily="18" charset="0"/>
                          </a:rPr>
                        </m:ctrlPr>
                      </m:sSubPr>
                      <m:e>
                        <m:r>
                          <a:rPr lang="en-US" i="1">
                            <a:latin typeface="Cambria Math"/>
                          </a:rPr>
                          <m:t>𝑇</m:t>
                        </m:r>
                      </m:e>
                      <m:sub>
                        <m:r>
                          <a:rPr lang="en-US" i="1">
                            <a:latin typeface="Cambria Math"/>
                          </a:rPr>
                          <m:t>2</m:t>
                        </m:r>
                      </m:sub>
                    </m:sSub>
                  </m:oMath>
                </a14:m>
                <a:r>
                  <a:rPr lang="en-US" dirty="0"/>
                  <a:t> , </a:t>
                </a:r>
                <a14:m>
                  <m:oMath xmlns:m="http://schemas.openxmlformats.org/officeDocument/2006/math">
                    <m:sSub>
                      <m:sSubPr>
                        <m:ctrlPr>
                          <a:rPr lang="en-US" i="1">
                            <a:latin typeface="Cambria Math" panose="02040503050406030204" pitchFamily="18" charset="0"/>
                          </a:rPr>
                        </m:ctrlPr>
                      </m:sSubPr>
                      <m:e>
                        <m:r>
                          <a:rPr lang="en-US" i="1">
                            <a:latin typeface="Cambria Math"/>
                          </a:rPr>
                          <m:t>𝑇</m:t>
                        </m:r>
                      </m:e>
                      <m:sub>
                        <m:r>
                          <a:rPr lang="en-US" i="1">
                            <a:latin typeface="Cambria Math"/>
                          </a:rPr>
                          <m:t>2</m:t>
                        </m:r>
                      </m:sub>
                    </m:sSub>
                  </m:oMath>
                </a14:m>
                <a:r>
                  <a:rPr lang="en-US" dirty="0"/>
                  <a:t> = 739K </a:t>
                </a:r>
              </a:p>
              <a:p>
                <a:r>
                  <a:rPr lang="en-US" dirty="0"/>
                  <a:t>V= 2.</a:t>
                </a:r>
                <a14:m>
                  <m:oMath xmlns:m="http://schemas.openxmlformats.org/officeDocument/2006/math">
                    <m:sSup>
                      <m:sSupPr>
                        <m:ctrlPr>
                          <a:rPr lang="en-US" i="1">
                            <a:latin typeface="Cambria Math" panose="02040503050406030204" pitchFamily="18" charset="0"/>
                          </a:rPr>
                        </m:ctrlPr>
                      </m:sSupPr>
                      <m:e>
                        <m:r>
                          <a:rPr lang="en-US" i="1">
                            <a:latin typeface="Cambria Math"/>
                          </a:rPr>
                          <m:t>10</m:t>
                        </m:r>
                      </m:e>
                      <m:sup>
                        <m:r>
                          <a:rPr lang="en-US" i="1">
                            <a:latin typeface="Cambria Math"/>
                          </a:rPr>
                          <m:t>−3</m:t>
                        </m:r>
                      </m:sup>
                    </m:sSup>
                    <m:r>
                      <a:rPr lang="en-US" i="1">
                        <a:latin typeface="Cambria Math"/>
                      </a:rPr>
                      <m:t>𝑚</m:t>
                    </m:r>
                    <m:r>
                      <a:rPr lang="en-US" i="1">
                        <a:latin typeface="Cambria Math"/>
                      </a:rPr>
                      <m:t>³</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𝑇</m:t>
                        </m:r>
                      </m:e>
                      <m:sub>
                        <m:r>
                          <a:rPr lang="en-US" i="1">
                            <a:latin typeface="Cambria Math"/>
                          </a:rPr>
                          <m:t>1</m:t>
                        </m:r>
                      </m:sub>
                    </m:sSub>
                    <m:r>
                      <a:rPr lang="en-US" i="1">
                        <a:latin typeface="Cambria Math"/>
                      </a:rPr>
                      <m:t> </m:t>
                    </m:r>
                  </m:oMath>
                </a14:m>
                <a:r>
                  <a:rPr lang="en-US" dirty="0"/>
                  <a:t>= 283K</a:t>
                </a:r>
              </a:p>
              <a:p>
                <a:endParaRPr lang="en-US" dirty="0"/>
              </a:p>
              <a:p>
                <a:endParaRPr lang="en-US" dirty="0"/>
              </a:p>
            </p:txBody>
          </p:sp>
        </mc:Choice>
        <mc:Fallback xmlns="">
          <p:sp>
            <p:nvSpPr>
              <p:cNvPr id="5" name="Notes Placeholder 4"/>
              <p:cNvSpPr txBox="1">
                <a:spLocks noRot="1" noChangeAspect="1" noMove="1" noResize="1" noEditPoints="1" noAdjustHandles="1" noChangeArrowheads="1" noChangeShapeType="1" noTextEdit="1"/>
              </p:cNvSpPr>
              <p:nvPr/>
            </p:nvSpPr>
            <p:spPr>
              <a:xfrm>
                <a:off x="3429000" y="3733800"/>
                <a:ext cx="5181600" cy="2819400"/>
              </a:xfrm>
              <a:prstGeom prst="rect">
                <a:avLst/>
              </a:prstGeom>
              <a:blipFill rotWithShape="1">
                <a:blip r:embed="rId4"/>
                <a:stretch>
                  <a:fillRect l="-820"/>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DF0BDCE6-DBE4-4428-0C27-C4F57AACB93A}"/>
              </a:ext>
            </a:extLst>
          </p:cNvPr>
          <p:cNvSpPr>
            <a:spLocks noGrp="1"/>
          </p:cNvSpPr>
          <p:nvPr>
            <p:ph type="ftr" sz="quarter" idx="11"/>
          </p:nvPr>
        </p:nvSpPr>
        <p:spPr/>
        <p:txBody>
          <a:bodyPr/>
          <a:lstStyle/>
          <a:p>
            <a:pPr>
              <a:defRPr/>
            </a:pPr>
            <a:r>
              <a:rPr lang="en-US"/>
              <a:t>Bùi Quốc Trung - VLDC</a:t>
            </a:r>
          </a:p>
        </p:txBody>
      </p:sp>
      <p:sp>
        <p:nvSpPr>
          <p:cNvPr id="6" name="Slide Number Placeholder 5">
            <a:extLst>
              <a:ext uri="{FF2B5EF4-FFF2-40B4-BE49-F238E27FC236}">
                <a16:creationId xmlns:a16="http://schemas.microsoft.com/office/drawing/2014/main" id="{CFCDB506-6B26-8A49-A1BC-F96E44060388}"/>
              </a:ext>
            </a:extLst>
          </p:cNvPr>
          <p:cNvSpPr>
            <a:spLocks noGrp="1"/>
          </p:cNvSpPr>
          <p:nvPr>
            <p:ph type="sldNum" sz="quarter" idx="12"/>
          </p:nvPr>
        </p:nvSpPr>
        <p:spPr/>
        <p:txBody>
          <a:bodyPr/>
          <a:lstStyle/>
          <a:p>
            <a:pPr>
              <a:defRPr/>
            </a:pPr>
            <a:fld id="{003F8D5A-645D-495A-9DEA-99BB03E4A967}" type="slidenum">
              <a:rPr lang="en-US" smtClean="0"/>
              <a:pPr>
                <a:defRPr/>
              </a:pPr>
              <a:t>43</a:t>
            </a:fld>
            <a:endParaRPr lang="en-US"/>
          </a:p>
        </p:txBody>
      </p:sp>
    </p:spTree>
    <p:extLst>
      <p:ext uri="{BB962C8B-B14F-4D97-AF65-F5344CB8AC3E}">
        <p14:creationId xmlns:p14="http://schemas.microsoft.com/office/powerpoint/2010/main" val="1244960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p:cNvSpPr>
                <a:spLocks noGrp="1"/>
              </p:cNvSpPr>
              <p:nvPr>
                <p:ph/>
              </p:nvPr>
            </p:nvSpPr>
            <p:spPr/>
            <p:txBody>
              <a:bodyPr/>
              <a:lstStyle/>
              <a:p>
                <a:pPr marL="0" indent="0">
                  <a:buNone/>
                </a:pPr>
                <a:endParaRPr lang="en-US" sz="3600" b="1" dirty="0"/>
              </a:p>
              <a:p>
                <a:pPr marL="0" indent="0">
                  <a:buNone/>
                </a:pPr>
                <a:r>
                  <a:rPr lang="en-US" sz="3600" b="1" dirty="0"/>
                  <a:t>10g </a:t>
                </a:r>
                <a:r>
                  <a:rPr lang="en-US" sz="3600" b="1" dirty="0" err="1"/>
                  <a:t>khí</a:t>
                </a:r>
                <a:r>
                  <a:rPr lang="en-US" sz="3600" b="1" dirty="0"/>
                  <a:t> </a:t>
                </a:r>
                <a:r>
                  <a:rPr lang="en-US" sz="3600" b="1" dirty="0" err="1"/>
                  <a:t>ôxy</a:t>
                </a:r>
                <a:r>
                  <a:rPr lang="en-US" sz="3600" b="1" dirty="0"/>
                  <a:t> ở </a:t>
                </a:r>
                <a:r>
                  <a:rPr lang="en-US" sz="3600" b="1" dirty="0" err="1"/>
                  <a:t>nhiệt</a:t>
                </a:r>
                <a:r>
                  <a:rPr lang="en-US" sz="3600" b="1" dirty="0"/>
                  <a:t> </a:t>
                </a:r>
                <a:r>
                  <a:rPr lang="en-US" sz="3600" b="1" dirty="0" err="1"/>
                  <a:t>độ</a:t>
                </a:r>
                <a:r>
                  <a:rPr lang="en-US" sz="3600" b="1" dirty="0"/>
                  <a:t> 10°C, </a:t>
                </a:r>
                <a:r>
                  <a:rPr lang="en-US" sz="3600" b="1" dirty="0" err="1"/>
                  <a:t>áp</a:t>
                </a:r>
                <a:r>
                  <a:rPr lang="en-US" sz="3600" b="1" dirty="0"/>
                  <a:t> </a:t>
                </a:r>
                <a:r>
                  <a:rPr lang="en-US" sz="3600" b="1" dirty="0" err="1"/>
                  <a:t>suất</a:t>
                </a:r>
                <a:r>
                  <a:rPr lang="en-US" sz="3600" b="1" dirty="0"/>
                  <a:t> 3.</a:t>
                </a:r>
                <a14:m>
                  <m:oMath xmlns:m="http://schemas.openxmlformats.org/officeDocument/2006/math">
                    <m:sSup>
                      <m:sSupPr>
                        <m:ctrlPr>
                          <a:rPr lang="en-US" sz="3600" b="1" i="1" smtClean="0">
                            <a:latin typeface="Cambria Math" panose="02040503050406030204" pitchFamily="18" charset="0"/>
                          </a:rPr>
                        </m:ctrlPr>
                      </m:sSupPr>
                      <m:e>
                        <m:r>
                          <a:rPr lang="en-US" sz="3600" b="1" i="1" smtClean="0">
                            <a:latin typeface="Cambria Math"/>
                          </a:rPr>
                          <m:t>𝟏𝟎</m:t>
                        </m:r>
                      </m:e>
                      <m:sup>
                        <m:r>
                          <a:rPr lang="en-US" sz="3600" b="1" i="1" smtClean="0">
                            <a:latin typeface="Cambria Math"/>
                          </a:rPr>
                          <m:t>𝟓</m:t>
                        </m:r>
                      </m:sup>
                    </m:sSup>
                  </m:oMath>
                </a14:m>
                <a:r>
                  <a:rPr lang="en-US" sz="3600" b="1" dirty="0"/>
                  <a:t>N/m². </a:t>
                </a:r>
                <a:r>
                  <a:rPr lang="en-US" sz="3600" b="1" dirty="0" err="1"/>
                  <a:t>Sau</a:t>
                </a:r>
                <a:r>
                  <a:rPr lang="en-US" sz="3600" b="1" dirty="0"/>
                  <a:t> </a:t>
                </a:r>
                <a:r>
                  <a:rPr lang="en-US" sz="3600" b="1" dirty="0" err="1"/>
                  <a:t>khi</a:t>
                </a:r>
                <a:r>
                  <a:rPr lang="en-US" sz="3600" b="1" dirty="0"/>
                  <a:t> </a:t>
                </a:r>
                <a:r>
                  <a:rPr lang="en-US" sz="3600" b="1" dirty="0" err="1"/>
                  <a:t>hơ</a:t>
                </a:r>
                <a:r>
                  <a:rPr lang="en-US" sz="3600" b="1" dirty="0"/>
                  <a:t> </a:t>
                </a:r>
                <a:r>
                  <a:rPr lang="en-US" sz="3600" b="1" dirty="0" err="1"/>
                  <a:t>nóng</a:t>
                </a:r>
                <a:r>
                  <a:rPr lang="en-US" sz="3600" b="1" dirty="0"/>
                  <a:t> </a:t>
                </a:r>
                <a:r>
                  <a:rPr lang="en-US" sz="3600" b="1" dirty="0" err="1"/>
                  <a:t>đẳng</a:t>
                </a:r>
                <a:r>
                  <a:rPr lang="en-US" sz="3600" b="1" dirty="0"/>
                  <a:t> </a:t>
                </a:r>
                <a:r>
                  <a:rPr lang="en-US" sz="3600" b="1" dirty="0" err="1"/>
                  <a:t>áp</a:t>
                </a:r>
                <a:r>
                  <a:rPr lang="en-US" sz="3600" b="1" dirty="0"/>
                  <a:t>, </a:t>
                </a:r>
                <a:r>
                  <a:rPr lang="en-US" sz="3600" b="1" dirty="0" err="1"/>
                  <a:t>thể</a:t>
                </a:r>
                <a:r>
                  <a:rPr lang="en-US" sz="3600" b="1" dirty="0"/>
                  <a:t> </a:t>
                </a:r>
                <a:r>
                  <a:rPr lang="en-US" sz="3600" b="1" dirty="0" err="1"/>
                  <a:t>tích</a:t>
                </a:r>
                <a:r>
                  <a:rPr lang="en-US" sz="3600" b="1" dirty="0"/>
                  <a:t> </a:t>
                </a:r>
                <a:r>
                  <a:rPr lang="en-US" sz="3600" b="1" dirty="0" err="1"/>
                  <a:t>khí</a:t>
                </a:r>
                <a:r>
                  <a:rPr lang="en-US" sz="3600" b="1" dirty="0"/>
                  <a:t> </a:t>
                </a:r>
                <a:r>
                  <a:rPr lang="en-US" sz="3600" b="1" dirty="0" err="1"/>
                  <a:t>tăng</a:t>
                </a:r>
                <a:r>
                  <a:rPr lang="en-US" sz="3600" b="1" dirty="0"/>
                  <a:t> </a:t>
                </a:r>
                <a:r>
                  <a:rPr lang="en-US" sz="3600" b="1" dirty="0" err="1"/>
                  <a:t>lên</a:t>
                </a:r>
                <a:r>
                  <a:rPr lang="en-US" sz="3600" b="1" dirty="0"/>
                  <a:t> 10 </a:t>
                </a:r>
                <a:r>
                  <a:rPr lang="en-US" sz="3600" b="1" dirty="0" err="1"/>
                  <a:t>lít</a:t>
                </a:r>
                <a:r>
                  <a:rPr lang="en-US" sz="3600" b="1" dirty="0"/>
                  <a:t>. </a:t>
                </a:r>
                <a:r>
                  <a:rPr lang="en-US" sz="3600" b="1" dirty="0" err="1"/>
                  <a:t>Tìm</a:t>
                </a:r>
                <a:r>
                  <a:rPr lang="en-US" sz="3600" b="1" dirty="0"/>
                  <a:t>:</a:t>
                </a:r>
              </a:p>
              <a:p>
                <a:pPr marL="514350" indent="-514350">
                  <a:buAutoNum type="alphaLcParenR"/>
                </a:pPr>
                <a:r>
                  <a:rPr lang="en-US" sz="3600" b="1" dirty="0" err="1"/>
                  <a:t>Nhiệt</a:t>
                </a:r>
                <a:r>
                  <a:rPr lang="en-US" sz="3600" b="1" dirty="0"/>
                  <a:t> </a:t>
                </a:r>
                <a:r>
                  <a:rPr lang="en-US" sz="3600" b="1" dirty="0" err="1"/>
                  <a:t>lượng</a:t>
                </a:r>
                <a:r>
                  <a:rPr lang="en-US" sz="3600" b="1" dirty="0"/>
                  <a:t> </a:t>
                </a:r>
                <a:r>
                  <a:rPr lang="en-US" sz="3600" b="1" dirty="0" err="1"/>
                  <a:t>mà</a:t>
                </a:r>
                <a:r>
                  <a:rPr lang="en-US" sz="3600" b="1" dirty="0"/>
                  <a:t> </a:t>
                </a:r>
                <a:r>
                  <a:rPr lang="en-US" sz="3600" b="1" dirty="0" err="1"/>
                  <a:t>khối</a:t>
                </a:r>
                <a:r>
                  <a:rPr lang="en-US" sz="3600" b="1" dirty="0"/>
                  <a:t> </a:t>
                </a:r>
                <a:r>
                  <a:rPr lang="en-US" sz="3600" b="1" dirty="0" err="1"/>
                  <a:t>khí</a:t>
                </a:r>
                <a:r>
                  <a:rPr lang="en-US" sz="3600" b="1" dirty="0"/>
                  <a:t> </a:t>
                </a:r>
                <a:r>
                  <a:rPr lang="en-US" sz="3600" b="1" dirty="0" err="1"/>
                  <a:t>nhận</a:t>
                </a:r>
                <a:r>
                  <a:rPr lang="en-US" sz="3600" b="1" dirty="0"/>
                  <a:t> </a:t>
                </a:r>
                <a:r>
                  <a:rPr lang="en-US" sz="3600" b="1" dirty="0" err="1"/>
                  <a:t>được</a:t>
                </a:r>
                <a:endParaRPr lang="en-US" sz="3600" b="1" dirty="0"/>
              </a:p>
              <a:p>
                <a:pPr marL="514350" indent="-514350">
                  <a:buAutoNum type="alphaLcParenR"/>
                </a:pPr>
                <a:r>
                  <a:rPr lang="en-US" sz="3600" b="1" dirty="0" err="1"/>
                  <a:t>Nội</a:t>
                </a:r>
                <a:r>
                  <a:rPr lang="en-US" sz="3600" b="1" dirty="0"/>
                  <a:t> </a:t>
                </a:r>
                <a:r>
                  <a:rPr lang="en-US" sz="3600" b="1" dirty="0" err="1"/>
                  <a:t>năng</a:t>
                </a:r>
                <a:r>
                  <a:rPr lang="en-US" sz="3600" b="1" dirty="0"/>
                  <a:t> </a:t>
                </a:r>
                <a:r>
                  <a:rPr lang="en-US" sz="3600" b="1" dirty="0" err="1"/>
                  <a:t>khối</a:t>
                </a:r>
                <a:r>
                  <a:rPr lang="en-US" sz="3600" b="1" dirty="0"/>
                  <a:t> </a:t>
                </a:r>
                <a:r>
                  <a:rPr lang="en-US" sz="3600" b="1" dirty="0" err="1"/>
                  <a:t>khí</a:t>
                </a:r>
                <a:r>
                  <a:rPr lang="en-US" sz="3600" b="1" dirty="0"/>
                  <a:t> </a:t>
                </a:r>
                <a:r>
                  <a:rPr lang="en-US" sz="3600" b="1" dirty="0" err="1"/>
                  <a:t>trước</a:t>
                </a:r>
                <a:r>
                  <a:rPr lang="en-US" sz="3600" b="1" dirty="0"/>
                  <a:t> </a:t>
                </a:r>
                <a:r>
                  <a:rPr lang="en-US" sz="3600" b="1" dirty="0" err="1"/>
                  <a:t>và</a:t>
                </a:r>
                <a:r>
                  <a:rPr lang="en-US" sz="3600" b="1" dirty="0"/>
                  <a:t> </a:t>
                </a:r>
                <a:r>
                  <a:rPr lang="en-US" sz="3600" b="1" dirty="0" err="1"/>
                  <a:t>sau</a:t>
                </a:r>
                <a:r>
                  <a:rPr lang="en-US" sz="3600" b="1" dirty="0"/>
                  <a:t> </a:t>
                </a:r>
                <a:r>
                  <a:rPr lang="en-US" sz="3600" b="1" dirty="0" err="1"/>
                  <a:t>khi</a:t>
                </a:r>
                <a:r>
                  <a:rPr lang="en-US" sz="3600" b="1" dirty="0"/>
                  <a:t> </a:t>
                </a:r>
                <a:r>
                  <a:rPr lang="en-US" sz="3600" b="1" dirty="0" err="1"/>
                  <a:t>hơ</a:t>
                </a:r>
                <a:r>
                  <a:rPr lang="en-US" sz="3600" b="1" dirty="0"/>
                  <a:t> </a:t>
                </a:r>
                <a:r>
                  <a:rPr lang="en-US" sz="3600" b="1" dirty="0" err="1"/>
                  <a:t>nóng</a:t>
                </a:r>
                <a:endParaRPr lang="en-US" sz="3600" b="1" dirty="0"/>
              </a:p>
            </p:txBody>
          </p:sp>
        </mc:Choice>
        <mc:Fallback xmlns="">
          <p:sp>
            <p:nvSpPr>
              <p:cNvPr id="4" name="Content Placeholder 3"/>
              <p:cNvSpPr>
                <a:spLocks noGrp="1" noRot="1" noChangeAspect="1" noMove="1" noResize="1" noEditPoints="1" noAdjustHandles="1" noChangeArrowheads="1" noChangeShapeType="1" noTextEdit="1"/>
              </p:cNvSpPr>
              <p:nvPr>
                <p:ph/>
              </p:nvPr>
            </p:nvSpPr>
            <p:spPr>
              <a:blipFill rotWithShape="1">
                <a:blip r:embed="rId3"/>
                <a:stretch>
                  <a:fillRect l="-2222" r="-19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loud Callout 2"/>
              <p:cNvSpPr/>
              <p:nvPr/>
            </p:nvSpPr>
            <p:spPr>
              <a:xfrm>
                <a:off x="5029200" y="4800600"/>
                <a:ext cx="3886200" cy="1219200"/>
              </a:xfrm>
              <a:prstGeom prst="cloudCallout">
                <a:avLst>
                  <a:gd name="adj1" fmla="val -92045"/>
                  <a:gd name="adj2" fmla="val -82231"/>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3200" b="1">
                    <a:solidFill>
                      <a:schemeClr val="tx1"/>
                    </a:solidFill>
                    <a:latin typeface="Times New Roman" pitchFamily="18" charset="0"/>
                    <a:cs typeface="Times New Roman" pitchFamily="18" charset="0"/>
                  </a:rPr>
                  <a:t>Q =7,9.</a:t>
                </a:r>
                <a14:m>
                  <m:oMath xmlns:m="http://schemas.openxmlformats.org/officeDocument/2006/math">
                    <m:sSup>
                      <m:sSupPr>
                        <m:ctrlPr>
                          <a:rPr lang="en-US" sz="3200" b="1" i="1" smtClean="0">
                            <a:solidFill>
                              <a:schemeClr val="tx1"/>
                            </a:solidFill>
                            <a:latin typeface="Cambria Math" panose="02040503050406030204" pitchFamily="18" charset="0"/>
                          </a:rPr>
                        </m:ctrlPr>
                      </m:sSupPr>
                      <m:e>
                        <m:r>
                          <a:rPr lang="en-US" sz="3200" b="1" i="1" smtClean="0">
                            <a:solidFill>
                              <a:schemeClr val="tx1"/>
                            </a:solidFill>
                            <a:latin typeface="Cambria Math"/>
                          </a:rPr>
                          <m:t>𝟏𝟎</m:t>
                        </m:r>
                      </m:e>
                      <m:sup>
                        <m:r>
                          <a:rPr lang="en-US" sz="3200" b="1" i="1" smtClean="0">
                            <a:solidFill>
                              <a:schemeClr val="tx1"/>
                            </a:solidFill>
                            <a:latin typeface="Cambria Math"/>
                          </a:rPr>
                          <m:t>𝟑</m:t>
                        </m:r>
                      </m:sup>
                    </m:sSup>
                  </m:oMath>
                </a14:m>
                <a:r>
                  <a:rPr lang="en-US" sz="3200" b="1">
                    <a:solidFill>
                      <a:schemeClr val="tx1"/>
                    </a:solidFill>
                    <a:latin typeface="Times New Roman" pitchFamily="18" charset="0"/>
                    <a:cs typeface="Times New Roman" pitchFamily="18" charset="0"/>
                  </a:rPr>
                  <a:t> J</a:t>
                </a:r>
              </a:p>
            </p:txBody>
          </p:sp>
        </mc:Choice>
        <mc:Fallback xmlns="">
          <p:sp>
            <p:nvSpPr>
              <p:cNvPr id="3" name="Cloud Callout 2"/>
              <p:cNvSpPr>
                <a:spLocks noRot="1" noChangeAspect="1" noMove="1" noResize="1" noEditPoints="1" noAdjustHandles="1" noChangeArrowheads="1" noChangeShapeType="1" noTextEdit="1"/>
              </p:cNvSpPr>
              <p:nvPr/>
            </p:nvSpPr>
            <p:spPr>
              <a:xfrm>
                <a:off x="5029200" y="4800600"/>
                <a:ext cx="3886200" cy="1219200"/>
              </a:xfrm>
              <a:prstGeom prst="cloudCallout">
                <a:avLst>
                  <a:gd name="adj1" fmla="val -92045"/>
                  <a:gd name="adj2" fmla="val -82231"/>
                </a:avLst>
              </a:prstGeom>
              <a:blipFill rotWithShape="1">
                <a:blip r:embed="rId4"/>
                <a:stretch>
                  <a:fillRect/>
                </a:stretch>
              </a:blipFill>
            </p:spPr>
            <p:txBody>
              <a:bodyPr/>
              <a:lstStyle/>
              <a:p>
                <a:r>
                  <a:rPr lang="en-US">
                    <a:noFill/>
                  </a:rPr>
                  <a:t> </a:t>
                </a:r>
              </a:p>
            </p:txBody>
          </p:sp>
        </mc:Fallback>
      </mc:AlternateContent>
      <p:sp>
        <p:nvSpPr>
          <p:cNvPr id="5" name="Oval Callout 4"/>
          <p:cNvSpPr/>
          <p:nvPr/>
        </p:nvSpPr>
        <p:spPr>
          <a:xfrm>
            <a:off x="381000" y="4953000"/>
            <a:ext cx="3429000" cy="1533975"/>
          </a:xfrm>
          <a:prstGeom prst="wedgeEllipseCallout">
            <a:avLst/>
          </a:prstGeom>
        </p:spPr>
        <p:style>
          <a:lnRef idx="2">
            <a:schemeClr val="accent4"/>
          </a:lnRef>
          <a:fillRef idx="1">
            <a:schemeClr val="lt1"/>
          </a:fillRef>
          <a:effectRef idx="0">
            <a:schemeClr val="accent4"/>
          </a:effectRef>
          <a:fontRef idx="minor">
            <a:schemeClr val="dk1"/>
          </a:fontRef>
        </p:style>
        <p:txBody>
          <a:bodyPr rtlCol="0" anchor="ctr"/>
          <a:lstStyle/>
          <a:p>
            <a:r>
              <a:rPr lang="nl-NL" sz="2400" b="1">
                <a:solidFill>
                  <a:schemeClr val="tx1"/>
                </a:solidFill>
                <a:latin typeface="Times New Roman" pitchFamily="18" charset="0"/>
                <a:cs typeface="Times New Roman" pitchFamily="18" charset="0"/>
              </a:rPr>
              <a:t>U</a:t>
            </a:r>
            <a:r>
              <a:rPr lang="nl-NL" sz="2400" b="1" baseline="-25000">
                <a:solidFill>
                  <a:schemeClr val="tx1"/>
                </a:solidFill>
                <a:latin typeface="Times New Roman" pitchFamily="18" charset="0"/>
                <a:cs typeface="Times New Roman" pitchFamily="18" charset="0"/>
              </a:rPr>
              <a:t>1 </a:t>
            </a:r>
            <a:r>
              <a:rPr lang="nl-NL" sz="2400" b="1">
                <a:solidFill>
                  <a:schemeClr val="tx1"/>
                </a:solidFill>
                <a:latin typeface="Times New Roman" pitchFamily="18" charset="0"/>
                <a:cs typeface="Times New Roman" pitchFamily="18" charset="0"/>
              </a:rPr>
              <a:t>= 1,84.10</a:t>
            </a:r>
            <a:r>
              <a:rPr lang="nl-NL" sz="2400" b="1" baseline="30000">
                <a:solidFill>
                  <a:schemeClr val="tx1"/>
                </a:solidFill>
                <a:latin typeface="Times New Roman" pitchFamily="18" charset="0"/>
                <a:cs typeface="Times New Roman" pitchFamily="18" charset="0"/>
              </a:rPr>
              <a:t>3</a:t>
            </a:r>
            <a:r>
              <a:rPr lang="nl-NL" sz="2400" b="1">
                <a:solidFill>
                  <a:schemeClr val="tx1"/>
                </a:solidFill>
                <a:latin typeface="Times New Roman" pitchFamily="18" charset="0"/>
                <a:cs typeface="Times New Roman" pitchFamily="18" charset="0"/>
              </a:rPr>
              <a:t>J, U</a:t>
            </a:r>
            <a:r>
              <a:rPr lang="nl-NL" sz="2400" b="1" baseline="-25000">
                <a:solidFill>
                  <a:schemeClr val="tx1"/>
                </a:solidFill>
                <a:latin typeface="Times New Roman" pitchFamily="18" charset="0"/>
                <a:cs typeface="Times New Roman" pitchFamily="18" charset="0"/>
              </a:rPr>
              <a:t>2  </a:t>
            </a:r>
            <a:r>
              <a:rPr lang="nl-NL" sz="2400" b="1">
                <a:solidFill>
                  <a:schemeClr val="tx1"/>
                </a:solidFill>
                <a:latin typeface="Times New Roman" pitchFamily="18" charset="0"/>
                <a:cs typeface="Times New Roman" pitchFamily="18" charset="0"/>
              </a:rPr>
              <a:t>= 7,5.10</a:t>
            </a:r>
            <a:r>
              <a:rPr lang="nl-NL" sz="2400" b="1" baseline="30000">
                <a:solidFill>
                  <a:schemeClr val="tx1"/>
                </a:solidFill>
                <a:latin typeface="Times New Roman" pitchFamily="18" charset="0"/>
                <a:cs typeface="Times New Roman" pitchFamily="18" charset="0"/>
              </a:rPr>
              <a:t>3</a:t>
            </a:r>
            <a:r>
              <a:rPr lang="nl-NL" sz="2400" b="1">
                <a:solidFill>
                  <a:schemeClr val="tx1"/>
                </a:solidFill>
                <a:latin typeface="Times New Roman" pitchFamily="18" charset="0"/>
                <a:cs typeface="Times New Roman" pitchFamily="18" charset="0"/>
              </a:rPr>
              <a:t>J.</a:t>
            </a:r>
            <a:endParaRPr lang="en-US" sz="2400" b="1">
              <a:solidFill>
                <a:schemeClr val="tx1"/>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6" name="Notes Placeholder 4"/>
              <p:cNvSpPr txBox="1">
                <a:spLocks/>
              </p:cNvSpPr>
              <p:nvPr/>
            </p:nvSpPr>
            <p:spPr>
              <a:xfrm>
                <a:off x="2971800" y="762000"/>
                <a:ext cx="5562600" cy="22860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dirty="0">
                    <a:latin typeface="Times New Roman" pitchFamily="18" charset="0"/>
                    <a:cs typeface="Times New Roman" pitchFamily="18" charset="0"/>
                  </a:rPr>
                  <a:t>Q = </a:t>
                </a:r>
                <a14:m>
                  <m:oMath xmlns:m="http://schemas.openxmlformats.org/officeDocument/2006/math">
                    <m:f>
                      <m:fPr>
                        <m:ctrlPr>
                          <a:rPr lang="en-US" sz="2400" i="1">
                            <a:latin typeface="Cambria Math" panose="02040503050406030204" pitchFamily="18" charset="0"/>
                          </a:rPr>
                        </m:ctrlPr>
                      </m:fPr>
                      <m:num>
                        <m:r>
                          <a:rPr lang="en-US" sz="2400" i="1">
                            <a:latin typeface="Cambria Math"/>
                          </a:rPr>
                          <m:t>𝑚</m:t>
                        </m:r>
                      </m:num>
                      <m:den>
                        <m:r>
                          <a:rPr lang="en-US" sz="2400" i="1">
                            <a:latin typeface="Cambria Math"/>
                            <a:ea typeface="Cambria Math"/>
                          </a:rPr>
                          <m:t>𝜇</m:t>
                        </m:r>
                      </m:den>
                    </m:f>
                  </m:oMath>
                </a14:m>
                <a:r>
                  <a:rPr lang="en-US" sz="2400" dirty="0">
                    <a:latin typeface="Times New Roman" pitchFamily="18" charset="0"/>
                    <a:cs typeface="Times New Roman" pitchFamily="18" charset="0"/>
                  </a:rPr>
                  <a:t>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a:rPr>
                          <m:t>𝐶</m:t>
                        </m:r>
                      </m:e>
                      <m:sub>
                        <m:r>
                          <a:rPr lang="en-US" sz="2400" i="1" dirty="0">
                            <a:latin typeface="Cambria Math"/>
                          </a:rPr>
                          <m:t>𝑃</m:t>
                        </m:r>
                      </m:sub>
                    </m:sSub>
                    <m:r>
                      <a:rPr lang="en-US" sz="2400" i="1" dirty="0">
                        <a:latin typeface="Cambria Math"/>
                        <a:ea typeface="Cambria Math"/>
                      </a:rPr>
                      <m:t>∆</m:t>
                    </m:r>
                    <m:r>
                      <a:rPr lang="en-US" sz="2400" i="1" dirty="0">
                        <a:latin typeface="Cambria Math"/>
                        <a:ea typeface="Cambria Math"/>
                      </a:rPr>
                      <m:t>𝑇</m:t>
                    </m:r>
                  </m:oMath>
                </a14:m>
                <a:r>
                  <a:rPr lang="en-US" sz="2400" dirty="0">
                    <a:latin typeface="Times New Roman" pitchFamily="18" charset="0"/>
                    <a:cs typeface="Times New Roman" pitchFamily="18" charset="0"/>
                  </a:rPr>
                  <a:t>, </a:t>
                </a:r>
                <a14:m>
                  <m:oMath xmlns:m="http://schemas.openxmlformats.org/officeDocument/2006/math">
                    <m:sSub>
                      <m:sSubPr>
                        <m:ctrlPr>
                          <a:rPr lang="en-US" sz="2400" i="1" smtClean="0">
                            <a:latin typeface="Cambria Math" panose="02040503050406030204" pitchFamily="18" charset="0"/>
                            <a:cs typeface="Times New Roman" pitchFamily="18" charset="0"/>
                          </a:rPr>
                        </m:ctrlPr>
                      </m:sSubPr>
                      <m:e>
                        <m:r>
                          <a:rPr lang="en-US" sz="2400" b="0" i="1" smtClean="0">
                            <a:latin typeface="Cambria Math"/>
                            <a:cs typeface="Times New Roman" pitchFamily="18" charset="0"/>
                          </a:rPr>
                          <m:t>𝑇</m:t>
                        </m:r>
                      </m:e>
                      <m:sub>
                        <m:r>
                          <a:rPr lang="en-US" sz="2400" b="0" i="1" smtClean="0">
                            <a:latin typeface="Cambria Math"/>
                            <a:cs typeface="Times New Roman" pitchFamily="18" charset="0"/>
                          </a:rPr>
                          <m:t>2</m:t>
                        </m:r>
                      </m:sub>
                    </m:sSub>
                    <m:r>
                      <a:rPr lang="en-US" sz="2400" b="0" i="1" smtClean="0">
                        <a:latin typeface="Cambria Math"/>
                        <a:cs typeface="Times New Roman" pitchFamily="18" charset="0"/>
                      </a:rPr>
                      <m:t>?</m:t>
                    </m:r>
                  </m:oMath>
                </a14:m>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p</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𝑉</m:t>
                        </m:r>
                      </m:e>
                      <m:sub>
                        <m:r>
                          <a:rPr lang="en-US" sz="2400" i="1">
                            <a:latin typeface="Cambria Math"/>
                          </a:rPr>
                          <m:t>2</m:t>
                        </m:r>
                      </m:sub>
                    </m:sSub>
                  </m:oMath>
                </a14:m>
                <a:r>
                  <a:rPr lang="en-US" sz="2400" dirty="0">
                    <a:latin typeface="Times New Roman" pitchFamily="18" charset="0"/>
                    <a:cs typeface="Times New Roman" pitchFamily="18" charset="0"/>
                  </a:rPr>
                  <a:t> = </a:t>
                </a:r>
                <a14:m>
                  <m:oMath xmlns:m="http://schemas.openxmlformats.org/officeDocument/2006/math">
                    <m:f>
                      <m:fPr>
                        <m:ctrlPr>
                          <a:rPr lang="en-US" sz="2400" i="1">
                            <a:latin typeface="Cambria Math" panose="02040503050406030204" pitchFamily="18" charset="0"/>
                          </a:rPr>
                        </m:ctrlPr>
                      </m:fPr>
                      <m:num>
                        <m:r>
                          <a:rPr lang="en-US" sz="2400" i="1">
                            <a:latin typeface="Cambria Math"/>
                          </a:rPr>
                          <m:t>𝑚</m:t>
                        </m:r>
                      </m:num>
                      <m:den>
                        <m:r>
                          <a:rPr lang="en-US" sz="2400" i="1">
                            <a:latin typeface="Cambria Math"/>
                            <a:ea typeface="Cambria Math"/>
                          </a:rPr>
                          <m:t>𝜇</m:t>
                        </m:r>
                      </m:den>
                    </m:f>
                    <m:r>
                      <a:rPr lang="en-US" sz="2400" i="1">
                        <a:latin typeface="Cambria Math"/>
                      </a:rPr>
                      <m:t>𝑅</m:t>
                    </m:r>
                    <m:sSub>
                      <m:sSubPr>
                        <m:ctrlPr>
                          <a:rPr lang="en-US" sz="2400" i="1">
                            <a:latin typeface="Cambria Math" panose="02040503050406030204" pitchFamily="18" charset="0"/>
                          </a:rPr>
                        </m:ctrlPr>
                      </m:sSubPr>
                      <m:e>
                        <m:r>
                          <a:rPr lang="en-US" sz="2400" i="1">
                            <a:latin typeface="Cambria Math"/>
                          </a:rPr>
                          <m:t>𝑇</m:t>
                        </m:r>
                      </m:e>
                      <m:sub>
                        <m:r>
                          <a:rPr lang="en-US" sz="2400" i="1">
                            <a:latin typeface="Cambria Math"/>
                          </a:rPr>
                          <m:t>2</m:t>
                        </m:r>
                      </m:sub>
                    </m:sSub>
                  </m:oMath>
                </a14:m>
                <a:r>
                  <a:rPr lang="en-US" sz="2400" dirty="0">
                    <a:latin typeface="Times New Roman" pitchFamily="18" charset="0"/>
                    <a:ea typeface="Cambria Math"/>
                    <a:cs typeface="Times New Roman" pitchFamily="18" charset="0"/>
                  </a:rPr>
                  <a:t> </a:t>
                </a:r>
                <a14:m>
                  <m:oMath xmlns:m="http://schemas.openxmlformats.org/officeDocument/2006/math">
                    <m:r>
                      <a:rPr lang="en-US" sz="2400" i="1" dirty="0">
                        <a:latin typeface="Cambria Math"/>
                        <a:ea typeface="Cambria Math"/>
                      </a:rPr>
                      <m:t>→</m:t>
                    </m:r>
                  </m:oMath>
                </a14:m>
                <a:r>
                  <a:rPr lang="en-US" sz="2400" dirty="0">
                    <a:latin typeface="Times New Roman" pitchFamily="18" charset="0"/>
                    <a:ea typeface="Cambria Math"/>
                    <a:cs typeface="Times New Roman" pitchFamily="18" charset="0"/>
                  </a:rPr>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𝑇</m:t>
                        </m:r>
                      </m:e>
                      <m:sub>
                        <m:r>
                          <a:rPr lang="en-US" sz="2400" i="1">
                            <a:latin typeface="Cambria Math"/>
                          </a:rPr>
                          <m:t>2</m:t>
                        </m:r>
                      </m:sub>
                    </m:sSub>
                  </m:oMath>
                </a14:m>
                <a:r>
                  <a:rPr lang="en-US" sz="2400" dirty="0">
                    <a:latin typeface="Times New Roman" pitchFamily="18" charset="0"/>
                    <a:ea typeface="Cambria Math"/>
                    <a:cs typeface="Times New Roman" pitchFamily="18" charset="0"/>
                  </a:rPr>
                  <a:t> = 1015(K)</a:t>
                </a:r>
              </a:p>
              <a:p>
                <a:r>
                  <a:rPr lang="en-US" sz="2400" dirty="0">
                    <a:latin typeface="Times New Roman" pitchFamily="18" charset="0"/>
                    <a:cs typeface="Times New Roman" pitchFamily="18" charset="0"/>
                  </a:rPr>
                  <a:t>U = </a:t>
                </a:r>
                <a14:m>
                  <m:oMath xmlns:m="http://schemas.openxmlformats.org/officeDocument/2006/math">
                    <m:f>
                      <m:fPr>
                        <m:ctrlPr>
                          <a:rPr lang="en-US" sz="2400" i="1">
                            <a:latin typeface="Cambria Math" panose="02040503050406030204" pitchFamily="18" charset="0"/>
                          </a:rPr>
                        </m:ctrlPr>
                      </m:fPr>
                      <m:num>
                        <m:r>
                          <a:rPr lang="en-US" sz="2400" i="1">
                            <a:latin typeface="Cambria Math"/>
                          </a:rPr>
                          <m:t>𝑚</m:t>
                        </m:r>
                      </m:num>
                      <m:den>
                        <m:r>
                          <a:rPr lang="en-US" sz="2400" i="1">
                            <a:latin typeface="Cambria Math"/>
                            <a:ea typeface="Cambria Math"/>
                          </a:rPr>
                          <m:t>𝜇</m:t>
                        </m:r>
                      </m:den>
                    </m:f>
                  </m:oMath>
                </a14:m>
                <a:r>
                  <a:rPr lang="en-US" sz="2400" dirty="0">
                    <a:latin typeface="Times New Roman" pitchFamily="18" charset="0"/>
                    <a:cs typeface="Times New Roman" pitchFamily="18" charset="0"/>
                  </a:rPr>
                  <a:t> </a:t>
                </a:r>
                <a14:m>
                  <m:oMath xmlns:m="http://schemas.openxmlformats.org/officeDocument/2006/math">
                    <m:f>
                      <m:fPr>
                        <m:ctrlPr>
                          <a:rPr lang="en-US" sz="2400" i="1" dirty="0" smtClean="0">
                            <a:latin typeface="Cambria Math" panose="02040503050406030204" pitchFamily="18" charset="0"/>
                            <a:ea typeface="Cambria Math"/>
                          </a:rPr>
                        </m:ctrlPr>
                      </m:fPr>
                      <m:num>
                        <m:r>
                          <a:rPr lang="en-US" sz="2400" b="0" i="1" dirty="0" smtClean="0">
                            <a:latin typeface="Cambria Math"/>
                            <a:ea typeface="Cambria Math"/>
                          </a:rPr>
                          <m:t>𝑖</m:t>
                        </m:r>
                      </m:num>
                      <m:den>
                        <m:r>
                          <a:rPr lang="en-US" sz="2400" b="0" i="1" dirty="0" smtClean="0">
                            <a:latin typeface="Cambria Math"/>
                            <a:ea typeface="Cambria Math"/>
                          </a:rPr>
                          <m:t>2</m:t>
                        </m:r>
                      </m:den>
                    </m:f>
                    <m:r>
                      <a:rPr lang="en-US" sz="2400" b="0" i="1" dirty="0" smtClean="0">
                        <a:latin typeface="Cambria Math"/>
                        <a:ea typeface="Cambria Math"/>
                      </a:rPr>
                      <m:t>𝑅</m:t>
                    </m:r>
                    <m:r>
                      <a:rPr lang="en-US" sz="2400" i="1" dirty="0">
                        <a:latin typeface="Cambria Math"/>
                        <a:ea typeface="Cambria Math"/>
                      </a:rPr>
                      <m:t>𝑇</m:t>
                    </m:r>
                    <m:r>
                      <a:rPr lang="en-US" sz="2400" dirty="0">
                        <a:latin typeface="Cambria Math"/>
                        <a:ea typeface="Cambria Math"/>
                      </a:rPr>
                      <m:t>≠</m:t>
                    </m:r>
                    <m:r>
                      <a:rPr lang="en-US" sz="2400" i="1" dirty="0" smtClean="0">
                        <a:latin typeface="Cambria Math"/>
                        <a:ea typeface="Cambria Math"/>
                      </a:rPr>
                      <m:t>∆</m:t>
                    </m:r>
                    <m:r>
                      <a:rPr lang="en-US" sz="2400" b="0" i="1" dirty="0" smtClean="0">
                        <a:latin typeface="Cambria Math"/>
                        <a:ea typeface="Cambria Math"/>
                      </a:rPr>
                      <m:t>𝑈</m:t>
                    </m:r>
                    <m:r>
                      <m:rPr>
                        <m:nor/>
                      </m:rPr>
                      <a:rPr lang="en-US" sz="2400" dirty="0">
                        <a:latin typeface="Times New Roman" pitchFamily="18" charset="0"/>
                        <a:cs typeface="Times New Roman" pitchFamily="18" charset="0"/>
                      </a:rPr>
                      <m:t>= </m:t>
                    </m:r>
                    <m:f>
                      <m:fPr>
                        <m:ctrlPr>
                          <a:rPr lang="en-US" sz="2400" i="1">
                            <a:latin typeface="Cambria Math" panose="02040503050406030204" pitchFamily="18" charset="0"/>
                          </a:rPr>
                        </m:ctrlPr>
                      </m:fPr>
                      <m:num>
                        <m:r>
                          <a:rPr lang="en-US" sz="2400" i="1">
                            <a:latin typeface="Cambria Math"/>
                          </a:rPr>
                          <m:t>𝑚</m:t>
                        </m:r>
                      </m:num>
                      <m:den>
                        <m:r>
                          <a:rPr lang="en-US" sz="2400" i="1">
                            <a:latin typeface="Cambria Math"/>
                            <a:ea typeface="Cambria Math"/>
                          </a:rPr>
                          <m:t>𝜇</m:t>
                        </m:r>
                      </m:den>
                    </m:f>
                    <m:r>
                      <m:rPr>
                        <m:nor/>
                      </m:rPr>
                      <a:rPr lang="en-US" sz="2400" dirty="0">
                        <a:latin typeface="Times New Roman" pitchFamily="18" charset="0"/>
                        <a:cs typeface="Times New Roman" pitchFamily="18" charset="0"/>
                      </a:rPr>
                      <m:t> </m:t>
                    </m:r>
                    <m:f>
                      <m:fPr>
                        <m:ctrlPr>
                          <a:rPr lang="en-US" sz="2400" i="1" dirty="0">
                            <a:latin typeface="Cambria Math" panose="02040503050406030204" pitchFamily="18" charset="0"/>
                            <a:ea typeface="Cambria Math"/>
                          </a:rPr>
                        </m:ctrlPr>
                      </m:fPr>
                      <m:num>
                        <m:r>
                          <a:rPr lang="en-US" sz="2400" i="1" dirty="0">
                            <a:latin typeface="Cambria Math"/>
                            <a:ea typeface="Cambria Math"/>
                          </a:rPr>
                          <m:t>𝑖</m:t>
                        </m:r>
                      </m:num>
                      <m:den>
                        <m:r>
                          <a:rPr lang="en-US" sz="2400" i="1" dirty="0">
                            <a:latin typeface="Cambria Math"/>
                            <a:ea typeface="Cambria Math"/>
                          </a:rPr>
                          <m:t>2</m:t>
                        </m:r>
                      </m:den>
                    </m:f>
                    <m:r>
                      <a:rPr lang="en-US" sz="2400" i="1" dirty="0">
                        <a:latin typeface="Cambria Math"/>
                        <a:ea typeface="Cambria Math"/>
                      </a:rPr>
                      <m:t>𝑅</m:t>
                    </m:r>
                    <m:r>
                      <a:rPr lang="en-US" sz="2400" i="1" dirty="0" smtClean="0">
                        <a:latin typeface="Cambria Math"/>
                        <a:ea typeface="Cambria Math"/>
                      </a:rPr>
                      <m:t>∆</m:t>
                    </m:r>
                    <m:r>
                      <a:rPr lang="en-US" sz="2400" i="1" dirty="0">
                        <a:latin typeface="Cambria Math"/>
                        <a:ea typeface="Cambria Math"/>
                      </a:rPr>
                      <m:t>𝑇</m:t>
                    </m:r>
                  </m:oMath>
                </a14:m>
                <a:endParaRPr lang="en-US" sz="2400" dirty="0">
                  <a:latin typeface="Times New Roman" pitchFamily="18" charset="0"/>
                  <a:ea typeface="Cambria Math"/>
                  <a:cs typeface="Times New Roman" pitchFamily="18" charset="0"/>
                </a:endParaRPr>
              </a:p>
              <a:p>
                <a:r>
                  <a:rPr lang="en-US" sz="2400" dirty="0">
                    <a:latin typeface="Times New Roman" pitchFamily="18" charset="0"/>
                    <a:ea typeface="Cambria Math"/>
                    <a:cs typeface="Times New Roman" pitchFamily="18" charset="0"/>
                  </a:rPr>
                  <a:t> </a:t>
                </a:r>
              </a:p>
            </p:txBody>
          </p:sp>
        </mc:Choice>
        <mc:Fallback xmlns="">
          <p:sp>
            <p:nvSpPr>
              <p:cNvPr id="6" name="Notes Placeholder 4"/>
              <p:cNvSpPr txBox="1">
                <a:spLocks noRot="1" noChangeAspect="1" noMove="1" noResize="1" noEditPoints="1" noAdjustHandles="1" noChangeArrowheads="1" noChangeShapeType="1" noTextEdit="1"/>
              </p:cNvSpPr>
              <p:nvPr/>
            </p:nvSpPr>
            <p:spPr>
              <a:xfrm>
                <a:off x="2971800" y="762000"/>
                <a:ext cx="5562600" cy="2286000"/>
              </a:xfrm>
              <a:prstGeom prst="rect">
                <a:avLst/>
              </a:prstGeom>
              <a:blipFill rotWithShape="1">
                <a:blip r:embed="rId5"/>
                <a:stretch>
                  <a:fillRect l="-1528"/>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00BFFE67-1E30-3CF7-B4F2-BF83782F5C74}"/>
              </a:ext>
            </a:extLst>
          </p:cNvPr>
          <p:cNvSpPr>
            <a:spLocks noGrp="1"/>
          </p:cNvSpPr>
          <p:nvPr>
            <p:ph type="ftr" sz="quarter" idx="11"/>
          </p:nvPr>
        </p:nvSpPr>
        <p:spPr/>
        <p:txBody>
          <a:bodyPr/>
          <a:lstStyle/>
          <a:p>
            <a:pPr>
              <a:defRPr/>
            </a:pPr>
            <a:r>
              <a:rPr lang="en-US"/>
              <a:t>Bùi Quốc Trung - VLDC</a:t>
            </a:r>
          </a:p>
        </p:txBody>
      </p:sp>
      <p:sp>
        <p:nvSpPr>
          <p:cNvPr id="7" name="Slide Number Placeholder 6">
            <a:extLst>
              <a:ext uri="{FF2B5EF4-FFF2-40B4-BE49-F238E27FC236}">
                <a16:creationId xmlns:a16="http://schemas.microsoft.com/office/drawing/2014/main" id="{2D242081-FF3F-758F-9FF3-EA02BA3EF1C0}"/>
              </a:ext>
            </a:extLst>
          </p:cNvPr>
          <p:cNvSpPr>
            <a:spLocks noGrp="1"/>
          </p:cNvSpPr>
          <p:nvPr>
            <p:ph type="sldNum" sz="quarter" idx="12"/>
          </p:nvPr>
        </p:nvSpPr>
        <p:spPr/>
        <p:txBody>
          <a:bodyPr/>
          <a:lstStyle/>
          <a:p>
            <a:pPr>
              <a:defRPr/>
            </a:pPr>
            <a:fld id="{003F8D5A-645D-495A-9DEA-99BB03E4A967}" type="slidenum">
              <a:rPr lang="en-US" smtClean="0"/>
              <a:pPr>
                <a:defRPr/>
              </a:pPr>
              <a:t>44</a:t>
            </a:fld>
            <a:endParaRPr lang="en-US"/>
          </a:p>
        </p:txBody>
      </p:sp>
    </p:spTree>
    <p:extLst>
      <p:ext uri="{BB962C8B-B14F-4D97-AF65-F5344CB8AC3E}">
        <p14:creationId xmlns:p14="http://schemas.microsoft.com/office/powerpoint/2010/main" val="3989013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p:nvPr>
        </p:nvSpPr>
        <p:spPr/>
        <p:txBody>
          <a:bodyPr/>
          <a:lstStyle/>
          <a:p>
            <a:pPr marL="0" indent="0">
              <a:buNone/>
            </a:pPr>
            <a:endParaRPr lang="en-US" sz="3600" b="1" dirty="0"/>
          </a:p>
          <a:p>
            <a:pPr marL="0" indent="0" algn="ctr">
              <a:buNone/>
            </a:pPr>
            <a:r>
              <a:rPr lang="en-US" sz="3600" b="1" i="1" dirty="0" err="1">
                <a:solidFill>
                  <a:srgbClr val="0070C0"/>
                </a:solidFill>
                <a:latin typeface="Times New Roman" pitchFamily="18" charset="0"/>
                <a:cs typeface="Times New Roman" pitchFamily="18" charset="0"/>
              </a:rPr>
              <a:t>Tìm</a:t>
            </a:r>
            <a:r>
              <a:rPr lang="en-US" sz="3600" b="1" i="1" dirty="0">
                <a:solidFill>
                  <a:srgbClr val="0070C0"/>
                </a:solidFill>
                <a:latin typeface="Times New Roman" pitchFamily="18" charset="0"/>
                <a:cs typeface="Times New Roman" pitchFamily="18" charset="0"/>
              </a:rPr>
              <a:t> </a:t>
            </a:r>
            <a:r>
              <a:rPr lang="en-US" sz="3600" b="1" i="1" dirty="0" err="1">
                <a:solidFill>
                  <a:srgbClr val="0070C0"/>
                </a:solidFill>
                <a:latin typeface="Times New Roman" pitchFamily="18" charset="0"/>
                <a:cs typeface="Times New Roman" pitchFamily="18" charset="0"/>
              </a:rPr>
              <a:t>nhiệt</a:t>
            </a:r>
            <a:r>
              <a:rPr lang="en-US" sz="3600" b="1" i="1" dirty="0">
                <a:solidFill>
                  <a:srgbClr val="0070C0"/>
                </a:solidFill>
                <a:latin typeface="Times New Roman" pitchFamily="18" charset="0"/>
                <a:cs typeface="Times New Roman" pitchFamily="18" charset="0"/>
              </a:rPr>
              <a:t> dung </a:t>
            </a:r>
            <a:r>
              <a:rPr lang="en-US" sz="3600" b="1" i="1" dirty="0" err="1">
                <a:solidFill>
                  <a:srgbClr val="0070C0"/>
                </a:solidFill>
                <a:latin typeface="Times New Roman" pitchFamily="18" charset="0"/>
                <a:cs typeface="Times New Roman" pitchFamily="18" charset="0"/>
              </a:rPr>
              <a:t>riêng</a:t>
            </a:r>
            <a:r>
              <a:rPr lang="en-US" sz="3600" b="1" i="1" dirty="0">
                <a:solidFill>
                  <a:srgbClr val="0070C0"/>
                </a:solidFill>
                <a:latin typeface="Times New Roman" pitchFamily="18" charset="0"/>
                <a:cs typeface="Times New Roman" pitchFamily="18" charset="0"/>
              </a:rPr>
              <a:t> </a:t>
            </a:r>
            <a:r>
              <a:rPr lang="en-US" sz="3600" b="1" i="1" dirty="0" err="1">
                <a:solidFill>
                  <a:srgbClr val="0070C0"/>
                </a:solidFill>
                <a:latin typeface="Times New Roman" pitchFamily="18" charset="0"/>
                <a:cs typeface="Times New Roman" pitchFamily="18" charset="0"/>
              </a:rPr>
              <a:t>đẳng</a:t>
            </a:r>
            <a:r>
              <a:rPr lang="en-US" sz="3600" b="1" i="1" dirty="0">
                <a:solidFill>
                  <a:srgbClr val="0070C0"/>
                </a:solidFill>
                <a:latin typeface="Times New Roman" pitchFamily="18" charset="0"/>
                <a:cs typeface="Times New Roman" pitchFamily="18" charset="0"/>
              </a:rPr>
              <a:t> </a:t>
            </a:r>
            <a:r>
              <a:rPr lang="en-US" sz="3600" b="1" i="1" dirty="0" err="1">
                <a:solidFill>
                  <a:srgbClr val="0070C0"/>
                </a:solidFill>
                <a:latin typeface="Times New Roman" pitchFamily="18" charset="0"/>
                <a:cs typeface="Times New Roman" pitchFamily="18" charset="0"/>
              </a:rPr>
              <a:t>áp</a:t>
            </a:r>
            <a:r>
              <a:rPr lang="en-US" sz="3600" b="1" i="1" dirty="0">
                <a:solidFill>
                  <a:srgbClr val="0070C0"/>
                </a:solidFill>
                <a:latin typeface="Times New Roman" pitchFamily="18" charset="0"/>
                <a:cs typeface="Times New Roman" pitchFamily="18" charset="0"/>
              </a:rPr>
              <a:t> </a:t>
            </a:r>
            <a:r>
              <a:rPr lang="en-US" sz="3600" b="1" i="1" dirty="0" err="1">
                <a:solidFill>
                  <a:srgbClr val="0070C0"/>
                </a:solidFill>
                <a:latin typeface="Times New Roman" pitchFamily="18" charset="0"/>
                <a:cs typeface="Times New Roman" pitchFamily="18" charset="0"/>
              </a:rPr>
              <a:t>của</a:t>
            </a:r>
            <a:r>
              <a:rPr lang="en-US" sz="3600" b="1" i="1" dirty="0">
                <a:solidFill>
                  <a:srgbClr val="0070C0"/>
                </a:solidFill>
                <a:latin typeface="Times New Roman" pitchFamily="18" charset="0"/>
                <a:cs typeface="Times New Roman" pitchFamily="18" charset="0"/>
              </a:rPr>
              <a:t> </a:t>
            </a:r>
            <a:r>
              <a:rPr lang="en-US" sz="3600" b="1" i="1" dirty="0" err="1">
                <a:solidFill>
                  <a:srgbClr val="0070C0"/>
                </a:solidFill>
                <a:latin typeface="Times New Roman" pitchFamily="18" charset="0"/>
                <a:cs typeface="Times New Roman" pitchFamily="18" charset="0"/>
              </a:rPr>
              <a:t>một</a:t>
            </a:r>
            <a:r>
              <a:rPr lang="en-US" sz="3600" b="1" i="1" dirty="0">
                <a:solidFill>
                  <a:srgbClr val="0070C0"/>
                </a:solidFill>
                <a:latin typeface="Times New Roman" pitchFamily="18" charset="0"/>
                <a:cs typeface="Times New Roman" pitchFamily="18" charset="0"/>
              </a:rPr>
              <a:t> </a:t>
            </a:r>
            <a:r>
              <a:rPr lang="en-US" sz="3600" b="1" i="1" dirty="0" err="1">
                <a:solidFill>
                  <a:srgbClr val="0070C0"/>
                </a:solidFill>
                <a:latin typeface="Times New Roman" pitchFamily="18" charset="0"/>
                <a:cs typeface="Times New Roman" pitchFamily="18" charset="0"/>
              </a:rPr>
              <a:t>chất</a:t>
            </a:r>
            <a:r>
              <a:rPr lang="en-US" sz="3600" b="1" i="1" dirty="0">
                <a:solidFill>
                  <a:srgbClr val="0070C0"/>
                </a:solidFill>
                <a:latin typeface="Times New Roman" pitchFamily="18" charset="0"/>
                <a:cs typeface="Times New Roman" pitchFamily="18" charset="0"/>
              </a:rPr>
              <a:t> </a:t>
            </a:r>
            <a:r>
              <a:rPr lang="en-US" sz="3600" b="1" i="1" dirty="0" err="1">
                <a:solidFill>
                  <a:srgbClr val="0070C0"/>
                </a:solidFill>
                <a:latin typeface="Times New Roman" pitchFamily="18" charset="0"/>
                <a:cs typeface="Times New Roman" pitchFamily="18" charset="0"/>
              </a:rPr>
              <a:t>khí</a:t>
            </a:r>
            <a:r>
              <a:rPr lang="en-US" sz="3600" b="1" i="1" dirty="0">
                <a:solidFill>
                  <a:srgbClr val="0070C0"/>
                </a:solidFill>
                <a:latin typeface="Times New Roman" pitchFamily="18" charset="0"/>
                <a:cs typeface="Times New Roman" pitchFamily="18" charset="0"/>
              </a:rPr>
              <a:t> </a:t>
            </a:r>
            <a:r>
              <a:rPr lang="en-US" sz="3600" b="1" i="1" dirty="0" err="1">
                <a:solidFill>
                  <a:srgbClr val="0070C0"/>
                </a:solidFill>
                <a:latin typeface="Times New Roman" pitchFamily="18" charset="0"/>
                <a:cs typeface="Times New Roman" pitchFamily="18" charset="0"/>
              </a:rPr>
              <a:t>nếu</a:t>
            </a:r>
            <a:r>
              <a:rPr lang="en-US" sz="3600" b="1" i="1" dirty="0">
                <a:solidFill>
                  <a:srgbClr val="0070C0"/>
                </a:solidFill>
                <a:latin typeface="Times New Roman" pitchFamily="18" charset="0"/>
                <a:cs typeface="Times New Roman" pitchFamily="18" charset="0"/>
              </a:rPr>
              <a:t> </a:t>
            </a:r>
            <a:r>
              <a:rPr lang="en-US" sz="3600" b="1" i="1" dirty="0" err="1">
                <a:solidFill>
                  <a:srgbClr val="0070C0"/>
                </a:solidFill>
                <a:latin typeface="Times New Roman" pitchFamily="18" charset="0"/>
                <a:cs typeface="Times New Roman" pitchFamily="18" charset="0"/>
              </a:rPr>
              <a:t>biết</a:t>
            </a:r>
            <a:r>
              <a:rPr lang="en-US" sz="3600" b="1" i="1" dirty="0">
                <a:solidFill>
                  <a:srgbClr val="0070C0"/>
                </a:solidFill>
                <a:latin typeface="Times New Roman" pitchFamily="18" charset="0"/>
                <a:cs typeface="Times New Roman" pitchFamily="18" charset="0"/>
              </a:rPr>
              <a:t> </a:t>
            </a:r>
            <a:r>
              <a:rPr lang="en-US" sz="3600" b="1" i="1" dirty="0" err="1">
                <a:solidFill>
                  <a:srgbClr val="0070C0"/>
                </a:solidFill>
                <a:latin typeface="Times New Roman" pitchFamily="18" charset="0"/>
                <a:cs typeface="Times New Roman" pitchFamily="18" charset="0"/>
              </a:rPr>
              <a:t>khối</a:t>
            </a:r>
            <a:r>
              <a:rPr lang="en-US" sz="3600" b="1" i="1" dirty="0">
                <a:solidFill>
                  <a:srgbClr val="0070C0"/>
                </a:solidFill>
                <a:latin typeface="Times New Roman" pitchFamily="18" charset="0"/>
                <a:cs typeface="Times New Roman" pitchFamily="18" charset="0"/>
              </a:rPr>
              <a:t> </a:t>
            </a:r>
            <a:r>
              <a:rPr lang="en-US" sz="3600" b="1" i="1" dirty="0" err="1">
                <a:solidFill>
                  <a:srgbClr val="0070C0"/>
                </a:solidFill>
                <a:latin typeface="Times New Roman" pitchFamily="18" charset="0"/>
                <a:cs typeface="Times New Roman" pitchFamily="18" charset="0"/>
              </a:rPr>
              <a:t>lượng</a:t>
            </a:r>
            <a:r>
              <a:rPr lang="en-US" sz="3600" b="1" i="1" dirty="0">
                <a:solidFill>
                  <a:srgbClr val="0070C0"/>
                </a:solidFill>
                <a:latin typeface="Times New Roman" pitchFamily="18" charset="0"/>
                <a:cs typeface="Times New Roman" pitchFamily="18" charset="0"/>
              </a:rPr>
              <a:t> </a:t>
            </a:r>
            <a:r>
              <a:rPr lang="en-US" sz="3600" b="1" i="1" dirty="0" err="1">
                <a:solidFill>
                  <a:srgbClr val="0070C0"/>
                </a:solidFill>
                <a:latin typeface="Times New Roman" pitchFamily="18" charset="0"/>
                <a:cs typeface="Times New Roman" pitchFamily="18" charset="0"/>
              </a:rPr>
              <a:t>của</a:t>
            </a:r>
            <a:r>
              <a:rPr lang="en-US" sz="3600" b="1" i="1" dirty="0">
                <a:solidFill>
                  <a:srgbClr val="0070C0"/>
                </a:solidFill>
                <a:latin typeface="Times New Roman" pitchFamily="18" charset="0"/>
                <a:cs typeface="Times New Roman" pitchFamily="18" charset="0"/>
              </a:rPr>
              <a:t> 1 </a:t>
            </a:r>
            <a:r>
              <a:rPr lang="en-US" sz="3600" b="1" i="1" dirty="0" err="1">
                <a:solidFill>
                  <a:srgbClr val="0070C0"/>
                </a:solidFill>
                <a:latin typeface="Times New Roman" pitchFamily="18" charset="0"/>
                <a:cs typeface="Times New Roman" pitchFamily="18" charset="0"/>
              </a:rPr>
              <a:t>kmol</a:t>
            </a:r>
            <a:r>
              <a:rPr lang="en-US" sz="3600" b="1" i="1" dirty="0">
                <a:solidFill>
                  <a:srgbClr val="0070C0"/>
                </a:solidFill>
                <a:latin typeface="Times New Roman" pitchFamily="18" charset="0"/>
                <a:cs typeface="Times New Roman" pitchFamily="18" charset="0"/>
              </a:rPr>
              <a:t> </a:t>
            </a:r>
            <a:r>
              <a:rPr lang="en-US" sz="3600" b="1" i="1" dirty="0" err="1">
                <a:solidFill>
                  <a:srgbClr val="0070C0"/>
                </a:solidFill>
                <a:latin typeface="Times New Roman" pitchFamily="18" charset="0"/>
                <a:cs typeface="Times New Roman" pitchFamily="18" charset="0"/>
              </a:rPr>
              <a:t>khí</a:t>
            </a:r>
            <a:r>
              <a:rPr lang="en-US" sz="3600" b="1" i="1" dirty="0">
                <a:solidFill>
                  <a:srgbClr val="0070C0"/>
                </a:solidFill>
                <a:latin typeface="Times New Roman" pitchFamily="18" charset="0"/>
                <a:cs typeface="Times New Roman" pitchFamily="18" charset="0"/>
              </a:rPr>
              <a:t> </a:t>
            </a:r>
            <a:r>
              <a:rPr lang="en-US" sz="3600" b="1" i="1" dirty="0" err="1">
                <a:solidFill>
                  <a:srgbClr val="0070C0"/>
                </a:solidFill>
                <a:latin typeface="Times New Roman" pitchFamily="18" charset="0"/>
                <a:cs typeface="Times New Roman" pitchFamily="18" charset="0"/>
              </a:rPr>
              <a:t>đó</a:t>
            </a:r>
            <a:r>
              <a:rPr lang="en-US" sz="3600" b="1" i="1" dirty="0">
                <a:solidFill>
                  <a:srgbClr val="0070C0"/>
                </a:solidFill>
                <a:latin typeface="Times New Roman" pitchFamily="18" charset="0"/>
                <a:cs typeface="Times New Roman" pitchFamily="18" charset="0"/>
              </a:rPr>
              <a:t> </a:t>
            </a:r>
            <a:r>
              <a:rPr lang="en-US" sz="3600" b="1" i="1" dirty="0" err="1">
                <a:solidFill>
                  <a:srgbClr val="0070C0"/>
                </a:solidFill>
                <a:latin typeface="Times New Roman" pitchFamily="18" charset="0"/>
                <a:cs typeface="Times New Roman" pitchFamily="18" charset="0"/>
              </a:rPr>
              <a:t>là</a:t>
            </a:r>
            <a:r>
              <a:rPr lang="en-US" sz="3600" b="1" i="1" dirty="0">
                <a:solidFill>
                  <a:srgbClr val="0070C0"/>
                </a:solidFill>
                <a:latin typeface="Times New Roman" pitchFamily="18" charset="0"/>
                <a:cs typeface="Times New Roman" pitchFamily="18" charset="0"/>
              </a:rPr>
              <a:t> 30 kg/</a:t>
            </a:r>
            <a:r>
              <a:rPr lang="en-US" sz="3600" b="1" i="1" dirty="0" err="1">
                <a:solidFill>
                  <a:srgbClr val="0070C0"/>
                </a:solidFill>
                <a:latin typeface="Times New Roman" pitchFamily="18" charset="0"/>
                <a:cs typeface="Times New Roman" pitchFamily="18" charset="0"/>
              </a:rPr>
              <a:t>kmol</a:t>
            </a:r>
            <a:r>
              <a:rPr lang="en-US" sz="3600" b="1" i="1" dirty="0">
                <a:solidFill>
                  <a:srgbClr val="0070C0"/>
                </a:solidFill>
                <a:latin typeface="Times New Roman" pitchFamily="18" charset="0"/>
                <a:cs typeface="Times New Roman" pitchFamily="18" charset="0"/>
              </a:rPr>
              <a:t>, </a:t>
            </a:r>
            <a:r>
              <a:rPr lang="en-US" sz="3600" b="1" i="1" dirty="0" err="1">
                <a:solidFill>
                  <a:srgbClr val="0070C0"/>
                </a:solidFill>
                <a:latin typeface="Times New Roman" pitchFamily="18" charset="0"/>
                <a:cs typeface="Times New Roman" pitchFamily="18" charset="0"/>
              </a:rPr>
              <a:t>hệ</a:t>
            </a:r>
            <a:r>
              <a:rPr lang="en-US" sz="3600" b="1" i="1" dirty="0">
                <a:solidFill>
                  <a:srgbClr val="0070C0"/>
                </a:solidFill>
                <a:latin typeface="Times New Roman" pitchFamily="18" charset="0"/>
                <a:cs typeface="Times New Roman" pitchFamily="18" charset="0"/>
              </a:rPr>
              <a:t> </a:t>
            </a:r>
            <a:r>
              <a:rPr lang="en-US" sz="3600" b="1" i="1" dirty="0" err="1">
                <a:solidFill>
                  <a:srgbClr val="0070C0"/>
                </a:solidFill>
                <a:latin typeface="Times New Roman" pitchFamily="18" charset="0"/>
                <a:cs typeface="Times New Roman" pitchFamily="18" charset="0"/>
              </a:rPr>
              <a:t>số</a:t>
            </a:r>
            <a:r>
              <a:rPr lang="en-US" sz="3600" b="1" i="1" dirty="0">
                <a:solidFill>
                  <a:srgbClr val="0070C0"/>
                </a:solidFill>
                <a:latin typeface="Times New Roman" pitchFamily="18" charset="0"/>
                <a:cs typeface="Times New Roman" pitchFamily="18" charset="0"/>
              </a:rPr>
              <a:t> </a:t>
            </a:r>
            <a:r>
              <a:rPr lang="el-GR" sz="3600" b="1" i="1" dirty="0">
                <a:solidFill>
                  <a:srgbClr val="0070C0"/>
                </a:solidFill>
                <a:latin typeface="Times New Roman" pitchFamily="18" charset="0"/>
                <a:cs typeface="Times New Roman" pitchFamily="18" charset="0"/>
              </a:rPr>
              <a:t>γ</a:t>
            </a:r>
            <a:r>
              <a:rPr lang="en-US" sz="3600" b="1" i="1" dirty="0">
                <a:solidFill>
                  <a:srgbClr val="0070C0"/>
                </a:solidFill>
                <a:latin typeface="Times New Roman" pitchFamily="18" charset="0"/>
                <a:cs typeface="Times New Roman" pitchFamily="18" charset="0"/>
              </a:rPr>
              <a:t> = 1,4</a:t>
            </a:r>
          </a:p>
        </p:txBody>
      </p:sp>
      <p:graphicFrame>
        <p:nvGraphicFramePr>
          <p:cNvPr id="3" name="Object 2"/>
          <p:cNvGraphicFramePr>
            <a:graphicFrameLocks noChangeAspect="1"/>
          </p:cNvGraphicFramePr>
          <p:nvPr>
            <p:extLst>
              <p:ext uri="{D42A27DB-BD31-4B8C-83A1-F6EECF244321}">
                <p14:modId xmlns:p14="http://schemas.microsoft.com/office/powerpoint/2010/main" val="217225548"/>
              </p:ext>
            </p:extLst>
          </p:nvPr>
        </p:nvGraphicFramePr>
        <p:xfrm>
          <a:off x="350837" y="3276600"/>
          <a:ext cx="2041525" cy="990600"/>
        </p:xfrm>
        <a:graphic>
          <a:graphicData uri="http://schemas.openxmlformats.org/presentationml/2006/ole">
            <mc:AlternateContent xmlns:mc="http://schemas.openxmlformats.org/markup-compatibility/2006">
              <mc:Choice xmlns:v="urn:schemas-microsoft-com:vml" Requires="v">
                <p:oleObj name="Equation" r:id="rId3" imgW="1015559" imgH="495085" progId="Equation.DSMT4">
                  <p:embed/>
                </p:oleObj>
              </mc:Choice>
              <mc:Fallback>
                <p:oleObj name="Equation" r:id="rId3" imgW="1015559" imgH="495085" progId="Equation.DSMT4">
                  <p:embed/>
                  <p:pic>
                    <p:nvPicPr>
                      <p:cNvPr id="0"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837" y="3276600"/>
                        <a:ext cx="204152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5" name="Notes Placeholder 4"/>
              <p:cNvSpPr txBox="1">
                <a:spLocks/>
              </p:cNvSpPr>
              <p:nvPr/>
            </p:nvSpPr>
            <p:spPr>
              <a:xfrm>
                <a:off x="2819400" y="3733800"/>
                <a:ext cx="5791200" cy="2819400"/>
              </a:xfrm>
              <a:prstGeom prst="cloudCallout">
                <a:avLst>
                  <a:gd name="adj1" fmla="val -41988"/>
                  <a:gd name="adj2" fmla="val -84033"/>
                </a:avLst>
              </a:prstGeom>
            </p:spPr>
            <p:style>
              <a:lnRef idx="2">
                <a:schemeClr val="accent3"/>
              </a:lnRef>
              <a:fillRef idx="1">
                <a:schemeClr val="lt1"/>
              </a:fillRef>
              <a:effectRef idx="0">
                <a:schemeClr val="accent3"/>
              </a:effectRef>
              <a:fontRef idx="minor">
                <a:schemeClr val="dk1"/>
              </a:fontRef>
            </p:style>
            <p:txBody>
              <a:bodyPr rtlCol="0" anchor="ct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3200" b="1" dirty="0">
                    <a:latin typeface="Times New Roman" pitchFamily="18" charset="0"/>
                    <a:cs typeface="Times New Roman" pitchFamily="18" charset="0"/>
                  </a:rPr>
                  <a:t>c</a:t>
                </a:r>
                <a:r>
                  <a:rPr lang="en-US" sz="3200" b="1" baseline="-25000" dirty="0" err="1">
                    <a:latin typeface="Times New Roman" pitchFamily="18" charset="0"/>
                    <a:cs typeface="Times New Roman" pitchFamily="18" charset="0"/>
                  </a:rPr>
                  <a:t>p</a:t>
                </a:r>
                <a:r>
                  <a:rPr lang="en-US" sz="3200" b="1" dirty="0">
                    <a:latin typeface="Times New Roman" pitchFamily="18" charset="0"/>
                    <a:cs typeface="Times New Roman" pitchFamily="18" charset="0"/>
                  </a:rPr>
                  <a:t>= 969,5 J/</a:t>
                </a:r>
                <a:r>
                  <a:rPr lang="en-US" sz="3200" b="1" dirty="0" err="1">
                    <a:latin typeface="Times New Roman" pitchFamily="18" charset="0"/>
                    <a:cs typeface="Times New Roman" pitchFamily="18" charset="0"/>
                  </a:rPr>
                  <a:t>kg.K</a:t>
                </a:r>
                <a:endParaRPr lang="en-US" sz="3200" b="1" dirty="0">
                  <a:latin typeface="Times New Roman" pitchFamily="18" charset="0"/>
                  <a:cs typeface="Times New Roman" pitchFamily="18" charset="0"/>
                </a:endParaRPr>
              </a:p>
              <a:p>
                <a:pPr algn="ctr"/>
                <a14:m>
                  <m:oMath xmlns:m="http://schemas.openxmlformats.org/officeDocument/2006/math">
                    <m:sSub>
                      <m:sSubPr>
                        <m:ctrlPr>
                          <a:rPr lang="en-US" sz="3200" b="1" i="1">
                            <a:latin typeface="Cambria Math" panose="02040503050406030204" pitchFamily="18" charset="0"/>
                            <a:cs typeface="Times New Roman" pitchFamily="18" charset="0"/>
                          </a:rPr>
                        </m:ctrlPr>
                      </m:sSubPr>
                      <m:e>
                        <m:r>
                          <a:rPr lang="en-US" sz="3200" b="1" i="1">
                            <a:latin typeface="Cambria Math"/>
                            <a:cs typeface="Times New Roman" pitchFamily="18" charset="0"/>
                          </a:rPr>
                          <m:t>𝑪</m:t>
                        </m:r>
                      </m:e>
                      <m:sub>
                        <m:r>
                          <a:rPr lang="en-US" sz="3200" b="1" i="1">
                            <a:latin typeface="Cambria Math"/>
                            <a:cs typeface="Times New Roman" pitchFamily="18" charset="0"/>
                          </a:rPr>
                          <m:t>𝑷</m:t>
                        </m:r>
                      </m:sub>
                    </m:sSub>
                  </m:oMath>
                </a14:m>
                <a:r>
                  <a:rPr lang="en-US" sz="3200" b="1" dirty="0">
                    <a:latin typeface="Times New Roman" pitchFamily="18" charset="0"/>
                    <a:cs typeface="Times New Roman" pitchFamily="18" charset="0"/>
                  </a:rPr>
                  <a:t> = </a:t>
                </a:r>
                <a14:m>
                  <m:oMath xmlns:m="http://schemas.openxmlformats.org/officeDocument/2006/math">
                    <m:sSub>
                      <m:sSubPr>
                        <m:ctrlPr>
                          <a:rPr lang="en-US" sz="3200" b="1" i="1">
                            <a:latin typeface="Cambria Math" panose="02040503050406030204" pitchFamily="18" charset="0"/>
                            <a:cs typeface="Times New Roman" pitchFamily="18" charset="0"/>
                          </a:rPr>
                        </m:ctrlPr>
                      </m:sSubPr>
                      <m:e>
                        <m:r>
                          <a:rPr lang="en-US" sz="3200" b="1" i="1">
                            <a:latin typeface="Cambria Math"/>
                            <a:cs typeface="Times New Roman" pitchFamily="18" charset="0"/>
                          </a:rPr>
                          <m:t>𝒄</m:t>
                        </m:r>
                      </m:e>
                      <m:sub>
                        <m:r>
                          <a:rPr lang="en-US" sz="3200" b="1" i="1">
                            <a:latin typeface="Cambria Math"/>
                            <a:cs typeface="Times New Roman" pitchFamily="18" charset="0"/>
                          </a:rPr>
                          <m:t>𝒑</m:t>
                        </m:r>
                      </m:sub>
                    </m:sSub>
                  </m:oMath>
                </a14:m>
                <a:r>
                  <a:rPr lang="en-US" sz="3200" b="1" dirty="0">
                    <a:latin typeface="Times New Roman" pitchFamily="18" charset="0"/>
                    <a:cs typeface="Times New Roman" pitchFamily="18" charset="0"/>
                  </a:rPr>
                  <a:t>.µ </a:t>
                </a:r>
                <a:r>
                  <a:rPr lang="en-US" sz="3200" dirty="0"/>
                  <a:t>= </a:t>
                </a:r>
                <a:r>
                  <a:rPr lang="en-US" sz="3200" dirty="0">
                    <a:latin typeface="Times New Roman" pitchFamily="18" charset="0"/>
                    <a:cs typeface="Times New Roman" pitchFamily="18" charset="0"/>
                  </a:rPr>
                  <a:t>(</a:t>
                </a:r>
                <a14:m>
                  <m:oMath xmlns:m="http://schemas.openxmlformats.org/officeDocument/2006/math">
                    <m:f>
                      <m:fPr>
                        <m:ctrlPr>
                          <a:rPr lang="en-US" sz="3200" i="1">
                            <a:latin typeface="Cambria Math" panose="02040503050406030204" pitchFamily="18" charset="0"/>
                          </a:rPr>
                        </m:ctrlPr>
                      </m:fPr>
                      <m:num>
                        <m:r>
                          <a:rPr lang="en-US" sz="3200" i="1">
                            <a:latin typeface="Cambria Math"/>
                          </a:rPr>
                          <m:t>𝑖</m:t>
                        </m:r>
                      </m:num>
                      <m:den>
                        <m:r>
                          <a:rPr lang="en-US" sz="3200" i="1">
                            <a:latin typeface="Cambria Math"/>
                          </a:rPr>
                          <m:t>2</m:t>
                        </m:r>
                      </m:den>
                    </m:f>
                    <m:r>
                      <a:rPr lang="en-US" sz="3200" i="1">
                        <a:latin typeface="Cambria Math"/>
                      </a:rPr>
                      <m:t>+1</m:t>
                    </m:r>
                  </m:oMath>
                </a14:m>
                <a:r>
                  <a:rPr lang="en-US" sz="3200" dirty="0">
                    <a:latin typeface="Times New Roman" pitchFamily="18" charset="0"/>
                    <a:cs typeface="Times New Roman" pitchFamily="18" charset="0"/>
                  </a:rPr>
                  <a:t>)R = 3,5.8,31</a:t>
                </a:r>
              </a:p>
              <a:p>
                <a:pPr algn="ctr"/>
                <a14:m>
                  <m:oMath xmlns:m="http://schemas.openxmlformats.org/officeDocument/2006/math">
                    <m:sSub>
                      <m:sSubPr>
                        <m:ctrlPr>
                          <a:rPr lang="en-US" sz="3200" b="1" i="1">
                            <a:latin typeface="Cambria Math" panose="02040503050406030204" pitchFamily="18" charset="0"/>
                            <a:cs typeface="Times New Roman" pitchFamily="18" charset="0"/>
                          </a:rPr>
                        </m:ctrlPr>
                      </m:sSubPr>
                      <m:e>
                        <m:r>
                          <a:rPr lang="en-US" sz="3200" b="1" i="1">
                            <a:latin typeface="Cambria Math"/>
                            <a:cs typeface="Times New Roman" pitchFamily="18" charset="0"/>
                          </a:rPr>
                          <m:t>𝒄</m:t>
                        </m:r>
                      </m:e>
                      <m:sub>
                        <m:r>
                          <a:rPr lang="en-US" sz="3200" b="1" i="1">
                            <a:latin typeface="Cambria Math"/>
                            <a:cs typeface="Times New Roman" pitchFamily="18" charset="0"/>
                          </a:rPr>
                          <m:t>𝒑</m:t>
                        </m:r>
                      </m:sub>
                    </m:sSub>
                    <m:r>
                      <a:rPr lang="en-US" sz="3200" i="1">
                        <a:latin typeface="Cambria Math"/>
                        <a:cs typeface="Times New Roman" pitchFamily="18" charset="0"/>
                      </a:rPr>
                      <m:t>= </m:t>
                    </m:r>
                    <m:f>
                      <m:fPr>
                        <m:ctrlPr>
                          <a:rPr lang="en-US" sz="3200" i="1">
                            <a:latin typeface="Cambria Math" panose="02040503050406030204" pitchFamily="18" charset="0"/>
                            <a:cs typeface="Times New Roman" pitchFamily="18" charset="0"/>
                          </a:rPr>
                        </m:ctrlPr>
                      </m:fPr>
                      <m:num>
                        <m:r>
                          <a:rPr lang="en-US" sz="3200" i="1">
                            <a:latin typeface="Cambria Math"/>
                            <a:cs typeface="Times New Roman" pitchFamily="18" charset="0"/>
                          </a:rPr>
                          <m:t>3,5.8,31</m:t>
                        </m:r>
                      </m:num>
                      <m:den>
                        <m:r>
                          <a:rPr lang="en-US" sz="3200" i="1">
                            <a:latin typeface="Cambria Math"/>
                            <a:cs typeface="Times New Roman" pitchFamily="18" charset="0"/>
                          </a:rPr>
                          <m:t>30.</m:t>
                        </m:r>
                        <m:sSup>
                          <m:sSupPr>
                            <m:ctrlPr>
                              <a:rPr lang="en-US" sz="3200" i="1">
                                <a:latin typeface="Cambria Math" panose="02040503050406030204" pitchFamily="18" charset="0"/>
                                <a:cs typeface="Times New Roman" pitchFamily="18" charset="0"/>
                              </a:rPr>
                            </m:ctrlPr>
                          </m:sSupPr>
                          <m:e>
                            <m:r>
                              <a:rPr lang="en-US" sz="3200" i="1">
                                <a:latin typeface="Cambria Math"/>
                                <a:cs typeface="Times New Roman" pitchFamily="18" charset="0"/>
                              </a:rPr>
                              <m:t>10</m:t>
                            </m:r>
                          </m:e>
                          <m:sup>
                            <m:r>
                              <a:rPr lang="en-US" sz="3200" b="0" i="1" smtClean="0">
                                <a:latin typeface="Cambria Math" panose="02040503050406030204" pitchFamily="18" charset="0"/>
                                <a:cs typeface="Times New Roman" pitchFamily="18" charset="0"/>
                              </a:rPr>
                              <m:t>−</m:t>
                            </m:r>
                            <m:r>
                              <a:rPr lang="en-US" sz="3200" i="1">
                                <a:latin typeface="Cambria Math"/>
                                <a:cs typeface="Times New Roman" pitchFamily="18" charset="0"/>
                              </a:rPr>
                              <m:t>3</m:t>
                            </m:r>
                          </m:sup>
                        </m:sSup>
                      </m:den>
                    </m:f>
                  </m:oMath>
                </a14:m>
                <a:r>
                  <a:rPr lang="en-US" sz="3200" b="1" dirty="0">
                    <a:latin typeface="Times New Roman" pitchFamily="18" charset="0"/>
                    <a:cs typeface="Times New Roman" pitchFamily="18" charset="0"/>
                  </a:rPr>
                  <a:t> = ? </a:t>
                </a:r>
              </a:p>
            </p:txBody>
          </p:sp>
        </mc:Choice>
        <mc:Fallback xmlns="">
          <p:sp>
            <p:nvSpPr>
              <p:cNvPr id="5" name="Notes Placeholder 4"/>
              <p:cNvSpPr txBox="1">
                <a:spLocks noRot="1" noChangeAspect="1" noMove="1" noResize="1" noEditPoints="1" noAdjustHandles="1" noChangeArrowheads="1" noChangeShapeType="1" noTextEdit="1"/>
              </p:cNvSpPr>
              <p:nvPr/>
            </p:nvSpPr>
            <p:spPr>
              <a:xfrm>
                <a:off x="2819400" y="3733800"/>
                <a:ext cx="5791200" cy="2819400"/>
              </a:xfrm>
              <a:prstGeom prst="cloudCallout">
                <a:avLst>
                  <a:gd name="adj1" fmla="val -41988"/>
                  <a:gd name="adj2" fmla="val -84033"/>
                </a:avLst>
              </a:prstGeom>
              <a:blipFill>
                <a:blip r:embed="rId6"/>
                <a:stretch>
                  <a:fillRect/>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159A854F-AA04-2F29-6BF7-6EFD720720CE}"/>
              </a:ext>
            </a:extLst>
          </p:cNvPr>
          <p:cNvSpPr>
            <a:spLocks noGrp="1"/>
          </p:cNvSpPr>
          <p:nvPr>
            <p:ph type="ftr" sz="quarter" idx="11"/>
          </p:nvPr>
        </p:nvSpPr>
        <p:spPr/>
        <p:txBody>
          <a:bodyPr/>
          <a:lstStyle/>
          <a:p>
            <a:pPr>
              <a:defRPr/>
            </a:pPr>
            <a:r>
              <a:rPr lang="en-US"/>
              <a:t>Bùi Quốc Trung - VLDC</a:t>
            </a:r>
          </a:p>
        </p:txBody>
      </p:sp>
      <p:sp>
        <p:nvSpPr>
          <p:cNvPr id="6" name="Slide Number Placeholder 5">
            <a:extLst>
              <a:ext uri="{FF2B5EF4-FFF2-40B4-BE49-F238E27FC236}">
                <a16:creationId xmlns:a16="http://schemas.microsoft.com/office/drawing/2014/main" id="{BA0BA406-2C8A-7492-220B-7A1A4F1EA791}"/>
              </a:ext>
            </a:extLst>
          </p:cNvPr>
          <p:cNvSpPr>
            <a:spLocks noGrp="1"/>
          </p:cNvSpPr>
          <p:nvPr>
            <p:ph type="sldNum" sz="quarter" idx="12"/>
          </p:nvPr>
        </p:nvSpPr>
        <p:spPr/>
        <p:txBody>
          <a:bodyPr/>
          <a:lstStyle/>
          <a:p>
            <a:pPr>
              <a:defRPr/>
            </a:pPr>
            <a:fld id="{003F8D5A-645D-495A-9DEA-99BB03E4A967}" type="slidenum">
              <a:rPr lang="en-US" smtClean="0"/>
              <a:pPr>
                <a:defRPr/>
              </a:pPr>
              <a:t>45</a:t>
            </a:fld>
            <a:endParaRPr lang="en-US" dirty="0"/>
          </a:p>
        </p:txBody>
      </p:sp>
    </p:spTree>
    <p:extLst>
      <p:ext uri="{BB962C8B-B14F-4D97-AF65-F5344CB8AC3E}">
        <p14:creationId xmlns:p14="http://schemas.microsoft.com/office/powerpoint/2010/main" val="2980838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p:nvPr>
        </p:nvSpPr>
        <p:spPr/>
        <p:txBody>
          <a:bodyPr/>
          <a:lstStyle/>
          <a:p>
            <a:pPr marL="0" indent="0" algn="ctr">
              <a:buNone/>
            </a:pPr>
            <a:r>
              <a:rPr lang="en-US" sz="3600" b="1">
                <a:solidFill>
                  <a:srgbClr val="0070C0"/>
                </a:solidFill>
                <a:latin typeface="Times New Roman" pitchFamily="18" charset="0"/>
                <a:cs typeface="Times New Roman" pitchFamily="18" charset="0"/>
              </a:rPr>
              <a:t>Nén đẳng nhiệt 3 lít không khí ở áp suất 1 at. Tìm nhiệt lượng tỏa ra, biết rằng thể tích cuối cùng chỉ còn bằng 1/10 thể tích lúc đầu.</a:t>
            </a:r>
          </a:p>
          <a:p>
            <a:pPr marL="0" indent="0">
              <a:buNone/>
            </a:pPr>
            <a:endParaRPr lang="en-US" sz="3600" b="1"/>
          </a:p>
        </p:txBody>
      </p:sp>
      <mc:AlternateContent xmlns:mc="http://schemas.openxmlformats.org/markup-compatibility/2006" xmlns:a14="http://schemas.microsoft.com/office/drawing/2010/main">
        <mc:Choice Requires="a14">
          <p:sp>
            <p:nvSpPr>
              <p:cNvPr id="2" name="Oval Callout 1"/>
              <p:cNvSpPr/>
              <p:nvPr/>
            </p:nvSpPr>
            <p:spPr>
              <a:xfrm>
                <a:off x="685800" y="3352800"/>
                <a:ext cx="8001000" cy="2819400"/>
              </a:xfrm>
              <a:prstGeom prst="wedgeEllipseCallout">
                <a:avLst>
                  <a:gd name="adj1" fmla="val -26894"/>
                  <a:gd name="adj2" fmla="val -132305"/>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600" b="1" dirty="0">
                    <a:latin typeface="Times New Roman" pitchFamily="18" charset="0"/>
                    <a:cs typeface="Times New Roman" pitchFamily="18" charset="0"/>
                  </a:rPr>
                  <a:t>Q = - 676 J</a:t>
                </a:r>
              </a:p>
              <a:p>
                <a:pPr algn="ctr"/>
                <a14:m>
                  <m:oMath xmlns:m="http://schemas.openxmlformats.org/officeDocument/2006/math">
                    <m:f>
                      <m:fPr>
                        <m:ctrlPr>
                          <a:rPr lang="en-US" sz="2000" b="1" i="1" smtClean="0">
                            <a:latin typeface="Cambria Math" panose="02040503050406030204" pitchFamily="18" charset="0"/>
                            <a:cs typeface="Times New Roman" pitchFamily="18" charset="0"/>
                          </a:rPr>
                        </m:ctrlPr>
                      </m:fPr>
                      <m:num>
                        <m:r>
                          <a:rPr lang="en-US" sz="2000" b="1" i="1" smtClean="0">
                            <a:latin typeface="Cambria Math"/>
                            <a:cs typeface="Times New Roman" pitchFamily="18" charset="0"/>
                          </a:rPr>
                          <m:t>𝑽</m:t>
                        </m:r>
                        <m:r>
                          <a:rPr lang="en-US" sz="2000" b="1" i="1" smtClean="0">
                            <a:latin typeface="Cambria Math"/>
                            <a:cs typeface="Times New Roman" pitchFamily="18" charset="0"/>
                          </a:rPr>
                          <m:t>𝟐</m:t>
                        </m:r>
                      </m:num>
                      <m:den>
                        <m:r>
                          <a:rPr lang="en-US" sz="2000" b="1" i="1" smtClean="0">
                            <a:latin typeface="Cambria Math"/>
                            <a:cs typeface="Times New Roman" pitchFamily="18" charset="0"/>
                          </a:rPr>
                          <m:t>𝑽</m:t>
                        </m:r>
                        <m:r>
                          <a:rPr lang="en-US" sz="2000" b="1" i="1" smtClean="0">
                            <a:latin typeface="Cambria Math"/>
                            <a:cs typeface="Times New Roman" pitchFamily="18" charset="0"/>
                          </a:rPr>
                          <m:t>𝟏</m:t>
                        </m:r>
                      </m:den>
                    </m:f>
                    <m:r>
                      <a:rPr lang="en-US" sz="2000" b="1" i="1" smtClean="0">
                        <a:latin typeface="Cambria Math"/>
                        <a:cs typeface="Times New Roman" pitchFamily="18" charset="0"/>
                      </a:rPr>
                      <m:t>=</m:t>
                    </m:r>
                    <m:f>
                      <m:fPr>
                        <m:ctrlPr>
                          <a:rPr lang="en-US" sz="2000" b="1" i="1" smtClean="0">
                            <a:latin typeface="Cambria Math" panose="02040503050406030204" pitchFamily="18" charset="0"/>
                            <a:cs typeface="Times New Roman" pitchFamily="18" charset="0"/>
                          </a:rPr>
                        </m:ctrlPr>
                      </m:fPr>
                      <m:num>
                        <m:r>
                          <a:rPr lang="en-US" sz="2000" b="1" i="1" smtClean="0">
                            <a:latin typeface="Cambria Math"/>
                            <a:cs typeface="Times New Roman" pitchFamily="18" charset="0"/>
                          </a:rPr>
                          <m:t>𝟏</m:t>
                        </m:r>
                      </m:num>
                      <m:den>
                        <m:r>
                          <a:rPr lang="en-US" sz="2000" b="1" i="1" smtClean="0">
                            <a:latin typeface="Cambria Math"/>
                            <a:cs typeface="Times New Roman" pitchFamily="18" charset="0"/>
                          </a:rPr>
                          <m:t>𝟏𝟎</m:t>
                        </m:r>
                      </m:den>
                    </m:f>
                    <m:r>
                      <a:rPr lang="en-US" sz="2000" b="1" i="1" smtClean="0">
                        <a:latin typeface="Cambria Math"/>
                        <a:cs typeface="Times New Roman" pitchFamily="18" charset="0"/>
                      </a:rPr>
                      <m:t>,</m:t>
                    </m:r>
                  </m:oMath>
                </a14:m>
                <a:r>
                  <a:rPr lang="en-US" sz="2000" b="1" dirty="0">
                    <a:latin typeface="Times New Roman" pitchFamily="18" charset="0"/>
                    <a:cs typeface="Times New Roman" pitchFamily="18" charset="0"/>
                  </a:rPr>
                  <a:t> </a:t>
                </a:r>
              </a:p>
              <a:p>
                <a:pPr algn="ctr"/>
                <a14:m>
                  <m:oMath xmlns:m="http://schemas.openxmlformats.org/officeDocument/2006/math">
                    <m:f>
                      <m:fPr>
                        <m:ctrlPr>
                          <a:rPr lang="en-US" sz="2000" b="1" i="1">
                            <a:latin typeface="Cambria Math" panose="02040503050406030204" pitchFamily="18" charset="0"/>
                            <a:cs typeface="Times New Roman" pitchFamily="18" charset="0"/>
                          </a:rPr>
                        </m:ctrlPr>
                      </m:fPr>
                      <m:num>
                        <m:r>
                          <a:rPr lang="en-US" sz="2000" b="1" i="1" smtClean="0">
                            <a:latin typeface="Cambria Math"/>
                            <a:cs typeface="Times New Roman" pitchFamily="18" charset="0"/>
                          </a:rPr>
                          <m:t>𝑷</m:t>
                        </m:r>
                        <m:r>
                          <a:rPr lang="en-US" sz="2000" b="1" i="1" smtClean="0">
                            <a:latin typeface="Cambria Math"/>
                            <a:cs typeface="Times New Roman" pitchFamily="18" charset="0"/>
                          </a:rPr>
                          <m:t>𝟏</m:t>
                        </m:r>
                      </m:num>
                      <m:den>
                        <m:r>
                          <a:rPr lang="en-US" sz="2000" b="1" i="1" smtClean="0">
                            <a:latin typeface="Cambria Math"/>
                            <a:cs typeface="Times New Roman" pitchFamily="18" charset="0"/>
                          </a:rPr>
                          <m:t>𝑷</m:t>
                        </m:r>
                        <m:r>
                          <a:rPr lang="en-US" sz="2000" b="1" i="1" smtClean="0">
                            <a:latin typeface="Cambria Math"/>
                            <a:cs typeface="Times New Roman" pitchFamily="18" charset="0"/>
                          </a:rPr>
                          <m:t>𝟐</m:t>
                        </m:r>
                      </m:den>
                    </m:f>
                    <m:r>
                      <a:rPr lang="en-US" sz="2000" b="1" i="1">
                        <a:latin typeface="Cambria Math"/>
                        <a:cs typeface="Times New Roman" pitchFamily="18" charset="0"/>
                      </a:rPr>
                      <m:t>=</m:t>
                    </m:r>
                    <m:f>
                      <m:fPr>
                        <m:ctrlPr>
                          <a:rPr lang="en-US" sz="2000" b="1" i="1">
                            <a:latin typeface="Cambria Math" panose="02040503050406030204" pitchFamily="18" charset="0"/>
                            <a:cs typeface="Times New Roman" pitchFamily="18" charset="0"/>
                          </a:rPr>
                        </m:ctrlPr>
                      </m:fPr>
                      <m:num>
                        <m:r>
                          <a:rPr lang="en-US" sz="2000" b="1" i="1">
                            <a:latin typeface="Cambria Math"/>
                            <a:cs typeface="Times New Roman" pitchFamily="18" charset="0"/>
                          </a:rPr>
                          <m:t>𝟏</m:t>
                        </m:r>
                      </m:num>
                      <m:den>
                        <m:r>
                          <a:rPr lang="en-US" sz="2000" b="1" i="1">
                            <a:latin typeface="Cambria Math"/>
                            <a:cs typeface="Times New Roman" pitchFamily="18" charset="0"/>
                          </a:rPr>
                          <m:t>𝟏𝟎</m:t>
                        </m:r>
                      </m:den>
                    </m:f>
                    <m:r>
                      <a:rPr lang="en-US" sz="2000" b="1" i="1">
                        <a:latin typeface="Cambria Math"/>
                        <a:cs typeface="Times New Roman" pitchFamily="18" charset="0"/>
                      </a:rPr>
                      <m:t>,</m:t>
                    </m:r>
                  </m:oMath>
                </a14:m>
                <a:r>
                  <a:rPr lang="en-US" sz="2000" b="1" dirty="0">
                    <a:latin typeface="Times New Roman" pitchFamily="18" charset="0"/>
                    <a:cs typeface="Times New Roman" pitchFamily="18" charset="0"/>
                  </a:rPr>
                  <a:t> Q = </a:t>
                </a:r>
                <a14:m>
                  <m:oMath xmlns:m="http://schemas.openxmlformats.org/officeDocument/2006/math">
                    <m:f>
                      <m:fPr>
                        <m:ctrlPr>
                          <a:rPr lang="en-US" sz="2000" b="1" i="1" smtClean="0">
                            <a:latin typeface="Cambria Math" panose="02040503050406030204" pitchFamily="18" charset="0"/>
                            <a:cs typeface="Times New Roman" pitchFamily="18" charset="0"/>
                          </a:rPr>
                        </m:ctrlPr>
                      </m:fPr>
                      <m:num>
                        <m:r>
                          <a:rPr lang="en-US" sz="2000" b="1" i="1" smtClean="0">
                            <a:latin typeface="Cambria Math"/>
                            <a:cs typeface="Times New Roman" pitchFamily="18" charset="0"/>
                          </a:rPr>
                          <m:t>𝒎</m:t>
                        </m:r>
                      </m:num>
                      <m:den>
                        <m:r>
                          <a:rPr lang="en-US" sz="2000" b="1" i="1" smtClean="0">
                            <a:latin typeface="Cambria Math"/>
                            <a:ea typeface="Cambria Math"/>
                            <a:cs typeface="Times New Roman" pitchFamily="18" charset="0"/>
                          </a:rPr>
                          <m:t>𝝁</m:t>
                        </m:r>
                      </m:den>
                    </m:f>
                    <m:r>
                      <a:rPr lang="en-US" sz="2000" b="1" i="1" smtClean="0">
                        <a:latin typeface="Cambria Math"/>
                        <a:cs typeface="Times New Roman" pitchFamily="18" charset="0"/>
                      </a:rPr>
                      <m:t>𝑹𝑻𝒍𝒏</m:t>
                    </m:r>
                    <m:d>
                      <m:dPr>
                        <m:ctrlPr>
                          <a:rPr lang="en-US" sz="2000" b="1" i="1" smtClean="0">
                            <a:latin typeface="Cambria Math" panose="02040503050406030204" pitchFamily="18" charset="0"/>
                            <a:cs typeface="Times New Roman" pitchFamily="18" charset="0"/>
                          </a:rPr>
                        </m:ctrlPr>
                      </m:dPr>
                      <m:e>
                        <m:f>
                          <m:fPr>
                            <m:ctrlPr>
                              <a:rPr lang="en-US" sz="2000" b="1" i="1">
                                <a:latin typeface="Cambria Math" panose="02040503050406030204" pitchFamily="18" charset="0"/>
                                <a:cs typeface="Times New Roman" pitchFamily="18" charset="0"/>
                              </a:rPr>
                            </m:ctrlPr>
                          </m:fPr>
                          <m:num>
                            <m:r>
                              <a:rPr lang="en-US" sz="2000" b="1" i="1">
                                <a:latin typeface="Cambria Math"/>
                                <a:cs typeface="Times New Roman" pitchFamily="18" charset="0"/>
                              </a:rPr>
                              <m:t>𝑽</m:t>
                            </m:r>
                            <m:r>
                              <a:rPr lang="en-US" sz="2000" b="1" i="1">
                                <a:latin typeface="Cambria Math"/>
                                <a:cs typeface="Times New Roman" pitchFamily="18" charset="0"/>
                              </a:rPr>
                              <m:t>𝟐</m:t>
                            </m:r>
                          </m:num>
                          <m:den>
                            <m:r>
                              <a:rPr lang="en-US" sz="2000" b="1" i="1">
                                <a:latin typeface="Cambria Math"/>
                                <a:cs typeface="Times New Roman" pitchFamily="18" charset="0"/>
                              </a:rPr>
                              <m:t>𝑽</m:t>
                            </m:r>
                            <m:r>
                              <a:rPr lang="en-US" sz="2000" b="1" i="1">
                                <a:latin typeface="Cambria Math"/>
                                <a:cs typeface="Times New Roman" pitchFamily="18" charset="0"/>
                              </a:rPr>
                              <m:t>𝟏</m:t>
                            </m:r>
                          </m:den>
                        </m:f>
                      </m:e>
                    </m:d>
                  </m:oMath>
                </a14:m>
                <a:r>
                  <a:rPr lang="en-US" sz="2000" b="1" dirty="0">
                    <a:latin typeface="Times New Roman" pitchFamily="18" charset="0"/>
                    <a:cs typeface="Times New Roman" pitchFamily="18" charset="0"/>
                  </a:rPr>
                  <a:t>= pVln</a:t>
                </a:r>
                <a:r>
                  <a:rPr lang="en-US" sz="2000" b="1" dirty="0">
                    <a:cs typeface="Times New Roman" pitchFamily="18" charset="0"/>
                  </a:rPr>
                  <a:t> </a:t>
                </a:r>
                <a14:m>
                  <m:oMath xmlns:m="http://schemas.openxmlformats.org/officeDocument/2006/math">
                    <m:d>
                      <m:dPr>
                        <m:ctrlPr>
                          <a:rPr lang="en-US" sz="2000" b="1" i="1">
                            <a:latin typeface="Cambria Math" panose="02040503050406030204" pitchFamily="18" charset="0"/>
                            <a:cs typeface="Times New Roman" pitchFamily="18" charset="0"/>
                          </a:rPr>
                        </m:ctrlPr>
                      </m:dPr>
                      <m:e>
                        <m:f>
                          <m:fPr>
                            <m:ctrlPr>
                              <a:rPr lang="en-US" sz="2000" b="1" i="1">
                                <a:latin typeface="Cambria Math" panose="02040503050406030204" pitchFamily="18" charset="0"/>
                                <a:cs typeface="Times New Roman" pitchFamily="18" charset="0"/>
                              </a:rPr>
                            </m:ctrlPr>
                          </m:fPr>
                          <m:num>
                            <m:r>
                              <a:rPr lang="en-US" sz="2000" b="1" i="1">
                                <a:latin typeface="Cambria Math"/>
                                <a:cs typeface="Times New Roman" pitchFamily="18" charset="0"/>
                              </a:rPr>
                              <m:t>𝑽</m:t>
                            </m:r>
                            <m:r>
                              <a:rPr lang="en-US" sz="2000" b="1" i="1">
                                <a:latin typeface="Cambria Math"/>
                                <a:cs typeface="Times New Roman" pitchFamily="18" charset="0"/>
                              </a:rPr>
                              <m:t>𝟐</m:t>
                            </m:r>
                          </m:num>
                          <m:den>
                            <m:r>
                              <a:rPr lang="en-US" sz="2000" b="1" i="1">
                                <a:latin typeface="Cambria Math"/>
                                <a:cs typeface="Times New Roman" pitchFamily="18" charset="0"/>
                              </a:rPr>
                              <m:t>𝑽</m:t>
                            </m:r>
                            <m:r>
                              <a:rPr lang="en-US" sz="2000" b="1" i="1">
                                <a:latin typeface="Cambria Math"/>
                                <a:cs typeface="Times New Roman" pitchFamily="18" charset="0"/>
                              </a:rPr>
                              <m:t>𝟏</m:t>
                            </m:r>
                          </m:den>
                        </m:f>
                      </m:e>
                    </m:d>
                  </m:oMath>
                </a14:m>
                <a:r>
                  <a:rPr lang="en-US" sz="2000" b="1" dirty="0">
                    <a:latin typeface="Times New Roman" pitchFamily="18" charset="0"/>
                    <a:cs typeface="Times New Roman" pitchFamily="18" charset="0"/>
                  </a:rPr>
                  <a:t>= 9,81.</a:t>
                </a:r>
                <a14:m>
                  <m:oMath xmlns:m="http://schemas.openxmlformats.org/officeDocument/2006/math">
                    <m:sSup>
                      <m:sSupPr>
                        <m:ctrlPr>
                          <a:rPr lang="en-US" sz="2000" b="1" i="1" dirty="0" smtClean="0">
                            <a:latin typeface="Cambria Math" panose="02040503050406030204" pitchFamily="18" charset="0"/>
                            <a:cs typeface="Times New Roman" pitchFamily="18" charset="0"/>
                          </a:rPr>
                        </m:ctrlPr>
                      </m:sSupPr>
                      <m:e>
                        <m:r>
                          <a:rPr lang="en-US" sz="2000" b="1" i="1" dirty="0" smtClean="0">
                            <a:latin typeface="Cambria Math"/>
                            <a:cs typeface="Times New Roman" pitchFamily="18" charset="0"/>
                          </a:rPr>
                          <m:t>𝟏𝟎</m:t>
                        </m:r>
                      </m:e>
                      <m:sup>
                        <m:r>
                          <a:rPr lang="en-US" sz="2000" b="1" i="1" dirty="0" smtClean="0">
                            <a:latin typeface="Cambria Math"/>
                            <a:cs typeface="Times New Roman" pitchFamily="18" charset="0"/>
                          </a:rPr>
                          <m:t>𝟒</m:t>
                        </m:r>
                      </m:sup>
                    </m:sSup>
                    <m:r>
                      <a:rPr lang="en-US" sz="2000" b="1" i="1" dirty="0" smtClean="0">
                        <a:latin typeface="Cambria Math"/>
                        <a:cs typeface="Times New Roman" pitchFamily="18" charset="0"/>
                      </a:rPr>
                      <m:t>.</m:t>
                    </m:r>
                    <m:r>
                      <a:rPr lang="en-US" sz="2000" b="1" i="1" dirty="0" smtClean="0">
                        <a:latin typeface="Cambria Math"/>
                        <a:cs typeface="Times New Roman" pitchFamily="18" charset="0"/>
                      </a:rPr>
                      <m:t>𝟑</m:t>
                    </m:r>
                    <m:r>
                      <a:rPr lang="en-US" sz="2000" b="1" i="1" dirty="0" smtClean="0">
                        <a:latin typeface="Cambria Math"/>
                        <a:cs typeface="Times New Roman" pitchFamily="18" charset="0"/>
                      </a:rPr>
                      <m:t>.</m:t>
                    </m:r>
                    <m:sSup>
                      <m:sSupPr>
                        <m:ctrlPr>
                          <a:rPr lang="en-US" sz="2000" b="1" i="1" dirty="0" smtClean="0">
                            <a:latin typeface="Cambria Math" panose="02040503050406030204" pitchFamily="18" charset="0"/>
                            <a:cs typeface="Times New Roman" pitchFamily="18" charset="0"/>
                          </a:rPr>
                        </m:ctrlPr>
                      </m:sSupPr>
                      <m:e>
                        <m:r>
                          <a:rPr lang="en-US" sz="2000" b="1" i="1" dirty="0" smtClean="0">
                            <a:latin typeface="Cambria Math"/>
                            <a:cs typeface="Times New Roman" pitchFamily="18" charset="0"/>
                          </a:rPr>
                          <m:t>𝟏𝟎</m:t>
                        </m:r>
                      </m:e>
                      <m:sup>
                        <m:r>
                          <a:rPr lang="en-US" sz="2000" b="1" i="1" dirty="0" smtClean="0">
                            <a:latin typeface="Cambria Math"/>
                            <a:cs typeface="Times New Roman" pitchFamily="18" charset="0"/>
                          </a:rPr>
                          <m:t>−</m:t>
                        </m:r>
                        <m:r>
                          <a:rPr lang="en-US" sz="2000" b="1" i="1" dirty="0" smtClean="0">
                            <a:latin typeface="Cambria Math"/>
                            <a:cs typeface="Times New Roman" pitchFamily="18" charset="0"/>
                          </a:rPr>
                          <m:t>𝟑</m:t>
                        </m:r>
                      </m:sup>
                    </m:sSup>
                    <m:r>
                      <a:rPr lang="en-US" sz="2000" b="1" i="1" dirty="0" smtClean="0">
                        <a:latin typeface="Cambria Math"/>
                        <a:cs typeface="Times New Roman" pitchFamily="18" charset="0"/>
                      </a:rPr>
                      <m:t>.</m:t>
                    </m:r>
                    <m:r>
                      <a:rPr lang="en-US" sz="2000" b="1" i="1" dirty="0" smtClean="0">
                        <a:latin typeface="Cambria Math"/>
                        <a:cs typeface="Times New Roman" pitchFamily="18" charset="0"/>
                      </a:rPr>
                      <m:t>𝒍𝒏</m:t>
                    </m:r>
                    <m:r>
                      <a:rPr lang="en-US" sz="2000" b="1" i="1" dirty="0" smtClean="0">
                        <a:latin typeface="Cambria Math"/>
                        <a:cs typeface="Times New Roman" pitchFamily="18" charset="0"/>
                      </a:rPr>
                      <m:t>(</m:t>
                    </m:r>
                    <m:r>
                      <a:rPr lang="en-US" sz="2000" b="1" i="1" dirty="0" smtClean="0">
                        <a:latin typeface="Cambria Math"/>
                        <a:cs typeface="Times New Roman" pitchFamily="18" charset="0"/>
                      </a:rPr>
                      <m:t>𝟏</m:t>
                    </m:r>
                    <m:r>
                      <a:rPr lang="en-US" sz="2000" b="1" i="1" dirty="0" smtClean="0">
                        <a:latin typeface="Cambria Math"/>
                        <a:cs typeface="Times New Roman" pitchFamily="18" charset="0"/>
                      </a:rPr>
                      <m:t>/</m:t>
                    </m:r>
                    <m:r>
                      <a:rPr lang="en-US" sz="2000" b="1" i="1" dirty="0" smtClean="0">
                        <a:latin typeface="Cambria Math"/>
                        <a:cs typeface="Times New Roman" pitchFamily="18" charset="0"/>
                      </a:rPr>
                      <m:t>𝟏𝟎</m:t>
                    </m:r>
                    <m:r>
                      <a:rPr lang="en-US" sz="2000" b="1" i="1" dirty="0" smtClean="0">
                        <a:latin typeface="Cambria Math"/>
                        <a:cs typeface="Times New Roman" pitchFamily="18" charset="0"/>
                      </a:rPr>
                      <m:t>)</m:t>
                    </m:r>
                  </m:oMath>
                </a14:m>
                <a:r>
                  <a:rPr lang="en-US" sz="2000" b="1" dirty="0">
                    <a:latin typeface="Times New Roman" pitchFamily="18" charset="0"/>
                    <a:cs typeface="Times New Roman" pitchFamily="18" charset="0"/>
                  </a:rPr>
                  <a:t> </a:t>
                </a:r>
              </a:p>
              <a:p>
                <a:pPr algn="ctr"/>
                <a:r>
                  <a:rPr lang="en-US" sz="2000" b="1" dirty="0" err="1">
                    <a:latin typeface="Times New Roman" pitchFamily="18" charset="0"/>
                    <a:cs typeface="Times New Roman" pitchFamily="18" charset="0"/>
                  </a:rPr>
                  <a:t>pV</a:t>
                </a:r>
                <a:r>
                  <a:rPr lang="en-US" sz="2000" b="1" dirty="0">
                    <a:latin typeface="Times New Roman" pitchFamily="18" charset="0"/>
                    <a:cs typeface="Times New Roman" pitchFamily="18" charset="0"/>
                  </a:rPr>
                  <a:t> = </a:t>
                </a:r>
                <a14:m>
                  <m:oMath xmlns:m="http://schemas.openxmlformats.org/officeDocument/2006/math">
                    <m:f>
                      <m:fPr>
                        <m:ctrlPr>
                          <a:rPr lang="en-US" sz="2000" b="1" i="1">
                            <a:latin typeface="Cambria Math" panose="02040503050406030204" pitchFamily="18" charset="0"/>
                            <a:cs typeface="Times New Roman" pitchFamily="18" charset="0"/>
                          </a:rPr>
                        </m:ctrlPr>
                      </m:fPr>
                      <m:num>
                        <m:r>
                          <a:rPr lang="en-US" sz="2000" b="1" i="1">
                            <a:latin typeface="Cambria Math"/>
                            <a:cs typeface="Times New Roman" pitchFamily="18" charset="0"/>
                          </a:rPr>
                          <m:t>𝒎</m:t>
                        </m:r>
                      </m:num>
                      <m:den>
                        <m:r>
                          <a:rPr lang="en-US" sz="2000" b="1" i="1">
                            <a:latin typeface="Cambria Math"/>
                            <a:ea typeface="Cambria Math"/>
                            <a:cs typeface="Times New Roman" pitchFamily="18" charset="0"/>
                          </a:rPr>
                          <m:t>𝝁</m:t>
                        </m:r>
                      </m:den>
                    </m:f>
                    <m:r>
                      <a:rPr lang="en-US" sz="2000" b="1" i="1">
                        <a:latin typeface="Cambria Math"/>
                        <a:cs typeface="Times New Roman" pitchFamily="18" charset="0"/>
                      </a:rPr>
                      <m:t>𝑹𝑻</m:t>
                    </m:r>
                  </m:oMath>
                </a14:m>
                <a:endParaRPr lang="en-US" sz="2000" b="1" dirty="0">
                  <a:latin typeface="Times New Roman" pitchFamily="18" charset="0"/>
                  <a:cs typeface="Times New Roman" pitchFamily="18" charset="0"/>
                </a:endParaRPr>
              </a:p>
              <a:p>
                <a:pPr algn="ctr"/>
                <a:endParaRPr lang="en-US" sz="2000" b="1" dirty="0">
                  <a:latin typeface="Times New Roman" pitchFamily="18" charset="0"/>
                  <a:cs typeface="Times New Roman" pitchFamily="18" charset="0"/>
                </a:endParaRPr>
              </a:p>
              <a:p>
                <a:pPr algn="ctr"/>
                <a:endParaRPr lang="en-US" sz="2000" b="1" dirty="0">
                  <a:latin typeface="Times New Roman" pitchFamily="18" charset="0"/>
                  <a:cs typeface="Times New Roman" pitchFamily="18" charset="0"/>
                </a:endParaRPr>
              </a:p>
            </p:txBody>
          </p:sp>
        </mc:Choice>
        <mc:Fallback xmlns="">
          <p:sp>
            <p:nvSpPr>
              <p:cNvPr id="2" name="Oval Callout 1"/>
              <p:cNvSpPr>
                <a:spLocks noRot="1" noChangeAspect="1" noMove="1" noResize="1" noEditPoints="1" noAdjustHandles="1" noChangeArrowheads="1" noChangeShapeType="1" noTextEdit="1"/>
              </p:cNvSpPr>
              <p:nvPr/>
            </p:nvSpPr>
            <p:spPr>
              <a:xfrm>
                <a:off x="685800" y="3352800"/>
                <a:ext cx="8001000" cy="2819400"/>
              </a:xfrm>
              <a:prstGeom prst="wedgeEllipseCallout">
                <a:avLst>
                  <a:gd name="adj1" fmla="val -26894"/>
                  <a:gd name="adj2" fmla="val -132305"/>
                </a:avLst>
              </a:prstGeom>
              <a:blipFill rotWithShape="1">
                <a:blip r:embed="rId3"/>
                <a:stretch>
                  <a:fillRect/>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8ED306C5-FEEB-686C-70CE-1F7461E5F425}"/>
              </a:ext>
            </a:extLst>
          </p:cNvPr>
          <p:cNvSpPr>
            <a:spLocks noGrp="1"/>
          </p:cNvSpPr>
          <p:nvPr>
            <p:ph type="ftr" sz="quarter" idx="11"/>
          </p:nvPr>
        </p:nvSpPr>
        <p:spPr/>
        <p:txBody>
          <a:bodyPr/>
          <a:lstStyle/>
          <a:p>
            <a:pPr>
              <a:defRPr/>
            </a:pPr>
            <a:r>
              <a:rPr lang="en-US"/>
              <a:t>Bùi Quốc Trung - VLDC</a:t>
            </a:r>
          </a:p>
        </p:txBody>
      </p:sp>
      <p:sp>
        <p:nvSpPr>
          <p:cNvPr id="5" name="Slide Number Placeholder 4">
            <a:extLst>
              <a:ext uri="{FF2B5EF4-FFF2-40B4-BE49-F238E27FC236}">
                <a16:creationId xmlns:a16="http://schemas.microsoft.com/office/drawing/2014/main" id="{EDB9D45B-3931-3D1C-34ED-7A6917EAF8A4}"/>
              </a:ext>
            </a:extLst>
          </p:cNvPr>
          <p:cNvSpPr>
            <a:spLocks noGrp="1"/>
          </p:cNvSpPr>
          <p:nvPr>
            <p:ph type="sldNum" sz="quarter" idx="12"/>
          </p:nvPr>
        </p:nvSpPr>
        <p:spPr/>
        <p:txBody>
          <a:bodyPr/>
          <a:lstStyle/>
          <a:p>
            <a:pPr>
              <a:defRPr/>
            </a:pPr>
            <a:fld id="{003F8D5A-645D-495A-9DEA-99BB03E4A967}" type="slidenum">
              <a:rPr lang="en-US" smtClean="0"/>
              <a:pPr>
                <a:defRPr/>
              </a:pPr>
              <a:t>46</a:t>
            </a:fld>
            <a:endParaRPr lang="en-US"/>
          </a:p>
        </p:txBody>
      </p:sp>
    </p:spTree>
    <p:extLst>
      <p:ext uri="{BB962C8B-B14F-4D97-AF65-F5344CB8AC3E}">
        <p14:creationId xmlns:p14="http://schemas.microsoft.com/office/powerpoint/2010/main" val="998271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endParaRPr lang="en-US"/>
          </a:p>
        </p:txBody>
      </p:sp>
      <p:sp>
        <p:nvSpPr>
          <p:cNvPr id="3" name="Footer Placeholder 2"/>
          <p:cNvSpPr>
            <a:spLocks noGrp="1"/>
          </p:cNvSpPr>
          <p:nvPr>
            <p:ph type="ftr" sz="quarter" idx="11"/>
          </p:nvPr>
        </p:nvSpPr>
        <p:spPr/>
        <p:txBody>
          <a:bodyPr/>
          <a:lstStyle/>
          <a:p>
            <a:pPr>
              <a:defRPr/>
            </a:pPr>
            <a:r>
              <a:rPr lang="en-US"/>
              <a:t>Bùi Quốc Trung - VLDC</a:t>
            </a:r>
          </a:p>
        </p:txBody>
      </p:sp>
      <p:sp>
        <p:nvSpPr>
          <p:cNvPr id="4" name="Slide Number Placeholder 3"/>
          <p:cNvSpPr>
            <a:spLocks noGrp="1"/>
          </p:cNvSpPr>
          <p:nvPr>
            <p:ph type="sldNum" sz="quarter" idx="12"/>
          </p:nvPr>
        </p:nvSpPr>
        <p:spPr/>
        <p:txBody>
          <a:bodyPr/>
          <a:lstStyle/>
          <a:p>
            <a:pPr>
              <a:defRPr/>
            </a:pPr>
            <a:fld id="{003F8D5A-645D-495A-9DEA-99BB03E4A967}" type="slidenum">
              <a:rPr lang="en-US" smtClean="0"/>
              <a:pPr>
                <a:defRPr/>
              </a:pPr>
              <a:t>47</a:t>
            </a:fld>
            <a:endParaRPr lang="en-US"/>
          </a:p>
        </p:txBody>
      </p:sp>
    </p:spTree>
    <p:extLst>
      <p:ext uri="{BB962C8B-B14F-4D97-AF65-F5344CB8AC3E}">
        <p14:creationId xmlns:p14="http://schemas.microsoft.com/office/powerpoint/2010/main" val="41060713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pPr marL="0" indent="0">
              <a:buNone/>
            </a:pPr>
            <a:r>
              <a:rPr lang="pt-BR" dirty="0"/>
              <a:t>Có 10g khí H</a:t>
            </a:r>
            <a:r>
              <a:rPr lang="pt-BR" baseline="-25000" dirty="0"/>
              <a:t>2</a:t>
            </a:r>
            <a:r>
              <a:rPr lang="pt-BR" dirty="0"/>
              <a:t> ở nhiệt độ 200K, được nung nóng đẳng áp đển thể tích gấp đôi. Nhiệt lượng  đã truyền cho khối khí là</a:t>
            </a:r>
            <a:endParaRPr lang="en-US" dirty="0"/>
          </a:p>
          <a:p>
            <a:r>
              <a:rPr lang="pt-BR" dirty="0"/>
              <a:t>A.	12,465 kJ</a:t>
            </a:r>
            <a:endParaRPr lang="en-US" dirty="0"/>
          </a:p>
          <a:p>
            <a:r>
              <a:rPr lang="pt-BR" dirty="0"/>
              <a:t>B.	58,170 kJ</a:t>
            </a:r>
            <a:endParaRPr lang="en-US" dirty="0"/>
          </a:p>
          <a:p>
            <a:r>
              <a:rPr lang="pt-BR" dirty="0"/>
              <a:t>C.	29,085 kJ</a:t>
            </a:r>
            <a:endParaRPr lang="en-US" dirty="0"/>
          </a:p>
          <a:p>
            <a:r>
              <a:rPr lang="pt-BR" dirty="0"/>
              <a:t>D.	20,775 kJ</a:t>
            </a:r>
            <a:endParaRPr lang="en-US" dirty="0"/>
          </a:p>
          <a:p>
            <a:endParaRPr lang="en-US" dirty="0"/>
          </a:p>
        </p:txBody>
      </p:sp>
      <mc:AlternateContent xmlns:mc="http://schemas.openxmlformats.org/markup-compatibility/2006" xmlns:a14="http://schemas.microsoft.com/office/drawing/2010/main">
        <mc:Choice Requires="a14">
          <p:sp>
            <p:nvSpPr>
              <p:cNvPr id="3" name="Notes Placeholder 4"/>
              <p:cNvSpPr txBox="1">
                <a:spLocks/>
              </p:cNvSpPr>
              <p:nvPr/>
            </p:nvSpPr>
            <p:spPr>
              <a:xfrm>
                <a:off x="3200400" y="2514600"/>
                <a:ext cx="5486400" cy="251460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14:m>
                  <m:oMath xmlns:m="http://schemas.openxmlformats.org/officeDocument/2006/math">
                    <m:f>
                      <m:fPr>
                        <m:ctrlPr>
                          <a:rPr lang="en-US" i="1" smtClean="0">
                            <a:latin typeface="Cambria Math" panose="02040503050406030204" pitchFamily="18" charset="0"/>
                          </a:rPr>
                        </m:ctrlPr>
                      </m:fPr>
                      <m:num>
                        <m:r>
                          <a:rPr lang="en-US" i="1">
                            <a:latin typeface="Cambria Math"/>
                          </a:rPr>
                          <m:t>𝑉</m:t>
                        </m:r>
                        <m:r>
                          <a:rPr lang="en-US" i="1">
                            <a:latin typeface="Cambria Math"/>
                          </a:rPr>
                          <m:t>1</m:t>
                        </m:r>
                      </m:num>
                      <m:den>
                        <m:r>
                          <a:rPr lang="en-US" i="1">
                            <a:latin typeface="Cambria Math"/>
                          </a:rPr>
                          <m:t>𝑇</m:t>
                        </m:r>
                        <m:r>
                          <a:rPr lang="en-US" i="1">
                            <a:latin typeface="Cambria Math"/>
                          </a:rPr>
                          <m:t>1</m:t>
                        </m:r>
                      </m:den>
                    </m:f>
                  </m:oMath>
                </a14:m>
                <a:r>
                  <a:rPr lang="en-US" dirty="0"/>
                  <a:t> = </a:t>
                </a:r>
                <a14:m>
                  <m:oMath xmlns:m="http://schemas.openxmlformats.org/officeDocument/2006/math">
                    <m:f>
                      <m:fPr>
                        <m:ctrlPr>
                          <a:rPr lang="en-US" i="1">
                            <a:latin typeface="Cambria Math" panose="02040503050406030204" pitchFamily="18" charset="0"/>
                          </a:rPr>
                        </m:ctrlPr>
                      </m:fPr>
                      <m:num>
                        <m:r>
                          <a:rPr lang="en-US" i="1">
                            <a:latin typeface="Cambria Math"/>
                          </a:rPr>
                          <m:t>𝑉</m:t>
                        </m:r>
                        <m:r>
                          <a:rPr lang="en-US" i="1">
                            <a:latin typeface="Cambria Math"/>
                          </a:rPr>
                          <m:t>2</m:t>
                        </m:r>
                      </m:num>
                      <m:den>
                        <m:r>
                          <a:rPr lang="en-US" i="1">
                            <a:latin typeface="Cambria Math"/>
                          </a:rPr>
                          <m:t>𝑇</m:t>
                        </m:r>
                        <m:r>
                          <a:rPr lang="en-US" i="1">
                            <a:latin typeface="Cambria Math"/>
                          </a:rPr>
                          <m:t>2</m:t>
                        </m:r>
                      </m:den>
                    </m:f>
                    <m:r>
                      <a:rPr lang="en-US">
                        <a:latin typeface="Cambria Math"/>
                      </a:rPr>
                      <m:t> </m:t>
                    </m:r>
                    <m:r>
                      <a:rPr lang="en-US" i="1">
                        <a:latin typeface="Cambria Math"/>
                        <a:ea typeface="Cambria Math"/>
                      </a:rPr>
                      <m:t>→</m:t>
                    </m:r>
                    <m:r>
                      <a:rPr lang="en-US">
                        <a:latin typeface="Cambria Math"/>
                      </a:rPr>
                      <m:t> </m:t>
                    </m:r>
                    <m:r>
                      <a:rPr lang="en-US" i="1">
                        <a:latin typeface="Cambria Math"/>
                      </a:rPr>
                      <m:t>  </m:t>
                    </m:r>
                    <m:f>
                      <m:fPr>
                        <m:ctrlPr>
                          <a:rPr lang="en-US" i="1">
                            <a:latin typeface="Cambria Math" panose="02040503050406030204" pitchFamily="18" charset="0"/>
                          </a:rPr>
                        </m:ctrlPr>
                      </m:fPr>
                      <m:num>
                        <m:r>
                          <a:rPr lang="en-US" i="1">
                            <a:latin typeface="Cambria Math"/>
                          </a:rPr>
                          <m:t>𝑇</m:t>
                        </m:r>
                        <m:r>
                          <a:rPr lang="en-US" i="1">
                            <a:latin typeface="Cambria Math"/>
                          </a:rPr>
                          <m:t>2</m:t>
                        </m:r>
                      </m:num>
                      <m:den>
                        <m:r>
                          <a:rPr lang="en-US" i="1">
                            <a:latin typeface="Cambria Math"/>
                          </a:rPr>
                          <m:t>𝑇</m:t>
                        </m:r>
                        <m:r>
                          <a:rPr lang="en-US" i="1">
                            <a:latin typeface="Cambria Math"/>
                          </a:rPr>
                          <m:t>1</m:t>
                        </m:r>
                      </m:den>
                    </m:f>
                  </m:oMath>
                </a14:m>
                <a:r>
                  <a:rPr lang="en-US" dirty="0"/>
                  <a:t> = </a:t>
                </a:r>
                <a14:m>
                  <m:oMath xmlns:m="http://schemas.openxmlformats.org/officeDocument/2006/math">
                    <m:f>
                      <m:fPr>
                        <m:ctrlPr>
                          <a:rPr lang="en-US" i="1">
                            <a:latin typeface="Cambria Math" panose="02040503050406030204" pitchFamily="18" charset="0"/>
                          </a:rPr>
                        </m:ctrlPr>
                      </m:fPr>
                      <m:num>
                        <m:r>
                          <a:rPr lang="en-US" i="1">
                            <a:latin typeface="Cambria Math"/>
                          </a:rPr>
                          <m:t>𝑉</m:t>
                        </m:r>
                        <m:r>
                          <a:rPr lang="en-US" i="1">
                            <a:latin typeface="Cambria Math"/>
                          </a:rPr>
                          <m:t>2</m:t>
                        </m:r>
                      </m:num>
                      <m:den>
                        <m:r>
                          <a:rPr lang="en-US" i="1">
                            <a:latin typeface="Cambria Math"/>
                          </a:rPr>
                          <m:t>𝑉</m:t>
                        </m:r>
                        <m:r>
                          <a:rPr lang="en-US" i="1">
                            <a:latin typeface="Cambria Math"/>
                          </a:rPr>
                          <m:t>1</m:t>
                        </m:r>
                      </m:den>
                    </m:f>
                  </m:oMath>
                </a14:m>
                <a:r>
                  <a:rPr lang="en-US" dirty="0"/>
                  <a:t> = 2</a:t>
                </a:r>
              </a:p>
              <a:p>
                <a:pPr algn="ctr"/>
                <a:endParaRPr lang="en-US" dirty="0"/>
              </a:p>
              <a:p>
                <a:pPr algn="ctr"/>
                <a:r>
                  <a:rPr lang="en-US" dirty="0"/>
                  <a:t>Q = </a:t>
                </a:r>
                <a14:m>
                  <m:oMath xmlns:m="http://schemas.openxmlformats.org/officeDocument/2006/math">
                    <m:r>
                      <a:rPr lang="en-US" i="1">
                        <a:latin typeface="Cambria Math"/>
                        <a:ea typeface="Cambria Math"/>
                      </a:rPr>
                      <m:t>∆</m:t>
                    </m:r>
                    <m:r>
                      <a:rPr lang="en-US" i="1">
                        <a:latin typeface="Cambria Math"/>
                        <a:ea typeface="Cambria Math"/>
                      </a:rPr>
                      <m:t>𝑈</m:t>
                    </m:r>
                    <m:r>
                      <a:rPr lang="en-US" i="1">
                        <a:latin typeface="Cambria Math"/>
                        <a:ea typeface="Cambria Math"/>
                      </a:rPr>
                      <m:t> −</m:t>
                    </m:r>
                    <m:r>
                      <a:rPr lang="en-US" i="1">
                        <a:latin typeface="Cambria Math"/>
                        <a:ea typeface="Cambria Math"/>
                      </a:rPr>
                      <m:t>𝐴</m:t>
                    </m:r>
                    <m:r>
                      <a:rPr lang="en-US" i="1">
                        <a:latin typeface="Cambria Math"/>
                        <a:ea typeface="Cambria Math"/>
                      </a:rPr>
                      <m:t>= </m:t>
                    </m:r>
                    <m:f>
                      <m:fPr>
                        <m:ctrlPr>
                          <a:rPr lang="en-US" i="1">
                            <a:latin typeface="Cambria Math" panose="02040503050406030204" pitchFamily="18" charset="0"/>
                            <a:ea typeface="Cambria Math"/>
                          </a:rPr>
                        </m:ctrlPr>
                      </m:fPr>
                      <m:num>
                        <m:r>
                          <a:rPr lang="en-US" i="1">
                            <a:latin typeface="Cambria Math"/>
                            <a:ea typeface="Cambria Math"/>
                          </a:rPr>
                          <m:t>𝑚</m:t>
                        </m:r>
                      </m:num>
                      <m:den>
                        <m:r>
                          <a:rPr lang="en-US" i="1">
                            <a:latin typeface="Cambria Math"/>
                            <a:ea typeface="Cambria Math"/>
                          </a:rPr>
                          <m:t>𝜇</m:t>
                        </m:r>
                      </m:den>
                    </m:f>
                  </m:oMath>
                </a14:m>
                <a:r>
                  <a:rPr lang="en-US" dirty="0"/>
                  <a:t> (</a:t>
                </a:r>
                <a14:m>
                  <m:oMath xmlns:m="http://schemas.openxmlformats.org/officeDocument/2006/math">
                    <m:f>
                      <m:fPr>
                        <m:ctrlPr>
                          <a:rPr lang="en-US" i="1">
                            <a:latin typeface="Cambria Math" panose="02040503050406030204" pitchFamily="18" charset="0"/>
                          </a:rPr>
                        </m:ctrlPr>
                      </m:fPr>
                      <m:num>
                        <m:r>
                          <a:rPr lang="en-US" i="1">
                            <a:latin typeface="Cambria Math"/>
                          </a:rPr>
                          <m:t>𝑖</m:t>
                        </m:r>
                      </m:num>
                      <m:den>
                        <m:r>
                          <a:rPr lang="en-US" i="1">
                            <a:latin typeface="Cambria Math"/>
                          </a:rPr>
                          <m:t>2</m:t>
                        </m:r>
                      </m:den>
                    </m:f>
                    <m:r>
                      <a:rPr lang="en-US" i="1">
                        <a:latin typeface="Cambria Math"/>
                      </a:rPr>
                      <m:t>+1</m:t>
                    </m:r>
                  </m:oMath>
                </a14:m>
                <a:r>
                  <a:rPr lang="en-US" dirty="0"/>
                  <a:t>)R.</a:t>
                </a:r>
                <a14:m>
                  <m:oMath xmlns:m="http://schemas.openxmlformats.org/officeDocument/2006/math">
                    <m:r>
                      <a:rPr lang="en-US" i="1">
                        <a:latin typeface="Cambria Math"/>
                        <a:ea typeface="Cambria Math"/>
                      </a:rPr>
                      <m:t>∆</m:t>
                    </m:r>
                    <m:r>
                      <a:rPr lang="en-US" i="1">
                        <a:latin typeface="Cambria Math"/>
                        <a:ea typeface="Cambria Math"/>
                      </a:rPr>
                      <m:t>𝑇</m:t>
                    </m:r>
                  </m:oMath>
                </a14:m>
                <a:endParaRPr lang="en-US" dirty="0"/>
              </a:p>
            </p:txBody>
          </p:sp>
        </mc:Choice>
        <mc:Fallback xmlns="">
          <p:sp>
            <p:nvSpPr>
              <p:cNvPr id="3" name="Notes Placeholder 4"/>
              <p:cNvSpPr txBox="1">
                <a:spLocks noRot="1" noChangeAspect="1" noMove="1" noResize="1" noEditPoints="1" noAdjustHandles="1" noChangeArrowheads="1" noChangeShapeType="1" noTextEdit="1"/>
              </p:cNvSpPr>
              <p:nvPr/>
            </p:nvSpPr>
            <p:spPr>
              <a:xfrm>
                <a:off x="3200400" y="2514600"/>
                <a:ext cx="5486400" cy="2514600"/>
              </a:xfrm>
              <a:prstGeom prst="rect">
                <a:avLst/>
              </a:prstGeom>
              <a:blipFill rotWithShape="1">
                <a:blip r:embed="rId3"/>
                <a:stretch>
                  <a:fillRect/>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B52200AA-D1C9-8302-C2BD-289C86236D5B}"/>
              </a:ext>
            </a:extLst>
          </p:cNvPr>
          <p:cNvSpPr>
            <a:spLocks noGrp="1"/>
          </p:cNvSpPr>
          <p:nvPr>
            <p:ph type="ftr" sz="quarter" idx="11"/>
          </p:nvPr>
        </p:nvSpPr>
        <p:spPr/>
        <p:txBody>
          <a:bodyPr/>
          <a:lstStyle/>
          <a:p>
            <a:pPr>
              <a:defRPr/>
            </a:pPr>
            <a:r>
              <a:rPr lang="en-US"/>
              <a:t>Bùi Quốc Trung - VLDC</a:t>
            </a:r>
          </a:p>
        </p:txBody>
      </p:sp>
      <p:sp>
        <p:nvSpPr>
          <p:cNvPr id="5" name="Slide Number Placeholder 4">
            <a:extLst>
              <a:ext uri="{FF2B5EF4-FFF2-40B4-BE49-F238E27FC236}">
                <a16:creationId xmlns:a16="http://schemas.microsoft.com/office/drawing/2014/main" id="{EFCEB327-1DE0-E081-1AC5-09B547CCEE39}"/>
              </a:ext>
            </a:extLst>
          </p:cNvPr>
          <p:cNvSpPr>
            <a:spLocks noGrp="1"/>
          </p:cNvSpPr>
          <p:nvPr>
            <p:ph type="sldNum" sz="quarter" idx="12"/>
          </p:nvPr>
        </p:nvSpPr>
        <p:spPr/>
        <p:txBody>
          <a:bodyPr/>
          <a:lstStyle/>
          <a:p>
            <a:pPr>
              <a:defRPr/>
            </a:pPr>
            <a:fld id="{003F8D5A-645D-495A-9DEA-99BB03E4A967}" type="slidenum">
              <a:rPr lang="en-US" smtClean="0"/>
              <a:pPr>
                <a:defRPr/>
              </a:pPr>
              <a:t>48</a:t>
            </a:fld>
            <a:endParaRPr lang="en-US"/>
          </a:p>
        </p:txBody>
      </p:sp>
    </p:spTree>
    <p:extLst>
      <p:ext uri="{BB962C8B-B14F-4D97-AF65-F5344CB8AC3E}">
        <p14:creationId xmlns:p14="http://schemas.microsoft.com/office/powerpoint/2010/main" val="857446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2">
                                            <p:txEl>
                                              <p:pRg st="3" end="3"/>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pPr marL="0" indent="0">
              <a:buNone/>
            </a:pPr>
            <a:r>
              <a:rPr lang="pt-BR" dirty="0"/>
              <a:t>Một mol khí Oxy (coi là khí lí tưởng) biến đổi đẳng nhiệt ở nhiệt độ 37</a:t>
            </a:r>
            <a:r>
              <a:rPr lang="pt-BR" baseline="30000" dirty="0"/>
              <a:t>0</a:t>
            </a:r>
            <a:r>
              <a:rPr lang="pt-BR" dirty="0"/>
              <a:t> C từ thể tích V</a:t>
            </a:r>
            <a:r>
              <a:rPr lang="pt-BR" baseline="-25000" dirty="0"/>
              <a:t>1</a:t>
            </a:r>
            <a:r>
              <a:rPr lang="pt-BR" dirty="0"/>
              <a:t> = 12 lít đến V</a:t>
            </a:r>
            <a:r>
              <a:rPr lang="pt-BR" baseline="-25000" dirty="0"/>
              <a:t>2</a:t>
            </a:r>
            <a:r>
              <a:rPr lang="pt-BR" dirty="0"/>
              <a:t> = 19lít. Công của khí sinh ra trong quá trình đó có giá trị bằng </a:t>
            </a:r>
            <a:endParaRPr lang="en-US" dirty="0"/>
          </a:p>
          <a:p>
            <a:r>
              <a:rPr lang="pt-BR" dirty="0"/>
              <a:t>A. 	1184 J </a:t>
            </a:r>
            <a:endParaRPr lang="en-US" dirty="0"/>
          </a:p>
          <a:p>
            <a:r>
              <a:rPr lang="pt-BR" dirty="0"/>
              <a:t>B. 	138 J </a:t>
            </a:r>
            <a:endParaRPr lang="en-US" dirty="0"/>
          </a:p>
          <a:p>
            <a:r>
              <a:rPr lang="pt-BR" dirty="0"/>
              <a:t>C. 	-1184 J </a:t>
            </a:r>
            <a:endParaRPr lang="en-US" dirty="0"/>
          </a:p>
          <a:p>
            <a:r>
              <a:rPr lang="pt-BR" dirty="0"/>
              <a:t>D. 	-138 J</a:t>
            </a:r>
            <a:endParaRPr lang="en-US" dirty="0"/>
          </a:p>
          <a:p>
            <a:endParaRPr lang="en-US" dirty="0"/>
          </a:p>
        </p:txBody>
      </p:sp>
      <p:graphicFrame>
        <p:nvGraphicFramePr>
          <p:cNvPr id="3" name="Object 2"/>
          <p:cNvGraphicFramePr>
            <a:graphicFrameLocks noChangeAspect="1"/>
          </p:cNvGraphicFramePr>
          <p:nvPr>
            <p:extLst>
              <p:ext uri="{D42A27DB-BD31-4B8C-83A1-F6EECF244321}">
                <p14:modId xmlns:p14="http://schemas.microsoft.com/office/powerpoint/2010/main" val="3177054311"/>
              </p:ext>
            </p:extLst>
          </p:nvPr>
        </p:nvGraphicFramePr>
        <p:xfrm>
          <a:off x="5181600" y="3048000"/>
          <a:ext cx="1447800" cy="869950"/>
        </p:xfrm>
        <a:graphic>
          <a:graphicData uri="http://schemas.openxmlformats.org/presentationml/2006/ole">
            <mc:AlternateContent xmlns:mc="http://schemas.openxmlformats.org/markup-compatibility/2006">
              <mc:Choice xmlns:v="urn:schemas-microsoft-com:vml" Requires="v">
                <p:oleObj name="Equation" r:id="rId2" imgW="723586" imgH="431613" progId="Equation.DSMT4">
                  <p:embed/>
                </p:oleObj>
              </mc:Choice>
              <mc:Fallback>
                <p:oleObj name="Equation" r:id="rId2" imgW="723586" imgH="431613" progId="Equation.DSMT4">
                  <p:embed/>
                  <p:pic>
                    <p:nvPicPr>
                      <p:cNvPr id="0"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3048000"/>
                        <a:ext cx="144780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Footer Placeholder 3">
            <a:extLst>
              <a:ext uri="{FF2B5EF4-FFF2-40B4-BE49-F238E27FC236}">
                <a16:creationId xmlns:a16="http://schemas.microsoft.com/office/drawing/2014/main" id="{214A93EC-7361-977A-2DBA-4ED34A140886}"/>
              </a:ext>
            </a:extLst>
          </p:cNvPr>
          <p:cNvSpPr>
            <a:spLocks noGrp="1"/>
          </p:cNvSpPr>
          <p:nvPr>
            <p:ph type="ftr" sz="quarter" idx="11"/>
          </p:nvPr>
        </p:nvSpPr>
        <p:spPr/>
        <p:txBody>
          <a:bodyPr/>
          <a:lstStyle/>
          <a:p>
            <a:pPr>
              <a:defRPr/>
            </a:pPr>
            <a:r>
              <a:rPr lang="en-US"/>
              <a:t>Bùi Quốc Trung - VLDC</a:t>
            </a:r>
          </a:p>
        </p:txBody>
      </p:sp>
      <p:sp>
        <p:nvSpPr>
          <p:cNvPr id="5" name="Slide Number Placeholder 4">
            <a:extLst>
              <a:ext uri="{FF2B5EF4-FFF2-40B4-BE49-F238E27FC236}">
                <a16:creationId xmlns:a16="http://schemas.microsoft.com/office/drawing/2014/main" id="{0DF5BF13-27DE-26FF-EE6B-54E86BE01D9A}"/>
              </a:ext>
            </a:extLst>
          </p:cNvPr>
          <p:cNvSpPr>
            <a:spLocks noGrp="1"/>
          </p:cNvSpPr>
          <p:nvPr>
            <p:ph type="sldNum" sz="quarter" idx="12"/>
          </p:nvPr>
        </p:nvSpPr>
        <p:spPr/>
        <p:txBody>
          <a:bodyPr/>
          <a:lstStyle/>
          <a:p>
            <a:pPr>
              <a:defRPr/>
            </a:pPr>
            <a:fld id="{003F8D5A-645D-495A-9DEA-99BB03E4A967}" type="slidenum">
              <a:rPr lang="en-US" smtClean="0"/>
              <a:pPr>
                <a:defRPr/>
              </a:pPr>
              <a:t>49</a:t>
            </a:fld>
            <a:endParaRPr lang="en-US"/>
          </a:p>
        </p:txBody>
      </p:sp>
    </p:spTree>
    <p:extLst>
      <p:ext uri="{BB962C8B-B14F-4D97-AF65-F5344CB8AC3E}">
        <p14:creationId xmlns:p14="http://schemas.microsoft.com/office/powerpoint/2010/main" val="3791671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mph" presetSubtype="0" fill="hold" nodeType="clickEffect">
                                  <p:stCondLst>
                                    <p:cond delay="0"/>
                                  </p:stCondLst>
                                  <p:iterate type="lt">
                                    <p:tmPct val="4000"/>
                                  </p:iterate>
                                  <p:childTnLst>
                                    <p:set>
                                      <p:cBhvr override="childStyle">
                                        <p:cTn id="11" dur="500" fill="hold"/>
                                        <p:tgtEl>
                                          <p:spTgt spid="2">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381000" y="402771"/>
            <a:ext cx="8305800" cy="1371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4000" b="1" i="1">
                <a:solidFill>
                  <a:srgbClr val="FF0000"/>
                </a:solidFill>
                <a:effectLst>
                  <a:outerShdw blurRad="60007" dist="310007" dir="7680000" sy="30000" kx="1300200" algn="ctr" rotWithShape="0">
                    <a:prstClr val="black">
                      <a:alpha val="32000"/>
                    </a:prstClr>
                  </a:outerShdw>
                </a:effectLst>
                <a:latin typeface="Times New Roman" pitchFamily="18" charset="0"/>
                <a:cs typeface="Times New Roman" pitchFamily="18" charset="0"/>
              </a:rPr>
              <a:t>NGUYÊN LÝ II</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999" y="1798320"/>
            <a:ext cx="2599139" cy="384048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8200" y="1381789"/>
            <a:ext cx="3619500" cy="2312822"/>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81400" y="3962400"/>
            <a:ext cx="4038600" cy="2717641"/>
          </a:xfrm>
          <a:prstGeom prst="ellipse">
            <a:avLst/>
          </a:prstGeom>
          <a:ln>
            <a:noFill/>
          </a:ln>
          <a:effectLst>
            <a:softEdge rad="112500"/>
          </a:effectLst>
        </p:spPr>
      </p:pic>
      <p:sp>
        <p:nvSpPr>
          <p:cNvPr id="2" name="Footer Placeholder 1">
            <a:extLst>
              <a:ext uri="{FF2B5EF4-FFF2-40B4-BE49-F238E27FC236}">
                <a16:creationId xmlns:a16="http://schemas.microsoft.com/office/drawing/2014/main" id="{8F14530F-EE91-C506-1BD5-5294C47D5A81}"/>
              </a:ext>
            </a:extLst>
          </p:cNvPr>
          <p:cNvSpPr>
            <a:spLocks noGrp="1"/>
          </p:cNvSpPr>
          <p:nvPr>
            <p:ph type="ftr" sz="quarter" idx="11"/>
          </p:nvPr>
        </p:nvSpPr>
        <p:spPr/>
        <p:txBody>
          <a:bodyPr/>
          <a:lstStyle/>
          <a:p>
            <a:pPr>
              <a:defRPr/>
            </a:pPr>
            <a:r>
              <a:rPr lang="en-US"/>
              <a:t>Bùi Quốc Trung - VLDC</a:t>
            </a:r>
          </a:p>
        </p:txBody>
      </p:sp>
      <p:sp>
        <p:nvSpPr>
          <p:cNvPr id="7" name="Slide Number Placeholder 6">
            <a:extLst>
              <a:ext uri="{FF2B5EF4-FFF2-40B4-BE49-F238E27FC236}">
                <a16:creationId xmlns:a16="http://schemas.microsoft.com/office/drawing/2014/main" id="{9A4757CF-BFCA-C8E3-4044-D3FDD7D2C945}"/>
              </a:ext>
            </a:extLst>
          </p:cNvPr>
          <p:cNvSpPr>
            <a:spLocks noGrp="1"/>
          </p:cNvSpPr>
          <p:nvPr>
            <p:ph type="sldNum" sz="quarter" idx="12"/>
          </p:nvPr>
        </p:nvSpPr>
        <p:spPr/>
        <p:txBody>
          <a:bodyPr/>
          <a:lstStyle/>
          <a:p>
            <a:pPr>
              <a:defRPr/>
            </a:pPr>
            <a:fld id="{003F8D5A-645D-495A-9DEA-99BB03E4A967}" type="slidenum">
              <a:rPr lang="en-US" smtClean="0"/>
              <a:pPr>
                <a:defRPr/>
              </a:pPr>
              <a:t>50</a:t>
            </a:fld>
            <a:endParaRPr lang="en-US"/>
          </a:p>
        </p:txBody>
      </p:sp>
    </p:spTree>
    <p:extLst>
      <p:ext uri="{BB962C8B-B14F-4D97-AF65-F5344CB8AC3E}">
        <p14:creationId xmlns:p14="http://schemas.microsoft.com/office/powerpoint/2010/main" val="32015043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18"/>
          <p:cNvGrpSpPr>
            <a:grpSpLocks/>
          </p:cNvGrpSpPr>
          <p:nvPr/>
        </p:nvGrpSpPr>
        <p:grpSpPr bwMode="auto">
          <a:xfrm>
            <a:off x="762000" y="0"/>
            <a:ext cx="7543800" cy="889000"/>
            <a:chOff x="1310" y="1392"/>
            <a:chExt cx="5421" cy="560"/>
          </a:xfrm>
        </p:grpSpPr>
        <p:pic>
          <p:nvPicPr>
            <p:cNvPr id="10"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5421"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14"/>
            <p:cNvSpPr txBox="1">
              <a:spLocks noChangeArrowheads="1"/>
            </p:cNvSpPr>
            <p:nvPr/>
          </p:nvSpPr>
          <p:spPr bwMode="auto">
            <a:xfrm>
              <a:off x="2138" y="1510"/>
              <a:ext cx="3871"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wrap="none">
              <a:spAutoFit/>
            </a:bodyPr>
            <a:lstStyle/>
            <a:p>
              <a:pPr algn="ctr" fontAlgn="auto">
                <a:spcBef>
                  <a:spcPts val="2400"/>
                </a:spcBef>
                <a:spcAft>
                  <a:spcPts val="0"/>
                </a:spcAft>
                <a:defRPr/>
              </a:pPr>
              <a:r>
                <a:rPr lang="en-US" sz="2400" b="1" i="1" dirty="0">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6.3</a:t>
              </a:r>
              <a:r>
                <a:rPr lang="en-US" sz="2400" b="1" dirty="0">
                  <a:solidFill>
                    <a:schemeClr val="dk1"/>
                  </a:solidFill>
                  <a:latin typeface="+mn-lt"/>
                  <a:cs typeface="+mn-cs"/>
                </a:rPr>
                <a:t> </a:t>
              </a:r>
              <a:r>
                <a:rPr lang="en-US" sz="2400" b="1" dirty="0" err="1">
                  <a:solidFill>
                    <a:srgbClr val="FF0000"/>
                  </a:solidFill>
                  <a:latin typeface="Times New Roman" pitchFamily="18" charset="0"/>
                  <a:cs typeface="Times New Roman" pitchFamily="18" charset="0"/>
                </a:rPr>
                <a:t>Nguyên</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lý</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thứ</a:t>
              </a:r>
              <a:r>
                <a:rPr lang="en-US" sz="2400" b="1" dirty="0">
                  <a:solidFill>
                    <a:srgbClr val="FF0000"/>
                  </a:solidFill>
                  <a:latin typeface="Times New Roman" pitchFamily="18" charset="0"/>
                  <a:cs typeface="Times New Roman" pitchFamily="18" charset="0"/>
                </a:rPr>
                <a:t> II </a:t>
              </a:r>
              <a:r>
                <a:rPr lang="en-US" sz="2400" b="1" dirty="0" err="1">
                  <a:solidFill>
                    <a:srgbClr val="FF0000"/>
                  </a:solidFill>
                  <a:latin typeface="Times New Roman" pitchFamily="18" charset="0"/>
                  <a:cs typeface="Times New Roman" pitchFamily="18" charset="0"/>
                </a:rPr>
                <a:t>nhiệt</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động</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lực</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học</a:t>
              </a:r>
              <a:endParaRPr lang="en-US" sz="2400" b="1" dirty="0">
                <a:solidFill>
                  <a:srgbClr val="FF0000"/>
                </a:solidFill>
                <a:effectLst>
                  <a:outerShdw blurRad="38100" dist="38100" dir="2700000" algn="tl" rotWithShape="0">
                    <a:srgbClr val="000000">
                      <a:alpha val="43137"/>
                    </a:srgbClr>
                  </a:outerShdw>
                </a:effectLst>
                <a:latin typeface="Times New Roman" pitchFamily="18" charset="0"/>
                <a:cs typeface="Times New Roman" pitchFamily="18" charset="0"/>
              </a:endParaRPr>
            </a:p>
          </p:txBody>
        </p:sp>
      </p:grpSp>
      <p:sp>
        <p:nvSpPr>
          <p:cNvPr id="12" name="Rectangle 3"/>
          <p:cNvSpPr txBox="1">
            <a:spLocks noChangeArrowheads="1"/>
          </p:cNvSpPr>
          <p:nvPr/>
        </p:nvSpPr>
        <p:spPr bwMode="auto">
          <a:xfrm>
            <a:off x="328612" y="960120"/>
            <a:ext cx="8586788" cy="609600"/>
          </a:xfrm>
          <a:prstGeom prst="rect">
            <a:avLst/>
          </a:prstGeom>
          <a:noFill/>
          <a:ln w="9525">
            <a:noFill/>
            <a:miter lim="800000"/>
            <a:headEnd/>
            <a:tailEnd/>
          </a:ln>
        </p:spPr>
        <p:txBody>
          <a:bodyPr/>
          <a:lstStyle/>
          <a:p>
            <a:pPr marL="342900" indent="-342900">
              <a:spcBef>
                <a:spcPct val="20000"/>
              </a:spcBef>
              <a:defRPr/>
            </a:pPr>
            <a:r>
              <a:rPr lang="en-US" sz="2800" b="1">
                <a:solidFill>
                  <a:srgbClr val="FF0000"/>
                </a:solidFill>
                <a:latin typeface="Times New Roman" pitchFamily="18" charset="0"/>
                <a:cs typeface="+mn-cs"/>
              </a:rPr>
              <a:t>a. Hạn chế của nguyên lý I</a:t>
            </a:r>
          </a:p>
          <a:p>
            <a:pPr marL="342900" indent="-342900">
              <a:spcBef>
                <a:spcPct val="20000"/>
              </a:spcBef>
              <a:defRPr/>
            </a:pPr>
            <a:endParaRPr lang="en-US" sz="2800" b="1">
              <a:solidFill>
                <a:srgbClr val="FF0000"/>
              </a:solidFill>
              <a:latin typeface="Times New Roman" pitchFamily="18" charset="0"/>
              <a:cs typeface="+mn-cs"/>
            </a:endParaRPr>
          </a:p>
        </p:txBody>
      </p:sp>
      <p:sp>
        <p:nvSpPr>
          <p:cNvPr id="2" name="Rectangle 1"/>
          <p:cNvSpPr/>
          <p:nvPr/>
        </p:nvSpPr>
        <p:spPr>
          <a:xfrm>
            <a:off x="426720" y="1569720"/>
            <a:ext cx="8131492" cy="3539430"/>
          </a:xfrm>
          <a:prstGeom prst="rect">
            <a:avLst/>
          </a:prstGeom>
        </p:spPr>
        <p:txBody>
          <a:bodyPr wrap="square">
            <a:spAutoFit/>
          </a:bodyPr>
          <a:lstStyle/>
          <a:p>
            <a:pPr marL="457200" indent="-457200">
              <a:buFontTx/>
              <a:buChar char="-"/>
            </a:pPr>
            <a:r>
              <a:rPr lang="en-US" sz="2800">
                <a:solidFill>
                  <a:srgbClr val="050579"/>
                </a:solidFill>
                <a:latin typeface="Times New Roman" pitchFamily="18" charset="0"/>
                <a:cs typeface="Times New Roman" pitchFamily="18" charset="0"/>
              </a:rPr>
              <a:t>Không thể chỉ ra được chiều hướng của sự truyền nhiệt. </a:t>
            </a:r>
          </a:p>
          <a:p>
            <a:pPr marL="457200" indent="-457200">
              <a:buFontTx/>
              <a:buChar char="-"/>
            </a:pPr>
            <a:r>
              <a:rPr lang="en-US" sz="2800">
                <a:solidFill>
                  <a:srgbClr val="050579"/>
                </a:solidFill>
                <a:latin typeface="Times New Roman" pitchFamily="18" charset="0"/>
                <a:cs typeface="Times New Roman" pitchFamily="18" charset="0"/>
              </a:rPr>
              <a:t>Theo nguyên lý I nhiệt và công có thể </a:t>
            </a:r>
            <a:r>
              <a:rPr lang="en-US" sz="2800">
                <a:solidFill>
                  <a:srgbClr val="FF0000"/>
                </a:solidFill>
                <a:latin typeface="Times New Roman" pitchFamily="18" charset="0"/>
                <a:cs typeface="Times New Roman" pitchFamily="18" charset="0"/>
              </a:rPr>
              <a:t>chuyển hóa hoàn toàn </a:t>
            </a:r>
            <a:r>
              <a:rPr lang="en-US" sz="2800">
                <a:solidFill>
                  <a:srgbClr val="050579"/>
                </a:solidFill>
                <a:latin typeface="Times New Roman" pitchFamily="18" charset="0"/>
                <a:cs typeface="Times New Roman" pitchFamily="18" charset="0"/>
              </a:rPr>
              <a:t>cho nhau. Nhưng trong thực tế  nhiệt thì chỉ có thể </a:t>
            </a:r>
            <a:r>
              <a:rPr lang="en-US" sz="2800">
                <a:solidFill>
                  <a:srgbClr val="FF0000"/>
                </a:solidFill>
                <a:latin typeface="Times New Roman" pitchFamily="18" charset="0"/>
                <a:cs typeface="Times New Roman" pitchFamily="18" charset="0"/>
              </a:rPr>
              <a:t>biến một phần </a:t>
            </a:r>
            <a:r>
              <a:rPr lang="en-US" sz="2800">
                <a:solidFill>
                  <a:srgbClr val="050579"/>
                </a:solidFill>
                <a:latin typeface="Times New Roman" pitchFamily="18" charset="0"/>
                <a:cs typeface="Times New Roman" pitchFamily="18" charset="0"/>
              </a:rPr>
              <a:t>thành công.</a:t>
            </a:r>
          </a:p>
          <a:p>
            <a:pPr marL="457200" indent="-457200">
              <a:buFontTx/>
              <a:buChar char="-"/>
            </a:pPr>
            <a:r>
              <a:rPr lang="en-US" sz="2800">
                <a:solidFill>
                  <a:srgbClr val="050579"/>
                </a:solidFill>
                <a:latin typeface="Times New Roman" pitchFamily="18" charset="0"/>
                <a:cs typeface="Times New Roman" pitchFamily="18" charset="0"/>
              </a:rPr>
              <a:t>Nguyên lý thứ I cũng không giải thích được chất lượng nhiệt.</a:t>
            </a:r>
          </a:p>
          <a:p>
            <a:endParaRPr lang="en-US" sz="2800">
              <a:solidFill>
                <a:srgbClr val="050579"/>
              </a:solidFill>
              <a:latin typeface="Times New Roman" pitchFamily="18" charset="0"/>
              <a:cs typeface="Times New Roman" pitchFamily="18" charset="0"/>
            </a:endParaRP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8" name="Rectangle 1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8" name="Rectangle 2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Footer Placeholder 4">
            <a:extLst>
              <a:ext uri="{FF2B5EF4-FFF2-40B4-BE49-F238E27FC236}">
                <a16:creationId xmlns:a16="http://schemas.microsoft.com/office/drawing/2014/main" id="{5B3ABC16-0644-E7BC-E2C3-A78C8BB592AF}"/>
              </a:ext>
            </a:extLst>
          </p:cNvPr>
          <p:cNvSpPr>
            <a:spLocks noGrp="1"/>
          </p:cNvSpPr>
          <p:nvPr>
            <p:ph type="ftr" sz="quarter" idx="11"/>
          </p:nvPr>
        </p:nvSpPr>
        <p:spPr/>
        <p:txBody>
          <a:bodyPr/>
          <a:lstStyle/>
          <a:p>
            <a:r>
              <a:rPr lang="en-US"/>
              <a:t>Bùi Quốc Trung - VLDC</a:t>
            </a:r>
          </a:p>
        </p:txBody>
      </p:sp>
      <p:sp>
        <p:nvSpPr>
          <p:cNvPr id="13" name="Slide Number Placeholder 12">
            <a:extLst>
              <a:ext uri="{FF2B5EF4-FFF2-40B4-BE49-F238E27FC236}">
                <a16:creationId xmlns:a16="http://schemas.microsoft.com/office/drawing/2014/main" id="{6BBE9844-CB49-BA8C-21B7-3D6CE8F27920}"/>
              </a:ext>
            </a:extLst>
          </p:cNvPr>
          <p:cNvSpPr>
            <a:spLocks noGrp="1"/>
          </p:cNvSpPr>
          <p:nvPr>
            <p:ph type="sldNum" sz="quarter" idx="12"/>
          </p:nvPr>
        </p:nvSpPr>
        <p:spPr/>
        <p:txBody>
          <a:bodyPr/>
          <a:lstStyle/>
          <a:p>
            <a:fld id="{0C173468-4CCE-478A-9725-791AF0DB04F2}" type="slidenum">
              <a:rPr lang="en-US" smtClean="0"/>
              <a:t>51</a:t>
            </a:fld>
            <a:endParaRPr lang="en-US"/>
          </a:p>
        </p:txBody>
      </p:sp>
    </p:spTree>
    <p:extLst>
      <p:ext uri="{BB962C8B-B14F-4D97-AF65-F5344CB8AC3E}">
        <p14:creationId xmlns:p14="http://schemas.microsoft.com/office/powerpoint/2010/main" val="26414265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checkerboard(across)">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animEffect transition="in" filter="fade">
                                      <p:cBhvr>
                                        <p:cTn id="17" dur="500"/>
                                        <p:tgtEl>
                                          <p:spTgt spid="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1" end="1"/>
                                            </p:txEl>
                                          </p:spTgt>
                                        </p:tgtEl>
                                        <p:attrNameLst>
                                          <p:attrName>style.visibility</p:attrName>
                                        </p:attrNameLst>
                                      </p:cBhvr>
                                      <p:to>
                                        <p:strVal val="visible"/>
                                      </p:to>
                                    </p:set>
                                    <p:animEffect transition="in" filter="fade">
                                      <p:cBhvr>
                                        <p:cTn id="22" dur="500"/>
                                        <p:tgtEl>
                                          <p:spTgt spid="2">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animEffect transition="in" filter="fade">
                                      <p:cBhvr>
                                        <p:cTn id="2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18"/>
          <p:cNvGrpSpPr>
            <a:grpSpLocks/>
          </p:cNvGrpSpPr>
          <p:nvPr/>
        </p:nvGrpSpPr>
        <p:grpSpPr bwMode="auto">
          <a:xfrm>
            <a:off x="762000" y="0"/>
            <a:ext cx="7543800" cy="889000"/>
            <a:chOff x="1310" y="1392"/>
            <a:chExt cx="5421" cy="560"/>
          </a:xfrm>
        </p:grpSpPr>
        <p:pic>
          <p:nvPicPr>
            <p:cNvPr id="10"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5421"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14"/>
            <p:cNvSpPr txBox="1">
              <a:spLocks noChangeArrowheads="1"/>
            </p:cNvSpPr>
            <p:nvPr/>
          </p:nvSpPr>
          <p:spPr bwMode="auto">
            <a:xfrm>
              <a:off x="2137" y="1510"/>
              <a:ext cx="3871"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wrap="none">
              <a:spAutoFit/>
            </a:bodyPr>
            <a:lstStyle/>
            <a:p>
              <a:pPr algn="ctr" fontAlgn="auto">
                <a:spcBef>
                  <a:spcPts val="2400"/>
                </a:spcBef>
                <a:spcAft>
                  <a:spcPts val="0"/>
                </a:spcAft>
                <a:defRPr/>
              </a:pPr>
              <a:r>
                <a:rPr lang="en-US" sz="2400" b="1" i="1" dirty="0">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6.3</a:t>
              </a:r>
              <a:r>
                <a:rPr lang="en-US" sz="2400" b="1" dirty="0">
                  <a:solidFill>
                    <a:schemeClr val="dk1"/>
                  </a:solidFill>
                  <a:latin typeface="+mn-lt"/>
                  <a:cs typeface="+mn-cs"/>
                </a:rPr>
                <a:t> </a:t>
              </a:r>
              <a:r>
                <a:rPr lang="en-US" sz="2400" b="1" dirty="0" err="1">
                  <a:solidFill>
                    <a:srgbClr val="FF0000"/>
                  </a:solidFill>
                  <a:latin typeface="Times New Roman" pitchFamily="18" charset="0"/>
                  <a:cs typeface="Times New Roman" pitchFamily="18" charset="0"/>
                </a:rPr>
                <a:t>Nguyên</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lý</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thứ</a:t>
              </a:r>
              <a:r>
                <a:rPr lang="en-US" sz="2400" b="1" dirty="0">
                  <a:solidFill>
                    <a:srgbClr val="FF0000"/>
                  </a:solidFill>
                  <a:latin typeface="Times New Roman" pitchFamily="18" charset="0"/>
                  <a:cs typeface="Times New Roman" pitchFamily="18" charset="0"/>
                </a:rPr>
                <a:t> II </a:t>
              </a:r>
              <a:r>
                <a:rPr lang="en-US" sz="2400" b="1" dirty="0" err="1">
                  <a:solidFill>
                    <a:srgbClr val="FF0000"/>
                  </a:solidFill>
                  <a:latin typeface="Times New Roman" pitchFamily="18" charset="0"/>
                  <a:cs typeface="Times New Roman" pitchFamily="18" charset="0"/>
                </a:rPr>
                <a:t>nhiệt</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động</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lực</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học</a:t>
              </a:r>
              <a:endParaRPr lang="en-US" sz="2400" b="1" dirty="0">
                <a:solidFill>
                  <a:srgbClr val="FF0000"/>
                </a:solidFill>
                <a:effectLst>
                  <a:outerShdw blurRad="38100" dist="38100" dir="2700000" algn="tl" rotWithShape="0">
                    <a:srgbClr val="000000">
                      <a:alpha val="43137"/>
                    </a:srgbClr>
                  </a:outerShdw>
                </a:effectLst>
                <a:latin typeface="Times New Roman" pitchFamily="18" charset="0"/>
                <a:cs typeface="Times New Roman" pitchFamily="18" charset="0"/>
              </a:endParaRPr>
            </a:p>
          </p:txBody>
        </p:sp>
      </p:grpSp>
      <p:sp>
        <p:nvSpPr>
          <p:cNvPr id="12" name="Rectangle 3"/>
          <p:cNvSpPr txBox="1">
            <a:spLocks noChangeArrowheads="1"/>
          </p:cNvSpPr>
          <p:nvPr/>
        </p:nvSpPr>
        <p:spPr bwMode="auto">
          <a:xfrm>
            <a:off x="328612" y="960120"/>
            <a:ext cx="8586788" cy="609600"/>
          </a:xfrm>
          <a:prstGeom prst="rect">
            <a:avLst/>
          </a:prstGeom>
          <a:noFill/>
          <a:ln w="9525">
            <a:noFill/>
            <a:miter lim="800000"/>
            <a:headEnd/>
            <a:tailEnd/>
          </a:ln>
        </p:spPr>
        <p:txBody>
          <a:bodyPr/>
          <a:lstStyle/>
          <a:p>
            <a:pPr marL="342900" indent="-342900">
              <a:spcBef>
                <a:spcPct val="20000"/>
              </a:spcBef>
              <a:defRPr/>
            </a:pPr>
            <a:r>
              <a:rPr lang="en-US" sz="2800" b="1">
                <a:solidFill>
                  <a:srgbClr val="FF0000"/>
                </a:solidFill>
                <a:latin typeface="Times New Roman" pitchFamily="18" charset="0"/>
                <a:cs typeface="+mn-cs"/>
              </a:rPr>
              <a:t>b. Quá trình thuận nghịch, không thuận nghịch</a:t>
            </a:r>
          </a:p>
          <a:p>
            <a:pPr marL="342900" indent="-342900">
              <a:spcBef>
                <a:spcPct val="20000"/>
              </a:spcBef>
              <a:defRPr/>
            </a:pPr>
            <a:endParaRPr lang="en-US" sz="2800" b="1">
              <a:solidFill>
                <a:srgbClr val="FF0000"/>
              </a:solidFill>
              <a:latin typeface="Times New Roman" pitchFamily="18" charset="0"/>
              <a:cs typeface="+mn-cs"/>
            </a:endParaRP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8" name="Rectangle 1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8" name="Rectangle 2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4"/>
          <p:cNvSpPr/>
          <p:nvPr/>
        </p:nvSpPr>
        <p:spPr>
          <a:xfrm>
            <a:off x="533400" y="1539240"/>
            <a:ext cx="7772400" cy="2677656"/>
          </a:xfrm>
          <a:prstGeom prst="rect">
            <a:avLst/>
          </a:prstGeom>
        </p:spPr>
        <p:txBody>
          <a:bodyPr wrap="square">
            <a:spAutoFit/>
          </a:bodyPr>
          <a:lstStyle/>
          <a:p>
            <a:pPr algn="just"/>
            <a:r>
              <a:rPr lang="en-US" sz="2800" i="1">
                <a:solidFill>
                  <a:srgbClr val="050579"/>
                </a:solidFill>
                <a:latin typeface="Times New Roman" pitchFamily="18" charset="0"/>
                <a:cs typeface="Times New Roman" pitchFamily="18" charset="0"/>
              </a:rPr>
              <a:t>Một quá trình biến đổi của hệ nhiệt động từ trạng thái (1) đến trạng thái (2) được gọi là </a:t>
            </a:r>
            <a:r>
              <a:rPr lang="en-US" sz="2800" b="1" i="1">
                <a:solidFill>
                  <a:srgbClr val="050579"/>
                </a:solidFill>
                <a:latin typeface="Times New Roman" pitchFamily="18" charset="0"/>
                <a:cs typeface="Times New Roman" pitchFamily="18" charset="0"/>
              </a:rPr>
              <a:t>thuận nghịch </a:t>
            </a:r>
            <a:r>
              <a:rPr lang="en-US" sz="2800" i="1">
                <a:solidFill>
                  <a:srgbClr val="050579"/>
                </a:solidFill>
                <a:latin typeface="Times New Roman" pitchFamily="18" charset="0"/>
                <a:cs typeface="Times New Roman" pitchFamily="18" charset="0"/>
              </a:rPr>
              <a:t>nếu nó có thể tiến hành theo chiều ngược lại và ở lượt về (quá trình ngược), hệ đi qua tất cả các trạng thái trung gian như ở lượt đi (quá trình thuận). Trái lại là quá trình </a:t>
            </a:r>
            <a:r>
              <a:rPr lang="en-US" sz="2800" b="1" i="1">
                <a:solidFill>
                  <a:srgbClr val="050579"/>
                </a:solidFill>
                <a:latin typeface="Times New Roman" pitchFamily="18" charset="0"/>
                <a:cs typeface="Times New Roman" pitchFamily="18" charset="0"/>
              </a:rPr>
              <a:t>bất thuận nghịch</a:t>
            </a:r>
            <a:r>
              <a:rPr lang="en-US" sz="2800">
                <a:solidFill>
                  <a:srgbClr val="050579"/>
                </a:solidFill>
                <a:latin typeface="Times New Roman" pitchFamily="18" charset="0"/>
                <a:cs typeface="Times New Roman" pitchFamily="18" charset="0"/>
              </a:rPr>
              <a:t>. </a:t>
            </a:r>
          </a:p>
        </p:txBody>
      </p:sp>
      <p:sp>
        <p:nvSpPr>
          <p:cNvPr id="13" name="Rectangle 12"/>
          <p:cNvSpPr/>
          <p:nvPr/>
        </p:nvSpPr>
        <p:spPr>
          <a:xfrm>
            <a:off x="1219200" y="4571999"/>
            <a:ext cx="7467600" cy="2246769"/>
          </a:xfrm>
          <a:prstGeom prst="rect">
            <a:avLst/>
          </a:prstGeom>
        </p:spPr>
        <p:txBody>
          <a:bodyPr wrap="square">
            <a:spAutoFit/>
          </a:bodyPr>
          <a:lstStyle/>
          <a:p>
            <a:r>
              <a:rPr lang="en-US" sz="2800" b="1">
                <a:solidFill>
                  <a:srgbClr val="050579"/>
                </a:solidFill>
                <a:latin typeface="Times New Roman" pitchFamily="18" charset="0"/>
                <a:cs typeface="Times New Roman" pitchFamily="18" charset="0"/>
              </a:rPr>
              <a:t>- Đối với quá trình thuận nghịch thì sau khi thực hiện quá trình thuận và quá trình ngược môi trường không bị thay đổi</a:t>
            </a:r>
          </a:p>
          <a:p>
            <a:r>
              <a:rPr lang="en-US" sz="2800" b="1">
                <a:solidFill>
                  <a:srgbClr val="050579"/>
                </a:solidFill>
                <a:latin typeface="Times New Roman" pitchFamily="18" charset="0"/>
                <a:cs typeface="Times New Roman" pitchFamily="18" charset="0"/>
              </a:rPr>
              <a:t>- Qúa trình thuận nghịch là quá trình lý tưởng, thực tế không xảy ra</a:t>
            </a:r>
          </a:p>
        </p:txBody>
      </p:sp>
      <p:sp>
        <p:nvSpPr>
          <p:cNvPr id="19" name="Right Arrow 18"/>
          <p:cNvSpPr/>
          <p:nvPr/>
        </p:nvSpPr>
        <p:spPr>
          <a:xfrm>
            <a:off x="328612" y="4694038"/>
            <a:ext cx="433388" cy="342900"/>
          </a:xfrm>
          <a:prstGeom prst="rightArrow">
            <a:avLst/>
          </a:prstGeom>
          <a:solidFill>
            <a:srgbClr val="90F828"/>
          </a:solidFill>
          <a:ln>
            <a:solidFill>
              <a:srgbClr val="1E22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800">
              <a:solidFill>
                <a:srgbClr val="0070C0"/>
              </a:solidFill>
              <a:latin typeface="Times New Roman" pitchFamily="18" charset="0"/>
              <a:cs typeface="Times New Roman" pitchFamily="18" charset="0"/>
            </a:endParaRPr>
          </a:p>
        </p:txBody>
      </p:sp>
      <p:sp>
        <p:nvSpPr>
          <p:cNvPr id="2" name="Footer Placeholder 1">
            <a:extLst>
              <a:ext uri="{FF2B5EF4-FFF2-40B4-BE49-F238E27FC236}">
                <a16:creationId xmlns:a16="http://schemas.microsoft.com/office/drawing/2014/main" id="{183B4CE4-8FA8-2D1B-9706-0F185521400C}"/>
              </a:ext>
            </a:extLst>
          </p:cNvPr>
          <p:cNvSpPr>
            <a:spLocks noGrp="1"/>
          </p:cNvSpPr>
          <p:nvPr>
            <p:ph type="ftr" sz="quarter" idx="11"/>
          </p:nvPr>
        </p:nvSpPr>
        <p:spPr/>
        <p:txBody>
          <a:bodyPr/>
          <a:lstStyle/>
          <a:p>
            <a:r>
              <a:rPr lang="en-US"/>
              <a:t>Bùi Quốc Trung - VLDC</a:t>
            </a:r>
          </a:p>
        </p:txBody>
      </p:sp>
      <p:sp>
        <p:nvSpPr>
          <p:cNvPr id="16" name="Slide Number Placeholder 15">
            <a:extLst>
              <a:ext uri="{FF2B5EF4-FFF2-40B4-BE49-F238E27FC236}">
                <a16:creationId xmlns:a16="http://schemas.microsoft.com/office/drawing/2014/main" id="{A9457E61-44F5-0DC3-2603-DCD15280AA1A}"/>
              </a:ext>
            </a:extLst>
          </p:cNvPr>
          <p:cNvSpPr>
            <a:spLocks noGrp="1"/>
          </p:cNvSpPr>
          <p:nvPr>
            <p:ph type="sldNum" sz="quarter" idx="12"/>
          </p:nvPr>
        </p:nvSpPr>
        <p:spPr/>
        <p:txBody>
          <a:bodyPr/>
          <a:lstStyle/>
          <a:p>
            <a:fld id="{0C173468-4CCE-478A-9725-791AF0DB04F2}" type="slidenum">
              <a:rPr lang="en-US" smtClean="0"/>
              <a:t>52</a:t>
            </a:fld>
            <a:endParaRPr lang="en-US"/>
          </a:p>
        </p:txBody>
      </p:sp>
    </p:spTree>
    <p:extLst>
      <p:ext uri="{BB962C8B-B14F-4D97-AF65-F5344CB8AC3E}">
        <p14:creationId xmlns:p14="http://schemas.microsoft.com/office/powerpoint/2010/main" val="39605764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checkerboard(across)">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dissolve">
                                      <p:cBhvr>
                                        <p:cTn id="22" dur="500"/>
                                        <p:tgtEl>
                                          <p:spTgt spid="19"/>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5" grpId="0"/>
      <p:bldP spid="13" grpId="0"/>
      <p:bldP spid="19"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18"/>
          <p:cNvGrpSpPr>
            <a:grpSpLocks/>
          </p:cNvGrpSpPr>
          <p:nvPr/>
        </p:nvGrpSpPr>
        <p:grpSpPr bwMode="auto">
          <a:xfrm>
            <a:off x="762000" y="0"/>
            <a:ext cx="7543800" cy="889000"/>
            <a:chOff x="1310" y="1392"/>
            <a:chExt cx="5421" cy="560"/>
          </a:xfrm>
        </p:grpSpPr>
        <p:pic>
          <p:nvPicPr>
            <p:cNvPr id="10"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5421"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14"/>
            <p:cNvSpPr txBox="1">
              <a:spLocks noChangeArrowheads="1"/>
            </p:cNvSpPr>
            <p:nvPr/>
          </p:nvSpPr>
          <p:spPr bwMode="auto">
            <a:xfrm>
              <a:off x="2138" y="1510"/>
              <a:ext cx="3871"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wrap="none">
              <a:spAutoFit/>
            </a:bodyPr>
            <a:lstStyle/>
            <a:p>
              <a:pPr algn="ctr" fontAlgn="auto">
                <a:spcBef>
                  <a:spcPts val="2400"/>
                </a:spcBef>
                <a:spcAft>
                  <a:spcPts val="0"/>
                </a:spcAft>
                <a:defRPr/>
              </a:pPr>
              <a:r>
                <a:rPr lang="en-US" sz="2400" b="1" i="1">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400" b="1">
                  <a:solidFill>
                    <a:srgbClr val="FF0000"/>
                  </a:solidFill>
                  <a:effectLst>
                    <a:outerShdw blurRad="38100" dist="38100" dir="2700000" algn="tl">
                      <a:srgbClr val="C0C0C0"/>
                    </a:outerShdw>
                  </a:effectLst>
                  <a:latin typeface="Times New Roman" pitchFamily="18" charset="0"/>
                  <a:cs typeface="Times New Roman" pitchFamily="18" charset="0"/>
                </a:rPr>
                <a:t>6</a:t>
              </a:r>
              <a:r>
                <a:rPr lang="en-US" sz="2400" b="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.2</a:t>
              </a:r>
              <a:r>
                <a:rPr lang="en-US" sz="2400" b="1">
                  <a:solidFill>
                    <a:schemeClr val="dk1"/>
                  </a:solidFill>
                  <a:latin typeface="+mn-lt"/>
                  <a:cs typeface="+mn-cs"/>
                </a:rPr>
                <a:t> </a:t>
              </a:r>
              <a:r>
                <a:rPr lang="en-US" sz="2400" b="1">
                  <a:solidFill>
                    <a:srgbClr val="FF0000"/>
                  </a:solidFill>
                  <a:latin typeface="Times New Roman" pitchFamily="18" charset="0"/>
                  <a:cs typeface="Times New Roman" pitchFamily="18" charset="0"/>
                </a:rPr>
                <a:t>Nguyên lý thứ II nhiệt động lực học</a:t>
              </a:r>
              <a:endParaRPr lang="en-US" sz="2400" b="1">
                <a:solidFill>
                  <a:srgbClr val="FF0000"/>
                </a:solidFill>
                <a:effectLst>
                  <a:outerShdw blurRad="38100" dist="38100" dir="2700000" algn="tl" rotWithShape="0">
                    <a:srgbClr val="000000">
                      <a:alpha val="43137"/>
                    </a:srgbClr>
                  </a:outerShdw>
                </a:effectLst>
                <a:latin typeface="Times New Roman" pitchFamily="18" charset="0"/>
                <a:cs typeface="Times New Roman" pitchFamily="18" charset="0"/>
              </a:endParaRPr>
            </a:p>
          </p:txBody>
        </p:sp>
      </p:grpSp>
      <p:sp>
        <p:nvSpPr>
          <p:cNvPr id="12" name="Rectangle 3"/>
          <p:cNvSpPr txBox="1">
            <a:spLocks noChangeArrowheads="1"/>
          </p:cNvSpPr>
          <p:nvPr/>
        </p:nvSpPr>
        <p:spPr bwMode="auto">
          <a:xfrm>
            <a:off x="328612" y="960120"/>
            <a:ext cx="8586788" cy="609600"/>
          </a:xfrm>
          <a:prstGeom prst="rect">
            <a:avLst/>
          </a:prstGeom>
          <a:noFill/>
          <a:ln w="9525">
            <a:noFill/>
            <a:miter lim="800000"/>
            <a:headEnd/>
            <a:tailEnd/>
          </a:ln>
        </p:spPr>
        <p:txBody>
          <a:bodyPr/>
          <a:lstStyle/>
          <a:p>
            <a:pPr marL="342900" indent="-342900">
              <a:spcBef>
                <a:spcPct val="20000"/>
              </a:spcBef>
              <a:defRPr/>
            </a:pPr>
            <a:r>
              <a:rPr lang="en-US" sz="2800" b="1">
                <a:solidFill>
                  <a:srgbClr val="FF0000"/>
                </a:solidFill>
                <a:latin typeface="Times New Roman" pitchFamily="18" charset="0"/>
                <a:cs typeface="+mn-cs"/>
              </a:rPr>
              <a:t>c. Nội dung của nguyên lý II</a:t>
            </a:r>
          </a:p>
          <a:p>
            <a:pPr marL="342900" indent="-342900">
              <a:spcBef>
                <a:spcPct val="20000"/>
              </a:spcBef>
              <a:defRPr/>
            </a:pPr>
            <a:endParaRPr lang="en-US" sz="2800" b="1">
              <a:solidFill>
                <a:srgbClr val="FF0000"/>
              </a:solidFill>
              <a:latin typeface="Times New Roman" pitchFamily="18" charset="0"/>
              <a:cs typeface="+mn-cs"/>
            </a:endParaRP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8" name="Rectangle 1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8" name="Rectangle 2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Rectangle 1"/>
          <p:cNvSpPr/>
          <p:nvPr/>
        </p:nvSpPr>
        <p:spPr>
          <a:xfrm>
            <a:off x="762000" y="1447800"/>
            <a:ext cx="7913846" cy="1815882"/>
          </a:xfrm>
          <a:prstGeom prst="rect">
            <a:avLst/>
          </a:prstGeom>
        </p:spPr>
        <p:txBody>
          <a:bodyPr wrap="square">
            <a:spAutoFit/>
          </a:bodyPr>
          <a:lstStyle/>
          <a:p>
            <a:r>
              <a:rPr lang="en-US" sz="2800" b="1">
                <a:solidFill>
                  <a:srgbClr val="552579"/>
                </a:solidFill>
                <a:latin typeface="Times New Roman" pitchFamily="18" charset="0"/>
                <a:cs typeface="Times New Roman" pitchFamily="18" charset="0"/>
              </a:rPr>
              <a:t>Phát biểu của Clausius</a:t>
            </a:r>
            <a:r>
              <a:rPr lang="en-US" sz="2800">
                <a:solidFill>
                  <a:srgbClr val="552579"/>
                </a:solidFill>
                <a:latin typeface="Times New Roman" pitchFamily="18" charset="0"/>
                <a:cs typeface="Times New Roman" pitchFamily="18" charset="0"/>
              </a:rPr>
              <a:t>: </a:t>
            </a:r>
            <a:r>
              <a:rPr lang="en-US" sz="2800" i="1">
                <a:solidFill>
                  <a:srgbClr val="050579"/>
                </a:solidFill>
                <a:latin typeface="Times New Roman" pitchFamily="18" charset="0"/>
                <a:cs typeface="Times New Roman" pitchFamily="18" charset="0"/>
              </a:rPr>
              <a:t>Nhiệt không thể tự động truyền từ vật lạnh sang vật nóng. Nói cách khác, sự truyền nhiệt từ vật lạnh sang vật nóng không thể xảy ra nếu không có sự bù trừ nào. </a:t>
            </a:r>
            <a:endParaRPr lang="en-US" sz="2800">
              <a:solidFill>
                <a:srgbClr val="050579"/>
              </a:solidFill>
              <a:latin typeface="Times New Roman" pitchFamily="18" charset="0"/>
              <a:cs typeface="Times New Roman" pitchFamily="18" charset="0"/>
            </a:endParaRPr>
          </a:p>
        </p:txBody>
      </p:sp>
      <p:sp>
        <p:nvSpPr>
          <p:cNvPr id="16" name="Rectangle 15"/>
          <p:cNvSpPr/>
          <p:nvPr/>
        </p:nvSpPr>
        <p:spPr>
          <a:xfrm>
            <a:off x="762000" y="3429000"/>
            <a:ext cx="7696200" cy="1815882"/>
          </a:xfrm>
          <a:prstGeom prst="rect">
            <a:avLst/>
          </a:prstGeom>
        </p:spPr>
        <p:txBody>
          <a:bodyPr wrap="square">
            <a:spAutoFit/>
          </a:bodyPr>
          <a:lstStyle/>
          <a:p>
            <a:r>
              <a:rPr lang="en-US" sz="2800" b="1">
                <a:solidFill>
                  <a:srgbClr val="552579"/>
                </a:solidFill>
                <a:latin typeface="Times New Roman" pitchFamily="18" charset="0"/>
                <a:cs typeface="Times New Roman" pitchFamily="18" charset="0"/>
              </a:rPr>
              <a:t>Phát biểu của Thomson và Carnot</a:t>
            </a:r>
            <a:r>
              <a:rPr lang="en-US" sz="2800">
                <a:solidFill>
                  <a:srgbClr val="552579"/>
                </a:solidFill>
                <a:latin typeface="Times New Roman" pitchFamily="18" charset="0"/>
                <a:cs typeface="Times New Roman" pitchFamily="18" charset="0"/>
              </a:rPr>
              <a:t>: </a:t>
            </a:r>
            <a:r>
              <a:rPr lang="en-US" sz="2800" i="1">
                <a:solidFill>
                  <a:srgbClr val="050579"/>
                </a:solidFill>
                <a:latin typeface="Times New Roman" pitchFamily="18" charset="0"/>
                <a:cs typeface="Times New Roman" pitchFamily="18" charset="0"/>
              </a:rPr>
              <a:t>Không thể chế tạo được động cơ nhiệt hoạt động tuần hoàn, liên tục biến </a:t>
            </a:r>
            <a:r>
              <a:rPr lang="en-US" sz="2800" b="1" i="1">
                <a:solidFill>
                  <a:srgbClr val="050579"/>
                </a:solidFill>
                <a:latin typeface="Times New Roman" pitchFamily="18" charset="0"/>
                <a:cs typeface="Times New Roman" pitchFamily="18" charset="0"/>
              </a:rPr>
              <a:t>nhiệ</a:t>
            </a:r>
            <a:r>
              <a:rPr lang="en-US" sz="2800" i="1">
                <a:solidFill>
                  <a:srgbClr val="050579"/>
                </a:solidFill>
                <a:latin typeface="Times New Roman" pitchFamily="18" charset="0"/>
                <a:cs typeface="Times New Roman" pitchFamily="18" charset="0"/>
              </a:rPr>
              <a:t>t thành </a:t>
            </a:r>
            <a:r>
              <a:rPr lang="en-US" sz="2800" b="1" i="1">
                <a:solidFill>
                  <a:srgbClr val="050579"/>
                </a:solidFill>
                <a:latin typeface="Times New Roman" pitchFamily="18" charset="0"/>
                <a:cs typeface="Times New Roman" pitchFamily="18" charset="0"/>
              </a:rPr>
              <a:t>công </a:t>
            </a:r>
            <a:r>
              <a:rPr lang="en-US" sz="2800" i="1">
                <a:solidFill>
                  <a:srgbClr val="050579"/>
                </a:solidFill>
                <a:latin typeface="Times New Roman" pitchFamily="18" charset="0"/>
                <a:cs typeface="Times New Roman" pitchFamily="18" charset="0"/>
              </a:rPr>
              <a:t>mà môi trường xung quanh không chiụ sự biến đổi nào</a:t>
            </a:r>
            <a:endParaRPr lang="en-US" sz="2800">
              <a:solidFill>
                <a:srgbClr val="050579"/>
              </a:solidFill>
              <a:latin typeface="Times New Roman" pitchFamily="18" charset="0"/>
              <a:cs typeface="Times New Roman" pitchFamily="18" charset="0"/>
            </a:endParaRPr>
          </a:p>
        </p:txBody>
      </p:sp>
      <p:sp>
        <p:nvSpPr>
          <p:cNvPr id="17" name="Rectangle 16"/>
          <p:cNvSpPr/>
          <p:nvPr/>
        </p:nvSpPr>
        <p:spPr>
          <a:xfrm>
            <a:off x="762000" y="5257800"/>
            <a:ext cx="7696200" cy="1384995"/>
          </a:xfrm>
          <a:prstGeom prst="rect">
            <a:avLst/>
          </a:prstGeom>
        </p:spPr>
        <p:txBody>
          <a:bodyPr wrap="square">
            <a:spAutoFit/>
          </a:bodyPr>
          <a:lstStyle/>
          <a:p>
            <a:r>
              <a:rPr lang="en-US" sz="2800" b="1">
                <a:solidFill>
                  <a:srgbClr val="552579"/>
                </a:solidFill>
                <a:latin typeface="Times New Roman" pitchFamily="18" charset="0"/>
                <a:cs typeface="Times New Roman" pitchFamily="18" charset="0"/>
              </a:rPr>
              <a:t>Phát biểu của Kelvin: </a:t>
            </a:r>
            <a:r>
              <a:rPr lang="en-US" sz="2800" i="1">
                <a:solidFill>
                  <a:srgbClr val="050579"/>
                </a:solidFill>
                <a:latin typeface="Times New Roman" pitchFamily="18" charset="0"/>
                <a:cs typeface="Times New Roman" pitchFamily="18" charset="0"/>
              </a:rPr>
              <a:t>Một hệ nhiệt động học không thể tạo công nếu chỉ tiếp xúc với một nguồn nhiệt duy nhất. </a:t>
            </a:r>
            <a:endParaRPr lang="en-US" sz="2800">
              <a:solidFill>
                <a:srgbClr val="050579"/>
              </a:solidFill>
              <a:latin typeface="Times New Roman" pitchFamily="18" charset="0"/>
              <a:cs typeface="Times New Roman" pitchFamily="18" charset="0"/>
            </a:endParaRPr>
          </a:p>
        </p:txBody>
      </p:sp>
      <p:sp>
        <p:nvSpPr>
          <p:cNvPr id="5" name="Footer Placeholder 4">
            <a:extLst>
              <a:ext uri="{FF2B5EF4-FFF2-40B4-BE49-F238E27FC236}">
                <a16:creationId xmlns:a16="http://schemas.microsoft.com/office/drawing/2014/main" id="{ADF6A6DA-EA23-7380-2CEA-71660F872166}"/>
              </a:ext>
            </a:extLst>
          </p:cNvPr>
          <p:cNvSpPr>
            <a:spLocks noGrp="1"/>
          </p:cNvSpPr>
          <p:nvPr>
            <p:ph type="ftr" sz="quarter" idx="11"/>
          </p:nvPr>
        </p:nvSpPr>
        <p:spPr/>
        <p:txBody>
          <a:bodyPr/>
          <a:lstStyle/>
          <a:p>
            <a:r>
              <a:rPr lang="en-US"/>
              <a:t>Bùi Quốc Trung - VLDC</a:t>
            </a:r>
          </a:p>
        </p:txBody>
      </p:sp>
      <p:sp>
        <p:nvSpPr>
          <p:cNvPr id="13" name="Slide Number Placeholder 12">
            <a:extLst>
              <a:ext uri="{FF2B5EF4-FFF2-40B4-BE49-F238E27FC236}">
                <a16:creationId xmlns:a16="http://schemas.microsoft.com/office/drawing/2014/main" id="{A937C48A-1C22-77F5-540B-4F1785607C8D}"/>
              </a:ext>
            </a:extLst>
          </p:cNvPr>
          <p:cNvSpPr>
            <a:spLocks noGrp="1"/>
          </p:cNvSpPr>
          <p:nvPr>
            <p:ph type="sldNum" sz="quarter" idx="12"/>
          </p:nvPr>
        </p:nvSpPr>
        <p:spPr/>
        <p:txBody>
          <a:bodyPr/>
          <a:lstStyle/>
          <a:p>
            <a:fld id="{0C173468-4CCE-478A-9725-791AF0DB04F2}" type="slidenum">
              <a:rPr lang="en-US" smtClean="0"/>
              <a:t>53</a:t>
            </a:fld>
            <a:endParaRPr lang="en-US"/>
          </a:p>
        </p:txBody>
      </p:sp>
    </p:spTree>
    <p:extLst>
      <p:ext uri="{BB962C8B-B14F-4D97-AF65-F5344CB8AC3E}">
        <p14:creationId xmlns:p14="http://schemas.microsoft.com/office/powerpoint/2010/main" val="7698971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checkerboard(across)">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 grpId="0"/>
      <p:bldP spid="16" grpId="0"/>
      <p:bldP spid="1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18"/>
          <p:cNvGrpSpPr>
            <a:grpSpLocks/>
          </p:cNvGrpSpPr>
          <p:nvPr/>
        </p:nvGrpSpPr>
        <p:grpSpPr bwMode="auto">
          <a:xfrm>
            <a:off x="762000" y="0"/>
            <a:ext cx="7543800" cy="889000"/>
            <a:chOff x="1310" y="1392"/>
            <a:chExt cx="5421" cy="560"/>
          </a:xfrm>
        </p:grpSpPr>
        <p:pic>
          <p:nvPicPr>
            <p:cNvPr id="10"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5421"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14"/>
            <p:cNvSpPr txBox="1">
              <a:spLocks noChangeArrowheads="1"/>
            </p:cNvSpPr>
            <p:nvPr/>
          </p:nvSpPr>
          <p:spPr bwMode="auto">
            <a:xfrm>
              <a:off x="2138" y="1510"/>
              <a:ext cx="3871"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wrap="none">
              <a:spAutoFit/>
            </a:bodyPr>
            <a:lstStyle/>
            <a:p>
              <a:pPr algn="ctr" fontAlgn="auto">
                <a:spcBef>
                  <a:spcPts val="2400"/>
                </a:spcBef>
                <a:spcAft>
                  <a:spcPts val="0"/>
                </a:spcAft>
                <a:defRPr/>
              </a:pPr>
              <a:r>
                <a:rPr lang="en-US" sz="2400" b="1" i="1">
                  <a:solidFill>
                    <a:srgbClr val="FF0000"/>
                  </a:solidFill>
                  <a:effectLst>
                    <a:outerShdw blurRad="38100" dist="38100" dir="2700000" algn="tl">
                      <a:srgbClr val="C0C0C0"/>
                    </a:outerShdw>
                  </a:effectLst>
                  <a:latin typeface="Times New Roman" pitchFamily="18" charset="0"/>
                  <a:cs typeface="Times New Roman" pitchFamily="18" charset="0"/>
                </a:rPr>
                <a:t> 6</a:t>
              </a:r>
              <a:r>
                <a:rPr lang="en-US" sz="2400" b="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.2</a:t>
              </a:r>
              <a:r>
                <a:rPr lang="en-US" sz="2400" b="1">
                  <a:solidFill>
                    <a:schemeClr val="dk1"/>
                  </a:solidFill>
                  <a:latin typeface="+mn-lt"/>
                  <a:cs typeface="+mn-cs"/>
                </a:rPr>
                <a:t> </a:t>
              </a:r>
              <a:r>
                <a:rPr lang="en-US" sz="2400" b="1">
                  <a:solidFill>
                    <a:srgbClr val="FF0000"/>
                  </a:solidFill>
                  <a:latin typeface="Times New Roman" pitchFamily="18" charset="0"/>
                  <a:cs typeface="Times New Roman" pitchFamily="18" charset="0"/>
                </a:rPr>
                <a:t>Nguyên lý thứ II nhiệt động lực học</a:t>
              </a:r>
              <a:endParaRPr lang="en-US" sz="2400" b="1">
                <a:solidFill>
                  <a:srgbClr val="FF0000"/>
                </a:solidFill>
                <a:effectLst>
                  <a:outerShdw blurRad="38100" dist="38100" dir="2700000" algn="tl" rotWithShape="0">
                    <a:srgbClr val="000000">
                      <a:alpha val="43137"/>
                    </a:srgbClr>
                  </a:outerShdw>
                </a:effectLst>
                <a:latin typeface="Times New Roman" pitchFamily="18" charset="0"/>
                <a:cs typeface="Times New Roman" pitchFamily="18" charset="0"/>
              </a:endParaRPr>
            </a:p>
          </p:txBody>
        </p:sp>
      </p:grpSp>
      <p:sp>
        <p:nvSpPr>
          <p:cNvPr id="12" name="Rectangle 3"/>
          <p:cNvSpPr txBox="1">
            <a:spLocks noChangeArrowheads="1"/>
          </p:cNvSpPr>
          <p:nvPr/>
        </p:nvSpPr>
        <p:spPr bwMode="auto">
          <a:xfrm>
            <a:off x="328612" y="960120"/>
            <a:ext cx="8586788" cy="609600"/>
          </a:xfrm>
          <a:prstGeom prst="rect">
            <a:avLst/>
          </a:prstGeom>
          <a:noFill/>
          <a:ln w="9525">
            <a:noFill/>
            <a:miter lim="800000"/>
            <a:headEnd/>
            <a:tailEnd/>
          </a:ln>
        </p:spPr>
        <p:txBody>
          <a:bodyPr/>
          <a:lstStyle/>
          <a:p>
            <a:pPr marL="342900" indent="-342900">
              <a:spcBef>
                <a:spcPct val="20000"/>
              </a:spcBef>
              <a:defRPr/>
            </a:pPr>
            <a:r>
              <a:rPr lang="en-US" sz="2800" b="1">
                <a:solidFill>
                  <a:srgbClr val="FF0000"/>
                </a:solidFill>
                <a:latin typeface="Times New Roman" pitchFamily="18" charset="0"/>
                <a:cs typeface="+mn-cs"/>
              </a:rPr>
              <a:t>d. Động cơ nhiệt</a:t>
            </a:r>
          </a:p>
          <a:p>
            <a:pPr marL="342900" indent="-342900">
              <a:spcBef>
                <a:spcPct val="20000"/>
              </a:spcBef>
              <a:defRPr/>
            </a:pPr>
            <a:endParaRPr lang="en-US" sz="2800" b="1">
              <a:solidFill>
                <a:srgbClr val="FF0000"/>
              </a:solidFill>
              <a:latin typeface="Times New Roman" pitchFamily="18" charset="0"/>
              <a:cs typeface="+mn-cs"/>
            </a:endParaRPr>
          </a:p>
          <a:p>
            <a:pPr marL="342900" indent="-342900">
              <a:spcBef>
                <a:spcPct val="20000"/>
              </a:spcBef>
              <a:defRPr/>
            </a:pPr>
            <a:endParaRPr lang="en-US" sz="2800" b="1">
              <a:solidFill>
                <a:srgbClr val="FF0000"/>
              </a:solidFill>
              <a:latin typeface="Times New Roman" pitchFamily="18" charset="0"/>
              <a:cs typeface="+mn-cs"/>
            </a:endParaRP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8" name="Rectangle 1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8" name="Rectangle 2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4"/>
          <p:cNvSpPr/>
          <p:nvPr/>
        </p:nvSpPr>
        <p:spPr>
          <a:xfrm>
            <a:off x="762000" y="1566595"/>
            <a:ext cx="3429000" cy="1384995"/>
          </a:xfrm>
          <a:prstGeom prst="rect">
            <a:avLst/>
          </a:prstGeom>
        </p:spPr>
        <p:txBody>
          <a:bodyPr wrap="square">
            <a:spAutoFit/>
          </a:bodyPr>
          <a:lstStyle/>
          <a:p>
            <a:r>
              <a:rPr lang="en-US" sz="2800" b="1">
                <a:solidFill>
                  <a:srgbClr val="050579"/>
                </a:solidFill>
                <a:latin typeface="Times New Roman" pitchFamily="18" charset="0"/>
                <a:cs typeface="Times New Roman" pitchFamily="18" charset="0"/>
              </a:rPr>
              <a:t>Động cơ nhiệt là một thiết bị biến nhiệt thành công</a:t>
            </a:r>
          </a:p>
        </p:txBody>
      </p:sp>
      <p:pic>
        <p:nvPicPr>
          <p:cNvPr id="38914" name="Picture 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5351" y="1377701"/>
            <a:ext cx="3915249" cy="3995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2"/>
          <p:cNvSpPr/>
          <p:nvPr/>
        </p:nvSpPr>
        <p:spPr>
          <a:xfrm>
            <a:off x="609600" y="3613666"/>
            <a:ext cx="3429000" cy="954107"/>
          </a:xfrm>
          <a:prstGeom prst="rect">
            <a:avLst/>
          </a:prstGeom>
        </p:spPr>
        <p:txBody>
          <a:bodyPr wrap="square">
            <a:spAutoFit/>
          </a:bodyPr>
          <a:lstStyle/>
          <a:p>
            <a:r>
              <a:rPr lang="en-US" sz="2800" b="1">
                <a:solidFill>
                  <a:srgbClr val="050579"/>
                </a:solidFill>
                <a:latin typeface="Times New Roman" pitchFamily="18" charset="0"/>
                <a:cs typeface="Times New Roman" pitchFamily="18" charset="0"/>
              </a:rPr>
              <a:t>Hiệu suất của động cơ nhiệt:</a:t>
            </a:r>
          </a:p>
        </p:txBody>
      </p:sp>
      <p:sp>
        <p:nvSpPr>
          <p:cNvPr id="19"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0" name="Object 19"/>
          <p:cNvGraphicFramePr>
            <a:graphicFrameLocks noChangeAspect="1"/>
          </p:cNvGraphicFramePr>
          <p:nvPr>
            <p:extLst>
              <p:ext uri="{D42A27DB-BD31-4B8C-83A1-F6EECF244321}">
                <p14:modId xmlns:p14="http://schemas.microsoft.com/office/powerpoint/2010/main" val="1238296829"/>
              </p:ext>
            </p:extLst>
          </p:nvPr>
        </p:nvGraphicFramePr>
        <p:xfrm>
          <a:off x="762000" y="4908282"/>
          <a:ext cx="3316015" cy="1416317"/>
        </p:xfrm>
        <a:graphic>
          <a:graphicData uri="http://schemas.openxmlformats.org/presentationml/2006/ole">
            <mc:AlternateContent xmlns:mc="http://schemas.openxmlformats.org/markup-compatibility/2006">
              <mc:Choice xmlns:v="urn:schemas-microsoft-com:vml" Requires="v">
                <p:oleObj name="Equation" r:id="rId4" imgW="1079500" imgH="469900" progId="Equation.DSMT4">
                  <p:embed/>
                </p:oleObj>
              </mc:Choice>
              <mc:Fallback>
                <p:oleObj name="Equation" r:id="rId4" imgW="1079500" imgH="4699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4908282"/>
                        <a:ext cx="3316015" cy="1416317"/>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2" name="Oval 1"/>
              <p:cNvSpPr/>
              <p:nvPr/>
            </p:nvSpPr>
            <p:spPr>
              <a:xfrm>
                <a:off x="5486400" y="5943600"/>
                <a:ext cx="2819400"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𝑄</m:t>
                        </m:r>
                      </m:e>
                      <m:sub>
                        <m:r>
                          <a:rPr lang="en-US" b="0" i="1" smtClean="0">
                            <a:latin typeface="Cambria Math"/>
                          </a:rPr>
                          <m:t>1=</m:t>
                        </m:r>
                      </m:sub>
                    </m:sSub>
                  </m:oMath>
                </a14:m>
                <a:r>
                  <a:rPr lang="en-US" dirty="0"/>
                  <a:t> A’ +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𝑄</m:t>
                        </m:r>
                      </m:e>
                      <m:sub>
                        <m:r>
                          <a:rPr lang="en-US" b="0" i="1" smtClean="0">
                            <a:latin typeface="Cambria Math"/>
                          </a:rPr>
                          <m:t>2</m:t>
                        </m:r>
                      </m:sub>
                    </m:sSub>
                  </m:oMath>
                </a14:m>
                <a:r>
                  <a:rPr lang="en-US" dirty="0"/>
                  <a:t>’</a:t>
                </a:r>
              </a:p>
              <a:p>
                <a:pPr algn="ctr"/>
                <a:endParaRPr lang="en-US" dirty="0"/>
              </a:p>
            </p:txBody>
          </p:sp>
        </mc:Choice>
        <mc:Fallback xmlns="">
          <p:sp>
            <p:nvSpPr>
              <p:cNvPr id="2" name="Oval 1"/>
              <p:cNvSpPr>
                <a:spLocks noRot="1" noChangeAspect="1" noMove="1" noResize="1" noEditPoints="1" noAdjustHandles="1" noChangeArrowheads="1" noChangeShapeType="1" noTextEdit="1"/>
              </p:cNvSpPr>
              <p:nvPr/>
            </p:nvSpPr>
            <p:spPr>
              <a:xfrm>
                <a:off x="5486400" y="5943600"/>
                <a:ext cx="2819400" cy="914400"/>
              </a:xfrm>
              <a:prstGeom prst="ellipse">
                <a:avLst/>
              </a:prstGeom>
              <a:blipFill rotWithShape="1">
                <a:blip r:embed="rId7"/>
                <a:stretch>
                  <a:fillRect/>
                </a:stretch>
              </a:blipFill>
            </p:spPr>
            <p:txBody>
              <a:bodyPr/>
              <a:lstStyle/>
              <a:p>
                <a:r>
                  <a:rPr lang="en-US">
                    <a:noFill/>
                  </a:rPr>
                  <a:t> </a:t>
                </a:r>
              </a:p>
            </p:txBody>
          </p:sp>
        </mc:Fallback>
      </mc:AlternateContent>
      <p:sp>
        <p:nvSpPr>
          <p:cNvPr id="16" name="Footer Placeholder 15">
            <a:extLst>
              <a:ext uri="{FF2B5EF4-FFF2-40B4-BE49-F238E27FC236}">
                <a16:creationId xmlns:a16="http://schemas.microsoft.com/office/drawing/2014/main" id="{25F44E3E-EB4D-92A9-44CC-D2877B611F38}"/>
              </a:ext>
            </a:extLst>
          </p:cNvPr>
          <p:cNvSpPr>
            <a:spLocks noGrp="1"/>
          </p:cNvSpPr>
          <p:nvPr>
            <p:ph type="ftr" sz="quarter" idx="11"/>
          </p:nvPr>
        </p:nvSpPr>
        <p:spPr/>
        <p:txBody>
          <a:bodyPr/>
          <a:lstStyle/>
          <a:p>
            <a:r>
              <a:rPr lang="en-US"/>
              <a:t>Bùi Quốc Trung - VLDC</a:t>
            </a:r>
          </a:p>
        </p:txBody>
      </p:sp>
      <p:sp>
        <p:nvSpPr>
          <p:cNvPr id="17" name="Slide Number Placeholder 16">
            <a:extLst>
              <a:ext uri="{FF2B5EF4-FFF2-40B4-BE49-F238E27FC236}">
                <a16:creationId xmlns:a16="http://schemas.microsoft.com/office/drawing/2014/main" id="{E5F3C2AF-4D3E-EC79-0F20-AC4F610465B1}"/>
              </a:ext>
            </a:extLst>
          </p:cNvPr>
          <p:cNvSpPr>
            <a:spLocks noGrp="1"/>
          </p:cNvSpPr>
          <p:nvPr>
            <p:ph type="sldNum" sz="quarter" idx="12"/>
          </p:nvPr>
        </p:nvSpPr>
        <p:spPr/>
        <p:txBody>
          <a:bodyPr/>
          <a:lstStyle/>
          <a:p>
            <a:fld id="{0C173468-4CCE-478A-9725-791AF0DB04F2}" type="slidenum">
              <a:rPr lang="en-US" smtClean="0"/>
              <a:t>54</a:t>
            </a:fld>
            <a:endParaRPr lang="en-US"/>
          </a:p>
        </p:txBody>
      </p:sp>
    </p:spTree>
    <p:extLst>
      <p:ext uri="{BB962C8B-B14F-4D97-AF65-F5344CB8AC3E}">
        <p14:creationId xmlns:p14="http://schemas.microsoft.com/office/powerpoint/2010/main" val="32364216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checkerboard(across)">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8914"/>
                                        </p:tgtEl>
                                        <p:attrNameLst>
                                          <p:attrName>style.visibility</p:attrName>
                                        </p:attrNameLst>
                                      </p:cBhvr>
                                      <p:to>
                                        <p:strVal val="visible"/>
                                      </p:to>
                                    </p:set>
                                    <p:animEffect transition="in" filter="fade">
                                      <p:cBhvr>
                                        <p:cTn id="22" dur="500"/>
                                        <p:tgtEl>
                                          <p:spTgt spid="389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500"/>
                            </p:stCondLst>
                            <p:childTnLst>
                              <p:par>
                                <p:cTn id="29" presetID="10" presetClass="entr" presetSubtype="0" fill="hold" nodeType="after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5" grpId="0"/>
      <p:bldP spid="1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18"/>
          <p:cNvGrpSpPr>
            <a:grpSpLocks/>
          </p:cNvGrpSpPr>
          <p:nvPr/>
        </p:nvGrpSpPr>
        <p:grpSpPr bwMode="auto">
          <a:xfrm>
            <a:off x="762000" y="0"/>
            <a:ext cx="7543800" cy="889000"/>
            <a:chOff x="1310" y="1392"/>
            <a:chExt cx="5421" cy="560"/>
          </a:xfrm>
        </p:grpSpPr>
        <p:pic>
          <p:nvPicPr>
            <p:cNvPr id="10"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5421"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14"/>
            <p:cNvSpPr txBox="1">
              <a:spLocks noChangeArrowheads="1"/>
            </p:cNvSpPr>
            <p:nvPr/>
          </p:nvSpPr>
          <p:spPr bwMode="auto">
            <a:xfrm>
              <a:off x="2138" y="1510"/>
              <a:ext cx="3871"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wrap="none">
              <a:spAutoFit/>
            </a:bodyPr>
            <a:lstStyle/>
            <a:p>
              <a:pPr algn="ctr" fontAlgn="auto">
                <a:spcBef>
                  <a:spcPts val="2400"/>
                </a:spcBef>
                <a:spcAft>
                  <a:spcPts val="0"/>
                </a:spcAft>
                <a:defRPr/>
              </a:pPr>
              <a:r>
                <a:rPr lang="en-US" sz="2400" b="1" i="1" dirty="0">
                  <a:solidFill>
                    <a:srgbClr val="FF0000"/>
                  </a:solidFill>
                  <a:effectLst>
                    <a:outerShdw blurRad="38100" dist="38100" dir="2700000" algn="tl">
                      <a:srgbClr val="C0C0C0"/>
                    </a:outerShdw>
                  </a:effectLst>
                  <a:latin typeface="Times New Roman" pitchFamily="18" charset="0"/>
                  <a:cs typeface="Times New Roman" pitchFamily="18" charset="0"/>
                </a:rPr>
                <a:t> 6</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.3</a:t>
              </a:r>
              <a:r>
                <a:rPr lang="en-US" sz="2400" b="1" dirty="0">
                  <a:solidFill>
                    <a:schemeClr val="dk1"/>
                  </a:solidFill>
                  <a:latin typeface="+mn-lt"/>
                  <a:cs typeface="+mn-cs"/>
                </a:rPr>
                <a:t> </a:t>
              </a:r>
              <a:r>
                <a:rPr lang="en-US" sz="2400" b="1" dirty="0" err="1">
                  <a:solidFill>
                    <a:srgbClr val="FF0000"/>
                  </a:solidFill>
                  <a:latin typeface="Times New Roman" pitchFamily="18" charset="0"/>
                  <a:cs typeface="Times New Roman" pitchFamily="18" charset="0"/>
                </a:rPr>
                <a:t>Nguyên</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lý</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thứ</a:t>
              </a:r>
              <a:r>
                <a:rPr lang="en-US" sz="2400" b="1" dirty="0">
                  <a:solidFill>
                    <a:srgbClr val="FF0000"/>
                  </a:solidFill>
                  <a:latin typeface="Times New Roman" pitchFamily="18" charset="0"/>
                  <a:cs typeface="Times New Roman" pitchFamily="18" charset="0"/>
                </a:rPr>
                <a:t> II </a:t>
              </a:r>
              <a:r>
                <a:rPr lang="en-US" sz="2400" b="1" dirty="0" err="1">
                  <a:solidFill>
                    <a:srgbClr val="FF0000"/>
                  </a:solidFill>
                  <a:latin typeface="Times New Roman" pitchFamily="18" charset="0"/>
                  <a:cs typeface="Times New Roman" pitchFamily="18" charset="0"/>
                </a:rPr>
                <a:t>nhiệt</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động</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lực</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học</a:t>
              </a:r>
              <a:endParaRPr lang="en-US" sz="2400" b="1" dirty="0">
                <a:solidFill>
                  <a:srgbClr val="FF0000"/>
                </a:solidFill>
                <a:effectLst>
                  <a:outerShdw blurRad="38100" dist="38100" dir="2700000" algn="tl" rotWithShape="0">
                    <a:srgbClr val="000000">
                      <a:alpha val="43137"/>
                    </a:srgbClr>
                  </a:outerShdw>
                </a:effectLst>
                <a:latin typeface="Times New Roman" pitchFamily="18" charset="0"/>
                <a:cs typeface="Times New Roman" pitchFamily="18" charset="0"/>
              </a:endParaRPr>
            </a:p>
          </p:txBody>
        </p:sp>
      </p:grpSp>
      <p:sp>
        <p:nvSpPr>
          <p:cNvPr id="12" name="Rectangle 3"/>
          <p:cNvSpPr txBox="1">
            <a:spLocks noChangeArrowheads="1"/>
          </p:cNvSpPr>
          <p:nvPr/>
        </p:nvSpPr>
        <p:spPr bwMode="auto">
          <a:xfrm>
            <a:off x="328612" y="960120"/>
            <a:ext cx="8586788" cy="609600"/>
          </a:xfrm>
          <a:prstGeom prst="rect">
            <a:avLst/>
          </a:prstGeom>
          <a:noFill/>
          <a:ln w="9525">
            <a:noFill/>
            <a:miter lim="800000"/>
            <a:headEnd/>
            <a:tailEnd/>
          </a:ln>
        </p:spPr>
        <p:txBody>
          <a:bodyPr/>
          <a:lstStyle/>
          <a:p>
            <a:pPr marL="342900" indent="-342900">
              <a:spcBef>
                <a:spcPct val="20000"/>
              </a:spcBef>
              <a:defRPr/>
            </a:pPr>
            <a:r>
              <a:rPr lang="en-US" sz="2800" b="1">
                <a:solidFill>
                  <a:srgbClr val="FF0000"/>
                </a:solidFill>
                <a:latin typeface="Times New Roman" pitchFamily="18" charset="0"/>
                <a:cs typeface="+mn-cs"/>
              </a:rPr>
              <a:t> Động cơ nhiệt</a:t>
            </a:r>
          </a:p>
          <a:p>
            <a:pPr marL="342900" indent="-342900">
              <a:spcBef>
                <a:spcPct val="20000"/>
              </a:spcBef>
              <a:defRPr/>
            </a:pPr>
            <a:endParaRPr lang="en-US" sz="2800" b="1">
              <a:solidFill>
                <a:srgbClr val="FF0000"/>
              </a:solidFill>
              <a:latin typeface="Times New Roman" pitchFamily="18" charset="0"/>
              <a:cs typeface="+mn-cs"/>
            </a:endParaRPr>
          </a:p>
          <a:p>
            <a:pPr marL="342900" indent="-342900">
              <a:spcBef>
                <a:spcPct val="20000"/>
              </a:spcBef>
              <a:defRPr/>
            </a:pPr>
            <a:endParaRPr lang="en-US" sz="2800" b="1">
              <a:solidFill>
                <a:srgbClr val="FF0000"/>
              </a:solidFill>
              <a:latin typeface="Times New Roman" pitchFamily="18" charset="0"/>
              <a:cs typeface="+mn-cs"/>
            </a:endParaRP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8" name="Rectangle 1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8" name="Rectangle 2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4"/>
          <p:cNvSpPr/>
          <p:nvPr/>
        </p:nvSpPr>
        <p:spPr>
          <a:xfrm>
            <a:off x="762000" y="1566595"/>
            <a:ext cx="3429000" cy="523220"/>
          </a:xfrm>
          <a:prstGeom prst="rect">
            <a:avLst/>
          </a:prstGeom>
        </p:spPr>
        <p:txBody>
          <a:bodyPr wrap="square">
            <a:spAutoFit/>
          </a:bodyPr>
          <a:lstStyle/>
          <a:p>
            <a:r>
              <a:rPr lang="en-US" sz="2800" b="1"/>
              <a:t>Chu trình Carnot:</a:t>
            </a:r>
            <a:endParaRPr lang="en-US" sz="2800" b="1">
              <a:solidFill>
                <a:srgbClr val="050579"/>
              </a:solidFill>
              <a:latin typeface="Times New Roman" pitchFamily="18" charset="0"/>
              <a:cs typeface="Times New Roman" pitchFamily="18" charset="0"/>
            </a:endParaRPr>
          </a:p>
        </p:txBody>
      </p:sp>
      <p:sp>
        <p:nvSpPr>
          <p:cNvPr id="19"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39938" name="Picture 5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1027947"/>
            <a:ext cx="4891356" cy="3535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6" name="Object 15"/>
          <p:cNvGraphicFramePr>
            <a:graphicFrameLocks noChangeAspect="1"/>
          </p:cNvGraphicFramePr>
          <p:nvPr>
            <p:extLst>
              <p:ext uri="{D42A27DB-BD31-4B8C-83A1-F6EECF244321}">
                <p14:modId xmlns:p14="http://schemas.microsoft.com/office/powerpoint/2010/main" val="2137890937"/>
              </p:ext>
            </p:extLst>
          </p:nvPr>
        </p:nvGraphicFramePr>
        <p:xfrm>
          <a:off x="4977925" y="4956872"/>
          <a:ext cx="2353628" cy="1596328"/>
        </p:xfrm>
        <a:graphic>
          <a:graphicData uri="http://schemas.openxmlformats.org/presentationml/2006/ole">
            <mc:AlternateContent xmlns:mc="http://schemas.openxmlformats.org/markup-compatibility/2006">
              <mc:Choice xmlns:v="urn:schemas-microsoft-com:vml" Requires="v">
                <p:oleObj name="Equation" r:id="rId4" imgW="685800" imgH="469900" progId="Equation.DSMT4">
                  <p:embed/>
                </p:oleObj>
              </mc:Choice>
              <mc:Fallback>
                <p:oleObj name="Equation" r:id="rId4" imgW="685800" imgH="4699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77925" y="4956872"/>
                        <a:ext cx="2353628" cy="1596328"/>
                      </a:xfrm>
                      <a:prstGeom prst="rect">
                        <a:avLst/>
                      </a:prstGeom>
                      <a:noFill/>
                    </p:spPr>
                  </p:pic>
                </p:oleObj>
              </mc:Fallback>
            </mc:AlternateContent>
          </a:graphicData>
        </a:graphic>
      </p:graphicFrame>
      <p:sp>
        <p:nvSpPr>
          <p:cNvPr id="17" name="Rectangle 16"/>
          <p:cNvSpPr/>
          <p:nvPr/>
        </p:nvSpPr>
        <p:spPr>
          <a:xfrm>
            <a:off x="282892" y="3657600"/>
            <a:ext cx="3679508" cy="3108543"/>
          </a:xfrm>
          <a:prstGeom prst="rect">
            <a:avLst/>
          </a:prstGeom>
        </p:spPr>
        <p:txBody>
          <a:bodyPr wrap="square">
            <a:spAutoFit/>
          </a:bodyPr>
          <a:lstStyle/>
          <a:p>
            <a:r>
              <a:rPr lang="en-US" sz="2800" b="1" i="1">
                <a:solidFill>
                  <a:srgbClr val="552579"/>
                </a:solidFill>
                <a:latin typeface="Times New Roman" pitchFamily="18" charset="0"/>
                <a:cs typeface="Times New Roman" pitchFamily="18" charset="0"/>
              </a:rPr>
              <a:t>Định lý Carnot:</a:t>
            </a:r>
          </a:p>
          <a:p>
            <a:r>
              <a:rPr lang="en-US" sz="2800" b="1" i="1">
                <a:solidFill>
                  <a:srgbClr val="552579"/>
                </a:solidFill>
                <a:latin typeface="Times New Roman" pitchFamily="18" charset="0"/>
                <a:cs typeface="Times New Roman" pitchFamily="18" charset="0"/>
              </a:rPr>
              <a:t>- Hiệu suát động cơ chạy theo chu trình thuận nghịch lớn hơn hiệu suất của động cơ nhiệt chạy theo chu trình bất tn</a:t>
            </a:r>
            <a:endParaRPr lang="en-US" sz="2800" b="1">
              <a:solidFill>
                <a:srgbClr val="552579"/>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22" name="Rectangle 21"/>
              <p:cNvSpPr/>
              <p:nvPr/>
            </p:nvSpPr>
            <p:spPr>
              <a:xfrm>
                <a:off x="533400" y="2362200"/>
                <a:ext cx="3429000" cy="1017330"/>
              </a:xfrm>
              <a:prstGeom prst="rect">
                <a:avLst/>
              </a:prstGeom>
            </p:spPr>
            <p:txBody>
              <a:bodyPr wrap="square">
                <a:spAutoFit/>
              </a:bodyPr>
              <a:lstStyle/>
              <a:p>
                <a:pPr algn="ctr"/>
                <a14:m>
                  <m:oMath xmlns:m="http://schemas.openxmlformats.org/officeDocument/2006/math">
                    <m:f>
                      <m:fPr>
                        <m:ctrlPr>
                          <a:rPr lang="en-US" sz="4000" b="1" i="1" smtClean="0">
                            <a:solidFill>
                              <a:srgbClr val="050579"/>
                            </a:solidFill>
                            <a:latin typeface="Cambria Math" panose="02040503050406030204" pitchFamily="18" charset="0"/>
                            <a:cs typeface="Times New Roman" pitchFamily="18" charset="0"/>
                          </a:rPr>
                        </m:ctrlPr>
                      </m:fPr>
                      <m:num>
                        <m:r>
                          <a:rPr lang="en-US" sz="4000" b="1" i="1" smtClean="0">
                            <a:solidFill>
                              <a:srgbClr val="050579"/>
                            </a:solidFill>
                            <a:latin typeface="Cambria Math"/>
                            <a:cs typeface="Times New Roman" pitchFamily="18" charset="0"/>
                          </a:rPr>
                          <m:t>𝑽</m:t>
                        </m:r>
                        <m:r>
                          <a:rPr lang="en-US" sz="4000" b="1" i="1" smtClean="0">
                            <a:solidFill>
                              <a:srgbClr val="050579"/>
                            </a:solidFill>
                            <a:latin typeface="Cambria Math"/>
                            <a:cs typeface="Times New Roman" pitchFamily="18" charset="0"/>
                          </a:rPr>
                          <m:t>𝟐</m:t>
                        </m:r>
                      </m:num>
                      <m:den>
                        <m:r>
                          <a:rPr lang="en-US" sz="4000" b="1" i="1" smtClean="0">
                            <a:solidFill>
                              <a:srgbClr val="050579"/>
                            </a:solidFill>
                            <a:latin typeface="Cambria Math"/>
                            <a:cs typeface="Times New Roman" pitchFamily="18" charset="0"/>
                          </a:rPr>
                          <m:t>𝑽</m:t>
                        </m:r>
                        <m:r>
                          <a:rPr lang="en-US" sz="4000" b="1" i="1" smtClean="0">
                            <a:solidFill>
                              <a:srgbClr val="050579"/>
                            </a:solidFill>
                            <a:latin typeface="Cambria Math"/>
                            <a:cs typeface="Times New Roman" pitchFamily="18" charset="0"/>
                          </a:rPr>
                          <m:t>𝟏</m:t>
                        </m:r>
                      </m:den>
                    </m:f>
                  </m:oMath>
                </a14:m>
                <a:r>
                  <a:rPr lang="en-US" sz="2800" b="1">
                    <a:solidFill>
                      <a:srgbClr val="050579"/>
                    </a:solidFill>
                    <a:latin typeface="Times New Roman" pitchFamily="18" charset="0"/>
                    <a:cs typeface="Times New Roman" pitchFamily="18" charset="0"/>
                  </a:rPr>
                  <a:t> = </a:t>
                </a:r>
                <a14:m>
                  <m:oMath xmlns:m="http://schemas.openxmlformats.org/officeDocument/2006/math">
                    <m:f>
                      <m:fPr>
                        <m:ctrlPr>
                          <a:rPr lang="en-US" sz="4000" b="1" i="1" smtClean="0">
                            <a:solidFill>
                              <a:srgbClr val="050579"/>
                            </a:solidFill>
                            <a:latin typeface="Cambria Math" panose="02040503050406030204" pitchFamily="18" charset="0"/>
                            <a:cs typeface="Times New Roman" pitchFamily="18" charset="0"/>
                          </a:rPr>
                        </m:ctrlPr>
                      </m:fPr>
                      <m:num>
                        <m:r>
                          <a:rPr lang="en-US" sz="4000" b="1" i="1" smtClean="0">
                            <a:solidFill>
                              <a:srgbClr val="050579"/>
                            </a:solidFill>
                            <a:latin typeface="Cambria Math"/>
                            <a:cs typeface="Times New Roman" pitchFamily="18" charset="0"/>
                          </a:rPr>
                          <m:t>𝑽</m:t>
                        </m:r>
                        <m:r>
                          <a:rPr lang="en-US" sz="4000" b="1" i="1" smtClean="0">
                            <a:solidFill>
                              <a:srgbClr val="050579"/>
                            </a:solidFill>
                            <a:latin typeface="Cambria Math"/>
                            <a:cs typeface="Times New Roman" pitchFamily="18" charset="0"/>
                          </a:rPr>
                          <m:t>𝟑</m:t>
                        </m:r>
                      </m:num>
                      <m:den>
                        <m:r>
                          <a:rPr lang="en-US" sz="4000" b="1" i="1" smtClean="0">
                            <a:solidFill>
                              <a:srgbClr val="050579"/>
                            </a:solidFill>
                            <a:latin typeface="Cambria Math"/>
                            <a:cs typeface="Times New Roman" pitchFamily="18" charset="0"/>
                          </a:rPr>
                          <m:t>𝑽</m:t>
                        </m:r>
                        <m:r>
                          <a:rPr lang="en-US" sz="4000" b="1" i="1" smtClean="0">
                            <a:solidFill>
                              <a:srgbClr val="050579"/>
                            </a:solidFill>
                            <a:latin typeface="Cambria Math"/>
                            <a:cs typeface="Times New Roman" pitchFamily="18" charset="0"/>
                          </a:rPr>
                          <m:t>𝟒</m:t>
                        </m:r>
                      </m:den>
                    </m:f>
                  </m:oMath>
                </a14:m>
                <a:endParaRPr lang="en-US" sz="4000" b="1">
                  <a:solidFill>
                    <a:srgbClr val="050579"/>
                  </a:solidFill>
                  <a:latin typeface="Times New Roman" pitchFamily="18" charset="0"/>
                  <a:cs typeface="Times New Roman" pitchFamily="18" charset="0"/>
                </a:endParaRPr>
              </a:p>
            </p:txBody>
          </p:sp>
        </mc:Choice>
        <mc:Fallback xmlns="">
          <p:sp>
            <p:nvSpPr>
              <p:cNvPr id="22" name="Rectangle 21"/>
              <p:cNvSpPr>
                <a:spLocks noRot="1" noChangeAspect="1" noMove="1" noResize="1" noEditPoints="1" noAdjustHandles="1" noChangeArrowheads="1" noChangeShapeType="1" noTextEdit="1"/>
              </p:cNvSpPr>
              <p:nvPr/>
            </p:nvSpPr>
            <p:spPr>
              <a:xfrm>
                <a:off x="533400" y="2362200"/>
                <a:ext cx="3429000" cy="1017330"/>
              </a:xfrm>
              <a:prstGeom prst="rect">
                <a:avLst/>
              </a:prstGeom>
              <a:blipFill rotWithShape="1">
                <a:blip r:embed="rId7"/>
                <a:stretch>
                  <a:fillRect/>
                </a:stretch>
              </a:blipFill>
            </p:spPr>
            <p:txBody>
              <a:bodyPr/>
              <a:lstStyle/>
              <a:p>
                <a:r>
                  <a:rPr lang="en-US">
                    <a:noFill/>
                  </a:rPr>
                  <a:t> </a:t>
                </a:r>
              </a:p>
            </p:txBody>
          </p:sp>
        </mc:Fallback>
      </mc:AlternateContent>
      <p:sp>
        <p:nvSpPr>
          <p:cNvPr id="13" name="Footer Placeholder 12">
            <a:extLst>
              <a:ext uri="{FF2B5EF4-FFF2-40B4-BE49-F238E27FC236}">
                <a16:creationId xmlns:a16="http://schemas.microsoft.com/office/drawing/2014/main" id="{CDF2F9B6-3BBF-8C29-3643-7FB14D25625F}"/>
              </a:ext>
            </a:extLst>
          </p:cNvPr>
          <p:cNvSpPr>
            <a:spLocks noGrp="1"/>
          </p:cNvSpPr>
          <p:nvPr>
            <p:ph type="ftr" sz="quarter" idx="11"/>
          </p:nvPr>
        </p:nvSpPr>
        <p:spPr/>
        <p:txBody>
          <a:bodyPr/>
          <a:lstStyle/>
          <a:p>
            <a:r>
              <a:rPr lang="en-US"/>
              <a:t>Bùi Quốc Trung - VLDC</a:t>
            </a:r>
          </a:p>
        </p:txBody>
      </p:sp>
      <p:sp>
        <p:nvSpPr>
          <p:cNvPr id="20" name="Slide Number Placeholder 19">
            <a:extLst>
              <a:ext uri="{FF2B5EF4-FFF2-40B4-BE49-F238E27FC236}">
                <a16:creationId xmlns:a16="http://schemas.microsoft.com/office/drawing/2014/main" id="{A2AE336A-2311-0430-36F6-1A7E71856B55}"/>
              </a:ext>
            </a:extLst>
          </p:cNvPr>
          <p:cNvSpPr>
            <a:spLocks noGrp="1"/>
          </p:cNvSpPr>
          <p:nvPr>
            <p:ph type="sldNum" sz="quarter" idx="12"/>
          </p:nvPr>
        </p:nvSpPr>
        <p:spPr/>
        <p:txBody>
          <a:bodyPr/>
          <a:lstStyle/>
          <a:p>
            <a:fld id="{0C173468-4CCE-478A-9725-791AF0DB04F2}" type="slidenum">
              <a:rPr lang="en-US" smtClean="0"/>
              <a:t>55</a:t>
            </a:fld>
            <a:endParaRPr lang="en-US"/>
          </a:p>
        </p:txBody>
      </p:sp>
    </p:spTree>
    <p:extLst>
      <p:ext uri="{BB962C8B-B14F-4D97-AF65-F5344CB8AC3E}">
        <p14:creationId xmlns:p14="http://schemas.microsoft.com/office/powerpoint/2010/main" val="37757964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checkerboard(across)">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938"/>
                                        </p:tgtEl>
                                        <p:attrNameLst>
                                          <p:attrName>style.visibility</p:attrName>
                                        </p:attrNameLst>
                                      </p:cBhvr>
                                      <p:to>
                                        <p:strVal val="visible"/>
                                      </p:to>
                                    </p:set>
                                    <p:animEffect transition="in" filter="fade">
                                      <p:cBhvr>
                                        <p:cTn id="22" dur="500"/>
                                        <p:tgtEl>
                                          <p:spTgt spid="3993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par>
                          <p:cTn id="28" fill="hold">
                            <p:stCondLst>
                              <p:cond delay="500"/>
                            </p:stCondLst>
                            <p:childTnLst>
                              <p:par>
                                <p:cTn id="29" presetID="10" presetClass="entr" presetSubtype="0" fill="hold" nodeType="after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5" grpId="0"/>
      <p:bldP spid="17" grpId="0"/>
      <p:bldP spid="2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p:nvPr>
        </p:nvSpPr>
        <p:spPr/>
        <p:txBody>
          <a:bodyPr>
            <a:normAutofit/>
          </a:bodyPr>
          <a:lstStyle/>
          <a:p>
            <a:pPr marL="0" indent="0">
              <a:buNone/>
            </a:pPr>
            <a:r>
              <a:rPr lang="en-US" b="1" dirty="0"/>
              <a:t> </a:t>
            </a:r>
            <a:r>
              <a:rPr lang="en-US" b="1" dirty="0" err="1"/>
              <a:t>Một</a:t>
            </a:r>
            <a:r>
              <a:rPr lang="en-US" b="1" dirty="0"/>
              <a:t> </a:t>
            </a:r>
            <a:r>
              <a:rPr lang="en-US" b="1" dirty="0" err="1"/>
              <a:t>động</a:t>
            </a:r>
            <a:r>
              <a:rPr lang="en-US" b="1" dirty="0"/>
              <a:t> </a:t>
            </a:r>
            <a:r>
              <a:rPr lang="en-US" b="1" dirty="0" err="1"/>
              <a:t>cơ</a:t>
            </a:r>
            <a:r>
              <a:rPr lang="en-US" b="1" dirty="0"/>
              <a:t> </a:t>
            </a:r>
            <a:r>
              <a:rPr lang="en-US" b="1" dirty="0" err="1"/>
              <a:t>nhiệt</a:t>
            </a:r>
            <a:r>
              <a:rPr lang="en-US" b="1" dirty="0"/>
              <a:t> </a:t>
            </a:r>
            <a:r>
              <a:rPr lang="en-US" b="1" dirty="0" err="1"/>
              <a:t>làm</a:t>
            </a:r>
            <a:r>
              <a:rPr lang="en-US" b="1" dirty="0"/>
              <a:t> </a:t>
            </a:r>
            <a:r>
              <a:rPr lang="en-US" b="1" dirty="0" err="1"/>
              <a:t>việc</a:t>
            </a:r>
            <a:r>
              <a:rPr lang="en-US" b="1" dirty="0"/>
              <a:t> </a:t>
            </a:r>
            <a:r>
              <a:rPr lang="en-US" b="1" dirty="0" err="1"/>
              <a:t>theo</a:t>
            </a:r>
            <a:r>
              <a:rPr lang="en-US" b="1" dirty="0"/>
              <a:t> </a:t>
            </a:r>
            <a:r>
              <a:rPr lang="en-US" b="1" dirty="0" err="1"/>
              <a:t>chu</a:t>
            </a:r>
            <a:r>
              <a:rPr lang="en-US" b="1" dirty="0"/>
              <a:t> </a:t>
            </a:r>
            <a:r>
              <a:rPr lang="en-US" b="1" dirty="0" err="1"/>
              <a:t>trình</a:t>
            </a:r>
            <a:r>
              <a:rPr lang="en-US" b="1" dirty="0"/>
              <a:t> Carnot </a:t>
            </a:r>
            <a:r>
              <a:rPr lang="en-US" b="1" dirty="0" err="1"/>
              <a:t>thuận</a:t>
            </a:r>
            <a:r>
              <a:rPr lang="en-US" b="1" dirty="0"/>
              <a:t> </a:t>
            </a:r>
            <a:r>
              <a:rPr lang="en-US" b="1" dirty="0" err="1"/>
              <a:t>nghịch</a:t>
            </a:r>
            <a:r>
              <a:rPr lang="en-US" b="1" dirty="0"/>
              <a:t> </a:t>
            </a:r>
            <a:r>
              <a:rPr lang="en-US" b="1" dirty="0" err="1"/>
              <a:t>có</a:t>
            </a:r>
            <a:r>
              <a:rPr lang="en-US" b="1" dirty="0"/>
              <a:t> </a:t>
            </a:r>
            <a:r>
              <a:rPr lang="en-US" b="1" dirty="0" err="1"/>
              <a:t>nhiệt</a:t>
            </a:r>
            <a:r>
              <a:rPr lang="en-US" b="1" dirty="0"/>
              <a:t> </a:t>
            </a:r>
            <a:r>
              <a:rPr lang="en-US" b="1" dirty="0" err="1"/>
              <a:t>độ</a:t>
            </a:r>
            <a:r>
              <a:rPr lang="en-US" b="1" dirty="0"/>
              <a:t> </a:t>
            </a:r>
            <a:r>
              <a:rPr lang="en-US" b="1" dirty="0" err="1"/>
              <a:t>nguồn</a:t>
            </a:r>
            <a:r>
              <a:rPr lang="en-US" b="1" dirty="0"/>
              <a:t> </a:t>
            </a:r>
            <a:r>
              <a:rPr lang="en-US" b="1" dirty="0" err="1"/>
              <a:t>nóng</a:t>
            </a:r>
            <a:r>
              <a:rPr lang="en-US" b="1" dirty="0"/>
              <a:t> </a:t>
            </a:r>
            <a:r>
              <a:rPr lang="en-US" b="1" dirty="0" err="1"/>
              <a:t>là</a:t>
            </a:r>
            <a:r>
              <a:rPr lang="en-US" b="1" dirty="0"/>
              <a:t> 100°C </a:t>
            </a:r>
            <a:r>
              <a:rPr lang="en-US" b="1" dirty="0" err="1"/>
              <a:t>và</a:t>
            </a:r>
            <a:r>
              <a:rPr lang="en-US" b="1" dirty="0"/>
              <a:t> </a:t>
            </a:r>
            <a:r>
              <a:rPr lang="en-US" b="1" dirty="0" err="1"/>
              <a:t>nhiệt</a:t>
            </a:r>
            <a:r>
              <a:rPr lang="en-US" b="1" dirty="0"/>
              <a:t> </a:t>
            </a:r>
            <a:r>
              <a:rPr lang="en-US" b="1" dirty="0" err="1"/>
              <a:t>độ</a:t>
            </a:r>
            <a:r>
              <a:rPr lang="en-US" b="1" dirty="0"/>
              <a:t> </a:t>
            </a:r>
            <a:r>
              <a:rPr lang="en-US" b="1" dirty="0" err="1"/>
              <a:t>nguồn</a:t>
            </a:r>
            <a:r>
              <a:rPr lang="en-US" b="1" dirty="0"/>
              <a:t> </a:t>
            </a:r>
            <a:r>
              <a:rPr lang="en-US" b="1" dirty="0" err="1"/>
              <a:t>lạnh</a:t>
            </a:r>
            <a:r>
              <a:rPr lang="en-US" b="1" dirty="0"/>
              <a:t> 0°C. </a:t>
            </a:r>
            <a:r>
              <a:rPr lang="en-US" b="1" dirty="0" err="1"/>
              <a:t>Tính</a:t>
            </a:r>
            <a:r>
              <a:rPr lang="en-US" b="1" dirty="0"/>
              <a:t> </a:t>
            </a:r>
            <a:r>
              <a:rPr lang="en-US" b="1" dirty="0" err="1"/>
              <a:t>hiệu</a:t>
            </a:r>
            <a:r>
              <a:rPr lang="en-US" b="1" dirty="0"/>
              <a:t> </a:t>
            </a:r>
            <a:r>
              <a:rPr lang="en-US" b="1" dirty="0" err="1"/>
              <a:t>suất</a:t>
            </a:r>
            <a:r>
              <a:rPr lang="en-US" b="1" dirty="0"/>
              <a:t> </a:t>
            </a:r>
            <a:r>
              <a:rPr lang="en-US" b="1" dirty="0" err="1"/>
              <a:t>động</a:t>
            </a:r>
            <a:r>
              <a:rPr lang="en-US" b="1" dirty="0"/>
              <a:t> </a:t>
            </a:r>
            <a:r>
              <a:rPr lang="en-US" b="1" dirty="0" err="1"/>
              <a:t>cơ</a:t>
            </a:r>
            <a:r>
              <a:rPr lang="en-US" b="1" dirty="0"/>
              <a:t> </a:t>
            </a:r>
            <a:r>
              <a:rPr lang="en-US" b="1" dirty="0" err="1"/>
              <a:t>nhiệt</a:t>
            </a:r>
            <a:r>
              <a:rPr lang="en-US" b="1" dirty="0"/>
              <a:t> </a:t>
            </a:r>
            <a:r>
              <a:rPr lang="en-US" b="1" dirty="0" err="1"/>
              <a:t>và</a:t>
            </a:r>
            <a:r>
              <a:rPr lang="en-US" b="1" dirty="0"/>
              <a:t> </a:t>
            </a:r>
            <a:r>
              <a:rPr lang="en-US" b="1" dirty="0" err="1"/>
              <a:t>nhiệt</a:t>
            </a:r>
            <a:r>
              <a:rPr lang="en-US" b="1" dirty="0"/>
              <a:t> </a:t>
            </a:r>
            <a:r>
              <a:rPr lang="en-US" b="1" dirty="0" err="1"/>
              <a:t>lượng</a:t>
            </a:r>
            <a:r>
              <a:rPr lang="en-US" b="1" dirty="0"/>
              <a:t> </a:t>
            </a:r>
            <a:r>
              <a:rPr lang="en-US" b="1" dirty="0" err="1"/>
              <a:t>mà</a:t>
            </a:r>
            <a:r>
              <a:rPr lang="en-US" b="1" dirty="0"/>
              <a:t> </a:t>
            </a:r>
            <a:r>
              <a:rPr lang="en-US" b="1" dirty="0" err="1"/>
              <a:t>tác</a:t>
            </a:r>
            <a:r>
              <a:rPr lang="en-US" b="1" dirty="0"/>
              <a:t> </a:t>
            </a:r>
            <a:r>
              <a:rPr lang="en-US" b="1" dirty="0" err="1"/>
              <a:t>nhân</a:t>
            </a:r>
            <a:r>
              <a:rPr lang="en-US" b="1" dirty="0"/>
              <a:t> </a:t>
            </a:r>
            <a:r>
              <a:rPr lang="en-US" b="1" dirty="0" err="1"/>
              <a:t>nhận</a:t>
            </a:r>
            <a:r>
              <a:rPr lang="en-US" b="1" dirty="0"/>
              <a:t> </a:t>
            </a:r>
            <a:r>
              <a:rPr lang="en-US" b="1" dirty="0" err="1"/>
              <a:t>được</a:t>
            </a:r>
            <a:r>
              <a:rPr lang="en-US" b="1" dirty="0"/>
              <a:t> </a:t>
            </a:r>
            <a:r>
              <a:rPr lang="en-US" b="1" dirty="0" err="1"/>
              <a:t>trong</a:t>
            </a:r>
            <a:r>
              <a:rPr lang="en-US" b="1" dirty="0"/>
              <a:t> </a:t>
            </a:r>
            <a:r>
              <a:rPr lang="en-US" b="1" dirty="0" err="1"/>
              <a:t>một</a:t>
            </a:r>
            <a:r>
              <a:rPr lang="en-US" b="1" dirty="0"/>
              <a:t> </a:t>
            </a:r>
            <a:r>
              <a:rPr lang="en-US" b="1" dirty="0" err="1"/>
              <a:t>chu</a:t>
            </a:r>
            <a:r>
              <a:rPr lang="en-US" b="1" dirty="0"/>
              <a:t> </a:t>
            </a:r>
            <a:r>
              <a:rPr lang="en-US" b="1" dirty="0" err="1"/>
              <a:t>trình</a:t>
            </a:r>
            <a:r>
              <a:rPr lang="en-US" b="1" dirty="0"/>
              <a:t>. </a:t>
            </a:r>
            <a:r>
              <a:rPr lang="en-US" b="1" dirty="0" err="1"/>
              <a:t>Biết</a:t>
            </a:r>
            <a:r>
              <a:rPr lang="en-US" b="1" dirty="0"/>
              <a:t> </a:t>
            </a:r>
            <a:r>
              <a:rPr lang="en-US" b="1" dirty="0" err="1"/>
              <a:t>trong</a:t>
            </a:r>
            <a:r>
              <a:rPr lang="en-US" b="1" dirty="0"/>
              <a:t> </a:t>
            </a:r>
            <a:r>
              <a:rPr lang="en-US" b="1" dirty="0" err="1"/>
              <a:t>một</a:t>
            </a:r>
            <a:r>
              <a:rPr lang="en-US" b="1" dirty="0"/>
              <a:t> </a:t>
            </a:r>
            <a:r>
              <a:rPr lang="en-US" b="1" dirty="0" err="1"/>
              <a:t>chu</a:t>
            </a:r>
            <a:r>
              <a:rPr lang="en-US" b="1" dirty="0"/>
              <a:t> </a:t>
            </a:r>
            <a:r>
              <a:rPr lang="en-US" b="1" dirty="0" err="1"/>
              <a:t>trình</a:t>
            </a:r>
            <a:r>
              <a:rPr lang="en-US" b="1" dirty="0"/>
              <a:t> </a:t>
            </a:r>
            <a:r>
              <a:rPr lang="en-US" b="1" dirty="0" err="1"/>
              <a:t>động</a:t>
            </a:r>
            <a:r>
              <a:rPr lang="en-US" b="1" dirty="0"/>
              <a:t> </a:t>
            </a:r>
            <a:r>
              <a:rPr lang="en-US" b="1" dirty="0" err="1"/>
              <a:t>cơ</a:t>
            </a:r>
            <a:r>
              <a:rPr lang="en-US" b="1" dirty="0"/>
              <a:t> </a:t>
            </a:r>
            <a:r>
              <a:rPr lang="en-US" b="1" dirty="0" err="1"/>
              <a:t>thực</a:t>
            </a:r>
            <a:r>
              <a:rPr lang="en-US" b="1" dirty="0"/>
              <a:t> </a:t>
            </a:r>
            <a:r>
              <a:rPr lang="en-US" b="1" dirty="0" err="1"/>
              <a:t>hiện</a:t>
            </a:r>
            <a:r>
              <a:rPr lang="en-US" b="1" dirty="0"/>
              <a:t> </a:t>
            </a:r>
            <a:r>
              <a:rPr lang="en-US" b="1" dirty="0" err="1"/>
              <a:t>một</a:t>
            </a:r>
            <a:r>
              <a:rPr lang="en-US" b="1" dirty="0"/>
              <a:t> </a:t>
            </a:r>
            <a:r>
              <a:rPr lang="en-US" b="1" dirty="0" err="1"/>
              <a:t>công</a:t>
            </a:r>
            <a:r>
              <a:rPr lang="en-US" b="1" dirty="0"/>
              <a:t> 108 kJ</a:t>
            </a:r>
          </a:p>
          <a:p>
            <a:pPr marL="457200" lvl="1" indent="0" algn="ctr">
              <a:buNone/>
            </a:pPr>
            <a:endParaRPr lang="en-US" sz="3200" b="1" i="1" dirty="0"/>
          </a:p>
          <a:p>
            <a:pPr marL="457200" lvl="1" indent="0" algn="ctr">
              <a:buNone/>
            </a:pPr>
            <a:r>
              <a:rPr lang="el-GR" sz="4000" b="1" i="1" dirty="0"/>
              <a:t>η</a:t>
            </a:r>
            <a:r>
              <a:rPr lang="en-US" sz="4000" b="1" dirty="0"/>
              <a:t> = 0,27</a:t>
            </a:r>
          </a:p>
          <a:p>
            <a:pPr marL="0" lvl="1" indent="0" algn="ctr">
              <a:buNone/>
            </a:pPr>
            <a:r>
              <a:rPr lang="en-US" sz="4000" b="1" dirty="0"/>
              <a:t>			Q1 = 400 kJ</a:t>
            </a:r>
          </a:p>
          <a:p>
            <a:pPr marL="0" indent="0">
              <a:buNone/>
            </a:pPr>
            <a:endParaRPr lang="en-US" dirty="0"/>
          </a:p>
          <a:p>
            <a:endParaRPr lang="en-US" dirty="0"/>
          </a:p>
          <a:p>
            <a:endParaRPr lang="en-US" dirty="0"/>
          </a:p>
        </p:txBody>
      </p:sp>
      <p:graphicFrame>
        <p:nvGraphicFramePr>
          <p:cNvPr id="2" name="Object 1"/>
          <p:cNvGraphicFramePr>
            <a:graphicFrameLocks noChangeAspect="1"/>
          </p:cNvGraphicFramePr>
          <p:nvPr>
            <p:extLst>
              <p:ext uri="{D42A27DB-BD31-4B8C-83A1-F6EECF244321}">
                <p14:modId xmlns:p14="http://schemas.microsoft.com/office/powerpoint/2010/main" val="34771068"/>
              </p:ext>
            </p:extLst>
          </p:nvPr>
        </p:nvGraphicFramePr>
        <p:xfrm>
          <a:off x="685800" y="3352800"/>
          <a:ext cx="2352675" cy="1597025"/>
        </p:xfrm>
        <a:graphic>
          <a:graphicData uri="http://schemas.openxmlformats.org/presentationml/2006/ole">
            <mc:AlternateContent xmlns:mc="http://schemas.openxmlformats.org/markup-compatibility/2006">
              <mc:Choice xmlns:v="urn:schemas-microsoft-com:vml" Requires="v">
                <p:oleObj name="Equation" r:id="rId3" imgW="685800" imgH="469900" progId="Equation.DSMT4">
                  <p:embed/>
                </p:oleObj>
              </mc:Choice>
              <mc:Fallback>
                <p:oleObj name="Equation" r:id="rId3" imgW="685800" imgH="469900" progId="Equation.DSMT4">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3352800"/>
                        <a:ext cx="2352675" cy="159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1238296829"/>
              </p:ext>
            </p:extLst>
          </p:nvPr>
        </p:nvGraphicFramePr>
        <p:xfrm>
          <a:off x="762000" y="4908550"/>
          <a:ext cx="3316288" cy="1416050"/>
        </p:xfrm>
        <a:graphic>
          <a:graphicData uri="http://schemas.openxmlformats.org/presentationml/2006/ole">
            <mc:AlternateContent xmlns:mc="http://schemas.openxmlformats.org/markup-compatibility/2006">
              <mc:Choice xmlns:v="urn:schemas-microsoft-com:vml" Requires="v">
                <p:oleObj name="Equation" r:id="rId5" imgW="1079500" imgH="469900" progId="Equation.DSMT4">
                  <p:embed/>
                </p:oleObj>
              </mc:Choice>
              <mc:Fallback>
                <p:oleObj name="Equation" r:id="rId5" imgW="1079500" imgH="469900" progId="Equation.DSMT4">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0" y="4908550"/>
                        <a:ext cx="3316288" cy="141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Footer Placeholder 4">
            <a:extLst>
              <a:ext uri="{FF2B5EF4-FFF2-40B4-BE49-F238E27FC236}">
                <a16:creationId xmlns:a16="http://schemas.microsoft.com/office/drawing/2014/main" id="{C00A03CE-4442-45CD-5DA5-77FA22C7445A}"/>
              </a:ext>
            </a:extLst>
          </p:cNvPr>
          <p:cNvSpPr>
            <a:spLocks noGrp="1"/>
          </p:cNvSpPr>
          <p:nvPr>
            <p:ph type="ftr" sz="quarter" idx="11"/>
          </p:nvPr>
        </p:nvSpPr>
        <p:spPr/>
        <p:txBody>
          <a:bodyPr/>
          <a:lstStyle/>
          <a:p>
            <a:pPr>
              <a:defRPr/>
            </a:pPr>
            <a:r>
              <a:rPr lang="en-US"/>
              <a:t>Bùi Quốc Trung - VLDC</a:t>
            </a:r>
          </a:p>
        </p:txBody>
      </p:sp>
      <p:sp>
        <p:nvSpPr>
          <p:cNvPr id="6" name="Slide Number Placeholder 5">
            <a:extLst>
              <a:ext uri="{FF2B5EF4-FFF2-40B4-BE49-F238E27FC236}">
                <a16:creationId xmlns:a16="http://schemas.microsoft.com/office/drawing/2014/main" id="{6D60911E-DDB3-ED80-2D7B-324097EBE015}"/>
              </a:ext>
            </a:extLst>
          </p:cNvPr>
          <p:cNvSpPr>
            <a:spLocks noGrp="1"/>
          </p:cNvSpPr>
          <p:nvPr>
            <p:ph type="sldNum" sz="quarter" idx="12"/>
          </p:nvPr>
        </p:nvSpPr>
        <p:spPr/>
        <p:txBody>
          <a:bodyPr/>
          <a:lstStyle/>
          <a:p>
            <a:pPr>
              <a:defRPr/>
            </a:pPr>
            <a:fld id="{003F8D5A-645D-495A-9DEA-99BB03E4A967}" type="slidenum">
              <a:rPr lang="en-US" smtClean="0"/>
              <a:pPr>
                <a:defRPr/>
              </a:pPr>
              <a:t>56</a:t>
            </a:fld>
            <a:endParaRPr lang="en-US"/>
          </a:p>
        </p:txBody>
      </p:sp>
    </p:spTree>
    <p:extLst>
      <p:ext uri="{BB962C8B-B14F-4D97-AF65-F5344CB8AC3E}">
        <p14:creationId xmlns:p14="http://schemas.microsoft.com/office/powerpoint/2010/main" val="1414159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500"/>
                                        <p:tgtEl>
                                          <p:spTgt spid="4">
                                            <p:txEl>
                                              <p:pRg st="2" end="2"/>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18"/>
          <p:cNvGrpSpPr>
            <a:grpSpLocks/>
          </p:cNvGrpSpPr>
          <p:nvPr/>
        </p:nvGrpSpPr>
        <p:grpSpPr bwMode="auto">
          <a:xfrm>
            <a:off x="762000" y="0"/>
            <a:ext cx="7543800" cy="889000"/>
            <a:chOff x="1310" y="1392"/>
            <a:chExt cx="5421" cy="560"/>
          </a:xfrm>
        </p:grpSpPr>
        <p:pic>
          <p:nvPicPr>
            <p:cNvPr id="10"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5421"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14"/>
            <p:cNvSpPr txBox="1">
              <a:spLocks noChangeArrowheads="1"/>
            </p:cNvSpPr>
            <p:nvPr/>
          </p:nvSpPr>
          <p:spPr bwMode="auto">
            <a:xfrm>
              <a:off x="2138" y="1510"/>
              <a:ext cx="3871"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wrap="none">
              <a:spAutoFit/>
            </a:bodyPr>
            <a:lstStyle/>
            <a:p>
              <a:pPr algn="ctr" fontAlgn="auto">
                <a:spcBef>
                  <a:spcPts val="2400"/>
                </a:spcBef>
                <a:spcAft>
                  <a:spcPts val="0"/>
                </a:spcAft>
                <a:defRPr/>
              </a:pPr>
              <a:r>
                <a:rPr lang="en-US" sz="2400" b="1" i="1" dirty="0">
                  <a:solidFill>
                    <a:srgbClr val="FF0000"/>
                  </a:solidFill>
                  <a:effectLst>
                    <a:outerShdw blurRad="38100" dist="38100" dir="2700000" algn="tl">
                      <a:srgbClr val="C0C0C0"/>
                    </a:outerShdw>
                  </a:effectLst>
                  <a:latin typeface="Times New Roman" pitchFamily="18" charset="0"/>
                  <a:cs typeface="Times New Roman" pitchFamily="18" charset="0"/>
                </a:rPr>
                <a:t> 6</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.3</a:t>
              </a:r>
              <a:r>
                <a:rPr lang="en-US" sz="2400" b="1" dirty="0">
                  <a:solidFill>
                    <a:schemeClr val="dk1"/>
                  </a:solidFill>
                  <a:latin typeface="+mn-lt"/>
                  <a:cs typeface="+mn-cs"/>
                </a:rPr>
                <a:t> </a:t>
              </a:r>
              <a:r>
                <a:rPr lang="en-US" sz="2400" b="1" dirty="0" err="1">
                  <a:solidFill>
                    <a:srgbClr val="FF0000"/>
                  </a:solidFill>
                  <a:latin typeface="Times New Roman" pitchFamily="18" charset="0"/>
                  <a:cs typeface="Times New Roman" pitchFamily="18" charset="0"/>
                </a:rPr>
                <a:t>Nguyên</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lý</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thứ</a:t>
              </a:r>
              <a:r>
                <a:rPr lang="en-US" sz="2400" b="1" dirty="0">
                  <a:solidFill>
                    <a:srgbClr val="FF0000"/>
                  </a:solidFill>
                  <a:latin typeface="Times New Roman" pitchFamily="18" charset="0"/>
                  <a:cs typeface="Times New Roman" pitchFamily="18" charset="0"/>
                </a:rPr>
                <a:t> II </a:t>
              </a:r>
              <a:r>
                <a:rPr lang="en-US" sz="2400" b="1" dirty="0" err="1">
                  <a:solidFill>
                    <a:srgbClr val="FF0000"/>
                  </a:solidFill>
                  <a:latin typeface="Times New Roman" pitchFamily="18" charset="0"/>
                  <a:cs typeface="Times New Roman" pitchFamily="18" charset="0"/>
                </a:rPr>
                <a:t>nhiệt</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động</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lực</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học</a:t>
              </a:r>
              <a:endParaRPr lang="en-US" sz="2400" b="1" dirty="0">
                <a:solidFill>
                  <a:srgbClr val="FF0000"/>
                </a:solidFill>
                <a:effectLst>
                  <a:outerShdw blurRad="38100" dist="38100" dir="2700000" algn="tl" rotWithShape="0">
                    <a:srgbClr val="000000">
                      <a:alpha val="43137"/>
                    </a:srgbClr>
                  </a:outerShdw>
                </a:effectLst>
                <a:latin typeface="Times New Roman" pitchFamily="18" charset="0"/>
                <a:cs typeface="Times New Roman" pitchFamily="18" charset="0"/>
              </a:endParaRPr>
            </a:p>
          </p:txBody>
        </p:sp>
      </p:grpSp>
      <p:sp>
        <p:nvSpPr>
          <p:cNvPr id="12" name="Rectangle 3"/>
          <p:cNvSpPr txBox="1">
            <a:spLocks noChangeArrowheads="1"/>
          </p:cNvSpPr>
          <p:nvPr/>
        </p:nvSpPr>
        <p:spPr bwMode="auto">
          <a:xfrm>
            <a:off x="328612" y="960120"/>
            <a:ext cx="3709988" cy="609600"/>
          </a:xfrm>
          <a:prstGeom prst="rect">
            <a:avLst/>
          </a:prstGeom>
          <a:noFill/>
          <a:ln w="9525">
            <a:noFill/>
            <a:miter lim="800000"/>
            <a:headEnd/>
            <a:tailEnd/>
          </a:ln>
        </p:spPr>
        <p:txBody>
          <a:bodyPr/>
          <a:lstStyle/>
          <a:p>
            <a:pPr marL="342900" indent="-342900">
              <a:spcBef>
                <a:spcPct val="20000"/>
              </a:spcBef>
              <a:defRPr/>
            </a:pPr>
            <a:r>
              <a:rPr lang="en-US" sz="2800" b="1">
                <a:solidFill>
                  <a:srgbClr val="FF0000"/>
                </a:solidFill>
                <a:latin typeface="Times New Roman" pitchFamily="18" charset="0"/>
                <a:cs typeface="+mn-cs"/>
              </a:rPr>
              <a:t>e. Máy lạnh</a:t>
            </a:r>
          </a:p>
          <a:p>
            <a:pPr marL="342900" indent="-342900">
              <a:spcBef>
                <a:spcPct val="20000"/>
              </a:spcBef>
              <a:defRPr/>
            </a:pPr>
            <a:endParaRPr lang="en-US" sz="2800" b="1">
              <a:solidFill>
                <a:srgbClr val="FF0000"/>
              </a:solidFill>
              <a:latin typeface="Times New Roman" pitchFamily="18" charset="0"/>
              <a:cs typeface="+mn-cs"/>
            </a:endParaRPr>
          </a:p>
          <a:p>
            <a:pPr marL="342900" indent="-342900">
              <a:spcBef>
                <a:spcPct val="20000"/>
              </a:spcBef>
              <a:defRPr/>
            </a:pPr>
            <a:endParaRPr lang="en-US" sz="2800" b="1">
              <a:solidFill>
                <a:srgbClr val="FF0000"/>
              </a:solidFill>
              <a:latin typeface="Times New Roman" pitchFamily="18" charset="0"/>
              <a:cs typeface="+mn-cs"/>
            </a:endParaRP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8" name="Rectangle 1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8" name="Rectangle 2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12"/>
          <p:cNvSpPr/>
          <p:nvPr/>
        </p:nvSpPr>
        <p:spPr>
          <a:xfrm>
            <a:off x="609600" y="3613666"/>
            <a:ext cx="3429000" cy="523220"/>
          </a:xfrm>
          <a:prstGeom prst="rect">
            <a:avLst/>
          </a:prstGeom>
        </p:spPr>
        <p:txBody>
          <a:bodyPr wrap="square">
            <a:spAutoFit/>
          </a:bodyPr>
          <a:lstStyle/>
          <a:p>
            <a:r>
              <a:rPr lang="en-US" sz="2800" b="1">
                <a:solidFill>
                  <a:srgbClr val="050579"/>
                </a:solidFill>
                <a:latin typeface="Times New Roman" pitchFamily="18" charset="0"/>
                <a:cs typeface="Times New Roman" pitchFamily="18" charset="0"/>
              </a:rPr>
              <a:t>Hệ số làm lạnh:</a:t>
            </a:r>
          </a:p>
        </p:txBody>
      </p:sp>
      <p:sp>
        <p:nvSpPr>
          <p:cNvPr id="19"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0963" name="Picture 5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8134" y="1600200"/>
            <a:ext cx="3855557"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609600" y="1752600"/>
            <a:ext cx="3733800" cy="1384995"/>
          </a:xfrm>
          <a:prstGeom prst="rect">
            <a:avLst/>
          </a:prstGeom>
        </p:spPr>
        <p:txBody>
          <a:bodyPr wrap="square">
            <a:spAutoFit/>
          </a:bodyPr>
          <a:lstStyle/>
          <a:p>
            <a:r>
              <a:rPr lang="en-US" sz="2800" b="1">
                <a:solidFill>
                  <a:srgbClr val="050579"/>
                </a:solidFill>
                <a:latin typeface="Times New Roman" pitchFamily="18" charset="0"/>
                <a:cs typeface="Times New Roman" pitchFamily="18" charset="0"/>
              </a:rPr>
              <a:t>Máy làm lạnh là thiết bị biến công thành nhiệt.</a:t>
            </a:r>
          </a:p>
        </p:txBody>
      </p:sp>
      <p:sp>
        <p:nvSpPr>
          <p:cNvPr id="16"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7" name="Object 16"/>
          <p:cNvGraphicFramePr>
            <a:graphicFrameLocks noChangeAspect="1"/>
          </p:cNvGraphicFramePr>
          <p:nvPr>
            <p:extLst>
              <p:ext uri="{D42A27DB-BD31-4B8C-83A1-F6EECF244321}">
                <p14:modId xmlns:p14="http://schemas.microsoft.com/office/powerpoint/2010/main" val="1066257111"/>
              </p:ext>
            </p:extLst>
          </p:nvPr>
        </p:nvGraphicFramePr>
        <p:xfrm>
          <a:off x="1270172" y="4495800"/>
          <a:ext cx="1826868" cy="1484676"/>
        </p:xfrm>
        <a:graphic>
          <a:graphicData uri="http://schemas.openxmlformats.org/presentationml/2006/ole">
            <mc:AlternateContent xmlns:mc="http://schemas.openxmlformats.org/markup-compatibility/2006">
              <mc:Choice xmlns:v="urn:schemas-microsoft-com:vml" Requires="v">
                <p:oleObj name="Equation" r:id="rId4" imgW="520474" imgH="431613" progId="Equation.DSMT4">
                  <p:embed/>
                </p:oleObj>
              </mc:Choice>
              <mc:Fallback>
                <p:oleObj name="Equation" r:id="rId4" imgW="520474" imgH="43161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0172" y="4495800"/>
                        <a:ext cx="1826868" cy="1484676"/>
                      </a:xfrm>
                      <a:prstGeom prst="rect">
                        <a:avLst/>
                      </a:prstGeom>
                      <a:noFill/>
                    </p:spPr>
                  </p:pic>
                </p:oleObj>
              </mc:Fallback>
            </mc:AlternateContent>
          </a:graphicData>
        </a:graphic>
      </p:graphicFrame>
      <p:sp>
        <p:nvSpPr>
          <p:cNvPr id="5" name="Footer Placeholder 4">
            <a:extLst>
              <a:ext uri="{FF2B5EF4-FFF2-40B4-BE49-F238E27FC236}">
                <a16:creationId xmlns:a16="http://schemas.microsoft.com/office/drawing/2014/main" id="{CB71D05F-DA1D-AF80-FADC-1D2014953D12}"/>
              </a:ext>
            </a:extLst>
          </p:cNvPr>
          <p:cNvSpPr>
            <a:spLocks noGrp="1"/>
          </p:cNvSpPr>
          <p:nvPr>
            <p:ph type="ftr" sz="quarter" idx="11"/>
          </p:nvPr>
        </p:nvSpPr>
        <p:spPr/>
        <p:txBody>
          <a:bodyPr/>
          <a:lstStyle/>
          <a:p>
            <a:r>
              <a:rPr lang="en-US"/>
              <a:t>Bùi Quốc Trung - VLDC</a:t>
            </a:r>
          </a:p>
        </p:txBody>
      </p:sp>
      <p:sp>
        <p:nvSpPr>
          <p:cNvPr id="20" name="Slide Number Placeholder 19">
            <a:extLst>
              <a:ext uri="{FF2B5EF4-FFF2-40B4-BE49-F238E27FC236}">
                <a16:creationId xmlns:a16="http://schemas.microsoft.com/office/drawing/2014/main" id="{2CE0708B-05A8-8199-9A92-ADE41CCEFE88}"/>
              </a:ext>
            </a:extLst>
          </p:cNvPr>
          <p:cNvSpPr>
            <a:spLocks noGrp="1"/>
          </p:cNvSpPr>
          <p:nvPr>
            <p:ph type="sldNum" sz="quarter" idx="12"/>
          </p:nvPr>
        </p:nvSpPr>
        <p:spPr/>
        <p:txBody>
          <a:bodyPr/>
          <a:lstStyle/>
          <a:p>
            <a:fld id="{0C173468-4CCE-478A-9725-791AF0DB04F2}" type="slidenum">
              <a:rPr lang="en-US" smtClean="0"/>
              <a:t>57</a:t>
            </a:fld>
            <a:endParaRPr lang="en-US"/>
          </a:p>
        </p:txBody>
      </p:sp>
    </p:spTree>
    <p:extLst>
      <p:ext uri="{BB962C8B-B14F-4D97-AF65-F5344CB8AC3E}">
        <p14:creationId xmlns:p14="http://schemas.microsoft.com/office/powerpoint/2010/main" val="11230426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checkerboard(across)">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0963"/>
                                        </p:tgtEl>
                                        <p:attrNameLst>
                                          <p:attrName>style.visibility</p:attrName>
                                        </p:attrNameLst>
                                      </p:cBhvr>
                                      <p:to>
                                        <p:strVal val="visible"/>
                                      </p:to>
                                    </p:set>
                                    <p:animEffect transition="in" filter="fade">
                                      <p:cBhvr>
                                        <p:cTn id="22" dur="500"/>
                                        <p:tgtEl>
                                          <p:spTgt spid="4096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500"/>
                            </p:stCondLst>
                            <p:childTnLst>
                              <p:par>
                                <p:cTn id="29" presetID="10" presetClass="entr" presetSubtype="0" fill="hold" nodeType="after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18"/>
          <p:cNvGrpSpPr>
            <a:grpSpLocks/>
          </p:cNvGrpSpPr>
          <p:nvPr/>
        </p:nvGrpSpPr>
        <p:grpSpPr bwMode="auto">
          <a:xfrm>
            <a:off x="762000" y="0"/>
            <a:ext cx="7543800" cy="889000"/>
            <a:chOff x="1310" y="1392"/>
            <a:chExt cx="5421" cy="560"/>
          </a:xfrm>
        </p:grpSpPr>
        <p:pic>
          <p:nvPicPr>
            <p:cNvPr id="10"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5421"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14"/>
            <p:cNvSpPr txBox="1">
              <a:spLocks noChangeArrowheads="1"/>
            </p:cNvSpPr>
            <p:nvPr/>
          </p:nvSpPr>
          <p:spPr bwMode="auto">
            <a:xfrm>
              <a:off x="2138" y="1510"/>
              <a:ext cx="3871"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wrap="none">
              <a:spAutoFit/>
            </a:bodyPr>
            <a:lstStyle/>
            <a:p>
              <a:pPr algn="ctr" fontAlgn="auto">
                <a:spcBef>
                  <a:spcPts val="2400"/>
                </a:spcBef>
                <a:spcAft>
                  <a:spcPts val="0"/>
                </a:spcAft>
                <a:defRPr/>
              </a:pPr>
              <a:r>
                <a:rPr lang="en-US" sz="2400" b="1" i="1">
                  <a:solidFill>
                    <a:srgbClr val="FF0000"/>
                  </a:solidFill>
                  <a:effectLst>
                    <a:outerShdw blurRad="38100" dist="38100" dir="2700000" algn="tl">
                      <a:srgbClr val="C0C0C0"/>
                    </a:outerShdw>
                  </a:effectLst>
                  <a:latin typeface="Times New Roman" pitchFamily="18" charset="0"/>
                  <a:cs typeface="Times New Roman" pitchFamily="18" charset="0"/>
                </a:rPr>
                <a:t> 6</a:t>
              </a:r>
              <a:r>
                <a:rPr lang="en-US" sz="2400" b="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.2</a:t>
              </a:r>
              <a:r>
                <a:rPr lang="en-US" sz="2400" b="1">
                  <a:solidFill>
                    <a:schemeClr val="dk1"/>
                  </a:solidFill>
                  <a:latin typeface="+mn-lt"/>
                  <a:cs typeface="+mn-cs"/>
                </a:rPr>
                <a:t> </a:t>
              </a:r>
              <a:r>
                <a:rPr lang="en-US" sz="2400" b="1">
                  <a:solidFill>
                    <a:srgbClr val="FF0000"/>
                  </a:solidFill>
                  <a:latin typeface="Times New Roman" pitchFamily="18" charset="0"/>
                  <a:cs typeface="Times New Roman" pitchFamily="18" charset="0"/>
                </a:rPr>
                <a:t>Nguyên lý thứ II nhiệt động lực học</a:t>
              </a:r>
              <a:endParaRPr lang="en-US" sz="2400" b="1">
                <a:solidFill>
                  <a:srgbClr val="FF0000"/>
                </a:solidFill>
                <a:effectLst>
                  <a:outerShdw blurRad="38100" dist="38100" dir="2700000" algn="tl" rotWithShape="0">
                    <a:srgbClr val="000000">
                      <a:alpha val="43137"/>
                    </a:srgbClr>
                  </a:outerShdw>
                </a:effectLst>
                <a:latin typeface="Times New Roman" pitchFamily="18" charset="0"/>
                <a:cs typeface="Times New Roman" pitchFamily="18" charset="0"/>
              </a:endParaRPr>
            </a:p>
          </p:txBody>
        </p:sp>
      </p:grpSp>
      <p:sp>
        <p:nvSpPr>
          <p:cNvPr id="12" name="Rectangle 3"/>
          <p:cNvSpPr txBox="1">
            <a:spLocks noChangeArrowheads="1"/>
          </p:cNvSpPr>
          <p:nvPr/>
        </p:nvSpPr>
        <p:spPr bwMode="auto">
          <a:xfrm>
            <a:off x="328612" y="960120"/>
            <a:ext cx="8586788" cy="609600"/>
          </a:xfrm>
          <a:prstGeom prst="rect">
            <a:avLst/>
          </a:prstGeom>
          <a:noFill/>
          <a:ln w="9525">
            <a:noFill/>
            <a:miter lim="800000"/>
            <a:headEnd/>
            <a:tailEnd/>
          </a:ln>
        </p:spPr>
        <p:txBody>
          <a:bodyPr/>
          <a:lstStyle/>
          <a:p>
            <a:pPr marL="342900" indent="-342900">
              <a:spcBef>
                <a:spcPct val="20000"/>
              </a:spcBef>
              <a:defRPr/>
            </a:pPr>
            <a:r>
              <a:rPr lang="en-US" sz="2800" b="1">
                <a:solidFill>
                  <a:srgbClr val="FF0000"/>
                </a:solidFill>
                <a:latin typeface="Times New Roman" pitchFamily="18" charset="0"/>
                <a:cs typeface="+mn-cs"/>
              </a:rPr>
              <a:t>d. Máy làm lạnh</a:t>
            </a:r>
          </a:p>
          <a:p>
            <a:pPr marL="342900" indent="-342900">
              <a:spcBef>
                <a:spcPct val="20000"/>
              </a:spcBef>
              <a:defRPr/>
            </a:pPr>
            <a:endParaRPr lang="en-US" sz="2800" b="1">
              <a:solidFill>
                <a:srgbClr val="FF0000"/>
              </a:solidFill>
              <a:latin typeface="Times New Roman" pitchFamily="18" charset="0"/>
              <a:cs typeface="+mn-cs"/>
            </a:endParaRP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8" name="Rectangle 1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8" name="Rectangle 2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4"/>
          <p:cNvSpPr/>
          <p:nvPr/>
        </p:nvSpPr>
        <p:spPr>
          <a:xfrm>
            <a:off x="762000" y="1566595"/>
            <a:ext cx="3429000" cy="954107"/>
          </a:xfrm>
          <a:prstGeom prst="rect">
            <a:avLst/>
          </a:prstGeom>
        </p:spPr>
        <p:txBody>
          <a:bodyPr wrap="square">
            <a:spAutoFit/>
          </a:bodyPr>
          <a:lstStyle/>
          <a:p>
            <a:r>
              <a:rPr lang="en-US" sz="2800" b="1"/>
              <a:t>Chu trình Carnot nghịch:</a:t>
            </a:r>
            <a:endParaRPr lang="en-US" sz="2800" b="1">
              <a:solidFill>
                <a:srgbClr val="050579"/>
              </a:solidFill>
              <a:latin typeface="Times New Roman" pitchFamily="18" charset="0"/>
              <a:cs typeface="Times New Roman" pitchFamily="18" charset="0"/>
            </a:endParaRPr>
          </a:p>
        </p:txBody>
      </p:sp>
      <p:sp>
        <p:nvSpPr>
          <p:cNvPr id="19"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16"/>
          <p:cNvSpPr/>
          <p:nvPr/>
        </p:nvSpPr>
        <p:spPr>
          <a:xfrm>
            <a:off x="511492" y="5181600"/>
            <a:ext cx="3679508" cy="1384995"/>
          </a:xfrm>
          <a:prstGeom prst="rect">
            <a:avLst/>
          </a:prstGeom>
        </p:spPr>
        <p:txBody>
          <a:bodyPr wrap="square">
            <a:spAutoFit/>
          </a:bodyPr>
          <a:lstStyle/>
          <a:p>
            <a:r>
              <a:rPr lang="en-US" sz="2800" b="1" i="1">
                <a:solidFill>
                  <a:srgbClr val="552579"/>
                </a:solidFill>
                <a:latin typeface="Times New Roman" pitchFamily="18" charset="0"/>
                <a:cs typeface="Times New Roman" pitchFamily="18" charset="0"/>
              </a:rPr>
              <a:t>Hệ số làm lạnh của máy lạnh chạy theo chu trình Carnot:</a:t>
            </a:r>
            <a:endParaRPr lang="en-US" sz="2800" b="1">
              <a:solidFill>
                <a:srgbClr val="552579"/>
              </a:solidFill>
              <a:latin typeface="Times New Roman" pitchFamily="18" charset="0"/>
              <a:cs typeface="Times New Roman" pitchFamily="18" charset="0"/>
            </a:endParaRPr>
          </a:p>
        </p:txBody>
      </p:sp>
      <p:pic>
        <p:nvPicPr>
          <p:cNvPr id="41987" name="Picture 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1752600"/>
            <a:ext cx="4604779" cy="3325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0" name="Object 19"/>
          <p:cNvGraphicFramePr>
            <a:graphicFrameLocks noChangeAspect="1"/>
          </p:cNvGraphicFramePr>
          <p:nvPr>
            <p:extLst>
              <p:ext uri="{D42A27DB-BD31-4B8C-83A1-F6EECF244321}">
                <p14:modId xmlns:p14="http://schemas.microsoft.com/office/powerpoint/2010/main" val="890080807"/>
              </p:ext>
            </p:extLst>
          </p:nvPr>
        </p:nvGraphicFramePr>
        <p:xfrm>
          <a:off x="4622006" y="5190375"/>
          <a:ext cx="2269808" cy="1376220"/>
        </p:xfrm>
        <a:graphic>
          <a:graphicData uri="http://schemas.openxmlformats.org/presentationml/2006/ole">
            <mc:AlternateContent xmlns:mc="http://schemas.openxmlformats.org/markup-compatibility/2006">
              <mc:Choice xmlns:v="urn:schemas-microsoft-com:vml" Requires="v">
                <p:oleObj name="Equation" r:id="rId4" imgW="749300" imgH="457200" progId="Equation.DSMT4">
                  <p:embed/>
                </p:oleObj>
              </mc:Choice>
              <mc:Fallback>
                <p:oleObj name="Equation" r:id="rId4" imgW="749300" imgH="4572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22006" y="5190375"/>
                        <a:ext cx="2269808" cy="1376220"/>
                      </a:xfrm>
                      <a:prstGeom prst="rect">
                        <a:avLst/>
                      </a:prstGeom>
                      <a:noFill/>
                    </p:spPr>
                  </p:pic>
                </p:oleObj>
              </mc:Fallback>
            </mc:AlternateContent>
          </a:graphicData>
        </a:graphic>
      </p:graphicFrame>
      <p:sp>
        <p:nvSpPr>
          <p:cNvPr id="16" name="Footer Placeholder 15">
            <a:extLst>
              <a:ext uri="{FF2B5EF4-FFF2-40B4-BE49-F238E27FC236}">
                <a16:creationId xmlns:a16="http://schemas.microsoft.com/office/drawing/2014/main" id="{081F661B-233B-4C62-E1B2-A5C85BC52753}"/>
              </a:ext>
            </a:extLst>
          </p:cNvPr>
          <p:cNvSpPr>
            <a:spLocks noGrp="1"/>
          </p:cNvSpPr>
          <p:nvPr>
            <p:ph type="ftr" sz="quarter" idx="11"/>
          </p:nvPr>
        </p:nvSpPr>
        <p:spPr/>
        <p:txBody>
          <a:bodyPr/>
          <a:lstStyle/>
          <a:p>
            <a:r>
              <a:rPr lang="en-US"/>
              <a:t>Bùi Quốc Trung - VLDC</a:t>
            </a:r>
          </a:p>
        </p:txBody>
      </p:sp>
      <p:sp>
        <p:nvSpPr>
          <p:cNvPr id="22" name="Slide Number Placeholder 21">
            <a:extLst>
              <a:ext uri="{FF2B5EF4-FFF2-40B4-BE49-F238E27FC236}">
                <a16:creationId xmlns:a16="http://schemas.microsoft.com/office/drawing/2014/main" id="{518A8F8B-D759-2233-7261-28E32211836D}"/>
              </a:ext>
            </a:extLst>
          </p:cNvPr>
          <p:cNvSpPr>
            <a:spLocks noGrp="1"/>
          </p:cNvSpPr>
          <p:nvPr>
            <p:ph type="sldNum" sz="quarter" idx="12"/>
          </p:nvPr>
        </p:nvSpPr>
        <p:spPr/>
        <p:txBody>
          <a:bodyPr/>
          <a:lstStyle/>
          <a:p>
            <a:fld id="{0C173468-4CCE-478A-9725-791AF0DB04F2}" type="slidenum">
              <a:rPr lang="en-US" smtClean="0"/>
              <a:t>58</a:t>
            </a:fld>
            <a:endParaRPr lang="en-US"/>
          </a:p>
        </p:txBody>
      </p:sp>
    </p:spTree>
    <p:extLst>
      <p:ext uri="{BB962C8B-B14F-4D97-AF65-F5344CB8AC3E}">
        <p14:creationId xmlns:p14="http://schemas.microsoft.com/office/powerpoint/2010/main" val="13461852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checkerboard(across)">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1987"/>
                                        </p:tgtEl>
                                        <p:attrNameLst>
                                          <p:attrName>style.visibility</p:attrName>
                                        </p:attrNameLst>
                                      </p:cBhvr>
                                      <p:to>
                                        <p:strVal val="visible"/>
                                      </p:to>
                                    </p:set>
                                    <p:animEffect transition="in" filter="fade">
                                      <p:cBhvr>
                                        <p:cTn id="22" dur="500"/>
                                        <p:tgtEl>
                                          <p:spTgt spid="4198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par>
                          <p:cTn id="28" fill="hold">
                            <p:stCondLst>
                              <p:cond delay="500"/>
                            </p:stCondLst>
                            <p:childTnLst>
                              <p:par>
                                <p:cTn id="29" presetID="10" presetClass="entr" presetSubtype="0" fill="hold" nodeType="after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5" grpId="0"/>
      <p:bldP spid="1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4"/>
          <p:cNvSpPr>
            <a:spLocks noGrp="1" noChangeArrowheads="1"/>
          </p:cNvSpPr>
          <p:nvPr>
            <p:ph/>
          </p:nvPr>
        </p:nvSpPr>
        <p:spPr/>
        <p:style>
          <a:lnRef idx="1">
            <a:schemeClr val="accent2"/>
          </a:lnRef>
          <a:fillRef idx="2">
            <a:schemeClr val="accent2"/>
          </a:fillRef>
          <a:effectRef idx="1">
            <a:schemeClr val="accent2"/>
          </a:effectRef>
          <a:fontRef idx="minor">
            <a:schemeClr val="dk1"/>
          </a:fontRef>
        </p:style>
        <p:txBody>
          <a:bodyPr/>
          <a:lstStyle/>
          <a:p>
            <a:pPr marL="0" indent="0" eaLnBrk="1" hangingPunct="1">
              <a:buNone/>
            </a:pPr>
            <a:r>
              <a:rPr lang="en-US" dirty="0" err="1"/>
              <a:t>Chọn</a:t>
            </a:r>
            <a:r>
              <a:rPr lang="en-US" dirty="0"/>
              <a:t> </a:t>
            </a:r>
            <a:r>
              <a:rPr lang="en-US" dirty="0" err="1"/>
              <a:t>phát</a:t>
            </a:r>
            <a:r>
              <a:rPr lang="en-US" dirty="0"/>
              <a:t> </a:t>
            </a:r>
            <a:r>
              <a:rPr lang="en-US" dirty="0" err="1"/>
              <a:t>biểu</a:t>
            </a:r>
            <a:r>
              <a:rPr lang="en-US" dirty="0"/>
              <a:t> </a:t>
            </a:r>
            <a:r>
              <a:rPr lang="en-US" b="1" dirty="0" err="1"/>
              <a:t>đúng</a:t>
            </a:r>
            <a:r>
              <a:rPr lang="en-US" dirty="0"/>
              <a:t>:</a:t>
            </a:r>
          </a:p>
          <a:p>
            <a:pPr eaLnBrk="1" hangingPunct="1">
              <a:buFontTx/>
              <a:buNone/>
            </a:pPr>
            <a:r>
              <a:rPr lang="en-US" dirty="0"/>
              <a:t>	A. </a:t>
            </a:r>
            <a:r>
              <a:rPr lang="en-US" dirty="0" err="1"/>
              <a:t>Tác</a:t>
            </a:r>
            <a:r>
              <a:rPr lang="en-US" dirty="0"/>
              <a:t> </a:t>
            </a:r>
            <a:r>
              <a:rPr lang="en-US" dirty="0" err="1"/>
              <a:t>nhân</a:t>
            </a:r>
            <a:r>
              <a:rPr lang="en-US" dirty="0"/>
              <a:t> </a:t>
            </a:r>
            <a:r>
              <a:rPr lang="en-US" dirty="0" err="1"/>
              <a:t>của</a:t>
            </a:r>
            <a:r>
              <a:rPr lang="en-US" dirty="0"/>
              <a:t> </a:t>
            </a:r>
            <a:r>
              <a:rPr lang="en-US" dirty="0" err="1"/>
              <a:t>máy</a:t>
            </a:r>
            <a:r>
              <a:rPr lang="en-US" dirty="0"/>
              <a:t> </a:t>
            </a:r>
            <a:r>
              <a:rPr lang="en-US" dirty="0" err="1"/>
              <a:t>lạnh</a:t>
            </a:r>
            <a:r>
              <a:rPr lang="en-US" dirty="0"/>
              <a:t> </a:t>
            </a:r>
            <a:r>
              <a:rPr lang="en-US" dirty="0" err="1"/>
              <a:t>chỉ</a:t>
            </a:r>
            <a:r>
              <a:rPr lang="en-US" dirty="0"/>
              <a:t> </a:t>
            </a:r>
            <a:r>
              <a:rPr lang="en-US" dirty="0" err="1"/>
              <a:t>tiếp</a:t>
            </a:r>
            <a:r>
              <a:rPr lang="en-US" dirty="0"/>
              <a:t> </a:t>
            </a:r>
            <a:r>
              <a:rPr lang="en-US" dirty="0" err="1"/>
              <a:t>xúc</a:t>
            </a:r>
            <a:r>
              <a:rPr lang="en-US" dirty="0"/>
              <a:t> </a:t>
            </a:r>
            <a:r>
              <a:rPr lang="en-US" dirty="0" err="1"/>
              <a:t>với</a:t>
            </a:r>
            <a:r>
              <a:rPr lang="en-US" dirty="0"/>
              <a:t> 1 </a:t>
            </a:r>
            <a:r>
              <a:rPr lang="en-US" dirty="0" err="1"/>
              <a:t>nguồn</a:t>
            </a:r>
            <a:r>
              <a:rPr lang="en-US" dirty="0"/>
              <a:t> </a:t>
            </a:r>
            <a:r>
              <a:rPr lang="en-US" dirty="0" err="1"/>
              <a:t>nhiệt</a:t>
            </a:r>
            <a:r>
              <a:rPr lang="en-US" dirty="0"/>
              <a:t>.</a:t>
            </a:r>
          </a:p>
          <a:p>
            <a:pPr eaLnBrk="1" hangingPunct="1">
              <a:buFontTx/>
              <a:buNone/>
            </a:pPr>
            <a:r>
              <a:rPr lang="en-US" dirty="0"/>
              <a:t>	B. </a:t>
            </a:r>
            <a:r>
              <a:rPr lang="en-US" dirty="0" err="1"/>
              <a:t>Máy</a:t>
            </a:r>
            <a:r>
              <a:rPr lang="en-US" dirty="0"/>
              <a:t> </a:t>
            </a:r>
            <a:r>
              <a:rPr lang="en-US" dirty="0" err="1"/>
              <a:t>lạnh</a:t>
            </a:r>
            <a:r>
              <a:rPr lang="en-US" dirty="0"/>
              <a:t> </a:t>
            </a:r>
            <a:r>
              <a:rPr lang="en-US" dirty="0" err="1"/>
              <a:t>là</a:t>
            </a:r>
            <a:r>
              <a:rPr lang="en-US" dirty="0"/>
              <a:t> </a:t>
            </a:r>
            <a:r>
              <a:rPr lang="en-US" dirty="0" err="1"/>
              <a:t>thiết</a:t>
            </a:r>
            <a:r>
              <a:rPr lang="en-US" dirty="0"/>
              <a:t> </a:t>
            </a:r>
            <a:r>
              <a:rPr lang="en-US" dirty="0" err="1"/>
              <a:t>bị</a:t>
            </a:r>
            <a:r>
              <a:rPr lang="en-US" dirty="0"/>
              <a:t> </a:t>
            </a:r>
            <a:r>
              <a:rPr lang="en-US" dirty="0" err="1"/>
              <a:t>nhận</a:t>
            </a:r>
            <a:r>
              <a:rPr lang="en-US" dirty="0"/>
              <a:t> </a:t>
            </a:r>
            <a:r>
              <a:rPr lang="en-US" dirty="0" err="1"/>
              <a:t>công</a:t>
            </a:r>
            <a:r>
              <a:rPr lang="en-US" dirty="0"/>
              <a:t> </a:t>
            </a:r>
            <a:r>
              <a:rPr lang="en-US" dirty="0" err="1"/>
              <a:t>để</a:t>
            </a:r>
            <a:r>
              <a:rPr lang="en-US" dirty="0"/>
              <a:t> </a:t>
            </a:r>
            <a:r>
              <a:rPr lang="en-US" dirty="0" err="1"/>
              <a:t>chuyển</a:t>
            </a:r>
            <a:r>
              <a:rPr lang="en-US" dirty="0"/>
              <a:t> </a:t>
            </a:r>
            <a:r>
              <a:rPr lang="en-US" dirty="0" err="1"/>
              <a:t>nhiệt</a:t>
            </a:r>
            <a:r>
              <a:rPr lang="en-US" dirty="0"/>
              <a:t> </a:t>
            </a:r>
            <a:r>
              <a:rPr lang="en-US" dirty="0" err="1"/>
              <a:t>từ</a:t>
            </a:r>
            <a:r>
              <a:rPr lang="en-US" dirty="0"/>
              <a:t> </a:t>
            </a:r>
            <a:r>
              <a:rPr lang="en-US" dirty="0" err="1"/>
              <a:t>nguồn</a:t>
            </a:r>
            <a:r>
              <a:rPr lang="en-US" dirty="0"/>
              <a:t> </a:t>
            </a:r>
            <a:r>
              <a:rPr lang="en-US" dirty="0" err="1"/>
              <a:t>nóng</a:t>
            </a:r>
            <a:r>
              <a:rPr lang="en-US" dirty="0"/>
              <a:t> sang </a:t>
            </a:r>
            <a:r>
              <a:rPr lang="en-US" dirty="0" err="1"/>
              <a:t>nguồn</a:t>
            </a:r>
            <a:r>
              <a:rPr lang="en-US" dirty="0"/>
              <a:t> </a:t>
            </a:r>
            <a:r>
              <a:rPr lang="en-US" dirty="0" err="1"/>
              <a:t>lạnh</a:t>
            </a:r>
            <a:endParaRPr lang="en-US" dirty="0"/>
          </a:p>
          <a:p>
            <a:pPr eaLnBrk="1" hangingPunct="1">
              <a:buFontTx/>
              <a:buNone/>
            </a:pPr>
            <a:r>
              <a:rPr lang="en-US" dirty="0"/>
              <a:t>	C. </a:t>
            </a:r>
            <a:r>
              <a:rPr lang="en-US" dirty="0" err="1"/>
              <a:t>Máy</a:t>
            </a:r>
            <a:r>
              <a:rPr lang="en-US" dirty="0"/>
              <a:t> </a:t>
            </a:r>
            <a:r>
              <a:rPr lang="en-US" dirty="0" err="1"/>
              <a:t>lạnh</a:t>
            </a:r>
            <a:r>
              <a:rPr lang="en-US" dirty="0"/>
              <a:t> </a:t>
            </a:r>
            <a:r>
              <a:rPr lang="en-US" dirty="0" err="1"/>
              <a:t>là</a:t>
            </a:r>
            <a:r>
              <a:rPr lang="en-US" dirty="0"/>
              <a:t> </a:t>
            </a:r>
            <a:r>
              <a:rPr lang="en-US" dirty="0" err="1"/>
              <a:t>thiết</a:t>
            </a:r>
            <a:r>
              <a:rPr lang="en-US" dirty="0"/>
              <a:t> </a:t>
            </a:r>
            <a:r>
              <a:rPr lang="en-US" dirty="0" err="1"/>
              <a:t>bị</a:t>
            </a:r>
            <a:r>
              <a:rPr lang="en-US" dirty="0"/>
              <a:t> </a:t>
            </a:r>
            <a:r>
              <a:rPr lang="en-US" dirty="0" err="1"/>
              <a:t>chuyển</a:t>
            </a:r>
            <a:r>
              <a:rPr lang="en-US" dirty="0"/>
              <a:t> </a:t>
            </a:r>
            <a:r>
              <a:rPr lang="en-US" dirty="0" err="1"/>
              <a:t>nhiệt</a:t>
            </a:r>
            <a:r>
              <a:rPr lang="en-US" dirty="0"/>
              <a:t> </a:t>
            </a:r>
            <a:r>
              <a:rPr lang="en-US" dirty="0" err="1"/>
              <a:t>thành</a:t>
            </a:r>
            <a:r>
              <a:rPr lang="en-US" dirty="0"/>
              <a:t> </a:t>
            </a:r>
            <a:r>
              <a:rPr lang="en-US" dirty="0" err="1"/>
              <a:t>công</a:t>
            </a:r>
            <a:r>
              <a:rPr lang="en-US" dirty="0"/>
              <a:t>.</a:t>
            </a:r>
            <a:endParaRPr lang="en-US" u="sng" dirty="0"/>
          </a:p>
          <a:p>
            <a:pPr eaLnBrk="1" hangingPunct="1">
              <a:buFontTx/>
              <a:buNone/>
            </a:pPr>
            <a:r>
              <a:rPr lang="en-US" dirty="0"/>
              <a:t>	D. </a:t>
            </a:r>
            <a:r>
              <a:rPr lang="en-US" dirty="0" err="1"/>
              <a:t>Máy</a:t>
            </a:r>
            <a:r>
              <a:rPr lang="en-US" dirty="0"/>
              <a:t> </a:t>
            </a:r>
            <a:r>
              <a:rPr lang="en-US" dirty="0" err="1"/>
              <a:t>lạnh</a:t>
            </a:r>
            <a:r>
              <a:rPr lang="en-US" dirty="0"/>
              <a:t> </a:t>
            </a:r>
            <a:r>
              <a:rPr lang="en-US" dirty="0" err="1"/>
              <a:t>là</a:t>
            </a:r>
            <a:r>
              <a:rPr lang="en-US" dirty="0"/>
              <a:t> </a:t>
            </a:r>
            <a:r>
              <a:rPr lang="en-US" dirty="0" err="1"/>
              <a:t>thiết</a:t>
            </a:r>
            <a:r>
              <a:rPr lang="en-US" dirty="0"/>
              <a:t> </a:t>
            </a:r>
            <a:r>
              <a:rPr lang="en-US" dirty="0" err="1"/>
              <a:t>bị</a:t>
            </a:r>
            <a:r>
              <a:rPr lang="en-US" dirty="0"/>
              <a:t> </a:t>
            </a:r>
            <a:r>
              <a:rPr lang="en-US" dirty="0" err="1"/>
              <a:t>nhận</a:t>
            </a:r>
            <a:r>
              <a:rPr lang="en-US" dirty="0"/>
              <a:t> </a:t>
            </a:r>
            <a:r>
              <a:rPr lang="en-US" dirty="0" err="1"/>
              <a:t>công</a:t>
            </a:r>
            <a:r>
              <a:rPr lang="en-US" dirty="0"/>
              <a:t> </a:t>
            </a:r>
            <a:r>
              <a:rPr lang="en-US" dirty="0" err="1"/>
              <a:t>để</a:t>
            </a:r>
            <a:r>
              <a:rPr lang="en-US" dirty="0"/>
              <a:t> </a:t>
            </a:r>
            <a:r>
              <a:rPr lang="en-US" dirty="0" err="1"/>
              <a:t>chuyển</a:t>
            </a:r>
            <a:r>
              <a:rPr lang="en-US" dirty="0"/>
              <a:t> </a:t>
            </a:r>
            <a:r>
              <a:rPr lang="en-US" dirty="0" err="1"/>
              <a:t>nhiệt</a:t>
            </a:r>
            <a:r>
              <a:rPr lang="en-US" dirty="0"/>
              <a:t> </a:t>
            </a:r>
            <a:r>
              <a:rPr lang="en-US" dirty="0" err="1"/>
              <a:t>từ</a:t>
            </a:r>
            <a:r>
              <a:rPr lang="en-US" dirty="0"/>
              <a:t> </a:t>
            </a:r>
            <a:r>
              <a:rPr lang="en-US" dirty="0" err="1"/>
              <a:t>nguồn</a:t>
            </a:r>
            <a:r>
              <a:rPr lang="en-US" dirty="0"/>
              <a:t> </a:t>
            </a:r>
            <a:r>
              <a:rPr lang="en-US" dirty="0" err="1"/>
              <a:t>lạnh</a:t>
            </a:r>
            <a:r>
              <a:rPr lang="en-US" dirty="0"/>
              <a:t> sang </a:t>
            </a:r>
            <a:r>
              <a:rPr lang="en-US" dirty="0" err="1"/>
              <a:t>nguồn</a:t>
            </a:r>
            <a:r>
              <a:rPr lang="en-US" dirty="0"/>
              <a:t> </a:t>
            </a:r>
            <a:r>
              <a:rPr lang="en-US" dirty="0" err="1"/>
              <a:t>nóng</a:t>
            </a:r>
            <a:endParaRPr lang="en-US" dirty="0"/>
          </a:p>
        </p:txBody>
      </p:sp>
      <p:sp>
        <p:nvSpPr>
          <p:cNvPr id="2" name="Footer Placeholder 1">
            <a:extLst>
              <a:ext uri="{FF2B5EF4-FFF2-40B4-BE49-F238E27FC236}">
                <a16:creationId xmlns:a16="http://schemas.microsoft.com/office/drawing/2014/main" id="{82D6CFC6-2DB6-1A5B-2147-67D14E6E89F3}"/>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9973745E-4711-3359-0EEF-69BFFE778183}"/>
              </a:ext>
            </a:extLst>
          </p:cNvPr>
          <p:cNvSpPr>
            <a:spLocks noGrp="1"/>
          </p:cNvSpPr>
          <p:nvPr>
            <p:ph type="sldNum" sz="quarter" idx="12"/>
          </p:nvPr>
        </p:nvSpPr>
        <p:spPr/>
        <p:txBody>
          <a:bodyPr/>
          <a:lstStyle/>
          <a:p>
            <a:pPr>
              <a:defRPr/>
            </a:pPr>
            <a:fld id="{003F8D5A-645D-495A-9DEA-99BB03E4A967}" type="slidenum">
              <a:rPr lang="en-US" smtClean="0"/>
              <a:pPr>
                <a:defRPr/>
              </a:pPr>
              <a:t>59</a:t>
            </a:fld>
            <a:endParaRPr lang="en-US"/>
          </a:p>
        </p:txBody>
      </p:sp>
    </p:spTree>
    <p:extLst>
      <p:ext uri="{BB962C8B-B14F-4D97-AF65-F5344CB8AC3E}">
        <p14:creationId xmlns:p14="http://schemas.microsoft.com/office/powerpoint/2010/main" val="696537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5844">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4"/>
          <p:cNvSpPr>
            <a:spLocks noGrp="1" noChangeArrowheads="1"/>
          </p:cNvSpPr>
          <p:nvPr>
            <p:ph/>
          </p:nvPr>
        </p:nvSpPr>
        <p:spPr/>
        <p:style>
          <a:lnRef idx="1">
            <a:schemeClr val="accent2"/>
          </a:lnRef>
          <a:fillRef idx="2">
            <a:schemeClr val="accent2"/>
          </a:fillRef>
          <a:effectRef idx="1">
            <a:schemeClr val="accent2"/>
          </a:effectRef>
          <a:fontRef idx="minor">
            <a:schemeClr val="dk1"/>
          </a:fontRef>
        </p:style>
        <p:txBody>
          <a:bodyPr/>
          <a:lstStyle/>
          <a:p>
            <a:pPr marL="0" indent="0" eaLnBrk="1" hangingPunct="1">
              <a:buNone/>
            </a:pPr>
            <a:r>
              <a:rPr lang="en-US" dirty="0" err="1"/>
              <a:t>Trong</a:t>
            </a:r>
            <a:r>
              <a:rPr lang="en-US" dirty="0"/>
              <a:t> </a:t>
            </a:r>
            <a:r>
              <a:rPr lang="en-US" dirty="0" err="1"/>
              <a:t>máy</a:t>
            </a:r>
            <a:r>
              <a:rPr lang="en-US" dirty="0"/>
              <a:t> </a:t>
            </a:r>
            <a:r>
              <a:rPr lang="en-US" dirty="0" err="1"/>
              <a:t>làm</a:t>
            </a:r>
            <a:r>
              <a:rPr lang="en-US" dirty="0"/>
              <a:t> </a:t>
            </a:r>
            <a:r>
              <a:rPr lang="en-US" dirty="0" err="1"/>
              <a:t>lạnh</a:t>
            </a:r>
            <a:r>
              <a:rPr lang="en-US" dirty="0"/>
              <a:t> </a:t>
            </a:r>
            <a:r>
              <a:rPr lang="en-US" dirty="0" err="1"/>
              <a:t>thì</a:t>
            </a:r>
            <a:r>
              <a:rPr lang="en-US" dirty="0"/>
              <a:t> </a:t>
            </a:r>
            <a:r>
              <a:rPr lang="en-US" dirty="0" err="1"/>
              <a:t>tác</a:t>
            </a:r>
            <a:r>
              <a:rPr lang="en-US" dirty="0"/>
              <a:t> </a:t>
            </a:r>
            <a:r>
              <a:rPr lang="en-US" dirty="0" err="1"/>
              <a:t>nhân</a:t>
            </a:r>
            <a:r>
              <a:rPr lang="en-US" dirty="0"/>
              <a:t> </a:t>
            </a:r>
            <a:r>
              <a:rPr lang="en-US" dirty="0" err="1"/>
              <a:t>có</a:t>
            </a:r>
            <a:r>
              <a:rPr lang="en-US" dirty="0"/>
              <a:t> </a:t>
            </a:r>
            <a:r>
              <a:rPr lang="en-US" dirty="0" err="1"/>
              <a:t>chức</a:t>
            </a:r>
            <a:r>
              <a:rPr lang="en-US" dirty="0"/>
              <a:t> </a:t>
            </a:r>
            <a:r>
              <a:rPr lang="en-US" dirty="0" err="1"/>
              <a:t>năng</a:t>
            </a:r>
            <a:r>
              <a:rPr lang="en-US" dirty="0"/>
              <a:t> </a:t>
            </a:r>
          </a:p>
          <a:p>
            <a:pPr eaLnBrk="1" hangingPunct="1">
              <a:buFontTx/>
              <a:buNone/>
            </a:pPr>
            <a:r>
              <a:rPr lang="en-US" dirty="0"/>
              <a:t>	A. </a:t>
            </a:r>
            <a:r>
              <a:rPr lang="en-US" dirty="0" err="1"/>
              <a:t>Thực</a:t>
            </a:r>
            <a:r>
              <a:rPr lang="en-US" dirty="0"/>
              <a:t> </a:t>
            </a:r>
            <a:r>
              <a:rPr lang="en-US" dirty="0" err="1"/>
              <a:t>hiện</a:t>
            </a:r>
            <a:r>
              <a:rPr lang="en-US" dirty="0"/>
              <a:t> </a:t>
            </a:r>
            <a:r>
              <a:rPr lang="en-US" dirty="0" err="1"/>
              <a:t>công</a:t>
            </a:r>
            <a:r>
              <a:rPr lang="en-US" dirty="0"/>
              <a:t> </a:t>
            </a:r>
            <a:r>
              <a:rPr lang="en-US" dirty="0" err="1"/>
              <a:t>và</a:t>
            </a:r>
            <a:r>
              <a:rPr lang="en-US" dirty="0"/>
              <a:t> </a:t>
            </a:r>
            <a:r>
              <a:rPr lang="en-US" dirty="0" err="1"/>
              <a:t>truyền</a:t>
            </a:r>
            <a:r>
              <a:rPr lang="en-US" dirty="0"/>
              <a:t> </a:t>
            </a:r>
            <a:r>
              <a:rPr lang="en-US" dirty="0" err="1"/>
              <a:t>nhiệt</a:t>
            </a:r>
            <a:r>
              <a:rPr lang="en-US" dirty="0"/>
              <a:t> </a:t>
            </a:r>
            <a:r>
              <a:rPr lang="en-US" dirty="0" err="1"/>
              <a:t>cho</a:t>
            </a:r>
            <a:r>
              <a:rPr lang="en-US" dirty="0"/>
              <a:t> </a:t>
            </a:r>
            <a:r>
              <a:rPr lang="en-US" dirty="0" err="1"/>
              <a:t>môi</a:t>
            </a:r>
            <a:r>
              <a:rPr lang="en-US" dirty="0"/>
              <a:t> </a:t>
            </a:r>
            <a:r>
              <a:rPr lang="en-US" dirty="0" err="1"/>
              <a:t>trường</a:t>
            </a:r>
            <a:r>
              <a:rPr lang="en-US" dirty="0"/>
              <a:t> </a:t>
            </a:r>
            <a:r>
              <a:rPr lang="en-US" dirty="0" err="1"/>
              <a:t>bên</a:t>
            </a:r>
            <a:r>
              <a:rPr lang="en-US" dirty="0"/>
              <a:t> </a:t>
            </a:r>
            <a:r>
              <a:rPr lang="en-US" dirty="0" err="1"/>
              <a:t>trong</a:t>
            </a:r>
            <a:r>
              <a:rPr lang="en-US" dirty="0"/>
              <a:t> </a:t>
            </a:r>
            <a:r>
              <a:rPr lang="en-US" dirty="0" err="1"/>
              <a:t>máy</a:t>
            </a:r>
            <a:endParaRPr lang="en-US" dirty="0"/>
          </a:p>
          <a:p>
            <a:pPr eaLnBrk="1" hangingPunct="1">
              <a:buFontTx/>
              <a:buNone/>
            </a:pPr>
            <a:r>
              <a:rPr lang="en-US" dirty="0"/>
              <a:t>	B. </a:t>
            </a:r>
            <a:r>
              <a:rPr lang="en-US" dirty="0" err="1"/>
              <a:t>Thực</a:t>
            </a:r>
            <a:r>
              <a:rPr lang="en-US" dirty="0"/>
              <a:t> </a:t>
            </a:r>
            <a:r>
              <a:rPr lang="en-US" dirty="0" err="1"/>
              <a:t>hiện</a:t>
            </a:r>
            <a:r>
              <a:rPr lang="en-US" dirty="0"/>
              <a:t> </a:t>
            </a:r>
            <a:r>
              <a:rPr lang="en-US" dirty="0" err="1"/>
              <a:t>công</a:t>
            </a:r>
            <a:r>
              <a:rPr lang="en-US" dirty="0"/>
              <a:t> </a:t>
            </a:r>
            <a:r>
              <a:rPr lang="en-US" dirty="0" err="1"/>
              <a:t>và</a:t>
            </a:r>
            <a:r>
              <a:rPr lang="en-US" dirty="0"/>
              <a:t> </a:t>
            </a:r>
            <a:r>
              <a:rPr lang="en-US" dirty="0" err="1"/>
              <a:t>truyền</a:t>
            </a:r>
            <a:r>
              <a:rPr lang="en-US" dirty="0"/>
              <a:t> </a:t>
            </a:r>
            <a:r>
              <a:rPr lang="en-US" dirty="0" err="1"/>
              <a:t>nhiệt</a:t>
            </a:r>
            <a:r>
              <a:rPr lang="en-US" dirty="0"/>
              <a:t> </a:t>
            </a:r>
            <a:r>
              <a:rPr lang="en-US" dirty="0" err="1"/>
              <a:t>cho</a:t>
            </a:r>
            <a:r>
              <a:rPr lang="en-US" dirty="0"/>
              <a:t> </a:t>
            </a:r>
            <a:r>
              <a:rPr lang="en-US" dirty="0" err="1"/>
              <a:t>môi</a:t>
            </a:r>
            <a:r>
              <a:rPr lang="en-US" dirty="0"/>
              <a:t> </a:t>
            </a:r>
            <a:r>
              <a:rPr lang="en-US" dirty="0" err="1"/>
              <a:t>trường</a:t>
            </a:r>
            <a:r>
              <a:rPr lang="en-US" dirty="0"/>
              <a:t> </a:t>
            </a:r>
            <a:r>
              <a:rPr lang="en-US" dirty="0" err="1"/>
              <a:t>bên</a:t>
            </a:r>
            <a:r>
              <a:rPr lang="en-US" dirty="0"/>
              <a:t> </a:t>
            </a:r>
            <a:r>
              <a:rPr lang="en-US" dirty="0" err="1"/>
              <a:t>ngoài</a:t>
            </a:r>
            <a:r>
              <a:rPr lang="en-US" dirty="0"/>
              <a:t> </a:t>
            </a:r>
            <a:r>
              <a:rPr lang="en-US" dirty="0" err="1"/>
              <a:t>máy</a:t>
            </a:r>
            <a:endParaRPr lang="en-US" dirty="0"/>
          </a:p>
          <a:p>
            <a:pPr eaLnBrk="1" hangingPunct="1">
              <a:buFontTx/>
              <a:buNone/>
            </a:pPr>
            <a:r>
              <a:rPr lang="en-US" dirty="0"/>
              <a:t>	C. </a:t>
            </a:r>
            <a:r>
              <a:rPr lang="en-US" dirty="0" err="1"/>
              <a:t>Nhận</a:t>
            </a:r>
            <a:r>
              <a:rPr lang="en-US" dirty="0"/>
              <a:t> </a:t>
            </a:r>
            <a:r>
              <a:rPr lang="en-US" dirty="0" err="1"/>
              <a:t>công</a:t>
            </a:r>
            <a:r>
              <a:rPr lang="en-US" dirty="0"/>
              <a:t> </a:t>
            </a:r>
            <a:r>
              <a:rPr lang="en-US" dirty="0" err="1"/>
              <a:t>và</a:t>
            </a:r>
            <a:r>
              <a:rPr lang="en-US" dirty="0"/>
              <a:t> </a:t>
            </a:r>
            <a:r>
              <a:rPr lang="en-US" dirty="0" err="1"/>
              <a:t>truyền</a:t>
            </a:r>
            <a:r>
              <a:rPr lang="en-US" dirty="0"/>
              <a:t> </a:t>
            </a:r>
            <a:r>
              <a:rPr lang="en-US" dirty="0" err="1"/>
              <a:t>nhiệt</a:t>
            </a:r>
            <a:r>
              <a:rPr lang="en-US" dirty="0"/>
              <a:t> </a:t>
            </a:r>
            <a:r>
              <a:rPr lang="en-US" dirty="0" err="1"/>
              <a:t>cho</a:t>
            </a:r>
            <a:r>
              <a:rPr lang="en-US" dirty="0"/>
              <a:t> </a:t>
            </a:r>
            <a:r>
              <a:rPr lang="en-US" dirty="0" err="1"/>
              <a:t>môi</a:t>
            </a:r>
            <a:r>
              <a:rPr lang="en-US" dirty="0"/>
              <a:t> </a:t>
            </a:r>
            <a:r>
              <a:rPr lang="en-US" dirty="0" err="1"/>
              <a:t>trường</a:t>
            </a:r>
            <a:r>
              <a:rPr lang="en-US" dirty="0"/>
              <a:t> </a:t>
            </a:r>
            <a:r>
              <a:rPr lang="en-US" dirty="0" err="1"/>
              <a:t>bên</a:t>
            </a:r>
            <a:r>
              <a:rPr lang="en-US" dirty="0"/>
              <a:t> </a:t>
            </a:r>
            <a:r>
              <a:rPr lang="en-US" dirty="0" err="1"/>
              <a:t>trong</a:t>
            </a:r>
            <a:r>
              <a:rPr lang="en-US" dirty="0"/>
              <a:t> </a:t>
            </a:r>
            <a:r>
              <a:rPr lang="en-US" dirty="0" err="1"/>
              <a:t>máy</a:t>
            </a:r>
            <a:endParaRPr lang="en-US" u="sng" dirty="0"/>
          </a:p>
          <a:p>
            <a:pPr eaLnBrk="1" hangingPunct="1">
              <a:buFontTx/>
              <a:buNone/>
            </a:pPr>
            <a:r>
              <a:rPr lang="en-US" dirty="0"/>
              <a:t>	D. </a:t>
            </a:r>
            <a:r>
              <a:rPr lang="en-US" dirty="0" err="1"/>
              <a:t>Nhận</a:t>
            </a:r>
            <a:r>
              <a:rPr lang="en-US" dirty="0"/>
              <a:t> </a:t>
            </a:r>
            <a:r>
              <a:rPr lang="en-US" dirty="0" err="1"/>
              <a:t>công</a:t>
            </a:r>
            <a:r>
              <a:rPr lang="en-US" dirty="0"/>
              <a:t> </a:t>
            </a:r>
            <a:r>
              <a:rPr lang="en-US" dirty="0" err="1"/>
              <a:t>và</a:t>
            </a:r>
            <a:r>
              <a:rPr lang="en-US" dirty="0"/>
              <a:t> </a:t>
            </a:r>
            <a:r>
              <a:rPr lang="en-US" dirty="0" err="1"/>
              <a:t>truyền</a:t>
            </a:r>
            <a:r>
              <a:rPr lang="en-US" dirty="0"/>
              <a:t> </a:t>
            </a:r>
            <a:r>
              <a:rPr lang="en-US" dirty="0" err="1"/>
              <a:t>nhiệt</a:t>
            </a:r>
            <a:r>
              <a:rPr lang="en-US" dirty="0"/>
              <a:t> </a:t>
            </a:r>
            <a:r>
              <a:rPr lang="en-US" dirty="0" err="1"/>
              <a:t>cho</a:t>
            </a:r>
            <a:r>
              <a:rPr lang="en-US" dirty="0"/>
              <a:t> </a:t>
            </a:r>
            <a:r>
              <a:rPr lang="en-US" dirty="0" err="1"/>
              <a:t>môi</a:t>
            </a:r>
            <a:r>
              <a:rPr lang="en-US" dirty="0"/>
              <a:t> </a:t>
            </a:r>
            <a:r>
              <a:rPr lang="en-US" dirty="0" err="1"/>
              <a:t>trường</a:t>
            </a:r>
            <a:r>
              <a:rPr lang="en-US" dirty="0"/>
              <a:t> </a:t>
            </a:r>
            <a:r>
              <a:rPr lang="en-US" dirty="0" err="1"/>
              <a:t>bên</a:t>
            </a:r>
            <a:r>
              <a:rPr lang="en-US" dirty="0"/>
              <a:t> </a:t>
            </a:r>
            <a:r>
              <a:rPr lang="en-US" dirty="0" err="1"/>
              <a:t>ngoài</a:t>
            </a:r>
            <a:r>
              <a:rPr lang="en-US" dirty="0"/>
              <a:t> </a:t>
            </a:r>
            <a:r>
              <a:rPr lang="en-US" dirty="0" err="1"/>
              <a:t>máy</a:t>
            </a:r>
            <a:endParaRPr lang="en-US" dirty="0"/>
          </a:p>
        </p:txBody>
      </p:sp>
      <p:sp>
        <p:nvSpPr>
          <p:cNvPr id="2" name="Footer Placeholder 1">
            <a:extLst>
              <a:ext uri="{FF2B5EF4-FFF2-40B4-BE49-F238E27FC236}">
                <a16:creationId xmlns:a16="http://schemas.microsoft.com/office/drawing/2014/main" id="{CEAA2FBD-A717-B87D-8F47-46FFACB13EAB}"/>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0DD50F37-9751-C9B5-1BCD-0EF4A9053BE0}"/>
              </a:ext>
            </a:extLst>
          </p:cNvPr>
          <p:cNvSpPr>
            <a:spLocks noGrp="1"/>
          </p:cNvSpPr>
          <p:nvPr>
            <p:ph type="sldNum" sz="quarter" idx="12"/>
          </p:nvPr>
        </p:nvSpPr>
        <p:spPr/>
        <p:txBody>
          <a:bodyPr/>
          <a:lstStyle/>
          <a:p>
            <a:pPr>
              <a:defRPr/>
            </a:pPr>
            <a:fld id="{003F8D5A-645D-495A-9DEA-99BB03E4A967}" type="slidenum">
              <a:rPr lang="en-US" smtClean="0"/>
              <a:pPr>
                <a:defRPr/>
              </a:pPr>
              <a:t>60</a:t>
            </a:fld>
            <a:endParaRPr lang="en-US"/>
          </a:p>
        </p:txBody>
      </p:sp>
    </p:spTree>
    <p:extLst>
      <p:ext uri="{BB962C8B-B14F-4D97-AF65-F5344CB8AC3E}">
        <p14:creationId xmlns:p14="http://schemas.microsoft.com/office/powerpoint/2010/main" val="2850997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37892">
                                            <p:txEl>
                                              <p:pRg st="4" end="4"/>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4"/>
          <p:cNvSpPr>
            <a:spLocks noGrp="1" noChangeArrowheads="1"/>
          </p:cNvSpPr>
          <p:nvPr>
            <p:ph/>
          </p:nvPr>
        </p:nvSpPr>
        <p:spPr/>
        <p:style>
          <a:lnRef idx="1">
            <a:schemeClr val="accent5"/>
          </a:lnRef>
          <a:fillRef idx="2">
            <a:schemeClr val="accent5"/>
          </a:fillRef>
          <a:effectRef idx="1">
            <a:schemeClr val="accent5"/>
          </a:effectRef>
          <a:fontRef idx="minor">
            <a:schemeClr val="dk1"/>
          </a:fontRef>
        </p:style>
        <p:txBody>
          <a:bodyPr>
            <a:normAutofit lnSpcReduction="10000"/>
          </a:bodyPr>
          <a:lstStyle/>
          <a:p>
            <a:pPr marL="0" indent="0" eaLnBrk="1" hangingPunct="1">
              <a:buNone/>
            </a:pPr>
            <a:r>
              <a:rPr lang="en-US" dirty="0" err="1"/>
              <a:t>Một</a:t>
            </a:r>
            <a:r>
              <a:rPr lang="en-US" dirty="0"/>
              <a:t> </a:t>
            </a:r>
            <a:r>
              <a:rPr lang="en-US" dirty="0" err="1"/>
              <a:t>động</a:t>
            </a:r>
            <a:r>
              <a:rPr lang="en-US" dirty="0"/>
              <a:t> </a:t>
            </a:r>
            <a:r>
              <a:rPr lang="en-US" dirty="0" err="1"/>
              <a:t>cơ</a:t>
            </a:r>
            <a:r>
              <a:rPr lang="en-US" dirty="0"/>
              <a:t> </a:t>
            </a:r>
            <a:r>
              <a:rPr lang="en-US" dirty="0" err="1"/>
              <a:t>nhiệt</a:t>
            </a:r>
            <a:r>
              <a:rPr lang="en-US" dirty="0"/>
              <a:t> </a:t>
            </a:r>
            <a:r>
              <a:rPr lang="en-US" dirty="0" err="1"/>
              <a:t>lý</a:t>
            </a:r>
            <a:r>
              <a:rPr lang="en-US" dirty="0"/>
              <a:t> </a:t>
            </a:r>
            <a:r>
              <a:rPr lang="en-US" dirty="0" err="1"/>
              <a:t>tưởng</a:t>
            </a:r>
            <a:r>
              <a:rPr lang="en-US" dirty="0"/>
              <a:t> </a:t>
            </a:r>
            <a:r>
              <a:rPr lang="en-US" dirty="0" err="1"/>
              <a:t>hoạt</a:t>
            </a:r>
            <a:r>
              <a:rPr lang="en-US" dirty="0"/>
              <a:t> </a:t>
            </a:r>
            <a:r>
              <a:rPr lang="en-US" dirty="0" err="1"/>
              <a:t>động</a:t>
            </a:r>
            <a:r>
              <a:rPr lang="en-US" dirty="0"/>
              <a:t> </a:t>
            </a:r>
            <a:r>
              <a:rPr lang="en-US" dirty="0" err="1"/>
              <a:t>theo</a:t>
            </a:r>
            <a:r>
              <a:rPr lang="en-US" dirty="0"/>
              <a:t> </a:t>
            </a:r>
            <a:r>
              <a:rPr lang="en-US" dirty="0" err="1"/>
              <a:t>chu</a:t>
            </a:r>
            <a:r>
              <a:rPr lang="en-US" dirty="0"/>
              <a:t> </a:t>
            </a:r>
            <a:r>
              <a:rPr lang="en-US" dirty="0" err="1"/>
              <a:t>trình</a:t>
            </a:r>
            <a:r>
              <a:rPr lang="en-US" dirty="0"/>
              <a:t> </a:t>
            </a:r>
            <a:r>
              <a:rPr lang="en-US" dirty="0" err="1"/>
              <a:t>Cacnô</a:t>
            </a:r>
            <a:r>
              <a:rPr lang="en-US" dirty="0"/>
              <a:t>, </a:t>
            </a:r>
            <a:r>
              <a:rPr lang="en-US" dirty="0" err="1"/>
              <a:t>nhiệt</a:t>
            </a:r>
            <a:r>
              <a:rPr lang="en-US" dirty="0"/>
              <a:t> </a:t>
            </a:r>
            <a:r>
              <a:rPr lang="en-US" dirty="0" err="1"/>
              <a:t>độ</a:t>
            </a:r>
            <a:r>
              <a:rPr lang="en-US" dirty="0"/>
              <a:t> </a:t>
            </a:r>
            <a:r>
              <a:rPr lang="en-US" dirty="0" err="1"/>
              <a:t>của</a:t>
            </a:r>
            <a:r>
              <a:rPr lang="en-US" dirty="0"/>
              <a:t> </a:t>
            </a:r>
            <a:r>
              <a:rPr lang="en-US" dirty="0" err="1"/>
              <a:t>nguồn</a:t>
            </a:r>
            <a:r>
              <a:rPr lang="en-US" dirty="0"/>
              <a:t> </a:t>
            </a:r>
            <a:r>
              <a:rPr lang="en-US" dirty="0" err="1"/>
              <a:t>nóng</a:t>
            </a:r>
            <a:r>
              <a:rPr lang="en-US" dirty="0"/>
              <a:t> </a:t>
            </a:r>
            <a:r>
              <a:rPr lang="en-US" dirty="0" err="1"/>
              <a:t>là</a:t>
            </a:r>
            <a:r>
              <a:rPr lang="en-US" dirty="0"/>
              <a:t> 127°C, </a:t>
            </a:r>
            <a:r>
              <a:rPr lang="en-US" dirty="0" err="1"/>
              <a:t>nhiệt</a:t>
            </a:r>
            <a:r>
              <a:rPr lang="en-US" dirty="0"/>
              <a:t> </a:t>
            </a:r>
            <a:r>
              <a:rPr lang="en-US" dirty="0" err="1"/>
              <a:t>độ</a:t>
            </a:r>
            <a:r>
              <a:rPr lang="en-US" dirty="0"/>
              <a:t> </a:t>
            </a:r>
            <a:r>
              <a:rPr lang="en-US" dirty="0" err="1"/>
              <a:t>của</a:t>
            </a:r>
            <a:r>
              <a:rPr lang="en-US" dirty="0"/>
              <a:t> </a:t>
            </a:r>
            <a:r>
              <a:rPr lang="en-US" dirty="0" err="1"/>
              <a:t>nguồn</a:t>
            </a:r>
            <a:r>
              <a:rPr lang="en-US" dirty="0"/>
              <a:t> </a:t>
            </a:r>
            <a:r>
              <a:rPr lang="en-US" dirty="0" err="1"/>
              <a:t>lạnh</a:t>
            </a:r>
            <a:r>
              <a:rPr lang="en-US" dirty="0"/>
              <a:t> </a:t>
            </a:r>
            <a:r>
              <a:rPr lang="en-US" dirty="0" err="1"/>
              <a:t>là</a:t>
            </a:r>
            <a:r>
              <a:rPr lang="en-US" dirty="0"/>
              <a:t> 27°C. </a:t>
            </a:r>
            <a:r>
              <a:rPr lang="en-US" dirty="0" err="1"/>
              <a:t>Động</a:t>
            </a:r>
            <a:r>
              <a:rPr lang="en-US" dirty="0"/>
              <a:t> </a:t>
            </a:r>
            <a:r>
              <a:rPr lang="en-US" dirty="0" err="1"/>
              <a:t>cơ</a:t>
            </a:r>
            <a:r>
              <a:rPr lang="en-US" dirty="0"/>
              <a:t> </a:t>
            </a:r>
            <a:r>
              <a:rPr lang="en-US" dirty="0" err="1"/>
              <a:t>nhận</a:t>
            </a:r>
            <a:r>
              <a:rPr lang="en-US" dirty="0"/>
              <a:t> </a:t>
            </a:r>
            <a:r>
              <a:rPr lang="en-US" dirty="0" err="1"/>
              <a:t>nhiệt</a:t>
            </a:r>
            <a:r>
              <a:rPr lang="en-US" dirty="0"/>
              <a:t> </a:t>
            </a:r>
            <a:r>
              <a:rPr lang="en-US" dirty="0" err="1"/>
              <a:t>lượng</a:t>
            </a:r>
            <a:r>
              <a:rPr lang="en-US" dirty="0"/>
              <a:t> </a:t>
            </a:r>
            <a:r>
              <a:rPr lang="en-US" dirty="0" err="1"/>
              <a:t>của</a:t>
            </a:r>
            <a:r>
              <a:rPr lang="en-US" dirty="0"/>
              <a:t> </a:t>
            </a:r>
            <a:r>
              <a:rPr lang="en-US" dirty="0" err="1"/>
              <a:t>nguồn</a:t>
            </a:r>
            <a:r>
              <a:rPr lang="en-US" dirty="0"/>
              <a:t> </a:t>
            </a:r>
            <a:r>
              <a:rPr lang="en-US" dirty="0" err="1"/>
              <a:t>nóng</a:t>
            </a:r>
            <a:r>
              <a:rPr lang="en-US" dirty="0"/>
              <a:t> 6300J </a:t>
            </a:r>
            <a:r>
              <a:rPr lang="en-US" dirty="0" err="1"/>
              <a:t>trong</a:t>
            </a:r>
            <a:r>
              <a:rPr lang="en-US" dirty="0"/>
              <a:t> </a:t>
            </a:r>
            <a:r>
              <a:rPr lang="en-US" dirty="0" err="1"/>
              <a:t>mỗi</a:t>
            </a:r>
            <a:r>
              <a:rPr lang="en-US" dirty="0"/>
              <a:t> </a:t>
            </a:r>
            <a:r>
              <a:rPr lang="en-US" dirty="0" err="1"/>
              <a:t>giây</a:t>
            </a:r>
            <a:r>
              <a:rPr lang="en-US" dirty="0"/>
              <a:t>. </a:t>
            </a:r>
            <a:r>
              <a:rPr lang="en-US" dirty="0" err="1"/>
              <a:t>Công</a:t>
            </a:r>
            <a:r>
              <a:rPr lang="en-US" dirty="0"/>
              <a:t> </a:t>
            </a:r>
            <a:r>
              <a:rPr lang="en-US" dirty="0" err="1"/>
              <a:t>suất</a:t>
            </a:r>
            <a:r>
              <a:rPr lang="en-US" dirty="0"/>
              <a:t> </a:t>
            </a:r>
            <a:r>
              <a:rPr lang="en-US" dirty="0" err="1"/>
              <a:t>của</a:t>
            </a:r>
            <a:r>
              <a:rPr lang="en-US" dirty="0"/>
              <a:t> </a:t>
            </a:r>
            <a:r>
              <a:rPr lang="en-US" dirty="0" err="1"/>
              <a:t>động</a:t>
            </a:r>
            <a:r>
              <a:rPr lang="en-US" dirty="0"/>
              <a:t> </a:t>
            </a:r>
            <a:r>
              <a:rPr lang="en-US" dirty="0" err="1"/>
              <a:t>cơ</a:t>
            </a:r>
            <a:r>
              <a:rPr lang="en-US" dirty="0"/>
              <a:t> </a:t>
            </a:r>
            <a:r>
              <a:rPr lang="en-US" dirty="0" err="1"/>
              <a:t>bằng</a:t>
            </a:r>
            <a:endParaRPr lang="en-US" dirty="0"/>
          </a:p>
          <a:p>
            <a:pPr eaLnBrk="1" hangingPunct="1">
              <a:buFontTx/>
              <a:buNone/>
            </a:pPr>
            <a:r>
              <a:rPr lang="en-US" dirty="0"/>
              <a:t>	A.	1245W</a:t>
            </a:r>
            <a:endParaRPr lang="en-US" u="sng" dirty="0"/>
          </a:p>
          <a:p>
            <a:pPr eaLnBrk="1" hangingPunct="1">
              <a:buFontTx/>
              <a:buNone/>
            </a:pPr>
            <a:r>
              <a:rPr lang="en-US" dirty="0"/>
              <a:t>	B.	1575W</a:t>
            </a:r>
          </a:p>
          <a:p>
            <a:pPr eaLnBrk="1" hangingPunct="1">
              <a:buFontTx/>
              <a:buNone/>
            </a:pPr>
            <a:r>
              <a:rPr lang="en-US" dirty="0"/>
              <a:t>	C.	4725W</a:t>
            </a:r>
          </a:p>
          <a:p>
            <a:pPr eaLnBrk="1" hangingPunct="1">
              <a:buFontTx/>
              <a:buNone/>
            </a:pPr>
            <a:r>
              <a:rPr lang="en-US" dirty="0"/>
              <a:t>	D.	4960W</a:t>
            </a:r>
          </a:p>
          <a:p>
            <a:pPr eaLnBrk="1" hangingPunct="1">
              <a:buFontTx/>
              <a:buNone/>
            </a:pPr>
            <a:r>
              <a:rPr lang="en-US" dirty="0" err="1"/>
              <a:t>Tìm</a:t>
            </a:r>
            <a:r>
              <a:rPr lang="en-US" dirty="0"/>
              <a:t> </a:t>
            </a:r>
            <a:r>
              <a:rPr lang="en-US" dirty="0" err="1"/>
              <a:t>nhiệt</a:t>
            </a:r>
            <a:r>
              <a:rPr lang="en-US" dirty="0"/>
              <a:t> </a:t>
            </a:r>
            <a:r>
              <a:rPr lang="en-US" dirty="0" err="1"/>
              <a:t>lượng</a:t>
            </a:r>
            <a:r>
              <a:rPr lang="en-US" dirty="0"/>
              <a:t> </a:t>
            </a:r>
            <a:r>
              <a:rPr lang="en-US" dirty="0" err="1"/>
              <a:t>nhả</a:t>
            </a:r>
            <a:r>
              <a:rPr lang="en-US" dirty="0"/>
              <a:t> </a:t>
            </a:r>
            <a:r>
              <a:rPr lang="en-US" dirty="0" err="1"/>
              <a:t>ra</a:t>
            </a:r>
            <a:r>
              <a:rPr lang="en-US" dirty="0"/>
              <a:t> </a:t>
            </a:r>
            <a:r>
              <a:rPr lang="en-US" dirty="0" err="1"/>
              <a:t>cho</a:t>
            </a:r>
            <a:r>
              <a:rPr lang="en-US" dirty="0"/>
              <a:t> </a:t>
            </a:r>
            <a:r>
              <a:rPr lang="en-US" dirty="0" err="1"/>
              <a:t>nguồn</a:t>
            </a:r>
            <a:r>
              <a:rPr lang="en-US" dirty="0"/>
              <a:t> </a:t>
            </a:r>
            <a:r>
              <a:rPr lang="en-US" dirty="0" err="1"/>
              <a:t>lạnh</a:t>
            </a:r>
            <a:r>
              <a:rPr lang="en-US" dirty="0"/>
              <a:t> </a:t>
            </a:r>
            <a:r>
              <a:rPr lang="en-US" dirty="0" err="1"/>
              <a:t>trong</a:t>
            </a:r>
            <a:r>
              <a:rPr lang="en-US" dirty="0"/>
              <a:t> 1s</a:t>
            </a:r>
          </a:p>
          <a:p>
            <a:pPr eaLnBrk="1" hangingPunct="1">
              <a:buFontTx/>
              <a:buNone/>
            </a:pPr>
            <a:r>
              <a:rPr lang="en-US" dirty="0"/>
              <a:t>			Q’</a:t>
            </a:r>
            <a:r>
              <a:rPr lang="en-US" sz="2000" dirty="0"/>
              <a:t>2 </a:t>
            </a:r>
            <a:r>
              <a:rPr lang="en-US"/>
              <a:t>= 4725J</a:t>
            </a:r>
            <a:endParaRPr lang="en-US" dirty="0"/>
          </a:p>
        </p:txBody>
      </p:sp>
      <mc:AlternateContent xmlns:mc="http://schemas.openxmlformats.org/markup-compatibility/2006" xmlns:a14="http://schemas.microsoft.com/office/drawing/2010/main">
        <mc:Choice Requires="a14">
          <p:sp>
            <p:nvSpPr>
              <p:cNvPr id="2" name="Oval Callout 1"/>
              <p:cNvSpPr/>
              <p:nvPr/>
            </p:nvSpPr>
            <p:spPr>
              <a:xfrm>
                <a:off x="4800600" y="3124200"/>
                <a:ext cx="2895600" cy="1447800"/>
              </a:xfrm>
              <a:prstGeom prst="wedgeEllipse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a:rPr>
                          <m:t>𝐴</m:t>
                        </m:r>
                        <m:r>
                          <a:rPr lang="en-US" b="0" i="1" smtClean="0">
                            <a:latin typeface="Cambria Math"/>
                          </a:rPr>
                          <m:t>′</m:t>
                        </m:r>
                      </m:num>
                      <m:den>
                        <m:r>
                          <a:rPr lang="en-US" b="0" i="1" smtClean="0">
                            <a:latin typeface="Cambria Math"/>
                          </a:rPr>
                          <m:t>𝑡</m:t>
                        </m:r>
                      </m:den>
                    </m:f>
                  </m:oMath>
                </a14:m>
                <a:r>
                  <a:rPr lang="en-US" dirty="0"/>
                  <a:t>, </a:t>
                </a:r>
                <a:r>
                  <a:rPr lang="el-GR" dirty="0"/>
                  <a:t>η</a:t>
                </a:r>
                <a:r>
                  <a:rPr lang="en-US" dirty="0"/>
                  <a:t> = 0,25, A’ = 1575J,  P = 1575W</a:t>
                </a:r>
              </a:p>
            </p:txBody>
          </p:sp>
        </mc:Choice>
        <mc:Fallback xmlns="">
          <p:sp>
            <p:nvSpPr>
              <p:cNvPr id="2" name="Oval Callout 1"/>
              <p:cNvSpPr>
                <a:spLocks noRot="1" noChangeAspect="1" noMove="1" noResize="1" noEditPoints="1" noAdjustHandles="1" noChangeArrowheads="1" noChangeShapeType="1" noTextEdit="1"/>
              </p:cNvSpPr>
              <p:nvPr/>
            </p:nvSpPr>
            <p:spPr>
              <a:xfrm>
                <a:off x="4800600" y="3124200"/>
                <a:ext cx="2895600" cy="1447800"/>
              </a:xfrm>
              <a:prstGeom prst="wedgeEllipseCallout">
                <a:avLst/>
              </a:prstGeom>
              <a:blipFill rotWithShape="1">
                <a:blip r:embed="rId3"/>
                <a:stretch>
                  <a:fillRect/>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FCEB15C6-3A87-07E4-4603-3DF573E37182}"/>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C7007AA4-2083-6BAF-7D19-6D6EDE038B25}"/>
              </a:ext>
            </a:extLst>
          </p:cNvPr>
          <p:cNvSpPr>
            <a:spLocks noGrp="1"/>
          </p:cNvSpPr>
          <p:nvPr>
            <p:ph type="sldNum" sz="quarter" idx="12"/>
          </p:nvPr>
        </p:nvSpPr>
        <p:spPr/>
        <p:txBody>
          <a:bodyPr/>
          <a:lstStyle/>
          <a:p>
            <a:pPr>
              <a:defRPr/>
            </a:pPr>
            <a:fld id="{003F8D5A-645D-495A-9DEA-99BB03E4A967}" type="slidenum">
              <a:rPr lang="en-US" smtClean="0"/>
              <a:pPr>
                <a:defRPr/>
              </a:pPr>
              <a:t>61</a:t>
            </a:fld>
            <a:endParaRPr lang="en-US"/>
          </a:p>
        </p:txBody>
      </p:sp>
    </p:spTree>
    <p:extLst>
      <p:ext uri="{BB962C8B-B14F-4D97-AF65-F5344CB8AC3E}">
        <p14:creationId xmlns:p14="http://schemas.microsoft.com/office/powerpoint/2010/main" val="2612516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940">
                                            <p:txEl>
                                              <p:pRg st="0" end="0"/>
                                            </p:txEl>
                                          </p:spTgt>
                                        </p:tgtEl>
                                        <p:attrNameLst>
                                          <p:attrName>style.visibility</p:attrName>
                                        </p:attrNameLst>
                                      </p:cBhvr>
                                      <p:to>
                                        <p:strVal val="visible"/>
                                      </p:to>
                                    </p:set>
                                    <p:animEffect transition="in" filter="fade">
                                      <p:cBhvr>
                                        <p:cTn id="7" dur="500"/>
                                        <p:tgtEl>
                                          <p:spTgt spid="39940">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9940">
                                            <p:txEl>
                                              <p:pRg st="1" end="1"/>
                                            </p:txEl>
                                          </p:spTgt>
                                        </p:tgtEl>
                                        <p:attrNameLst>
                                          <p:attrName>style.visibility</p:attrName>
                                        </p:attrNameLst>
                                      </p:cBhvr>
                                      <p:to>
                                        <p:strVal val="visible"/>
                                      </p:to>
                                    </p:set>
                                    <p:animEffect transition="in" filter="fade">
                                      <p:cBhvr>
                                        <p:cTn id="10" dur="500"/>
                                        <p:tgtEl>
                                          <p:spTgt spid="39940">
                                            <p:txEl>
                                              <p:pRg st="1" end="1"/>
                                            </p:txEl>
                                          </p:spTgt>
                                        </p:tgtEl>
                                      </p:cBhvr>
                                    </p:animEffect>
                                  </p:childTnLst>
                                </p:cTn>
                              </p:par>
                              <p:par>
                                <p:cTn id="11" presetID="10" presetClass="entr" presetSubtype="0" fill="hold" nodeType="withEffect">
                                  <p:stCondLst>
                                    <p:cond delay="0"/>
                                  </p:stCondLst>
                                  <p:iterate type="lt">
                                    <p:tmPct val="0"/>
                                  </p:iterate>
                                  <p:childTnLst>
                                    <p:set>
                                      <p:cBhvr>
                                        <p:cTn id="12" dur="1" fill="hold">
                                          <p:stCondLst>
                                            <p:cond delay="0"/>
                                          </p:stCondLst>
                                        </p:cTn>
                                        <p:tgtEl>
                                          <p:spTgt spid="39940">
                                            <p:txEl>
                                              <p:pRg st="2" end="2"/>
                                            </p:txEl>
                                          </p:spTgt>
                                        </p:tgtEl>
                                        <p:attrNameLst>
                                          <p:attrName>style.visibility</p:attrName>
                                        </p:attrNameLst>
                                      </p:cBhvr>
                                      <p:to>
                                        <p:strVal val="visible"/>
                                      </p:to>
                                    </p:set>
                                    <p:animEffect transition="in" filter="fade">
                                      <p:cBhvr>
                                        <p:cTn id="13" dur="500"/>
                                        <p:tgtEl>
                                          <p:spTgt spid="39940">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9940">
                                            <p:txEl>
                                              <p:pRg st="3" end="3"/>
                                            </p:txEl>
                                          </p:spTgt>
                                        </p:tgtEl>
                                        <p:attrNameLst>
                                          <p:attrName>style.visibility</p:attrName>
                                        </p:attrNameLst>
                                      </p:cBhvr>
                                      <p:to>
                                        <p:strVal val="visible"/>
                                      </p:to>
                                    </p:set>
                                    <p:animEffect transition="in" filter="fade">
                                      <p:cBhvr>
                                        <p:cTn id="16" dur="500"/>
                                        <p:tgtEl>
                                          <p:spTgt spid="39940">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9940">
                                            <p:txEl>
                                              <p:pRg st="4" end="4"/>
                                            </p:txEl>
                                          </p:spTgt>
                                        </p:tgtEl>
                                        <p:attrNameLst>
                                          <p:attrName>style.visibility</p:attrName>
                                        </p:attrNameLst>
                                      </p:cBhvr>
                                      <p:to>
                                        <p:strVal val="visible"/>
                                      </p:to>
                                    </p:set>
                                    <p:animEffect transition="in" filter="fade">
                                      <p:cBhvr>
                                        <p:cTn id="19" dur="500"/>
                                        <p:tgtEl>
                                          <p:spTgt spid="39940">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8" presetClass="emph" presetSubtype="0" fill="hold" nodeType="clickEffect">
                                  <p:stCondLst>
                                    <p:cond delay="0"/>
                                  </p:stCondLst>
                                  <p:iterate type="lt">
                                    <p:tmPct val="4000"/>
                                  </p:iterate>
                                  <p:childTnLst>
                                    <p:set>
                                      <p:cBhvr override="childStyle">
                                        <p:cTn id="23" dur="500" fill="hold"/>
                                        <p:tgtEl>
                                          <p:spTgt spid="39940">
                                            <p:txEl>
                                              <p:pRg st="2" end="2"/>
                                            </p:txEl>
                                          </p:spTgt>
                                        </p:tgtEl>
                                        <p:attrNameLst>
                                          <p:attrName>style.textDecorationUnderline</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39940">
                                            <p:txEl>
                                              <p:pRg st="5" end="5"/>
                                            </p:txEl>
                                          </p:spTgt>
                                        </p:tgtEl>
                                        <p:attrNameLst>
                                          <p:attrName>style.visibility</p:attrName>
                                        </p:attrNameLst>
                                      </p:cBhvr>
                                      <p:to>
                                        <p:strVal val="visible"/>
                                      </p:to>
                                    </p:set>
                                    <p:anim calcmode="lin" valueType="num">
                                      <p:cBhvr additive="base">
                                        <p:cTn id="28" dur="500" fill="hold"/>
                                        <p:tgtEl>
                                          <p:spTgt spid="39940">
                                            <p:txEl>
                                              <p:pRg st="5" end="5"/>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994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39940">
                                            <p:txEl>
                                              <p:pRg st="6" end="6"/>
                                            </p:txEl>
                                          </p:spTgt>
                                        </p:tgtEl>
                                        <p:attrNameLst>
                                          <p:attrName>style.visibility</p:attrName>
                                        </p:attrNameLst>
                                      </p:cBhvr>
                                      <p:to>
                                        <p:strVal val="visible"/>
                                      </p:to>
                                    </p:set>
                                    <p:animEffect transition="in" filter="fade">
                                      <p:cBhvr>
                                        <p:cTn id="34" dur="1000"/>
                                        <p:tgtEl>
                                          <p:spTgt spid="39940">
                                            <p:txEl>
                                              <p:pRg st="6" end="6"/>
                                            </p:txEl>
                                          </p:spTgt>
                                        </p:tgtEl>
                                      </p:cBhvr>
                                    </p:animEffect>
                                    <p:anim calcmode="lin" valueType="num">
                                      <p:cBhvr>
                                        <p:cTn id="35" dur="1000" fill="hold"/>
                                        <p:tgtEl>
                                          <p:spTgt spid="39940">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3994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grpId="0" nodeType="click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randombar(horizontal)">
                                      <p:cBhvr>
                                        <p:cTn id="4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4"/>
          <p:cNvSpPr>
            <a:spLocks noGrp="1" noChangeArrowheads="1"/>
          </p:cNvSpPr>
          <p:nvPr>
            <p:ph/>
          </p:nvPr>
        </p:nvSpPr>
        <p:spPr>
          <a:xfrm>
            <a:off x="457200" y="274638"/>
            <a:ext cx="8229600" cy="6049962"/>
          </a:xfrm>
        </p:spPr>
        <p:style>
          <a:lnRef idx="1">
            <a:schemeClr val="accent5"/>
          </a:lnRef>
          <a:fillRef idx="2">
            <a:schemeClr val="accent5"/>
          </a:fillRef>
          <a:effectRef idx="1">
            <a:schemeClr val="accent5"/>
          </a:effectRef>
          <a:fontRef idx="minor">
            <a:schemeClr val="dk1"/>
          </a:fontRef>
        </p:style>
        <p:txBody>
          <a:bodyPr/>
          <a:lstStyle/>
          <a:p>
            <a:pPr marL="0" indent="0" eaLnBrk="1" hangingPunct="1">
              <a:buNone/>
            </a:pPr>
            <a:r>
              <a:rPr lang="en-US" dirty="0" err="1"/>
              <a:t>Một</a:t>
            </a:r>
            <a:r>
              <a:rPr lang="en-US" dirty="0"/>
              <a:t> </a:t>
            </a:r>
            <a:r>
              <a:rPr lang="en-US" dirty="0" err="1"/>
              <a:t>tủ</a:t>
            </a:r>
            <a:r>
              <a:rPr lang="en-US" dirty="0"/>
              <a:t> </a:t>
            </a:r>
            <a:r>
              <a:rPr lang="en-US" dirty="0" err="1"/>
              <a:t>lạnh</a:t>
            </a:r>
            <a:r>
              <a:rPr lang="en-US" dirty="0"/>
              <a:t> </a:t>
            </a:r>
            <a:r>
              <a:rPr lang="en-US" dirty="0" err="1"/>
              <a:t>gia</a:t>
            </a:r>
            <a:r>
              <a:rPr lang="en-US" dirty="0"/>
              <a:t> </a:t>
            </a:r>
            <a:r>
              <a:rPr lang="en-US" dirty="0" err="1"/>
              <a:t>đình</a:t>
            </a:r>
            <a:r>
              <a:rPr lang="en-US" dirty="0"/>
              <a:t> </a:t>
            </a:r>
            <a:r>
              <a:rPr lang="en-US" dirty="0" err="1"/>
              <a:t>có</a:t>
            </a:r>
            <a:r>
              <a:rPr lang="en-US" dirty="0"/>
              <a:t> </a:t>
            </a:r>
            <a:r>
              <a:rPr lang="el-GR" dirty="0"/>
              <a:t>ε</a:t>
            </a:r>
            <a:r>
              <a:rPr lang="en-US" dirty="0"/>
              <a:t> = 4,7 </a:t>
            </a:r>
            <a:r>
              <a:rPr lang="en-US" dirty="0" err="1"/>
              <a:t>nó</a:t>
            </a:r>
            <a:r>
              <a:rPr lang="en-US" dirty="0"/>
              <a:t> </a:t>
            </a:r>
            <a:r>
              <a:rPr lang="en-US" dirty="0" err="1"/>
              <a:t>rút</a:t>
            </a:r>
            <a:r>
              <a:rPr lang="en-US" dirty="0"/>
              <a:t> </a:t>
            </a:r>
            <a:r>
              <a:rPr lang="en-US" dirty="0" err="1"/>
              <a:t>ra</a:t>
            </a:r>
            <a:r>
              <a:rPr lang="en-US" dirty="0"/>
              <a:t> </a:t>
            </a:r>
            <a:r>
              <a:rPr lang="en-US" dirty="0" err="1"/>
              <a:t>từ</a:t>
            </a:r>
            <a:r>
              <a:rPr lang="en-US" dirty="0"/>
              <a:t> </a:t>
            </a:r>
            <a:r>
              <a:rPr lang="en-US" dirty="0" err="1"/>
              <a:t>nguồn</a:t>
            </a:r>
            <a:r>
              <a:rPr lang="en-US" dirty="0"/>
              <a:t> </a:t>
            </a:r>
            <a:r>
              <a:rPr lang="en-US" dirty="0" err="1"/>
              <a:t>lạnh</a:t>
            </a:r>
            <a:r>
              <a:rPr lang="en-US" dirty="0"/>
              <a:t> </a:t>
            </a:r>
            <a:r>
              <a:rPr lang="en-US" dirty="0" err="1"/>
              <a:t>với</a:t>
            </a:r>
            <a:r>
              <a:rPr lang="en-US" dirty="0"/>
              <a:t> </a:t>
            </a:r>
            <a:r>
              <a:rPr lang="en-US" dirty="0" err="1"/>
              <a:t>tốc</a:t>
            </a:r>
            <a:r>
              <a:rPr lang="en-US" dirty="0"/>
              <a:t> </a:t>
            </a:r>
            <a:r>
              <a:rPr lang="en-US" dirty="0" err="1"/>
              <a:t>độ</a:t>
            </a:r>
            <a:r>
              <a:rPr lang="en-US" dirty="0"/>
              <a:t> 250J </a:t>
            </a:r>
            <a:r>
              <a:rPr lang="en-US" dirty="0" err="1"/>
              <a:t>trong</a:t>
            </a:r>
            <a:r>
              <a:rPr lang="en-US" dirty="0"/>
              <a:t> </a:t>
            </a:r>
            <a:r>
              <a:rPr lang="en-US" dirty="0" err="1"/>
              <a:t>mỗi</a:t>
            </a:r>
            <a:r>
              <a:rPr lang="en-US" dirty="0"/>
              <a:t> chu </a:t>
            </a:r>
            <a:r>
              <a:rPr lang="en-US" dirty="0" err="1"/>
              <a:t>trình</a:t>
            </a:r>
            <a:r>
              <a:rPr lang="en-US" dirty="0"/>
              <a:t>.</a:t>
            </a:r>
          </a:p>
          <a:p>
            <a:pPr lvl="1" eaLnBrk="1" hangingPunct="1">
              <a:buFontTx/>
              <a:buNone/>
            </a:pPr>
            <a:r>
              <a:rPr lang="en-US" sz="3200" dirty="0"/>
              <a:t>a) </a:t>
            </a:r>
            <a:r>
              <a:rPr lang="en-US" sz="3200" dirty="0" err="1"/>
              <a:t>Cần</a:t>
            </a:r>
            <a:r>
              <a:rPr lang="en-US" sz="3200" dirty="0"/>
              <a:t> bao </a:t>
            </a:r>
            <a:r>
              <a:rPr lang="en-US" sz="3200" dirty="0" err="1"/>
              <a:t>nhiêu</a:t>
            </a:r>
            <a:r>
              <a:rPr lang="en-US" sz="3200" dirty="0"/>
              <a:t> </a:t>
            </a:r>
            <a:r>
              <a:rPr lang="en-US" sz="3200" dirty="0" err="1"/>
              <a:t>công</a:t>
            </a:r>
            <a:r>
              <a:rPr lang="en-US" sz="3200" dirty="0"/>
              <a:t> </a:t>
            </a:r>
            <a:r>
              <a:rPr lang="en-US" sz="3200" dirty="0" err="1"/>
              <a:t>trong</a:t>
            </a:r>
            <a:r>
              <a:rPr lang="en-US" sz="3200" dirty="0"/>
              <a:t> </a:t>
            </a:r>
            <a:r>
              <a:rPr lang="en-US" sz="3200" dirty="0" err="1"/>
              <a:t>một</a:t>
            </a:r>
            <a:r>
              <a:rPr lang="en-US" sz="3200" dirty="0"/>
              <a:t> chu </a:t>
            </a:r>
            <a:r>
              <a:rPr lang="en-US" sz="3200" dirty="0" err="1"/>
              <a:t>trình</a:t>
            </a:r>
            <a:r>
              <a:rPr lang="en-US" sz="3200" dirty="0"/>
              <a:t> </a:t>
            </a:r>
            <a:r>
              <a:rPr lang="en-US" sz="3200" dirty="0" err="1"/>
              <a:t>để</a:t>
            </a:r>
            <a:r>
              <a:rPr lang="en-US" sz="3200" dirty="0"/>
              <a:t> </a:t>
            </a:r>
            <a:r>
              <a:rPr lang="en-US" sz="3200" dirty="0" err="1"/>
              <a:t>tủ</a:t>
            </a:r>
            <a:r>
              <a:rPr lang="en-US" sz="3200" dirty="0"/>
              <a:t> </a:t>
            </a:r>
            <a:r>
              <a:rPr lang="en-US" sz="3200" dirty="0" err="1"/>
              <a:t>lạnh</a:t>
            </a:r>
            <a:r>
              <a:rPr lang="en-US" sz="3200" dirty="0"/>
              <a:t> </a:t>
            </a:r>
            <a:r>
              <a:rPr lang="en-US" sz="3200" dirty="0" err="1"/>
              <a:t>hoạt</a:t>
            </a:r>
            <a:r>
              <a:rPr lang="en-US" sz="3200" dirty="0"/>
              <a:t> </a:t>
            </a:r>
            <a:r>
              <a:rPr lang="en-US" sz="3200" dirty="0" err="1"/>
              <a:t>động</a:t>
            </a:r>
            <a:r>
              <a:rPr lang="en-US" sz="3200" dirty="0"/>
              <a:t>?</a:t>
            </a:r>
          </a:p>
          <a:p>
            <a:pPr lvl="1" eaLnBrk="1" hangingPunct="1">
              <a:buFontTx/>
              <a:buNone/>
            </a:pPr>
            <a:r>
              <a:rPr lang="en-US" sz="3200" dirty="0"/>
              <a:t>b) </a:t>
            </a:r>
            <a:r>
              <a:rPr lang="en-US" sz="3200" dirty="0" err="1"/>
              <a:t>Trong</a:t>
            </a:r>
            <a:r>
              <a:rPr lang="en-US" sz="3200" dirty="0"/>
              <a:t> </a:t>
            </a:r>
            <a:r>
              <a:rPr lang="en-US" sz="3200" dirty="0" err="1"/>
              <a:t>mỗi</a:t>
            </a:r>
            <a:r>
              <a:rPr lang="en-US" sz="3200"/>
              <a:t> chu </a:t>
            </a:r>
            <a:r>
              <a:rPr lang="en-US" sz="3200" dirty="0" err="1"/>
              <a:t>trình</a:t>
            </a:r>
            <a:r>
              <a:rPr lang="en-US" sz="3200" dirty="0"/>
              <a:t> </a:t>
            </a:r>
            <a:r>
              <a:rPr lang="en-US" sz="3200" dirty="0" err="1"/>
              <a:t>có</a:t>
            </a:r>
            <a:r>
              <a:rPr lang="en-US" sz="3200" dirty="0"/>
              <a:t> bao </a:t>
            </a:r>
            <a:r>
              <a:rPr lang="en-US" sz="3200" dirty="0" err="1"/>
              <a:t>nhiêu</a:t>
            </a:r>
            <a:r>
              <a:rPr lang="en-US" sz="3200" dirty="0"/>
              <a:t> </a:t>
            </a:r>
            <a:r>
              <a:rPr lang="en-US" sz="3200" dirty="0" err="1"/>
              <a:t>nhiệt</a:t>
            </a:r>
            <a:r>
              <a:rPr lang="en-US" sz="3200" dirty="0"/>
              <a:t> </a:t>
            </a:r>
            <a:r>
              <a:rPr lang="en-US" sz="3200" dirty="0" err="1"/>
              <a:t>lượng</a:t>
            </a:r>
            <a:r>
              <a:rPr lang="en-US" sz="3200" dirty="0"/>
              <a:t> </a:t>
            </a:r>
            <a:r>
              <a:rPr lang="en-US" sz="3200" dirty="0" err="1"/>
              <a:t>toả</a:t>
            </a:r>
            <a:r>
              <a:rPr lang="en-US" sz="3200" dirty="0"/>
              <a:t> </a:t>
            </a:r>
            <a:r>
              <a:rPr lang="en-US" sz="3200" dirty="0" err="1"/>
              <a:t>ra</a:t>
            </a:r>
            <a:r>
              <a:rPr lang="en-US" sz="3200" dirty="0"/>
              <a:t> </a:t>
            </a:r>
            <a:r>
              <a:rPr lang="en-US" sz="3200" dirty="0" err="1"/>
              <a:t>cho</a:t>
            </a:r>
            <a:r>
              <a:rPr lang="en-US" sz="3200" dirty="0"/>
              <a:t> </a:t>
            </a:r>
            <a:r>
              <a:rPr lang="en-US" sz="3200" dirty="0" err="1"/>
              <a:t>căn</a:t>
            </a:r>
            <a:r>
              <a:rPr lang="en-US" sz="3200" dirty="0"/>
              <a:t> </a:t>
            </a:r>
            <a:r>
              <a:rPr lang="en-US" sz="3200" dirty="0" err="1"/>
              <a:t>phòng</a:t>
            </a:r>
            <a:r>
              <a:rPr lang="en-US" sz="3200" dirty="0"/>
              <a:t> </a:t>
            </a:r>
            <a:r>
              <a:rPr lang="en-US" sz="3200" dirty="0" err="1"/>
              <a:t>dùng</a:t>
            </a:r>
            <a:r>
              <a:rPr lang="en-US" sz="3200" dirty="0"/>
              <a:t> </a:t>
            </a:r>
            <a:r>
              <a:rPr lang="en-US" sz="3200" dirty="0" err="1"/>
              <a:t>làm</a:t>
            </a:r>
            <a:r>
              <a:rPr lang="en-US" sz="3200" dirty="0"/>
              <a:t> </a:t>
            </a:r>
            <a:r>
              <a:rPr lang="en-US" sz="3200" dirty="0" err="1"/>
              <a:t>nguồn</a:t>
            </a:r>
            <a:r>
              <a:rPr lang="en-US" sz="3200" dirty="0"/>
              <a:t> </a:t>
            </a:r>
            <a:r>
              <a:rPr lang="en-US" sz="3200" dirty="0" err="1"/>
              <a:t>nóng</a:t>
            </a:r>
            <a:r>
              <a:rPr lang="en-US" sz="3200" dirty="0"/>
              <a:t> </a:t>
            </a:r>
            <a:r>
              <a:rPr lang="en-US" sz="3200" dirty="0" err="1"/>
              <a:t>của</a:t>
            </a:r>
            <a:r>
              <a:rPr lang="en-US" sz="3200" dirty="0"/>
              <a:t> </a:t>
            </a:r>
            <a:r>
              <a:rPr lang="en-US" sz="3200" dirty="0" err="1"/>
              <a:t>tủ</a:t>
            </a:r>
            <a:r>
              <a:rPr lang="en-US" sz="3200" dirty="0"/>
              <a:t> </a:t>
            </a:r>
            <a:r>
              <a:rPr lang="en-US" sz="3200" dirty="0" err="1"/>
              <a:t>lạnh</a:t>
            </a:r>
            <a:r>
              <a:rPr lang="en-US" sz="3200" dirty="0"/>
              <a:t>?</a:t>
            </a:r>
          </a:p>
          <a:p>
            <a:pPr lvl="1" eaLnBrk="1" hangingPunct="1">
              <a:buFontTx/>
              <a:buNone/>
            </a:pPr>
            <a:endParaRPr lang="en-US" sz="3200" dirty="0"/>
          </a:p>
        </p:txBody>
      </p:sp>
      <p:sp>
        <p:nvSpPr>
          <p:cNvPr id="2" name="Oval Callout 1"/>
          <p:cNvSpPr/>
          <p:nvPr/>
        </p:nvSpPr>
        <p:spPr>
          <a:xfrm>
            <a:off x="4572000" y="4495800"/>
            <a:ext cx="3810000" cy="1146048"/>
          </a:xfrm>
          <a:prstGeom prst="wedgeEllipseCallout">
            <a:avLst/>
          </a:prstGeom>
        </p:spPr>
        <p:style>
          <a:lnRef idx="2">
            <a:schemeClr val="accent1"/>
          </a:lnRef>
          <a:fillRef idx="1">
            <a:schemeClr val="lt1"/>
          </a:fillRef>
          <a:effectRef idx="0">
            <a:schemeClr val="accent1"/>
          </a:effectRef>
          <a:fontRef idx="minor">
            <a:schemeClr val="dk1"/>
          </a:fontRef>
        </p:style>
        <p:txBody>
          <a:bodyPr rtlCol="0" anchor="ctr"/>
          <a:lstStyle/>
          <a:p>
            <a:pPr lvl="1"/>
            <a:r>
              <a:rPr lang="en-US" sz="3200"/>
              <a:t>A = 53,2J</a:t>
            </a:r>
          </a:p>
          <a:p>
            <a:pPr lvl="1"/>
            <a:r>
              <a:rPr lang="en-US" sz="3200"/>
              <a:t>Q’</a:t>
            </a:r>
            <a:r>
              <a:rPr lang="en-US" sz="2000"/>
              <a:t>1</a:t>
            </a:r>
            <a:r>
              <a:rPr lang="en-US" sz="3200"/>
              <a:t> = 303,2J</a:t>
            </a:r>
            <a:endParaRPr lang="el-GR" sz="3200"/>
          </a:p>
        </p:txBody>
      </p:sp>
      <p:sp>
        <p:nvSpPr>
          <p:cNvPr id="3" name="Footer Placeholder 2">
            <a:extLst>
              <a:ext uri="{FF2B5EF4-FFF2-40B4-BE49-F238E27FC236}">
                <a16:creationId xmlns:a16="http://schemas.microsoft.com/office/drawing/2014/main" id="{85728A0A-1C66-375E-D653-C6297866A614}"/>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7B232503-9549-421C-293A-223342844A05}"/>
              </a:ext>
            </a:extLst>
          </p:cNvPr>
          <p:cNvSpPr>
            <a:spLocks noGrp="1"/>
          </p:cNvSpPr>
          <p:nvPr>
            <p:ph type="sldNum" sz="quarter" idx="12"/>
          </p:nvPr>
        </p:nvSpPr>
        <p:spPr/>
        <p:txBody>
          <a:bodyPr/>
          <a:lstStyle/>
          <a:p>
            <a:pPr>
              <a:defRPr/>
            </a:pPr>
            <a:fld id="{003F8D5A-645D-495A-9DEA-99BB03E4A967}" type="slidenum">
              <a:rPr lang="en-US" smtClean="0"/>
              <a:pPr>
                <a:defRPr/>
              </a:pPr>
              <a:t>62</a:t>
            </a:fld>
            <a:endParaRPr lang="en-US"/>
          </a:p>
        </p:txBody>
      </p:sp>
      <p:graphicFrame>
        <p:nvGraphicFramePr>
          <p:cNvPr id="5" name="Object 4">
            <a:extLst>
              <a:ext uri="{FF2B5EF4-FFF2-40B4-BE49-F238E27FC236}">
                <a16:creationId xmlns:a16="http://schemas.microsoft.com/office/drawing/2014/main" id="{AA543E81-B6F0-6FA5-0046-6DC8BFB8BA4D}"/>
              </a:ext>
            </a:extLst>
          </p:cNvPr>
          <p:cNvGraphicFramePr>
            <a:graphicFrameLocks noChangeAspect="1"/>
          </p:cNvGraphicFramePr>
          <p:nvPr>
            <p:extLst>
              <p:ext uri="{D42A27DB-BD31-4B8C-83A1-F6EECF244321}">
                <p14:modId xmlns:p14="http://schemas.microsoft.com/office/powerpoint/2010/main" val="3978784765"/>
              </p:ext>
            </p:extLst>
          </p:nvPr>
        </p:nvGraphicFramePr>
        <p:xfrm>
          <a:off x="1270172" y="4495800"/>
          <a:ext cx="1826868" cy="1484676"/>
        </p:xfrm>
        <a:graphic>
          <a:graphicData uri="http://schemas.openxmlformats.org/presentationml/2006/ole">
            <mc:AlternateContent xmlns:mc="http://schemas.openxmlformats.org/markup-compatibility/2006">
              <mc:Choice xmlns:v="urn:schemas-microsoft-com:vml" Requires="v">
                <p:oleObj name="Equation" r:id="rId2" imgW="520474" imgH="431613" progId="Equation.DSMT4">
                  <p:embed/>
                </p:oleObj>
              </mc:Choice>
              <mc:Fallback>
                <p:oleObj name="Equation" r:id="rId2" imgW="520474" imgH="431613" progId="Equation.DSMT4">
                  <p:embed/>
                  <p:pic>
                    <p:nvPicPr>
                      <p:cNvPr id="17" name="Object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172" y="4495800"/>
                        <a:ext cx="1826868" cy="1484676"/>
                      </a:xfrm>
                      <a:prstGeom prst="rect">
                        <a:avLst/>
                      </a:prstGeom>
                      <a:noFill/>
                    </p:spPr>
                  </p:pic>
                </p:oleObj>
              </mc:Fallback>
            </mc:AlternateContent>
          </a:graphicData>
        </a:graphic>
      </p:graphicFrame>
    </p:spTree>
    <p:extLst>
      <p:ext uri="{BB962C8B-B14F-4D97-AF65-F5344CB8AC3E}">
        <p14:creationId xmlns:p14="http://schemas.microsoft.com/office/powerpoint/2010/main" val="3921088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par>
                          <p:cTn id="10" fill="hold">
                            <p:stCondLst>
                              <p:cond delay="2000"/>
                            </p:stCondLst>
                            <p:childTnLst>
                              <p:par>
                                <p:cTn id="11" presetID="10"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4223</TotalTime>
  <Words>4716</Words>
  <Application>Microsoft Office PowerPoint</Application>
  <PresentationFormat>On-screen Show (4:3)</PresentationFormat>
  <Paragraphs>565</Paragraphs>
  <Slides>62</Slides>
  <Notes>13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62</vt:i4>
      </vt:variant>
    </vt:vector>
  </HeadingPairs>
  <TitlesOfParts>
    <vt:vector size="70" baseType="lpstr">
      <vt:lpstr>Arial</vt:lpstr>
      <vt:lpstr>Calibri</vt:lpstr>
      <vt:lpstr>Cambria Math</vt:lpstr>
      <vt:lpstr>Symbol</vt:lpstr>
      <vt:lpstr>Times New Roman</vt:lpstr>
      <vt:lpstr>Wingdings</vt:lpstr>
      <vt:lpstr>Office Theme</vt:lpstr>
      <vt:lpstr>Equation</vt:lpstr>
      <vt:lpstr>PowerPoint Presentation</vt:lpstr>
      <vt:lpstr>PowerPoint Presentation</vt:lpstr>
      <vt:lpstr>PowerPoint Presentation</vt:lpstr>
      <vt:lpstr>PowerPoint Presentation</vt:lpstr>
      <vt:lpstr>PowerPoint Presentation</vt:lpstr>
      <vt:lpstr>-273°C ~ 0K: T(K) không thể âm.</vt:lpstr>
      <vt:lpstr>Khối lượng riêng và áp suất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NGUYÊN LÝ 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huynhminhmanpham@gmail.com</cp:lastModifiedBy>
  <cp:revision>150</cp:revision>
  <dcterms:created xsi:type="dcterms:W3CDTF">2020-05-06T13:43:45Z</dcterms:created>
  <dcterms:modified xsi:type="dcterms:W3CDTF">2025-09-30T05:35:04Z</dcterms:modified>
</cp:coreProperties>
</file>