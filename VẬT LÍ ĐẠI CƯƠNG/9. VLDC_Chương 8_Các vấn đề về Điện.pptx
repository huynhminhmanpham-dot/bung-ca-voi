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2"/>
  </p:sldMasterIdLst>
  <p:notesMasterIdLst>
    <p:notesMasterId r:id="rId67"/>
  </p:notesMasterIdLst>
  <p:sldIdLst>
    <p:sldId id="256" r:id="rId3"/>
    <p:sldId id="310" r:id="rId4"/>
    <p:sldId id="375" r:id="rId5"/>
    <p:sldId id="313" r:id="rId6"/>
    <p:sldId id="311" r:id="rId7"/>
    <p:sldId id="314" r:id="rId8"/>
    <p:sldId id="315" r:id="rId9"/>
    <p:sldId id="317" r:id="rId10"/>
    <p:sldId id="316" r:id="rId11"/>
    <p:sldId id="305" r:id="rId12"/>
    <p:sldId id="257" r:id="rId13"/>
    <p:sldId id="259" r:id="rId14"/>
    <p:sldId id="258" r:id="rId15"/>
    <p:sldId id="329" r:id="rId16"/>
    <p:sldId id="398" r:id="rId17"/>
    <p:sldId id="335" r:id="rId18"/>
    <p:sldId id="338" r:id="rId19"/>
    <p:sldId id="402" r:id="rId20"/>
    <p:sldId id="336" r:id="rId21"/>
    <p:sldId id="342" r:id="rId22"/>
    <p:sldId id="404" r:id="rId23"/>
    <p:sldId id="401" r:id="rId24"/>
    <p:sldId id="281" r:id="rId25"/>
    <p:sldId id="282" r:id="rId26"/>
    <p:sldId id="306" r:id="rId27"/>
    <p:sldId id="339" r:id="rId28"/>
    <p:sldId id="283" r:id="rId29"/>
    <p:sldId id="400" r:id="rId30"/>
    <p:sldId id="405" r:id="rId31"/>
    <p:sldId id="307" r:id="rId32"/>
    <p:sldId id="308" r:id="rId33"/>
    <p:sldId id="399" r:id="rId34"/>
    <p:sldId id="347" r:id="rId35"/>
    <p:sldId id="284" r:id="rId36"/>
    <p:sldId id="380" r:id="rId37"/>
    <p:sldId id="285" r:id="rId38"/>
    <p:sldId id="286" r:id="rId39"/>
    <p:sldId id="295" r:id="rId40"/>
    <p:sldId id="296" r:id="rId41"/>
    <p:sldId id="297" r:id="rId42"/>
    <p:sldId id="332" r:id="rId43"/>
    <p:sldId id="403" r:id="rId44"/>
    <p:sldId id="368" r:id="rId45"/>
    <p:sldId id="359" r:id="rId46"/>
    <p:sldId id="355" r:id="rId47"/>
    <p:sldId id="272" r:id="rId48"/>
    <p:sldId id="288" r:id="rId49"/>
    <p:sldId id="260" r:id="rId50"/>
    <p:sldId id="388" r:id="rId51"/>
    <p:sldId id="394" r:id="rId52"/>
    <p:sldId id="395" r:id="rId53"/>
    <p:sldId id="386" r:id="rId54"/>
    <p:sldId id="387" r:id="rId55"/>
    <p:sldId id="299" r:id="rId56"/>
    <p:sldId id="324" r:id="rId57"/>
    <p:sldId id="383" r:id="rId58"/>
    <p:sldId id="363" r:id="rId59"/>
    <p:sldId id="377" r:id="rId60"/>
    <p:sldId id="406" r:id="rId61"/>
    <p:sldId id="397" r:id="rId62"/>
    <p:sldId id="378" r:id="rId63"/>
    <p:sldId id="389" r:id="rId64"/>
    <p:sldId id="382" r:id="rId65"/>
    <p:sldId id="303" r:id="rId6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9B7"/>
    <a:srgbClr val="259B2B"/>
    <a:srgbClr val="E10FB9"/>
    <a:srgbClr val="90F828"/>
    <a:srgbClr val="C7FB9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9076" autoAdjust="0"/>
  </p:normalViewPr>
  <p:slideViewPr>
    <p:cSldViewPr>
      <p:cViewPr varScale="1">
        <p:scale>
          <a:sx n="85" d="100"/>
          <a:sy n="85" d="100"/>
        </p:scale>
        <p:origin x="137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8"/>
    </p:cViewPr>
  </p:sorterViewPr>
  <p:notesViewPr>
    <p:cSldViewPr>
      <p:cViewPr varScale="1">
        <p:scale>
          <a:sx n="68" d="100"/>
          <a:sy n="68" d="100"/>
        </p:scale>
        <p:origin x="-232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A6668B-B2D6-4823-A0D8-EF07D87CB1B6}" type="datetimeFigureOut">
              <a:rPr lang="vi-VN"/>
              <a:pPr>
                <a:defRPr/>
              </a:pPr>
              <a:t>30/09/2025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vi-V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vi-V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253E23D-D169-4AD7-837D-6CCD16DA6F5B}" type="slidenum">
              <a:rPr lang="vi-VN"/>
              <a:pPr>
                <a:defRPr/>
              </a:pPr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994966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53E23D-D169-4AD7-837D-6CCD16DA6F5B}" type="slidenum">
              <a:rPr lang="vi-VN" smtClean="0"/>
              <a:pPr>
                <a:defRPr/>
              </a:pPr>
              <a:t>28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Notes Placeholder 4"/>
              <p:cNvSpPr>
                <a:spLocks noGrp="1"/>
              </p:cNvSpPr>
              <p:nvPr>
                <p:ph type="body" idx="1"/>
              </p:nvPr>
            </p:nvSpPr>
            <p:spPr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𝑬𝑴</m:t>
                        </m:r>
                      </m:e>
                    </m:acc>
                  </m:oMath>
                </a14:m>
                <a:r>
                  <a:rPr lang="en-US" b="1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</m:e>
                    </m:acc>
                  </m:oMath>
                </a14:m>
                <a:r>
                  <a:rPr lang="en-US" b="1" dirty="0"/>
                  <a:t> = 0,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b="1" dirty="0"/>
                  <a:t> =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</m:e>
                    </m:acc>
                  </m:oMath>
                </a14:m>
                <a:endParaRPr lang="en-US" b="1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b="1" dirty="0"/>
                  <a:t> 2 </a:t>
                </a:r>
                <a:r>
                  <a:rPr lang="en-US" b="1" dirty="0" err="1"/>
                  <a:t>điện</a:t>
                </a:r>
                <a:r>
                  <a:rPr lang="en-US" b="1" dirty="0"/>
                  <a:t> </a:t>
                </a:r>
                <a:r>
                  <a:rPr lang="en-US" b="1" dirty="0" err="1"/>
                  <a:t>tích</a:t>
                </a:r>
                <a:r>
                  <a:rPr lang="en-US" b="1" dirty="0"/>
                  <a:t> </a:t>
                </a:r>
                <a:r>
                  <a:rPr lang="en-US" b="1" dirty="0" err="1"/>
                  <a:t>cùng</a:t>
                </a:r>
                <a:r>
                  <a:rPr lang="en-US" b="1" dirty="0"/>
                  <a:t> </a:t>
                </a:r>
                <a:r>
                  <a:rPr lang="en-US" b="1" dirty="0" err="1"/>
                  <a:t>dấu</a:t>
                </a:r>
                <a:endParaRPr lang="en-US" b="1" dirty="0"/>
              </a:p>
              <a:p>
                <a:pPr algn="ctr"/>
                <a:r>
                  <a:rPr lang="en-US" b="1" dirty="0"/>
                  <a:t>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𝒒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𝒓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r>
                  <a:rPr lang="en-US" b="1" dirty="0"/>
                  <a:t>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𝒒</m:t>
                        </m:r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𝒓</m:t>
                        </m:r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Notes Placeholder 4"/>
              <p:cNvSpPr>
                <a:spLocks noGrp="1"/>
              </p:cNvSpPr>
              <p:nvPr>
                <p:ph type="body" idx="1"/>
              </p:nvPr>
            </p:nvSpPr>
            <p:spPr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0" smtClean="0">
                    <a:latin typeface="Cambria Math"/>
                  </a:rPr>
                  <a:t>(𝑬𝑴) ⃗</a:t>
                </a:r>
                <a:r>
                  <a:rPr lang="en-US" b="1" dirty="0" smtClean="0"/>
                  <a:t> = </a:t>
                </a:r>
                <a:r>
                  <a:rPr lang="en-US" b="1" i="0" smtClean="0">
                    <a:latin typeface="Cambria Math"/>
                  </a:rPr>
                  <a:t>(𝑬𝟏) ⃗</a:t>
                </a:r>
                <a:r>
                  <a:rPr lang="en-US" b="1" dirty="0" smtClean="0"/>
                  <a:t> + </a:t>
                </a:r>
                <a:r>
                  <a:rPr lang="en-US" b="1" i="0" smtClean="0">
                    <a:latin typeface="Cambria Math"/>
                  </a:rPr>
                  <a:t>(𝑬𝟐) ⃗</a:t>
                </a:r>
                <a:r>
                  <a:rPr lang="en-US" b="1" dirty="0" smtClean="0"/>
                  <a:t> = 0, </a:t>
                </a:r>
                <a:r>
                  <a:rPr lang="en-US" b="1" i="0" smtClean="0">
                    <a:latin typeface="Cambria Math"/>
                  </a:rPr>
                  <a:t>(𝑬𝟏) ⃗</a:t>
                </a:r>
                <a:r>
                  <a:rPr lang="en-US" b="1" dirty="0" smtClean="0"/>
                  <a:t> = - </a:t>
                </a:r>
                <a:r>
                  <a:rPr lang="en-US" b="1" i="0" smtClean="0">
                    <a:latin typeface="Cambria Math"/>
                  </a:rPr>
                  <a:t>(𝑬𝟐) ⃗</a:t>
                </a:r>
                <a:endParaRPr lang="en-US" b="1" dirty="0" smtClean="0"/>
              </a:p>
              <a:p>
                <a:pPr algn="ctr"/>
                <a:r>
                  <a:rPr lang="en-US" b="1" i="0" smtClean="0">
                    <a:latin typeface="Cambria Math"/>
                    <a:ea typeface="Cambria Math"/>
                  </a:rPr>
                  <a:t>→</a:t>
                </a:r>
                <a:r>
                  <a:rPr lang="en-US" b="1" dirty="0" smtClean="0"/>
                  <a:t> 2 </a:t>
                </a:r>
                <a:r>
                  <a:rPr lang="en-US" b="1" dirty="0" err="1" smtClean="0"/>
                  <a:t>điện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tích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cùng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dấu</a:t>
                </a:r>
                <a:endParaRPr lang="en-US" b="1" dirty="0" smtClean="0"/>
              </a:p>
              <a:p>
                <a:pPr algn="ctr"/>
                <a:r>
                  <a:rPr lang="en-US" b="1" dirty="0" smtClean="0"/>
                  <a:t>k</a:t>
                </a:r>
                <a:r>
                  <a:rPr lang="en-US" b="1" i="0" smtClean="0">
                    <a:latin typeface="Cambria Math"/>
                  </a:rPr>
                  <a:t>𝒒𝟏/𝒓𝟏²</a:t>
                </a:r>
                <a:r>
                  <a:rPr lang="en-US" b="1" dirty="0" smtClean="0"/>
                  <a:t> = k</a:t>
                </a:r>
                <a:r>
                  <a:rPr lang="en-US" b="1" i="0" smtClean="0">
                    <a:latin typeface="Cambria Math"/>
                  </a:rPr>
                  <a:t>𝒒𝟐/𝒓𝟐²</a:t>
                </a:r>
                <a:endParaRPr lang="en-US" b="1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349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53E23D-D169-4AD7-837D-6CCD16DA6F5B}" type="slidenum">
              <a:rPr lang="vi-VN" smtClean="0"/>
              <a:pPr>
                <a:defRPr/>
              </a:pPr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3120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0473DCD-0150-46A7-A015-C5C045523BEB}" type="slidenum">
              <a:rPr lang="vi-VN" smtClean="0"/>
              <a:pPr eaLnBrk="1" hangingPunct="1"/>
              <a:t>39</a:t>
            </a:fld>
            <a:endParaRPr lang="vi-V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2B926A6-C4FB-4A8E-B7EC-DD17FA7DA530}" type="slidenum">
              <a:rPr lang="vi-VN" smtClean="0"/>
              <a:pPr eaLnBrk="1" hangingPunct="1"/>
              <a:t>54</a:t>
            </a:fld>
            <a:endParaRPr lang="vi-V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C2296E-D46E-4E1A-B27A-B5DBF315CD51}" type="slidenum">
              <a:rPr lang="vi-VN" smtClean="0"/>
              <a:pPr eaLnBrk="1" hangingPunct="1"/>
              <a:t>55</a:t>
            </a:fld>
            <a:endParaRPr lang="vi-V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A76D14-3050-41A8-9717-054B5E828C9A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543DF1-0624-4DE1-B802-07CBEAA1CE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BE0E91-BBEF-4CC2-9D7D-866576EB601A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6CE7BB-9EE1-44CD-B352-7AE18AE6CFB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D1BED7-5381-4869-BE2D-FACBC0EBD09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587ED5-B0F1-4F39-9FCC-16BC50DD8037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F144CC-9FB8-4626-80FE-CB707330EF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8168E-7255-480C-897A-E99FA307CE6A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AF8C56-7013-4614-8FAC-5E0AF360C7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5CCF9B-F15F-412C-ADDD-80B496098F1C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AE7CB7-4684-4679-8C43-5778569B16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DE0BCB-9585-4428-88C5-3405BA1B6515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F7BB9-3B67-449E-9423-797C2AB7959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EB76B0-A991-4AC8-AE7C-FD07E6822964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6FC7BC-7C73-4F98-B7A7-3CEDE2F61BF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7E0044-3233-42C6-943C-AF1534F52999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C11036-3377-4D2C-9FD1-755A1FE610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E9C4BF-9184-43F4-9615-1D772C9E7E4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B0653E-8AA0-4A24-B138-62692C615E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9CB903-A1F2-44F2-923A-6239215F81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7BB192-30E3-4FDC-80F5-C51C7F9942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88CD283F-1729-41DE-BC20-AB14BD3B3510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7EB48918-261E-48ED-B4EC-1F0F1AE309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hf hd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2.jpeg"/><Relationship Id="rId7" Type="http://schemas.openxmlformats.org/officeDocument/2006/relationships/image" Target="../media/image14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9.png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4.w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oleObject" Target="../embeddings/oleObject8.bin"/><Relationship Id="rId5" Type="http://schemas.openxmlformats.org/officeDocument/2006/relationships/image" Target="../media/image20.png"/><Relationship Id="rId10" Type="http://schemas.openxmlformats.org/officeDocument/2006/relationships/image" Target="../media/image23.w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fif"/><Relationship Id="rId3" Type="http://schemas.openxmlformats.org/officeDocument/2006/relationships/hyperlink" Target="../../Tr&#432;&#7901;ng%20sinh%20h&#7885;c.docx" TargetMode="External"/><Relationship Id="rId7" Type="http://schemas.openxmlformats.org/officeDocument/2006/relationships/image" Target="../media/image29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11" Type="http://schemas.openxmlformats.org/officeDocument/2006/relationships/image" Target="../media/image33.jpg"/><Relationship Id="rId5" Type="http://schemas.openxmlformats.org/officeDocument/2006/relationships/image" Target="../media/image27.jpg"/><Relationship Id="rId10" Type="http://schemas.openxmlformats.org/officeDocument/2006/relationships/image" Target="../media/image32.jpg"/><Relationship Id="rId4" Type="http://schemas.openxmlformats.org/officeDocument/2006/relationships/image" Target="../media/image26.gif"/><Relationship Id="rId9" Type="http://schemas.openxmlformats.org/officeDocument/2006/relationships/image" Target="../media/image31.jfi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46.png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38.wmf"/><Relationship Id="rId2" Type="http://schemas.openxmlformats.org/officeDocument/2006/relationships/image" Target="../media/image10.png"/><Relationship Id="rId16" Type="http://schemas.openxmlformats.org/officeDocument/2006/relationships/image" Target="../media/image4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3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41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6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1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47.wmf"/><Relationship Id="rId21" Type="http://schemas.openxmlformats.org/officeDocument/2006/relationships/image" Target="../media/image56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54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51.wmf"/><Relationship Id="rId24" Type="http://schemas.openxmlformats.org/officeDocument/2006/relationships/image" Target="../media/image490.png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27.bin"/><Relationship Id="rId22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9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590.png"/><Relationship Id="rId4" Type="http://schemas.openxmlformats.org/officeDocument/2006/relationships/image" Target="../media/image58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7.png"/><Relationship Id="rId7" Type="http://schemas.openxmlformats.org/officeDocument/2006/relationships/image" Target="../media/image67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65.png"/><Relationship Id="rId4" Type="http://schemas.openxmlformats.org/officeDocument/2006/relationships/image" Target="../media/image6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file:///E:\Work\Food%20Industry%20College\Dien-Tu%20truong\Video%20clip\&#272;i&#7879;n%20tr&#432;&#7901;ng\Duong%20suc%20cua%20mp%20tich%20dien.flv" TargetMode="External"/><Relationship Id="rId4" Type="http://schemas.openxmlformats.org/officeDocument/2006/relationships/image" Target="../media/image68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10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83.png"/><Relationship Id="rId5" Type="http://schemas.openxmlformats.org/officeDocument/2006/relationships/image" Target="../media/image69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72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76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image" Target="../media/image89.png"/><Relationship Id="rId10" Type="http://schemas.openxmlformats.org/officeDocument/2006/relationships/image" Target="../media/image75.wmf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7" Type="http://schemas.openxmlformats.org/officeDocument/2006/relationships/image" Target="../media/image81.wmf"/><Relationship Id="rId12" Type="http://schemas.openxmlformats.org/officeDocument/2006/relationships/image" Target="../media/image82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oleObject" Target="../embeddings/oleObject40.bin"/><Relationship Id="rId5" Type="http://schemas.openxmlformats.org/officeDocument/2006/relationships/image" Target="../media/image144.png"/><Relationship Id="rId10" Type="http://schemas.openxmlformats.org/officeDocument/2006/relationships/image" Target="../media/image1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4" Type="http://schemas.openxmlformats.org/officeDocument/2006/relationships/image" Target="../media/image82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0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83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10.png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85.wmf"/><Relationship Id="rId10" Type="http://schemas.openxmlformats.org/officeDocument/2006/relationships/image" Target="../media/image94.png"/><Relationship Id="rId4" Type="http://schemas.openxmlformats.org/officeDocument/2006/relationships/oleObject" Target="../embeddings/oleObject4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10.png"/><Relationship Id="rId7" Type="http://schemas.openxmlformats.org/officeDocument/2006/relationships/image" Target="../media/image88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89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hyperlink" Target="6.%20CH&#431;&#416;NG%203_Tu%20truong%20khong%20doi.pptx#-1,16,PowerPoint Presentation" TargetMode="External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93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92.wmf"/><Relationship Id="rId4" Type="http://schemas.openxmlformats.org/officeDocument/2006/relationships/image" Target="../media/image98.png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10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E:\Work\Food Industry College\Dien-Tu truong\Hinh anh\Truong tinh dien\index_1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3438525"/>
            <a:ext cx="38481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4690" y="76200"/>
            <a:ext cx="8915400" cy="762000"/>
          </a:xfrm>
          <a:prstGeom prst="rect">
            <a:avLst/>
          </a:prstGeom>
          <a:gradFill>
            <a:gsLst>
              <a:gs pos="0">
                <a:srgbClr val="000082"/>
              </a:gs>
              <a:gs pos="13000">
                <a:srgbClr val="0047FF"/>
              </a:gs>
              <a:gs pos="28000">
                <a:srgbClr val="000082"/>
              </a:gs>
              <a:gs pos="42999">
                <a:srgbClr val="0047FF"/>
              </a:gs>
              <a:gs pos="58000">
                <a:srgbClr val="000082"/>
              </a:gs>
              <a:gs pos="72000">
                <a:srgbClr val="0047FF"/>
              </a:gs>
              <a:gs pos="87000">
                <a:srgbClr val="000082"/>
              </a:gs>
              <a:gs pos="100000">
                <a:srgbClr val="0047FF"/>
              </a:gs>
            </a:gsLst>
            <a:lin ang="5400000" scaled="0"/>
          </a:gradFill>
          <a:ln>
            <a:noFill/>
          </a:ln>
        </p:spPr>
        <p:txBody>
          <a:bodyPr lIns="0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FF99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CHƯƠNG 8: CÁC VẤN ĐỀ VỀ ĐIỆN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 bwMode="auto">
          <a:xfrm>
            <a:off x="609600" y="914400"/>
            <a:ext cx="8001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18288"/>
          <a:lstStyle/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8.1.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endParaRPr lang="en-US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8.2.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Coulomb</a:t>
            </a: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8.3.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8.4.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sức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endParaRPr lang="en-US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8.5.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–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thế</a:t>
            </a:r>
            <a:endParaRPr lang="en-US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8.6.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cường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thế</a:t>
            </a:r>
            <a:endParaRPr lang="en-US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8.7.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CN</a:t>
            </a:r>
            <a:endParaRPr lang="en-US" sz="3200" dirty="0">
              <a:solidFill>
                <a:srgbClr val="C00000"/>
              </a:solidFill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C00000"/>
              </a:solidFill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C00000"/>
              </a:solidFill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C00000"/>
              </a:solidFill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C00000"/>
              </a:solidFill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1200"/>
              </a:spcBef>
              <a:spcAft>
                <a:spcPts val="0"/>
              </a:spcAft>
              <a:buClr>
                <a:srgbClr val="0BD0D9"/>
              </a:buClr>
              <a:buSzPct val="95000"/>
              <a:defRPr/>
            </a:pPr>
            <a:endParaRPr lang="en-US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9CC45B-ACA3-C7B4-8A27-61D8883E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8F7BE2-5EB6-F135-D068-2A5E1421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543DF1-0624-4DE1-B802-07CBEAA1CE5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6" dur="2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0"/>
          <p:cNvSpPr txBox="1">
            <a:spLocks noChangeArrowheads="1"/>
          </p:cNvSpPr>
          <p:nvPr/>
        </p:nvSpPr>
        <p:spPr bwMode="auto">
          <a:xfrm>
            <a:off x="484188" y="693738"/>
            <a:ext cx="35544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Sự nhiễm điện: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013" y="908050"/>
            <a:ext cx="5335587" cy="572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3"/>
          <p:cNvSpPr>
            <a:spLocks noGrp="1" noChangeArrowheads="1"/>
          </p:cNvSpPr>
          <p:nvPr>
            <p:ph type="title"/>
          </p:nvPr>
        </p:nvSpPr>
        <p:spPr>
          <a:xfrm>
            <a:off x="3263900" y="47625"/>
            <a:ext cx="2755900" cy="561975"/>
          </a:xfrm>
        </p:spPr>
        <p:txBody>
          <a:bodyPr anchor="t"/>
          <a:lstStyle/>
          <a:p>
            <a:pPr eaLnBrk="1" hangingPunct="1"/>
            <a:r>
              <a:rPr lang="en-US" sz="3200" b="1">
                <a:latin typeface="Times New Roman" pitchFamily="18" charset="0"/>
                <a:cs typeface="Times New Roman" pitchFamily="18" charset="0"/>
              </a:rPr>
              <a:t>NHẮC LẠI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ACD39B-2116-1CF5-A6F3-9B119C34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E70F5-F3DB-C680-954C-20F46B85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"/>
          <p:cNvSpPr txBox="1">
            <a:spLocks noChangeArrowheads="1"/>
          </p:cNvSpPr>
          <p:nvPr/>
        </p:nvSpPr>
        <p:spPr bwMode="auto">
          <a:xfrm>
            <a:off x="179388" y="381000"/>
            <a:ext cx="3554412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Sự nhiễm điện: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68413"/>
            <a:ext cx="61722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3"/>
          <p:cNvSpPr>
            <a:spLocks noGrp="1" noChangeArrowheads="1"/>
          </p:cNvSpPr>
          <p:nvPr>
            <p:ph type="title"/>
          </p:nvPr>
        </p:nvSpPr>
        <p:spPr>
          <a:xfrm>
            <a:off x="3263900" y="47625"/>
            <a:ext cx="2984500" cy="561975"/>
          </a:xfrm>
        </p:spPr>
        <p:txBody>
          <a:bodyPr anchor="t"/>
          <a:lstStyle/>
          <a:p>
            <a:pPr eaLnBrk="1" hangingPunct="1"/>
            <a:r>
              <a:rPr lang="en-US" sz="3200" b="1">
                <a:latin typeface="Times New Roman" pitchFamily="18" charset="0"/>
                <a:cs typeface="Times New Roman" pitchFamily="18" charset="0"/>
              </a:rPr>
              <a:t>NHẮC LẠI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B6B15A-BA22-CFD2-A36B-9B94920B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881ED-7805-A463-BAAF-D48334E8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5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800"/>
            <a:ext cx="7239000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10"/>
          <p:cNvSpPr txBox="1">
            <a:spLocks noChangeArrowheads="1"/>
          </p:cNvSpPr>
          <p:nvPr/>
        </p:nvSpPr>
        <p:spPr bwMode="auto">
          <a:xfrm>
            <a:off x="179388" y="400050"/>
            <a:ext cx="3554412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Sự nhiễm điện: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title"/>
          </p:nvPr>
        </p:nvSpPr>
        <p:spPr>
          <a:xfrm>
            <a:off x="3263900" y="47625"/>
            <a:ext cx="2984500" cy="561975"/>
          </a:xfrm>
        </p:spPr>
        <p:txBody>
          <a:bodyPr anchor="t"/>
          <a:lstStyle/>
          <a:p>
            <a:pPr eaLnBrk="1" hangingPunct="1"/>
            <a:r>
              <a:rPr lang="en-US" sz="3200" b="1">
                <a:latin typeface="Times New Roman" pitchFamily="18" charset="0"/>
                <a:cs typeface="Times New Roman" pitchFamily="18" charset="0"/>
              </a:rPr>
              <a:t>NHẮC LẠI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D8F829-CD7A-042E-9F9F-0243ED7C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5077A-15A1-AF51-85EC-467E2A03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0" y="1317625"/>
            <a:ext cx="9144000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Có hai loại điện tích: </a:t>
            </a:r>
            <a:r>
              <a:rPr lang="en-US" sz="32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dương (+)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và </a:t>
            </a:r>
            <a:r>
              <a:rPr lang="en-US" sz="3200" b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âm (-).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Điện tích có giá trị nhỏ nhất gọi là </a:t>
            </a:r>
            <a:r>
              <a:rPr lang="en-US" sz="32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điện tích nguyên tố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Điện tích của một vật nhiễm điện : </a:t>
            </a:r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 = ne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Giá trị tuyệt đối của điện tích được gọi là </a:t>
            </a:r>
            <a:r>
              <a:rPr lang="en-US" sz="320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điện lượng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Điện tích của một chất điểm gọi là </a:t>
            </a:r>
            <a:r>
              <a:rPr lang="en-US" sz="32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điện tích điểm.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Hệ cô lập thì điện tích của hệ được bảo toàn.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44450"/>
            <a:ext cx="8686800" cy="561975"/>
          </a:xfrm>
        </p:spPr>
        <p:txBody>
          <a:bodyPr anchor="t"/>
          <a:lstStyle/>
          <a:p>
            <a:pPr eaLnBrk="1" hangingPunct="1"/>
            <a:r>
              <a:rPr lang="en-US" sz="3200" b="1">
                <a:latin typeface="Times New Roman" pitchFamily="18" charset="0"/>
                <a:cs typeface="Times New Roman" pitchFamily="18" charset="0"/>
              </a:rPr>
              <a:t>TƯƠNG TÁC ĐIỆN – ĐỊNH LUẬT BTĐT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650875" y="2843213"/>
          <a:ext cx="3159125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28501" progId="Equation.DSMT4">
                  <p:embed/>
                </p:oleObj>
              </mc:Choice>
              <mc:Fallback>
                <p:oleObj name="Equation" r:id="rId2" imgW="1091726" imgH="22850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2843213"/>
                        <a:ext cx="3159125" cy="6619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79388" y="609600"/>
            <a:ext cx="8351837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Điện tích, định luật bảo toàn điện tích: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AE6A5D-0965-35DA-7BE5-8786E7D1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5EBB1F-C13B-5951-9ED0-A059F3E3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>
          <a:xfrm>
            <a:off x="142875" y="711200"/>
            <a:ext cx="8848725" cy="5689600"/>
          </a:xfrm>
        </p:spPr>
        <p:txBody>
          <a:bodyPr>
            <a:normAutofit/>
          </a:bodyPr>
          <a:lstStyle/>
          <a:p>
            <a:pPr marL="182563" indent="0" algn="just" eaLnBrk="1" hangingPunct="1">
              <a:spcAft>
                <a:spcPts val="600"/>
              </a:spcAft>
              <a:buFont typeface="Arial" charset="0"/>
              <a:buNone/>
            </a:pPr>
            <a:r>
              <a:rPr lang="en-US" altLang="zh-CN" sz="28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Chú ý 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 </a:t>
            </a:r>
          </a:p>
          <a:p>
            <a:pPr marL="182563" indent="0" algn="just" eaLnBrk="1" hangingPunct="1">
              <a:spcAft>
                <a:spcPts val="600"/>
              </a:spcAft>
            </a:pP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Bề mặt trái đất  được xem như</a:t>
            </a:r>
          </a:p>
          <a:p>
            <a:pPr marL="182563" indent="0" algn="just" eaLnBrk="1" hangingPunct="1">
              <a:spcAft>
                <a:spcPts val="600"/>
              </a:spcAft>
              <a:buFont typeface="Arial" charset="0"/>
              <a:buNone/>
            </a:pP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là một nguồn vô tận để giữ </a:t>
            </a:r>
          </a:p>
          <a:p>
            <a:pPr marL="182563" indent="0" algn="just" eaLnBrk="1" hangingPunct="1">
              <a:spcAft>
                <a:spcPts val="600"/>
              </a:spcAft>
              <a:buFont typeface="Arial" charset="0"/>
              <a:buNone/>
            </a:pP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 tích </a:t>
            </a: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nối một vật nhiễm </a:t>
            </a:r>
          </a:p>
          <a:p>
            <a:pPr marL="182563" indent="0" algn="just" eaLnBrk="1" hangingPunct="1">
              <a:spcAft>
                <a:spcPts val="600"/>
              </a:spcAft>
              <a:buFont typeface="Arial" charset="0"/>
              <a:buNone/>
            </a:pP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 xuống đất thì vật đó sẽ </a:t>
            </a:r>
            <a:r>
              <a:rPr lang="en-US" altLang="zh-CN" sz="28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trung hoà về điện</a:t>
            </a:r>
            <a:endParaRPr lang="en-US" altLang="zh-CN" sz="2800" u="sng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  <a:p>
            <a:pPr marL="182563" indent="0" algn="just" eaLnBrk="1" hangingPunct="1">
              <a:spcAft>
                <a:spcPts val="600"/>
              </a:spcAft>
            </a:pPr>
            <a:r>
              <a:rPr lang="en-US" altLang="zh-CN" sz="2800" u="sng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Nếu vật nhiễm</a:t>
            </a: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u="sng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 dương</a:t>
            </a: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thì trái đất sẽ cung cấp electron để trung hoà.</a:t>
            </a:r>
            <a:endParaRPr lang="en-US" altLang="zh-CN" sz="2800" u="sng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  <a:p>
            <a:pPr marL="182563" indent="0" algn="just" eaLnBrk="1" hangingPunct="1">
              <a:spcAft>
                <a:spcPts val="600"/>
              </a:spcAft>
            </a:pPr>
            <a:r>
              <a:rPr lang="en-US" altLang="zh-CN" sz="2800" u="sng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Nếu vật nhiễm</a:t>
            </a: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u="sng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 âm</a:t>
            </a:r>
            <a:r>
              <a:rPr lang="en-US" altLang="zh-CN" sz="28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thì electron trong vật sẽ truyền xuống đất để trở nên trung hòa.</a:t>
            </a:r>
          </a:p>
          <a:p>
            <a:pPr marL="182563" indent="0" algn="just" eaLnBrk="1" hangingPunct="1">
              <a:buFont typeface="Wingdings" pitchFamily="2" charset="2"/>
              <a:buNone/>
            </a:pPr>
            <a:endParaRPr lang="en-US" sz="2800">
              <a:solidFill>
                <a:srgbClr val="1109B7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838200"/>
            <a:ext cx="293846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730DA3-9D63-BFE6-C314-78533155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F6B27-FD6C-B495-B468-7FC520FD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865187"/>
          </a:xfrm>
        </p:spPr>
        <p:txBody>
          <a:bodyPr anchor="t"/>
          <a:lstStyle/>
          <a:p>
            <a:pPr eaLnBrk="1" hangingPunct="1"/>
            <a:r>
              <a:rPr lang="en-US" sz="3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BẢO TOÀN ĐIỆN TÍCH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042025" y="1412875"/>
            <a:ext cx="2339975" cy="1263650"/>
            <a:chOff x="3446" y="1488"/>
            <a:chExt cx="1474" cy="796"/>
          </a:xfrm>
        </p:grpSpPr>
        <p:sp>
          <p:nvSpPr>
            <p:cNvPr id="9232" name="Oval 11"/>
            <p:cNvSpPr>
              <a:spLocks noChangeArrowheads="1"/>
            </p:cNvSpPr>
            <p:nvPr/>
          </p:nvSpPr>
          <p:spPr bwMode="auto">
            <a:xfrm>
              <a:off x="3456" y="1488"/>
              <a:ext cx="432" cy="43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3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33" name="Text Box 12"/>
            <p:cNvSpPr txBox="1">
              <a:spLocks noChangeArrowheads="1"/>
            </p:cNvSpPr>
            <p:nvPr/>
          </p:nvSpPr>
          <p:spPr bwMode="auto">
            <a:xfrm>
              <a:off x="3446" y="1914"/>
              <a:ext cx="56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3200">
                  <a:latin typeface="Times New Roman" pitchFamily="18" charset="0"/>
                  <a:cs typeface="Times New Roman" pitchFamily="18" charset="0"/>
                </a:rPr>
                <a:t>+1C</a:t>
              </a:r>
            </a:p>
          </p:txBody>
        </p:sp>
        <p:sp>
          <p:nvSpPr>
            <p:cNvPr id="9234" name="Oval 13"/>
            <p:cNvSpPr>
              <a:spLocks noChangeArrowheads="1"/>
            </p:cNvSpPr>
            <p:nvPr/>
          </p:nvSpPr>
          <p:spPr bwMode="auto">
            <a:xfrm>
              <a:off x="4416" y="1488"/>
              <a:ext cx="432" cy="432"/>
            </a:xfrm>
            <a:prstGeom prst="ellipse">
              <a:avLst/>
            </a:prstGeom>
            <a:solidFill>
              <a:srgbClr val="90F8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3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35" name="Text Box 14"/>
            <p:cNvSpPr txBox="1">
              <a:spLocks noChangeArrowheads="1"/>
            </p:cNvSpPr>
            <p:nvPr/>
          </p:nvSpPr>
          <p:spPr bwMode="auto">
            <a:xfrm>
              <a:off x="4416" y="1916"/>
              <a:ext cx="5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3200">
                  <a:latin typeface="Times New Roman" pitchFamily="18" charset="0"/>
                  <a:cs typeface="Times New Roman" pitchFamily="18" charset="0"/>
                </a:rPr>
                <a:t>-2C</a:t>
              </a:r>
            </a:p>
          </p:txBody>
        </p:sp>
      </p:grp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476250" y="1117600"/>
            <a:ext cx="481647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sz="32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Thí dụ</a:t>
            </a:r>
            <a:r>
              <a:rPr lang="en-US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2 quả cầu kim loại được tích điện +1C và  –2C.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04800" y="2887663"/>
            <a:ext cx="5562600" cy="252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  <a:buClr>
                <a:schemeClr val="hlink"/>
              </a:buClr>
            </a:pPr>
            <a:r>
              <a:rPr lang="en-US" sz="32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Nếu chúng ta nối 2 quả cầu trên bằng một sợi dây kim loại thì sự phân bố điện tích như thế nào trên 2 quả cầu?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6096000" y="3490913"/>
            <a:ext cx="2209800" cy="685800"/>
            <a:chOff x="3456" y="2544"/>
            <a:chExt cx="1392" cy="432"/>
          </a:xfrm>
        </p:grpSpPr>
        <p:sp>
          <p:nvSpPr>
            <p:cNvPr id="9229" name="Oval 5"/>
            <p:cNvSpPr>
              <a:spLocks noChangeArrowheads="1"/>
            </p:cNvSpPr>
            <p:nvPr/>
          </p:nvSpPr>
          <p:spPr bwMode="auto">
            <a:xfrm>
              <a:off x="3456" y="2544"/>
              <a:ext cx="432" cy="4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>
                  <a:latin typeface="Times New Roman" pitchFamily="18" charset="0"/>
                  <a:cs typeface="Times New Roman" pitchFamily="18" charset="0"/>
                </a:rPr>
                <a:t>?</a:t>
              </a:r>
            </a:p>
          </p:txBody>
        </p:sp>
        <p:sp>
          <p:nvSpPr>
            <p:cNvPr id="9230" name="Oval 6"/>
            <p:cNvSpPr>
              <a:spLocks noChangeArrowheads="1"/>
            </p:cNvSpPr>
            <p:nvPr/>
          </p:nvSpPr>
          <p:spPr bwMode="auto">
            <a:xfrm>
              <a:off x="4416" y="2544"/>
              <a:ext cx="432" cy="4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>
                  <a:latin typeface="Times New Roman" pitchFamily="18" charset="0"/>
                  <a:cs typeface="Times New Roman" pitchFamily="18" charset="0"/>
                </a:rPr>
                <a:t>?</a:t>
              </a:r>
            </a:p>
          </p:txBody>
        </p:sp>
        <p:sp>
          <p:nvSpPr>
            <p:cNvPr id="9231" name="Line 7"/>
            <p:cNvSpPr>
              <a:spLocks noChangeShapeType="1"/>
            </p:cNvSpPr>
            <p:nvPr/>
          </p:nvSpPr>
          <p:spPr bwMode="auto">
            <a:xfrm flipV="1">
              <a:off x="3878" y="2777"/>
              <a:ext cx="541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5486400" y="5334000"/>
            <a:ext cx="2209800" cy="685800"/>
            <a:chOff x="3456" y="2544"/>
            <a:chExt cx="1392" cy="432"/>
          </a:xfrm>
        </p:grpSpPr>
        <p:sp>
          <p:nvSpPr>
            <p:cNvPr id="9226" name="Oval 5"/>
            <p:cNvSpPr>
              <a:spLocks noChangeArrowheads="1"/>
            </p:cNvSpPr>
            <p:nvPr/>
          </p:nvSpPr>
          <p:spPr bwMode="auto">
            <a:xfrm>
              <a:off x="3456" y="2544"/>
              <a:ext cx="432" cy="432"/>
            </a:xfrm>
            <a:prstGeom prst="ellipse">
              <a:avLst/>
            </a:prstGeom>
            <a:solidFill>
              <a:srgbClr val="90F8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7" name="Oval 6"/>
            <p:cNvSpPr>
              <a:spLocks noChangeArrowheads="1"/>
            </p:cNvSpPr>
            <p:nvPr/>
          </p:nvSpPr>
          <p:spPr bwMode="auto">
            <a:xfrm>
              <a:off x="4416" y="2544"/>
              <a:ext cx="432" cy="432"/>
            </a:xfrm>
            <a:prstGeom prst="ellipse">
              <a:avLst/>
            </a:prstGeom>
            <a:solidFill>
              <a:srgbClr val="90F8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8" name="Line 7"/>
            <p:cNvSpPr>
              <a:spLocks noChangeShapeType="1"/>
            </p:cNvSpPr>
            <p:nvPr/>
          </p:nvSpPr>
          <p:spPr bwMode="auto">
            <a:xfrm flipV="1">
              <a:off x="3878" y="2777"/>
              <a:ext cx="541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5334000" y="6045200"/>
            <a:ext cx="1108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-0,5C</a:t>
            </a: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6816725" y="6019800"/>
            <a:ext cx="1108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-0,5C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DF637-5CFE-05C8-EDEB-AA1D684F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D9316-02C0-5B6F-03EE-5BBD54B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457200" y="587375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Vật dẫn điện - Vật cách điện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71475" y="1698625"/>
            <a:ext cx="8315325" cy="1377950"/>
            <a:chOff x="287" y="895"/>
            <a:chExt cx="4610" cy="1025"/>
          </a:xfrm>
        </p:grpSpPr>
        <p:sp>
          <p:nvSpPr>
            <p:cNvPr id="10247" name="AutoShape 36"/>
            <p:cNvSpPr>
              <a:spLocks noChangeArrowheads="1"/>
            </p:cNvSpPr>
            <p:nvPr/>
          </p:nvSpPr>
          <p:spPr bwMode="gray">
            <a:xfrm>
              <a:off x="287" y="895"/>
              <a:ext cx="4610" cy="1025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F3F3F3"/>
                </a:gs>
                <a:gs pos="100000">
                  <a:srgbClr val="DDDDDD"/>
                </a:gs>
              </a:gsLst>
              <a:lin ang="27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 sz="32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8" name="Text Box 41"/>
            <p:cNvSpPr txBox="1">
              <a:spLocks noChangeArrowheads="1"/>
            </p:cNvSpPr>
            <p:nvPr/>
          </p:nvSpPr>
          <p:spPr bwMode="gray">
            <a:xfrm>
              <a:off x="360" y="975"/>
              <a:ext cx="4441" cy="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just"/>
              <a:r>
                <a:rPr lang="en-US" altLang="zh-CN" sz="3200">
                  <a:solidFill>
                    <a:srgbClr val="1109B7"/>
                  </a:solidFill>
                  <a:latin typeface="Times New Roman" pitchFamily="18" charset="0"/>
                  <a:cs typeface="Times New Roman" pitchFamily="18" charset="0"/>
                </a:rPr>
                <a:t>Vật dẫn điện là những vật trong đó các electron có thể dịch chuyển tự do bên trong nó</a:t>
              </a:r>
              <a:endParaRPr lang="en-US" sz="3200">
                <a:solidFill>
                  <a:srgbClr val="1109B7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382588" y="3803650"/>
            <a:ext cx="8315325" cy="1377950"/>
            <a:chOff x="287" y="895"/>
            <a:chExt cx="4610" cy="1025"/>
          </a:xfrm>
        </p:grpSpPr>
        <p:sp>
          <p:nvSpPr>
            <p:cNvPr id="10245" name="AutoShape 36"/>
            <p:cNvSpPr>
              <a:spLocks noChangeArrowheads="1"/>
            </p:cNvSpPr>
            <p:nvPr/>
          </p:nvSpPr>
          <p:spPr bwMode="gray">
            <a:xfrm>
              <a:off x="287" y="895"/>
              <a:ext cx="4610" cy="1025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F3F3F3"/>
                </a:gs>
                <a:gs pos="100000">
                  <a:srgbClr val="DDDDDD"/>
                </a:gs>
              </a:gsLst>
              <a:lin ang="2700000" scaled="1"/>
            </a:gradFill>
            <a:ln w="38100">
              <a:solidFill>
                <a:srgbClr val="FFFFFF"/>
              </a:solidFill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 sz="32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6" name="Text Box 41"/>
            <p:cNvSpPr txBox="1">
              <a:spLocks noChangeArrowheads="1"/>
            </p:cNvSpPr>
            <p:nvPr/>
          </p:nvSpPr>
          <p:spPr bwMode="gray">
            <a:xfrm>
              <a:off x="414" y="975"/>
              <a:ext cx="4387" cy="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just"/>
              <a:r>
                <a:rPr lang="en-US" altLang="zh-CN" sz="3200">
                  <a:solidFill>
                    <a:srgbClr val="1109B7"/>
                  </a:solidFill>
                  <a:latin typeface="Times New Roman" pitchFamily="18" charset="0"/>
                  <a:cs typeface="Times New Roman" pitchFamily="18" charset="0"/>
                </a:rPr>
                <a:t>Vật cách điện là những vật trong đó các điện tích không dịch chuyển tự do bên trong nó</a:t>
              </a:r>
              <a:endParaRPr lang="en-US" sz="3200">
                <a:solidFill>
                  <a:srgbClr val="1109B7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3E5FB-3C2C-490E-962F-E4B25E63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C5ADD-46B8-0A4D-A03D-E3CF6E32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D:\THAI_DOAN_THANH\TAI_LIEU_MON_HOC\TAI_LIEU_VAT_LY\HINH_ANH\anh_dong\lightningA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3063" y="901700"/>
            <a:ext cx="4700588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6" descr="D:\THAI_DOAN_THANH\TAI_LIEU_MON_HOC\TAI_LIEU_VAT_LY\HINH_ANH\anh_dong\lightningB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525" y="809625"/>
            <a:ext cx="4818063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8EB5E2-307D-45D9-2601-2E2504EB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B8FD0-83F1-E2C3-4CF7-E8D1F2C1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363" y="749300"/>
            <a:ext cx="3130550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1"/>
          <p:cNvSpPr>
            <a:spLocks noChangeArrowheads="1"/>
          </p:cNvSpPr>
          <p:nvPr/>
        </p:nvSpPr>
        <p:spPr bwMode="auto">
          <a:xfrm>
            <a:off x="6707188" y="3144838"/>
            <a:ext cx="1447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  <a:p>
            <a:r>
              <a:rPr lang="vi-VN"/>
              <a:t> </a:t>
            </a:r>
            <a:r>
              <a:rPr lang="vi-VN" b="1"/>
              <a:t>Năm 1785 </a:t>
            </a:r>
            <a:endParaRPr lang="en-US" b="1"/>
          </a:p>
        </p:txBody>
      </p:sp>
      <p:grpSp>
        <p:nvGrpSpPr>
          <p:cNvPr id="12292" name="Group 18"/>
          <p:cNvGrpSpPr>
            <a:grpSpLocks/>
          </p:cNvGrpSpPr>
          <p:nvPr/>
        </p:nvGrpSpPr>
        <p:grpSpPr bwMode="auto">
          <a:xfrm>
            <a:off x="762000" y="0"/>
            <a:ext cx="7543800" cy="889000"/>
            <a:chOff x="1310" y="1392"/>
            <a:chExt cx="5421" cy="560"/>
          </a:xfrm>
        </p:grpSpPr>
        <p:pic>
          <p:nvPicPr>
            <p:cNvPr id="12295" name="Picture 24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0" y="1392"/>
              <a:ext cx="5421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1825" y="1510"/>
              <a:ext cx="4240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8.1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Tương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tác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Định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luật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Coulomb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12293" name="Picture 2" descr="D:\Word and Study\DH CNTP\Dien - Tu\Hinh anh\coulom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1112838"/>
            <a:ext cx="4002087" cy="47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228600" y="5875338"/>
            <a:ext cx="4495800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Charles Coulomb </a:t>
            </a: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French physicist (1736-1806)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40E9D2-221B-4414-56FB-0FBD89E3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8E7EA5-D791-3F52-455E-E157CDC9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/>
          <p:cNvSpPr>
            <a:spLocks noGrp="1"/>
          </p:cNvSpPr>
          <p:nvPr>
            <p:ph sz="quarter" idx="13"/>
          </p:nvPr>
        </p:nvSpPr>
        <p:spPr>
          <a:xfrm>
            <a:off x="1057275" y="990600"/>
            <a:ext cx="3971925" cy="609600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Tương tác điện:</a:t>
            </a:r>
          </a:p>
        </p:txBody>
      </p:sp>
      <p:grpSp>
        <p:nvGrpSpPr>
          <p:cNvPr id="13315" name="Group 18"/>
          <p:cNvGrpSpPr>
            <a:grpSpLocks/>
          </p:cNvGrpSpPr>
          <p:nvPr/>
        </p:nvGrpSpPr>
        <p:grpSpPr bwMode="auto">
          <a:xfrm>
            <a:off x="762000" y="0"/>
            <a:ext cx="7543800" cy="889000"/>
            <a:chOff x="1310" y="1392"/>
            <a:chExt cx="5421" cy="560"/>
          </a:xfrm>
        </p:grpSpPr>
        <p:pic>
          <p:nvPicPr>
            <p:cNvPr id="13326" name="Picture 24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0" y="1392"/>
              <a:ext cx="5421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1825" y="1510"/>
              <a:ext cx="4240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8.1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Tương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tác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Định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luật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Coulomb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1143000" y="2514600"/>
            <a:ext cx="426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Định luật Coulomb:</a:t>
            </a:r>
          </a:p>
        </p:txBody>
      </p:sp>
      <p:pic>
        <p:nvPicPr>
          <p:cNvPr id="6156" name="Picture 21" descr="E:\Work\Food Industry College\Dien-Tu truong\Hinh anh\Hinh VLDC2\Tuong tac 2 dien tich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841375"/>
            <a:ext cx="36576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425121"/>
              </p:ext>
            </p:extLst>
          </p:nvPr>
        </p:nvGraphicFramePr>
        <p:xfrm>
          <a:off x="3681413" y="5045238"/>
          <a:ext cx="3000376" cy="89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900" imgH="520700" progId="Equation.DSMT4">
                  <p:embed/>
                </p:oleObj>
              </mc:Choice>
              <mc:Fallback>
                <p:oleObj name="Equation" r:id="rId4" imgW="1739900" imgH="520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13" y="5045238"/>
                        <a:ext cx="3000376" cy="89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376942"/>
              </p:ext>
            </p:extLst>
          </p:nvPr>
        </p:nvGraphicFramePr>
        <p:xfrm>
          <a:off x="3581400" y="5987143"/>
          <a:ext cx="23574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44240" progId="Equation.DSMT4">
                  <p:embed/>
                </p:oleObj>
              </mc:Choice>
              <mc:Fallback>
                <p:oleObj name="Equation" r:id="rId6" imgW="1384200" imgH="444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987143"/>
                        <a:ext cx="23574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6591300" y="5147128"/>
            <a:ext cx="24765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2800" b="1" i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: hệ số tỉ lệ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 bwMode="auto">
          <a:xfrm>
            <a:off x="5953125" y="6052458"/>
            <a:ext cx="28003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2800" b="1" i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: hằng số điện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04838" y="912134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09600" y="2438400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228600" y="2971800"/>
            <a:ext cx="624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a/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môi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AAAC5-2B5C-4E6A-5F54-6D16DD18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BD774-28F0-6169-04F8-2456D892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0" name="Rounded Rectangle 19"/>
          <p:cNvSpPr>
            <a:spLocks noChangeArrowheads="1"/>
          </p:cNvSpPr>
          <p:nvPr/>
        </p:nvSpPr>
        <p:spPr bwMode="auto">
          <a:xfrm>
            <a:off x="457200" y="3733800"/>
            <a:ext cx="5334000" cy="12192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vi-VN" sz="32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069191"/>
              </p:ext>
            </p:extLst>
          </p:nvPr>
        </p:nvGraphicFramePr>
        <p:xfrm>
          <a:off x="636648" y="3733800"/>
          <a:ext cx="49466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60600" imgH="520700" progId="Equation.DSMT4">
                  <p:embed/>
                </p:oleObj>
              </mc:Choice>
              <mc:Fallback>
                <p:oleObj name="Equation" r:id="rId8" imgW="22606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648" y="3733800"/>
                        <a:ext cx="494665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87544" y="5115498"/>
            <a:ext cx="3352800" cy="117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hằng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môi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16" grpId="0"/>
      <p:bldP spid="19" grpId="0"/>
      <p:bldP spid="21" grpId="0"/>
      <p:bldP spid="22" grpId="0"/>
      <p:bldP spid="25" grpId="0"/>
      <p:bldP spid="18" grpId="0"/>
      <p:bldP spid="20" grpId="0" animBg="1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581400"/>
            <a:ext cx="9047163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39" name="Group 18"/>
          <p:cNvGrpSpPr>
            <a:grpSpLocks/>
          </p:cNvGrpSpPr>
          <p:nvPr/>
        </p:nvGrpSpPr>
        <p:grpSpPr bwMode="auto">
          <a:xfrm>
            <a:off x="762000" y="0"/>
            <a:ext cx="7543800" cy="889000"/>
            <a:chOff x="1310" y="1392"/>
            <a:chExt cx="5421" cy="560"/>
          </a:xfrm>
        </p:grpSpPr>
        <p:pic>
          <p:nvPicPr>
            <p:cNvPr id="14346" name="Picture 24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0" y="1392"/>
              <a:ext cx="5421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825" y="1510"/>
              <a:ext cx="4240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8.1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Tương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tác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Định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luật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Coulomb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28600" y="914400"/>
            <a:ext cx="7543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b/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môi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chân</a:t>
            </a:r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endParaRPr lang="en-US" sz="32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endParaRPr lang="en-US" sz="32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5867400" y="1546225"/>
            <a:ext cx="3352800" cy="117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hằng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môi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228600" y="2895600"/>
            <a:ext cx="732457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Hằng số điện môi của một số chất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CFE85-E188-3068-97D0-F0DF5F26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B1552-42D1-48D8-40D7-072046E7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14" name="Rounded Rectangle 13"/>
          <p:cNvSpPr>
            <a:spLocks noChangeArrowheads="1"/>
          </p:cNvSpPr>
          <p:nvPr/>
        </p:nvSpPr>
        <p:spPr bwMode="auto">
          <a:xfrm>
            <a:off x="812800" y="1714500"/>
            <a:ext cx="4343400" cy="12954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vi-VN" sz="320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327807"/>
              </p:ext>
            </p:extLst>
          </p:nvPr>
        </p:nvGraphicFramePr>
        <p:xfrm>
          <a:off x="914400" y="1828800"/>
          <a:ext cx="41402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520560" progId="Equation.DSMT4">
                  <p:embed/>
                </p:oleObj>
              </mc:Choice>
              <mc:Fallback>
                <p:oleObj name="Equation" r:id="rId4" imgW="189216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28800"/>
                        <a:ext cx="41402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43989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4343400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64" name="Group 18"/>
          <p:cNvGrpSpPr>
            <a:grpSpLocks/>
          </p:cNvGrpSpPr>
          <p:nvPr/>
        </p:nvGrpSpPr>
        <p:grpSpPr bwMode="auto">
          <a:xfrm>
            <a:off x="762000" y="0"/>
            <a:ext cx="7543800" cy="889000"/>
            <a:chOff x="1310" y="1392"/>
            <a:chExt cx="5421" cy="560"/>
          </a:xfrm>
        </p:grpSpPr>
        <p:pic>
          <p:nvPicPr>
            <p:cNvPr id="15376" name="Picture 24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0" y="1392"/>
              <a:ext cx="5421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1825" y="1510"/>
              <a:ext cx="4240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8.1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Tương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tác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Định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luật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Coulomb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5" name="Right Arrow 14"/>
          <p:cNvSpPr/>
          <p:nvPr/>
        </p:nvSpPr>
        <p:spPr>
          <a:xfrm>
            <a:off x="5410200" y="1752600"/>
            <a:ext cx="304800" cy="228600"/>
          </a:xfrm>
          <a:prstGeom prst="rightArrow">
            <a:avLst/>
          </a:prstGeom>
          <a:ln>
            <a:solidFill>
              <a:srgbClr val="FF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410200" y="2895600"/>
            <a:ext cx="304800" cy="219075"/>
          </a:xfrm>
          <a:prstGeom prst="rightArrow">
            <a:avLst/>
          </a:prstGeom>
          <a:ln>
            <a:solidFill>
              <a:srgbClr val="FF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ounded Rectangle 21"/>
          <p:cNvSpPr>
            <a:spLocks noChangeArrowheads="1"/>
          </p:cNvSpPr>
          <p:nvPr/>
        </p:nvSpPr>
        <p:spPr bwMode="auto">
          <a:xfrm>
            <a:off x="2797175" y="3606800"/>
            <a:ext cx="1927225" cy="7620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1905000" y="3733800"/>
            <a:ext cx="304800" cy="609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4648200"/>
            <a:ext cx="5257800" cy="609600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400" b="1" u="sng">
                <a:latin typeface="Times New Roman" pitchFamily="18" charset="0"/>
                <a:cs typeface="Times New Roman" pitchFamily="18" charset="0"/>
              </a:rPr>
              <a:t>Nguyên lý tổng hợp các lực tĩnh điện:</a:t>
            </a:r>
            <a:endParaRPr lang="en-US" sz="240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20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562600"/>
            <a:ext cx="34956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ounded Rectangle 26"/>
          <p:cNvSpPr>
            <a:spLocks noChangeArrowheads="1"/>
          </p:cNvSpPr>
          <p:nvPr/>
        </p:nvSpPr>
        <p:spPr bwMode="auto">
          <a:xfrm>
            <a:off x="1143000" y="5487988"/>
            <a:ext cx="3886200" cy="9144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8207" name="Picture 19" descr="E:\Work\Food Industry College\Dien-Tu truong\Hinh anh\Hinh VLDC2\index_25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75" y="3848100"/>
            <a:ext cx="35401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6073775" y="1135063"/>
          <a:ext cx="260032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6000" imgH="482600" progId="Equation.DSMT4">
                  <p:embed/>
                </p:oleObj>
              </mc:Choice>
              <mc:Fallback>
                <p:oleObj name="Equation" r:id="rId7" imgW="1016000" imgH="482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1135063"/>
                        <a:ext cx="2600325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96000" y="2381250"/>
          <a:ext cx="25146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546100" progId="Equation.DSMT4">
                  <p:embed/>
                </p:oleObj>
              </mc:Choice>
              <mc:Fallback>
                <p:oleObj name="Equation" r:id="rId9" imgW="1143000" imgH="546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81250"/>
                        <a:ext cx="25146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943225" y="3592513"/>
          <a:ext cx="17049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74364" imgH="317362" progId="Equation.DSMT4">
                  <p:embed/>
                </p:oleObj>
              </mc:Choice>
              <mc:Fallback>
                <p:oleObj name="Equation" r:id="rId11" imgW="774364" imgH="31736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592513"/>
                        <a:ext cx="17049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7FBE8-02A1-9AB7-C01D-BF85734F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68C94-686D-08DE-6338-B1DBDCAB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2" grpId="0" animBg="1"/>
      <p:bldP spid="23" grpId="0" animBg="1"/>
      <p:bldP spid="24" grpId="0" build="p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381000"/>
                <a:ext cx="8229600" cy="5745163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3200" b="1" dirty="0"/>
                  <a:t>Khoảng </a:t>
                </a:r>
                <a:r>
                  <a:rPr lang="en-US" sz="3200" b="1" dirty="0" err="1"/>
                  <a:t>cách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trung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bình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giữa</a:t>
                </a:r>
                <a:r>
                  <a:rPr lang="en-US" sz="3200" b="1" dirty="0"/>
                  <a:t> electron </a:t>
                </a:r>
                <a:r>
                  <a:rPr lang="en-US" sz="3200" b="1" dirty="0" err="1"/>
                  <a:t>và</a:t>
                </a:r>
                <a:r>
                  <a:rPr lang="en-US" sz="3200" b="1" dirty="0"/>
                  <a:t> proton </a:t>
                </a:r>
                <a:r>
                  <a:rPr lang="en-US" sz="3200" b="1" dirty="0" err="1"/>
                  <a:t>của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nguyên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tử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Hidro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là</a:t>
                </a:r>
                <a:r>
                  <a:rPr lang="en-US" sz="3200" b="1" dirty="0"/>
                  <a:t> 5,3.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3200" b="1" i="1" smtClean="0">
                            <a:latin typeface="Cambria Math"/>
                          </a:rPr>
                          <m:t>𝟏𝟏</m:t>
                        </m:r>
                      </m:sup>
                    </m:sSup>
                  </m:oMath>
                </a14:m>
                <a:r>
                  <a:rPr lang="en-US" sz="3200" b="1" dirty="0"/>
                  <a:t>m. </a:t>
                </a:r>
                <a:r>
                  <a:rPr lang="en-US" sz="3200" b="1" dirty="0" err="1"/>
                  <a:t>Tìm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độ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lớn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lực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hấp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dẫn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và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lực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điện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giữa</a:t>
                </a:r>
                <a:r>
                  <a:rPr lang="en-US" sz="3200" b="1" dirty="0"/>
                  <a:t> 2 </a:t>
                </a:r>
                <a:r>
                  <a:rPr lang="en-US" sz="3200" b="1" dirty="0" err="1"/>
                  <a:t>hạt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trên</a:t>
                </a:r>
                <a:r>
                  <a:rPr lang="en-US" sz="3200" b="1" dirty="0"/>
                  <a:t>.</a:t>
                </a:r>
              </a:p>
              <a:p>
                <a:r>
                  <a:rPr lang="en-US" sz="3200" b="1" dirty="0"/>
                  <a:t>F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/>
                          </a:rPr>
                          <m:t>𝒒</m:t>
                        </m:r>
                        <m:r>
                          <a:rPr lang="en-US" sz="3200" b="1" i="1" smtClean="0">
                            <a:latin typeface="Cambria Math"/>
                          </a:rPr>
                          <m:t>.</m:t>
                        </m:r>
                        <m:r>
                          <a:rPr lang="en-US" sz="3200" b="1" i="1" smtClean="0">
                            <a:latin typeface="Cambria Math"/>
                          </a:rPr>
                          <m:t>𝒒</m:t>
                        </m:r>
                      </m:num>
                      <m:den>
                        <m:r>
                          <a:rPr lang="en-US" sz="3200" b="1" i="1" smtClean="0">
                            <a:latin typeface="Cambria Math"/>
                          </a:rPr>
                          <m:t>𝒓</m:t>
                        </m:r>
                        <m:r>
                          <a:rPr lang="en-US" sz="3200" b="1" i="1" smtClean="0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r>
                  <a:rPr lang="en-US" sz="3200" b="1" dirty="0"/>
                  <a:t> = 9.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latin typeface="Cambria Math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US" sz="3200" b="1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3200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sz="3200" b="1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3200" b="1" i="1" smtClean="0">
                                <a:latin typeface="Cambria Math"/>
                              </a:rPr>
                              <m:t>𝟔</m:t>
                            </m:r>
                            <m:r>
                              <a:rPr lang="en-US" sz="3200" b="1" i="1" smtClean="0">
                                <a:latin typeface="Cambria Math"/>
                              </a:rPr>
                              <m:t>.</m:t>
                            </m:r>
                            <m:sSup>
                              <m:sSupPr>
                                <m:ctrl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1" i="1" smtClean="0">
                                    <a:latin typeface="Cambria Math"/>
                                  </a:rPr>
                                  <m:t>𝟏𝟎</m:t>
                                </m:r>
                              </m:e>
                              <m:sup>
                                <m:r>
                                  <a:rPr lang="en-US" sz="3200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3200" b="1" i="1" smtClean="0">
                                    <a:latin typeface="Cambria Math"/>
                                  </a:rPr>
                                  <m:t>𝟏𝟗</m:t>
                                </m:r>
                                <m:r>
                                  <a:rPr lang="en-US" sz="3200" b="1" i="1" smtClean="0">
                                    <a:latin typeface="Cambria Math"/>
                                  </a:rPr>
                                  <m:t>)</m:t>
                                </m:r>
                              </m:sup>
                            </m:sSup>
                          </m:e>
                          <m:sup>
                            <m:r>
                              <a:rPr lang="en-US" sz="32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US" sz="3200" b="1" i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3200" b="1"/>
                          <m:t>5,3.</m:t>
                        </m:r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3200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3200" b="1" i="1">
                                <a:latin typeface="Cambria Math"/>
                              </a:rPr>
                              <m:t>𝟏𝟏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3200" b="1" i="0" smtClean="0">
                            <a:latin typeface="Cambria Math"/>
                          </a:rPr>
                          <m:t>)</m:t>
                        </m:r>
                        <m:r>
                          <a:rPr lang="en-US" sz="3200" b="1" i="1" smtClean="0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r>
                  <a:rPr lang="en-US" sz="3200" b="1" dirty="0"/>
                  <a:t> = 8,2.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3200" b="1" i="1" smtClean="0">
                            <a:latin typeface="Cambria Math"/>
                          </a:rPr>
                          <m:t>𝟖</m:t>
                        </m:r>
                      </m:sup>
                    </m:sSup>
                    <m:r>
                      <a:rPr lang="en-US" sz="3200" b="1" i="1" smtClean="0">
                        <a:latin typeface="Cambria Math"/>
                      </a:rPr>
                      <m:t>𝑵</m:t>
                    </m:r>
                  </m:oMath>
                </a14:m>
                <a:endParaRPr lang="en-US" sz="3200" b="1" dirty="0"/>
              </a:p>
              <a:p>
                <a:pPr marL="45720" indent="0">
                  <a:buNone/>
                </a:pPr>
                <a:endParaRPr lang="en-US" sz="3200" b="1" dirty="0"/>
              </a:p>
              <a:p>
                <a:r>
                  <a:rPr lang="en-US" sz="3200" b="1" dirty="0"/>
                  <a:t>Cho 3 </a:t>
                </a:r>
                <a:r>
                  <a:rPr lang="en-US" sz="3200" b="1" dirty="0" err="1"/>
                  <a:t>điện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tích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điểm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đặt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tại</a:t>
                </a:r>
                <a:r>
                  <a:rPr lang="en-US" sz="3200" b="1" dirty="0"/>
                  <a:t> 3 </a:t>
                </a:r>
                <a:r>
                  <a:rPr lang="en-US" sz="3200" b="1" dirty="0" err="1"/>
                  <a:t>đỉnh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một</a:t>
                </a:r>
                <a:r>
                  <a:rPr lang="en-US" sz="3200" b="1" dirty="0"/>
                  <a:t> tam </a:t>
                </a:r>
                <a:r>
                  <a:rPr lang="en-US" sz="3200" b="1" dirty="0" err="1"/>
                  <a:t>giác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vuông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cân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tại</a:t>
                </a:r>
                <a:r>
                  <a:rPr lang="en-US" sz="3200" b="1" dirty="0"/>
                  <a:t> q2. </a:t>
                </a:r>
                <a:r>
                  <a:rPr lang="en-US" sz="3200" b="1" dirty="0" err="1"/>
                  <a:t>Tìm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hợp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lực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tác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dụng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lên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điện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tích</a:t>
                </a:r>
                <a:r>
                  <a:rPr lang="en-US" sz="3200" b="1" dirty="0"/>
                  <a:t> q3. </a:t>
                </a:r>
                <a:r>
                  <a:rPr lang="en-US" sz="3200" b="1" dirty="0" err="1"/>
                  <a:t>Trong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đó</a:t>
                </a:r>
                <a:r>
                  <a:rPr lang="en-US" sz="3200" b="1" dirty="0"/>
                  <a:t> q1 = q3 = 5</a:t>
                </a:r>
                <a:r>
                  <a:rPr lang="el-GR" sz="3200" b="1" i="1" dirty="0"/>
                  <a:t>μ</a:t>
                </a:r>
                <a:r>
                  <a:rPr lang="en-US" sz="3200" b="1" i="1" dirty="0"/>
                  <a:t>C</a:t>
                </a:r>
                <a:r>
                  <a:rPr lang="en-US" sz="3200" b="1" dirty="0"/>
                  <a:t>, q2 = -2</a:t>
                </a:r>
                <a:r>
                  <a:rPr lang="el-GR" sz="3200" b="1" i="1" dirty="0"/>
                  <a:t>μ</a:t>
                </a:r>
                <a:r>
                  <a:rPr lang="en-US" sz="3200" b="1" i="1" dirty="0"/>
                  <a:t>C</a:t>
                </a:r>
                <a:r>
                  <a:rPr lang="en-US" sz="3200" b="1" dirty="0"/>
                  <a:t>, a = 0,1m</a:t>
                </a:r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381000"/>
                <a:ext cx="8229600" cy="5745163"/>
              </a:xfrm>
              <a:blipFill rotWithShape="1">
                <a:blip r:embed="rId2"/>
                <a:stretch>
                  <a:fillRect l="-1926" t="-4246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630D9C-467A-AEA9-A18D-F68D28FB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10BF1-B61D-0BA3-C91D-378639ED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609600"/>
            <a:ext cx="5867399" cy="520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9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053115" y="4305300"/>
                <a:ext cx="1248229" cy="5715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𝑭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𝟐𝟑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053115" y="4305300"/>
                <a:ext cx="1248229" cy="5715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Triangle 5"/>
          <p:cNvSpPr/>
          <p:nvPr/>
        </p:nvSpPr>
        <p:spPr>
          <a:xfrm>
            <a:off x="2667000" y="1295400"/>
            <a:ext cx="3276600" cy="2895600"/>
          </a:xfrm>
          <a:prstGeom prst="rt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876800" y="4191000"/>
            <a:ext cx="1066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4"/>
          </p:cNvCxnSpPr>
          <p:nvPr/>
        </p:nvCxnSpPr>
        <p:spPr>
          <a:xfrm>
            <a:off x="5943600" y="419100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626099" y="4209142"/>
            <a:ext cx="3810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/>
              <p:cNvSpPr txBox="1">
                <a:spLocks/>
              </p:cNvSpPr>
              <p:nvPr/>
            </p:nvSpPr>
            <p:spPr>
              <a:xfrm>
                <a:off x="4067629" y="2271486"/>
                <a:ext cx="838200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:r>
                  <a:rPr lang="en-US" sz="1600" dirty="0"/>
                  <a:t>a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 smtClean="0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29" y="2271486"/>
                <a:ext cx="838200" cy="6096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/>
              <p:cNvSpPr txBox="1">
                <a:spLocks/>
              </p:cNvSpPr>
              <p:nvPr/>
            </p:nvSpPr>
            <p:spPr>
              <a:xfrm>
                <a:off x="2213428" y="838200"/>
                <a:ext cx="304800" cy="6858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𝒒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428" y="838200"/>
                <a:ext cx="304800" cy="685800"/>
              </a:xfrm>
              <a:prstGeom prst="rect">
                <a:avLst/>
              </a:prstGeom>
              <a:blipFill rotWithShape="1">
                <a:blip r:embed="rId4"/>
                <a:stretch>
                  <a:fillRect l="-2000" r="-42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le 1"/>
              <p:cNvSpPr txBox="1">
                <a:spLocks/>
              </p:cNvSpPr>
              <p:nvPr/>
            </p:nvSpPr>
            <p:spPr>
              <a:xfrm>
                <a:off x="5257799" y="5283200"/>
                <a:ext cx="11430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𝑭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799" y="5283200"/>
                <a:ext cx="1143001" cy="6096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owchart: Connector 2"/>
          <p:cNvSpPr/>
          <p:nvPr/>
        </p:nvSpPr>
        <p:spPr>
          <a:xfrm>
            <a:off x="2447471" y="4085771"/>
            <a:ext cx="228600" cy="22860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/>
          <p:cNvSpPr/>
          <p:nvPr/>
        </p:nvSpPr>
        <p:spPr>
          <a:xfrm>
            <a:off x="2518228" y="1181100"/>
            <a:ext cx="228600" cy="2286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/>
          <p:cNvSpPr/>
          <p:nvPr/>
        </p:nvSpPr>
        <p:spPr>
          <a:xfrm>
            <a:off x="5929085" y="4123871"/>
            <a:ext cx="228600" cy="2286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/>
              <p:cNvSpPr txBox="1">
                <a:spLocks/>
              </p:cNvSpPr>
              <p:nvPr/>
            </p:nvSpPr>
            <p:spPr>
              <a:xfrm>
                <a:off x="5839278" y="4305300"/>
                <a:ext cx="1714500" cy="6858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𝑭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278" y="4305300"/>
                <a:ext cx="1714500" cy="6858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2061028" y="3780971"/>
                <a:ext cx="304800" cy="6858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𝒒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028" y="3780971"/>
                <a:ext cx="304800" cy="685800"/>
              </a:xfrm>
              <a:prstGeom prst="rect">
                <a:avLst/>
              </a:prstGeom>
              <a:blipFill rotWithShape="1">
                <a:blip r:embed="rId7"/>
                <a:stretch>
                  <a:fillRect l="-2000" r="-42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/>
              <p:cNvSpPr txBox="1">
                <a:spLocks/>
              </p:cNvSpPr>
              <p:nvPr/>
            </p:nvSpPr>
            <p:spPr>
              <a:xfrm>
                <a:off x="6184897" y="3559628"/>
                <a:ext cx="304800" cy="6858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𝒒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897" y="3559628"/>
                <a:ext cx="304800" cy="685800"/>
              </a:xfrm>
              <a:prstGeom prst="rect">
                <a:avLst/>
              </a:prstGeom>
              <a:blipFill rotWithShape="1">
                <a:blip r:embed="rId8"/>
                <a:stretch>
                  <a:fillRect l="-2000" r="-40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/>
          <p:cNvSpPr txBox="1">
            <a:spLocks/>
          </p:cNvSpPr>
          <p:nvPr/>
        </p:nvSpPr>
        <p:spPr>
          <a:xfrm>
            <a:off x="1674585" y="2271486"/>
            <a:ext cx="838200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16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/>
              <p:cNvSpPr txBox="1">
                <a:spLocks/>
              </p:cNvSpPr>
              <p:nvPr/>
            </p:nvSpPr>
            <p:spPr>
              <a:xfrm>
                <a:off x="3733800" y="381000"/>
                <a:ext cx="5257800" cy="16002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 algn="l">
                  <a:buFont typeface="Georgia" pitchFamily="18" charset="0"/>
                  <a:buNone/>
                </a:pPr>
                <a:r>
                  <a:rPr lang="en-US" sz="2000" dirty="0"/>
                  <a:t>F13=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𝒒</m:t>
                        </m:r>
                        <m:r>
                          <a:rPr lang="en-US" sz="2000" i="1" smtClean="0">
                            <a:latin typeface="Cambria Math"/>
                          </a:rPr>
                          <m:t>𝟏</m:t>
                        </m:r>
                        <m:r>
                          <a:rPr lang="en-US" sz="2000" i="1">
                            <a:latin typeface="Cambria Math"/>
                          </a:rPr>
                          <m:t>.</m:t>
                        </m:r>
                        <m:r>
                          <a:rPr lang="en-US" sz="2000" i="1">
                            <a:latin typeface="Cambria Math"/>
                          </a:rPr>
                          <m:t>𝒒</m:t>
                        </m:r>
                        <m:r>
                          <a:rPr lang="en-US" sz="2000" i="1" smtClean="0"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/>
                          <m:t>a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/>
                              </a:rPr>
                              <m:t>𝟐</m:t>
                            </m:r>
                          </m:e>
                        </m:rad>
                        <m:r>
                          <a:rPr lang="en-US" sz="2000" i="1" smtClean="0">
                            <a:latin typeface="Cambria Math"/>
                          </a:rPr>
                          <m:t>)</m:t>
                        </m:r>
                        <m:r>
                          <a:rPr lang="en-US" sz="2000" i="1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r>
                  <a:rPr lang="en-US" sz="2000" dirty="0"/>
                  <a:t> = 11,25 N</a:t>
                </a:r>
              </a:p>
              <a:p>
                <a:pPr marL="0" indent="0" algn="l">
                  <a:buFont typeface="Georgia" pitchFamily="18" charset="0"/>
                  <a:buNone/>
                </a:pPr>
                <a:r>
                  <a:rPr lang="en-US" sz="2000" dirty="0"/>
                  <a:t>F23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𝒒</m:t>
                        </m:r>
                        <m:r>
                          <a:rPr lang="en-US" sz="2000" i="1">
                            <a:latin typeface="Cambria Math"/>
                          </a:rPr>
                          <m:t>𝟐</m:t>
                        </m:r>
                        <m:r>
                          <a:rPr lang="en-US" sz="2000" i="1">
                            <a:latin typeface="Cambria Math"/>
                          </a:rPr>
                          <m:t>.</m:t>
                        </m:r>
                        <m:r>
                          <a:rPr lang="en-US" sz="2000" i="1">
                            <a:latin typeface="Cambria Math"/>
                          </a:rPr>
                          <m:t>𝒒</m:t>
                        </m:r>
                        <m:r>
                          <a:rPr lang="en-US" sz="2000" i="1"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/>
                          <m:t>a</m:t>
                        </m:r>
                        <m:r>
                          <a:rPr lang="en-US" sz="2000" i="1">
                            <a:latin typeface="Cambria Math"/>
                          </a:rPr>
                          <m:t>)²</m:t>
                        </m:r>
                      </m:den>
                    </m:f>
                  </m:oMath>
                </a14:m>
                <a:r>
                  <a:rPr lang="en-US" sz="2000" dirty="0"/>
                  <a:t> = 9 N</a:t>
                </a:r>
              </a:p>
              <a:p>
                <a:pPr marL="0" indent="0" algn="l">
                  <a:buNone/>
                </a:pPr>
                <a:r>
                  <a:rPr lang="en-US" sz="2000" u="sng" dirty="0"/>
                  <a:t>F3² = F13²+ F23² - 2.F13.F23cos45° </a:t>
                </a:r>
                <a:r>
                  <a:rPr lang="en-US" sz="2000" dirty="0"/>
                  <a:t>= </a:t>
                </a:r>
              </a:p>
              <a:p>
                <a:pPr marL="0" indent="0" algn="l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381000"/>
                <a:ext cx="5257800" cy="1600200"/>
              </a:xfrm>
              <a:prstGeom prst="rect">
                <a:avLst/>
              </a:prstGeom>
              <a:blipFill rotWithShape="1">
                <a:blip r:embed="rId9"/>
                <a:stretch>
                  <a:fillRect l="-1276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839278" y="2362200"/>
                <a:ext cx="2771322" cy="6858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278" y="2362200"/>
                <a:ext cx="2771322" cy="6858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Callout 4"/>
              <p:cNvSpPr/>
              <p:nvPr/>
            </p:nvSpPr>
            <p:spPr>
              <a:xfrm>
                <a:off x="1447800" y="5283200"/>
                <a:ext cx="2213428" cy="1193800"/>
              </a:xfrm>
              <a:prstGeom prst="wedgeEllipseCallout">
                <a:avLst>
                  <a:gd name="adj1" fmla="val 55180"/>
                  <a:gd name="adj2" fmla="val -74351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18,7 (N)</a:t>
                </a:r>
              </a:p>
            </p:txBody>
          </p:sp>
        </mc:Choice>
        <mc:Fallback xmlns="">
          <p:sp>
            <p:nvSpPr>
              <p:cNvPr id="5" name="Oval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5283200"/>
                <a:ext cx="2213428" cy="1193800"/>
              </a:xfrm>
              <a:prstGeom prst="wedgeEllipseCallout">
                <a:avLst>
                  <a:gd name="adj1" fmla="val 55180"/>
                  <a:gd name="adj2" fmla="val -74351"/>
                </a:avLst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 flipH="1">
            <a:off x="5715000" y="5105400"/>
            <a:ext cx="1143000" cy="181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C30317-1A11-5671-6B14-DC3B87B2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7EADE-B01B-AD4F-C40B-0C743D3A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6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8" grpId="0"/>
      <p:bldP spid="19" grpId="0"/>
      <p:bldP spid="25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609600"/>
            <a:ext cx="8229600" cy="55165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b="1" dirty="0" err="1"/>
              <a:t>Hai</a:t>
            </a:r>
            <a:r>
              <a:rPr lang="en-US" sz="3200" b="1" dirty="0"/>
              <a:t> </a:t>
            </a:r>
            <a:r>
              <a:rPr lang="en-US" sz="3200" b="1" dirty="0" err="1"/>
              <a:t>quả</a:t>
            </a:r>
            <a:r>
              <a:rPr lang="en-US" sz="3200" b="1" dirty="0"/>
              <a:t> </a:t>
            </a:r>
            <a:r>
              <a:rPr lang="en-US" sz="3200" b="1" dirty="0" err="1"/>
              <a:t>cầu</a:t>
            </a:r>
            <a:r>
              <a:rPr lang="en-US" sz="3200" b="1" dirty="0"/>
              <a:t> </a:t>
            </a:r>
            <a:r>
              <a:rPr lang="en-US" sz="3200" b="1" dirty="0" err="1"/>
              <a:t>kim</a:t>
            </a:r>
            <a:r>
              <a:rPr lang="en-US" sz="3200" b="1" dirty="0"/>
              <a:t> </a:t>
            </a:r>
            <a:r>
              <a:rPr lang="en-US" sz="3200" b="1" dirty="0" err="1"/>
              <a:t>loại</a:t>
            </a:r>
            <a:r>
              <a:rPr lang="en-US" sz="3200" b="1" dirty="0"/>
              <a:t> </a:t>
            </a:r>
            <a:r>
              <a:rPr lang="en-US" sz="3200" b="1" dirty="0" err="1"/>
              <a:t>tích</a:t>
            </a:r>
            <a:r>
              <a:rPr lang="en-US" sz="3200" b="1" dirty="0"/>
              <a:t> </a:t>
            </a:r>
            <a:r>
              <a:rPr lang="en-US" sz="3200" b="1" dirty="0" err="1"/>
              <a:t>điện</a:t>
            </a:r>
            <a:r>
              <a:rPr lang="en-US" sz="3200" b="1" dirty="0"/>
              <a:t> </a:t>
            </a:r>
            <a:r>
              <a:rPr lang="en-US" sz="3200" b="1" dirty="0" err="1"/>
              <a:t>trái</a:t>
            </a:r>
            <a:r>
              <a:rPr lang="en-US" sz="3200" b="1" dirty="0"/>
              <a:t> </a:t>
            </a:r>
            <a:r>
              <a:rPr lang="en-US" sz="3200" b="1" dirty="0" err="1"/>
              <a:t>dấu</a:t>
            </a:r>
            <a:r>
              <a:rPr lang="en-US" sz="3200" b="1" dirty="0"/>
              <a:t>, </a:t>
            </a:r>
            <a:r>
              <a:rPr lang="en-US" sz="3200" b="1" dirty="0" err="1"/>
              <a:t>treo</a:t>
            </a:r>
            <a:r>
              <a:rPr lang="en-US" sz="3200" b="1" dirty="0"/>
              <a:t> </a:t>
            </a:r>
            <a:r>
              <a:rPr lang="en-US" sz="3200" b="1" dirty="0" err="1"/>
              <a:t>trên</a:t>
            </a:r>
            <a:r>
              <a:rPr lang="en-US" sz="3200" b="1" dirty="0"/>
              <a:t> 2 </a:t>
            </a:r>
            <a:r>
              <a:rPr lang="en-US" sz="3200" b="1" dirty="0" err="1"/>
              <a:t>sợi</a:t>
            </a:r>
            <a:r>
              <a:rPr lang="en-US" sz="3200" b="1" dirty="0"/>
              <a:t> </a:t>
            </a:r>
            <a:r>
              <a:rPr lang="en-US" sz="3200" b="1" dirty="0" err="1"/>
              <a:t>chỉ</a:t>
            </a:r>
            <a:r>
              <a:rPr lang="en-US" sz="3200" b="1" dirty="0"/>
              <a:t> </a:t>
            </a:r>
            <a:r>
              <a:rPr lang="en-US" sz="3200" b="1" dirty="0" err="1"/>
              <a:t>mảnh</a:t>
            </a:r>
            <a:r>
              <a:rPr lang="en-US" sz="3200" b="1" dirty="0"/>
              <a:t>. Cho </a:t>
            </a:r>
            <a:r>
              <a:rPr lang="en-US" sz="3200" b="1" dirty="0" err="1"/>
              <a:t>chúng</a:t>
            </a:r>
            <a:r>
              <a:rPr lang="en-US" sz="3200" b="1" dirty="0"/>
              <a:t> </a:t>
            </a:r>
            <a:r>
              <a:rPr lang="en-US" sz="3200" b="1" dirty="0" err="1"/>
              <a:t>chạm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rồi</a:t>
            </a:r>
            <a:r>
              <a:rPr lang="en-US" sz="3200" b="1" dirty="0"/>
              <a:t> </a:t>
            </a:r>
            <a:r>
              <a:rPr lang="en-US" sz="3200" b="1" dirty="0" err="1"/>
              <a:t>lại</a:t>
            </a:r>
            <a:r>
              <a:rPr lang="en-US" sz="3200" b="1" dirty="0"/>
              <a:t> </a:t>
            </a:r>
            <a:r>
              <a:rPr lang="en-US" sz="3200" b="1" dirty="0" err="1"/>
              <a:t>tách</a:t>
            </a:r>
            <a:r>
              <a:rPr lang="en-US" sz="3200" b="1" dirty="0"/>
              <a:t> </a:t>
            </a:r>
            <a:r>
              <a:rPr lang="en-US" sz="3200" b="1" dirty="0" err="1"/>
              <a:t>ra</a:t>
            </a:r>
            <a:r>
              <a:rPr lang="en-US" sz="3200" b="1" dirty="0"/>
              <a:t> </a:t>
            </a:r>
            <a:r>
              <a:rPr lang="en-US" sz="3200" b="1" dirty="0" err="1"/>
              <a:t>xa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thì</a:t>
            </a:r>
            <a:r>
              <a:rPr lang="en-US" sz="3200" b="1" dirty="0"/>
              <a:t> 2 </a:t>
            </a:r>
            <a:r>
              <a:rPr lang="en-US" sz="3200" b="1" dirty="0" err="1"/>
              <a:t>quả</a:t>
            </a:r>
            <a:r>
              <a:rPr lang="en-US" sz="3200" b="1" dirty="0"/>
              <a:t> </a:t>
            </a:r>
            <a:r>
              <a:rPr lang="en-US" sz="3200" b="1" dirty="0" err="1"/>
              <a:t>cầu</a:t>
            </a:r>
            <a:r>
              <a:rPr lang="en-US" sz="3200" b="1" dirty="0"/>
              <a:t> </a:t>
            </a:r>
            <a:r>
              <a:rPr lang="en-US" sz="3200" b="1" dirty="0" err="1"/>
              <a:t>sẽ</a:t>
            </a:r>
            <a:r>
              <a:rPr lang="en-US" sz="3200" b="1" dirty="0"/>
              <a:t>:</a:t>
            </a:r>
          </a:p>
          <a:p>
            <a:pPr marL="514350" indent="-514350">
              <a:buAutoNum type="alphaLcParenR"/>
            </a:pPr>
            <a:r>
              <a:rPr lang="en-US" sz="3200" b="1" dirty="0" err="1"/>
              <a:t>Hút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vì</a:t>
            </a:r>
            <a:r>
              <a:rPr lang="en-US" sz="3200" b="1" dirty="0"/>
              <a:t> </a:t>
            </a:r>
            <a:r>
              <a:rPr lang="en-US" sz="3200" b="1" dirty="0" err="1"/>
              <a:t>chúng</a:t>
            </a:r>
            <a:r>
              <a:rPr lang="en-US" sz="3200" b="1" dirty="0"/>
              <a:t> </a:t>
            </a:r>
            <a:r>
              <a:rPr lang="en-US" sz="3200" b="1" dirty="0" err="1"/>
              <a:t>tích</a:t>
            </a:r>
            <a:r>
              <a:rPr lang="en-US" sz="3200" b="1" dirty="0"/>
              <a:t> </a:t>
            </a:r>
            <a:r>
              <a:rPr lang="en-US" sz="3200" b="1" dirty="0" err="1"/>
              <a:t>điện</a:t>
            </a:r>
            <a:r>
              <a:rPr lang="en-US" sz="3200" b="1" dirty="0"/>
              <a:t> </a:t>
            </a:r>
            <a:r>
              <a:rPr lang="en-US" sz="3200" b="1" dirty="0" err="1"/>
              <a:t>trái</a:t>
            </a:r>
            <a:r>
              <a:rPr lang="en-US" sz="3200" b="1" dirty="0"/>
              <a:t> </a:t>
            </a:r>
            <a:r>
              <a:rPr lang="en-US" sz="3200" b="1" dirty="0" err="1"/>
              <a:t>dấu</a:t>
            </a:r>
            <a:endParaRPr lang="en-US" sz="3200" b="1" dirty="0"/>
          </a:p>
          <a:p>
            <a:pPr marL="514350" indent="-514350">
              <a:buFont typeface="Arial" charset="0"/>
              <a:buAutoNum type="alphaLcParenR"/>
            </a:pPr>
            <a:r>
              <a:rPr lang="en-US" sz="3200" b="1" dirty="0" err="1"/>
              <a:t>Đẩy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vì</a:t>
            </a:r>
            <a:r>
              <a:rPr lang="en-US" sz="3200" b="1" dirty="0"/>
              <a:t> </a:t>
            </a:r>
            <a:r>
              <a:rPr lang="en-US" sz="3200" b="1" dirty="0" err="1"/>
              <a:t>chúng</a:t>
            </a:r>
            <a:r>
              <a:rPr lang="en-US" sz="3200" b="1" dirty="0"/>
              <a:t> </a:t>
            </a:r>
            <a:r>
              <a:rPr lang="en-US" sz="3200" b="1" dirty="0" err="1"/>
              <a:t>tích</a:t>
            </a:r>
            <a:r>
              <a:rPr lang="en-US" sz="3200" b="1" dirty="0"/>
              <a:t> </a:t>
            </a:r>
            <a:r>
              <a:rPr lang="en-US" sz="3200" b="1" dirty="0" err="1"/>
              <a:t>điện</a:t>
            </a:r>
            <a:r>
              <a:rPr lang="en-US" sz="3200" b="1" dirty="0"/>
              <a:t> </a:t>
            </a:r>
            <a:r>
              <a:rPr lang="en-US" sz="3200" b="1" dirty="0" err="1"/>
              <a:t>cùng</a:t>
            </a:r>
            <a:r>
              <a:rPr lang="en-US" sz="3200" b="1" dirty="0"/>
              <a:t> </a:t>
            </a:r>
            <a:r>
              <a:rPr lang="en-US" sz="3200" b="1" dirty="0" err="1"/>
              <a:t>dấu</a:t>
            </a:r>
            <a:endParaRPr lang="en-US" sz="3200" b="1" dirty="0"/>
          </a:p>
          <a:p>
            <a:pPr marL="514350" indent="-514350">
              <a:buFont typeface="Arial" charset="0"/>
              <a:buAutoNum type="alphaLcParenR"/>
            </a:pPr>
            <a:r>
              <a:rPr lang="en-US" sz="3200" b="1" dirty="0" err="1"/>
              <a:t>Không</a:t>
            </a:r>
            <a:r>
              <a:rPr lang="en-US" sz="3200" b="1" dirty="0"/>
              <a:t> </a:t>
            </a:r>
            <a:r>
              <a:rPr lang="en-US" sz="3200" b="1" dirty="0" err="1"/>
              <a:t>tương</a:t>
            </a:r>
            <a:r>
              <a:rPr lang="en-US" sz="3200" b="1" dirty="0"/>
              <a:t> </a:t>
            </a:r>
            <a:r>
              <a:rPr lang="en-US" sz="3200" b="1" dirty="0" err="1"/>
              <a:t>tác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vì</a:t>
            </a:r>
            <a:r>
              <a:rPr lang="en-US" sz="3200" b="1" dirty="0"/>
              <a:t> </a:t>
            </a:r>
            <a:r>
              <a:rPr lang="en-US" sz="3200" b="1" dirty="0" err="1"/>
              <a:t>chúng</a:t>
            </a:r>
            <a:r>
              <a:rPr lang="en-US" sz="3200" b="1" dirty="0"/>
              <a:t> </a:t>
            </a:r>
            <a:r>
              <a:rPr lang="en-US" sz="3200" b="1" dirty="0" err="1"/>
              <a:t>trung</a:t>
            </a:r>
            <a:r>
              <a:rPr lang="en-US" sz="3200" b="1" dirty="0"/>
              <a:t> </a:t>
            </a:r>
            <a:r>
              <a:rPr lang="en-US" sz="3200" b="1" dirty="0" err="1"/>
              <a:t>hòa</a:t>
            </a:r>
            <a:r>
              <a:rPr lang="en-US" sz="3200" b="1" dirty="0"/>
              <a:t> </a:t>
            </a:r>
            <a:r>
              <a:rPr lang="en-US" sz="3200" b="1" dirty="0" err="1"/>
              <a:t>về</a:t>
            </a:r>
            <a:r>
              <a:rPr lang="en-US" sz="3200" b="1" dirty="0"/>
              <a:t> </a:t>
            </a:r>
            <a:r>
              <a:rPr lang="en-US" sz="3200" b="1" dirty="0" err="1"/>
              <a:t>điện</a:t>
            </a:r>
            <a:r>
              <a:rPr lang="en-US" sz="3200" b="1" dirty="0"/>
              <a:t> </a:t>
            </a:r>
          </a:p>
          <a:p>
            <a:pPr marL="514350" indent="-514350">
              <a:buFont typeface="Arial" charset="0"/>
              <a:buAutoNum type="alphaLcParenR"/>
            </a:pPr>
            <a:r>
              <a:rPr lang="en-US" sz="3200" b="1" dirty="0" err="1"/>
              <a:t>Hoặc</a:t>
            </a:r>
            <a:r>
              <a:rPr lang="en-US" sz="3200" b="1" dirty="0"/>
              <a:t> </a:t>
            </a:r>
            <a:r>
              <a:rPr lang="en-US" sz="3200" b="1" dirty="0" err="1"/>
              <a:t>đẩy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hoặc</a:t>
            </a:r>
            <a:r>
              <a:rPr lang="en-US" sz="3200" b="1" dirty="0"/>
              <a:t> </a:t>
            </a:r>
            <a:r>
              <a:rPr lang="en-US" sz="3200" b="1" dirty="0" err="1"/>
              <a:t>không</a:t>
            </a:r>
            <a:r>
              <a:rPr lang="en-US" sz="3200" b="1" dirty="0"/>
              <a:t> </a:t>
            </a:r>
            <a:r>
              <a:rPr lang="en-US" sz="3200" b="1" dirty="0" err="1"/>
              <a:t>tương</a:t>
            </a:r>
            <a:r>
              <a:rPr lang="en-US" sz="3200" b="1" dirty="0"/>
              <a:t> </a:t>
            </a:r>
            <a:r>
              <a:rPr lang="en-US" sz="3200" b="1" dirty="0" err="1"/>
              <a:t>tác</a:t>
            </a:r>
            <a:r>
              <a:rPr lang="en-US" sz="3200" b="1" dirty="0"/>
              <a:t> </a:t>
            </a:r>
            <a:r>
              <a:rPr lang="en-US" sz="3200" b="1" dirty="0" err="1"/>
              <a:t>với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nữa</a:t>
            </a:r>
            <a:endParaRPr lang="en-US" sz="3200" b="1" dirty="0"/>
          </a:p>
          <a:p>
            <a:pPr marL="514350" indent="-514350">
              <a:buAutoNum type="alphaLcParenR"/>
            </a:pPr>
            <a:endParaRPr lang="en-US" sz="32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A30A20-7AD3-A95D-4439-4EE388ACD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E5B2A-CBF7-2185-7155-9EB0D7E0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4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304800"/>
            <a:ext cx="8229600" cy="57912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800" b="1" dirty="0"/>
          </a:p>
          <a:p>
            <a:pPr marL="0" indent="0" algn="just">
              <a:buNone/>
            </a:pPr>
            <a:r>
              <a:rPr lang="en-US" sz="2800" b="1" dirty="0" err="1"/>
              <a:t>Trên</a:t>
            </a:r>
            <a:r>
              <a:rPr lang="en-US" sz="2800" b="1" dirty="0"/>
              <a:t> </a:t>
            </a:r>
            <a:r>
              <a:rPr lang="en-US" sz="2800" b="1" dirty="0" err="1"/>
              <a:t>đoạn</a:t>
            </a:r>
            <a:r>
              <a:rPr lang="en-US" sz="2800" b="1" dirty="0"/>
              <a:t> </a:t>
            </a:r>
            <a:r>
              <a:rPr lang="en-US" sz="2800" b="1" dirty="0" err="1"/>
              <a:t>thẳng</a:t>
            </a:r>
            <a:r>
              <a:rPr lang="en-US" sz="2800" b="1" dirty="0"/>
              <a:t> AD </a:t>
            </a:r>
            <a:r>
              <a:rPr lang="en-US" sz="2800" b="1" dirty="0" err="1"/>
              <a:t>đặt</a:t>
            </a:r>
            <a:r>
              <a:rPr lang="en-US" sz="2800" b="1" dirty="0"/>
              <a:t> 2 </a:t>
            </a:r>
            <a:r>
              <a:rPr lang="en-US" sz="2800" b="1" dirty="0" err="1"/>
              <a:t>điện</a:t>
            </a:r>
            <a:r>
              <a:rPr lang="en-US" sz="2800" b="1" dirty="0"/>
              <a:t> </a:t>
            </a:r>
            <a:r>
              <a:rPr lang="en-US" sz="2800" b="1" dirty="0" err="1"/>
              <a:t>tích</a:t>
            </a:r>
            <a:r>
              <a:rPr lang="en-US" sz="2800" b="1" dirty="0"/>
              <a:t> </a:t>
            </a:r>
            <a:r>
              <a:rPr lang="en-US" sz="2800" b="1" dirty="0" err="1"/>
              <a:t>điểm</a:t>
            </a:r>
            <a:r>
              <a:rPr lang="en-US" sz="2800" b="1" dirty="0"/>
              <a:t> –q </a:t>
            </a:r>
            <a:r>
              <a:rPr lang="en-US" sz="2800" b="1" dirty="0" err="1"/>
              <a:t>và</a:t>
            </a:r>
            <a:r>
              <a:rPr lang="en-US" sz="2800" b="1" dirty="0"/>
              <a:t> +q </a:t>
            </a:r>
            <a:r>
              <a:rPr lang="en-US" sz="2800" b="1" dirty="0" err="1"/>
              <a:t>cố</a:t>
            </a:r>
            <a:r>
              <a:rPr lang="en-US" sz="2800" b="1" dirty="0"/>
              <a:t> </a:t>
            </a:r>
            <a:r>
              <a:rPr lang="en-US" sz="2800" b="1" dirty="0" err="1"/>
              <a:t>định</a:t>
            </a:r>
            <a:r>
              <a:rPr lang="en-US" sz="2800" b="1" dirty="0"/>
              <a:t> </a:t>
            </a:r>
            <a:r>
              <a:rPr lang="en-US" sz="2800" b="1" dirty="0" err="1"/>
              <a:t>tại</a:t>
            </a:r>
            <a:r>
              <a:rPr lang="en-US" sz="2800" b="1" dirty="0"/>
              <a:t> 2 </a:t>
            </a:r>
            <a:r>
              <a:rPr lang="en-US" sz="2800" b="1" dirty="0" err="1"/>
              <a:t>vị</a:t>
            </a:r>
            <a:r>
              <a:rPr lang="en-US" sz="2800" b="1" dirty="0"/>
              <a:t> </a:t>
            </a:r>
            <a:r>
              <a:rPr lang="en-US" sz="2800" b="1" dirty="0" err="1"/>
              <a:t>trí</a:t>
            </a:r>
            <a:r>
              <a:rPr lang="en-US" sz="2800" b="1" dirty="0"/>
              <a:t> B </a:t>
            </a:r>
            <a:r>
              <a:rPr lang="en-US" sz="2800" b="1" dirty="0" err="1"/>
              <a:t>và</a:t>
            </a:r>
            <a:r>
              <a:rPr lang="en-US" sz="2800" b="1" dirty="0"/>
              <a:t> C. </a:t>
            </a:r>
            <a:r>
              <a:rPr lang="en-US" sz="2800" b="1" dirty="0" err="1"/>
              <a:t>Trên</a:t>
            </a:r>
            <a:r>
              <a:rPr lang="en-US" sz="2800" b="1" dirty="0"/>
              <a:t> </a:t>
            </a:r>
            <a:r>
              <a:rPr lang="en-US" sz="2800" b="1" dirty="0" err="1"/>
              <a:t>đường</a:t>
            </a:r>
            <a:r>
              <a:rPr lang="en-US" sz="2800" b="1" dirty="0"/>
              <a:t> </a:t>
            </a:r>
            <a:r>
              <a:rPr lang="en-US" sz="2800" b="1" dirty="0" err="1"/>
              <a:t>thẳng</a:t>
            </a:r>
            <a:r>
              <a:rPr lang="en-US" sz="2800" b="1" dirty="0"/>
              <a:t> </a:t>
            </a:r>
            <a:r>
              <a:rPr lang="en-US" sz="2800" b="1" dirty="0" err="1"/>
              <a:t>nối</a:t>
            </a:r>
            <a:r>
              <a:rPr lang="en-US" sz="2800" b="1" dirty="0"/>
              <a:t> 2 </a:t>
            </a:r>
            <a:r>
              <a:rPr lang="en-US" sz="2800" b="1" dirty="0" err="1"/>
              <a:t>điện</a:t>
            </a:r>
            <a:r>
              <a:rPr lang="en-US" sz="2800" b="1" dirty="0"/>
              <a:t> </a:t>
            </a:r>
            <a:r>
              <a:rPr lang="en-US" sz="2800" b="1" dirty="0" err="1"/>
              <a:t>tích</a:t>
            </a:r>
            <a:r>
              <a:rPr lang="en-US" sz="2800" b="1" dirty="0"/>
              <a:t> ta </a:t>
            </a:r>
            <a:r>
              <a:rPr lang="en-US" sz="2800" b="1" dirty="0" err="1"/>
              <a:t>đặt</a:t>
            </a:r>
            <a:r>
              <a:rPr lang="en-US" sz="2800" b="1" dirty="0"/>
              <a:t> </a:t>
            </a:r>
            <a:r>
              <a:rPr lang="en-US" sz="2800" b="1" dirty="0" err="1"/>
              <a:t>một</a:t>
            </a:r>
            <a:r>
              <a:rPr lang="en-US" sz="2800" b="1" dirty="0"/>
              <a:t> </a:t>
            </a:r>
            <a:r>
              <a:rPr lang="en-US" sz="2800" b="1" dirty="0" err="1"/>
              <a:t>điện</a:t>
            </a:r>
            <a:r>
              <a:rPr lang="en-US" sz="2800" b="1" dirty="0"/>
              <a:t> </a:t>
            </a:r>
            <a:r>
              <a:rPr lang="en-US" sz="2800" b="1" dirty="0" err="1"/>
              <a:t>tích</a:t>
            </a:r>
            <a:r>
              <a:rPr lang="en-US" sz="2800" b="1" dirty="0"/>
              <a:t> </a:t>
            </a:r>
            <a:r>
              <a:rPr lang="en-US" sz="2800" b="1" dirty="0" err="1"/>
              <a:t>điểm</a:t>
            </a:r>
            <a:r>
              <a:rPr lang="en-US" sz="2800" b="1" dirty="0"/>
              <a:t> Q &gt; 0. </a:t>
            </a:r>
            <a:r>
              <a:rPr lang="en-US" sz="2800" b="1" dirty="0" err="1"/>
              <a:t>Khi</a:t>
            </a:r>
            <a:r>
              <a:rPr lang="en-US" sz="2800" b="1" dirty="0"/>
              <a:t> </a:t>
            </a:r>
            <a:r>
              <a:rPr lang="en-US" sz="2800" b="1" dirty="0" err="1"/>
              <a:t>đó</a:t>
            </a:r>
            <a:r>
              <a:rPr lang="en-US" sz="2800" b="1" dirty="0"/>
              <a:t> </a:t>
            </a:r>
            <a:r>
              <a:rPr lang="en-US" sz="2800" b="1" dirty="0" err="1"/>
              <a:t>lực</a:t>
            </a:r>
            <a:r>
              <a:rPr lang="en-US" sz="2800" b="1" dirty="0"/>
              <a:t> </a:t>
            </a:r>
            <a:r>
              <a:rPr lang="en-US" sz="2800" b="1" dirty="0" err="1"/>
              <a:t>tác</a:t>
            </a:r>
            <a:r>
              <a:rPr lang="en-US" sz="2800" b="1" dirty="0"/>
              <a:t> </a:t>
            </a:r>
            <a:r>
              <a:rPr lang="en-US" sz="2800" b="1" dirty="0" err="1"/>
              <a:t>dụng</a:t>
            </a:r>
            <a:r>
              <a:rPr lang="en-US" sz="2800" b="1" dirty="0"/>
              <a:t> </a:t>
            </a:r>
            <a:r>
              <a:rPr lang="en-US" sz="2800" b="1" dirty="0" err="1"/>
              <a:t>lên</a:t>
            </a:r>
            <a:r>
              <a:rPr lang="en-US" sz="2800" b="1" dirty="0"/>
              <a:t> Q </a:t>
            </a:r>
            <a:r>
              <a:rPr lang="en-US" sz="2800" b="1" dirty="0" err="1"/>
              <a:t>có</a:t>
            </a:r>
            <a:r>
              <a:rPr lang="en-US" sz="2800" b="1" dirty="0"/>
              <a:t> </a:t>
            </a:r>
            <a:r>
              <a:rPr lang="en-US" sz="2800" b="1" dirty="0" err="1"/>
              <a:t>chiều</a:t>
            </a:r>
            <a:r>
              <a:rPr lang="en-US" sz="2800" b="1" dirty="0"/>
              <a:t>:</a:t>
            </a:r>
          </a:p>
          <a:p>
            <a:pPr marL="514350" indent="-514350">
              <a:buAutoNum type="alphaLcParenR"/>
            </a:pPr>
            <a:r>
              <a:rPr lang="en-US" sz="2800" b="1" dirty="0" err="1"/>
              <a:t>Hướng</a:t>
            </a:r>
            <a:r>
              <a:rPr lang="en-US" sz="2800" b="1" dirty="0"/>
              <a:t> </a:t>
            </a:r>
            <a:r>
              <a:rPr lang="en-US" sz="2800" b="1" dirty="0" err="1"/>
              <a:t>về</a:t>
            </a:r>
            <a:r>
              <a:rPr lang="en-US" sz="2800" b="1" dirty="0"/>
              <a:t> </a:t>
            </a:r>
            <a:r>
              <a:rPr lang="en-US" sz="2800" b="1" dirty="0" err="1"/>
              <a:t>phía</a:t>
            </a:r>
            <a:r>
              <a:rPr lang="en-US" sz="2800" b="1" dirty="0"/>
              <a:t> A </a:t>
            </a:r>
            <a:r>
              <a:rPr lang="en-US" sz="2800" b="1" dirty="0" err="1"/>
              <a:t>nếu</a:t>
            </a:r>
            <a:r>
              <a:rPr lang="en-US" sz="2800" b="1" dirty="0"/>
              <a:t> Q </a:t>
            </a:r>
            <a:r>
              <a:rPr lang="en-US" sz="2800" b="1" dirty="0" err="1"/>
              <a:t>đặt</a:t>
            </a:r>
            <a:r>
              <a:rPr lang="en-US" sz="2800" b="1" dirty="0"/>
              <a:t> </a:t>
            </a:r>
            <a:r>
              <a:rPr lang="en-US" sz="2800" b="1" dirty="0" err="1"/>
              <a:t>trên</a:t>
            </a:r>
            <a:r>
              <a:rPr lang="en-US" sz="2800" b="1" dirty="0"/>
              <a:t> </a:t>
            </a:r>
            <a:r>
              <a:rPr lang="en-US" sz="2800" b="1" dirty="0" err="1"/>
              <a:t>đoạn</a:t>
            </a:r>
            <a:r>
              <a:rPr lang="en-US" sz="2800" b="1" dirty="0"/>
              <a:t> AB</a:t>
            </a:r>
          </a:p>
          <a:p>
            <a:pPr marL="514350" indent="-514350">
              <a:buFont typeface="Arial" charset="0"/>
              <a:buAutoNum type="alphaLcParenR"/>
            </a:pPr>
            <a:r>
              <a:rPr lang="en-US" sz="2800" b="1" dirty="0" err="1"/>
              <a:t>Hướng</a:t>
            </a:r>
            <a:r>
              <a:rPr lang="en-US" sz="2800" b="1" dirty="0"/>
              <a:t> </a:t>
            </a:r>
            <a:r>
              <a:rPr lang="en-US" sz="2800" b="1" dirty="0" err="1"/>
              <a:t>về</a:t>
            </a:r>
            <a:r>
              <a:rPr lang="en-US" sz="2800" b="1" dirty="0"/>
              <a:t> </a:t>
            </a:r>
            <a:r>
              <a:rPr lang="en-US" sz="2800" b="1" dirty="0" err="1"/>
              <a:t>phía</a:t>
            </a:r>
            <a:r>
              <a:rPr lang="en-US" sz="2800" b="1" dirty="0"/>
              <a:t> D </a:t>
            </a:r>
            <a:r>
              <a:rPr lang="en-US" sz="2800" b="1" dirty="0" err="1"/>
              <a:t>nếu</a:t>
            </a:r>
            <a:r>
              <a:rPr lang="en-US" sz="2800" b="1" dirty="0"/>
              <a:t> Q </a:t>
            </a:r>
            <a:r>
              <a:rPr lang="en-US" sz="2800" b="1" dirty="0" err="1"/>
              <a:t>đặt</a:t>
            </a:r>
            <a:r>
              <a:rPr lang="en-US" sz="2800" b="1" dirty="0"/>
              <a:t> </a:t>
            </a:r>
            <a:r>
              <a:rPr lang="en-US" sz="2800" b="1" dirty="0" err="1"/>
              <a:t>trên</a:t>
            </a:r>
            <a:r>
              <a:rPr lang="en-US" sz="2800" b="1" dirty="0"/>
              <a:t> </a:t>
            </a:r>
            <a:r>
              <a:rPr lang="en-US" sz="2800" b="1" dirty="0" err="1"/>
              <a:t>đoạn</a:t>
            </a:r>
            <a:r>
              <a:rPr lang="en-US" sz="2800" b="1" dirty="0"/>
              <a:t> CD</a:t>
            </a:r>
          </a:p>
          <a:p>
            <a:pPr marL="514350" indent="-514350">
              <a:buFont typeface="Arial" charset="0"/>
              <a:buAutoNum type="alphaLcParenR"/>
            </a:pPr>
            <a:r>
              <a:rPr lang="en-US" sz="2800" b="1" dirty="0" err="1"/>
              <a:t>Hướng</a:t>
            </a:r>
            <a:r>
              <a:rPr lang="en-US" sz="2800" b="1" dirty="0"/>
              <a:t> </a:t>
            </a:r>
            <a:r>
              <a:rPr lang="en-US" sz="2800" b="1" dirty="0" err="1"/>
              <a:t>về</a:t>
            </a:r>
            <a:r>
              <a:rPr lang="en-US" sz="2800" b="1" dirty="0"/>
              <a:t> </a:t>
            </a:r>
            <a:r>
              <a:rPr lang="en-US" sz="2800" b="1" dirty="0" err="1"/>
              <a:t>phía</a:t>
            </a:r>
            <a:r>
              <a:rPr lang="en-US" sz="2800" b="1" dirty="0"/>
              <a:t> C </a:t>
            </a:r>
            <a:r>
              <a:rPr lang="en-US" sz="2800" b="1" dirty="0" err="1"/>
              <a:t>nếu</a:t>
            </a:r>
            <a:r>
              <a:rPr lang="en-US" sz="2800" b="1" dirty="0"/>
              <a:t> Q </a:t>
            </a:r>
            <a:r>
              <a:rPr lang="en-US" sz="2800" b="1" dirty="0" err="1"/>
              <a:t>đặt</a:t>
            </a:r>
            <a:r>
              <a:rPr lang="en-US" sz="2800" b="1" dirty="0"/>
              <a:t> </a:t>
            </a:r>
            <a:r>
              <a:rPr lang="en-US" sz="2800" b="1" dirty="0" err="1"/>
              <a:t>trên</a:t>
            </a:r>
            <a:r>
              <a:rPr lang="en-US" sz="2800" b="1" dirty="0"/>
              <a:t> </a:t>
            </a:r>
            <a:r>
              <a:rPr lang="en-US" sz="2800" b="1" dirty="0" err="1"/>
              <a:t>đoạn</a:t>
            </a:r>
            <a:r>
              <a:rPr lang="en-US" sz="2800" b="1" dirty="0"/>
              <a:t> BC</a:t>
            </a:r>
          </a:p>
          <a:p>
            <a:pPr marL="514350" indent="-514350">
              <a:buFont typeface="Arial" charset="0"/>
              <a:buAutoNum type="alphaLcParenR"/>
            </a:pPr>
            <a:r>
              <a:rPr lang="en-US" sz="2800" b="1" dirty="0" err="1"/>
              <a:t>Có</a:t>
            </a:r>
            <a:r>
              <a:rPr lang="en-US" sz="2800" b="1" dirty="0"/>
              <a:t> 2 </a:t>
            </a:r>
            <a:r>
              <a:rPr lang="en-US" sz="2800" b="1" dirty="0" err="1"/>
              <a:t>đáp</a:t>
            </a:r>
            <a:r>
              <a:rPr lang="en-US" sz="2800" b="1" dirty="0"/>
              <a:t> </a:t>
            </a:r>
            <a:r>
              <a:rPr lang="en-US" sz="2800" b="1" dirty="0" err="1"/>
              <a:t>án</a:t>
            </a:r>
            <a:r>
              <a:rPr lang="en-US" sz="2800" b="1" dirty="0"/>
              <a:t> </a:t>
            </a:r>
            <a:r>
              <a:rPr lang="en-US" sz="2800" b="1" dirty="0" err="1"/>
              <a:t>đúng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	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D8357E-44A6-E58A-98E4-4EECB0D0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A8C98-57EF-7123-7FE9-0FC231F2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68786B-4558-DA49-D6E9-339DEA96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2374E6-2AEA-D0D5-9FAA-9FA57959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7AB48E-63BB-1533-121D-B288E0F699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5715000"/>
            <a:ext cx="769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B2CDB0-FFD9-FB55-2B8A-DFF59374ECB0}"/>
              </a:ext>
            </a:extLst>
          </p:cNvPr>
          <p:cNvSpPr/>
          <p:nvPr/>
        </p:nvSpPr>
        <p:spPr>
          <a:xfrm>
            <a:off x="2209800" y="2133600"/>
            <a:ext cx="3810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-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F02C29-164D-BCA3-F855-9A6F7C7B9D28}"/>
              </a:ext>
            </a:extLst>
          </p:cNvPr>
          <p:cNvSpPr/>
          <p:nvPr/>
        </p:nvSpPr>
        <p:spPr>
          <a:xfrm>
            <a:off x="6019800" y="2133600"/>
            <a:ext cx="381000" cy="4572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+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282C8E-8959-9E65-DD6F-59A8BCEB31BB}"/>
              </a:ext>
            </a:extLst>
          </p:cNvPr>
          <p:cNvCxnSpPr>
            <a:cxnSpLocks/>
          </p:cNvCxnSpPr>
          <p:nvPr/>
        </p:nvCxnSpPr>
        <p:spPr>
          <a:xfrm>
            <a:off x="762000" y="2293144"/>
            <a:ext cx="76200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E7BC8A8-0FF4-2897-47FF-03CD88E36C81}"/>
              </a:ext>
            </a:extLst>
          </p:cNvPr>
          <p:cNvSpPr/>
          <p:nvPr/>
        </p:nvSpPr>
        <p:spPr>
          <a:xfrm>
            <a:off x="2187606" y="2625329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8556F-EDE2-6037-DBAD-00AC3C0AB7B9}"/>
              </a:ext>
            </a:extLst>
          </p:cNvPr>
          <p:cNvSpPr/>
          <p:nvPr/>
        </p:nvSpPr>
        <p:spPr>
          <a:xfrm>
            <a:off x="6019800" y="2625329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DE7F43-9C74-77C3-93DF-1CCAF5057923}"/>
              </a:ext>
            </a:extLst>
          </p:cNvPr>
          <p:cNvSpPr/>
          <p:nvPr/>
        </p:nvSpPr>
        <p:spPr>
          <a:xfrm>
            <a:off x="7955132" y="2327674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B0020-3FA3-1425-5F5B-B3382B2515A5}"/>
              </a:ext>
            </a:extLst>
          </p:cNvPr>
          <p:cNvSpPr/>
          <p:nvPr/>
        </p:nvSpPr>
        <p:spPr>
          <a:xfrm>
            <a:off x="571500" y="2314600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2B27E1-D1EB-2CEA-D627-E4D15B956D9A}"/>
              </a:ext>
            </a:extLst>
          </p:cNvPr>
          <p:cNvSpPr/>
          <p:nvPr/>
        </p:nvSpPr>
        <p:spPr>
          <a:xfrm>
            <a:off x="7467600" y="2049254"/>
            <a:ext cx="38100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8750E7-DDB3-5E26-D682-3B8581BE20D1}"/>
              </a:ext>
            </a:extLst>
          </p:cNvPr>
          <p:cNvSpPr/>
          <p:nvPr/>
        </p:nvSpPr>
        <p:spPr>
          <a:xfrm>
            <a:off x="7467600" y="1531147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EF97BD-4F8D-5214-F917-A4B93051D2F2}"/>
              </a:ext>
            </a:extLst>
          </p:cNvPr>
          <p:cNvCxnSpPr>
            <a:cxnSpLocks/>
          </p:cNvCxnSpPr>
          <p:nvPr/>
        </p:nvCxnSpPr>
        <p:spPr>
          <a:xfrm flipH="1">
            <a:off x="7086600" y="2304241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ECA05B-C6C9-EF62-D985-A1D1DAE9B170}"/>
              </a:ext>
            </a:extLst>
          </p:cNvPr>
          <p:cNvCxnSpPr>
            <a:cxnSpLocks/>
          </p:cNvCxnSpPr>
          <p:nvPr/>
        </p:nvCxnSpPr>
        <p:spPr>
          <a:xfrm>
            <a:off x="7722463" y="2293144"/>
            <a:ext cx="952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E225DE-632E-EE49-AA93-47EA836993FD}"/>
              </a:ext>
            </a:extLst>
          </p:cNvPr>
          <p:cNvCxnSpPr>
            <a:cxnSpLocks/>
          </p:cNvCxnSpPr>
          <p:nvPr/>
        </p:nvCxnSpPr>
        <p:spPr>
          <a:xfrm flipH="1">
            <a:off x="304800" y="2314600"/>
            <a:ext cx="5411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5258B2-A4BC-1E37-6FBA-37B79278BA3E}"/>
              </a:ext>
            </a:extLst>
          </p:cNvPr>
          <p:cNvCxnSpPr>
            <a:cxnSpLocks/>
          </p:cNvCxnSpPr>
          <p:nvPr/>
        </p:nvCxnSpPr>
        <p:spPr>
          <a:xfrm>
            <a:off x="1028700" y="2289068"/>
            <a:ext cx="9906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64BCF9-EFAC-C921-2303-E8A816F289D4}"/>
              </a:ext>
            </a:extLst>
          </p:cNvPr>
          <p:cNvCxnSpPr>
            <a:cxnSpLocks/>
          </p:cNvCxnSpPr>
          <p:nvPr/>
        </p:nvCxnSpPr>
        <p:spPr>
          <a:xfrm flipH="1">
            <a:off x="2790917" y="2304241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562115-D7B3-A89B-63B1-131BE7FFD5AE}"/>
              </a:ext>
            </a:extLst>
          </p:cNvPr>
          <p:cNvCxnSpPr>
            <a:cxnSpLocks/>
          </p:cNvCxnSpPr>
          <p:nvPr/>
        </p:nvCxnSpPr>
        <p:spPr>
          <a:xfrm flipH="1">
            <a:off x="3177466" y="2304241"/>
            <a:ext cx="6325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B83C5B2-5E2C-FD80-6010-82DCE3BC44CA}"/>
              </a:ext>
            </a:extLst>
          </p:cNvPr>
          <p:cNvSpPr/>
          <p:nvPr/>
        </p:nvSpPr>
        <p:spPr>
          <a:xfrm>
            <a:off x="655468" y="2060469"/>
            <a:ext cx="38100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+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7CEC734-322B-811E-3CC4-E29AD4FFEF83}"/>
              </a:ext>
            </a:extLst>
          </p:cNvPr>
          <p:cNvSpPr/>
          <p:nvPr/>
        </p:nvSpPr>
        <p:spPr>
          <a:xfrm>
            <a:off x="3832934" y="2039148"/>
            <a:ext cx="38100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83524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655637"/>
                <a:ext cx="8229600" cy="55165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Giả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sử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nguyên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tử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Hyđro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, electron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chuyển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đều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quanh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hạt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nhân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theo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đường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tròn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bán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kính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0,53.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3200" b="1" i="1" smtClean="0">
                            <a:latin typeface="Cambria Math"/>
                          </a:rPr>
                          <m:t>𝟏𝟎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m.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Gia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tốc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hướng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tâm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là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pPr marL="514350" indent="-514350">
                  <a:buAutoNum type="alphaLcParenR"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5,13.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latin typeface="Cambria Math"/>
                          </a:rPr>
                          <m:t>𝟏𝟐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m/s²</a:t>
                </a:r>
              </a:p>
              <a:p>
                <a:pPr marL="514350" indent="-514350">
                  <a:buFont typeface="Arial" charset="0"/>
                  <a:buAutoNum type="alphaLcParenR"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5,13.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latin typeface="Cambria Math"/>
                          </a:rPr>
                          <m:t>𝟐</m:t>
                        </m:r>
                        <m:r>
                          <a:rPr lang="en-US" sz="3200" b="1" i="1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m/s²</a:t>
                </a:r>
              </a:p>
              <a:p>
                <a:pPr marL="514350" indent="-514350">
                  <a:buFont typeface="Arial" charset="0"/>
                  <a:buAutoNum type="alphaLcParenR"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9,10.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>
                            <a:latin typeface="Cambria Math"/>
                          </a:rPr>
                          <m:t>𝟏𝟐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m/s²</a:t>
                </a:r>
              </a:p>
              <a:p>
                <a:pPr marL="514350" indent="-514350">
                  <a:buFont typeface="Arial" charset="0"/>
                  <a:buAutoNum type="alphaLcParenR"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9,01.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latin typeface="Cambria Math"/>
                          </a:rPr>
                          <m:t>𝟐</m:t>
                        </m:r>
                        <m:r>
                          <a:rPr lang="en-US" sz="3200" b="1" i="1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m/s²</a:t>
                </a:r>
              </a:p>
              <a:p>
                <a:pPr marL="514350" indent="-514350">
                  <a:buAutoNum type="alphaLcParenR"/>
                </a:pPr>
                <a:endParaRPr lang="en-US" sz="32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655637"/>
                <a:ext cx="8229600" cy="5516563"/>
              </a:xfrm>
              <a:blipFill>
                <a:blip r:embed="rId2"/>
                <a:stretch>
                  <a:fillRect l="-2519" t="-1547" r="-3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Callout 1"/>
              <p:cNvSpPr/>
              <p:nvPr/>
            </p:nvSpPr>
            <p:spPr>
              <a:xfrm>
                <a:off x="5181600" y="3200400"/>
                <a:ext cx="4038600" cy="26670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dirty="0"/>
                  <a:t> = m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)²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m = 9,1.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−31</m:t>
                        </m:r>
                      </m:sup>
                    </m:sSup>
                  </m:oMath>
                </a14:m>
                <a:r>
                  <a:rPr lang="en-US" dirty="0"/>
                  <a:t> kg</a:t>
                </a:r>
              </a:p>
            </p:txBody>
          </p:sp>
        </mc:Choice>
        <mc:Fallback xmlns="">
          <p:sp>
            <p:nvSpPr>
              <p:cNvPr id="2" name="Oval Callou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200400"/>
                <a:ext cx="4038600" cy="2667000"/>
              </a:xfrm>
              <a:prstGeom prst="wedgeEllipse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9CC20-CA47-DCD0-ED94-D0C6324E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0A788-DCDA-CD3D-8D87-27A0DEF5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685800"/>
            <a:ext cx="8229600" cy="54403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b="1" dirty="0" err="1"/>
              <a:t>Hai</a:t>
            </a:r>
            <a:r>
              <a:rPr lang="en-US" sz="3200" b="1" dirty="0"/>
              <a:t> </a:t>
            </a:r>
            <a:r>
              <a:rPr lang="en-US" sz="3200" b="1" dirty="0" err="1"/>
              <a:t>điện</a:t>
            </a:r>
            <a:r>
              <a:rPr lang="en-US" sz="3200" b="1" dirty="0"/>
              <a:t> </a:t>
            </a:r>
            <a:r>
              <a:rPr lang="en-US" sz="3200" b="1" dirty="0" err="1"/>
              <a:t>tích</a:t>
            </a:r>
            <a:r>
              <a:rPr lang="en-US" sz="3200" b="1" dirty="0"/>
              <a:t> </a:t>
            </a:r>
            <a:r>
              <a:rPr lang="en-US" sz="3200" b="1" dirty="0" err="1"/>
              <a:t>điểm</a:t>
            </a:r>
            <a:r>
              <a:rPr lang="en-US" sz="3200" b="1" dirty="0"/>
              <a:t> </a:t>
            </a:r>
            <a:r>
              <a:rPr lang="en-US" sz="3200" b="1" dirty="0" err="1"/>
              <a:t>cùng</a:t>
            </a:r>
            <a:r>
              <a:rPr lang="en-US" sz="3200" b="1" dirty="0"/>
              <a:t> </a:t>
            </a:r>
            <a:r>
              <a:rPr lang="en-US" sz="3200" b="1" dirty="0" err="1"/>
              <a:t>dấu</a:t>
            </a:r>
            <a:r>
              <a:rPr lang="en-US" sz="3200" b="1" dirty="0"/>
              <a:t> q</a:t>
            </a:r>
            <a:r>
              <a:rPr lang="en-US" sz="2400" b="1" dirty="0"/>
              <a:t>1</a:t>
            </a:r>
            <a:r>
              <a:rPr lang="en-US" sz="3200" b="1" dirty="0"/>
              <a:t> </a:t>
            </a:r>
            <a:r>
              <a:rPr lang="en-US" sz="3200" b="1" dirty="0" err="1"/>
              <a:t>và</a:t>
            </a:r>
            <a:r>
              <a:rPr lang="en-US" sz="3200" b="1" dirty="0"/>
              <a:t> q</a:t>
            </a:r>
            <a:r>
              <a:rPr lang="en-US" sz="2400" b="1" dirty="0"/>
              <a:t>2</a:t>
            </a:r>
            <a:r>
              <a:rPr lang="en-US" sz="3200" b="1" dirty="0"/>
              <a:t> (q</a:t>
            </a:r>
            <a:r>
              <a:rPr lang="en-US" sz="2400" b="1" dirty="0"/>
              <a:t>1</a:t>
            </a:r>
            <a:r>
              <a:rPr lang="en-US" sz="3200" b="1" dirty="0"/>
              <a:t> = 4q</a:t>
            </a:r>
            <a:r>
              <a:rPr lang="en-US" sz="2400" b="1" dirty="0"/>
              <a:t>2</a:t>
            </a:r>
            <a:r>
              <a:rPr lang="en-US" sz="3200" b="1" dirty="0"/>
              <a:t>) </a:t>
            </a:r>
            <a:r>
              <a:rPr lang="en-US" sz="3200" b="1" dirty="0" err="1"/>
              <a:t>đặt</a:t>
            </a:r>
            <a:r>
              <a:rPr lang="en-US" sz="3200" b="1" dirty="0"/>
              <a:t> </a:t>
            </a:r>
            <a:r>
              <a:rPr lang="en-US" sz="3200" b="1" dirty="0" err="1"/>
              <a:t>tại</a:t>
            </a:r>
            <a:r>
              <a:rPr lang="en-US" sz="3200" b="1" dirty="0"/>
              <a:t> A </a:t>
            </a:r>
            <a:r>
              <a:rPr lang="en-US" sz="3200" b="1" dirty="0" err="1"/>
              <a:t>và</a:t>
            </a:r>
            <a:r>
              <a:rPr lang="en-US" sz="3200" b="1" dirty="0"/>
              <a:t> B </a:t>
            </a:r>
            <a:r>
              <a:rPr lang="en-US" sz="3200" b="1" dirty="0" err="1"/>
              <a:t>cách</a:t>
            </a:r>
            <a:r>
              <a:rPr lang="en-US" sz="3200" b="1" dirty="0"/>
              <a:t> </a:t>
            </a:r>
            <a:r>
              <a:rPr lang="en-US" sz="3200" b="1" dirty="0" err="1"/>
              <a:t>nhau</a:t>
            </a:r>
            <a:r>
              <a:rPr lang="en-US" sz="3200" b="1" dirty="0"/>
              <a:t> </a:t>
            </a:r>
            <a:r>
              <a:rPr lang="en-US" sz="3200" b="1" dirty="0" err="1"/>
              <a:t>một</a:t>
            </a:r>
            <a:r>
              <a:rPr lang="en-US" sz="3200" b="1" dirty="0"/>
              <a:t> </a:t>
            </a:r>
            <a:r>
              <a:rPr lang="en-US" sz="3200" b="1" dirty="0" err="1"/>
              <a:t>khoảng</a:t>
            </a:r>
            <a:r>
              <a:rPr lang="en-US" sz="3200" b="1" dirty="0"/>
              <a:t> 3a </a:t>
            </a:r>
            <a:r>
              <a:rPr lang="en-US" sz="3200" b="1" dirty="0" err="1"/>
              <a:t>trong</a:t>
            </a:r>
            <a:r>
              <a:rPr lang="en-US" sz="3200" b="1" dirty="0"/>
              <a:t> </a:t>
            </a:r>
            <a:r>
              <a:rPr lang="en-US" sz="3200" b="1" dirty="0" err="1"/>
              <a:t>không</a:t>
            </a:r>
            <a:r>
              <a:rPr lang="en-US" sz="3200" b="1" dirty="0"/>
              <a:t> </a:t>
            </a:r>
            <a:r>
              <a:rPr lang="en-US" sz="3200" b="1" dirty="0" err="1"/>
              <a:t>khí</a:t>
            </a:r>
            <a:r>
              <a:rPr lang="en-US" sz="3200" b="1" dirty="0"/>
              <a:t>. </a:t>
            </a:r>
            <a:r>
              <a:rPr lang="en-US" sz="3200" b="1" dirty="0" err="1"/>
              <a:t>Đặt</a:t>
            </a:r>
            <a:r>
              <a:rPr lang="en-US" sz="3200" b="1" dirty="0"/>
              <a:t> </a:t>
            </a:r>
            <a:r>
              <a:rPr lang="en-US" sz="3200" b="1" dirty="0" err="1"/>
              <a:t>điện</a:t>
            </a:r>
            <a:r>
              <a:rPr lang="en-US" sz="3200" b="1" dirty="0"/>
              <a:t> </a:t>
            </a:r>
            <a:r>
              <a:rPr lang="en-US" sz="3200" b="1" dirty="0" err="1"/>
              <a:t>tích</a:t>
            </a:r>
            <a:r>
              <a:rPr lang="en-US" sz="3200" b="1" dirty="0"/>
              <a:t> </a:t>
            </a:r>
            <a:r>
              <a:rPr lang="en-US" sz="3200" b="1" dirty="0" err="1"/>
              <a:t>điểm</a:t>
            </a:r>
            <a:r>
              <a:rPr lang="en-US" sz="3200" b="1" dirty="0"/>
              <a:t> Q </a:t>
            </a:r>
            <a:r>
              <a:rPr lang="en-US" sz="3200" b="1" dirty="0" err="1"/>
              <a:t>trên</a:t>
            </a:r>
            <a:r>
              <a:rPr lang="en-US" sz="3200" b="1" dirty="0"/>
              <a:t> </a:t>
            </a:r>
            <a:r>
              <a:rPr lang="en-US" sz="3200" b="1" dirty="0" err="1"/>
              <a:t>đoạn</a:t>
            </a:r>
            <a:r>
              <a:rPr lang="en-US" sz="3200" b="1" dirty="0"/>
              <a:t> AB </a:t>
            </a:r>
            <a:r>
              <a:rPr lang="en-US" sz="3200" b="1" dirty="0" err="1"/>
              <a:t>cách</a:t>
            </a:r>
            <a:r>
              <a:rPr lang="en-US" sz="3200" b="1" dirty="0"/>
              <a:t> B </a:t>
            </a:r>
            <a:r>
              <a:rPr lang="en-US" sz="3200" b="1" dirty="0" err="1"/>
              <a:t>một</a:t>
            </a:r>
            <a:r>
              <a:rPr lang="en-US" sz="3200" b="1" dirty="0"/>
              <a:t> </a:t>
            </a:r>
            <a:r>
              <a:rPr lang="en-US" sz="3200" b="1" dirty="0" err="1"/>
              <a:t>khoảng</a:t>
            </a:r>
            <a:r>
              <a:rPr lang="en-US" sz="3200" b="1" dirty="0"/>
              <a:t> a. </a:t>
            </a:r>
            <a:r>
              <a:rPr lang="en-US" sz="3200" b="1" dirty="0" err="1"/>
              <a:t>Lực</a:t>
            </a:r>
            <a:r>
              <a:rPr lang="en-US" sz="3200" b="1" dirty="0"/>
              <a:t> </a:t>
            </a:r>
            <a:r>
              <a:rPr lang="en-US" sz="3200" b="1" dirty="0" err="1"/>
              <a:t>tổng</a:t>
            </a:r>
            <a:r>
              <a:rPr lang="en-US" sz="3200" b="1" dirty="0"/>
              <a:t> </a:t>
            </a:r>
            <a:r>
              <a:rPr lang="en-US" sz="3200" b="1" dirty="0" err="1"/>
              <a:t>hợp</a:t>
            </a:r>
            <a:r>
              <a:rPr lang="en-US" sz="3200" b="1" dirty="0"/>
              <a:t> do q</a:t>
            </a:r>
            <a:r>
              <a:rPr lang="en-US" sz="2400" b="1" dirty="0"/>
              <a:t>1</a:t>
            </a:r>
            <a:r>
              <a:rPr lang="en-US" sz="3200" b="1" dirty="0"/>
              <a:t> </a:t>
            </a:r>
            <a:r>
              <a:rPr lang="en-US" sz="3200" b="1" dirty="0" err="1"/>
              <a:t>và</a:t>
            </a:r>
            <a:r>
              <a:rPr lang="en-US" sz="3200" b="1" dirty="0"/>
              <a:t> q</a:t>
            </a:r>
            <a:r>
              <a:rPr lang="en-US" sz="2400" b="1" dirty="0"/>
              <a:t>2</a:t>
            </a:r>
            <a:r>
              <a:rPr lang="en-US" sz="3200" b="1" dirty="0"/>
              <a:t> </a:t>
            </a:r>
            <a:r>
              <a:rPr lang="en-US" sz="3200" b="1" dirty="0" err="1"/>
              <a:t>tác</a:t>
            </a:r>
            <a:r>
              <a:rPr lang="en-US" sz="3200" b="1" dirty="0"/>
              <a:t> </a:t>
            </a:r>
            <a:r>
              <a:rPr lang="en-US" sz="3200" b="1" dirty="0" err="1"/>
              <a:t>dụng</a:t>
            </a:r>
            <a:r>
              <a:rPr lang="en-US" sz="3200" b="1" dirty="0"/>
              <a:t> </a:t>
            </a:r>
            <a:r>
              <a:rPr lang="en-US" sz="3200" b="1" dirty="0" err="1"/>
              <a:t>lên</a:t>
            </a:r>
            <a:r>
              <a:rPr lang="en-US" sz="3200" b="1" dirty="0"/>
              <a:t> Q </a:t>
            </a:r>
            <a:r>
              <a:rPr lang="en-US" sz="3200" b="1" dirty="0" err="1"/>
              <a:t>sẽ</a:t>
            </a:r>
            <a:r>
              <a:rPr lang="en-US" sz="3200" b="1" dirty="0"/>
              <a:t>:</a:t>
            </a:r>
          </a:p>
          <a:p>
            <a:pPr marL="514350" indent="-514350">
              <a:buAutoNum type="alphaLcParenR"/>
            </a:pPr>
            <a:r>
              <a:rPr lang="en-US" sz="3200" b="1" dirty="0" err="1"/>
              <a:t>Luôn</a:t>
            </a:r>
            <a:r>
              <a:rPr lang="en-US" sz="3200" b="1" dirty="0"/>
              <a:t> </a:t>
            </a:r>
            <a:r>
              <a:rPr lang="en-US" sz="3200" b="1" dirty="0" err="1"/>
              <a:t>hướng</a:t>
            </a:r>
            <a:r>
              <a:rPr lang="en-US" sz="3200" b="1" dirty="0"/>
              <a:t> </a:t>
            </a:r>
            <a:r>
              <a:rPr lang="en-US" sz="3200" b="1" dirty="0" err="1"/>
              <a:t>về</a:t>
            </a:r>
            <a:r>
              <a:rPr lang="en-US" sz="3200" b="1" dirty="0"/>
              <a:t> A</a:t>
            </a:r>
          </a:p>
          <a:p>
            <a:pPr marL="514350" indent="-514350">
              <a:buAutoNum type="alphaLcParenR"/>
            </a:pPr>
            <a:r>
              <a:rPr lang="en-US" sz="3200" b="1" dirty="0" err="1"/>
              <a:t>Luôn</a:t>
            </a:r>
            <a:r>
              <a:rPr lang="en-US" sz="3200" b="1" dirty="0"/>
              <a:t> </a:t>
            </a:r>
            <a:r>
              <a:rPr lang="en-US" sz="3200" b="1" dirty="0" err="1"/>
              <a:t>hướng</a:t>
            </a:r>
            <a:r>
              <a:rPr lang="en-US" sz="3200" b="1" dirty="0"/>
              <a:t> </a:t>
            </a:r>
            <a:r>
              <a:rPr lang="en-US" sz="3200" b="1" dirty="0" err="1"/>
              <a:t>về</a:t>
            </a:r>
            <a:r>
              <a:rPr lang="en-US" sz="3200" b="1" dirty="0"/>
              <a:t> B</a:t>
            </a:r>
          </a:p>
          <a:p>
            <a:pPr marL="514350" indent="-514350">
              <a:buAutoNum type="alphaLcParenR"/>
            </a:pPr>
            <a:r>
              <a:rPr lang="en-US" sz="3200" b="1" dirty="0" err="1"/>
              <a:t>Bằng</a:t>
            </a:r>
            <a:r>
              <a:rPr lang="en-US" sz="3200" b="1" dirty="0"/>
              <a:t> 0</a:t>
            </a:r>
          </a:p>
          <a:p>
            <a:pPr marL="514350" indent="-514350">
              <a:buAutoNum type="alphaLcParenR"/>
            </a:pPr>
            <a:r>
              <a:rPr lang="en-US" sz="3200" b="1" dirty="0" err="1"/>
              <a:t>Hướng</a:t>
            </a:r>
            <a:r>
              <a:rPr lang="en-US" sz="3200" b="1" dirty="0"/>
              <a:t> </a:t>
            </a:r>
            <a:r>
              <a:rPr lang="en-US" sz="3200" b="1" dirty="0" err="1"/>
              <a:t>về</a:t>
            </a:r>
            <a:r>
              <a:rPr lang="en-US" sz="3200" b="1" dirty="0"/>
              <a:t> A </a:t>
            </a:r>
            <a:r>
              <a:rPr lang="en-US" sz="3200" b="1" dirty="0" err="1"/>
              <a:t>nếu</a:t>
            </a:r>
            <a:r>
              <a:rPr lang="en-US" sz="3200" b="1" dirty="0"/>
              <a:t> Q </a:t>
            </a:r>
            <a:r>
              <a:rPr lang="en-US" sz="3200" b="1" dirty="0" err="1"/>
              <a:t>trái</a:t>
            </a:r>
            <a:r>
              <a:rPr lang="en-US" sz="3200" b="1" dirty="0"/>
              <a:t> </a:t>
            </a:r>
            <a:r>
              <a:rPr lang="en-US" sz="3200" b="1" dirty="0" err="1"/>
              <a:t>dấu</a:t>
            </a:r>
            <a:r>
              <a:rPr lang="en-US" sz="3200" b="1" dirty="0"/>
              <a:t> q</a:t>
            </a:r>
            <a:r>
              <a:rPr lang="en-US" sz="2400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Callout 1"/>
              <p:cNvSpPr/>
              <p:nvPr/>
            </p:nvSpPr>
            <p:spPr>
              <a:xfrm>
                <a:off x="5638800" y="3581400"/>
                <a:ext cx="3048000" cy="16002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𝑄</m:t>
                        </m:r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  <m:r>
                          <a:rPr lang="en-US" b="0" i="1" smtClean="0">
                            <a:latin typeface="Cambria Math"/>
                          </a:rPr>
                          <m:t>.4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(2</m:t>
                        </m:r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)²</m:t>
                        </m:r>
                      </m:den>
                    </m:f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Oval Callou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581400"/>
                <a:ext cx="3048000" cy="1600200"/>
              </a:xfrm>
              <a:prstGeom prst="wedgeEllipseCallou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F26DE-C1A7-20C8-22C4-A3C8BFE3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AC84C-D6F6-201B-C197-D185D804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3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68786B-4558-DA49-D6E9-339DEA96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2374E6-2AEA-D0D5-9FAA-9FA57959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7AB48E-63BB-1533-121D-B288E0F699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5715000"/>
            <a:ext cx="769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B2CDB0-FFD9-FB55-2B8A-DFF59374ECB0}"/>
              </a:ext>
            </a:extLst>
          </p:cNvPr>
          <p:cNvSpPr/>
          <p:nvPr/>
        </p:nvSpPr>
        <p:spPr>
          <a:xfrm>
            <a:off x="2209800" y="1988344"/>
            <a:ext cx="640302" cy="60245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F02C29-164D-BCA3-F855-9A6F7C7B9D28}"/>
              </a:ext>
            </a:extLst>
          </p:cNvPr>
          <p:cNvSpPr/>
          <p:nvPr/>
        </p:nvSpPr>
        <p:spPr>
          <a:xfrm>
            <a:off x="6003893" y="2102937"/>
            <a:ext cx="274100" cy="33059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+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282C8E-8959-9E65-DD6F-59A8BCEB31BB}"/>
              </a:ext>
            </a:extLst>
          </p:cNvPr>
          <p:cNvCxnSpPr>
            <a:cxnSpLocks/>
          </p:cNvCxnSpPr>
          <p:nvPr/>
        </p:nvCxnSpPr>
        <p:spPr>
          <a:xfrm>
            <a:off x="762000" y="2268235"/>
            <a:ext cx="76200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E7BC8A8-0FF4-2897-47FF-03CD88E36C81}"/>
              </a:ext>
            </a:extLst>
          </p:cNvPr>
          <p:cNvSpPr/>
          <p:nvPr/>
        </p:nvSpPr>
        <p:spPr>
          <a:xfrm>
            <a:off x="2187606" y="2625329"/>
            <a:ext cx="479394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8556F-EDE2-6037-DBAD-00AC3C0AB7B9}"/>
              </a:ext>
            </a:extLst>
          </p:cNvPr>
          <p:cNvSpPr/>
          <p:nvPr/>
        </p:nvSpPr>
        <p:spPr>
          <a:xfrm>
            <a:off x="6019800" y="2625329"/>
            <a:ext cx="457202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DE7F43-9C74-77C3-93DF-1CCAF5057923}"/>
              </a:ext>
            </a:extLst>
          </p:cNvPr>
          <p:cNvSpPr/>
          <p:nvPr/>
        </p:nvSpPr>
        <p:spPr>
          <a:xfrm>
            <a:off x="7955132" y="2327674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B0020-3FA3-1425-5F5B-B3382B2515A5}"/>
              </a:ext>
            </a:extLst>
          </p:cNvPr>
          <p:cNvSpPr/>
          <p:nvPr/>
        </p:nvSpPr>
        <p:spPr>
          <a:xfrm>
            <a:off x="571500" y="2314600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8750E7-DDB3-5E26-D682-3B8581BE20D1}"/>
              </a:ext>
            </a:extLst>
          </p:cNvPr>
          <p:cNvSpPr/>
          <p:nvPr/>
        </p:nvSpPr>
        <p:spPr>
          <a:xfrm>
            <a:off x="7467600" y="1531147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EF97BD-4F8D-5214-F917-A4B93051D2F2}"/>
              </a:ext>
            </a:extLst>
          </p:cNvPr>
          <p:cNvCxnSpPr>
            <a:cxnSpLocks/>
          </p:cNvCxnSpPr>
          <p:nvPr/>
        </p:nvCxnSpPr>
        <p:spPr>
          <a:xfrm flipH="1">
            <a:off x="4154750" y="3639392"/>
            <a:ext cx="7527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ECA05B-C6C9-EF62-D985-A1D1DAE9B170}"/>
              </a:ext>
            </a:extLst>
          </p:cNvPr>
          <p:cNvCxnSpPr>
            <a:cxnSpLocks/>
          </p:cNvCxnSpPr>
          <p:nvPr/>
        </p:nvCxnSpPr>
        <p:spPr>
          <a:xfrm>
            <a:off x="5120936" y="3639392"/>
            <a:ext cx="8829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E225DE-632E-EE49-AA93-47EA836993FD}"/>
              </a:ext>
            </a:extLst>
          </p:cNvPr>
          <p:cNvCxnSpPr>
            <a:cxnSpLocks/>
          </p:cNvCxnSpPr>
          <p:nvPr/>
        </p:nvCxnSpPr>
        <p:spPr>
          <a:xfrm flipH="1" flipV="1">
            <a:off x="4154750" y="2760955"/>
            <a:ext cx="848557" cy="9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5258B2-A4BC-1E37-6FBA-37B79278BA3E}"/>
              </a:ext>
            </a:extLst>
          </p:cNvPr>
          <p:cNvCxnSpPr>
            <a:cxnSpLocks/>
          </p:cNvCxnSpPr>
          <p:nvPr/>
        </p:nvCxnSpPr>
        <p:spPr>
          <a:xfrm>
            <a:off x="5132772" y="2768694"/>
            <a:ext cx="9906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64BCF9-EFAC-C921-2303-E8A816F289D4}"/>
              </a:ext>
            </a:extLst>
          </p:cNvPr>
          <p:cNvCxnSpPr>
            <a:cxnSpLocks/>
          </p:cNvCxnSpPr>
          <p:nvPr/>
        </p:nvCxnSpPr>
        <p:spPr>
          <a:xfrm flipH="1">
            <a:off x="3912463" y="2268235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562115-D7B3-A89B-63B1-131BE7FFD5A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320314" y="2268235"/>
            <a:ext cx="683579" cy="1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B7CEC734-322B-811E-3CC4-E29AD4FFEF83}"/>
              </a:ext>
            </a:extLst>
          </p:cNvPr>
          <p:cNvSpPr/>
          <p:nvPr/>
        </p:nvSpPr>
        <p:spPr>
          <a:xfrm>
            <a:off x="4996278" y="2031604"/>
            <a:ext cx="38100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Callout 1">
                <a:extLst>
                  <a:ext uri="{FF2B5EF4-FFF2-40B4-BE49-F238E27FC236}">
                    <a16:creationId xmlns:a16="http://schemas.microsoft.com/office/drawing/2014/main" id="{245A196D-74E5-9137-6CDA-9DC7FC8DD6DB}"/>
                  </a:ext>
                </a:extLst>
              </p:cNvPr>
              <p:cNvSpPr/>
              <p:nvPr/>
            </p:nvSpPr>
            <p:spPr>
              <a:xfrm>
                <a:off x="4748814" y="52473"/>
                <a:ext cx="3048000" cy="16002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𝑄</m:t>
                        </m:r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  <m:r>
                          <a:rPr lang="en-US" b="0" i="1" smtClean="0">
                            <a:latin typeface="Cambria Math"/>
                          </a:rPr>
                          <m:t>.4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(2</m:t>
                        </m:r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)²</m:t>
                        </m:r>
                      </m:den>
                    </m:f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Oval Callout 1">
                <a:extLst>
                  <a:ext uri="{FF2B5EF4-FFF2-40B4-BE49-F238E27FC236}">
                    <a16:creationId xmlns:a16="http://schemas.microsoft.com/office/drawing/2014/main" id="{245A196D-74E5-9137-6CDA-9DC7FC8DD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814" y="52473"/>
                <a:ext cx="3048000" cy="1600200"/>
              </a:xfrm>
              <a:prstGeom prst="wedgeEllipseCallou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99D61364-BE49-5466-8DD1-F29A03B31ACE}"/>
              </a:ext>
            </a:extLst>
          </p:cNvPr>
          <p:cNvSpPr/>
          <p:nvPr/>
        </p:nvSpPr>
        <p:spPr>
          <a:xfrm>
            <a:off x="5003307" y="2517308"/>
            <a:ext cx="381000" cy="45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-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C61D96-3E2A-CEB4-1947-5E7FC06E4BAB}"/>
              </a:ext>
            </a:extLst>
          </p:cNvPr>
          <p:cNvSpPr/>
          <p:nvPr/>
        </p:nvSpPr>
        <p:spPr>
          <a:xfrm>
            <a:off x="2229960" y="3338164"/>
            <a:ext cx="640302" cy="60245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-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25FE52-4EFB-EB3D-1F9B-F37379A1F0B4}"/>
              </a:ext>
            </a:extLst>
          </p:cNvPr>
          <p:cNvSpPr/>
          <p:nvPr/>
        </p:nvSpPr>
        <p:spPr>
          <a:xfrm>
            <a:off x="6023311" y="3474094"/>
            <a:ext cx="274100" cy="33059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-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023DAD-FC71-0ACE-0875-633F7FBE270F}"/>
              </a:ext>
            </a:extLst>
          </p:cNvPr>
          <p:cNvCxnSpPr>
            <a:cxnSpLocks/>
          </p:cNvCxnSpPr>
          <p:nvPr/>
        </p:nvCxnSpPr>
        <p:spPr>
          <a:xfrm>
            <a:off x="685800" y="3639392"/>
            <a:ext cx="76200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C53F913-F866-3E73-1035-FAC0E0BE7375}"/>
              </a:ext>
            </a:extLst>
          </p:cNvPr>
          <p:cNvSpPr/>
          <p:nvPr/>
        </p:nvSpPr>
        <p:spPr>
          <a:xfrm>
            <a:off x="4907503" y="3410792"/>
            <a:ext cx="38100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+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A90095B-371E-0DF5-F083-E800661D144C}"/>
              </a:ext>
            </a:extLst>
          </p:cNvPr>
          <p:cNvSpPr/>
          <p:nvPr/>
        </p:nvSpPr>
        <p:spPr>
          <a:xfrm>
            <a:off x="4918970" y="4027965"/>
            <a:ext cx="358065" cy="46785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-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246D480-3F03-112A-57FD-6470C26682B2}"/>
              </a:ext>
            </a:extLst>
          </p:cNvPr>
          <p:cNvCxnSpPr>
            <a:cxnSpLocks/>
          </p:cNvCxnSpPr>
          <p:nvPr/>
        </p:nvCxnSpPr>
        <p:spPr>
          <a:xfrm>
            <a:off x="5120936" y="4270488"/>
            <a:ext cx="905891" cy="20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24A1EBD-9A5C-9FC4-2F6A-D32F7C23327E}"/>
              </a:ext>
            </a:extLst>
          </p:cNvPr>
          <p:cNvCxnSpPr>
            <a:cxnSpLocks/>
          </p:cNvCxnSpPr>
          <p:nvPr/>
        </p:nvCxnSpPr>
        <p:spPr>
          <a:xfrm flipH="1">
            <a:off x="4154750" y="4290594"/>
            <a:ext cx="90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22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8"/>
          <p:cNvGrpSpPr>
            <a:grpSpLocks/>
          </p:cNvGrpSpPr>
          <p:nvPr/>
        </p:nvGrpSpPr>
        <p:grpSpPr bwMode="auto">
          <a:xfrm>
            <a:off x="2438400" y="0"/>
            <a:ext cx="3733800" cy="838200"/>
            <a:chOff x="1200" y="1392"/>
            <a:chExt cx="2683" cy="560"/>
          </a:xfrm>
        </p:grpSpPr>
        <p:pic>
          <p:nvPicPr>
            <p:cNvPr id="16412" name="Picture 43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2683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1675" y="1512"/>
              <a:ext cx="1770" cy="309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.2.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trường</a:t>
              </a:r>
              <a:endParaRPr lang="vi-VN" sz="2400" b="1" u="sng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09600" y="2040648"/>
            <a:ext cx="8229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Trường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vi-VN" sz="28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5719" y="1017813"/>
            <a:ext cx="84582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vi-V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 điện trường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môi trường vật chất đặc biệt, tồn tại xung quanh các điện tích và </a:t>
            </a:r>
            <a:r>
              <a:rPr lang="vi-VN" sz="2000" b="1" dirty="0">
                <a:solidFill>
                  <a:srgbClr val="1109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 dụng lực </a:t>
            </a:r>
            <a:r>
              <a:rPr lang="vi-V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 điện tích khác đặt trong nó.</a:t>
            </a:r>
            <a:endParaRPr lang="vi-V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2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-46144" y="1017813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 dirty="0">
              <a:solidFill>
                <a:srgbClr val="1109B7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9AF7C02-5042-BCBD-6F62-18A7EC6B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Bùi</a:t>
            </a:r>
            <a:r>
              <a:rPr lang="en-US" dirty="0"/>
              <a:t> Quốc Trung - VLDC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D7C24A-9DC6-5688-0B2A-A6CD147C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64BB1A-A9E5-976F-6B72-B659B60E8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6731" y="2056184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 dirty="0">
              <a:solidFill>
                <a:srgbClr val="1109B7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847CF2F-F0AC-1963-84E3-2F6451DCA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040648"/>
            <a:ext cx="4762500" cy="22383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9FD31F2-85BE-A716-2FFC-CDBD309240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733800"/>
            <a:ext cx="2990850" cy="179451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956153C-AF0A-4647-2DDC-4A4DC0193A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4573895"/>
            <a:ext cx="3232983" cy="179451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B527CD0-0095-F17F-DBF4-92B719075F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17" y="3346659"/>
            <a:ext cx="3232984" cy="323298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E077771-A314-62D7-B547-B44333A947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4544373"/>
            <a:ext cx="2762250" cy="165735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283CE0F-8A0F-88F9-241C-A3D06440CB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78" y="2940372"/>
            <a:ext cx="1981200" cy="297721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0230794-CDA5-0A85-7B19-EC15B99F021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711" y="1533974"/>
            <a:ext cx="2249804" cy="337470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FC73C5C-B34A-10B4-0F50-574F3547CF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315" y="1547036"/>
            <a:ext cx="2216900" cy="332535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8B564715-66A2-6BEE-FC5D-33B174C93034}"/>
              </a:ext>
            </a:extLst>
          </p:cNvPr>
          <p:cNvSpPr/>
          <p:nvPr/>
        </p:nvSpPr>
        <p:spPr>
          <a:xfrm>
            <a:off x="3566008" y="5465748"/>
            <a:ext cx="464088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i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 SINH HỌC</a:t>
            </a:r>
            <a:endParaRPr lang="en-US" sz="24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935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4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5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8"/>
          <p:cNvGrpSpPr>
            <a:grpSpLocks/>
          </p:cNvGrpSpPr>
          <p:nvPr/>
        </p:nvGrpSpPr>
        <p:grpSpPr bwMode="auto">
          <a:xfrm>
            <a:off x="2438400" y="0"/>
            <a:ext cx="3733800" cy="838200"/>
            <a:chOff x="1200" y="1392"/>
            <a:chExt cx="2683" cy="560"/>
          </a:xfrm>
        </p:grpSpPr>
        <p:pic>
          <p:nvPicPr>
            <p:cNvPr id="16412" name="Picture 43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2683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1675" y="1512"/>
              <a:ext cx="1770" cy="309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.2.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trường</a:t>
              </a:r>
              <a:endParaRPr lang="vi-VN" sz="2400" b="1" u="sng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2076" y="1298403"/>
            <a:ext cx="86868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vi-VN" sz="2800" dirty="0">
                <a:latin typeface="+mj-lt"/>
              </a:rPr>
              <a:t>Xét điểm M bất kì trong điện trường, lần lượt đặt tại M các điện tích điểm q</a:t>
            </a:r>
            <a:r>
              <a:rPr lang="vi-VN" sz="2800" baseline="-25000" dirty="0">
                <a:latin typeface="+mj-lt"/>
              </a:rPr>
              <a:t>1</a:t>
            </a:r>
            <a:r>
              <a:rPr lang="vi-VN" sz="2800" dirty="0">
                <a:latin typeface="+mj-lt"/>
              </a:rPr>
              <a:t>, q</a:t>
            </a:r>
            <a:r>
              <a:rPr lang="vi-VN" sz="2800" baseline="-25000" dirty="0">
                <a:latin typeface="+mj-lt"/>
              </a:rPr>
              <a:t>2</a:t>
            </a:r>
            <a:r>
              <a:rPr lang="vi-VN" sz="2800" dirty="0">
                <a:latin typeface="+mj-lt"/>
              </a:rPr>
              <a:t>, …, q</a:t>
            </a:r>
            <a:r>
              <a:rPr lang="vi-VN" sz="2800" baseline="-25000" dirty="0">
                <a:latin typeface="+mj-lt"/>
              </a:rPr>
              <a:t>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8600" y="4648200"/>
            <a:ext cx="435247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1">
                <a:solidFill>
                  <a:srgbClr val="002060"/>
                </a:solidFill>
                <a:latin typeface="+mj-lt"/>
              </a:rPr>
              <a:t>: </a:t>
            </a:r>
            <a:r>
              <a:rPr lang="vi-VN" sz="2800" i="1">
                <a:solidFill>
                  <a:srgbClr val="002060"/>
                </a:solidFill>
                <a:latin typeface="+mj-lt"/>
              </a:rPr>
              <a:t>vectơ </a:t>
            </a:r>
            <a:r>
              <a:rPr lang="en-US" sz="2800" i="1">
                <a:solidFill>
                  <a:srgbClr val="002060"/>
                </a:solidFill>
                <a:latin typeface="+mj-lt"/>
              </a:rPr>
              <a:t>CĐĐT </a:t>
            </a:r>
            <a:r>
              <a:rPr lang="vi-VN" sz="2800" i="1">
                <a:solidFill>
                  <a:srgbClr val="002060"/>
                </a:solidFill>
                <a:latin typeface="+mj-lt"/>
              </a:rPr>
              <a:t>tại điểm M</a:t>
            </a:r>
            <a:r>
              <a:rPr lang="en-US" sz="2800" i="1">
                <a:solidFill>
                  <a:srgbClr val="002060"/>
                </a:solidFill>
                <a:latin typeface="+mj-lt"/>
              </a:rPr>
              <a:t> </a:t>
            </a:r>
          </a:p>
          <a:p>
            <a:pPr>
              <a:defRPr/>
            </a:pPr>
            <a:r>
              <a:rPr lang="en-US" sz="2800" i="1">
                <a:solidFill>
                  <a:srgbClr val="002060"/>
                </a:solidFill>
                <a:latin typeface="+mj-lt"/>
              </a:rPr>
              <a:t>gây ra bởi Q , </a:t>
            </a:r>
            <a:r>
              <a:rPr lang="en-US" sz="2800" i="1">
                <a:solidFill>
                  <a:srgbClr val="C00000"/>
                </a:solidFill>
                <a:latin typeface="+mj-lt"/>
              </a:rPr>
              <a:t>đơn vị: N/C</a:t>
            </a:r>
            <a:endParaRPr lang="vi-VN" sz="2800" i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152400" y="4735513"/>
            <a:ext cx="304800" cy="609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3" name="Rounded Rectangle 22"/>
          <p:cNvSpPr>
            <a:spLocks noChangeArrowheads="1"/>
          </p:cNvSpPr>
          <p:nvPr/>
        </p:nvSpPr>
        <p:spPr bwMode="auto">
          <a:xfrm>
            <a:off x="609600" y="4430713"/>
            <a:ext cx="3124200" cy="11430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 sz="3200">
              <a:solidFill>
                <a:schemeClr val="lt1"/>
              </a:solidFill>
              <a:latin typeface="+mj-lt"/>
              <a:cs typeface="+mn-cs"/>
            </a:endParaRPr>
          </a:p>
        </p:txBody>
      </p: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410200" y="3333750"/>
            <a:ext cx="3505200" cy="1401763"/>
            <a:chOff x="3733800" y="1800412"/>
            <a:chExt cx="3505200" cy="1400729"/>
          </a:xfrm>
        </p:grpSpPr>
        <p:sp>
          <p:nvSpPr>
            <p:cNvPr id="26" name="Oval 25"/>
            <p:cNvSpPr/>
            <p:nvPr/>
          </p:nvSpPr>
          <p:spPr>
            <a:xfrm>
              <a:off x="3733800" y="2361972"/>
              <a:ext cx="457200" cy="45686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vi-VN" sz="3200">
                  <a:solidFill>
                    <a:srgbClr val="FFFF00"/>
                  </a:solidFill>
                  <a:latin typeface="+mj-lt"/>
                </a:rPr>
                <a:t>+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6019800" y="2514260"/>
              <a:ext cx="152400" cy="15228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vi-VN" sz="3200">
                <a:latin typeface="+mj-lt"/>
              </a:endParaRPr>
            </a:p>
          </p:txBody>
        </p:sp>
        <p:sp>
          <p:nvSpPr>
            <p:cNvPr id="3095" name="TextBox 27"/>
            <p:cNvSpPr txBox="1">
              <a:spLocks noChangeArrowheads="1"/>
            </p:cNvSpPr>
            <p:nvPr/>
          </p:nvSpPr>
          <p:spPr bwMode="auto">
            <a:xfrm>
              <a:off x="3733800" y="2739519"/>
              <a:ext cx="457200" cy="46162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vi-VN" sz="2400">
                  <a:solidFill>
                    <a:srgbClr val="1109B7"/>
                  </a:solidFill>
                  <a:latin typeface="+mj-lt"/>
                </a:rPr>
                <a:t>Q</a:t>
              </a:r>
            </a:p>
          </p:txBody>
        </p:sp>
        <p:sp>
          <p:nvSpPr>
            <p:cNvPr id="3096" name="TextBox 28"/>
            <p:cNvSpPr txBox="1">
              <a:spLocks noChangeArrowheads="1"/>
            </p:cNvSpPr>
            <p:nvPr/>
          </p:nvSpPr>
          <p:spPr bwMode="auto">
            <a:xfrm>
              <a:off x="5943600" y="2557091"/>
              <a:ext cx="723900" cy="46162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vi-VN" sz="2400">
                  <a:solidFill>
                    <a:srgbClr val="1109B7"/>
                  </a:solidFill>
                  <a:latin typeface="+mj-lt"/>
                </a:rPr>
                <a:t>q</a:t>
              </a:r>
              <a:r>
                <a:rPr lang="vi-VN" sz="2400" baseline="-25000">
                  <a:solidFill>
                    <a:srgbClr val="1109B7"/>
                  </a:solidFill>
                  <a:latin typeface="+mj-lt"/>
                </a:rPr>
                <a:t>1</a:t>
              </a:r>
            </a:p>
          </p:txBody>
        </p:sp>
        <p:sp>
          <p:nvSpPr>
            <p:cNvPr id="3097" name="TextBox 29"/>
            <p:cNvSpPr txBox="1">
              <a:spLocks noChangeArrowheads="1"/>
            </p:cNvSpPr>
            <p:nvPr/>
          </p:nvSpPr>
          <p:spPr bwMode="auto">
            <a:xfrm>
              <a:off x="5867400" y="1978081"/>
              <a:ext cx="457200" cy="46162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vi-VN" sz="2400">
                  <a:solidFill>
                    <a:srgbClr val="1109B7"/>
                  </a:solidFill>
                  <a:latin typeface="+mj-lt"/>
                </a:rPr>
                <a:t>M</a:t>
              </a:r>
            </a:p>
          </p:txBody>
        </p:sp>
        <p:cxnSp>
          <p:nvCxnSpPr>
            <p:cNvPr id="31" name="Straight Connector 30"/>
            <p:cNvCxnSpPr>
              <a:stCxn id="26" idx="6"/>
              <a:endCxn id="27" idx="2"/>
            </p:cNvCxnSpPr>
            <p:nvPr/>
          </p:nvCxnSpPr>
          <p:spPr>
            <a:xfrm>
              <a:off x="4191000" y="2590404"/>
              <a:ext cx="1828800" cy="158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7" idx="6"/>
            </p:cNvCxnSpPr>
            <p:nvPr/>
          </p:nvCxnSpPr>
          <p:spPr>
            <a:xfrm>
              <a:off x="6172200" y="2590404"/>
              <a:ext cx="990600" cy="1587"/>
            </a:xfrm>
            <a:prstGeom prst="straightConnector1">
              <a:avLst/>
            </a:prstGeom>
            <a:ln w="22225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411" name="Object 14"/>
            <p:cNvGraphicFramePr>
              <a:graphicFrameLocks noChangeAspect="1"/>
            </p:cNvGraphicFramePr>
            <p:nvPr/>
          </p:nvGraphicFramePr>
          <p:xfrm>
            <a:off x="6763293" y="1800412"/>
            <a:ext cx="475707" cy="732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957" imgH="253780" progId="Equation.DSMT4">
                    <p:embed/>
                  </p:oleObj>
                </mc:Choice>
                <mc:Fallback>
                  <p:oleObj name="Equation" r:id="rId3" imgW="164957" imgH="25378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3293" y="1800412"/>
                          <a:ext cx="475707" cy="732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Right Arrow 27"/>
          <p:cNvSpPr/>
          <p:nvPr/>
        </p:nvSpPr>
        <p:spPr>
          <a:xfrm>
            <a:off x="838200" y="5953125"/>
            <a:ext cx="304800" cy="219075"/>
          </a:xfrm>
          <a:prstGeom prst="rightArrow">
            <a:avLst/>
          </a:prstGeom>
          <a:ln>
            <a:solidFill>
              <a:srgbClr val="FF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582988" y="5715000"/>
            <a:ext cx="54102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latin typeface="+mj-lt"/>
              </a:rPr>
              <a:t>: </a:t>
            </a:r>
            <a:r>
              <a:rPr lang="vi-VN" sz="2800" dirty="0">
                <a:latin typeface="+mj-lt"/>
              </a:rPr>
              <a:t>đặc trưng cho điện trường về </a:t>
            </a:r>
            <a:r>
              <a:rPr lang="vi-VN" sz="2800" u="sng" dirty="0">
                <a:solidFill>
                  <a:srgbClr val="FF0000"/>
                </a:solidFill>
                <a:latin typeface="+mj-lt"/>
              </a:rPr>
              <a:t>phương diện tác dụng lực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743200" y="5953125"/>
            <a:ext cx="304800" cy="219075"/>
          </a:xfrm>
          <a:prstGeom prst="rightArrow">
            <a:avLst/>
          </a:prstGeom>
          <a:ln>
            <a:solidFill>
              <a:srgbClr val="FF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46419"/>
              </p:ext>
            </p:extLst>
          </p:nvPr>
        </p:nvGraphicFramePr>
        <p:xfrm>
          <a:off x="414338" y="2826699"/>
          <a:ext cx="37465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03400" imgH="520700" progId="Equation.DSMT4">
                  <p:embed/>
                </p:oleObj>
              </mc:Choice>
              <mc:Fallback>
                <p:oleObj name="Equation" r:id="rId5" imgW="1803400" imgH="520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8" y="2826699"/>
                        <a:ext cx="37465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38200" y="4475163"/>
          <a:ext cx="9493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508000" progId="Equation.DSMT4">
                  <p:embed/>
                </p:oleObj>
              </mc:Choice>
              <mc:Fallback>
                <p:oleObj name="Equation" r:id="rId7" imgW="457200" imgH="508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75163"/>
                        <a:ext cx="949325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687423"/>
              </p:ext>
            </p:extLst>
          </p:nvPr>
        </p:nvGraphicFramePr>
        <p:xfrm>
          <a:off x="1323975" y="5743575"/>
          <a:ext cx="10810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20474" imgH="279279" progId="Equation.DSMT4">
                  <p:embed/>
                </p:oleObj>
              </mc:Choice>
              <mc:Fallback>
                <p:oleObj name="Equation" r:id="rId9" imgW="520474" imgH="27927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5743575"/>
                        <a:ext cx="108108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314700" y="5743575"/>
          <a:ext cx="3429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5028" imgH="228501" progId="Equation.DSMT4">
                  <p:embed/>
                </p:oleObj>
              </mc:Choice>
              <mc:Fallback>
                <p:oleObj name="Equation" r:id="rId11" imgW="165028" imgH="22850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5743575"/>
                        <a:ext cx="3429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62469"/>
              </p:ext>
            </p:extLst>
          </p:nvPr>
        </p:nvGraphicFramePr>
        <p:xfrm>
          <a:off x="4131468" y="2936799"/>
          <a:ext cx="881063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1847" imgH="215713" progId="Equation.DSMT4">
                  <p:embed/>
                </p:oleObj>
              </mc:Choice>
              <mc:Fallback>
                <p:oleObj name="Equation" r:id="rId13" imgW="291847" imgH="215713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1468" y="2936799"/>
                        <a:ext cx="881063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981200" y="4572000"/>
          <a:ext cx="14509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34725" imgH="393529" progId="Equation.DSMT4">
                  <p:embed/>
                </p:oleObj>
              </mc:Choice>
              <mc:Fallback>
                <p:oleObj name="Equation" r:id="rId15" imgW="634725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572000"/>
                        <a:ext cx="14509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46378" y="6242303"/>
                <a:ext cx="2836610" cy="496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F = </a:t>
                </a:r>
                <a:r>
                  <a:rPr lang="en-US" sz="20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qE</a:t>
                </a:r>
                <a:r>
                  <a:rPr lang="en-US" sz="20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sin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𝜶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,</m:t>
                    </m:r>
                  </m:oMath>
                </a14:m>
                <a:r>
                  <a:rPr lang="en-US" sz="20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sz="20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= (q,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𝑬</m:t>
                        </m:r>
                      </m:e>
                    </m:acc>
                  </m:oMath>
                </a14:m>
                <a:r>
                  <a:rPr lang="en-US" sz="20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78" y="6242303"/>
                <a:ext cx="2836610" cy="496907"/>
              </a:xfrm>
              <a:prstGeom prst="rect">
                <a:avLst/>
              </a:prstGeom>
              <a:blipFill rotWithShape="1">
                <a:blip r:embed="rId18"/>
                <a:stretch>
                  <a:fillRect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9AF7C02-5042-BCBD-6F62-18A7EC6B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D7C24A-9DC6-5688-0B2A-A6CD147C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20" grpId="0" autoUpdateAnimBg="0"/>
      <p:bldP spid="22" grpId="0" animBg="1" autoUpdateAnimBg="0"/>
      <p:bldP spid="23" grpId="0" animBg="1" autoUpdateAnimBg="0"/>
      <p:bldP spid="28" grpId="0" animBg="1" autoUpdateAnimBg="0"/>
      <p:bldP spid="29" grpId="0" autoUpdateAnimBg="0"/>
      <p:bldP spid="33" grpId="0" animBg="1" autoUpdateAnimBg="0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8"/>
          <p:cNvGrpSpPr>
            <a:grpSpLocks/>
          </p:cNvGrpSpPr>
          <p:nvPr/>
        </p:nvGrpSpPr>
        <p:grpSpPr bwMode="auto">
          <a:xfrm>
            <a:off x="2438400" y="0"/>
            <a:ext cx="3733800" cy="914400"/>
            <a:chOff x="1200" y="1392"/>
            <a:chExt cx="2683" cy="560"/>
          </a:xfrm>
        </p:grpSpPr>
        <p:pic>
          <p:nvPicPr>
            <p:cNvPr id="17441" name="Picture 43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2683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1676" y="1512"/>
              <a:ext cx="1733" cy="283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.2.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trường</a:t>
              </a:r>
              <a:endParaRPr lang="vi-VN" sz="2400" b="1" u="sng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609600" y="1293813"/>
            <a:ext cx="8229600" cy="10779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vi-VN" sz="3200">
                <a:solidFill>
                  <a:srgbClr val="1109B7"/>
                </a:solidFill>
                <a:latin typeface="+mj-lt"/>
              </a:rPr>
              <a:t>Phương:</a:t>
            </a:r>
            <a:r>
              <a:rPr lang="vi-VN" sz="3200">
                <a:latin typeface="+mj-lt"/>
              </a:rPr>
              <a:t> là đường thẳng nối điện tích Q với điểm khảo sát M</a:t>
            </a:r>
            <a:r>
              <a:rPr lang="en-US" sz="3200">
                <a:latin typeface="+mj-lt"/>
              </a:rPr>
              <a:t>.</a:t>
            </a:r>
            <a:endParaRPr lang="vi-VN" sz="3200"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8013" y="2501900"/>
            <a:ext cx="167640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vi-VN" sz="3200">
                <a:solidFill>
                  <a:srgbClr val="1109B7"/>
                </a:solidFill>
                <a:latin typeface="+mj-lt"/>
              </a:rPr>
              <a:t>Chiều: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0463" y="3200400"/>
            <a:ext cx="4173537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3200">
                <a:latin typeface="+mj-lt"/>
              </a:rPr>
              <a:t>hướng vào Q, nếu Q &lt; 0</a:t>
            </a:r>
          </a:p>
        </p:txBody>
      </p:sp>
      <p:sp>
        <p:nvSpPr>
          <p:cNvPr id="28" name="4-Point Star 27"/>
          <p:cNvSpPr/>
          <p:nvPr/>
        </p:nvSpPr>
        <p:spPr>
          <a:xfrm>
            <a:off x="304800" y="26416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+mj-lt"/>
            </a:endParaRPr>
          </a:p>
        </p:txBody>
      </p:sp>
      <p:sp>
        <p:nvSpPr>
          <p:cNvPr id="29" name="4-Point Star 28"/>
          <p:cNvSpPr/>
          <p:nvPr/>
        </p:nvSpPr>
        <p:spPr>
          <a:xfrm>
            <a:off x="228600" y="14478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+mj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03225" y="3259138"/>
            <a:ext cx="4070350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3200">
                <a:latin typeface="+mj-lt"/>
              </a:rPr>
              <a:t>hướng xa Q,  nếu Q &gt; 0</a:t>
            </a:r>
          </a:p>
        </p:txBody>
      </p:sp>
      <p:cxnSp>
        <p:nvCxnSpPr>
          <p:cNvPr id="34" name="Straight Arrow Connector 33"/>
          <p:cNvCxnSpPr>
            <a:endCxn id="30" idx="0"/>
          </p:cNvCxnSpPr>
          <p:nvPr/>
        </p:nvCxnSpPr>
        <p:spPr>
          <a:xfrm>
            <a:off x="2046288" y="2794000"/>
            <a:ext cx="392112" cy="46513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046288" y="2794000"/>
            <a:ext cx="4125912" cy="46513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08013" y="5546725"/>
            <a:ext cx="14382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3200">
                <a:solidFill>
                  <a:srgbClr val="1109B7"/>
                </a:solidFill>
                <a:latin typeface="+mj-lt"/>
              </a:rPr>
              <a:t>Độ lớn:</a:t>
            </a:r>
          </a:p>
        </p:txBody>
      </p:sp>
      <p:sp>
        <p:nvSpPr>
          <p:cNvPr id="39" name="4-Point Star 38"/>
          <p:cNvSpPr/>
          <p:nvPr/>
        </p:nvSpPr>
        <p:spPr>
          <a:xfrm>
            <a:off x="304800" y="5637213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+mj-lt"/>
            </a:endParaRPr>
          </a:p>
        </p:txBody>
      </p:sp>
      <p:sp>
        <p:nvSpPr>
          <p:cNvPr id="40" name="Rounded Rectangle 39"/>
          <p:cNvSpPr>
            <a:spLocks noChangeArrowheads="1"/>
          </p:cNvSpPr>
          <p:nvPr/>
        </p:nvSpPr>
        <p:spPr bwMode="auto">
          <a:xfrm>
            <a:off x="2108200" y="5334000"/>
            <a:ext cx="3284538" cy="10668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 sz="3200">
              <a:solidFill>
                <a:schemeClr val="lt1"/>
              </a:solidFill>
              <a:latin typeface="+mj-lt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309813" y="5410200"/>
          <a:ext cx="2871787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300" imgH="431800" progId="Equation.DSMT4">
                  <p:embed/>
                </p:oleObj>
              </mc:Choice>
              <mc:Fallback>
                <p:oleObj name="Equation" r:id="rId3" imgW="12573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5410200"/>
                        <a:ext cx="2871787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2" name="Group 16391"/>
          <p:cNvGrpSpPr>
            <a:grpSpLocks/>
          </p:cNvGrpSpPr>
          <p:nvPr/>
        </p:nvGrpSpPr>
        <p:grpSpPr bwMode="auto">
          <a:xfrm>
            <a:off x="522288" y="3886200"/>
            <a:ext cx="3468687" cy="1328738"/>
            <a:chOff x="522514" y="3886200"/>
            <a:chExt cx="3468461" cy="1328511"/>
          </a:xfrm>
        </p:grpSpPr>
        <p:grpSp>
          <p:nvGrpSpPr>
            <p:cNvPr id="17433" name="Group 24"/>
            <p:cNvGrpSpPr>
              <a:grpSpLocks/>
            </p:cNvGrpSpPr>
            <p:nvPr/>
          </p:nvGrpSpPr>
          <p:grpSpPr bwMode="auto">
            <a:xfrm>
              <a:off x="522514" y="3886200"/>
              <a:ext cx="3468461" cy="1328511"/>
              <a:chOff x="3733800" y="1873610"/>
              <a:chExt cx="3468461" cy="1327531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3733800" y="2362116"/>
                <a:ext cx="457170" cy="45678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vi-VN" sz="3200">
                    <a:solidFill>
                      <a:srgbClr val="FFFF00"/>
                    </a:solidFill>
                    <a:latin typeface="+mj-lt"/>
                  </a:rPr>
                  <a:t>+</a:t>
                </a: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6000602" y="2563546"/>
                <a:ext cx="106355" cy="10626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vi-VN" sz="3200">
                  <a:latin typeface="+mj-lt"/>
                </a:endParaRPr>
              </a:p>
            </p:txBody>
          </p:sp>
          <p:sp>
            <p:nvSpPr>
              <p:cNvPr id="41" name="TextBox 27"/>
              <p:cNvSpPr txBox="1">
                <a:spLocks noChangeArrowheads="1"/>
              </p:cNvSpPr>
              <p:nvPr/>
            </p:nvSpPr>
            <p:spPr bwMode="auto">
              <a:xfrm>
                <a:off x="3733800" y="2739598"/>
                <a:ext cx="457170" cy="4615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vi-VN" sz="2400">
                    <a:solidFill>
                      <a:srgbClr val="1109B7"/>
                    </a:solidFill>
                    <a:latin typeface="+mj-lt"/>
                  </a:rPr>
                  <a:t>Q</a:t>
                </a:r>
              </a:p>
            </p:txBody>
          </p:sp>
          <p:sp>
            <p:nvSpPr>
              <p:cNvPr id="43" name="TextBox 29"/>
              <p:cNvSpPr txBox="1">
                <a:spLocks noChangeArrowheads="1"/>
              </p:cNvSpPr>
              <p:nvPr/>
            </p:nvSpPr>
            <p:spPr bwMode="auto">
              <a:xfrm>
                <a:off x="5867261" y="1978290"/>
                <a:ext cx="457170" cy="4615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vi-VN" sz="2400">
                    <a:solidFill>
                      <a:srgbClr val="1109B7"/>
                    </a:solidFill>
                    <a:latin typeface="+mj-lt"/>
                  </a:rPr>
                  <a:t>M</a:t>
                </a:r>
              </a:p>
            </p:txBody>
          </p:sp>
          <p:graphicFrame>
            <p:nvGraphicFramePr>
              <p:cNvPr id="17440" name="Object 14"/>
              <p:cNvGraphicFramePr>
                <a:graphicFrameLocks noChangeAspect="1"/>
              </p:cNvGraphicFramePr>
              <p:nvPr/>
            </p:nvGraphicFramePr>
            <p:xfrm>
              <a:off x="6799036" y="1873610"/>
              <a:ext cx="403225" cy="585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39639" imgH="203112" progId="Equation.DSMT4">
                      <p:embed/>
                    </p:oleObj>
                  </mc:Choice>
                  <mc:Fallback>
                    <p:oleObj name="Equation" r:id="rId5" imgW="139639" imgH="203112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99036" y="1873610"/>
                            <a:ext cx="403225" cy="585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7" name="Straight Connector 16"/>
            <p:cNvCxnSpPr>
              <a:stCxn id="35" idx="6"/>
              <a:endCxn id="37" idx="2"/>
            </p:cNvCxnSpPr>
            <p:nvPr/>
          </p:nvCxnSpPr>
          <p:spPr>
            <a:xfrm>
              <a:off x="979684" y="4603627"/>
              <a:ext cx="1809632" cy="25396"/>
            </a:xfrm>
            <a:prstGeom prst="line">
              <a:avLst/>
            </a:prstGeom>
            <a:ln w="222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2879797" y="4624262"/>
              <a:ext cx="869893" cy="1587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93" name="Group 16392"/>
          <p:cNvGrpSpPr>
            <a:grpSpLocks/>
          </p:cNvGrpSpPr>
          <p:nvPr/>
        </p:nvGrpSpPr>
        <p:grpSpPr bwMode="auto">
          <a:xfrm>
            <a:off x="5514975" y="3962400"/>
            <a:ext cx="2790825" cy="1262063"/>
            <a:chOff x="5514747" y="3962400"/>
            <a:chExt cx="2791053" cy="1262743"/>
          </a:xfrm>
        </p:grpSpPr>
        <p:grpSp>
          <p:nvGrpSpPr>
            <p:cNvPr id="17425" name="Group 24"/>
            <p:cNvGrpSpPr>
              <a:grpSpLocks/>
            </p:cNvGrpSpPr>
            <p:nvPr/>
          </p:nvGrpSpPr>
          <p:grpSpPr bwMode="auto">
            <a:xfrm>
              <a:off x="5514747" y="3962400"/>
              <a:ext cx="2791053" cy="1262743"/>
              <a:chOff x="3733800" y="1939329"/>
              <a:chExt cx="2791053" cy="1261812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3733800" y="2361520"/>
                <a:ext cx="457237" cy="45710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3200">
                    <a:solidFill>
                      <a:srgbClr val="FFFF00"/>
                    </a:solidFill>
                    <a:latin typeface="+mj-lt"/>
                  </a:rPr>
                  <a:t>-</a:t>
                </a:r>
                <a:endParaRPr lang="vi-VN" sz="3200">
                  <a:solidFill>
                    <a:srgbClr val="FFFF00"/>
                  </a:solidFill>
                  <a:latin typeface="+mj-lt"/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6000935" y="2563093"/>
                <a:ext cx="106372" cy="10634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vi-VN" sz="3200">
                  <a:latin typeface="+mj-lt"/>
                </a:endParaRPr>
              </a:p>
            </p:txBody>
          </p:sp>
          <p:sp>
            <p:nvSpPr>
              <p:cNvPr id="55" name="TextBox 27"/>
              <p:cNvSpPr txBox="1">
                <a:spLocks noChangeArrowheads="1"/>
              </p:cNvSpPr>
              <p:nvPr/>
            </p:nvSpPr>
            <p:spPr bwMode="auto">
              <a:xfrm>
                <a:off x="3733800" y="2739270"/>
                <a:ext cx="457237" cy="4618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vi-VN" sz="2400">
                    <a:solidFill>
                      <a:srgbClr val="1109B7"/>
                    </a:solidFill>
                    <a:latin typeface="+mj-lt"/>
                  </a:rPr>
                  <a:t>Q</a:t>
                </a:r>
              </a:p>
            </p:txBody>
          </p:sp>
          <p:sp>
            <p:nvSpPr>
              <p:cNvPr id="56" name="TextBox 29"/>
              <p:cNvSpPr txBox="1">
                <a:spLocks noChangeArrowheads="1"/>
              </p:cNvSpPr>
              <p:nvPr/>
            </p:nvSpPr>
            <p:spPr bwMode="auto">
              <a:xfrm>
                <a:off x="6067616" y="2229784"/>
                <a:ext cx="457237" cy="461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vi-VN" sz="2400">
                    <a:solidFill>
                      <a:srgbClr val="1109B7"/>
                    </a:solidFill>
                    <a:latin typeface="+mj-lt"/>
                  </a:rPr>
                  <a:t>M</a:t>
                </a:r>
              </a:p>
            </p:txBody>
          </p:sp>
          <p:graphicFrame>
            <p:nvGraphicFramePr>
              <p:cNvPr id="17432" name="Object 14"/>
              <p:cNvGraphicFramePr>
                <a:graphicFrameLocks noChangeAspect="1"/>
              </p:cNvGraphicFramePr>
              <p:nvPr/>
            </p:nvGraphicFramePr>
            <p:xfrm>
              <a:off x="5190208" y="1939329"/>
              <a:ext cx="403225" cy="585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39639" imgH="203112" progId="Equation.DSMT4">
                      <p:embed/>
                    </p:oleObj>
                  </mc:Choice>
                  <mc:Fallback>
                    <p:oleObj name="Equation" r:id="rId7" imgW="139639" imgH="203112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0208" y="1939329"/>
                            <a:ext cx="403225" cy="585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8" name="Straight Connector 57"/>
            <p:cNvCxnSpPr>
              <a:stCxn id="53" idx="6"/>
              <a:endCxn id="54" idx="2"/>
            </p:cNvCxnSpPr>
            <p:nvPr/>
          </p:nvCxnSpPr>
          <p:spPr>
            <a:xfrm>
              <a:off x="5971984" y="4613626"/>
              <a:ext cx="1809898" cy="27003"/>
            </a:xfrm>
            <a:prstGeom prst="line">
              <a:avLst/>
            </a:prstGeom>
            <a:ln w="222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H="1">
              <a:off x="6776913" y="4634275"/>
              <a:ext cx="995443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5C83DE-AB37-8835-A923-D5FD6959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81AC0-A410-C74C-E205-109D6C78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  <p:bldP spid="28" grpId="0" animBg="1"/>
      <p:bldP spid="29" grpId="0" animBg="1"/>
      <p:bldP spid="30" grpId="0"/>
      <p:bldP spid="38" grpId="0"/>
      <p:bldP spid="39" grpId="0" animBg="1"/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323850" y="247650"/>
            <a:ext cx="8640763" cy="563563"/>
          </a:xfrm>
        </p:spPr>
        <p:txBody>
          <a:bodyPr anchor="t"/>
          <a:lstStyle/>
          <a:p>
            <a:pPr eaLnBrk="1" hangingPunct="1"/>
            <a:r>
              <a:rPr lang="en-US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Cường độ điện trường một số trường hợp</a:t>
            </a:r>
          </a:p>
        </p:txBody>
      </p:sp>
      <p:graphicFrame>
        <p:nvGraphicFramePr>
          <p:cNvPr id="5" name="Group 261"/>
          <p:cNvGraphicFramePr>
            <a:graphicFrameLocks noGrp="1"/>
          </p:cNvGraphicFramePr>
          <p:nvPr/>
        </p:nvGraphicFramePr>
        <p:xfrm>
          <a:off x="468313" y="1112838"/>
          <a:ext cx="8305800" cy="4907014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Trường hợp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Giá trị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Gần chiếc lược tích điện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 N/C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Ở giữa ống phóng đèn hình TV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 N/C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Gần bề mặt rum của máy photocopy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 N/C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8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Điện trường đánh thủng điện môi là không khí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3×10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 N/C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Điện trường trên quỹ đạo của electron trong nguyên tử hidro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5×10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11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 N/C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48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Điện trường trên bề mặt của hạt nhân Urani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99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3×10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21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SimSun" pitchFamily="2" charset="-122"/>
                          <a:cs typeface="Times New Roman" pitchFamily="18" charset="0"/>
                        </a:rPr>
                        <a:t> N/C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10A2C6-B81B-8D2F-9D5B-805B20F3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227980-008C-803A-315B-DA7D16BD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762000"/>
                <a:ext cx="8229600" cy="5364163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i="1" u="sng" dirty="0" err="1"/>
                  <a:t>Ví</a:t>
                </a:r>
                <a:r>
                  <a:rPr lang="en-US" sz="3200" b="1" i="1" u="sng" dirty="0"/>
                  <a:t> </a:t>
                </a:r>
                <a:r>
                  <a:rPr lang="en-US" sz="3200" b="1" i="1" u="sng" dirty="0" err="1"/>
                  <a:t>dụ</a:t>
                </a:r>
                <a:r>
                  <a:rPr lang="en-US" sz="3200" b="1" i="1" u="sng" dirty="0"/>
                  <a:t>:</a:t>
                </a:r>
              </a:p>
              <a:p>
                <a:pPr marL="0" indent="0" algn="just">
                  <a:buNone/>
                </a:pPr>
                <a:r>
                  <a:rPr lang="en-US" sz="3200" dirty="0" err="1"/>
                  <a:t>Bắn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một</a:t>
                </a:r>
                <a:r>
                  <a:rPr lang="en-US" sz="3200" dirty="0"/>
                  <a:t> e </a:t>
                </a:r>
                <a:r>
                  <a:rPr lang="en-US" sz="3200" dirty="0" err="1"/>
                  <a:t>vào</a:t>
                </a:r>
                <a:r>
                  <a:rPr lang="en-US" sz="3200" dirty="0"/>
                  <a:t> </a:t>
                </a:r>
                <a:r>
                  <a:rPr lang="en-US" sz="3200" dirty="0" err="1"/>
                  <a:t>một</a:t>
                </a:r>
                <a:r>
                  <a:rPr lang="en-US" sz="3200" dirty="0"/>
                  <a:t> </a:t>
                </a:r>
                <a:r>
                  <a:rPr lang="en-US" sz="3200" dirty="0" err="1"/>
                  <a:t>điện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trường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đều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có</a:t>
                </a:r>
                <a:r>
                  <a:rPr lang="en-US" sz="3200" dirty="0"/>
                  <a:t> E = 8.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i="1" dirty="0"/>
                  <a:t>V/m </a:t>
                </a:r>
                <a:r>
                  <a:rPr lang="en-US" sz="3200" dirty="0" err="1"/>
                  <a:t>theo</a:t>
                </a:r>
                <a:r>
                  <a:rPr lang="en-US" sz="3200" dirty="0"/>
                  <a:t> </a:t>
                </a:r>
                <a:r>
                  <a:rPr lang="en-US" sz="3200" dirty="0" err="1"/>
                  <a:t>phương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vuông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góc</a:t>
                </a:r>
                <a:r>
                  <a:rPr lang="en-US" sz="3200" dirty="0"/>
                  <a:t> </a:t>
                </a:r>
                <a:r>
                  <a:rPr lang="en-US" sz="3200" dirty="0" err="1"/>
                  <a:t>với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các</a:t>
                </a:r>
                <a:r>
                  <a:rPr lang="en-US" sz="3200" dirty="0"/>
                  <a:t> </a:t>
                </a:r>
                <a:r>
                  <a:rPr lang="en-US" sz="3200" dirty="0" err="1"/>
                  <a:t>đường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sức</a:t>
                </a:r>
                <a:r>
                  <a:rPr lang="en-US" sz="3200" dirty="0"/>
                  <a:t>.</a:t>
                </a:r>
              </a:p>
              <a:p>
                <a:pPr marL="514350" indent="-514350">
                  <a:buAutoNum type="alphaLcParenR"/>
                </a:pPr>
                <a:r>
                  <a:rPr lang="en-US" sz="3200" dirty="0" err="1"/>
                  <a:t>Tính</a:t>
                </a:r>
                <a:r>
                  <a:rPr lang="en-US" sz="3200" dirty="0"/>
                  <a:t> </a:t>
                </a:r>
                <a:r>
                  <a:rPr lang="en-US" sz="3200" dirty="0" err="1"/>
                  <a:t>lực</a:t>
                </a:r>
                <a:r>
                  <a:rPr lang="en-US" sz="3200" dirty="0"/>
                  <a:t> </a:t>
                </a:r>
                <a:r>
                  <a:rPr lang="en-US" sz="3200" dirty="0" err="1"/>
                  <a:t>điện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tác</a:t>
                </a:r>
                <a:r>
                  <a:rPr lang="en-US" sz="3200" dirty="0"/>
                  <a:t> </a:t>
                </a:r>
                <a:r>
                  <a:rPr lang="en-US" sz="3200" dirty="0" err="1"/>
                  <a:t>dụng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lên</a:t>
                </a:r>
                <a:r>
                  <a:rPr lang="en-US" sz="3200" dirty="0"/>
                  <a:t> e</a:t>
                </a:r>
              </a:p>
              <a:p>
                <a:pPr marL="514350" indent="-514350">
                  <a:buAutoNum type="alphaLcParenR"/>
                </a:pPr>
                <a:r>
                  <a:rPr lang="en-US" sz="3200" dirty="0"/>
                  <a:t>Electron </a:t>
                </a:r>
                <a:r>
                  <a:rPr lang="en-US" sz="3200" dirty="0" err="1"/>
                  <a:t>thu</a:t>
                </a:r>
                <a:r>
                  <a:rPr lang="en-US" sz="3200" dirty="0"/>
                  <a:t> </a:t>
                </a:r>
                <a:r>
                  <a:rPr lang="en-US" sz="3200" dirty="0" err="1"/>
                  <a:t>được</a:t>
                </a:r>
                <a:r>
                  <a:rPr lang="en-US" sz="3200" dirty="0"/>
                  <a:t> </a:t>
                </a:r>
                <a:r>
                  <a:rPr lang="en-US" sz="3200" dirty="0" err="1"/>
                  <a:t>gia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tốc</a:t>
                </a:r>
                <a:r>
                  <a:rPr lang="en-US" sz="3200" dirty="0"/>
                  <a:t> </a:t>
                </a:r>
                <a:r>
                  <a:rPr lang="en-US" sz="3200" dirty="0" err="1"/>
                  <a:t>bằng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bao</a:t>
                </a:r>
                <a:r>
                  <a:rPr lang="en-US" sz="3200" dirty="0"/>
                  <a:t> </a:t>
                </a:r>
                <a:r>
                  <a:rPr lang="en-US" sz="3200" dirty="0" err="1"/>
                  <a:t>nhiêu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762000"/>
                <a:ext cx="8229600" cy="5364163"/>
              </a:xfrm>
              <a:blipFill rotWithShape="1">
                <a:blip r:embed="rId2"/>
                <a:stretch>
                  <a:fillRect l="-2593" t="-3636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Callout 1"/>
              <p:cNvSpPr/>
              <p:nvPr/>
            </p:nvSpPr>
            <p:spPr>
              <a:xfrm>
                <a:off x="3429000" y="4800600"/>
                <a:ext cx="4495800" cy="18288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i="1" dirty="0"/>
                  <a:t> = q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i="1" dirty="0"/>
                  <a:t>, F = </a:t>
                </a:r>
                <a:r>
                  <a:rPr lang="en-US" i="1" dirty="0" err="1"/>
                  <a:t>q.E.sin</a:t>
                </a:r>
                <a:r>
                  <a:rPr lang="el-GR" i="1" dirty="0"/>
                  <a:t>α</a:t>
                </a:r>
                <a:r>
                  <a:rPr lang="en-US" i="1" dirty="0"/>
                  <a:t> = </a:t>
                </a:r>
                <a:r>
                  <a:rPr lang="en-US" i="1" dirty="0" err="1"/>
                  <a:t>q.E</a:t>
                </a:r>
                <a:r>
                  <a:rPr lang="en-US" i="1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h</m:t>
                        </m:r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/>
                  <a:t> = </a:t>
                </a:r>
                <a:r>
                  <a:rPr lang="en-US" i="1" dirty="0" err="1"/>
                  <a:t>m.a</a:t>
                </a:r>
                <a:r>
                  <a:rPr lang="en-US" i="1" dirty="0"/>
                  <a:t> = </a:t>
                </a:r>
                <a:r>
                  <a:rPr lang="en-US" i="1" dirty="0" err="1"/>
                  <a:t>q.E</a:t>
                </a:r>
                <a:endParaRPr lang="en-US" i="1" dirty="0"/>
              </a:p>
              <a:p>
                <a:pPr algn="ctr"/>
                <a:r>
                  <a:rPr lang="en-US" i="1" dirty="0"/>
                  <a:t>a =  m/s² </a:t>
                </a:r>
              </a:p>
            </p:txBody>
          </p:sp>
        </mc:Choice>
        <mc:Fallback xmlns="">
          <p:sp>
            <p:nvSpPr>
              <p:cNvPr id="2" name="Oval Callou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800600"/>
                <a:ext cx="4495800" cy="1828800"/>
              </a:xfrm>
              <a:prstGeom prst="wedgeEllipse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783F2-7341-E41E-A545-D8CA5988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08576-DE6F-C078-46EF-FD01D829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8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18"/>
          <p:cNvGrpSpPr>
            <a:grpSpLocks/>
          </p:cNvGrpSpPr>
          <p:nvPr/>
        </p:nvGrpSpPr>
        <p:grpSpPr bwMode="auto">
          <a:xfrm>
            <a:off x="2438400" y="0"/>
            <a:ext cx="3733800" cy="889000"/>
            <a:chOff x="1200" y="1392"/>
            <a:chExt cx="2683" cy="560"/>
          </a:xfrm>
        </p:grpSpPr>
        <p:pic>
          <p:nvPicPr>
            <p:cNvPr id="19470" name="Picture 43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2683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1676" y="1512"/>
              <a:ext cx="1733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.2.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trường</a:t>
              </a:r>
              <a:endParaRPr lang="vi-VN" sz="2400" b="1" u="sng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Rounded Rectangle 11"/>
          <p:cNvSpPr>
            <a:spLocks noChangeArrowheads="1"/>
          </p:cNvSpPr>
          <p:nvPr/>
        </p:nvSpPr>
        <p:spPr bwMode="auto">
          <a:xfrm>
            <a:off x="4038600" y="1490663"/>
            <a:ext cx="4373563" cy="11430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vi-VN" sz="3200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533400" y="1752600"/>
            <a:ext cx="33909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Hệ điện tích điểm</a:t>
            </a:r>
            <a:r>
              <a:rPr lang="en-US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1" name="4-Point Star 20"/>
          <p:cNvSpPr/>
          <p:nvPr/>
        </p:nvSpPr>
        <p:spPr>
          <a:xfrm>
            <a:off x="228600" y="19050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60" name="Picture 24" descr="E:\Work\Food Industry College\Dien-Tu truong\Hinh anh\Truong tinh dien\image01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870200"/>
            <a:ext cx="5519737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Straight Connector 27"/>
          <p:cNvCxnSpPr/>
          <p:nvPr/>
        </p:nvCxnSpPr>
        <p:spPr>
          <a:xfrm>
            <a:off x="4964113" y="2974975"/>
            <a:ext cx="669925" cy="69056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5013325" y="3667125"/>
            <a:ext cx="620713" cy="77946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376738" y="3665538"/>
            <a:ext cx="1257300" cy="1587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50" name="Object 25"/>
          <p:cNvGraphicFramePr>
            <a:graphicFrameLocks noChangeAspect="1"/>
          </p:cNvGraphicFramePr>
          <p:nvPr/>
        </p:nvGraphicFramePr>
        <p:xfrm>
          <a:off x="5481638" y="2941638"/>
          <a:ext cx="152400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586" imgH="253890" progId="Equation.DSMT4">
                  <p:embed/>
                </p:oleObj>
              </mc:Choice>
              <mc:Fallback>
                <p:oleObj name="Equation" r:id="rId4" imgW="723586" imgH="25389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638" y="2941638"/>
                        <a:ext cx="152400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381000" y="838200"/>
            <a:ext cx="6477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US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3200" b="1" u="sng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Nguyên lý chồng chất điện trường:</a:t>
            </a:r>
            <a:endParaRPr lang="en-US" sz="3200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49" name="Object 2048"/>
          <p:cNvGraphicFramePr>
            <a:graphicFrameLocks noChangeAspect="1"/>
          </p:cNvGraphicFramePr>
          <p:nvPr/>
        </p:nvGraphicFramePr>
        <p:xfrm>
          <a:off x="4252913" y="1600200"/>
          <a:ext cx="4052887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5000" imgH="457200" progId="Equation.DSMT4">
                  <p:embed/>
                </p:oleObj>
              </mc:Choice>
              <mc:Fallback>
                <p:oleObj name="Equation" r:id="rId6" imgW="1905000" imgH="457200" progId="Equation.DSMT4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1600200"/>
                        <a:ext cx="4052887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6200" y="838200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D32C7D-9F0D-EE63-78FE-5B986B3D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5B6E16-8DCB-7A08-9333-8F2F8F2E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  <p:bldP spid="18" grpId="0" autoUpdateAnimBg="0"/>
      <p:bldP spid="21" grpId="0" animBg="1" autoUpdateAnimBg="0"/>
      <p:bldP spid="19" grpId="0" autoUpdateAnimBg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838200"/>
                <a:ext cx="8229600" cy="5287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Hai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tích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điểm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q1, q2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cách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nhau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một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khoảng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d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chân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không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Tại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điểm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M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trên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đoạn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thẳng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nối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chúng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có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>
                            <a:latin typeface="Cambria Math"/>
                          </a:rPr>
                          <m:t>𝑬</m:t>
                        </m:r>
                      </m:e>
                    </m:acc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= 0.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Vậy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pPr marL="514350" indent="-514350" algn="just">
                  <a:buAutoNum type="alphaLcParenR"/>
                </a:pP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Nếu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M ở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xa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q1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hơn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thì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q1 &gt; q2</a:t>
                </a:r>
              </a:p>
              <a:p>
                <a:pPr marL="514350" indent="-514350" algn="just">
                  <a:buFont typeface="Arial" charset="0"/>
                  <a:buAutoNum type="alphaLcParenR"/>
                </a:pP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Nếu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M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cách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đều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q1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và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q2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thì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q1 = q2</a:t>
                </a:r>
              </a:p>
              <a:p>
                <a:pPr marL="514350" indent="-514350" algn="just">
                  <a:buFont typeface="Arial" charset="0"/>
                  <a:buAutoNum type="alphaLcParenR"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q1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và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q2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trái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dấu</a:t>
                </a:r>
                <a:endParaRPr lang="en-US" sz="32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 algn="just">
                  <a:buFont typeface="Arial" charset="0"/>
                  <a:buAutoNum type="alphaLcParenR"/>
                </a:pP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Có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2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đáp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án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đúng</a:t>
                </a:r>
                <a:endParaRPr lang="en-US" sz="32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3200" b="1" dirty="0"/>
              </a:p>
              <a:p>
                <a:pPr marL="457200" indent="-457200" algn="just">
                  <a:buFontTx/>
                  <a:buChar char="-"/>
                </a:pP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tích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cùng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dấu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ngược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chiều</a:t>
                </a:r>
                <a:endParaRPr lang="en-US" sz="3200" b="1" dirty="0"/>
              </a:p>
              <a:p>
                <a:pPr marL="457200" indent="-457200" algn="just">
                  <a:buFontTx/>
                  <a:buChar char="-"/>
                </a:pP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tích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trái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dấu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cùng chiều</a:t>
                </a:r>
              </a:p>
              <a:p>
                <a:pPr marL="457200" indent="-457200" algn="just">
                  <a:buFontTx/>
                  <a:buChar char="-"/>
                </a:pPr>
                <a:endParaRPr 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838200"/>
                <a:ext cx="8229600" cy="5287963"/>
              </a:xfrm>
              <a:blipFill rotWithShape="1">
                <a:blip r:embed="rId3"/>
                <a:stretch>
                  <a:fillRect l="-2222" t="-2307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2743200" y="5867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672637-51F3-73EA-86B3-4CF9528D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4ABDA-C9A8-1931-CE66-0CDE5348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7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68786B-4558-DA49-D6E9-339DEA96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2374E6-2AEA-D0D5-9FAA-9FA57959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7AB48E-63BB-1533-121D-B288E0F699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5715000"/>
            <a:ext cx="769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B2CDB0-FFD9-FB55-2B8A-DFF59374ECB0}"/>
              </a:ext>
            </a:extLst>
          </p:cNvPr>
          <p:cNvSpPr/>
          <p:nvPr/>
        </p:nvSpPr>
        <p:spPr>
          <a:xfrm>
            <a:off x="2209800" y="1988344"/>
            <a:ext cx="640302" cy="60245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F02C29-164D-BCA3-F855-9A6F7C7B9D28}"/>
              </a:ext>
            </a:extLst>
          </p:cNvPr>
          <p:cNvSpPr/>
          <p:nvPr/>
        </p:nvSpPr>
        <p:spPr>
          <a:xfrm>
            <a:off x="6003893" y="2102937"/>
            <a:ext cx="274100" cy="33059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+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282C8E-8959-9E65-DD6F-59A8BCEB31BB}"/>
              </a:ext>
            </a:extLst>
          </p:cNvPr>
          <p:cNvCxnSpPr>
            <a:cxnSpLocks/>
          </p:cNvCxnSpPr>
          <p:nvPr/>
        </p:nvCxnSpPr>
        <p:spPr>
          <a:xfrm>
            <a:off x="762000" y="2268235"/>
            <a:ext cx="76200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E7BC8A8-0FF4-2897-47FF-03CD88E36C81}"/>
              </a:ext>
            </a:extLst>
          </p:cNvPr>
          <p:cNvSpPr/>
          <p:nvPr/>
        </p:nvSpPr>
        <p:spPr>
          <a:xfrm>
            <a:off x="2187606" y="2625329"/>
            <a:ext cx="479394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8556F-EDE2-6037-DBAD-00AC3C0AB7B9}"/>
              </a:ext>
            </a:extLst>
          </p:cNvPr>
          <p:cNvSpPr/>
          <p:nvPr/>
        </p:nvSpPr>
        <p:spPr>
          <a:xfrm>
            <a:off x="6019800" y="2625329"/>
            <a:ext cx="457202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DE7F43-9C74-77C3-93DF-1CCAF5057923}"/>
              </a:ext>
            </a:extLst>
          </p:cNvPr>
          <p:cNvSpPr/>
          <p:nvPr/>
        </p:nvSpPr>
        <p:spPr>
          <a:xfrm>
            <a:off x="7955132" y="2327674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B0020-3FA3-1425-5F5B-B3382B2515A5}"/>
              </a:ext>
            </a:extLst>
          </p:cNvPr>
          <p:cNvSpPr/>
          <p:nvPr/>
        </p:nvSpPr>
        <p:spPr>
          <a:xfrm>
            <a:off x="571500" y="2314600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8750E7-DDB3-5E26-D682-3B8581BE20D1}"/>
              </a:ext>
            </a:extLst>
          </p:cNvPr>
          <p:cNvSpPr/>
          <p:nvPr/>
        </p:nvSpPr>
        <p:spPr>
          <a:xfrm>
            <a:off x="7467600" y="1531147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EF97BD-4F8D-5214-F917-A4B93051D2F2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4979263" y="3639392"/>
            <a:ext cx="1044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ECA05B-C6C9-EF62-D985-A1D1DAE9B170}"/>
              </a:ext>
            </a:extLst>
          </p:cNvPr>
          <p:cNvCxnSpPr>
            <a:cxnSpLocks/>
          </p:cNvCxnSpPr>
          <p:nvPr/>
        </p:nvCxnSpPr>
        <p:spPr>
          <a:xfrm>
            <a:off x="5120936" y="3639392"/>
            <a:ext cx="517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E225DE-632E-EE49-AA93-47EA836993FD}"/>
              </a:ext>
            </a:extLst>
          </p:cNvPr>
          <p:cNvCxnSpPr>
            <a:cxnSpLocks/>
          </p:cNvCxnSpPr>
          <p:nvPr/>
        </p:nvCxnSpPr>
        <p:spPr>
          <a:xfrm flipH="1" flipV="1">
            <a:off x="4001148" y="2685919"/>
            <a:ext cx="848557" cy="9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5258B2-A4BC-1E37-6FBA-37B79278BA3E}"/>
              </a:ext>
            </a:extLst>
          </p:cNvPr>
          <p:cNvCxnSpPr>
            <a:cxnSpLocks/>
          </p:cNvCxnSpPr>
          <p:nvPr/>
        </p:nvCxnSpPr>
        <p:spPr>
          <a:xfrm>
            <a:off x="4910828" y="2695033"/>
            <a:ext cx="9906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64BCF9-EFAC-C921-2303-E8A816F289D4}"/>
              </a:ext>
            </a:extLst>
          </p:cNvPr>
          <p:cNvCxnSpPr>
            <a:cxnSpLocks/>
          </p:cNvCxnSpPr>
          <p:nvPr/>
        </p:nvCxnSpPr>
        <p:spPr>
          <a:xfrm flipH="1">
            <a:off x="3912463" y="2268235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562115-D7B3-A89B-63B1-131BE7FFD5AE}"/>
              </a:ext>
            </a:extLst>
          </p:cNvPr>
          <p:cNvCxnSpPr>
            <a:cxnSpLocks/>
          </p:cNvCxnSpPr>
          <p:nvPr/>
        </p:nvCxnSpPr>
        <p:spPr>
          <a:xfrm flipV="1">
            <a:off x="5009597" y="2266909"/>
            <a:ext cx="683579" cy="1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Callout 1">
                <a:extLst>
                  <a:ext uri="{FF2B5EF4-FFF2-40B4-BE49-F238E27FC236}">
                    <a16:creationId xmlns:a16="http://schemas.microsoft.com/office/drawing/2014/main" id="{245A196D-74E5-9137-6CDA-9DC7FC8DD6DB}"/>
                  </a:ext>
                </a:extLst>
              </p:cNvPr>
              <p:cNvSpPr/>
              <p:nvPr/>
            </p:nvSpPr>
            <p:spPr>
              <a:xfrm>
                <a:off x="4748814" y="52473"/>
                <a:ext cx="4090386" cy="16002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2 </a:t>
                </a:r>
                <a:r>
                  <a:rPr lang="en-US" dirty="0" err="1"/>
                  <a:t>Vecter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, </a:t>
                </a:r>
                <a:r>
                  <a:rPr lang="en-US" dirty="0" err="1"/>
                  <a:t>ngược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,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Oval Callout 1">
                <a:extLst>
                  <a:ext uri="{FF2B5EF4-FFF2-40B4-BE49-F238E27FC236}">
                    <a16:creationId xmlns:a16="http://schemas.microsoft.com/office/drawing/2014/main" id="{245A196D-74E5-9137-6CDA-9DC7FC8DD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814" y="52473"/>
                <a:ext cx="4090386" cy="1600200"/>
              </a:xfrm>
              <a:prstGeom prst="wedgeEllipseCallou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D3C61D96-3E2A-CEB4-1947-5E7FC06E4BAB}"/>
              </a:ext>
            </a:extLst>
          </p:cNvPr>
          <p:cNvSpPr/>
          <p:nvPr/>
        </p:nvSpPr>
        <p:spPr>
          <a:xfrm>
            <a:off x="2229960" y="3338164"/>
            <a:ext cx="640302" cy="60245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+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25FE52-4EFB-EB3D-1F9B-F37379A1F0B4}"/>
              </a:ext>
            </a:extLst>
          </p:cNvPr>
          <p:cNvSpPr/>
          <p:nvPr/>
        </p:nvSpPr>
        <p:spPr>
          <a:xfrm>
            <a:off x="6023311" y="3474094"/>
            <a:ext cx="274100" cy="33059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-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023DAD-FC71-0ACE-0875-633F7FBE270F}"/>
              </a:ext>
            </a:extLst>
          </p:cNvPr>
          <p:cNvCxnSpPr>
            <a:cxnSpLocks/>
          </p:cNvCxnSpPr>
          <p:nvPr/>
        </p:nvCxnSpPr>
        <p:spPr>
          <a:xfrm>
            <a:off x="464965" y="3733800"/>
            <a:ext cx="76200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3F9BF36-5EED-A04D-936F-5FBE68EF012C}"/>
              </a:ext>
            </a:extLst>
          </p:cNvPr>
          <p:cNvSpPr/>
          <p:nvPr/>
        </p:nvSpPr>
        <p:spPr>
          <a:xfrm>
            <a:off x="4939314" y="2284230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A5C2F-5F5F-0863-00C2-B672442012DE}"/>
              </a:ext>
            </a:extLst>
          </p:cNvPr>
          <p:cNvSpPr/>
          <p:nvPr/>
        </p:nvSpPr>
        <p:spPr>
          <a:xfrm>
            <a:off x="4823720" y="3608069"/>
            <a:ext cx="381000" cy="45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487942-2A0E-CDBC-03A7-DC7ED0777EB9}"/>
              </a:ext>
            </a:extLst>
          </p:cNvPr>
          <p:cNvSpPr/>
          <p:nvPr/>
        </p:nvSpPr>
        <p:spPr>
          <a:xfrm>
            <a:off x="2628714" y="2498296"/>
            <a:ext cx="640302" cy="60245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-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3C3855-5946-67FD-6119-CF4D426687A3}"/>
              </a:ext>
            </a:extLst>
          </p:cNvPr>
          <p:cNvSpPr/>
          <p:nvPr/>
        </p:nvSpPr>
        <p:spPr>
          <a:xfrm>
            <a:off x="6189398" y="2510885"/>
            <a:ext cx="274100" cy="33059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11274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18"/>
          <p:cNvGrpSpPr>
            <a:grpSpLocks/>
          </p:cNvGrpSpPr>
          <p:nvPr/>
        </p:nvGrpSpPr>
        <p:grpSpPr bwMode="auto">
          <a:xfrm>
            <a:off x="2438400" y="0"/>
            <a:ext cx="3733800" cy="889000"/>
            <a:chOff x="1200" y="1392"/>
            <a:chExt cx="2683" cy="560"/>
          </a:xfrm>
        </p:grpSpPr>
        <p:pic>
          <p:nvPicPr>
            <p:cNvPr id="20504" name="Picture 43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2683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1676" y="1512"/>
              <a:ext cx="1733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.2.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trường</a:t>
              </a:r>
              <a:endParaRPr lang="vi-VN" sz="2400" b="1" u="sng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9459" name="Rectangle 6"/>
          <p:cNvSpPr txBox="1">
            <a:spLocks noChangeArrowheads="1"/>
          </p:cNvSpPr>
          <p:nvPr/>
        </p:nvSpPr>
        <p:spPr bwMode="auto">
          <a:xfrm>
            <a:off x="396875" y="1295400"/>
            <a:ext cx="8518525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3200" b="1" baseline="-25000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= q</a:t>
            </a:r>
            <a:r>
              <a:rPr lang="en-US" sz="3200" b="1" baseline="-25000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= q,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2a. 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a/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vectơ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CĐĐT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nằm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AB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AB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x. 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b/</a:t>
            </a:r>
            <a:r>
              <a:rPr lang="en-US" sz="3200" b="1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32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0484" name="Rectangle 8"/>
          <p:cNvSpPr txBox="1">
            <a:spLocks noChangeArrowheads="1"/>
          </p:cNvSpPr>
          <p:nvPr/>
        </p:nvSpPr>
        <p:spPr bwMode="auto">
          <a:xfrm>
            <a:off x="160338" y="762000"/>
            <a:ext cx="2182812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2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Ví dụ</a:t>
            </a:r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: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953000" y="4267200"/>
            <a:ext cx="3352800" cy="2479675"/>
            <a:chOff x="3810000" y="4191000"/>
            <a:chExt cx="3352800" cy="2479675"/>
          </a:xfrm>
        </p:grpSpPr>
        <p:sp>
          <p:nvSpPr>
            <p:cNvPr id="20486" name="Oval 4"/>
            <p:cNvSpPr>
              <a:spLocks noChangeArrowheads="1"/>
            </p:cNvSpPr>
            <p:nvPr/>
          </p:nvSpPr>
          <p:spPr bwMode="auto">
            <a:xfrm>
              <a:off x="4257675" y="6003925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87" name="Oval 5"/>
            <p:cNvSpPr>
              <a:spLocks noChangeArrowheads="1"/>
            </p:cNvSpPr>
            <p:nvPr/>
          </p:nvSpPr>
          <p:spPr bwMode="auto">
            <a:xfrm>
              <a:off x="6418263" y="6003925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88" name="Text Box 6"/>
            <p:cNvSpPr txBox="1">
              <a:spLocks noChangeArrowheads="1"/>
            </p:cNvSpPr>
            <p:nvPr/>
          </p:nvSpPr>
          <p:spPr bwMode="auto">
            <a:xfrm>
              <a:off x="4186238" y="5873750"/>
              <a:ext cx="3587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0489" name="Text Box 7"/>
            <p:cNvSpPr txBox="1">
              <a:spLocks noChangeArrowheads="1"/>
            </p:cNvSpPr>
            <p:nvPr/>
          </p:nvSpPr>
          <p:spPr bwMode="auto">
            <a:xfrm>
              <a:off x="6346825" y="5873750"/>
              <a:ext cx="3587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0490" name="Line 8"/>
            <p:cNvSpPr>
              <a:spLocks noChangeShapeType="1"/>
            </p:cNvSpPr>
            <p:nvPr/>
          </p:nvSpPr>
          <p:spPr bwMode="auto">
            <a:xfrm>
              <a:off x="4473575" y="6118225"/>
              <a:ext cx="1944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Line 9"/>
            <p:cNvSpPr>
              <a:spLocks noChangeShapeType="1"/>
            </p:cNvSpPr>
            <p:nvPr/>
          </p:nvSpPr>
          <p:spPr bwMode="auto">
            <a:xfrm flipV="1">
              <a:off x="5481638" y="4749800"/>
              <a:ext cx="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Oval 10"/>
            <p:cNvSpPr>
              <a:spLocks noChangeArrowheads="1"/>
            </p:cNvSpPr>
            <p:nvPr/>
          </p:nvSpPr>
          <p:spPr bwMode="auto">
            <a:xfrm>
              <a:off x="5438775" y="4592638"/>
              <a:ext cx="71438" cy="714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93" name="Line 11"/>
            <p:cNvSpPr>
              <a:spLocks noChangeShapeType="1"/>
            </p:cNvSpPr>
            <p:nvPr/>
          </p:nvSpPr>
          <p:spPr bwMode="auto">
            <a:xfrm flipV="1">
              <a:off x="4402138" y="4635500"/>
              <a:ext cx="107950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Line 12"/>
            <p:cNvSpPr>
              <a:spLocks noChangeShapeType="1"/>
            </p:cNvSpPr>
            <p:nvPr/>
          </p:nvSpPr>
          <p:spPr bwMode="auto">
            <a:xfrm flipH="1" flipV="1">
              <a:off x="5483225" y="4635500"/>
              <a:ext cx="107950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Text Box 18"/>
            <p:cNvSpPr txBox="1">
              <a:spLocks noChangeArrowheads="1"/>
            </p:cNvSpPr>
            <p:nvPr/>
          </p:nvSpPr>
          <p:spPr bwMode="auto">
            <a:xfrm>
              <a:off x="6418263" y="6143625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sz="2800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96" name="Text Box 19"/>
            <p:cNvSpPr txBox="1">
              <a:spLocks noChangeArrowheads="1"/>
            </p:cNvSpPr>
            <p:nvPr/>
          </p:nvSpPr>
          <p:spPr bwMode="auto">
            <a:xfrm>
              <a:off x="4041775" y="6146800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sz="2800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97" name="Text Box 20"/>
            <p:cNvSpPr txBox="1">
              <a:spLocks noChangeArrowheads="1"/>
            </p:cNvSpPr>
            <p:nvPr/>
          </p:nvSpPr>
          <p:spPr bwMode="auto">
            <a:xfrm>
              <a:off x="5554663" y="4191000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M</a:t>
              </a:r>
            </a:p>
          </p:txBody>
        </p:sp>
        <p:sp>
          <p:nvSpPr>
            <p:cNvPr id="20498" name="Text Box 21"/>
            <p:cNvSpPr txBox="1">
              <a:spLocks noChangeArrowheads="1"/>
            </p:cNvSpPr>
            <p:nvPr/>
          </p:nvSpPr>
          <p:spPr bwMode="auto">
            <a:xfrm>
              <a:off x="5438775" y="5211763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x</a:t>
              </a:r>
            </a:p>
          </p:txBody>
        </p:sp>
        <p:sp>
          <p:nvSpPr>
            <p:cNvPr id="20499" name="Text Box 28"/>
            <p:cNvSpPr txBox="1">
              <a:spLocks noChangeArrowheads="1"/>
            </p:cNvSpPr>
            <p:nvPr/>
          </p:nvSpPr>
          <p:spPr bwMode="auto">
            <a:xfrm>
              <a:off x="3810000" y="5800725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20500" name="Text Box 29"/>
            <p:cNvSpPr txBox="1">
              <a:spLocks noChangeArrowheads="1"/>
            </p:cNvSpPr>
            <p:nvPr/>
          </p:nvSpPr>
          <p:spPr bwMode="auto">
            <a:xfrm>
              <a:off x="6657975" y="5724525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0501" name="Text Box 43"/>
            <p:cNvSpPr txBox="1">
              <a:spLocks noChangeArrowheads="1"/>
            </p:cNvSpPr>
            <p:nvPr/>
          </p:nvSpPr>
          <p:spPr bwMode="auto">
            <a:xfrm>
              <a:off x="4689475" y="5667375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20502" name="Text Box 44"/>
            <p:cNvSpPr txBox="1">
              <a:spLocks noChangeArrowheads="1"/>
            </p:cNvSpPr>
            <p:nvPr/>
          </p:nvSpPr>
          <p:spPr bwMode="auto">
            <a:xfrm>
              <a:off x="5770563" y="5638800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20503" name="Text Box 46"/>
            <p:cNvSpPr txBox="1">
              <a:spLocks noChangeArrowheads="1"/>
            </p:cNvSpPr>
            <p:nvPr/>
          </p:nvSpPr>
          <p:spPr bwMode="auto">
            <a:xfrm>
              <a:off x="4616450" y="5067300"/>
              <a:ext cx="504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Times New Roman" pitchFamily="18" charset="0"/>
                  <a:cs typeface="Times New Roman" pitchFamily="18" charset="0"/>
                </a:rPr>
                <a:t>r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161E3-CDA1-DF6A-7D91-D1B2A2DD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C74C4-D467-1441-BCB7-C5330C8E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1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7" dur="1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1" dur="1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111375" y="3857625"/>
            <a:ext cx="327025" cy="596900"/>
            <a:chOff x="1472" y="1436"/>
            <a:chExt cx="263" cy="615"/>
          </a:xfrm>
        </p:grpSpPr>
        <p:sp>
          <p:nvSpPr>
            <p:cNvPr id="21561" name="Text Box 23"/>
            <p:cNvSpPr txBox="1">
              <a:spLocks noChangeArrowheads="1"/>
            </p:cNvSpPr>
            <p:nvPr/>
          </p:nvSpPr>
          <p:spPr bwMode="auto">
            <a:xfrm>
              <a:off x="1472" y="1436"/>
              <a:ext cx="26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21562" name="Arc 22"/>
            <p:cNvSpPr>
              <a:spLocks/>
            </p:cNvSpPr>
            <p:nvPr/>
          </p:nvSpPr>
          <p:spPr bwMode="auto">
            <a:xfrm rot="-2931784">
              <a:off x="1547" y="1925"/>
              <a:ext cx="103" cy="150"/>
            </a:xfrm>
            <a:custGeom>
              <a:avLst/>
              <a:gdLst>
                <a:gd name="T0" fmla="*/ 0 w 21600"/>
                <a:gd name="T1" fmla="*/ 0 h 32962"/>
                <a:gd name="T2" fmla="*/ 0 w 21600"/>
                <a:gd name="T3" fmla="*/ 0 h 32962"/>
                <a:gd name="T4" fmla="*/ 0 w 21600"/>
                <a:gd name="T5" fmla="*/ 0 h 32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2962"/>
                <a:gd name="T11" fmla="*/ 21600 w 21600"/>
                <a:gd name="T12" fmla="*/ 32962 h 32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296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613"/>
                    <a:pt x="20481" y="29548"/>
                    <a:pt x="18370" y="32962"/>
                  </a:cubicBezTo>
                </a:path>
                <a:path w="21600" h="3296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613"/>
                    <a:pt x="20481" y="29548"/>
                    <a:pt x="18370" y="3296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07" name="Oval 4"/>
          <p:cNvSpPr>
            <a:spLocks noChangeArrowheads="1"/>
          </p:cNvSpPr>
          <p:nvPr/>
        </p:nvSpPr>
        <p:spPr bwMode="auto">
          <a:xfrm>
            <a:off x="973138" y="6032500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Oval 5"/>
          <p:cNvSpPr>
            <a:spLocks noChangeArrowheads="1"/>
          </p:cNvSpPr>
          <p:nvPr/>
        </p:nvSpPr>
        <p:spPr bwMode="auto">
          <a:xfrm>
            <a:off x="3133725" y="6032500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901700" y="5902325"/>
            <a:ext cx="35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+</a:t>
            </a:r>
          </a:p>
        </p:txBody>
      </p:sp>
      <p:sp>
        <p:nvSpPr>
          <p:cNvPr id="21510" name="Text Box 7"/>
          <p:cNvSpPr txBox="1">
            <a:spLocks noChangeArrowheads="1"/>
          </p:cNvSpPr>
          <p:nvPr/>
        </p:nvSpPr>
        <p:spPr bwMode="auto">
          <a:xfrm>
            <a:off x="3062288" y="5902325"/>
            <a:ext cx="35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+</a:t>
            </a:r>
          </a:p>
        </p:txBody>
      </p:sp>
      <p:sp>
        <p:nvSpPr>
          <p:cNvPr id="21511" name="Line 8"/>
          <p:cNvSpPr>
            <a:spLocks noChangeShapeType="1"/>
          </p:cNvSpPr>
          <p:nvPr/>
        </p:nvSpPr>
        <p:spPr bwMode="auto">
          <a:xfrm>
            <a:off x="1189038" y="6146800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9"/>
          <p:cNvSpPr>
            <a:spLocks noChangeShapeType="1"/>
          </p:cNvSpPr>
          <p:nvPr/>
        </p:nvSpPr>
        <p:spPr bwMode="auto">
          <a:xfrm flipV="1">
            <a:off x="2197100" y="4778375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Oval 10"/>
          <p:cNvSpPr>
            <a:spLocks noChangeArrowheads="1"/>
          </p:cNvSpPr>
          <p:nvPr/>
        </p:nvSpPr>
        <p:spPr bwMode="auto">
          <a:xfrm>
            <a:off x="2154238" y="4621213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 flipV="1">
            <a:off x="1117600" y="4664075"/>
            <a:ext cx="10795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2"/>
          <p:cNvSpPr>
            <a:spLocks noChangeShapeType="1"/>
          </p:cNvSpPr>
          <p:nvPr/>
        </p:nvSpPr>
        <p:spPr bwMode="auto">
          <a:xfrm flipH="1" flipV="1">
            <a:off x="2198688" y="4664075"/>
            <a:ext cx="10795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1779588" y="3641725"/>
            <a:ext cx="792162" cy="503238"/>
            <a:chOff x="1256" y="1607"/>
            <a:chExt cx="499" cy="317"/>
          </a:xfrm>
        </p:grpSpPr>
        <p:sp>
          <p:nvSpPr>
            <p:cNvPr id="21559" name="Line 15"/>
            <p:cNvSpPr>
              <a:spLocks noChangeShapeType="1"/>
            </p:cNvSpPr>
            <p:nvPr/>
          </p:nvSpPr>
          <p:spPr bwMode="auto">
            <a:xfrm flipH="1" flipV="1">
              <a:off x="1505" y="1607"/>
              <a:ext cx="25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Line 16"/>
            <p:cNvSpPr>
              <a:spLocks noChangeShapeType="1"/>
            </p:cNvSpPr>
            <p:nvPr/>
          </p:nvSpPr>
          <p:spPr bwMode="auto">
            <a:xfrm flipV="1">
              <a:off x="1256" y="1607"/>
              <a:ext cx="25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17" name="Text Box 18"/>
          <p:cNvSpPr txBox="1">
            <a:spLocks noChangeArrowheads="1"/>
          </p:cNvSpPr>
          <p:nvPr/>
        </p:nvSpPr>
        <p:spPr bwMode="auto">
          <a:xfrm>
            <a:off x="3133725" y="624840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q</a:t>
            </a:r>
            <a:r>
              <a:rPr lang="en-US" sz="2400" baseline="-25000">
                <a:latin typeface="Times New Roman" pitchFamily="18" charset="0"/>
              </a:rPr>
              <a:t>2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21518" name="Text Box 19"/>
          <p:cNvSpPr txBox="1">
            <a:spLocks noChangeArrowheads="1"/>
          </p:cNvSpPr>
          <p:nvPr/>
        </p:nvSpPr>
        <p:spPr bwMode="auto">
          <a:xfrm>
            <a:off x="757238" y="61753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q</a:t>
            </a:r>
            <a:r>
              <a:rPr lang="en-US" sz="2400" baseline="-25000">
                <a:latin typeface="Times New Roman" pitchFamily="18" charset="0"/>
              </a:rPr>
              <a:t>1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21519" name="Text Box 20"/>
          <p:cNvSpPr txBox="1">
            <a:spLocks noChangeArrowheads="1"/>
          </p:cNvSpPr>
          <p:nvPr/>
        </p:nvSpPr>
        <p:spPr bwMode="auto">
          <a:xfrm>
            <a:off x="2792413" y="483711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M</a:t>
            </a:r>
          </a:p>
        </p:txBody>
      </p:sp>
      <p:sp>
        <p:nvSpPr>
          <p:cNvPr id="21520" name="Text Box 21"/>
          <p:cNvSpPr txBox="1">
            <a:spLocks noChangeArrowheads="1"/>
          </p:cNvSpPr>
          <p:nvPr/>
        </p:nvSpPr>
        <p:spPr bwMode="auto">
          <a:xfrm>
            <a:off x="2154238" y="5240338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x</a:t>
            </a:r>
          </a:p>
        </p:txBody>
      </p: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538288" y="2935288"/>
            <a:ext cx="1019175" cy="1712912"/>
            <a:chOff x="1388" y="1207"/>
            <a:chExt cx="198" cy="1044"/>
          </a:xfrm>
        </p:grpSpPr>
        <p:sp>
          <p:nvSpPr>
            <p:cNvPr id="21557" name="Line 17"/>
            <p:cNvSpPr>
              <a:spLocks noChangeShapeType="1"/>
            </p:cNvSpPr>
            <p:nvPr/>
          </p:nvSpPr>
          <p:spPr bwMode="auto">
            <a:xfrm flipV="1">
              <a:off x="1510" y="1616"/>
              <a:ext cx="0" cy="63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1558" name="Object 24"/>
            <p:cNvGraphicFramePr>
              <a:graphicFrameLocks noChangeAspect="1"/>
            </p:cNvGraphicFramePr>
            <p:nvPr/>
          </p:nvGraphicFramePr>
          <p:xfrm>
            <a:off x="1388" y="1207"/>
            <a:ext cx="198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579" imgH="266469" progId="Equation.DSMT4">
                    <p:embed/>
                  </p:oleObj>
                </mc:Choice>
                <mc:Fallback>
                  <p:oleObj name="Equation" r:id="rId2" imgW="139579" imgH="266469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1207"/>
                          <a:ext cx="198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2197100" y="3713163"/>
            <a:ext cx="788988" cy="935037"/>
            <a:chOff x="1519" y="1652"/>
            <a:chExt cx="497" cy="589"/>
          </a:xfrm>
        </p:grpSpPr>
        <p:sp>
          <p:nvSpPr>
            <p:cNvPr id="21555" name="Line 14"/>
            <p:cNvSpPr>
              <a:spLocks noChangeShapeType="1"/>
            </p:cNvSpPr>
            <p:nvPr/>
          </p:nvSpPr>
          <p:spPr bwMode="auto">
            <a:xfrm flipV="1">
              <a:off x="1519" y="1924"/>
              <a:ext cx="250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1556" name="Object 26"/>
            <p:cNvGraphicFramePr>
              <a:graphicFrameLocks noChangeAspect="1"/>
            </p:cNvGraphicFramePr>
            <p:nvPr/>
          </p:nvGraphicFramePr>
          <p:xfrm>
            <a:off x="1764" y="1652"/>
            <a:ext cx="252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646" imgH="279158" progId="Equation.DSMT4">
                    <p:embed/>
                  </p:oleObj>
                </mc:Choice>
                <mc:Fallback>
                  <p:oleObj name="Equation" r:id="rId4" imgW="177646" imgH="279158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4" y="1652"/>
                          <a:ext cx="252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1347788" y="3741738"/>
            <a:ext cx="849312" cy="922337"/>
            <a:chOff x="984" y="1670"/>
            <a:chExt cx="535" cy="581"/>
          </a:xfrm>
        </p:grpSpPr>
        <p:sp>
          <p:nvSpPr>
            <p:cNvPr id="21553" name="Line 13"/>
            <p:cNvSpPr>
              <a:spLocks noChangeShapeType="1"/>
            </p:cNvSpPr>
            <p:nvPr/>
          </p:nvSpPr>
          <p:spPr bwMode="auto">
            <a:xfrm flipH="1" flipV="1">
              <a:off x="1269" y="1934"/>
              <a:ext cx="250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1554" name="Object 27"/>
            <p:cNvGraphicFramePr>
              <a:graphicFrameLocks noChangeAspect="1"/>
            </p:cNvGraphicFramePr>
            <p:nvPr/>
          </p:nvGraphicFramePr>
          <p:xfrm>
            <a:off x="984" y="1670"/>
            <a:ext cx="28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112" imgH="279279" progId="Equation.DSMT4">
                    <p:embed/>
                  </p:oleObj>
                </mc:Choice>
                <mc:Fallback>
                  <p:oleObj name="Equation" r:id="rId6" imgW="203112" imgH="279279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4" y="1670"/>
                          <a:ext cx="288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24" name="Text Box 28"/>
          <p:cNvSpPr txBox="1">
            <a:spLocks noChangeArrowheads="1"/>
          </p:cNvSpPr>
          <p:nvPr/>
        </p:nvSpPr>
        <p:spPr bwMode="auto">
          <a:xfrm>
            <a:off x="685800" y="5672138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1525" name="Text Box 29"/>
          <p:cNvSpPr txBox="1">
            <a:spLocks noChangeArrowheads="1"/>
          </p:cNvSpPr>
          <p:nvPr/>
        </p:nvSpPr>
        <p:spPr bwMode="auto">
          <a:xfrm>
            <a:off x="3278188" y="5672138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B</a:t>
            </a:r>
          </a:p>
        </p:txBody>
      </p: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323850" y="1231900"/>
            <a:ext cx="4356100" cy="661988"/>
            <a:chOff x="385" y="115"/>
            <a:chExt cx="1917" cy="417"/>
          </a:xfrm>
        </p:grpSpPr>
        <p:graphicFrame>
          <p:nvGraphicFramePr>
            <p:cNvPr id="21551" name="Object 35"/>
            <p:cNvGraphicFramePr>
              <a:graphicFrameLocks noChangeAspect="1"/>
            </p:cNvGraphicFramePr>
            <p:nvPr/>
          </p:nvGraphicFramePr>
          <p:xfrm>
            <a:off x="1349" y="115"/>
            <a:ext cx="953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10891" imgH="279279" progId="Equation.DSMT4">
                    <p:embed/>
                  </p:oleObj>
                </mc:Choice>
                <mc:Fallback>
                  <p:oleObj name="Equation" r:id="rId8" imgW="710891" imgH="279279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9" y="115"/>
                          <a:ext cx="953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2" name="Text Box 38"/>
            <p:cNvSpPr txBox="1">
              <a:spLocks noChangeArrowheads="1"/>
            </p:cNvSpPr>
            <p:nvPr/>
          </p:nvSpPr>
          <p:spPr bwMode="auto">
            <a:xfrm>
              <a:off x="385" y="164"/>
              <a:ext cx="117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Cđđt tại M: </a:t>
              </a:r>
            </a:p>
          </p:txBody>
        </p:sp>
      </p:grpSp>
      <p:grpSp>
        <p:nvGrpSpPr>
          <p:cNvPr id="8" name="Group 48"/>
          <p:cNvGrpSpPr>
            <a:grpSpLocks/>
          </p:cNvGrpSpPr>
          <p:nvPr/>
        </p:nvGrpSpPr>
        <p:grpSpPr bwMode="auto">
          <a:xfrm>
            <a:off x="323850" y="1903413"/>
            <a:ext cx="5086350" cy="839787"/>
            <a:chOff x="385" y="436"/>
            <a:chExt cx="3204" cy="529"/>
          </a:xfrm>
        </p:grpSpPr>
        <p:graphicFrame>
          <p:nvGraphicFramePr>
            <p:cNvPr id="21549" name="Object 41"/>
            <p:cNvGraphicFramePr>
              <a:graphicFrameLocks noChangeAspect="1"/>
            </p:cNvGraphicFramePr>
            <p:nvPr/>
          </p:nvGraphicFramePr>
          <p:xfrm>
            <a:off x="1411" y="436"/>
            <a:ext cx="2178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25600" imgH="393700" progId="Equation.DSMT4">
                    <p:embed/>
                  </p:oleObj>
                </mc:Choice>
                <mc:Fallback>
                  <p:oleObj name="Equation" r:id="rId10" imgW="1625600" imgH="3937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" y="436"/>
                          <a:ext cx="2178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0" name="Text Box 42"/>
            <p:cNvSpPr txBox="1">
              <a:spLocks noChangeArrowheads="1"/>
            </p:cNvSpPr>
            <p:nvPr/>
          </p:nvSpPr>
          <p:spPr bwMode="auto">
            <a:xfrm>
              <a:off x="385" y="482"/>
              <a:ext cx="126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Dễ thấy:</a:t>
              </a:r>
            </a:p>
          </p:txBody>
        </p:sp>
      </p:grpSp>
      <p:sp>
        <p:nvSpPr>
          <p:cNvPr id="21528" name="Text Box 43"/>
          <p:cNvSpPr txBox="1">
            <a:spLocks noChangeArrowheads="1"/>
          </p:cNvSpPr>
          <p:nvPr/>
        </p:nvSpPr>
        <p:spPr bwMode="auto">
          <a:xfrm>
            <a:off x="1404938" y="57721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1529" name="Text Box 44"/>
          <p:cNvSpPr txBox="1">
            <a:spLocks noChangeArrowheads="1"/>
          </p:cNvSpPr>
          <p:nvPr/>
        </p:nvSpPr>
        <p:spPr bwMode="auto">
          <a:xfrm>
            <a:off x="2486025" y="57435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21530" name="Text Box 45"/>
          <p:cNvSpPr txBox="1">
            <a:spLocks noChangeArrowheads="1"/>
          </p:cNvSpPr>
          <p:nvPr/>
        </p:nvSpPr>
        <p:spPr bwMode="auto">
          <a:xfrm>
            <a:off x="1981200" y="61531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H</a:t>
            </a:r>
          </a:p>
        </p:txBody>
      </p:sp>
      <p:sp>
        <p:nvSpPr>
          <p:cNvPr id="21531" name="Text Box 46"/>
          <p:cNvSpPr txBox="1">
            <a:spLocks noChangeArrowheads="1"/>
          </p:cNvSpPr>
          <p:nvPr/>
        </p:nvSpPr>
        <p:spPr bwMode="auto">
          <a:xfrm>
            <a:off x="1331913" y="50958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r</a:t>
            </a:r>
          </a:p>
        </p:txBody>
      </p:sp>
      <p:graphicFrame>
        <p:nvGraphicFramePr>
          <p:cNvPr id="43" name="Object 50"/>
          <p:cNvGraphicFramePr>
            <a:graphicFrameLocks noChangeAspect="1"/>
          </p:cNvGraphicFramePr>
          <p:nvPr/>
        </p:nvGraphicFramePr>
        <p:xfrm>
          <a:off x="4467225" y="3830638"/>
          <a:ext cx="36734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27200" imgH="419100" progId="Equation.DSMT4">
                  <p:embed/>
                </p:oleObj>
              </mc:Choice>
              <mc:Fallback>
                <p:oleObj name="Equation" r:id="rId12" imgW="1727200" imgH="4191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3830638"/>
                        <a:ext cx="3673475" cy="8937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3038475" y="2619375"/>
            <a:ext cx="5910263" cy="1169988"/>
            <a:chOff x="1914" y="968"/>
            <a:chExt cx="3723" cy="737"/>
          </a:xfrm>
        </p:grpSpPr>
        <p:graphicFrame>
          <p:nvGraphicFramePr>
            <p:cNvPr id="21546" name="Object 53"/>
            <p:cNvGraphicFramePr>
              <a:graphicFrameLocks noChangeAspect="1"/>
            </p:cNvGraphicFramePr>
            <p:nvPr/>
          </p:nvGraphicFramePr>
          <p:xfrm>
            <a:off x="2472" y="968"/>
            <a:ext cx="187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579" imgH="266469" progId="Equation.DSMT4">
                    <p:embed/>
                  </p:oleObj>
                </mc:Choice>
                <mc:Fallback>
                  <p:oleObj name="Equation" r:id="rId14" imgW="139579" imgH="266469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968"/>
                          <a:ext cx="187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7" name="Text Box 54"/>
            <p:cNvSpPr txBox="1">
              <a:spLocks noChangeArrowheads="1"/>
            </p:cNvSpPr>
            <p:nvPr/>
          </p:nvSpPr>
          <p:spPr bwMode="auto">
            <a:xfrm>
              <a:off x="1914" y="1025"/>
              <a:ext cx="72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Nên:</a:t>
              </a:r>
            </a:p>
          </p:txBody>
        </p:sp>
        <p:sp>
          <p:nvSpPr>
            <p:cNvPr id="21548" name="Text Box 55"/>
            <p:cNvSpPr txBox="1">
              <a:spLocks noChangeArrowheads="1"/>
            </p:cNvSpPr>
            <p:nvPr/>
          </p:nvSpPr>
          <p:spPr bwMode="auto">
            <a:xfrm>
              <a:off x="2613" y="1026"/>
              <a:ext cx="3024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hướng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vuông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góc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với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AB </a:t>
              </a: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và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có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độ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lớn</a:t>
              </a:r>
              <a:r>
                <a:rPr lang="en-US" sz="32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:</a:t>
              </a:r>
            </a:p>
          </p:txBody>
        </p:sp>
      </p:grpSp>
      <p:grpSp>
        <p:nvGrpSpPr>
          <p:cNvPr id="10" name="Group 63"/>
          <p:cNvGrpSpPr>
            <a:grpSpLocks/>
          </p:cNvGrpSpPr>
          <p:nvPr/>
        </p:nvGrpSpPr>
        <p:grpSpPr bwMode="auto">
          <a:xfrm>
            <a:off x="4356100" y="4778375"/>
            <a:ext cx="1008063" cy="1752600"/>
            <a:chOff x="2744" y="2251"/>
            <a:chExt cx="680" cy="1270"/>
          </a:xfrm>
        </p:grpSpPr>
        <p:graphicFrame>
          <p:nvGraphicFramePr>
            <p:cNvPr id="21543" name="Object 57"/>
            <p:cNvGraphicFramePr>
              <a:graphicFrameLocks noChangeAspect="1"/>
            </p:cNvGraphicFramePr>
            <p:nvPr/>
          </p:nvGraphicFramePr>
          <p:xfrm>
            <a:off x="2931" y="3282"/>
            <a:ext cx="49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68140" imgH="177723" progId="Equation.DSMT4">
                    <p:embed/>
                  </p:oleObj>
                </mc:Choice>
                <mc:Fallback>
                  <p:oleObj name="Equation" r:id="rId16" imgW="368140" imgH="177723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1" y="3282"/>
                          <a:ext cx="493" cy="23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4" name="Text Box 59"/>
            <p:cNvSpPr txBox="1">
              <a:spLocks noChangeArrowheads="1"/>
            </p:cNvSpPr>
            <p:nvPr/>
          </p:nvSpPr>
          <p:spPr bwMode="auto">
            <a:xfrm>
              <a:off x="2744" y="2552"/>
              <a:ext cx="608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x = 0</a:t>
              </a:r>
            </a:p>
          </p:txBody>
        </p:sp>
        <p:sp>
          <p:nvSpPr>
            <p:cNvPr id="21545" name="Line 60"/>
            <p:cNvSpPr>
              <a:spLocks noChangeShapeType="1"/>
            </p:cNvSpPr>
            <p:nvPr/>
          </p:nvSpPr>
          <p:spPr bwMode="auto">
            <a:xfrm flipH="1">
              <a:off x="3061" y="2251"/>
              <a:ext cx="318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7019925" y="4700588"/>
            <a:ext cx="1873250" cy="2046287"/>
            <a:chOff x="4411" y="2251"/>
            <a:chExt cx="1191" cy="1406"/>
          </a:xfrm>
        </p:grpSpPr>
        <p:graphicFrame>
          <p:nvGraphicFramePr>
            <p:cNvPr id="21540" name="Object 58"/>
            <p:cNvGraphicFramePr>
              <a:graphicFrameLocks noChangeAspect="1"/>
            </p:cNvGraphicFramePr>
            <p:nvPr/>
          </p:nvGraphicFramePr>
          <p:xfrm>
            <a:off x="4411" y="3093"/>
            <a:ext cx="1191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89000" imgH="419100" progId="Equation.DSMT4">
                    <p:embed/>
                  </p:oleObj>
                </mc:Choice>
                <mc:Fallback>
                  <p:oleObj name="Equation" r:id="rId18" imgW="889000" imgH="4191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1" y="3093"/>
                          <a:ext cx="1191" cy="56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1" name="Line 61"/>
            <p:cNvSpPr>
              <a:spLocks noChangeShapeType="1"/>
            </p:cNvSpPr>
            <p:nvPr/>
          </p:nvSpPr>
          <p:spPr bwMode="auto">
            <a:xfrm>
              <a:off x="4422" y="2251"/>
              <a:ext cx="59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1542" name="Object 62"/>
            <p:cNvGraphicFramePr>
              <a:graphicFrameLocks noChangeAspect="1"/>
            </p:cNvGraphicFramePr>
            <p:nvPr/>
          </p:nvGraphicFramePr>
          <p:xfrm>
            <a:off x="4830" y="2412"/>
            <a:ext cx="680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08000" imgH="419100" progId="Equation.DSMT4">
                    <p:embed/>
                  </p:oleObj>
                </mc:Choice>
                <mc:Fallback>
                  <p:oleObj name="Equation" r:id="rId20" imgW="508000" imgH="41910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2412"/>
                          <a:ext cx="680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36" name="Rectangle 66"/>
          <p:cNvSpPr>
            <a:spLocks noChangeArrowheads="1"/>
          </p:cNvSpPr>
          <p:nvPr/>
        </p:nvSpPr>
        <p:spPr bwMode="auto">
          <a:xfrm>
            <a:off x="179388" y="666750"/>
            <a:ext cx="20542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pSp>
        <p:nvGrpSpPr>
          <p:cNvPr id="21537" name="Group 18"/>
          <p:cNvGrpSpPr>
            <a:grpSpLocks/>
          </p:cNvGrpSpPr>
          <p:nvPr/>
        </p:nvGrpSpPr>
        <p:grpSpPr bwMode="auto">
          <a:xfrm>
            <a:off x="2438400" y="0"/>
            <a:ext cx="3733800" cy="889000"/>
            <a:chOff x="1200" y="1392"/>
            <a:chExt cx="2683" cy="560"/>
          </a:xfrm>
        </p:grpSpPr>
        <p:pic>
          <p:nvPicPr>
            <p:cNvPr id="21538" name="Picture 43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2683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Text Box 14"/>
            <p:cNvSpPr txBox="1">
              <a:spLocks noChangeArrowheads="1"/>
            </p:cNvSpPr>
            <p:nvPr/>
          </p:nvSpPr>
          <p:spPr bwMode="auto">
            <a:xfrm>
              <a:off x="1676" y="1512"/>
              <a:ext cx="1733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.2.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Times New Roman" pitchFamily="18" charset="0"/>
                  <a:cs typeface="Times New Roman" pitchFamily="18" charset="0"/>
                </a:rPr>
                <a:t>trường</a:t>
              </a:r>
              <a:endParaRPr lang="vi-VN" sz="2400" b="1" u="sng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Callout 11"/>
              <p:cNvSpPr/>
              <p:nvPr/>
            </p:nvSpPr>
            <p:spPr>
              <a:xfrm>
                <a:off x="6172200" y="1019175"/>
                <a:ext cx="2438400" cy="1195261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Cos</a:t>
                </a:r>
                <a:r>
                  <a:rPr lang="el-GR" dirty="0"/>
                  <a:t>α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2 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Oval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019175"/>
                <a:ext cx="2438400" cy="1195261"/>
              </a:xfrm>
              <a:prstGeom prst="wedgeEllipseCallou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2AC755D-8B67-165A-EF23-BF55E453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B33F693-8BBB-4613-CAE2-59EB6330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43600" y="3229429"/>
            <a:ext cx="2514600" cy="25908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372099" y="2743200"/>
            <a:ext cx="571501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2000" dirty="0"/>
              <a:t>A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172449" y="2619829"/>
            <a:ext cx="571501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2000" dirty="0"/>
              <a:t>B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172449" y="5820229"/>
            <a:ext cx="571501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2000" dirty="0"/>
              <a:t>C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259613" y="5515429"/>
            <a:ext cx="571501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2000" dirty="0"/>
              <a:t>D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5803900" y="3124200"/>
            <a:ext cx="228600" cy="2286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/>
          <p:cNvSpPr/>
          <p:nvPr/>
        </p:nvSpPr>
        <p:spPr>
          <a:xfrm>
            <a:off x="8343900" y="5705929"/>
            <a:ext cx="228600" cy="2286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/>
          <p:cNvSpPr/>
          <p:nvPr/>
        </p:nvSpPr>
        <p:spPr>
          <a:xfrm>
            <a:off x="5831114" y="5676900"/>
            <a:ext cx="228600" cy="228600"/>
          </a:xfrm>
          <a:prstGeom prst="flowChartConnec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5736771" y="5295900"/>
            <a:ext cx="571501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2000" dirty="0"/>
              <a:t>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Callout 12"/>
              <p:cNvSpPr/>
              <p:nvPr/>
            </p:nvSpPr>
            <p:spPr>
              <a:xfrm>
                <a:off x="-398237" y="4810578"/>
                <a:ext cx="5351237" cy="1580244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𝑨𝑪</m:t>
                        </m:r>
                      </m:sub>
                    </m:sSub>
                  </m:oMath>
                </a14:m>
                <a:r>
                  <a:rPr lang="en-US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𝑫</m:t>
                        </m:r>
                      </m:sub>
                    </m:sSub>
                    <m:r>
                      <a:rPr lang="en-US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𝑨𝑪</m:t>
                        </m:r>
                      </m:sub>
                    </m:sSub>
                  </m:oMath>
                </a14:m>
                <a:r>
                  <a:rPr lang="en-US" b="1" dirty="0"/>
                  <a:t> = </a:t>
                </a:r>
                <a:r>
                  <a:rPr lang="en-US" b="1" dirty="0" err="1"/>
                  <a:t>E</a:t>
                </a:r>
                <a:r>
                  <a:rPr lang="en-US" b="1" dirty="0"/>
                  <a:t>A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b="1" dirty="0"/>
                  <a:t>, EA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𝒒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𝒂</m:t>
                        </m:r>
                        <m:r>
                          <a:rPr lang="en-US" b="1" i="1" smtClean="0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endParaRPr lang="en-US" b="1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𝑫</m:t>
                        </m:r>
                      </m:sub>
                    </m:sSub>
                    <m:r>
                      <a:rPr lang="en-US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/>
                  <a:t>=k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𝒒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𝑫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(</m:t>
                        </m:r>
                        <m:r>
                          <a:rPr lang="en-US" b="1" i="1" smtClean="0">
                            <a:latin typeface="Cambria Math"/>
                          </a:rPr>
                          <m:t>𝒂</m:t>
                        </m:r>
                        <m:rad>
                          <m:radPr>
                            <m:degHide m:val="on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</m:e>
                        </m:rad>
                        <m:r>
                          <a:rPr lang="en-US" b="1" i="1" smtClean="0">
                            <a:latin typeface="Cambria Math"/>
                          </a:rPr>
                          <m:t>)²</m:t>
                        </m:r>
                      </m:den>
                    </m:f>
                  </m:oMath>
                </a14:m>
                <a:r>
                  <a:rPr lang="en-US" b="1" dirty="0"/>
                  <a:t>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𝒒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latin typeface="Cambria Math"/>
                          </a:rPr>
                          <m:t>²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b="1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/>
                          </a:rPr>
                          <m:t>𝒒</m:t>
                        </m:r>
                      </m:e>
                      <m:sub>
                        <m:r>
                          <a:rPr lang="en-US" b="1" i="1" dirty="0" smtClean="0">
                            <a:latin typeface="Cambria Math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b="1" dirty="0"/>
                  <a:t> =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b="1" dirty="0"/>
                  <a:t>q </a:t>
                </a:r>
              </a:p>
            </p:txBody>
          </p:sp>
        </mc:Choice>
        <mc:Fallback xmlns="">
          <p:sp>
            <p:nvSpPr>
              <p:cNvPr id="13" name="Oval Callou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8237" y="4810578"/>
                <a:ext cx="5351237" cy="1580244"/>
              </a:xfrm>
              <a:prstGeom prst="wedgeEllipseCallou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4470" y="228600"/>
            <a:ext cx="8538030" cy="1905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vuông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ABCD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dương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q1 = q2 = q.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nhiêu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cường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0?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479064" y="3238500"/>
            <a:ext cx="6649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458199" y="2438400"/>
            <a:ext cx="25401" cy="8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le 1"/>
              <p:cNvSpPr txBox="1">
                <a:spLocks/>
              </p:cNvSpPr>
              <p:nvPr/>
            </p:nvSpPr>
            <p:spPr>
              <a:xfrm>
                <a:off x="7752442" y="1989365"/>
                <a:ext cx="5715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𝑪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442" y="1989365"/>
                <a:ext cx="571501" cy="6096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/>
              <p:cNvSpPr txBox="1">
                <a:spLocks/>
              </p:cNvSpPr>
              <p:nvPr/>
            </p:nvSpPr>
            <p:spPr>
              <a:xfrm>
                <a:off x="8716282" y="3352800"/>
                <a:ext cx="5715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𝑨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282" y="3352800"/>
                <a:ext cx="571501" cy="6096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8458199" y="2598965"/>
            <a:ext cx="543833" cy="6395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/>
              <p:cNvSpPr txBox="1">
                <a:spLocks/>
              </p:cNvSpPr>
              <p:nvPr/>
            </p:nvSpPr>
            <p:spPr>
              <a:xfrm>
                <a:off x="8615134" y="1879600"/>
                <a:ext cx="5715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𝑨𝑪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134" y="1879600"/>
                <a:ext cx="571501" cy="6096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 flipH="1">
            <a:off x="7924800" y="3238500"/>
            <a:ext cx="554264" cy="571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itle 1"/>
              <p:cNvSpPr txBox="1">
                <a:spLocks/>
              </p:cNvSpPr>
              <p:nvPr/>
            </p:nvSpPr>
            <p:spPr>
              <a:xfrm>
                <a:off x="7466691" y="3984171"/>
                <a:ext cx="5715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6691" y="3984171"/>
                <a:ext cx="571501" cy="6096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lowchart: Connector 33"/>
          <p:cNvSpPr/>
          <p:nvPr/>
        </p:nvSpPr>
        <p:spPr>
          <a:xfrm>
            <a:off x="5851071" y="5640615"/>
            <a:ext cx="228600" cy="22860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381000" y="2489199"/>
                <a:ext cx="4495800" cy="149497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𝑩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dirty="0"/>
                  <a:t> = 0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dirty="0"/>
                  <a:t> =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b="1" dirty="0"/>
                  <a:t> 2 </a:t>
                </a:r>
                <a:r>
                  <a:rPr lang="en-US" b="1" dirty="0" err="1"/>
                  <a:t>vecto</a:t>
                </a:r>
                <a:r>
                  <a:rPr lang="en-US" b="1" dirty="0"/>
                  <a:t> </a:t>
                </a:r>
                <a:r>
                  <a:rPr lang="en-US" b="1" dirty="0" err="1"/>
                  <a:t>ngược</a:t>
                </a:r>
                <a:r>
                  <a:rPr lang="en-US" b="1" dirty="0"/>
                  <a:t> </a:t>
                </a:r>
                <a:r>
                  <a:rPr lang="en-US" b="1" dirty="0" err="1"/>
                  <a:t>chiều</a:t>
                </a:r>
                <a:r>
                  <a:rPr lang="en-US" b="1" dirty="0"/>
                  <a:t> </a:t>
                </a:r>
                <a:r>
                  <a:rPr lang="en-US" b="1" dirty="0" err="1"/>
                  <a:t>bằng</a:t>
                </a:r>
                <a:r>
                  <a:rPr lang="en-US" b="1" dirty="0"/>
                  <a:t> </a:t>
                </a:r>
                <a:r>
                  <a:rPr lang="en-US" b="1" dirty="0" err="1"/>
                  <a:t>độ</a:t>
                </a:r>
                <a:r>
                  <a:rPr lang="en-US" b="1" dirty="0"/>
                  <a:t> </a:t>
                </a:r>
                <a:r>
                  <a:rPr lang="en-US" b="1" dirty="0" err="1"/>
                  <a:t>lớn</a:t>
                </a:r>
                <a:endParaRPr lang="en-US" b="1" dirty="0"/>
              </a:p>
              <a:p>
                <a:pPr algn="ctr"/>
                <a:r>
                  <a:rPr lang="en-US" b="1" dirty="0" err="1"/>
                  <a:t>Tại</a:t>
                </a:r>
                <a:r>
                  <a:rPr lang="en-US" b="1" dirty="0"/>
                  <a:t> D </a:t>
                </a:r>
                <a:r>
                  <a:rPr lang="en-US" b="1" dirty="0" err="1"/>
                  <a:t>đăt</a:t>
                </a:r>
                <a:r>
                  <a:rPr lang="en-US" b="1" dirty="0"/>
                  <a:t> </a:t>
                </a:r>
                <a:r>
                  <a:rPr lang="en-US" b="1" dirty="0" err="1"/>
                  <a:t>điện</a:t>
                </a:r>
                <a:r>
                  <a:rPr lang="en-US" b="1" dirty="0"/>
                  <a:t> </a:t>
                </a:r>
                <a:r>
                  <a:rPr lang="en-US" b="1" dirty="0" err="1"/>
                  <a:t>tích</a:t>
                </a:r>
                <a:r>
                  <a:rPr lang="en-US" b="1" dirty="0"/>
                  <a:t> </a:t>
                </a:r>
                <a:r>
                  <a:rPr lang="en-US" b="1" dirty="0" err="1"/>
                  <a:t>âm</a:t>
                </a:r>
                <a:endParaRPr lang="en-US" b="1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489199"/>
                <a:ext cx="4495800" cy="14949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DDE8BF-44A8-F9F4-718C-49CB68CF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4568C-A97B-FB91-4A24-48842D29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24" grpId="0"/>
      <p:bldP spid="25" grpId="0"/>
      <p:bldP spid="29" grpId="0"/>
      <p:bldP spid="33" grpId="0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685800"/>
                <a:ext cx="8229600" cy="54403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en-US" sz="2800" b="1" dirty="0"/>
              </a:p>
              <a:p>
                <a:pPr marL="0" indent="0" algn="just">
                  <a:buNone/>
                </a:pPr>
                <a:r>
                  <a:rPr lang="en-US" sz="2800" b="1" dirty="0" err="1"/>
                  <a:t>Trong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điện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trường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đều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có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cường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độ</a:t>
                </a:r>
                <a:r>
                  <a:rPr lang="en-US" sz="2800" b="1" dirty="0"/>
                  <a:t> E = 8.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28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800" b="1" dirty="0"/>
                  <a:t> V/m, </a:t>
                </a:r>
                <a:r>
                  <a:rPr lang="en-US" sz="2800" b="1" dirty="0" err="1"/>
                  <a:t>người</a:t>
                </a:r>
                <a:r>
                  <a:rPr lang="en-US" sz="2800" b="1" dirty="0"/>
                  <a:t> ta </a:t>
                </a:r>
                <a:r>
                  <a:rPr lang="en-US" sz="2800" b="1" dirty="0" err="1"/>
                  <a:t>đặt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điện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tích</a:t>
                </a:r>
                <a:r>
                  <a:rPr lang="en-US" sz="2800" b="1" dirty="0"/>
                  <a:t> q = 2.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28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US" sz="2800" b="1" dirty="0"/>
                  <a:t>C </a:t>
                </a:r>
                <a:r>
                  <a:rPr lang="en-US" sz="2800" b="1" dirty="0" err="1"/>
                  <a:t>tại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điểm</a:t>
                </a:r>
                <a:r>
                  <a:rPr lang="en-US" sz="2800" b="1" dirty="0"/>
                  <a:t> A. </a:t>
                </a:r>
                <a:r>
                  <a:rPr lang="en-US" sz="2800" b="1" dirty="0" err="1"/>
                  <a:t>Tìm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cường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độ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điện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trường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tại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điểm</a:t>
                </a:r>
                <a:r>
                  <a:rPr lang="en-US" sz="2800" b="1" dirty="0"/>
                  <a:t> B, </a:t>
                </a:r>
                <a:r>
                  <a:rPr lang="en-US" sz="2800" b="1" dirty="0" err="1"/>
                  <a:t>biết</a:t>
                </a:r>
                <a:r>
                  <a:rPr lang="en-US" sz="2800" b="1" dirty="0"/>
                  <a:t> AB = 10cm </a:t>
                </a:r>
                <a:r>
                  <a:rPr lang="en-US" sz="2800" b="1" dirty="0" err="1"/>
                  <a:t>và</a:t>
                </a:r>
                <a:r>
                  <a:rPr lang="en-US" sz="2800" b="1" dirty="0"/>
                  <a:t> AB </a:t>
                </a:r>
                <a:r>
                  <a:rPr lang="en-US" sz="2800" b="1" dirty="0" err="1"/>
                  <a:t>hợp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với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phương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của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điện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trường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đều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góc</a:t>
                </a:r>
                <a:r>
                  <a:rPr lang="en-US" sz="2800" b="1" dirty="0"/>
                  <a:t> </a:t>
                </a:r>
                <a:r>
                  <a:rPr lang="el-GR" sz="2800" b="1" dirty="0"/>
                  <a:t>α</a:t>
                </a:r>
                <a:r>
                  <a:rPr lang="en-US" sz="2800" b="1" dirty="0"/>
                  <a:t> = 60°.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685800"/>
                <a:ext cx="8229600" cy="5440363"/>
              </a:xfrm>
              <a:blipFill rotWithShape="1">
                <a:blip r:embed="rId2"/>
                <a:stretch>
                  <a:fillRect l="-1481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 flipV="1">
            <a:off x="3657600" y="4419600"/>
            <a:ext cx="12192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876800" y="3810000"/>
            <a:ext cx="6858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876800" y="4419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876800" y="3861707"/>
            <a:ext cx="1905000" cy="5560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172200" y="3886200"/>
            <a:ext cx="6096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638800" y="3831772"/>
            <a:ext cx="114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Callout 23"/>
              <p:cNvSpPr/>
              <p:nvPr/>
            </p:nvSpPr>
            <p:spPr>
              <a:xfrm>
                <a:off x="2057400" y="4999843"/>
                <a:ext cx="7315200" cy="14097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b="1" i="1" dirty="0">
                  <a:latin typeface="Cambria Math"/>
                </a:endParaRPr>
              </a:p>
              <a:p>
                <a:pPr algn="ctr"/>
                <a:endParaRPr lang="en-US" b="1" i="1" dirty="0">
                  <a:latin typeface="Cambria Math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 smtClean="0">
                            <a:latin typeface="Cambria Math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b="1" dirty="0"/>
                  <a:t>²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𝑩</m:t>
                        </m:r>
                      </m:sub>
                    </m:sSub>
                    <m:r>
                      <a:rPr lang="en-US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/>
                  <a:t>² + E²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b="1" dirty="0"/>
                  <a:t> .E.cos30°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𝒌𝒒</m:t>
                        </m:r>
                      </m:num>
                      <m:den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𝜺</m:t>
                        </m:r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𝒓</m:t>
                        </m:r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²</m:t>
                        </m:r>
                      </m:den>
                    </m:f>
                  </m:oMath>
                </a14:m>
                <a:r>
                  <a:rPr lang="en-US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𝟗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𝟗</m:t>
                            </m:r>
                          </m:sup>
                        </m:sSup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𝟏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b="1" dirty="0"/>
                  <a:t> = 18.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b="1" i="1" smtClean="0"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b="1" dirty="0"/>
                  <a:t>V/m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b="1" dirty="0"/>
                  <a:t> = ? V/m</a:t>
                </a:r>
              </a:p>
              <a:p>
                <a:pPr algn="ctr"/>
                <a:endParaRPr lang="en-US" b="1" dirty="0"/>
              </a:p>
              <a:p>
                <a:pPr algn="ctr"/>
                <a:endParaRPr lang="en-US" b="1" dirty="0"/>
              </a:p>
            </p:txBody>
          </p:sp>
        </mc:Choice>
        <mc:Fallback xmlns="">
          <p:sp>
            <p:nvSpPr>
              <p:cNvPr id="24" name="Oval Callou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999843"/>
                <a:ext cx="7315200" cy="1409700"/>
              </a:xfrm>
              <a:prstGeom prst="wedgeEllipse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4952999" y="4419600"/>
                <a:ext cx="11430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999" y="4419600"/>
                <a:ext cx="1143001" cy="6096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4991099" y="3182257"/>
                <a:ext cx="11430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𝑨𝑩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099" y="3182257"/>
                <a:ext cx="1143001" cy="6096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lowchart: Connector 1"/>
          <p:cNvSpPr/>
          <p:nvPr/>
        </p:nvSpPr>
        <p:spPr>
          <a:xfrm>
            <a:off x="3581400" y="5448300"/>
            <a:ext cx="152400" cy="2286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3147785" y="4991100"/>
            <a:ext cx="571501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2000" dirty="0"/>
              <a:t>A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4361541" y="3998686"/>
            <a:ext cx="571501" cy="6096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Font typeface="Georgia" pitchFamily="18" charset="0"/>
              <a:buNone/>
            </a:pPr>
            <a:r>
              <a:rPr lang="en-US" sz="2000" dirty="0"/>
              <a:t>B</a:t>
            </a:r>
          </a:p>
        </p:txBody>
      </p:sp>
      <p:sp>
        <p:nvSpPr>
          <p:cNvPr id="5" name="Curved Left Arrow 4"/>
          <p:cNvSpPr/>
          <p:nvPr/>
        </p:nvSpPr>
        <p:spPr>
          <a:xfrm>
            <a:off x="5114471" y="4151086"/>
            <a:ext cx="206828" cy="3048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/>
              <p:cNvSpPr txBox="1">
                <a:spLocks/>
              </p:cNvSpPr>
              <p:nvPr/>
            </p:nvSpPr>
            <p:spPr>
              <a:xfrm>
                <a:off x="4749798" y="3808186"/>
                <a:ext cx="5715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𝜶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98" y="3808186"/>
                <a:ext cx="571501" cy="6096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4976584" y="3396343"/>
            <a:ext cx="1060451" cy="9307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6781800" y="3218543"/>
                <a:ext cx="11430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𝑩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3218543"/>
                <a:ext cx="1143001" cy="6096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3733800" y="5562600"/>
            <a:ext cx="1242784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le 1"/>
              <p:cNvSpPr txBox="1">
                <a:spLocks/>
              </p:cNvSpPr>
              <p:nvPr/>
            </p:nvSpPr>
            <p:spPr>
              <a:xfrm>
                <a:off x="4438454" y="5676900"/>
                <a:ext cx="1143001" cy="609600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320040" indent="-320040" algn="r" defTabSz="914400" rtl="0" eaLnBrk="1" latinLnBrk="0" hangingPunct="1">
                  <a:spcBef>
                    <a:spcPct val="0"/>
                  </a:spcBef>
                  <a:buClr>
                    <a:schemeClr val="accent6">
                      <a:lumMod val="75000"/>
                    </a:schemeClr>
                  </a:buClr>
                  <a:buSzPct val="128000"/>
                  <a:buFont typeface="Georgia" pitchFamily="18" charset="0"/>
                  <a:buChar char="*"/>
                  <a:defRPr sz="4600" b="1" i="0" kern="1200">
                    <a:gradFill>
                      <a:gsLst>
                        <a:gs pos="0">
                          <a:schemeClr val="tx1"/>
                        </a:gs>
                        <a:gs pos="40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2">
                            <a:alpha val="65000"/>
                          </a:schemeClr>
                        </a:gs>
                      </a:gsLst>
                      <a:lin ang="5400000" scaled="0"/>
                    </a:gradFill>
                    <a:effectLst>
                      <a:reflection blurRad="6350" stA="55000" endA="300" endPos="45500" dir="5400000" sy="-100000" algn="bl" rotWithShape="0"/>
                    </a:effectLst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0" indent="0">
                  <a:buFont typeface="Georgia" pitchFamily="18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454" y="5676900"/>
                <a:ext cx="1143001" cy="6096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rved Up Arrow 17"/>
          <p:cNvSpPr/>
          <p:nvPr/>
        </p:nvSpPr>
        <p:spPr>
          <a:xfrm>
            <a:off x="5410200" y="3831772"/>
            <a:ext cx="304800" cy="27432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667000" y="3886200"/>
            <a:ext cx="25527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F1CD5-3BE9-E9AA-450E-3535DAF5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641BC87-CD0E-36AB-E5F5-971A37DA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7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1" grpId="0"/>
      <p:bldP spid="12" grpId="0"/>
      <p:bldP spid="2" grpId="0" animBg="1"/>
      <p:bldP spid="14" grpId="0"/>
      <p:bldP spid="15" grpId="0"/>
      <p:bldP spid="5" grpId="0" animBg="1"/>
      <p:bldP spid="16" grpId="0"/>
      <p:bldP spid="20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5" y="2997200"/>
            <a:ext cx="337502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27" name="Group 18"/>
          <p:cNvGrpSpPr>
            <a:grpSpLocks/>
          </p:cNvGrpSpPr>
          <p:nvPr/>
        </p:nvGrpSpPr>
        <p:grpSpPr bwMode="auto">
          <a:xfrm>
            <a:off x="685800" y="0"/>
            <a:ext cx="7620000" cy="889000"/>
            <a:chOff x="1200" y="1392"/>
            <a:chExt cx="5476" cy="560"/>
          </a:xfrm>
        </p:grpSpPr>
        <p:pic>
          <p:nvPicPr>
            <p:cNvPr id="26644" name="Picture 37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5476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807" y="1510"/>
              <a:ext cx="419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8.3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sức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thông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292" name="Rectangle 9"/>
          <p:cNvSpPr>
            <a:spLocks noChangeArrowheads="1"/>
          </p:cNvSpPr>
          <p:nvPr/>
        </p:nvSpPr>
        <p:spPr bwMode="auto">
          <a:xfrm>
            <a:off x="685800" y="2052638"/>
            <a:ext cx="81534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sz="32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tiếp tuyến với nó ở mỗi điểm trùng với phương của     tại điểm đó</a:t>
            </a:r>
            <a:endParaRPr lang="vi-VN" sz="32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3" name="Rectangle 11"/>
          <p:cNvSpPr>
            <a:spLocks noChangeArrowheads="1"/>
          </p:cNvSpPr>
          <p:nvPr/>
        </p:nvSpPr>
        <p:spPr bwMode="auto">
          <a:xfrm>
            <a:off x="685800" y="2997200"/>
            <a:ext cx="609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sz="3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chiều của đường sức là chiều của</a:t>
            </a:r>
            <a:endParaRPr lang="vi-VN" sz="3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685800" y="1062038"/>
            <a:ext cx="80772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Định nghĩa</a:t>
            </a:r>
            <a:r>
              <a:rPr lang="pt-BR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pt-BR" sz="3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Đường sức điện trường là đường vẽ trong điện trường sao cho:</a:t>
            </a:r>
            <a:endParaRPr lang="vi-VN" sz="3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vi-VN" sz="3200" b="1" u="sng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2438400"/>
            <a:ext cx="36036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/>
          <p:cNvCxnSpPr/>
          <p:nvPr/>
        </p:nvCxnSpPr>
        <p:spPr>
          <a:xfrm>
            <a:off x="76200" y="2360613"/>
            <a:ext cx="533400" cy="158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2293" idx="1"/>
          </p:cNvCxnSpPr>
          <p:nvPr/>
        </p:nvCxnSpPr>
        <p:spPr>
          <a:xfrm>
            <a:off x="79375" y="2362200"/>
            <a:ext cx="606425" cy="9271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944" y="2892879"/>
            <a:ext cx="3778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685800" y="3606800"/>
            <a:ext cx="2120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vi-VN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Tính chất: 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838200" y="4122738"/>
            <a:ext cx="6858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vi-VN" sz="3200">
                <a:latin typeface="Times New Roman" pitchFamily="18" charset="0"/>
                <a:cs typeface="Times New Roman" pitchFamily="18" charset="0"/>
              </a:rPr>
              <a:t>Qua bất kỳ một điểm nào trong điện trường cũng vẽ được một đường sức. </a:t>
            </a: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838200" y="5108575"/>
            <a:ext cx="61734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Các đường sức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32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không cắt nhau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auto">
          <a:xfrm>
            <a:off x="838200" y="5722938"/>
            <a:ext cx="825182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vi-VN" sz="3200">
                <a:latin typeface="Times New Roman" pitchFamily="18" charset="0"/>
                <a:cs typeface="Times New Roman" pitchFamily="18" charset="0"/>
              </a:rPr>
              <a:t>Đường sức của điện trường tĩnh </a:t>
            </a:r>
            <a:r>
              <a:rPr lang="vi-VN" sz="32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không khép kín</a:t>
            </a:r>
            <a:r>
              <a:rPr lang="vi-VN" sz="3200">
                <a:latin typeface="Times New Roman" pitchFamily="18" charset="0"/>
                <a:cs typeface="Times New Roman" pitchFamily="18" charset="0"/>
              </a:rPr>
              <a:t>, đi ra từ điện tích dương, đi vào điện tích âm. </a:t>
            </a:r>
          </a:p>
        </p:txBody>
      </p:sp>
      <p:sp>
        <p:nvSpPr>
          <p:cNvPr id="32" name="4-Point Star 31"/>
          <p:cNvSpPr/>
          <p:nvPr/>
        </p:nvSpPr>
        <p:spPr>
          <a:xfrm>
            <a:off x="457200" y="43434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4-Point Star 32"/>
          <p:cNvSpPr/>
          <p:nvPr/>
        </p:nvSpPr>
        <p:spPr>
          <a:xfrm>
            <a:off x="457200" y="52578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4-Point Star 33"/>
          <p:cNvSpPr/>
          <p:nvPr/>
        </p:nvSpPr>
        <p:spPr>
          <a:xfrm>
            <a:off x="457200" y="5875338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30414" y="3621088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24064" y="1034142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77D1AE-D387-C165-9D06-20C45AAE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0918E4-86E6-7EF6-6CC1-F1F17F87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12293" grpId="0"/>
      <p:bldP spid="12295" grpId="0"/>
      <p:bldP spid="27" grpId="0"/>
      <p:bldP spid="28" grpId="0"/>
      <p:bldP spid="29" grpId="0"/>
      <p:bldP spid="30" grpId="0"/>
      <p:bldP spid="32" grpId="0" animBg="1"/>
      <p:bldP spid="33" grpId="0" animBg="1"/>
      <p:bldP spid="34" grpId="0" animBg="1"/>
      <p:bldP spid="22" grpId="0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81600"/>
            <a:ext cx="8382000" cy="1143000"/>
          </a:xfrm>
        </p:spPr>
        <p:txBody>
          <a:bodyPr/>
          <a:lstStyle/>
          <a:p>
            <a:r>
              <a:rPr lang="en-US" sz="2800"/>
              <a:t>Hình ảnh đường sức của 2 quả cầu kim loại</a:t>
            </a:r>
            <a:r>
              <a:rPr lang="en-US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900" y="1097756"/>
            <a:ext cx="4445000" cy="274320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BD888-2168-45DA-E710-756C687B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D9577-7D57-65EF-5CE2-1FBBBBFF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17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18"/>
          <p:cNvGrpSpPr>
            <a:grpSpLocks/>
          </p:cNvGrpSpPr>
          <p:nvPr/>
        </p:nvGrpSpPr>
        <p:grpSpPr bwMode="auto">
          <a:xfrm>
            <a:off x="685800" y="0"/>
            <a:ext cx="7620000" cy="889000"/>
            <a:chOff x="1200" y="1392"/>
            <a:chExt cx="5476" cy="560"/>
          </a:xfrm>
        </p:grpSpPr>
        <p:pic>
          <p:nvPicPr>
            <p:cNvPr id="27662" name="Picture 37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5476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807" y="1510"/>
              <a:ext cx="419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8.3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sức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thông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3315" name="Rectangle 12"/>
          <p:cNvSpPr>
            <a:spLocks noChangeArrowheads="1"/>
          </p:cNvSpPr>
          <p:nvPr/>
        </p:nvSpPr>
        <p:spPr bwMode="auto">
          <a:xfrm>
            <a:off x="762000" y="762000"/>
            <a:ext cx="22320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3200" b="1" u="sng">
                <a:solidFill>
                  <a:srgbClr val="C00000"/>
                </a:solidFill>
                <a:latin typeface="+mj-lt"/>
              </a:rPr>
              <a:t>Qui ước vẽ:</a:t>
            </a:r>
          </a:p>
        </p:txBody>
      </p:sp>
      <p:sp>
        <p:nvSpPr>
          <p:cNvPr id="13316" name="Rectangle 13"/>
          <p:cNvSpPr>
            <a:spLocks noChangeArrowheads="1"/>
          </p:cNvSpPr>
          <p:nvPr/>
        </p:nvSpPr>
        <p:spPr bwMode="auto">
          <a:xfrm>
            <a:off x="381000" y="1473200"/>
            <a:ext cx="8382000" cy="5232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800">
                <a:latin typeface="+mj-lt"/>
                <a:cs typeface="Times New Roman" pitchFamily="18" charset="0"/>
              </a:rPr>
              <a:t>Mật độ các </a:t>
            </a:r>
            <a:r>
              <a:rPr lang="vi-VN" sz="2800">
                <a:latin typeface="+mj-lt"/>
                <a:cs typeface="Times New Roman" pitchFamily="18" charset="0"/>
              </a:rPr>
              <a:t>đường sức </a:t>
            </a:r>
            <a:r>
              <a:rPr lang="en-US" sz="2800" u="sng">
                <a:solidFill>
                  <a:srgbClr val="00B050"/>
                </a:solidFill>
                <a:latin typeface="+mj-lt"/>
                <a:cs typeface="Times New Roman" pitchFamily="18" charset="0"/>
              </a:rPr>
              <a:t>tỉ lệ với</a:t>
            </a:r>
            <a:r>
              <a:rPr lang="vi-VN" sz="2800" u="sng">
                <a:solidFill>
                  <a:srgbClr val="00B050"/>
                </a:solidFill>
                <a:latin typeface="+mj-lt"/>
                <a:cs typeface="Times New Roman" pitchFamily="18" charset="0"/>
              </a:rPr>
              <a:t> độ lớn của</a:t>
            </a:r>
            <a:endParaRPr lang="vi-VN" sz="2800">
              <a:latin typeface="+mj-lt"/>
              <a:cs typeface="Times New Roman" pitchFamily="18" charset="0"/>
            </a:endParaRPr>
          </a:p>
        </p:txBody>
      </p:sp>
      <p:sp>
        <p:nvSpPr>
          <p:cNvPr id="13317" name="Rectangle 14"/>
          <p:cNvSpPr>
            <a:spLocks noChangeArrowheads="1"/>
          </p:cNvSpPr>
          <p:nvPr/>
        </p:nvSpPr>
        <p:spPr bwMode="auto">
          <a:xfrm>
            <a:off x="838200" y="2133600"/>
            <a:ext cx="8001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800">
                <a:latin typeface="+mj-lt"/>
              </a:rPr>
              <a:t>nơi nào điện trường </a:t>
            </a:r>
            <a:r>
              <a:rPr lang="vi-VN" sz="2800">
                <a:solidFill>
                  <a:srgbClr val="FF0000"/>
                </a:solidFill>
                <a:latin typeface="+mj-lt"/>
              </a:rPr>
              <a:t>mạnh</a:t>
            </a:r>
            <a:r>
              <a:rPr lang="vi-VN" sz="2800">
                <a:latin typeface="+mj-lt"/>
              </a:rPr>
              <a:t> thì đường sức sẽ </a:t>
            </a:r>
            <a:r>
              <a:rPr lang="vi-VN" sz="2800">
                <a:solidFill>
                  <a:srgbClr val="FF0000"/>
                </a:solidFill>
                <a:latin typeface="+mj-lt"/>
              </a:rPr>
              <a:t>dày</a:t>
            </a:r>
          </a:p>
        </p:txBody>
      </p:sp>
      <p:sp>
        <p:nvSpPr>
          <p:cNvPr id="13318" name="Rectangle 15"/>
          <p:cNvSpPr>
            <a:spLocks noChangeArrowheads="1"/>
          </p:cNvSpPr>
          <p:nvPr/>
        </p:nvSpPr>
        <p:spPr bwMode="auto">
          <a:xfrm>
            <a:off x="838200" y="2743200"/>
            <a:ext cx="8001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800">
                <a:latin typeface="+mj-lt"/>
              </a:rPr>
              <a:t>nơi nào điện trường </a:t>
            </a:r>
            <a:r>
              <a:rPr lang="vi-VN" sz="2800">
                <a:solidFill>
                  <a:srgbClr val="FF0000"/>
                </a:solidFill>
                <a:latin typeface="+mj-lt"/>
              </a:rPr>
              <a:t>yếu</a:t>
            </a:r>
            <a:r>
              <a:rPr lang="vi-VN" sz="2800">
                <a:latin typeface="+mj-lt"/>
              </a:rPr>
              <a:t> thì đường sức sẽ </a:t>
            </a:r>
            <a:r>
              <a:rPr lang="vi-VN" sz="2800">
                <a:solidFill>
                  <a:srgbClr val="FF0000"/>
                </a:solidFill>
                <a:latin typeface="+mj-lt"/>
              </a:rPr>
              <a:t>thưa</a:t>
            </a:r>
          </a:p>
        </p:txBody>
      </p:sp>
      <p:sp>
        <p:nvSpPr>
          <p:cNvPr id="13319" name="Rectangle 16"/>
          <p:cNvSpPr>
            <a:spLocks noChangeArrowheads="1"/>
          </p:cNvSpPr>
          <p:nvPr/>
        </p:nvSpPr>
        <p:spPr bwMode="auto">
          <a:xfrm>
            <a:off x="838200" y="3352800"/>
            <a:ext cx="83058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800">
                <a:latin typeface="+mj-lt"/>
              </a:rPr>
              <a:t>điện trường </a:t>
            </a:r>
            <a:r>
              <a:rPr lang="vi-VN" sz="2800">
                <a:solidFill>
                  <a:srgbClr val="FF0000"/>
                </a:solidFill>
                <a:latin typeface="+mj-lt"/>
              </a:rPr>
              <a:t>đều</a:t>
            </a:r>
            <a:r>
              <a:rPr lang="vi-VN" sz="2800">
                <a:latin typeface="+mj-lt"/>
              </a:rPr>
              <a:t> thì các đường sức </a:t>
            </a:r>
            <a:r>
              <a:rPr lang="vi-VN" sz="2800">
                <a:solidFill>
                  <a:srgbClr val="FF0000"/>
                </a:solidFill>
                <a:latin typeface="+mj-lt"/>
              </a:rPr>
              <a:t>song song và cách đều nhau</a:t>
            </a:r>
            <a:r>
              <a:rPr lang="vi-VN" sz="2800">
                <a:latin typeface="+mj-lt"/>
              </a:rPr>
              <a:t>.</a:t>
            </a: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360488"/>
            <a:ext cx="3698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ight Arrow 12"/>
          <p:cNvSpPr/>
          <p:nvPr/>
        </p:nvSpPr>
        <p:spPr>
          <a:xfrm>
            <a:off x="457200" y="2260600"/>
            <a:ext cx="3048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57200" y="2960688"/>
            <a:ext cx="3048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57200" y="3646488"/>
            <a:ext cx="3048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pic>
        <p:nvPicPr>
          <p:cNvPr id="13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18000"/>
            <a:ext cx="788035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09550" y="762000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911152-6EF3-2925-4027-3DB4947D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CA109E-39F3-9262-6538-7834397A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6" grpId="0"/>
      <p:bldP spid="13317" grpId="0"/>
      <p:bldP spid="13318" grpId="0"/>
      <p:bldP spid="13319" grpId="0"/>
      <p:bldP spid="13" grpId="0" animBg="1"/>
      <p:bldP spid="14" grpId="0" animBg="1"/>
      <p:bldP spid="15" grpId="0" animBg="1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18"/>
          <p:cNvGrpSpPr>
            <a:grpSpLocks/>
          </p:cNvGrpSpPr>
          <p:nvPr/>
        </p:nvGrpSpPr>
        <p:grpSpPr bwMode="auto">
          <a:xfrm>
            <a:off x="685800" y="0"/>
            <a:ext cx="7620000" cy="889000"/>
            <a:chOff x="1200" y="1392"/>
            <a:chExt cx="5476" cy="560"/>
          </a:xfrm>
        </p:grpSpPr>
        <p:pic>
          <p:nvPicPr>
            <p:cNvPr id="28680" name="Picture 37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5476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807" y="1510"/>
              <a:ext cx="419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8.3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sức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thông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14340" name="Picture 9" descr="E:\Work\Food Industry College\Dien-Tu truong\Hinh anh\Truong tinh dien\dipolefield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763" y="1524000"/>
            <a:ext cx="4948237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35147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228600" y="990600"/>
            <a:ext cx="8591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Hình ảnh hệ đường sức điện trường (điện phổ) </a:t>
            </a:r>
            <a:r>
              <a:rPr lang="vi-VN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10" name="Picture 4" descr="E:\Work\Food Industry College\Dien-Tu truong\Hinh anh\Truong tinh dien\equipotspher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4064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E:\Work\Food Industry College\Dien-Tu truong\Hinh anh\Truong tinh dien\3DEFldIdenticCharges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810000"/>
            <a:ext cx="4953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5AEEEA-766F-7461-99D8-9BED0378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C4CDCD-01B3-31EA-3F22-C41BAD85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18"/>
          <p:cNvGrpSpPr>
            <a:grpSpLocks/>
          </p:cNvGrpSpPr>
          <p:nvPr/>
        </p:nvGrpSpPr>
        <p:grpSpPr bwMode="auto">
          <a:xfrm>
            <a:off x="685800" y="0"/>
            <a:ext cx="7620000" cy="889000"/>
            <a:chOff x="1200" y="1392"/>
            <a:chExt cx="5476" cy="560"/>
          </a:xfrm>
        </p:grpSpPr>
        <p:pic>
          <p:nvPicPr>
            <p:cNvPr id="29707" name="Picture 37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5476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807" y="1510"/>
              <a:ext cx="419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8.3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sức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thông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228600" y="914400"/>
            <a:ext cx="8591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Hình ảnh hệ đường sức điện trường (điện phổ) </a:t>
            </a:r>
            <a:r>
              <a:rPr lang="vi-VN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74" y="4724400"/>
            <a:ext cx="3171825" cy="609600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sp>
        <p:nvSpPr>
          <p:cNvPr id="14" name="Rounded Rectangle 13"/>
          <p:cNvSpPr/>
          <p:nvPr/>
        </p:nvSpPr>
        <p:spPr>
          <a:xfrm>
            <a:off x="5562600" y="2514600"/>
            <a:ext cx="2971800" cy="609600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pic>
        <p:nvPicPr>
          <p:cNvPr id="15" name="Picture 13" descr="E:\Work\Food Industry College\Dien-Tu truong\Hinh anh\Truong tinh dien\EFldChargedPlan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524000"/>
            <a:ext cx="4165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6" descr="E:\Work\Food Industry College\Dien-Tu truong\Hinh anh\Truong tinh dien\GaussCylind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276600"/>
            <a:ext cx="46482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442913" y="4795838"/>
            <a:ext cx="27574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7030A0"/>
                </a:solidFill>
                <a:latin typeface="+mj-lt"/>
              </a:rPr>
              <a:t>Mặt phẳng tích điện</a:t>
            </a:r>
            <a:endParaRPr lang="vi-VN" sz="2400" b="1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5697538" y="2597150"/>
            <a:ext cx="28368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7030A0"/>
                </a:solidFill>
                <a:latin typeface="+mj-lt"/>
              </a:rPr>
              <a:t>Ống trụ tích điện</a:t>
            </a:r>
            <a:endParaRPr lang="vi-VN" sz="2400" b="1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9" name="Action Button: Forward or Next 18">
            <a:hlinkClick r:id="rId5" action="ppaction://hlinkfile" highlightClick="1"/>
          </p:cNvPr>
          <p:cNvSpPr/>
          <p:nvPr/>
        </p:nvSpPr>
        <p:spPr>
          <a:xfrm>
            <a:off x="3886200" y="4176713"/>
            <a:ext cx="381000" cy="4572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DCC9BA-107A-5D1D-D67B-806C75A6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C73189-1084-DB1C-7ACA-A9FF8C25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 animBg="1"/>
      <p:bldP spid="17" grpId="0"/>
      <p:bldP spid="18" grpId="0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18"/>
          <p:cNvGrpSpPr>
            <a:grpSpLocks/>
          </p:cNvGrpSpPr>
          <p:nvPr/>
        </p:nvGrpSpPr>
        <p:grpSpPr bwMode="auto">
          <a:xfrm>
            <a:off x="685800" y="0"/>
            <a:ext cx="7620000" cy="889000"/>
            <a:chOff x="1200" y="1392"/>
            <a:chExt cx="5476" cy="560"/>
          </a:xfrm>
        </p:grpSpPr>
        <p:pic>
          <p:nvPicPr>
            <p:cNvPr id="30742" name="Picture 37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5476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807" y="1510"/>
              <a:ext cx="419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8.3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sức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thông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685800" y="957944"/>
            <a:ext cx="7313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Sự gián đoạn của đường sức điện trường</a:t>
            </a:r>
            <a:endParaRPr lang="vi-VN" sz="3200" b="1" u="sng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072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graphicFrame>
        <p:nvGraphicFramePr>
          <p:cNvPr id="61" name="Object 46"/>
          <p:cNvGraphicFramePr>
            <a:graphicFrameLocks noChangeAspect="1"/>
          </p:cNvGraphicFramePr>
          <p:nvPr/>
        </p:nvGraphicFramePr>
        <p:xfrm>
          <a:off x="152400" y="1733550"/>
          <a:ext cx="39846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39" imgH="203112" progId="Equation.DSMT4">
                  <p:embed/>
                </p:oleObj>
              </mc:Choice>
              <mc:Fallback>
                <p:oleObj name="Equation" r:id="rId4" imgW="139639" imgH="203112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733550"/>
                        <a:ext cx="39846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59" name="Picture 4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600200"/>
            <a:ext cx="237331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60" name="Picture 4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00" y="4648200"/>
            <a:ext cx="21463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Rectangle 14"/>
          <p:cNvSpPr>
            <a:spLocks noChangeArrowheads="1"/>
          </p:cNvSpPr>
          <p:nvPr/>
        </p:nvSpPr>
        <p:spPr bwMode="auto">
          <a:xfrm>
            <a:off x="495300" y="1785938"/>
            <a:ext cx="6210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gián đoạn tại biên giới 2 môi trường</a:t>
            </a:r>
            <a:endParaRPr lang="vi-VN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8961" name="Object 49"/>
          <p:cNvGraphicFramePr>
            <a:graphicFrameLocks noChangeAspect="1"/>
          </p:cNvGraphicFramePr>
          <p:nvPr/>
        </p:nvGraphicFramePr>
        <p:xfrm>
          <a:off x="4737100" y="2390775"/>
          <a:ext cx="4556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957" imgH="203024" progId="Equation.DSMT4">
                  <p:embed/>
                </p:oleObj>
              </mc:Choice>
              <mc:Fallback>
                <p:oleObj name="Equation" r:id="rId8" imgW="164957" imgH="203024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2390775"/>
                        <a:ext cx="4556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1371600" y="2438400"/>
            <a:ext cx="3810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vectơ cảm ứng điện</a:t>
            </a:r>
            <a:endParaRPr lang="vi-VN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Right Arrow 66"/>
          <p:cNvSpPr/>
          <p:nvPr/>
        </p:nvSpPr>
        <p:spPr>
          <a:xfrm>
            <a:off x="838200" y="2590800"/>
            <a:ext cx="381000" cy="3048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2514600" y="4343400"/>
            <a:ext cx="2497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3200">
                <a:latin typeface="Times New Roman" pitchFamily="18" charset="0"/>
                <a:cs typeface="Times New Roman" pitchFamily="18" charset="0"/>
              </a:rPr>
              <a:t>, đơn vị: C/m</a:t>
            </a:r>
            <a:r>
              <a:rPr lang="pt-BR" sz="3200" baseline="30000">
                <a:latin typeface="Times New Roman" pitchFamily="18" charset="0"/>
                <a:cs typeface="Times New Roman" pitchFamily="18" charset="0"/>
              </a:rPr>
              <a:t>2</a:t>
            </a:r>
            <a:endParaRPr lang="vi-VN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Right Arrow 71"/>
          <p:cNvSpPr/>
          <p:nvPr/>
        </p:nvSpPr>
        <p:spPr>
          <a:xfrm rot="5400000">
            <a:off x="7543800" y="4114800"/>
            <a:ext cx="3810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965" name="Rectangle 53"/>
          <p:cNvSpPr>
            <a:spLocks noChangeArrowheads="1"/>
          </p:cNvSpPr>
          <p:nvPr/>
        </p:nvSpPr>
        <p:spPr bwMode="auto">
          <a:xfrm>
            <a:off x="685800" y="5257800"/>
            <a:ext cx="5410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lang="pt-BR" sz="32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 không phụ thuộc vào môi trường nên phổ các đường cảm ứng là </a:t>
            </a:r>
            <a:r>
              <a:rPr lang="pt-BR" sz="3200" i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liên tục</a:t>
            </a:r>
            <a:r>
              <a:rPr lang="pt-BR" sz="32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152400" y="5562600"/>
            <a:ext cx="381000" cy="9144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133350" y="954088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312877" y="3162300"/>
                <a:ext cx="2403445" cy="10668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ε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  <m:r>
                          <a:rPr lang="en-US" b="0" i="1" smtClean="0">
                            <a:latin typeface="Cambria Math"/>
                          </a:rPr>
                          <m:t>²</m:t>
                        </m:r>
                      </m:den>
                    </m:f>
                    <m:r>
                      <a:rPr lang="en-US" b="0" i="0" smtClean="0">
                        <a:latin typeface="Cambria Math"/>
                      </a:rPr>
                      <m:t>.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877" y="3162300"/>
                <a:ext cx="2403445" cy="10668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8C6F5D-AF67-36F5-5940-D22AF072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6A49A4-C29A-843C-B9C2-9367588B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4" grpId="0"/>
      <p:bldP spid="66" grpId="0"/>
      <p:bldP spid="67" grpId="0" animBg="1"/>
      <p:bldP spid="71" grpId="0"/>
      <p:bldP spid="72" grpId="0" animBg="1"/>
      <p:bldP spid="38965" grpId="0"/>
      <p:bldP spid="74" grpId="0" animBg="1"/>
      <p:bldP spid="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18"/>
          <p:cNvGrpSpPr>
            <a:grpSpLocks/>
          </p:cNvGrpSpPr>
          <p:nvPr/>
        </p:nvGrpSpPr>
        <p:grpSpPr bwMode="auto">
          <a:xfrm>
            <a:off x="567520" y="0"/>
            <a:ext cx="7838470" cy="889000"/>
            <a:chOff x="1115" y="1392"/>
            <a:chExt cx="5633" cy="560"/>
          </a:xfrm>
        </p:grpSpPr>
        <p:pic>
          <p:nvPicPr>
            <p:cNvPr id="3" name="Picture 37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" y="1392"/>
              <a:ext cx="5633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807" y="1510"/>
              <a:ext cx="419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8.3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sức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thông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762000" y="762000"/>
            <a:ext cx="7932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Thông lượng của vectơ CĐĐT (điện thông)</a:t>
            </a:r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:</a:t>
            </a:r>
            <a:endParaRPr lang="vi-VN" sz="32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9" name="Rectangle 7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1750" name="Rectangle 74"/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1751" name="Rectangle 7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1752" name="Rectangle 77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1753" name="Rectangle 7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31754" name="Freeform 2"/>
          <p:cNvSpPr>
            <a:spLocks/>
          </p:cNvSpPr>
          <p:nvPr/>
        </p:nvSpPr>
        <p:spPr bwMode="auto">
          <a:xfrm>
            <a:off x="5753100" y="1749425"/>
            <a:ext cx="2722563" cy="2057400"/>
          </a:xfrm>
          <a:custGeom>
            <a:avLst/>
            <a:gdLst>
              <a:gd name="T0" fmla="*/ 2147483647 w 2220"/>
              <a:gd name="T1" fmla="*/ 0 h 1903"/>
              <a:gd name="T2" fmla="*/ 2147483647 w 2220"/>
              <a:gd name="T3" fmla="*/ 2147483647 h 1903"/>
              <a:gd name="T4" fmla="*/ 2147483647 w 2220"/>
              <a:gd name="T5" fmla="*/ 2147483647 h 1903"/>
              <a:gd name="T6" fmla="*/ 2147483647 w 2220"/>
              <a:gd name="T7" fmla="*/ 2147483647 h 1903"/>
              <a:gd name="T8" fmla="*/ 2147483647 w 2220"/>
              <a:gd name="T9" fmla="*/ 2147483647 h 1903"/>
              <a:gd name="T10" fmla="*/ 2147483647 w 2220"/>
              <a:gd name="T11" fmla="*/ 2147483647 h 1903"/>
              <a:gd name="T12" fmla="*/ 2147483647 w 2220"/>
              <a:gd name="T13" fmla="*/ 2147483647 h 1903"/>
              <a:gd name="T14" fmla="*/ 2147483647 w 2220"/>
              <a:gd name="T15" fmla="*/ 2147483647 h 1903"/>
              <a:gd name="T16" fmla="*/ 2147483647 w 2220"/>
              <a:gd name="T17" fmla="*/ 2147483647 h 1903"/>
              <a:gd name="T18" fmla="*/ 2147483647 w 2220"/>
              <a:gd name="T19" fmla="*/ 2147483647 h 1903"/>
              <a:gd name="T20" fmla="*/ 2147483647 w 2220"/>
              <a:gd name="T21" fmla="*/ 2147483647 h 1903"/>
              <a:gd name="T22" fmla="*/ 2147483647 w 2220"/>
              <a:gd name="T23" fmla="*/ 2147483647 h 1903"/>
              <a:gd name="T24" fmla="*/ 2147483647 w 2220"/>
              <a:gd name="T25" fmla="*/ 2147483647 h 1903"/>
              <a:gd name="T26" fmla="*/ 2147483647 w 2220"/>
              <a:gd name="T27" fmla="*/ 2147483647 h 1903"/>
              <a:gd name="T28" fmla="*/ 2147483647 w 2220"/>
              <a:gd name="T29" fmla="*/ 2147483647 h 1903"/>
              <a:gd name="T30" fmla="*/ 2147483647 w 2220"/>
              <a:gd name="T31" fmla="*/ 2147483647 h 1903"/>
              <a:gd name="T32" fmla="*/ 2147483647 w 2220"/>
              <a:gd name="T33" fmla="*/ 2147483647 h 1903"/>
              <a:gd name="T34" fmla="*/ 2147483647 w 2220"/>
              <a:gd name="T35" fmla="*/ 2147483647 h 1903"/>
              <a:gd name="T36" fmla="*/ 2147483647 w 2220"/>
              <a:gd name="T37" fmla="*/ 2147483647 h 1903"/>
              <a:gd name="T38" fmla="*/ 2147483647 w 2220"/>
              <a:gd name="T39" fmla="*/ 2147483647 h 1903"/>
              <a:gd name="T40" fmla="*/ 2147483647 w 2220"/>
              <a:gd name="T41" fmla="*/ 2147483647 h 1903"/>
              <a:gd name="T42" fmla="*/ 2147483647 w 2220"/>
              <a:gd name="T43" fmla="*/ 2147483647 h 1903"/>
              <a:gd name="T44" fmla="*/ 2147483647 w 2220"/>
              <a:gd name="T45" fmla="*/ 2147483647 h 1903"/>
              <a:gd name="T46" fmla="*/ 2147483647 w 2220"/>
              <a:gd name="T47" fmla="*/ 2147483647 h 1903"/>
              <a:gd name="T48" fmla="*/ 2147483647 w 2220"/>
              <a:gd name="T49" fmla="*/ 2147483647 h 1903"/>
              <a:gd name="T50" fmla="*/ 2147483647 w 2220"/>
              <a:gd name="T51" fmla="*/ 2147483647 h 1903"/>
              <a:gd name="T52" fmla="*/ 2147483647 w 2220"/>
              <a:gd name="T53" fmla="*/ 2147483647 h 1903"/>
              <a:gd name="T54" fmla="*/ 2147483647 w 2220"/>
              <a:gd name="T55" fmla="*/ 2147483647 h 1903"/>
              <a:gd name="T56" fmla="*/ 2147483647 w 2220"/>
              <a:gd name="T57" fmla="*/ 2147483647 h 1903"/>
              <a:gd name="T58" fmla="*/ 0 w 2220"/>
              <a:gd name="T59" fmla="*/ 2147483647 h 1903"/>
              <a:gd name="T60" fmla="*/ 2147483647 w 2220"/>
              <a:gd name="T61" fmla="*/ 0 h 1903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220"/>
              <a:gd name="T94" fmla="*/ 0 h 1903"/>
              <a:gd name="T95" fmla="*/ 2220 w 2220"/>
              <a:gd name="T96" fmla="*/ 1903 h 1903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220" h="1903">
                <a:moveTo>
                  <a:pt x="1651" y="0"/>
                </a:moveTo>
                <a:lnTo>
                  <a:pt x="1722" y="15"/>
                </a:lnTo>
                <a:lnTo>
                  <a:pt x="1794" y="53"/>
                </a:lnTo>
                <a:lnTo>
                  <a:pt x="1865" y="105"/>
                </a:lnTo>
                <a:lnTo>
                  <a:pt x="1944" y="172"/>
                </a:lnTo>
                <a:lnTo>
                  <a:pt x="2015" y="284"/>
                </a:lnTo>
                <a:lnTo>
                  <a:pt x="2078" y="403"/>
                </a:lnTo>
                <a:lnTo>
                  <a:pt x="2181" y="679"/>
                </a:lnTo>
                <a:lnTo>
                  <a:pt x="2212" y="829"/>
                </a:lnTo>
                <a:lnTo>
                  <a:pt x="2220" y="970"/>
                </a:lnTo>
                <a:lnTo>
                  <a:pt x="2220" y="1247"/>
                </a:lnTo>
                <a:lnTo>
                  <a:pt x="2189" y="1336"/>
                </a:lnTo>
                <a:lnTo>
                  <a:pt x="2149" y="1411"/>
                </a:lnTo>
                <a:lnTo>
                  <a:pt x="2102" y="1470"/>
                </a:lnTo>
                <a:lnTo>
                  <a:pt x="2046" y="1515"/>
                </a:lnTo>
                <a:lnTo>
                  <a:pt x="395" y="1903"/>
                </a:lnTo>
                <a:lnTo>
                  <a:pt x="451" y="1859"/>
                </a:lnTo>
                <a:lnTo>
                  <a:pt x="498" y="1799"/>
                </a:lnTo>
                <a:lnTo>
                  <a:pt x="538" y="1724"/>
                </a:lnTo>
                <a:lnTo>
                  <a:pt x="577" y="1635"/>
                </a:lnTo>
                <a:lnTo>
                  <a:pt x="577" y="1359"/>
                </a:lnTo>
                <a:lnTo>
                  <a:pt x="561" y="1217"/>
                </a:lnTo>
                <a:lnTo>
                  <a:pt x="530" y="1067"/>
                </a:lnTo>
                <a:lnTo>
                  <a:pt x="427" y="791"/>
                </a:lnTo>
                <a:lnTo>
                  <a:pt x="364" y="664"/>
                </a:lnTo>
                <a:lnTo>
                  <a:pt x="293" y="553"/>
                </a:lnTo>
                <a:lnTo>
                  <a:pt x="214" y="485"/>
                </a:lnTo>
                <a:lnTo>
                  <a:pt x="143" y="441"/>
                </a:lnTo>
                <a:lnTo>
                  <a:pt x="71" y="403"/>
                </a:lnTo>
                <a:lnTo>
                  <a:pt x="0" y="388"/>
                </a:lnTo>
                <a:lnTo>
                  <a:pt x="165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4" name="Freeform 3"/>
          <p:cNvSpPr>
            <a:spLocks/>
          </p:cNvSpPr>
          <p:nvPr/>
        </p:nvSpPr>
        <p:spPr bwMode="auto">
          <a:xfrm>
            <a:off x="5753100" y="1749425"/>
            <a:ext cx="2722563" cy="2057400"/>
          </a:xfrm>
          <a:custGeom>
            <a:avLst/>
            <a:gdLst>
              <a:gd name="T0" fmla="*/ 2147483647 w 2220"/>
              <a:gd name="T1" fmla="*/ 0 h 1903"/>
              <a:gd name="T2" fmla="*/ 2147483647 w 2220"/>
              <a:gd name="T3" fmla="*/ 2147483647 h 1903"/>
              <a:gd name="T4" fmla="*/ 2147483647 w 2220"/>
              <a:gd name="T5" fmla="*/ 2147483647 h 1903"/>
              <a:gd name="T6" fmla="*/ 2147483647 w 2220"/>
              <a:gd name="T7" fmla="*/ 2147483647 h 1903"/>
              <a:gd name="T8" fmla="*/ 2147483647 w 2220"/>
              <a:gd name="T9" fmla="*/ 2147483647 h 1903"/>
              <a:gd name="T10" fmla="*/ 2147483647 w 2220"/>
              <a:gd name="T11" fmla="*/ 2147483647 h 1903"/>
              <a:gd name="T12" fmla="*/ 2147483647 w 2220"/>
              <a:gd name="T13" fmla="*/ 2147483647 h 1903"/>
              <a:gd name="T14" fmla="*/ 2147483647 w 2220"/>
              <a:gd name="T15" fmla="*/ 2147483647 h 1903"/>
              <a:gd name="T16" fmla="*/ 2147483647 w 2220"/>
              <a:gd name="T17" fmla="*/ 2147483647 h 1903"/>
              <a:gd name="T18" fmla="*/ 2147483647 w 2220"/>
              <a:gd name="T19" fmla="*/ 2147483647 h 1903"/>
              <a:gd name="T20" fmla="*/ 2147483647 w 2220"/>
              <a:gd name="T21" fmla="*/ 2147483647 h 1903"/>
              <a:gd name="T22" fmla="*/ 2147483647 w 2220"/>
              <a:gd name="T23" fmla="*/ 2147483647 h 1903"/>
              <a:gd name="T24" fmla="*/ 2147483647 w 2220"/>
              <a:gd name="T25" fmla="*/ 2147483647 h 1903"/>
              <a:gd name="T26" fmla="*/ 2147483647 w 2220"/>
              <a:gd name="T27" fmla="*/ 2147483647 h 1903"/>
              <a:gd name="T28" fmla="*/ 2147483647 w 2220"/>
              <a:gd name="T29" fmla="*/ 2147483647 h 1903"/>
              <a:gd name="T30" fmla="*/ 2147483647 w 2220"/>
              <a:gd name="T31" fmla="*/ 2147483647 h 1903"/>
              <a:gd name="T32" fmla="*/ 2147483647 w 2220"/>
              <a:gd name="T33" fmla="*/ 2147483647 h 1903"/>
              <a:gd name="T34" fmla="*/ 2147483647 w 2220"/>
              <a:gd name="T35" fmla="*/ 2147483647 h 1903"/>
              <a:gd name="T36" fmla="*/ 2147483647 w 2220"/>
              <a:gd name="T37" fmla="*/ 2147483647 h 1903"/>
              <a:gd name="T38" fmla="*/ 2147483647 w 2220"/>
              <a:gd name="T39" fmla="*/ 2147483647 h 1903"/>
              <a:gd name="T40" fmla="*/ 2147483647 w 2220"/>
              <a:gd name="T41" fmla="*/ 2147483647 h 1903"/>
              <a:gd name="T42" fmla="*/ 2147483647 w 2220"/>
              <a:gd name="T43" fmla="*/ 2147483647 h 1903"/>
              <a:gd name="T44" fmla="*/ 2147483647 w 2220"/>
              <a:gd name="T45" fmla="*/ 2147483647 h 1903"/>
              <a:gd name="T46" fmla="*/ 2147483647 w 2220"/>
              <a:gd name="T47" fmla="*/ 2147483647 h 1903"/>
              <a:gd name="T48" fmla="*/ 2147483647 w 2220"/>
              <a:gd name="T49" fmla="*/ 2147483647 h 1903"/>
              <a:gd name="T50" fmla="*/ 2147483647 w 2220"/>
              <a:gd name="T51" fmla="*/ 2147483647 h 1903"/>
              <a:gd name="T52" fmla="*/ 2147483647 w 2220"/>
              <a:gd name="T53" fmla="*/ 2147483647 h 1903"/>
              <a:gd name="T54" fmla="*/ 2147483647 w 2220"/>
              <a:gd name="T55" fmla="*/ 2147483647 h 1903"/>
              <a:gd name="T56" fmla="*/ 2147483647 w 2220"/>
              <a:gd name="T57" fmla="*/ 2147483647 h 1903"/>
              <a:gd name="T58" fmla="*/ 0 w 2220"/>
              <a:gd name="T59" fmla="*/ 2147483647 h 1903"/>
              <a:gd name="T60" fmla="*/ 2147483647 w 2220"/>
              <a:gd name="T61" fmla="*/ 0 h 1903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220"/>
              <a:gd name="T94" fmla="*/ 0 h 1903"/>
              <a:gd name="T95" fmla="*/ 2220 w 2220"/>
              <a:gd name="T96" fmla="*/ 1903 h 1903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220" h="1903">
                <a:moveTo>
                  <a:pt x="1651" y="0"/>
                </a:moveTo>
                <a:lnTo>
                  <a:pt x="1722" y="15"/>
                </a:lnTo>
                <a:lnTo>
                  <a:pt x="1794" y="53"/>
                </a:lnTo>
                <a:lnTo>
                  <a:pt x="1865" y="105"/>
                </a:lnTo>
                <a:lnTo>
                  <a:pt x="1944" y="172"/>
                </a:lnTo>
                <a:lnTo>
                  <a:pt x="2015" y="284"/>
                </a:lnTo>
                <a:lnTo>
                  <a:pt x="2078" y="403"/>
                </a:lnTo>
                <a:lnTo>
                  <a:pt x="2181" y="679"/>
                </a:lnTo>
                <a:lnTo>
                  <a:pt x="2212" y="829"/>
                </a:lnTo>
                <a:lnTo>
                  <a:pt x="2220" y="970"/>
                </a:lnTo>
                <a:lnTo>
                  <a:pt x="2220" y="1247"/>
                </a:lnTo>
                <a:lnTo>
                  <a:pt x="2189" y="1336"/>
                </a:lnTo>
                <a:lnTo>
                  <a:pt x="2149" y="1411"/>
                </a:lnTo>
                <a:lnTo>
                  <a:pt x="2102" y="1470"/>
                </a:lnTo>
                <a:lnTo>
                  <a:pt x="2046" y="1515"/>
                </a:lnTo>
                <a:lnTo>
                  <a:pt x="395" y="1903"/>
                </a:lnTo>
                <a:lnTo>
                  <a:pt x="451" y="1859"/>
                </a:lnTo>
                <a:lnTo>
                  <a:pt x="498" y="1799"/>
                </a:lnTo>
                <a:lnTo>
                  <a:pt x="538" y="1724"/>
                </a:lnTo>
                <a:lnTo>
                  <a:pt x="577" y="1635"/>
                </a:lnTo>
                <a:lnTo>
                  <a:pt x="577" y="1359"/>
                </a:lnTo>
                <a:lnTo>
                  <a:pt x="561" y="1217"/>
                </a:lnTo>
                <a:lnTo>
                  <a:pt x="530" y="1067"/>
                </a:lnTo>
                <a:lnTo>
                  <a:pt x="427" y="791"/>
                </a:lnTo>
                <a:lnTo>
                  <a:pt x="364" y="664"/>
                </a:lnTo>
                <a:lnTo>
                  <a:pt x="293" y="553"/>
                </a:lnTo>
                <a:lnTo>
                  <a:pt x="214" y="485"/>
                </a:lnTo>
                <a:lnTo>
                  <a:pt x="143" y="441"/>
                </a:lnTo>
                <a:lnTo>
                  <a:pt x="71" y="403"/>
                </a:lnTo>
                <a:lnTo>
                  <a:pt x="0" y="388"/>
                </a:lnTo>
                <a:lnTo>
                  <a:pt x="1651" y="0"/>
                </a:lnTo>
              </a:path>
            </a:pathLst>
          </a:custGeom>
          <a:noFill/>
          <a:ln w="5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5" name="Freeform 4"/>
          <p:cNvSpPr>
            <a:spLocks/>
          </p:cNvSpPr>
          <p:nvPr/>
        </p:nvSpPr>
        <p:spPr bwMode="auto">
          <a:xfrm>
            <a:off x="5638800" y="2798763"/>
            <a:ext cx="658813" cy="517525"/>
          </a:xfrm>
          <a:custGeom>
            <a:avLst/>
            <a:gdLst>
              <a:gd name="T0" fmla="*/ 0 w 537"/>
              <a:gd name="T1" fmla="*/ 2147483647 h 478"/>
              <a:gd name="T2" fmla="*/ 2147483647 w 537"/>
              <a:gd name="T3" fmla="*/ 2147483647 h 478"/>
              <a:gd name="T4" fmla="*/ 2147483647 w 537"/>
              <a:gd name="T5" fmla="*/ 2147483647 h 478"/>
              <a:gd name="T6" fmla="*/ 2147483647 w 537"/>
              <a:gd name="T7" fmla="*/ 2147483647 h 478"/>
              <a:gd name="T8" fmla="*/ 2147483647 w 537"/>
              <a:gd name="T9" fmla="*/ 2147483647 h 478"/>
              <a:gd name="T10" fmla="*/ 2147483647 w 537"/>
              <a:gd name="T11" fmla="*/ 2147483647 h 478"/>
              <a:gd name="T12" fmla="*/ 2147483647 w 537"/>
              <a:gd name="T13" fmla="*/ 2147483647 h 478"/>
              <a:gd name="T14" fmla="*/ 2147483647 w 537"/>
              <a:gd name="T15" fmla="*/ 2147483647 h 478"/>
              <a:gd name="T16" fmla="*/ 2147483647 w 537"/>
              <a:gd name="T17" fmla="*/ 0 h 4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37"/>
              <a:gd name="T28" fmla="*/ 0 h 478"/>
              <a:gd name="T29" fmla="*/ 537 w 537"/>
              <a:gd name="T30" fmla="*/ 478 h 4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37" h="478">
                <a:moveTo>
                  <a:pt x="0" y="478"/>
                </a:moveTo>
                <a:lnTo>
                  <a:pt x="126" y="374"/>
                </a:lnTo>
                <a:lnTo>
                  <a:pt x="244" y="277"/>
                </a:lnTo>
                <a:lnTo>
                  <a:pt x="347" y="187"/>
                </a:lnTo>
                <a:lnTo>
                  <a:pt x="426" y="120"/>
                </a:lnTo>
                <a:lnTo>
                  <a:pt x="481" y="68"/>
                </a:lnTo>
                <a:lnTo>
                  <a:pt x="513" y="38"/>
                </a:lnTo>
                <a:lnTo>
                  <a:pt x="529" y="15"/>
                </a:lnTo>
                <a:lnTo>
                  <a:pt x="537" y="0"/>
                </a:lnTo>
              </a:path>
            </a:pathLst>
          </a:custGeom>
          <a:noFill/>
          <a:ln w="5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6" name="Freeform 5"/>
          <p:cNvSpPr>
            <a:spLocks noEditPoints="1"/>
          </p:cNvSpPr>
          <p:nvPr/>
        </p:nvSpPr>
        <p:spPr bwMode="auto">
          <a:xfrm rot="-522675">
            <a:off x="6627813" y="1133475"/>
            <a:ext cx="801687" cy="1357313"/>
          </a:xfrm>
          <a:custGeom>
            <a:avLst/>
            <a:gdLst>
              <a:gd name="T0" fmla="*/ 0 w 655"/>
              <a:gd name="T1" fmla="*/ 2147483647 h 1433"/>
              <a:gd name="T2" fmla="*/ 2147483647 w 655"/>
              <a:gd name="T3" fmla="*/ 2147483647 h 1433"/>
              <a:gd name="T4" fmla="*/ 2147483647 w 655"/>
              <a:gd name="T5" fmla="*/ 2147483647 h 1433"/>
              <a:gd name="T6" fmla="*/ 2147483647 w 655"/>
              <a:gd name="T7" fmla="*/ 2147483647 h 1433"/>
              <a:gd name="T8" fmla="*/ 2147483647 w 655"/>
              <a:gd name="T9" fmla="*/ 2147483647 h 1433"/>
              <a:gd name="T10" fmla="*/ 2147483647 w 655"/>
              <a:gd name="T11" fmla="*/ 2147483647 h 1433"/>
              <a:gd name="T12" fmla="*/ 2147483647 w 655"/>
              <a:gd name="T13" fmla="*/ 2147483647 h 1433"/>
              <a:gd name="T14" fmla="*/ 2147483647 w 655"/>
              <a:gd name="T15" fmla="*/ 2147483647 h 1433"/>
              <a:gd name="T16" fmla="*/ 2147483647 w 655"/>
              <a:gd name="T17" fmla="*/ 2147483647 h 1433"/>
              <a:gd name="T18" fmla="*/ 2147483647 w 655"/>
              <a:gd name="T19" fmla="*/ 2147483647 h 1433"/>
              <a:gd name="T20" fmla="*/ 2147483647 w 655"/>
              <a:gd name="T21" fmla="*/ 2147483647 h 1433"/>
              <a:gd name="T22" fmla="*/ 2147483647 w 655"/>
              <a:gd name="T23" fmla="*/ 2147483647 h 1433"/>
              <a:gd name="T24" fmla="*/ 2147483647 w 655"/>
              <a:gd name="T25" fmla="*/ 2147483647 h 1433"/>
              <a:gd name="T26" fmla="*/ 2147483647 w 655"/>
              <a:gd name="T27" fmla="*/ 2147483647 h 1433"/>
              <a:gd name="T28" fmla="*/ 2147483647 w 655"/>
              <a:gd name="T29" fmla="*/ 2147483647 h 1433"/>
              <a:gd name="T30" fmla="*/ 2147483647 w 655"/>
              <a:gd name="T31" fmla="*/ 2147483647 h 1433"/>
              <a:gd name="T32" fmla="*/ 2147483647 w 655"/>
              <a:gd name="T33" fmla="*/ 2147483647 h 1433"/>
              <a:gd name="T34" fmla="*/ 2147483647 w 655"/>
              <a:gd name="T35" fmla="*/ 2147483647 h 1433"/>
              <a:gd name="T36" fmla="*/ 2147483647 w 655"/>
              <a:gd name="T37" fmla="*/ 2147483647 h 1433"/>
              <a:gd name="T38" fmla="*/ 2147483647 w 655"/>
              <a:gd name="T39" fmla="*/ 2147483647 h 1433"/>
              <a:gd name="T40" fmla="*/ 2147483647 w 655"/>
              <a:gd name="T41" fmla="*/ 2147483647 h 1433"/>
              <a:gd name="T42" fmla="*/ 2147483647 w 655"/>
              <a:gd name="T43" fmla="*/ 0 h 1433"/>
              <a:gd name="T44" fmla="*/ 2147483647 w 655"/>
              <a:gd name="T45" fmla="*/ 2147483647 h 1433"/>
              <a:gd name="T46" fmla="*/ 2147483647 w 655"/>
              <a:gd name="T47" fmla="*/ 2147483647 h 1433"/>
              <a:gd name="T48" fmla="*/ 2147483647 w 655"/>
              <a:gd name="T49" fmla="*/ 2147483647 h 1433"/>
              <a:gd name="T50" fmla="*/ 2147483647 w 655"/>
              <a:gd name="T51" fmla="*/ 2147483647 h 1433"/>
              <a:gd name="T52" fmla="*/ 2147483647 w 655"/>
              <a:gd name="T53" fmla="*/ 2147483647 h 1433"/>
              <a:gd name="T54" fmla="*/ 2147483647 w 655"/>
              <a:gd name="T55" fmla="*/ 2147483647 h 1433"/>
              <a:gd name="T56" fmla="*/ 2147483647 w 655"/>
              <a:gd name="T57" fmla="*/ 2147483647 h 1433"/>
              <a:gd name="T58" fmla="*/ 2147483647 w 655"/>
              <a:gd name="T59" fmla="*/ 2147483647 h 1433"/>
              <a:gd name="T60" fmla="*/ 2147483647 w 655"/>
              <a:gd name="T61" fmla="*/ 2147483647 h 1433"/>
              <a:gd name="T62" fmla="*/ 2147483647 w 655"/>
              <a:gd name="T63" fmla="*/ 2147483647 h 1433"/>
              <a:gd name="T64" fmla="*/ 2147483647 w 655"/>
              <a:gd name="T65" fmla="*/ 2147483647 h 1433"/>
              <a:gd name="T66" fmla="*/ 2147483647 w 655"/>
              <a:gd name="T67" fmla="*/ 2147483647 h 1433"/>
              <a:gd name="T68" fmla="*/ 2147483647 w 655"/>
              <a:gd name="T69" fmla="*/ 2147483647 h 1433"/>
              <a:gd name="T70" fmla="*/ 2147483647 w 655"/>
              <a:gd name="T71" fmla="*/ 2147483647 h 1433"/>
              <a:gd name="T72" fmla="*/ 2147483647 w 655"/>
              <a:gd name="T73" fmla="*/ 2147483647 h 1433"/>
              <a:gd name="T74" fmla="*/ 2147483647 w 655"/>
              <a:gd name="T75" fmla="*/ 2147483647 h 1433"/>
              <a:gd name="T76" fmla="*/ 2147483647 w 655"/>
              <a:gd name="T77" fmla="*/ 2147483647 h 1433"/>
              <a:gd name="T78" fmla="*/ 2147483647 w 655"/>
              <a:gd name="T79" fmla="*/ 2147483647 h 1433"/>
              <a:gd name="T80" fmla="*/ 2147483647 w 655"/>
              <a:gd name="T81" fmla="*/ 2147483647 h 1433"/>
              <a:gd name="T82" fmla="*/ 2147483647 w 655"/>
              <a:gd name="T83" fmla="*/ 2147483647 h 1433"/>
              <a:gd name="T84" fmla="*/ 2147483647 w 655"/>
              <a:gd name="T85" fmla="*/ 2147483647 h 1433"/>
              <a:gd name="T86" fmla="*/ 0 w 655"/>
              <a:gd name="T87" fmla="*/ 2147483647 h 1433"/>
              <a:gd name="T88" fmla="*/ 0 w 655"/>
              <a:gd name="T89" fmla="*/ 2147483647 h 1433"/>
              <a:gd name="T90" fmla="*/ 0 w 655"/>
              <a:gd name="T91" fmla="*/ 2147483647 h 1433"/>
              <a:gd name="T92" fmla="*/ 2147483647 w 655"/>
              <a:gd name="T93" fmla="*/ 2147483647 h 1433"/>
              <a:gd name="T94" fmla="*/ 2147483647 w 655"/>
              <a:gd name="T95" fmla="*/ 0 h 1433"/>
              <a:gd name="T96" fmla="*/ 2147483647 w 655"/>
              <a:gd name="T97" fmla="*/ 2147483647 h 1433"/>
              <a:gd name="T98" fmla="*/ 2147483647 w 655"/>
              <a:gd name="T99" fmla="*/ 2147483647 h 1433"/>
              <a:gd name="T100" fmla="*/ 2147483647 w 655"/>
              <a:gd name="T101" fmla="*/ 2147483647 h 1433"/>
              <a:gd name="T102" fmla="*/ 2147483647 w 655"/>
              <a:gd name="T103" fmla="*/ 2147483647 h 1433"/>
              <a:gd name="T104" fmla="*/ 2147483647 w 655"/>
              <a:gd name="T105" fmla="*/ 2147483647 h 1433"/>
              <a:gd name="T106" fmla="*/ 2147483647 w 655"/>
              <a:gd name="T107" fmla="*/ 2147483647 h 1433"/>
              <a:gd name="T108" fmla="*/ 2147483647 w 655"/>
              <a:gd name="T109" fmla="*/ 2147483647 h 1433"/>
              <a:gd name="T110" fmla="*/ 2147483647 w 655"/>
              <a:gd name="T111" fmla="*/ 2147483647 h 1433"/>
              <a:gd name="T112" fmla="*/ 2147483647 w 655"/>
              <a:gd name="T113" fmla="*/ 2147483647 h 1433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655"/>
              <a:gd name="T172" fmla="*/ 0 h 1433"/>
              <a:gd name="T173" fmla="*/ 655 w 655"/>
              <a:gd name="T174" fmla="*/ 1433 h 1433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655" h="1433">
                <a:moveTo>
                  <a:pt x="0" y="1425"/>
                </a:moveTo>
                <a:lnTo>
                  <a:pt x="79" y="1351"/>
                </a:lnTo>
                <a:lnTo>
                  <a:pt x="118" y="1306"/>
                </a:lnTo>
                <a:lnTo>
                  <a:pt x="158" y="1254"/>
                </a:lnTo>
                <a:lnTo>
                  <a:pt x="197" y="1201"/>
                </a:lnTo>
                <a:lnTo>
                  <a:pt x="237" y="1142"/>
                </a:lnTo>
                <a:lnTo>
                  <a:pt x="276" y="1067"/>
                </a:lnTo>
                <a:lnTo>
                  <a:pt x="316" y="985"/>
                </a:lnTo>
                <a:lnTo>
                  <a:pt x="339" y="940"/>
                </a:lnTo>
                <a:lnTo>
                  <a:pt x="363" y="880"/>
                </a:lnTo>
                <a:lnTo>
                  <a:pt x="379" y="821"/>
                </a:lnTo>
                <a:lnTo>
                  <a:pt x="403" y="754"/>
                </a:lnTo>
                <a:lnTo>
                  <a:pt x="450" y="612"/>
                </a:lnTo>
                <a:lnTo>
                  <a:pt x="497" y="462"/>
                </a:lnTo>
                <a:lnTo>
                  <a:pt x="545" y="313"/>
                </a:lnTo>
                <a:lnTo>
                  <a:pt x="561" y="246"/>
                </a:lnTo>
                <a:lnTo>
                  <a:pt x="576" y="186"/>
                </a:lnTo>
                <a:lnTo>
                  <a:pt x="600" y="127"/>
                </a:lnTo>
                <a:lnTo>
                  <a:pt x="616" y="74"/>
                </a:lnTo>
                <a:lnTo>
                  <a:pt x="624" y="30"/>
                </a:lnTo>
                <a:lnTo>
                  <a:pt x="632" y="7"/>
                </a:lnTo>
                <a:lnTo>
                  <a:pt x="640" y="0"/>
                </a:lnTo>
                <a:lnTo>
                  <a:pt x="647" y="7"/>
                </a:lnTo>
                <a:lnTo>
                  <a:pt x="640" y="30"/>
                </a:lnTo>
                <a:lnTo>
                  <a:pt x="624" y="74"/>
                </a:lnTo>
                <a:lnTo>
                  <a:pt x="608" y="127"/>
                </a:lnTo>
                <a:lnTo>
                  <a:pt x="592" y="186"/>
                </a:lnTo>
                <a:lnTo>
                  <a:pt x="568" y="254"/>
                </a:lnTo>
                <a:lnTo>
                  <a:pt x="553" y="321"/>
                </a:lnTo>
                <a:lnTo>
                  <a:pt x="505" y="462"/>
                </a:lnTo>
                <a:lnTo>
                  <a:pt x="466" y="612"/>
                </a:lnTo>
                <a:lnTo>
                  <a:pt x="418" y="754"/>
                </a:lnTo>
                <a:lnTo>
                  <a:pt x="395" y="821"/>
                </a:lnTo>
                <a:lnTo>
                  <a:pt x="371" y="888"/>
                </a:lnTo>
                <a:lnTo>
                  <a:pt x="347" y="940"/>
                </a:lnTo>
                <a:lnTo>
                  <a:pt x="331" y="992"/>
                </a:lnTo>
                <a:lnTo>
                  <a:pt x="292" y="1074"/>
                </a:lnTo>
                <a:lnTo>
                  <a:pt x="245" y="1149"/>
                </a:lnTo>
                <a:lnTo>
                  <a:pt x="205" y="1209"/>
                </a:lnTo>
                <a:lnTo>
                  <a:pt x="166" y="1261"/>
                </a:lnTo>
                <a:lnTo>
                  <a:pt x="126" y="1313"/>
                </a:lnTo>
                <a:lnTo>
                  <a:pt x="87" y="1358"/>
                </a:lnTo>
                <a:lnTo>
                  <a:pt x="8" y="1433"/>
                </a:lnTo>
                <a:lnTo>
                  <a:pt x="0" y="1433"/>
                </a:lnTo>
                <a:lnTo>
                  <a:pt x="0" y="1425"/>
                </a:lnTo>
                <a:close/>
                <a:moveTo>
                  <a:pt x="600" y="37"/>
                </a:moveTo>
                <a:lnTo>
                  <a:pt x="640" y="0"/>
                </a:lnTo>
                <a:lnTo>
                  <a:pt x="655" y="52"/>
                </a:lnTo>
                <a:lnTo>
                  <a:pt x="655" y="59"/>
                </a:lnTo>
                <a:lnTo>
                  <a:pt x="647" y="59"/>
                </a:lnTo>
                <a:lnTo>
                  <a:pt x="632" y="7"/>
                </a:lnTo>
                <a:lnTo>
                  <a:pt x="640" y="15"/>
                </a:lnTo>
                <a:lnTo>
                  <a:pt x="608" y="45"/>
                </a:lnTo>
                <a:lnTo>
                  <a:pt x="592" y="45"/>
                </a:lnTo>
                <a:lnTo>
                  <a:pt x="600" y="37"/>
                </a:lnTo>
                <a:close/>
              </a:path>
            </a:pathLst>
          </a:custGeom>
          <a:solidFill>
            <a:srgbClr val="000000"/>
          </a:solidFill>
          <a:ln w="508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77" name="Freeform 6"/>
          <p:cNvSpPr>
            <a:spLocks/>
          </p:cNvSpPr>
          <p:nvPr/>
        </p:nvSpPr>
        <p:spPr bwMode="auto">
          <a:xfrm>
            <a:off x="5773738" y="3187700"/>
            <a:ext cx="647700" cy="517525"/>
          </a:xfrm>
          <a:custGeom>
            <a:avLst/>
            <a:gdLst>
              <a:gd name="T0" fmla="*/ 0 w 529"/>
              <a:gd name="T1" fmla="*/ 2147483647 h 477"/>
              <a:gd name="T2" fmla="*/ 2147483647 w 529"/>
              <a:gd name="T3" fmla="*/ 2147483647 h 477"/>
              <a:gd name="T4" fmla="*/ 2147483647 w 529"/>
              <a:gd name="T5" fmla="*/ 2147483647 h 477"/>
              <a:gd name="T6" fmla="*/ 2147483647 w 529"/>
              <a:gd name="T7" fmla="*/ 2147483647 h 477"/>
              <a:gd name="T8" fmla="*/ 2147483647 w 529"/>
              <a:gd name="T9" fmla="*/ 2147483647 h 477"/>
              <a:gd name="T10" fmla="*/ 2147483647 w 529"/>
              <a:gd name="T11" fmla="*/ 2147483647 h 477"/>
              <a:gd name="T12" fmla="*/ 2147483647 w 529"/>
              <a:gd name="T13" fmla="*/ 2147483647 h 477"/>
              <a:gd name="T14" fmla="*/ 2147483647 w 529"/>
              <a:gd name="T15" fmla="*/ 2147483647 h 477"/>
              <a:gd name="T16" fmla="*/ 2147483647 w 529"/>
              <a:gd name="T17" fmla="*/ 0 h 47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29"/>
              <a:gd name="T28" fmla="*/ 0 h 477"/>
              <a:gd name="T29" fmla="*/ 529 w 529"/>
              <a:gd name="T30" fmla="*/ 477 h 47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29" h="477">
                <a:moveTo>
                  <a:pt x="0" y="477"/>
                </a:moveTo>
                <a:lnTo>
                  <a:pt x="127" y="373"/>
                </a:lnTo>
                <a:lnTo>
                  <a:pt x="245" y="276"/>
                </a:lnTo>
                <a:lnTo>
                  <a:pt x="348" y="186"/>
                </a:lnTo>
                <a:lnTo>
                  <a:pt x="427" y="119"/>
                </a:lnTo>
                <a:lnTo>
                  <a:pt x="482" y="67"/>
                </a:lnTo>
                <a:lnTo>
                  <a:pt x="514" y="37"/>
                </a:lnTo>
                <a:lnTo>
                  <a:pt x="522" y="15"/>
                </a:lnTo>
                <a:lnTo>
                  <a:pt x="529" y="0"/>
                </a:lnTo>
              </a:path>
            </a:pathLst>
          </a:custGeom>
          <a:noFill/>
          <a:ln w="5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9" name="Freeform 8"/>
          <p:cNvSpPr>
            <a:spLocks noEditPoints="1"/>
          </p:cNvSpPr>
          <p:nvPr/>
        </p:nvSpPr>
        <p:spPr bwMode="auto">
          <a:xfrm>
            <a:off x="7467600" y="1633538"/>
            <a:ext cx="1057275" cy="1422400"/>
          </a:xfrm>
          <a:custGeom>
            <a:avLst/>
            <a:gdLst>
              <a:gd name="T0" fmla="*/ 0 w 861"/>
              <a:gd name="T1" fmla="*/ 2147483647 h 1313"/>
              <a:gd name="T2" fmla="*/ 2147483647 w 861"/>
              <a:gd name="T3" fmla="*/ 2147483647 h 1313"/>
              <a:gd name="T4" fmla="*/ 2147483647 w 861"/>
              <a:gd name="T5" fmla="*/ 2147483647 h 1313"/>
              <a:gd name="T6" fmla="*/ 2147483647 w 861"/>
              <a:gd name="T7" fmla="*/ 2147483647 h 1313"/>
              <a:gd name="T8" fmla="*/ 2147483647 w 861"/>
              <a:gd name="T9" fmla="*/ 2147483647 h 1313"/>
              <a:gd name="T10" fmla="*/ 2147483647 w 861"/>
              <a:gd name="T11" fmla="*/ 2147483647 h 1313"/>
              <a:gd name="T12" fmla="*/ 2147483647 w 861"/>
              <a:gd name="T13" fmla="*/ 2147483647 h 1313"/>
              <a:gd name="T14" fmla="*/ 2147483647 w 861"/>
              <a:gd name="T15" fmla="*/ 2147483647 h 1313"/>
              <a:gd name="T16" fmla="*/ 2147483647 w 861"/>
              <a:gd name="T17" fmla="*/ 2147483647 h 1313"/>
              <a:gd name="T18" fmla="*/ 2147483647 w 861"/>
              <a:gd name="T19" fmla="*/ 2147483647 h 1313"/>
              <a:gd name="T20" fmla="*/ 2147483647 w 861"/>
              <a:gd name="T21" fmla="*/ 2147483647 h 1313"/>
              <a:gd name="T22" fmla="*/ 2147483647 w 861"/>
              <a:gd name="T23" fmla="*/ 2147483647 h 1313"/>
              <a:gd name="T24" fmla="*/ 2147483647 w 861"/>
              <a:gd name="T25" fmla="*/ 2147483647 h 1313"/>
              <a:gd name="T26" fmla="*/ 2147483647 w 861"/>
              <a:gd name="T27" fmla="*/ 2147483647 h 1313"/>
              <a:gd name="T28" fmla="*/ 2147483647 w 861"/>
              <a:gd name="T29" fmla="*/ 2147483647 h 1313"/>
              <a:gd name="T30" fmla="*/ 2147483647 w 861"/>
              <a:gd name="T31" fmla="*/ 2147483647 h 1313"/>
              <a:gd name="T32" fmla="*/ 2147483647 w 861"/>
              <a:gd name="T33" fmla="*/ 2147483647 h 1313"/>
              <a:gd name="T34" fmla="*/ 2147483647 w 861"/>
              <a:gd name="T35" fmla="*/ 2147483647 h 1313"/>
              <a:gd name="T36" fmla="*/ 2147483647 w 861"/>
              <a:gd name="T37" fmla="*/ 2147483647 h 1313"/>
              <a:gd name="T38" fmla="*/ 2147483647 w 861"/>
              <a:gd name="T39" fmla="*/ 2147483647 h 1313"/>
              <a:gd name="T40" fmla="*/ 2147483647 w 861"/>
              <a:gd name="T41" fmla="*/ 2147483647 h 1313"/>
              <a:gd name="T42" fmla="*/ 2147483647 w 861"/>
              <a:gd name="T43" fmla="*/ 0 h 1313"/>
              <a:gd name="T44" fmla="*/ 2147483647 w 861"/>
              <a:gd name="T45" fmla="*/ 2147483647 h 1313"/>
              <a:gd name="T46" fmla="*/ 2147483647 w 861"/>
              <a:gd name="T47" fmla="*/ 2147483647 h 1313"/>
              <a:gd name="T48" fmla="*/ 2147483647 w 861"/>
              <a:gd name="T49" fmla="*/ 2147483647 h 1313"/>
              <a:gd name="T50" fmla="*/ 2147483647 w 861"/>
              <a:gd name="T51" fmla="*/ 2147483647 h 1313"/>
              <a:gd name="T52" fmla="*/ 2147483647 w 861"/>
              <a:gd name="T53" fmla="*/ 2147483647 h 1313"/>
              <a:gd name="T54" fmla="*/ 2147483647 w 861"/>
              <a:gd name="T55" fmla="*/ 2147483647 h 1313"/>
              <a:gd name="T56" fmla="*/ 2147483647 w 861"/>
              <a:gd name="T57" fmla="*/ 2147483647 h 1313"/>
              <a:gd name="T58" fmla="*/ 2147483647 w 861"/>
              <a:gd name="T59" fmla="*/ 2147483647 h 1313"/>
              <a:gd name="T60" fmla="*/ 2147483647 w 861"/>
              <a:gd name="T61" fmla="*/ 2147483647 h 1313"/>
              <a:gd name="T62" fmla="*/ 2147483647 w 861"/>
              <a:gd name="T63" fmla="*/ 2147483647 h 1313"/>
              <a:gd name="T64" fmla="*/ 2147483647 w 861"/>
              <a:gd name="T65" fmla="*/ 2147483647 h 1313"/>
              <a:gd name="T66" fmla="*/ 2147483647 w 861"/>
              <a:gd name="T67" fmla="*/ 2147483647 h 1313"/>
              <a:gd name="T68" fmla="*/ 2147483647 w 861"/>
              <a:gd name="T69" fmla="*/ 2147483647 h 1313"/>
              <a:gd name="T70" fmla="*/ 2147483647 w 861"/>
              <a:gd name="T71" fmla="*/ 2147483647 h 1313"/>
              <a:gd name="T72" fmla="*/ 2147483647 w 861"/>
              <a:gd name="T73" fmla="*/ 2147483647 h 1313"/>
              <a:gd name="T74" fmla="*/ 2147483647 w 861"/>
              <a:gd name="T75" fmla="*/ 2147483647 h 1313"/>
              <a:gd name="T76" fmla="*/ 2147483647 w 861"/>
              <a:gd name="T77" fmla="*/ 2147483647 h 1313"/>
              <a:gd name="T78" fmla="*/ 2147483647 w 861"/>
              <a:gd name="T79" fmla="*/ 2147483647 h 1313"/>
              <a:gd name="T80" fmla="*/ 2147483647 w 861"/>
              <a:gd name="T81" fmla="*/ 2147483647 h 1313"/>
              <a:gd name="T82" fmla="*/ 2147483647 w 861"/>
              <a:gd name="T83" fmla="*/ 2147483647 h 1313"/>
              <a:gd name="T84" fmla="*/ 2147483647 w 861"/>
              <a:gd name="T85" fmla="*/ 2147483647 h 1313"/>
              <a:gd name="T86" fmla="*/ 0 w 861"/>
              <a:gd name="T87" fmla="*/ 2147483647 h 1313"/>
              <a:gd name="T88" fmla="*/ 0 w 861"/>
              <a:gd name="T89" fmla="*/ 2147483647 h 1313"/>
              <a:gd name="T90" fmla="*/ 0 w 861"/>
              <a:gd name="T91" fmla="*/ 2147483647 h 1313"/>
              <a:gd name="T92" fmla="*/ 2147483647 w 861"/>
              <a:gd name="T93" fmla="*/ 2147483647 h 1313"/>
              <a:gd name="T94" fmla="*/ 2147483647 w 861"/>
              <a:gd name="T95" fmla="*/ 0 h 1313"/>
              <a:gd name="T96" fmla="*/ 2147483647 w 861"/>
              <a:gd name="T97" fmla="*/ 2147483647 h 1313"/>
              <a:gd name="T98" fmla="*/ 2147483647 w 861"/>
              <a:gd name="T99" fmla="*/ 2147483647 h 1313"/>
              <a:gd name="T100" fmla="*/ 2147483647 w 861"/>
              <a:gd name="T101" fmla="*/ 2147483647 h 1313"/>
              <a:gd name="T102" fmla="*/ 2147483647 w 861"/>
              <a:gd name="T103" fmla="*/ 2147483647 h 1313"/>
              <a:gd name="T104" fmla="*/ 2147483647 w 861"/>
              <a:gd name="T105" fmla="*/ 2147483647 h 1313"/>
              <a:gd name="T106" fmla="*/ 2147483647 w 861"/>
              <a:gd name="T107" fmla="*/ 2147483647 h 1313"/>
              <a:gd name="T108" fmla="*/ 2147483647 w 861"/>
              <a:gd name="T109" fmla="*/ 2147483647 h 1313"/>
              <a:gd name="T110" fmla="*/ 2147483647 w 861"/>
              <a:gd name="T111" fmla="*/ 2147483647 h 1313"/>
              <a:gd name="T112" fmla="*/ 2147483647 w 861"/>
              <a:gd name="T113" fmla="*/ 2147483647 h 1313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861"/>
              <a:gd name="T172" fmla="*/ 0 h 1313"/>
              <a:gd name="T173" fmla="*/ 861 w 861"/>
              <a:gd name="T174" fmla="*/ 1313 h 1313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861" h="1313">
                <a:moveTo>
                  <a:pt x="0" y="1306"/>
                </a:moveTo>
                <a:lnTo>
                  <a:pt x="110" y="1239"/>
                </a:lnTo>
                <a:lnTo>
                  <a:pt x="158" y="1194"/>
                </a:lnTo>
                <a:lnTo>
                  <a:pt x="213" y="1149"/>
                </a:lnTo>
                <a:lnTo>
                  <a:pt x="268" y="1104"/>
                </a:lnTo>
                <a:lnTo>
                  <a:pt x="316" y="1045"/>
                </a:lnTo>
                <a:lnTo>
                  <a:pt x="371" y="977"/>
                </a:lnTo>
                <a:lnTo>
                  <a:pt x="426" y="903"/>
                </a:lnTo>
                <a:lnTo>
                  <a:pt x="450" y="858"/>
                </a:lnTo>
                <a:lnTo>
                  <a:pt x="481" y="806"/>
                </a:lnTo>
                <a:lnTo>
                  <a:pt x="513" y="754"/>
                </a:lnTo>
                <a:lnTo>
                  <a:pt x="545" y="686"/>
                </a:lnTo>
                <a:lnTo>
                  <a:pt x="600" y="560"/>
                </a:lnTo>
                <a:lnTo>
                  <a:pt x="663" y="425"/>
                </a:lnTo>
                <a:lnTo>
                  <a:pt x="726" y="291"/>
                </a:lnTo>
                <a:lnTo>
                  <a:pt x="750" y="224"/>
                </a:lnTo>
                <a:lnTo>
                  <a:pt x="774" y="171"/>
                </a:lnTo>
                <a:lnTo>
                  <a:pt x="797" y="112"/>
                </a:lnTo>
                <a:lnTo>
                  <a:pt x="821" y="67"/>
                </a:lnTo>
                <a:lnTo>
                  <a:pt x="837" y="22"/>
                </a:lnTo>
                <a:lnTo>
                  <a:pt x="845" y="7"/>
                </a:lnTo>
                <a:lnTo>
                  <a:pt x="853" y="0"/>
                </a:lnTo>
                <a:lnTo>
                  <a:pt x="853" y="7"/>
                </a:lnTo>
                <a:lnTo>
                  <a:pt x="845" y="30"/>
                </a:lnTo>
                <a:lnTo>
                  <a:pt x="829" y="67"/>
                </a:lnTo>
                <a:lnTo>
                  <a:pt x="805" y="119"/>
                </a:lnTo>
                <a:lnTo>
                  <a:pt x="790" y="171"/>
                </a:lnTo>
                <a:lnTo>
                  <a:pt x="758" y="231"/>
                </a:lnTo>
                <a:lnTo>
                  <a:pt x="734" y="298"/>
                </a:lnTo>
                <a:lnTo>
                  <a:pt x="679" y="425"/>
                </a:lnTo>
                <a:lnTo>
                  <a:pt x="616" y="567"/>
                </a:lnTo>
                <a:lnTo>
                  <a:pt x="553" y="694"/>
                </a:lnTo>
                <a:lnTo>
                  <a:pt x="521" y="754"/>
                </a:lnTo>
                <a:lnTo>
                  <a:pt x="489" y="813"/>
                </a:lnTo>
                <a:lnTo>
                  <a:pt x="466" y="865"/>
                </a:lnTo>
                <a:lnTo>
                  <a:pt x="434" y="910"/>
                </a:lnTo>
                <a:lnTo>
                  <a:pt x="379" y="985"/>
                </a:lnTo>
                <a:lnTo>
                  <a:pt x="331" y="1052"/>
                </a:lnTo>
                <a:lnTo>
                  <a:pt x="276" y="1112"/>
                </a:lnTo>
                <a:lnTo>
                  <a:pt x="221" y="1164"/>
                </a:lnTo>
                <a:lnTo>
                  <a:pt x="165" y="1201"/>
                </a:lnTo>
                <a:lnTo>
                  <a:pt x="110" y="1246"/>
                </a:lnTo>
                <a:lnTo>
                  <a:pt x="7" y="1313"/>
                </a:lnTo>
                <a:lnTo>
                  <a:pt x="0" y="1313"/>
                </a:lnTo>
                <a:lnTo>
                  <a:pt x="0" y="1306"/>
                </a:lnTo>
                <a:close/>
                <a:moveTo>
                  <a:pt x="805" y="37"/>
                </a:moveTo>
                <a:lnTo>
                  <a:pt x="853" y="0"/>
                </a:lnTo>
                <a:lnTo>
                  <a:pt x="861" y="60"/>
                </a:lnTo>
                <a:lnTo>
                  <a:pt x="861" y="67"/>
                </a:lnTo>
                <a:lnTo>
                  <a:pt x="853" y="60"/>
                </a:lnTo>
                <a:lnTo>
                  <a:pt x="845" y="7"/>
                </a:lnTo>
                <a:lnTo>
                  <a:pt x="853" y="15"/>
                </a:lnTo>
                <a:lnTo>
                  <a:pt x="813" y="45"/>
                </a:lnTo>
                <a:lnTo>
                  <a:pt x="805" y="45"/>
                </a:lnTo>
                <a:lnTo>
                  <a:pt x="805" y="37"/>
                </a:lnTo>
                <a:close/>
              </a:path>
            </a:pathLst>
          </a:custGeom>
          <a:solidFill>
            <a:srgbClr val="000000"/>
          </a:solidFill>
          <a:ln w="508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80" name="Freeform 9"/>
          <p:cNvSpPr>
            <a:spLocks/>
          </p:cNvSpPr>
          <p:nvPr/>
        </p:nvSpPr>
        <p:spPr bwMode="auto">
          <a:xfrm>
            <a:off x="5773738" y="3573463"/>
            <a:ext cx="647700" cy="388937"/>
          </a:xfrm>
          <a:custGeom>
            <a:avLst/>
            <a:gdLst>
              <a:gd name="T0" fmla="*/ 0 w 529"/>
              <a:gd name="T1" fmla="*/ 2147483647 h 358"/>
              <a:gd name="T2" fmla="*/ 2147483647 w 529"/>
              <a:gd name="T3" fmla="*/ 2147483647 h 358"/>
              <a:gd name="T4" fmla="*/ 2147483647 w 529"/>
              <a:gd name="T5" fmla="*/ 2147483647 h 358"/>
              <a:gd name="T6" fmla="*/ 2147483647 w 529"/>
              <a:gd name="T7" fmla="*/ 2147483647 h 358"/>
              <a:gd name="T8" fmla="*/ 2147483647 w 529"/>
              <a:gd name="T9" fmla="*/ 2147483647 h 358"/>
              <a:gd name="T10" fmla="*/ 2147483647 w 529"/>
              <a:gd name="T11" fmla="*/ 2147483647 h 358"/>
              <a:gd name="T12" fmla="*/ 2147483647 w 529"/>
              <a:gd name="T13" fmla="*/ 2147483647 h 358"/>
              <a:gd name="T14" fmla="*/ 2147483647 w 529"/>
              <a:gd name="T15" fmla="*/ 2147483647 h 358"/>
              <a:gd name="T16" fmla="*/ 2147483647 w 529"/>
              <a:gd name="T17" fmla="*/ 0 h 35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29"/>
              <a:gd name="T28" fmla="*/ 0 h 358"/>
              <a:gd name="T29" fmla="*/ 529 w 529"/>
              <a:gd name="T30" fmla="*/ 358 h 35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29" h="358">
                <a:moveTo>
                  <a:pt x="0" y="358"/>
                </a:moveTo>
                <a:lnTo>
                  <a:pt x="127" y="283"/>
                </a:lnTo>
                <a:lnTo>
                  <a:pt x="245" y="209"/>
                </a:lnTo>
                <a:lnTo>
                  <a:pt x="348" y="142"/>
                </a:lnTo>
                <a:lnTo>
                  <a:pt x="427" y="89"/>
                </a:lnTo>
                <a:lnTo>
                  <a:pt x="482" y="52"/>
                </a:lnTo>
                <a:lnTo>
                  <a:pt x="514" y="30"/>
                </a:lnTo>
                <a:lnTo>
                  <a:pt x="522" y="7"/>
                </a:lnTo>
                <a:lnTo>
                  <a:pt x="529" y="0"/>
                </a:lnTo>
              </a:path>
            </a:pathLst>
          </a:custGeom>
          <a:noFill/>
          <a:ln w="5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1" name="Freeform 13"/>
          <p:cNvSpPr>
            <a:spLocks/>
          </p:cNvSpPr>
          <p:nvPr/>
        </p:nvSpPr>
        <p:spPr bwMode="auto">
          <a:xfrm>
            <a:off x="6919913" y="2646363"/>
            <a:ext cx="371475" cy="196850"/>
          </a:xfrm>
          <a:custGeom>
            <a:avLst/>
            <a:gdLst>
              <a:gd name="T0" fmla="*/ 2147483647 w 205"/>
              <a:gd name="T1" fmla="*/ 0 h 120"/>
              <a:gd name="T2" fmla="*/ 0 w 205"/>
              <a:gd name="T3" fmla="*/ 2147483647 h 120"/>
              <a:gd name="T4" fmla="*/ 2147483647 w 205"/>
              <a:gd name="T5" fmla="*/ 2147483647 h 120"/>
              <a:gd name="T6" fmla="*/ 2147483647 w 205"/>
              <a:gd name="T7" fmla="*/ 2147483647 h 120"/>
              <a:gd name="T8" fmla="*/ 2147483647 w 205"/>
              <a:gd name="T9" fmla="*/ 2147483647 h 120"/>
              <a:gd name="T10" fmla="*/ 2147483647 w 205"/>
              <a:gd name="T11" fmla="*/ 0 h 1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5"/>
              <a:gd name="T19" fmla="*/ 0 h 120"/>
              <a:gd name="T20" fmla="*/ 205 w 205"/>
              <a:gd name="T21" fmla="*/ 120 h 1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5" h="120">
                <a:moveTo>
                  <a:pt x="103" y="0"/>
                </a:moveTo>
                <a:lnTo>
                  <a:pt x="0" y="45"/>
                </a:lnTo>
                <a:lnTo>
                  <a:pt x="39" y="120"/>
                </a:lnTo>
                <a:lnTo>
                  <a:pt x="166" y="120"/>
                </a:lnTo>
                <a:lnTo>
                  <a:pt x="205" y="45"/>
                </a:lnTo>
                <a:lnTo>
                  <a:pt x="103" y="0"/>
                </a:lnTo>
                <a:close/>
              </a:path>
            </a:pathLst>
          </a:custGeom>
          <a:solidFill>
            <a:srgbClr val="FFFFFF"/>
          </a:solidFill>
          <a:ln w="508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82" name="Freeform 14"/>
          <p:cNvSpPr>
            <a:spLocks noEditPoints="1"/>
          </p:cNvSpPr>
          <p:nvPr/>
        </p:nvSpPr>
        <p:spPr bwMode="auto">
          <a:xfrm>
            <a:off x="7081838" y="2333625"/>
            <a:ext cx="920750" cy="395288"/>
          </a:xfrm>
          <a:custGeom>
            <a:avLst/>
            <a:gdLst>
              <a:gd name="T0" fmla="*/ 2147483647 w 750"/>
              <a:gd name="T1" fmla="*/ 2147483647 h 365"/>
              <a:gd name="T2" fmla="*/ 2147483647 w 750"/>
              <a:gd name="T3" fmla="*/ 2147483647 h 365"/>
              <a:gd name="T4" fmla="*/ 2147483647 w 750"/>
              <a:gd name="T5" fmla="*/ 2147483647 h 365"/>
              <a:gd name="T6" fmla="*/ 2147483647 w 750"/>
              <a:gd name="T7" fmla="*/ 2147483647 h 365"/>
              <a:gd name="T8" fmla="*/ 2147483647 w 750"/>
              <a:gd name="T9" fmla="*/ 2147483647 h 365"/>
              <a:gd name="T10" fmla="*/ 0 w 750"/>
              <a:gd name="T11" fmla="*/ 2147483647 h 365"/>
              <a:gd name="T12" fmla="*/ 2147483647 w 750"/>
              <a:gd name="T13" fmla="*/ 2147483647 h 365"/>
              <a:gd name="T14" fmla="*/ 2147483647 w 750"/>
              <a:gd name="T15" fmla="*/ 2147483647 h 365"/>
              <a:gd name="T16" fmla="*/ 2147483647 w 750"/>
              <a:gd name="T17" fmla="*/ 0 h 365"/>
              <a:gd name="T18" fmla="*/ 2147483647 w 750"/>
              <a:gd name="T19" fmla="*/ 2147483647 h 365"/>
              <a:gd name="T20" fmla="*/ 2147483647 w 750"/>
              <a:gd name="T21" fmla="*/ 2147483647 h 365"/>
              <a:gd name="T22" fmla="*/ 2147483647 w 750"/>
              <a:gd name="T23" fmla="*/ 2147483647 h 365"/>
              <a:gd name="T24" fmla="*/ 2147483647 w 750"/>
              <a:gd name="T25" fmla="*/ 2147483647 h 365"/>
              <a:gd name="T26" fmla="*/ 2147483647 w 750"/>
              <a:gd name="T27" fmla="*/ 2147483647 h 365"/>
              <a:gd name="T28" fmla="*/ 2147483647 w 750"/>
              <a:gd name="T29" fmla="*/ 2147483647 h 365"/>
              <a:gd name="T30" fmla="*/ 2147483647 w 750"/>
              <a:gd name="T31" fmla="*/ 2147483647 h 365"/>
              <a:gd name="T32" fmla="*/ 2147483647 w 750"/>
              <a:gd name="T33" fmla="*/ 2147483647 h 365"/>
              <a:gd name="T34" fmla="*/ 2147483647 w 750"/>
              <a:gd name="T35" fmla="*/ 0 h 365"/>
              <a:gd name="T36" fmla="*/ 2147483647 w 750"/>
              <a:gd name="T37" fmla="*/ 0 h 36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750"/>
              <a:gd name="T58" fmla="*/ 0 h 365"/>
              <a:gd name="T59" fmla="*/ 750 w 750"/>
              <a:gd name="T60" fmla="*/ 365 h 36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750" h="365">
                <a:moveTo>
                  <a:pt x="8" y="358"/>
                </a:moveTo>
                <a:lnTo>
                  <a:pt x="734" y="7"/>
                </a:lnTo>
                <a:lnTo>
                  <a:pt x="742" y="7"/>
                </a:lnTo>
                <a:lnTo>
                  <a:pt x="742" y="15"/>
                </a:lnTo>
                <a:lnTo>
                  <a:pt x="8" y="365"/>
                </a:lnTo>
                <a:lnTo>
                  <a:pt x="0" y="365"/>
                </a:lnTo>
                <a:lnTo>
                  <a:pt x="8" y="358"/>
                </a:lnTo>
                <a:close/>
                <a:moveTo>
                  <a:pt x="687" y="0"/>
                </a:moveTo>
                <a:lnTo>
                  <a:pt x="750" y="7"/>
                </a:lnTo>
                <a:lnTo>
                  <a:pt x="719" y="59"/>
                </a:lnTo>
                <a:lnTo>
                  <a:pt x="711" y="59"/>
                </a:lnTo>
                <a:lnTo>
                  <a:pt x="703" y="52"/>
                </a:lnTo>
                <a:lnTo>
                  <a:pt x="734" y="7"/>
                </a:lnTo>
                <a:lnTo>
                  <a:pt x="742" y="15"/>
                </a:lnTo>
                <a:lnTo>
                  <a:pt x="687" y="15"/>
                </a:lnTo>
                <a:lnTo>
                  <a:pt x="679" y="7"/>
                </a:lnTo>
                <a:lnTo>
                  <a:pt x="687" y="0"/>
                </a:lnTo>
                <a:close/>
              </a:path>
            </a:pathLst>
          </a:custGeom>
          <a:solidFill>
            <a:srgbClr val="000000"/>
          </a:solidFill>
          <a:ln w="508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83" name="Freeform 15"/>
          <p:cNvSpPr>
            <a:spLocks noEditPoints="1"/>
          </p:cNvSpPr>
          <p:nvPr/>
        </p:nvSpPr>
        <p:spPr bwMode="auto">
          <a:xfrm>
            <a:off x="7096125" y="1963738"/>
            <a:ext cx="793750" cy="774700"/>
          </a:xfrm>
          <a:custGeom>
            <a:avLst/>
            <a:gdLst>
              <a:gd name="T0" fmla="*/ 0 w 647"/>
              <a:gd name="T1" fmla="*/ 2147483647 h 716"/>
              <a:gd name="T2" fmla="*/ 2147483647 w 647"/>
              <a:gd name="T3" fmla="*/ 0 h 716"/>
              <a:gd name="T4" fmla="*/ 2147483647 w 647"/>
              <a:gd name="T5" fmla="*/ 0 h 716"/>
              <a:gd name="T6" fmla="*/ 2147483647 w 647"/>
              <a:gd name="T7" fmla="*/ 2147483647 h 716"/>
              <a:gd name="T8" fmla="*/ 2147483647 w 647"/>
              <a:gd name="T9" fmla="*/ 2147483647 h 716"/>
              <a:gd name="T10" fmla="*/ 0 w 647"/>
              <a:gd name="T11" fmla="*/ 2147483647 h 716"/>
              <a:gd name="T12" fmla="*/ 0 w 647"/>
              <a:gd name="T13" fmla="*/ 2147483647 h 716"/>
              <a:gd name="T14" fmla="*/ 0 w 647"/>
              <a:gd name="T15" fmla="*/ 2147483647 h 716"/>
              <a:gd name="T16" fmla="*/ 2147483647 w 647"/>
              <a:gd name="T17" fmla="*/ 2147483647 h 716"/>
              <a:gd name="T18" fmla="*/ 2147483647 w 647"/>
              <a:gd name="T19" fmla="*/ 0 h 716"/>
              <a:gd name="T20" fmla="*/ 2147483647 w 647"/>
              <a:gd name="T21" fmla="*/ 2147483647 h 716"/>
              <a:gd name="T22" fmla="*/ 2147483647 w 647"/>
              <a:gd name="T23" fmla="*/ 2147483647 h 716"/>
              <a:gd name="T24" fmla="*/ 2147483647 w 647"/>
              <a:gd name="T25" fmla="*/ 2147483647 h 716"/>
              <a:gd name="T26" fmla="*/ 2147483647 w 647"/>
              <a:gd name="T27" fmla="*/ 2147483647 h 716"/>
              <a:gd name="T28" fmla="*/ 2147483647 w 647"/>
              <a:gd name="T29" fmla="*/ 2147483647 h 716"/>
              <a:gd name="T30" fmla="*/ 2147483647 w 647"/>
              <a:gd name="T31" fmla="*/ 2147483647 h 716"/>
              <a:gd name="T32" fmla="*/ 2147483647 w 647"/>
              <a:gd name="T33" fmla="*/ 2147483647 h 716"/>
              <a:gd name="T34" fmla="*/ 2147483647 w 647"/>
              <a:gd name="T35" fmla="*/ 2147483647 h 716"/>
              <a:gd name="T36" fmla="*/ 2147483647 w 647"/>
              <a:gd name="T37" fmla="*/ 2147483647 h 71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7"/>
              <a:gd name="T58" fmla="*/ 0 h 716"/>
              <a:gd name="T59" fmla="*/ 647 w 647"/>
              <a:gd name="T60" fmla="*/ 716 h 71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7" h="716">
                <a:moveTo>
                  <a:pt x="0" y="709"/>
                </a:moveTo>
                <a:lnTo>
                  <a:pt x="632" y="0"/>
                </a:lnTo>
                <a:lnTo>
                  <a:pt x="640" y="0"/>
                </a:lnTo>
                <a:lnTo>
                  <a:pt x="640" y="7"/>
                </a:lnTo>
                <a:lnTo>
                  <a:pt x="8" y="716"/>
                </a:lnTo>
                <a:lnTo>
                  <a:pt x="0" y="716"/>
                </a:lnTo>
                <a:lnTo>
                  <a:pt x="0" y="709"/>
                </a:lnTo>
                <a:close/>
                <a:moveTo>
                  <a:pt x="584" y="22"/>
                </a:moveTo>
                <a:lnTo>
                  <a:pt x="647" y="0"/>
                </a:lnTo>
                <a:lnTo>
                  <a:pt x="632" y="60"/>
                </a:lnTo>
                <a:lnTo>
                  <a:pt x="624" y="60"/>
                </a:lnTo>
                <a:lnTo>
                  <a:pt x="624" y="52"/>
                </a:lnTo>
                <a:lnTo>
                  <a:pt x="632" y="7"/>
                </a:lnTo>
                <a:lnTo>
                  <a:pt x="640" y="15"/>
                </a:lnTo>
                <a:lnTo>
                  <a:pt x="592" y="30"/>
                </a:lnTo>
                <a:lnTo>
                  <a:pt x="584" y="22"/>
                </a:lnTo>
                <a:close/>
              </a:path>
            </a:pathLst>
          </a:custGeom>
          <a:solidFill>
            <a:srgbClr val="000000"/>
          </a:solidFill>
          <a:ln w="508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84" name="Freeform 16"/>
          <p:cNvSpPr>
            <a:spLocks noEditPoints="1"/>
          </p:cNvSpPr>
          <p:nvPr/>
        </p:nvSpPr>
        <p:spPr bwMode="auto">
          <a:xfrm rot="279542">
            <a:off x="7915275" y="1860550"/>
            <a:ext cx="1058863" cy="1425575"/>
          </a:xfrm>
          <a:custGeom>
            <a:avLst/>
            <a:gdLst>
              <a:gd name="T0" fmla="*/ 0 w 861"/>
              <a:gd name="T1" fmla="*/ 2147483647 h 1314"/>
              <a:gd name="T2" fmla="*/ 2147483647 w 861"/>
              <a:gd name="T3" fmla="*/ 2147483647 h 1314"/>
              <a:gd name="T4" fmla="*/ 2147483647 w 861"/>
              <a:gd name="T5" fmla="*/ 2147483647 h 1314"/>
              <a:gd name="T6" fmla="*/ 2147483647 w 861"/>
              <a:gd name="T7" fmla="*/ 2147483647 h 1314"/>
              <a:gd name="T8" fmla="*/ 2147483647 w 861"/>
              <a:gd name="T9" fmla="*/ 2147483647 h 1314"/>
              <a:gd name="T10" fmla="*/ 2147483647 w 861"/>
              <a:gd name="T11" fmla="*/ 2147483647 h 1314"/>
              <a:gd name="T12" fmla="*/ 2147483647 w 861"/>
              <a:gd name="T13" fmla="*/ 2147483647 h 1314"/>
              <a:gd name="T14" fmla="*/ 2147483647 w 861"/>
              <a:gd name="T15" fmla="*/ 2147483647 h 1314"/>
              <a:gd name="T16" fmla="*/ 2147483647 w 861"/>
              <a:gd name="T17" fmla="*/ 2147483647 h 1314"/>
              <a:gd name="T18" fmla="*/ 2147483647 w 861"/>
              <a:gd name="T19" fmla="*/ 2147483647 h 1314"/>
              <a:gd name="T20" fmla="*/ 2147483647 w 861"/>
              <a:gd name="T21" fmla="*/ 2147483647 h 1314"/>
              <a:gd name="T22" fmla="*/ 2147483647 w 861"/>
              <a:gd name="T23" fmla="*/ 2147483647 h 1314"/>
              <a:gd name="T24" fmla="*/ 2147483647 w 861"/>
              <a:gd name="T25" fmla="*/ 2147483647 h 1314"/>
              <a:gd name="T26" fmla="*/ 2147483647 w 861"/>
              <a:gd name="T27" fmla="*/ 2147483647 h 1314"/>
              <a:gd name="T28" fmla="*/ 2147483647 w 861"/>
              <a:gd name="T29" fmla="*/ 2147483647 h 1314"/>
              <a:gd name="T30" fmla="*/ 2147483647 w 861"/>
              <a:gd name="T31" fmla="*/ 2147483647 h 1314"/>
              <a:gd name="T32" fmla="*/ 2147483647 w 861"/>
              <a:gd name="T33" fmla="*/ 2147483647 h 1314"/>
              <a:gd name="T34" fmla="*/ 2147483647 w 861"/>
              <a:gd name="T35" fmla="*/ 2147483647 h 1314"/>
              <a:gd name="T36" fmla="*/ 2147483647 w 861"/>
              <a:gd name="T37" fmla="*/ 2147483647 h 1314"/>
              <a:gd name="T38" fmla="*/ 2147483647 w 861"/>
              <a:gd name="T39" fmla="*/ 2147483647 h 1314"/>
              <a:gd name="T40" fmla="*/ 2147483647 w 861"/>
              <a:gd name="T41" fmla="*/ 2147483647 h 1314"/>
              <a:gd name="T42" fmla="*/ 2147483647 w 861"/>
              <a:gd name="T43" fmla="*/ 0 h 1314"/>
              <a:gd name="T44" fmla="*/ 2147483647 w 861"/>
              <a:gd name="T45" fmla="*/ 2147483647 h 1314"/>
              <a:gd name="T46" fmla="*/ 2147483647 w 861"/>
              <a:gd name="T47" fmla="*/ 2147483647 h 1314"/>
              <a:gd name="T48" fmla="*/ 2147483647 w 861"/>
              <a:gd name="T49" fmla="*/ 2147483647 h 1314"/>
              <a:gd name="T50" fmla="*/ 2147483647 w 861"/>
              <a:gd name="T51" fmla="*/ 2147483647 h 1314"/>
              <a:gd name="T52" fmla="*/ 2147483647 w 861"/>
              <a:gd name="T53" fmla="*/ 2147483647 h 1314"/>
              <a:gd name="T54" fmla="*/ 2147483647 w 861"/>
              <a:gd name="T55" fmla="*/ 2147483647 h 1314"/>
              <a:gd name="T56" fmla="*/ 2147483647 w 861"/>
              <a:gd name="T57" fmla="*/ 2147483647 h 1314"/>
              <a:gd name="T58" fmla="*/ 2147483647 w 861"/>
              <a:gd name="T59" fmla="*/ 2147483647 h 1314"/>
              <a:gd name="T60" fmla="*/ 2147483647 w 861"/>
              <a:gd name="T61" fmla="*/ 2147483647 h 1314"/>
              <a:gd name="T62" fmla="*/ 2147483647 w 861"/>
              <a:gd name="T63" fmla="*/ 2147483647 h 1314"/>
              <a:gd name="T64" fmla="*/ 2147483647 w 861"/>
              <a:gd name="T65" fmla="*/ 2147483647 h 1314"/>
              <a:gd name="T66" fmla="*/ 2147483647 w 861"/>
              <a:gd name="T67" fmla="*/ 2147483647 h 1314"/>
              <a:gd name="T68" fmla="*/ 2147483647 w 861"/>
              <a:gd name="T69" fmla="*/ 2147483647 h 1314"/>
              <a:gd name="T70" fmla="*/ 2147483647 w 861"/>
              <a:gd name="T71" fmla="*/ 2147483647 h 1314"/>
              <a:gd name="T72" fmla="*/ 2147483647 w 861"/>
              <a:gd name="T73" fmla="*/ 2147483647 h 1314"/>
              <a:gd name="T74" fmla="*/ 2147483647 w 861"/>
              <a:gd name="T75" fmla="*/ 2147483647 h 1314"/>
              <a:gd name="T76" fmla="*/ 2147483647 w 861"/>
              <a:gd name="T77" fmla="*/ 2147483647 h 1314"/>
              <a:gd name="T78" fmla="*/ 2147483647 w 861"/>
              <a:gd name="T79" fmla="*/ 2147483647 h 1314"/>
              <a:gd name="T80" fmla="*/ 2147483647 w 861"/>
              <a:gd name="T81" fmla="*/ 2147483647 h 1314"/>
              <a:gd name="T82" fmla="*/ 2147483647 w 861"/>
              <a:gd name="T83" fmla="*/ 2147483647 h 1314"/>
              <a:gd name="T84" fmla="*/ 2147483647 w 861"/>
              <a:gd name="T85" fmla="*/ 2147483647 h 1314"/>
              <a:gd name="T86" fmla="*/ 0 w 861"/>
              <a:gd name="T87" fmla="*/ 2147483647 h 1314"/>
              <a:gd name="T88" fmla="*/ 0 w 861"/>
              <a:gd name="T89" fmla="*/ 2147483647 h 1314"/>
              <a:gd name="T90" fmla="*/ 0 w 861"/>
              <a:gd name="T91" fmla="*/ 2147483647 h 1314"/>
              <a:gd name="T92" fmla="*/ 2147483647 w 861"/>
              <a:gd name="T93" fmla="*/ 2147483647 h 1314"/>
              <a:gd name="T94" fmla="*/ 2147483647 w 861"/>
              <a:gd name="T95" fmla="*/ 0 h 1314"/>
              <a:gd name="T96" fmla="*/ 2147483647 w 861"/>
              <a:gd name="T97" fmla="*/ 2147483647 h 1314"/>
              <a:gd name="T98" fmla="*/ 2147483647 w 861"/>
              <a:gd name="T99" fmla="*/ 2147483647 h 1314"/>
              <a:gd name="T100" fmla="*/ 2147483647 w 861"/>
              <a:gd name="T101" fmla="*/ 2147483647 h 1314"/>
              <a:gd name="T102" fmla="*/ 2147483647 w 861"/>
              <a:gd name="T103" fmla="*/ 2147483647 h 1314"/>
              <a:gd name="T104" fmla="*/ 2147483647 w 861"/>
              <a:gd name="T105" fmla="*/ 2147483647 h 1314"/>
              <a:gd name="T106" fmla="*/ 2147483647 w 861"/>
              <a:gd name="T107" fmla="*/ 2147483647 h 1314"/>
              <a:gd name="T108" fmla="*/ 2147483647 w 861"/>
              <a:gd name="T109" fmla="*/ 2147483647 h 1314"/>
              <a:gd name="T110" fmla="*/ 2147483647 w 861"/>
              <a:gd name="T111" fmla="*/ 2147483647 h 1314"/>
              <a:gd name="T112" fmla="*/ 2147483647 w 861"/>
              <a:gd name="T113" fmla="*/ 2147483647 h 131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861"/>
              <a:gd name="T172" fmla="*/ 0 h 1314"/>
              <a:gd name="T173" fmla="*/ 861 w 861"/>
              <a:gd name="T174" fmla="*/ 1314 h 1314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861" h="1314">
                <a:moveTo>
                  <a:pt x="0" y="1306"/>
                </a:moveTo>
                <a:lnTo>
                  <a:pt x="111" y="1239"/>
                </a:lnTo>
                <a:lnTo>
                  <a:pt x="158" y="1194"/>
                </a:lnTo>
                <a:lnTo>
                  <a:pt x="213" y="1149"/>
                </a:lnTo>
                <a:lnTo>
                  <a:pt x="269" y="1105"/>
                </a:lnTo>
                <a:lnTo>
                  <a:pt x="316" y="1045"/>
                </a:lnTo>
                <a:lnTo>
                  <a:pt x="371" y="978"/>
                </a:lnTo>
                <a:lnTo>
                  <a:pt x="427" y="903"/>
                </a:lnTo>
                <a:lnTo>
                  <a:pt x="450" y="858"/>
                </a:lnTo>
                <a:lnTo>
                  <a:pt x="482" y="806"/>
                </a:lnTo>
                <a:lnTo>
                  <a:pt x="514" y="754"/>
                </a:lnTo>
                <a:lnTo>
                  <a:pt x="545" y="687"/>
                </a:lnTo>
                <a:lnTo>
                  <a:pt x="600" y="560"/>
                </a:lnTo>
                <a:lnTo>
                  <a:pt x="664" y="426"/>
                </a:lnTo>
                <a:lnTo>
                  <a:pt x="727" y="291"/>
                </a:lnTo>
                <a:lnTo>
                  <a:pt x="751" y="224"/>
                </a:lnTo>
                <a:lnTo>
                  <a:pt x="774" y="172"/>
                </a:lnTo>
                <a:lnTo>
                  <a:pt x="798" y="112"/>
                </a:lnTo>
                <a:lnTo>
                  <a:pt x="822" y="67"/>
                </a:lnTo>
                <a:lnTo>
                  <a:pt x="837" y="23"/>
                </a:lnTo>
                <a:lnTo>
                  <a:pt x="845" y="8"/>
                </a:lnTo>
                <a:lnTo>
                  <a:pt x="853" y="0"/>
                </a:lnTo>
                <a:lnTo>
                  <a:pt x="853" y="8"/>
                </a:lnTo>
                <a:lnTo>
                  <a:pt x="845" y="30"/>
                </a:lnTo>
                <a:lnTo>
                  <a:pt x="830" y="75"/>
                </a:lnTo>
                <a:lnTo>
                  <a:pt x="806" y="120"/>
                </a:lnTo>
                <a:lnTo>
                  <a:pt x="790" y="172"/>
                </a:lnTo>
                <a:lnTo>
                  <a:pt x="758" y="232"/>
                </a:lnTo>
                <a:lnTo>
                  <a:pt x="735" y="299"/>
                </a:lnTo>
                <a:lnTo>
                  <a:pt x="679" y="426"/>
                </a:lnTo>
                <a:lnTo>
                  <a:pt x="616" y="567"/>
                </a:lnTo>
                <a:lnTo>
                  <a:pt x="553" y="694"/>
                </a:lnTo>
                <a:lnTo>
                  <a:pt x="521" y="754"/>
                </a:lnTo>
                <a:lnTo>
                  <a:pt x="490" y="814"/>
                </a:lnTo>
                <a:lnTo>
                  <a:pt x="466" y="866"/>
                </a:lnTo>
                <a:lnTo>
                  <a:pt x="435" y="911"/>
                </a:lnTo>
                <a:lnTo>
                  <a:pt x="379" y="985"/>
                </a:lnTo>
                <a:lnTo>
                  <a:pt x="332" y="1052"/>
                </a:lnTo>
                <a:lnTo>
                  <a:pt x="277" y="1112"/>
                </a:lnTo>
                <a:lnTo>
                  <a:pt x="221" y="1164"/>
                </a:lnTo>
                <a:lnTo>
                  <a:pt x="166" y="1202"/>
                </a:lnTo>
                <a:lnTo>
                  <a:pt x="111" y="1246"/>
                </a:lnTo>
                <a:lnTo>
                  <a:pt x="8" y="1314"/>
                </a:lnTo>
                <a:lnTo>
                  <a:pt x="0" y="1314"/>
                </a:lnTo>
                <a:lnTo>
                  <a:pt x="0" y="1306"/>
                </a:lnTo>
                <a:close/>
                <a:moveTo>
                  <a:pt x="806" y="38"/>
                </a:moveTo>
                <a:lnTo>
                  <a:pt x="853" y="0"/>
                </a:lnTo>
                <a:lnTo>
                  <a:pt x="861" y="60"/>
                </a:lnTo>
                <a:lnTo>
                  <a:pt x="861" y="67"/>
                </a:lnTo>
                <a:lnTo>
                  <a:pt x="853" y="60"/>
                </a:lnTo>
                <a:lnTo>
                  <a:pt x="845" y="8"/>
                </a:lnTo>
                <a:lnTo>
                  <a:pt x="853" y="15"/>
                </a:lnTo>
                <a:lnTo>
                  <a:pt x="814" y="45"/>
                </a:lnTo>
                <a:lnTo>
                  <a:pt x="806" y="45"/>
                </a:lnTo>
                <a:lnTo>
                  <a:pt x="806" y="38"/>
                </a:lnTo>
                <a:close/>
              </a:path>
            </a:pathLst>
          </a:custGeom>
          <a:solidFill>
            <a:srgbClr val="000000"/>
          </a:solidFill>
          <a:ln w="508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85" name="Freeform 17"/>
          <p:cNvSpPr>
            <a:spLocks/>
          </p:cNvSpPr>
          <p:nvPr/>
        </p:nvSpPr>
        <p:spPr bwMode="auto">
          <a:xfrm>
            <a:off x="6681788" y="3573463"/>
            <a:ext cx="785812" cy="388937"/>
          </a:xfrm>
          <a:custGeom>
            <a:avLst/>
            <a:gdLst>
              <a:gd name="T0" fmla="*/ 0 w 640"/>
              <a:gd name="T1" fmla="*/ 2147483647 h 358"/>
              <a:gd name="T2" fmla="*/ 2147483647 w 640"/>
              <a:gd name="T3" fmla="*/ 2147483647 h 358"/>
              <a:gd name="T4" fmla="*/ 2147483647 w 640"/>
              <a:gd name="T5" fmla="*/ 2147483647 h 358"/>
              <a:gd name="T6" fmla="*/ 2147483647 w 640"/>
              <a:gd name="T7" fmla="*/ 2147483647 h 358"/>
              <a:gd name="T8" fmla="*/ 2147483647 w 640"/>
              <a:gd name="T9" fmla="*/ 2147483647 h 358"/>
              <a:gd name="T10" fmla="*/ 2147483647 w 640"/>
              <a:gd name="T11" fmla="*/ 2147483647 h 358"/>
              <a:gd name="T12" fmla="*/ 2147483647 w 640"/>
              <a:gd name="T13" fmla="*/ 2147483647 h 358"/>
              <a:gd name="T14" fmla="*/ 2147483647 w 640"/>
              <a:gd name="T15" fmla="*/ 2147483647 h 358"/>
              <a:gd name="T16" fmla="*/ 2147483647 w 640"/>
              <a:gd name="T17" fmla="*/ 0 h 35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40"/>
              <a:gd name="T28" fmla="*/ 0 h 358"/>
              <a:gd name="T29" fmla="*/ 640 w 640"/>
              <a:gd name="T30" fmla="*/ 358 h 35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40" h="358">
                <a:moveTo>
                  <a:pt x="0" y="358"/>
                </a:moveTo>
                <a:lnTo>
                  <a:pt x="158" y="283"/>
                </a:lnTo>
                <a:lnTo>
                  <a:pt x="292" y="209"/>
                </a:lnTo>
                <a:lnTo>
                  <a:pt x="418" y="142"/>
                </a:lnTo>
                <a:lnTo>
                  <a:pt x="513" y="89"/>
                </a:lnTo>
                <a:lnTo>
                  <a:pt x="576" y="52"/>
                </a:lnTo>
                <a:lnTo>
                  <a:pt x="616" y="30"/>
                </a:lnTo>
                <a:lnTo>
                  <a:pt x="632" y="7"/>
                </a:lnTo>
                <a:lnTo>
                  <a:pt x="640" y="0"/>
                </a:lnTo>
              </a:path>
            </a:pathLst>
          </a:custGeom>
          <a:noFill/>
          <a:ln w="5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6" name="Rectangle 18"/>
          <p:cNvSpPr>
            <a:spLocks noChangeArrowheads="1"/>
          </p:cNvSpPr>
          <p:nvPr/>
        </p:nvSpPr>
        <p:spPr bwMode="auto">
          <a:xfrm>
            <a:off x="6611938" y="2733675"/>
            <a:ext cx="33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dS</a:t>
            </a:r>
            <a:endParaRPr lang="vi-VN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67" name="Rectangle 19"/>
          <p:cNvSpPr>
            <a:spLocks noChangeArrowheads="1"/>
          </p:cNvSpPr>
          <p:nvPr/>
        </p:nvSpPr>
        <p:spPr bwMode="auto">
          <a:xfrm>
            <a:off x="7613650" y="1441450"/>
            <a:ext cx="5715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700">
                <a:solidFill>
                  <a:srgbClr val="000000"/>
                </a:solidFill>
              </a:rPr>
              <a:t> </a:t>
            </a:r>
            <a:endParaRPr lang="vi-VN"/>
          </a:p>
        </p:txBody>
      </p:sp>
      <p:sp>
        <p:nvSpPr>
          <p:cNvPr id="31768" name="Rectangle 20"/>
          <p:cNvSpPr>
            <a:spLocks noChangeArrowheads="1"/>
          </p:cNvSpPr>
          <p:nvPr/>
        </p:nvSpPr>
        <p:spPr bwMode="auto">
          <a:xfrm>
            <a:off x="7961313" y="1651000"/>
            <a:ext cx="539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700">
                <a:solidFill>
                  <a:srgbClr val="000000"/>
                </a:solidFill>
              </a:rPr>
              <a:t> </a:t>
            </a:r>
            <a:endParaRPr lang="vi-VN"/>
          </a:p>
        </p:txBody>
      </p:sp>
      <p:sp>
        <p:nvSpPr>
          <p:cNvPr id="31769" name="Rectangle 22"/>
          <p:cNvSpPr>
            <a:spLocks noChangeArrowheads="1"/>
          </p:cNvSpPr>
          <p:nvPr/>
        </p:nvSpPr>
        <p:spPr bwMode="auto">
          <a:xfrm>
            <a:off x="8145463" y="1911350"/>
            <a:ext cx="58737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700">
                <a:solidFill>
                  <a:srgbClr val="000000"/>
                </a:solidFill>
              </a:rPr>
              <a:t> </a:t>
            </a:r>
            <a:endParaRPr lang="vi-VN"/>
          </a:p>
        </p:txBody>
      </p:sp>
      <p:sp>
        <p:nvSpPr>
          <p:cNvPr id="31770" name="Rectangle 23"/>
          <p:cNvSpPr>
            <a:spLocks noChangeArrowheads="1"/>
          </p:cNvSpPr>
          <p:nvPr/>
        </p:nvSpPr>
        <p:spPr bwMode="auto">
          <a:xfrm>
            <a:off x="7613650" y="2128838"/>
            <a:ext cx="571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700">
                <a:solidFill>
                  <a:srgbClr val="000000"/>
                </a:solidFill>
              </a:rPr>
              <a:t> </a:t>
            </a:r>
            <a:endParaRPr lang="vi-VN"/>
          </a:p>
        </p:txBody>
      </p:sp>
      <p:sp>
        <p:nvSpPr>
          <p:cNvPr id="31771" name="Rectangle 26"/>
          <p:cNvSpPr>
            <a:spLocks noChangeArrowheads="1"/>
          </p:cNvSpPr>
          <p:nvPr/>
        </p:nvSpPr>
        <p:spPr bwMode="auto">
          <a:xfrm>
            <a:off x="8223250" y="2338388"/>
            <a:ext cx="571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700">
                <a:solidFill>
                  <a:srgbClr val="000000"/>
                </a:solidFill>
              </a:rPr>
              <a:t> </a:t>
            </a:r>
            <a:endParaRPr lang="vi-VN"/>
          </a:p>
        </p:txBody>
      </p:sp>
      <p:sp>
        <p:nvSpPr>
          <p:cNvPr id="31772" name="Rectangle 27"/>
          <p:cNvSpPr>
            <a:spLocks noChangeArrowheads="1"/>
          </p:cNvSpPr>
          <p:nvPr/>
        </p:nvSpPr>
        <p:spPr bwMode="auto">
          <a:xfrm>
            <a:off x="7613650" y="2565400"/>
            <a:ext cx="2714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700">
                <a:solidFill>
                  <a:srgbClr val="000000"/>
                </a:solidFill>
              </a:rPr>
              <a:t>     </a:t>
            </a:r>
            <a:endParaRPr lang="vi-VN"/>
          </a:p>
        </p:txBody>
      </p:sp>
      <p:sp>
        <p:nvSpPr>
          <p:cNvPr id="31773" name="Rectangle 28"/>
          <p:cNvSpPr>
            <a:spLocks noChangeArrowheads="1"/>
          </p:cNvSpPr>
          <p:nvPr/>
        </p:nvSpPr>
        <p:spPr bwMode="auto">
          <a:xfrm>
            <a:off x="7904163" y="2565400"/>
            <a:ext cx="53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700">
                <a:solidFill>
                  <a:srgbClr val="000000"/>
                </a:solidFill>
              </a:rPr>
              <a:t> </a:t>
            </a:r>
            <a:endParaRPr lang="vi-VN"/>
          </a:p>
        </p:txBody>
      </p:sp>
      <p:sp>
        <p:nvSpPr>
          <p:cNvPr id="31794" name="Line 29"/>
          <p:cNvSpPr>
            <a:spLocks noChangeShapeType="1"/>
          </p:cNvSpPr>
          <p:nvPr/>
        </p:nvSpPr>
        <p:spPr bwMode="auto">
          <a:xfrm>
            <a:off x="7467600" y="2409825"/>
            <a:ext cx="133350" cy="131763"/>
          </a:xfrm>
          <a:prstGeom prst="line">
            <a:avLst/>
          </a:prstGeom>
          <a:noFill/>
          <a:ln w="5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5" name="Rectangle 30"/>
          <p:cNvSpPr>
            <a:spLocks noChangeArrowheads="1"/>
          </p:cNvSpPr>
          <p:nvPr/>
        </p:nvSpPr>
        <p:spPr bwMode="auto">
          <a:xfrm>
            <a:off x="6546850" y="3333750"/>
            <a:ext cx="411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2400">
                <a:solidFill>
                  <a:srgbClr val="000000"/>
                </a:solidFill>
              </a:rPr>
              <a:t>(S)</a:t>
            </a:r>
            <a:endParaRPr lang="vi-VN" sz="2400"/>
          </a:p>
        </p:txBody>
      </p:sp>
      <p:graphicFrame>
        <p:nvGraphicFramePr>
          <p:cNvPr id="31796" name="Object 72"/>
          <p:cNvGraphicFramePr>
            <a:graphicFrameLocks noChangeAspect="1"/>
          </p:cNvGraphicFramePr>
          <p:nvPr/>
        </p:nvGraphicFramePr>
        <p:xfrm>
          <a:off x="7831138" y="1603375"/>
          <a:ext cx="5524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39" imgH="203112" progId="Equation.DSMT4">
                  <p:embed/>
                </p:oleObj>
              </mc:Choice>
              <mc:Fallback>
                <p:oleObj name="Equation" r:id="rId3" imgW="139639" imgH="203112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1138" y="1603375"/>
                        <a:ext cx="5524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7" name="Object 75"/>
          <p:cNvGraphicFramePr>
            <a:graphicFrameLocks noChangeAspect="1"/>
          </p:cNvGraphicFramePr>
          <p:nvPr/>
        </p:nvGraphicFramePr>
        <p:xfrm>
          <a:off x="7467600" y="2409825"/>
          <a:ext cx="6651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24" imgH="215713" progId="Equation.DSMT4">
                  <p:embed/>
                </p:oleObj>
              </mc:Choice>
              <mc:Fallback>
                <p:oleObj name="Equation" r:id="rId4" imgW="203024" imgH="215713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409825"/>
                        <a:ext cx="66516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8" name="Object 78"/>
          <p:cNvGraphicFramePr>
            <a:graphicFrameLocks noChangeAspect="1"/>
          </p:cNvGraphicFramePr>
          <p:nvPr/>
        </p:nvGraphicFramePr>
        <p:xfrm>
          <a:off x="7529513" y="2214563"/>
          <a:ext cx="4048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700" imgH="139700" progId="Equation.DSMT4">
                  <p:embed/>
                </p:oleObj>
              </mc:Choice>
              <mc:Fallback>
                <p:oleObj name="Equation" r:id="rId5" imgW="139700" imgH="13970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9513" y="2214563"/>
                        <a:ext cx="4048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80"/>
          <p:cNvSpPr>
            <a:spLocks noChangeArrowheads="1"/>
          </p:cNvSpPr>
          <p:nvPr/>
        </p:nvSpPr>
        <p:spPr bwMode="auto">
          <a:xfrm>
            <a:off x="0" y="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5" name="Rectangle 15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6" name="Rectangle 152"/>
          <p:cNvSpPr>
            <a:spLocks noChangeArrowheads="1"/>
          </p:cNvSpPr>
          <p:nvPr/>
        </p:nvSpPr>
        <p:spPr bwMode="auto">
          <a:xfrm>
            <a:off x="0" y="161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7" name="Rectangle 1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8" name="Rectangle 155"/>
          <p:cNvSpPr>
            <a:spLocks noChangeArrowheads="1"/>
          </p:cNvSpPr>
          <p:nvPr/>
        </p:nvSpPr>
        <p:spPr bwMode="auto">
          <a:xfrm>
            <a:off x="0" y="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10" name="Rectangle 1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13" name="Rectangle 158"/>
          <p:cNvSpPr>
            <a:spLocks noChangeArrowheads="1"/>
          </p:cNvSpPr>
          <p:nvPr/>
        </p:nvSpPr>
        <p:spPr bwMode="auto">
          <a:xfrm>
            <a:off x="0" y="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176" name="Rectangle 175"/>
          <p:cNvSpPr>
            <a:spLocks noChangeArrowheads="1"/>
          </p:cNvSpPr>
          <p:nvPr/>
        </p:nvSpPr>
        <p:spPr bwMode="auto">
          <a:xfrm>
            <a:off x="838200" y="1295400"/>
            <a:ext cx="5715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pt-BR" sz="3200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gửi qua diện tích dS là đại lượng vô hướng có giá trị bằng :</a:t>
            </a:r>
            <a:endParaRPr lang="vi-VN" sz="32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Rectangle 177"/>
          <p:cNvSpPr>
            <a:spLocks noChangeArrowheads="1"/>
          </p:cNvSpPr>
          <p:nvPr/>
        </p:nvSpPr>
        <p:spPr bwMode="auto">
          <a:xfrm>
            <a:off x="457200" y="3729038"/>
            <a:ext cx="68341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sz="3200" dirty="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Điện thông gửi qua toàn bộ diện tích S: </a:t>
            </a:r>
            <a:endParaRPr lang="vi-VN" sz="3200" dirty="0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0" name="Rectangle 179"/>
          <p:cNvSpPr>
            <a:spLocks noChangeArrowheads="1"/>
          </p:cNvSpPr>
          <p:nvPr/>
        </p:nvSpPr>
        <p:spPr bwMode="auto">
          <a:xfrm>
            <a:off x="381000" y="5257800"/>
            <a:ext cx="830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Thông lượng cảm ứng điện hay điện dịch thông:</a:t>
            </a:r>
            <a:endParaRPr lang="vi-VN" sz="3200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" name="Rectangle 181"/>
          <p:cNvSpPr>
            <a:spLocks noChangeArrowheads="1"/>
          </p:cNvSpPr>
          <p:nvPr/>
        </p:nvSpPr>
        <p:spPr bwMode="auto">
          <a:xfrm>
            <a:off x="6297613" y="5926137"/>
            <a:ext cx="2224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32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32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: C</a:t>
            </a:r>
            <a:r>
              <a:rPr lang="en-US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vi-VN" sz="3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3" name="Rectangle 182"/>
          <p:cNvSpPr>
            <a:spLocks noChangeArrowheads="1"/>
          </p:cNvSpPr>
          <p:nvPr/>
        </p:nvSpPr>
        <p:spPr bwMode="auto">
          <a:xfrm>
            <a:off x="5867400" y="4321175"/>
            <a:ext cx="2819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Đơn vị:         </a:t>
            </a:r>
            <a:r>
              <a:rPr lang="en-US" sz="32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vi-VN" sz="32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" name="4-Point Star 183"/>
          <p:cNvSpPr/>
          <p:nvPr/>
        </p:nvSpPr>
        <p:spPr>
          <a:xfrm>
            <a:off x="76200" y="38862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5" name="4-Point Star 184"/>
          <p:cNvSpPr/>
          <p:nvPr/>
        </p:nvSpPr>
        <p:spPr>
          <a:xfrm>
            <a:off x="76200" y="54102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32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2" name="Object 91"/>
          <p:cNvGraphicFramePr>
            <a:graphicFrameLocks noChangeAspect="1"/>
          </p:cNvGraphicFramePr>
          <p:nvPr/>
        </p:nvGraphicFramePr>
        <p:xfrm>
          <a:off x="1447800" y="2590800"/>
          <a:ext cx="36576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4000" imgH="241300" progId="Equation.3">
                  <p:embed/>
                </p:oleObj>
              </mc:Choice>
              <mc:Fallback>
                <p:oleObj name="Equation" r:id="rId7" imgW="1524000" imgH="24130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90800"/>
                        <a:ext cx="36576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00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053685"/>
              </p:ext>
            </p:extLst>
          </p:nvPr>
        </p:nvGraphicFramePr>
        <p:xfrm>
          <a:off x="533400" y="4343400"/>
          <a:ext cx="46402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09800" imgH="393700" progId="Equation.3">
                  <p:embed/>
                </p:oleObj>
              </mc:Choice>
              <mc:Fallback>
                <p:oleObj name="Equation" r:id="rId9" imgW="2209800" imgH="39370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343400"/>
                        <a:ext cx="46402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7350125" y="4191000"/>
          <a:ext cx="8794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18918" imgH="482391" progId="Equation.DSMT4">
                  <p:embed/>
                </p:oleObj>
              </mc:Choice>
              <mc:Fallback>
                <p:oleObj name="Equation" r:id="rId11" imgW="418918" imgH="48239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25" y="4191000"/>
                        <a:ext cx="8794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8" name="Freeform 7"/>
          <p:cNvSpPr>
            <a:spLocks noEditPoints="1"/>
          </p:cNvSpPr>
          <p:nvPr/>
        </p:nvSpPr>
        <p:spPr bwMode="auto">
          <a:xfrm>
            <a:off x="7034213" y="1214438"/>
            <a:ext cx="812800" cy="1549400"/>
          </a:xfrm>
          <a:custGeom>
            <a:avLst/>
            <a:gdLst>
              <a:gd name="T0" fmla="*/ 0 w 663"/>
              <a:gd name="T1" fmla="*/ 2147483647 h 1432"/>
              <a:gd name="T2" fmla="*/ 2147483647 w 663"/>
              <a:gd name="T3" fmla="*/ 2147483647 h 1432"/>
              <a:gd name="T4" fmla="*/ 2147483647 w 663"/>
              <a:gd name="T5" fmla="*/ 2147483647 h 1432"/>
              <a:gd name="T6" fmla="*/ 2147483647 w 663"/>
              <a:gd name="T7" fmla="*/ 2147483647 h 1432"/>
              <a:gd name="T8" fmla="*/ 2147483647 w 663"/>
              <a:gd name="T9" fmla="*/ 2147483647 h 1432"/>
              <a:gd name="T10" fmla="*/ 2147483647 w 663"/>
              <a:gd name="T11" fmla="*/ 2147483647 h 1432"/>
              <a:gd name="T12" fmla="*/ 2147483647 w 663"/>
              <a:gd name="T13" fmla="*/ 2147483647 h 1432"/>
              <a:gd name="T14" fmla="*/ 2147483647 w 663"/>
              <a:gd name="T15" fmla="*/ 2147483647 h 1432"/>
              <a:gd name="T16" fmla="*/ 2147483647 w 663"/>
              <a:gd name="T17" fmla="*/ 2147483647 h 1432"/>
              <a:gd name="T18" fmla="*/ 2147483647 w 663"/>
              <a:gd name="T19" fmla="*/ 2147483647 h 1432"/>
              <a:gd name="T20" fmla="*/ 2147483647 w 663"/>
              <a:gd name="T21" fmla="*/ 2147483647 h 1432"/>
              <a:gd name="T22" fmla="*/ 2147483647 w 663"/>
              <a:gd name="T23" fmla="*/ 2147483647 h 1432"/>
              <a:gd name="T24" fmla="*/ 2147483647 w 663"/>
              <a:gd name="T25" fmla="*/ 2147483647 h 1432"/>
              <a:gd name="T26" fmla="*/ 2147483647 w 663"/>
              <a:gd name="T27" fmla="*/ 2147483647 h 1432"/>
              <a:gd name="T28" fmla="*/ 2147483647 w 663"/>
              <a:gd name="T29" fmla="*/ 2147483647 h 1432"/>
              <a:gd name="T30" fmla="*/ 2147483647 w 663"/>
              <a:gd name="T31" fmla="*/ 2147483647 h 1432"/>
              <a:gd name="T32" fmla="*/ 2147483647 w 663"/>
              <a:gd name="T33" fmla="*/ 2147483647 h 1432"/>
              <a:gd name="T34" fmla="*/ 2147483647 w 663"/>
              <a:gd name="T35" fmla="*/ 2147483647 h 1432"/>
              <a:gd name="T36" fmla="*/ 2147483647 w 663"/>
              <a:gd name="T37" fmla="*/ 2147483647 h 1432"/>
              <a:gd name="T38" fmla="*/ 2147483647 w 663"/>
              <a:gd name="T39" fmla="*/ 2147483647 h 1432"/>
              <a:gd name="T40" fmla="*/ 2147483647 w 663"/>
              <a:gd name="T41" fmla="*/ 2147483647 h 1432"/>
              <a:gd name="T42" fmla="*/ 2147483647 w 663"/>
              <a:gd name="T43" fmla="*/ 0 h 1432"/>
              <a:gd name="T44" fmla="*/ 2147483647 w 663"/>
              <a:gd name="T45" fmla="*/ 2147483647 h 1432"/>
              <a:gd name="T46" fmla="*/ 2147483647 w 663"/>
              <a:gd name="T47" fmla="*/ 2147483647 h 1432"/>
              <a:gd name="T48" fmla="*/ 2147483647 w 663"/>
              <a:gd name="T49" fmla="*/ 2147483647 h 1432"/>
              <a:gd name="T50" fmla="*/ 2147483647 w 663"/>
              <a:gd name="T51" fmla="*/ 2147483647 h 1432"/>
              <a:gd name="T52" fmla="*/ 2147483647 w 663"/>
              <a:gd name="T53" fmla="*/ 2147483647 h 1432"/>
              <a:gd name="T54" fmla="*/ 2147483647 w 663"/>
              <a:gd name="T55" fmla="*/ 2147483647 h 1432"/>
              <a:gd name="T56" fmla="*/ 2147483647 w 663"/>
              <a:gd name="T57" fmla="*/ 2147483647 h 1432"/>
              <a:gd name="T58" fmla="*/ 2147483647 w 663"/>
              <a:gd name="T59" fmla="*/ 2147483647 h 1432"/>
              <a:gd name="T60" fmla="*/ 2147483647 w 663"/>
              <a:gd name="T61" fmla="*/ 2147483647 h 1432"/>
              <a:gd name="T62" fmla="*/ 2147483647 w 663"/>
              <a:gd name="T63" fmla="*/ 2147483647 h 1432"/>
              <a:gd name="T64" fmla="*/ 2147483647 w 663"/>
              <a:gd name="T65" fmla="*/ 2147483647 h 1432"/>
              <a:gd name="T66" fmla="*/ 2147483647 w 663"/>
              <a:gd name="T67" fmla="*/ 2147483647 h 1432"/>
              <a:gd name="T68" fmla="*/ 2147483647 w 663"/>
              <a:gd name="T69" fmla="*/ 2147483647 h 1432"/>
              <a:gd name="T70" fmla="*/ 2147483647 w 663"/>
              <a:gd name="T71" fmla="*/ 2147483647 h 1432"/>
              <a:gd name="T72" fmla="*/ 2147483647 w 663"/>
              <a:gd name="T73" fmla="*/ 2147483647 h 1432"/>
              <a:gd name="T74" fmla="*/ 2147483647 w 663"/>
              <a:gd name="T75" fmla="*/ 2147483647 h 1432"/>
              <a:gd name="T76" fmla="*/ 2147483647 w 663"/>
              <a:gd name="T77" fmla="*/ 2147483647 h 1432"/>
              <a:gd name="T78" fmla="*/ 2147483647 w 663"/>
              <a:gd name="T79" fmla="*/ 2147483647 h 1432"/>
              <a:gd name="T80" fmla="*/ 2147483647 w 663"/>
              <a:gd name="T81" fmla="*/ 2147483647 h 1432"/>
              <a:gd name="T82" fmla="*/ 2147483647 w 663"/>
              <a:gd name="T83" fmla="*/ 2147483647 h 1432"/>
              <a:gd name="T84" fmla="*/ 2147483647 w 663"/>
              <a:gd name="T85" fmla="*/ 2147483647 h 1432"/>
              <a:gd name="T86" fmla="*/ 0 w 663"/>
              <a:gd name="T87" fmla="*/ 2147483647 h 1432"/>
              <a:gd name="T88" fmla="*/ 0 w 663"/>
              <a:gd name="T89" fmla="*/ 2147483647 h 1432"/>
              <a:gd name="T90" fmla="*/ 0 w 663"/>
              <a:gd name="T91" fmla="*/ 2147483647 h 1432"/>
              <a:gd name="T92" fmla="*/ 2147483647 w 663"/>
              <a:gd name="T93" fmla="*/ 2147483647 h 1432"/>
              <a:gd name="T94" fmla="*/ 2147483647 w 663"/>
              <a:gd name="T95" fmla="*/ 0 h 1432"/>
              <a:gd name="T96" fmla="*/ 2147483647 w 663"/>
              <a:gd name="T97" fmla="*/ 2147483647 h 1432"/>
              <a:gd name="T98" fmla="*/ 2147483647 w 663"/>
              <a:gd name="T99" fmla="*/ 2147483647 h 1432"/>
              <a:gd name="T100" fmla="*/ 2147483647 w 663"/>
              <a:gd name="T101" fmla="*/ 2147483647 h 1432"/>
              <a:gd name="T102" fmla="*/ 2147483647 w 663"/>
              <a:gd name="T103" fmla="*/ 2147483647 h 1432"/>
              <a:gd name="T104" fmla="*/ 2147483647 w 663"/>
              <a:gd name="T105" fmla="*/ 2147483647 h 1432"/>
              <a:gd name="T106" fmla="*/ 2147483647 w 663"/>
              <a:gd name="T107" fmla="*/ 2147483647 h 1432"/>
              <a:gd name="T108" fmla="*/ 2147483647 w 663"/>
              <a:gd name="T109" fmla="*/ 2147483647 h 1432"/>
              <a:gd name="T110" fmla="*/ 2147483647 w 663"/>
              <a:gd name="T111" fmla="*/ 2147483647 h 1432"/>
              <a:gd name="T112" fmla="*/ 2147483647 w 663"/>
              <a:gd name="T113" fmla="*/ 2147483647 h 143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663"/>
              <a:gd name="T172" fmla="*/ 0 h 1432"/>
              <a:gd name="T173" fmla="*/ 663 w 663"/>
              <a:gd name="T174" fmla="*/ 1432 h 1432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663" h="1432">
                <a:moveTo>
                  <a:pt x="0" y="1425"/>
                </a:moveTo>
                <a:lnTo>
                  <a:pt x="87" y="1350"/>
                </a:lnTo>
                <a:lnTo>
                  <a:pt x="126" y="1306"/>
                </a:lnTo>
                <a:lnTo>
                  <a:pt x="166" y="1253"/>
                </a:lnTo>
                <a:lnTo>
                  <a:pt x="205" y="1201"/>
                </a:lnTo>
                <a:lnTo>
                  <a:pt x="245" y="1141"/>
                </a:lnTo>
                <a:lnTo>
                  <a:pt x="284" y="1067"/>
                </a:lnTo>
                <a:lnTo>
                  <a:pt x="324" y="985"/>
                </a:lnTo>
                <a:lnTo>
                  <a:pt x="339" y="940"/>
                </a:lnTo>
                <a:lnTo>
                  <a:pt x="363" y="880"/>
                </a:lnTo>
                <a:lnTo>
                  <a:pt x="387" y="820"/>
                </a:lnTo>
                <a:lnTo>
                  <a:pt x="410" y="753"/>
                </a:lnTo>
                <a:lnTo>
                  <a:pt x="458" y="612"/>
                </a:lnTo>
                <a:lnTo>
                  <a:pt x="505" y="462"/>
                </a:lnTo>
                <a:lnTo>
                  <a:pt x="545" y="313"/>
                </a:lnTo>
                <a:lnTo>
                  <a:pt x="568" y="246"/>
                </a:lnTo>
                <a:lnTo>
                  <a:pt x="584" y="186"/>
                </a:lnTo>
                <a:lnTo>
                  <a:pt x="600" y="126"/>
                </a:lnTo>
                <a:lnTo>
                  <a:pt x="616" y="74"/>
                </a:lnTo>
                <a:lnTo>
                  <a:pt x="632" y="29"/>
                </a:lnTo>
                <a:lnTo>
                  <a:pt x="640" y="7"/>
                </a:lnTo>
                <a:lnTo>
                  <a:pt x="647" y="0"/>
                </a:lnTo>
                <a:lnTo>
                  <a:pt x="647" y="7"/>
                </a:lnTo>
                <a:lnTo>
                  <a:pt x="640" y="29"/>
                </a:lnTo>
                <a:lnTo>
                  <a:pt x="632" y="74"/>
                </a:lnTo>
                <a:lnTo>
                  <a:pt x="616" y="126"/>
                </a:lnTo>
                <a:lnTo>
                  <a:pt x="592" y="186"/>
                </a:lnTo>
                <a:lnTo>
                  <a:pt x="576" y="253"/>
                </a:lnTo>
                <a:lnTo>
                  <a:pt x="561" y="320"/>
                </a:lnTo>
                <a:lnTo>
                  <a:pt x="513" y="462"/>
                </a:lnTo>
                <a:lnTo>
                  <a:pt x="466" y="612"/>
                </a:lnTo>
                <a:lnTo>
                  <a:pt x="418" y="753"/>
                </a:lnTo>
                <a:lnTo>
                  <a:pt x="395" y="820"/>
                </a:lnTo>
                <a:lnTo>
                  <a:pt x="379" y="888"/>
                </a:lnTo>
                <a:lnTo>
                  <a:pt x="355" y="940"/>
                </a:lnTo>
                <a:lnTo>
                  <a:pt x="331" y="992"/>
                </a:lnTo>
                <a:lnTo>
                  <a:pt x="292" y="1074"/>
                </a:lnTo>
                <a:lnTo>
                  <a:pt x="252" y="1149"/>
                </a:lnTo>
                <a:lnTo>
                  <a:pt x="213" y="1209"/>
                </a:lnTo>
                <a:lnTo>
                  <a:pt x="173" y="1261"/>
                </a:lnTo>
                <a:lnTo>
                  <a:pt x="134" y="1313"/>
                </a:lnTo>
                <a:lnTo>
                  <a:pt x="94" y="1358"/>
                </a:lnTo>
                <a:lnTo>
                  <a:pt x="8" y="1432"/>
                </a:lnTo>
                <a:lnTo>
                  <a:pt x="0" y="1432"/>
                </a:lnTo>
                <a:lnTo>
                  <a:pt x="0" y="1425"/>
                </a:lnTo>
                <a:close/>
                <a:moveTo>
                  <a:pt x="600" y="37"/>
                </a:moveTo>
                <a:lnTo>
                  <a:pt x="647" y="0"/>
                </a:lnTo>
                <a:lnTo>
                  <a:pt x="663" y="52"/>
                </a:lnTo>
                <a:lnTo>
                  <a:pt x="655" y="59"/>
                </a:lnTo>
                <a:lnTo>
                  <a:pt x="647" y="59"/>
                </a:lnTo>
                <a:lnTo>
                  <a:pt x="640" y="7"/>
                </a:lnTo>
                <a:lnTo>
                  <a:pt x="647" y="15"/>
                </a:lnTo>
                <a:lnTo>
                  <a:pt x="608" y="44"/>
                </a:lnTo>
                <a:lnTo>
                  <a:pt x="600" y="44"/>
                </a:lnTo>
                <a:lnTo>
                  <a:pt x="600" y="37"/>
                </a:lnTo>
                <a:close/>
              </a:path>
            </a:pathLst>
          </a:custGeom>
          <a:solidFill>
            <a:srgbClr val="000000"/>
          </a:solidFill>
          <a:ln w="508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271236" y="732972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67520" y="3187700"/>
                <a:ext cx="2785280" cy="61912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en-US" b="1" i="1" dirty="0"/>
                  <a:t> = </a:t>
                </a:r>
                <a:r>
                  <a:rPr lang="en-US" b="1" i="1" dirty="0" err="1"/>
                  <a:t>E.S.cos</a:t>
                </a:r>
                <a:r>
                  <a:rPr lang="el-GR" b="1" i="1" dirty="0"/>
                  <a:t>α</a:t>
                </a:r>
                <a:r>
                  <a:rPr lang="en-US" b="1" i="1" dirty="0"/>
                  <a:t>, </a:t>
                </a:r>
                <a:r>
                  <a:rPr lang="el-GR" b="1" i="1" dirty="0"/>
                  <a:t>α</a:t>
                </a:r>
                <a:r>
                  <a:rPr lang="en-US" b="1" i="1" dirty="0"/>
                  <a:t> =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𝒏</m:t>
                        </m:r>
                      </m:e>
                    </m:acc>
                  </m:oMath>
                </a14:m>
                <a:r>
                  <a:rPr lang="en-US" b="1" i="1" dirty="0"/>
                  <a:t>)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20" y="3187700"/>
                <a:ext cx="2785280" cy="619125"/>
              </a:xfrm>
              <a:prstGeom prst="rect">
                <a:avLst/>
              </a:prstGeom>
              <a:blipFill rotWithShape="1">
                <a:blip r:embed="rId14"/>
                <a:stretch>
                  <a:fillRect r="-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716872" y="5926137"/>
                <a:ext cx="5380716" cy="61912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b="1" i="1" dirty="0"/>
                  <a:t> =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1" i="1" dirty="0" smtClean="0">
                            <a:latin typeface="Cambria Math"/>
                          </a:rPr>
                          <m:t>𝑺</m:t>
                        </m:r>
                      </m:sub>
                      <m:sup/>
                      <m:e>
                        <m:r>
                          <a:rPr lang="en-US" b="1" i="1" dirty="0" smtClean="0">
                            <a:latin typeface="Cambria Math"/>
                          </a:rPr>
                          <m:t>𝒅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  <a:ea typeface="Cambria Math"/>
                              </a:rPr>
                              <m:t>𝜽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𝑫</m:t>
                            </m:r>
                          </m:sub>
                        </m:sSub>
                        <m:r>
                          <a:rPr lang="en-US" b="1" i="1" smtClean="0">
                            <a:latin typeface="Cambria Math"/>
                          </a:rPr>
                          <m:t>= </m:t>
                        </m:r>
                      </m:e>
                    </m:nary>
                  </m:oMath>
                </a14:m>
                <a:r>
                  <a:rPr lang="en-US" b="1" i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1" i="1" dirty="0">
                            <a:latin typeface="Cambria Math"/>
                          </a:rPr>
                          <m:t>𝑺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 smtClean="0">
                                <a:latin typeface="Cambria Math"/>
                              </a:rPr>
                              <m:t>𝑫</m:t>
                            </m:r>
                          </m:e>
                        </m:acc>
                        <m:r>
                          <m:rPr>
                            <m:brk m:alnAt="16"/>
                          </m:rPr>
                          <a:rPr lang="en-US" b="1" i="1" dirty="0" smtClean="0">
                            <a:latin typeface="Cambria Math"/>
                          </a:rPr>
                          <m:t>𝒅</m:t>
                        </m:r>
                        <m:acc>
                          <m:accPr>
                            <m:chr m:val="⃗"/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 smtClean="0">
                                <a:latin typeface="Cambria Math"/>
                              </a:rPr>
                              <m:t>𝑺</m:t>
                            </m:r>
                          </m:e>
                        </m:acc>
                        <m:r>
                          <a:rPr lang="en-US" b="1" i="1">
                            <a:latin typeface="Cambria Math"/>
                          </a:rPr>
                          <m:t>=</m:t>
                        </m:r>
                      </m:e>
                    </m:nary>
                    <m:nary>
                      <m:naryPr>
                        <m:chr m:val="∮"/>
                        <m:ctrlPr>
                          <a:rPr lang="el-G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/>
                          </a:rPr>
                          <m:t>𝑺</m:t>
                        </m:r>
                      </m:sub>
                      <m:sup/>
                      <m:e>
                        <m:r>
                          <a:rPr lang="en-US" b="1" i="1">
                            <a:latin typeface="Cambria Math"/>
                          </a:rPr>
                          <m:t>𝑫</m:t>
                        </m:r>
                        <m:r>
                          <m:rPr>
                            <m:nor/>
                          </m:rPr>
                          <a:rPr lang="en-US" b="1" i="1" dirty="0"/>
                          <m:t>.</m:t>
                        </m:r>
                        <m:r>
                          <m:rPr>
                            <m:nor/>
                          </m:rPr>
                          <a:rPr lang="en-US" b="1" i="1" dirty="0" err="1"/>
                          <m:t>S</m:t>
                        </m:r>
                        <m:r>
                          <m:rPr>
                            <m:nor/>
                          </m:rPr>
                          <a:rPr lang="en-US" b="1" i="1" dirty="0" err="1"/>
                          <m:t>.</m:t>
                        </m:r>
                        <m:r>
                          <m:rPr>
                            <m:nor/>
                          </m:rPr>
                          <a:rPr lang="en-US" b="1" i="1" dirty="0" err="1"/>
                          <m:t>cos</m:t>
                        </m:r>
                        <m:r>
                          <m:rPr>
                            <m:nor/>
                          </m:rPr>
                          <a:rPr lang="el-GR" b="1" i="1" dirty="0"/>
                          <m:t>α</m:t>
                        </m:r>
                      </m:e>
                    </m:nary>
                  </m:oMath>
                </a14:m>
                <a:r>
                  <a:rPr lang="en-US" b="1" i="1" dirty="0"/>
                  <a:t>, </a:t>
                </a:r>
                <a:r>
                  <a:rPr lang="el-GR" b="1" i="1" dirty="0"/>
                  <a:t>α</a:t>
                </a:r>
                <a:r>
                  <a:rPr lang="en-US" b="1" i="1" dirty="0"/>
                  <a:t> =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𝑬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𝒏</m:t>
                        </m:r>
                      </m:e>
                    </m:acc>
                  </m:oMath>
                </a14:m>
                <a:r>
                  <a:rPr lang="en-US" b="1" i="1" dirty="0"/>
                  <a:t>)</a:t>
                </a: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72" y="5926137"/>
                <a:ext cx="5380716" cy="619125"/>
              </a:xfrm>
              <a:prstGeom prst="rect">
                <a:avLst/>
              </a:prstGeom>
              <a:blipFill rotWithShape="1">
                <a:blip r:embed="rId15"/>
                <a:stretch>
                  <a:fillRect t="-61905" b="-11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A131915-4D0E-1761-73E0-DD215E8B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E2A380-15D8-DF24-B14C-6FE86656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10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10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3" dur="10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6" dur="10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9" dur="10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2" dur="1000"/>
                                        <p:tgtEl>
                                          <p:spTgt spid="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5" dur="10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8" dur="10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1" dur="10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4" dur="10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1774" grpId="0" animBg="1"/>
      <p:bldP spid="31775" grpId="0" animBg="1"/>
      <p:bldP spid="31776" grpId="0" animBg="1"/>
      <p:bldP spid="31777" grpId="0" animBg="1"/>
      <p:bldP spid="31779" grpId="0" animBg="1"/>
      <p:bldP spid="31780" grpId="0" animBg="1"/>
      <p:bldP spid="31781" grpId="0" animBg="1"/>
      <p:bldP spid="31782" grpId="0" animBg="1"/>
      <p:bldP spid="31783" grpId="0" animBg="1"/>
      <p:bldP spid="31784" grpId="0" animBg="1"/>
      <p:bldP spid="31785" grpId="0" animBg="1"/>
      <p:bldP spid="31786" grpId="0"/>
      <p:bldP spid="31794" grpId="0" animBg="1"/>
      <p:bldP spid="31795" grpId="0"/>
      <p:bldP spid="176" grpId="0"/>
      <p:bldP spid="178" grpId="0"/>
      <p:bldP spid="180" grpId="0"/>
      <p:bldP spid="182" grpId="0"/>
      <p:bldP spid="183" grpId="0"/>
      <p:bldP spid="184" grpId="0" animBg="1"/>
      <p:bldP spid="185" grpId="0" animBg="1"/>
      <p:bldP spid="31778" grpId="0" animBg="1"/>
      <p:bldP spid="5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i="1" dirty="0"/>
                  <a:t>VD1: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lượng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gửi</a:t>
                </a:r>
                <a:r>
                  <a:rPr lang="en-US" sz="2800" dirty="0"/>
                  <a:t> qua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cầu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kính</a:t>
                </a:r>
                <a:r>
                  <a:rPr lang="en-US" sz="2800" dirty="0"/>
                  <a:t> 1m </a:t>
                </a:r>
                <a:r>
                  <a:rPr lang="en-US" sz="2800" dirty="0" err="1"/>
                  <a:t>đặt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trong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khí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với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tích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tại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tâm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cầu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giá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trị</a:t>
                </a:r>
                <a:r>
                  <a:rPr lang="en-US" sz="2800" dirty="0"/>
                  <a:t> +1</a:t>
                </a:r>
                <a:r>
                  <a:rPr lang="el-GR" sz="2800" i="1" dirty="0"/>
                  <a:t>μ</a:t>
                </a:r>
                <a:r>
                  <a:rPr lang="en-US" sz="2800" i="1" dirty="0"/>
                  <a:t>C </a:t>
                </a:r>
                <a:r>
                  <a:rPr lang="en-US" sz="2800" dirty="0"/>
                  <a:t>?</a:t>
                </a:r>
              </a:p>
              <a:p>
                <a:pPr marL="0" indent="0">
                  <a:buNone/>
                </a:pPr>
                <a:r>
                  <a:rPr lang="en-US" sz="2800" dirty="0"/>
                  <a:t>   </a:t>
                </a:r>
                <a:endParaRPr lang="en-US" sz="2800" b="1" i="1" dirty="0"/>
              </a:p>
              <a:p>
                <a:pPr marL="0" indent="0">
                  <a:buNone/>
                </a:pPr>
                <a:r>
                  <a:rPr lang="en-US" sz="2800" dirty="0"/>
                  <a:t>	</a:t>
                </a:r>
                <a:r>
                  <a:rPr lang="el-GR" sz="2800" b="1" i="1" dirty="0"/>
                  <a:t>Φ</a:t>
                </a:r>
                <a:r>
                  <a:rPr lang="en-US" sz="2000" b="1" i="1" dirty="0"/>
                  <a:t>E</a:t>
                </a:r>
                <a:r>
                  <a:rPr lang="en-US" sz="2800" b="1" i="1" dirty="0"/>
                  <a:t> = </a:t>
                </a:r>
                <a:r>
                  <a:rPr lang="en-US" sz="2800" b="1" i="1" dirty="0" err="1"/>
                  <a:t>E.S.cos</a:t>
                </a:r>
                <a:r>
                  <a:rPr lang="el-GR" sz="2800" b="1" i="1" dirty="0"/>
                  <a:t>α</a:t>
                </a:r>
                <a:r>
                  <a:rPr lang="en-US" sz="2800" b="1" i="1" dirty="0"/>
                  <a:t> = k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/>
                          </a:rPr>
                          <m:t>𝒒</m:t>
                        </m:r>
                      </m:num>
                      <m:den>
                        <m:r>
                          <a:rPr lang="en-US" sz="2800" b="1" i="1">
                            <a:latin typeface="Cambria Math"/>
                          </a:rPr>
                          <m:t>𝒓</m:t>
                        </m:r>
                        <m:r>
                          <a:rPr lang="en-US" sz="2800" b="1" i="1"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r>
                  <a:rPr lang="en-US" sz="2800" b="1" i="1" dirty="0"/>
                  <a:t>.4</a:t>
                </a:r>
                <a:r>
                  <a:rPr lang="el-GR" sz="2800" b="1" i="1" dirty="0"/>
                  <a:t>π</a:t>
                </a:r>
                <a:r>
                  <a:rPr lang="en-US" sz="2800" b="1" i="1" dirty="0"/>
                  <a:t>r²</a:t>
                </a:r>
              </a:p>
              <a:p>
                <a:pPr marL="0" indent="0">
                  <a:buNone/>
                </a:pPr>
                <a:endParaRPr lang="en-US" sz="2800" b="1" i="1" dirty="0"/>
              </a:p>
              <a:p>
                <a:pPr marL="0" indent="0">
                  <a:buNone/>
                </a:pPr>
                <a:r>
                  <a:rPr lang="en-US" sz="2800" i="1" dirty="0"/>
                  <a:t>VD2: </a:t>
                </a:r>
                <a:r>
                  <a:rPr lang="en-US" sz="2800" dirty="0"/>
                  <a:t>Cho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đều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nằm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dọc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trục</a:t>
                </a:r>
                <a:r>
                  <a:rPr lang="en-US" sz="2800" dirty="0"/>
                  <a:t> x. </a:t>
                </a:r>
                <a:r>
                  <a:rPr lang="en-US" sz="2800" dirty="0" err="1"/>
                  <a:t>Xác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định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lượng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gửi</a:t>
                </a:r>
                <a:r>
                  <a:rPr lang="en-US" sz="2800" dirty="0"/>
                  <a:t> qua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kín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khối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lập</a:t>
                </a:r>
                <a:r>
                  <a:rPr lang="en-US" sz="2800" dirty="0"/>
                  <a:t> </a:t>
                </a:r>
                <a:r>
                  <a:rPr lang="en-US" sz="2800" dirty="0" err="1"/>
                  <a:t>phương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cạnh</a:t>
                </a:r>
                <a:r>
                  <a:rPr lang="en-US" sz="2800" dirty="0"/>
                  <a:t> </a:t>
                </a:r>
                <a:r>
                  <a:rPr lang="en-US" sz="2800" i="1" dirty="0"/>
                  <a:t>l</a:t>
                </a:r>
                <a:r>
                  <a:rPr lang="en-US" sz="2800" dirty="0"/>
                  <a:t> ?</a:t>
                </a:r>
              </a:p>
              <a:p>
                <a:pPr marL="0" indent="0">
                  <a:buNone/>
                </a:pPr>
                <a:r>
                  <a:rPr lang="en-US" sz="2800" b="1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1481" t="-204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685800" y="0"/>
            <a:ext cx="7620000" cy="889000"/>
            <a:chOff x="1200" y="1392"/>
            <a:chExt cx="5476" cy="560"/>
          </a:xfrm>
        </p:grpSpPr>
        <p:pic>
          <p:nvPicPr>
            <p:cNvPr id="5" name="Picture 37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5476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>
              <a:off x="1807" y="1510"/>
              <a:ext cx="419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8.3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sức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thông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7" name="Picture 4" descr="E:\Work\Food Industry College\Dien-Tu truong\Hinh anh\Truong tinh dien\equipotspher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889000"/>
            <a:ext cx="4064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93351D-A033-94ED-A79B-16FD51E0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89DBC9-556C-5D2F-E705-673F2DFE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7BEC43-EE15-4654-7260-4F7A955B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F4B34-3105-BC13-C924-65D7F42A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E6A14DE-DCFA-2090-40E6-C1F415DFA7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219200" y="5448536"/>
                <a:ext cx="6456655" cy="972845"/>
              </a:xfrm>
            </p:spPr>
            <p:txBody>
              <a:bodyPr/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en-US" sz="2400" dirty="0"/>
                  <a:t>= E.S.cos0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+ E.S.cos180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= 0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E6A14DE-DCFA-2090-40E6-C1F415DFA7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19200" y="5448536"/>
                <a:ext cx="6456655" cy="972845"/>
              </a:xfrm>
              <a:blipFill>
                <a:blip r:embed="rId2"/>
                <a:stretch>
                  <a:fillRect l="-2077" t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413A37B-E0E8-9F7F-EF57-3A33F447B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49421"/>
            <a:ext cx="3615209" cy="3035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781CC1-17D6-EBFF-4BC9-6E99F64850C1}"/>
              </a:ext>
            </a:extLst>
          </p:cNvPr>
          <p:cNvCxnSpPr>
            <a:cxnSpLocks/>
          </p:cNvCxnSpPr>
          <p:nvPr/>
        </p:nvCxnSpPr>
        <p:spPr>
          <a:xfrm flipH="1">
            <a:off x="4986403" y="2928018"/>
            <a:ext cx="948207" cy="838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FC426D-AD62-0939-E743-1780ED2C3F0C}"/>
              </a:ext>
            </a:extLst>
          </p:cNvPr>
          <p:cNvCxnSpPr>
            <a:cxnSpLocks/>
          </p:cNvCxnSpPr>
          <p:nvPr/>
        </p:nvCxnSpPr>
        <p:spPr>
          <a:xfrm flipH="1">
            <a:off x="4152900" y="267143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B3000-FC27-9158-F0D0-C47773B3AC7A}"/>
              </a:ext>
            </a:extLst>
          </p:cNvPr>
          <p:cNvCxnSpPr>
            <a:cxnSpLocks/>
          </p:cNvCxnSpPr>
          <p:nvPr/>
        </p:nvCxnSpPr>
        <p:spPr>
          <a:xfrm>
            <a:off x="6324600" y="3733800"/>
            <a:ext cx="0" cy="1143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C0C9C5-2353-B1F4-F0C1-D4AC36243323}"/>
              </a:ext>
            </a:extLst>
          </p:cNvPr>
          <p:cNvCxnSpPr>
            <a:cxnSpLocks/>
          </p:cNvCxnSpPr>
          <p:nvPr/>
        </p:nvCxnSpPr>
        <p:spPr>
          <a:xfrm flipV="1">
            <a:off x="6400800" y="448322"/>
            <a:ext cx="0" cy="10845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C3DFE8-AFA1-B813-E296-25ADBF4B7A51}"/>
              </a:ext>
            </a:extLst>
          </p:cNvPr>
          <p:cNvCxnSpPr>
            <a:cxnSpLocks/>
          </p:cNvCxnSpPr>
          <p:nvPr/>
        </p:nvCxnSpPr>
        <p:spPr>
          <a:xfrm>
            <a:off x="7467600" y="2654421"/>
            <a:ext cx="11430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88E5A6-03B1-1C9A-A4B8-65FFF536CF1C}"/>
              </a:ext>
            </a:extLst>
          </p:cNvPr>
          <p:cNvCxnSpPr>
            <a:cxnSpLocks/>
          </p:cNvCxnSpPr>
          <p:nvPr/>
        </p:nvCxnSpPr>
        <p:spPr>
          <a:xfrm flipV="1">
            <a:off x="7048500" y="1581199"/>
            <a:ext cx="838200" cy="76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57B824-5ED9-E6AD-0D9C-6600EC86AE43}"/>
              </a:ext>
            </a:extLst>
          </p:cNvPr>
          <p:cNvCxnSpPr>
            <a:cxnSpLocks/>
          </p:cNvCxnSpPr>
          <p:nvPr/>
        </p:nvCxnSpPr>
        <p:spPr>
          <a:xfrm>
            <a:off x="4876800" y="5192195"/>
            <a:ext cx="3429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42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762000"/>
                <a:ext cx="8229600" cy="5364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một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trường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gửi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qua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mặt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phẳng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S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sẽ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thay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đổi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thế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nào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khi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tạo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với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pháp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tuyến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một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góc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càng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nhỏ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marL="514350" indent="-514350">
                  <a:buAutoNum type="alphaLcParenR"/>
                </a:pP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Càng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lớn</a:t>
                </a:r>
                <a:endParaRPr lang="en-US" sz="2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lphaLcParenR"/>
                </a:pP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Càng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nhỏ</a:t>
                </a:r>
                <a:endParaRPr lang="en-US" sz="2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lphaLcParenR"/>
                </a:pP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Không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đổi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514350" indent="-514350">
                  <a:buAutoNum type="alphaLcParenR"/>
                </a:pP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Bằng</a:t>
                </a:r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dirty="0" err="1">
                    <a:latin typeface="Times New Roman" pitchFamily="18" charset="0"/>
                    <a:cs typeface="Times New Roman" pitchFamily="18" charset="0"/>
                  </a:rPr>
                  <a:t>không</a:t>
                </a:r>
                <a:endParaRPr lang="en-US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762000"/>
                <a:ext cx="8229600" cy="5364163"/>
              </a:xfrm>
              <a:blipFill rotWithShape="1">
                <a:blip r:embed="rId2"/>
                <a:stretch>
                  <a:fillRect l="-2000" t="-1136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Callout 3"/>
              <p:cNvSpPr/>
              <p:nvPr/>
            </p:nvSpPr>
            <p:spPr>
              <a:xfrm>
                <a:off x="3886200" y="2474196"/>
                <a:ext cx="4572000" cy="9906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𝐸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𝑐𝑜𝑠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2474196"/>
                <a:ext cx="4572000" cy="990600"/>
              </a:xfrm>
              <a:prstGeom prst="wedgeEllipse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FB5C9D-9737-D551-5064-0186F7EA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F8990-127C-8137-1F6A-A9D6F6AB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9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762000"/>
                <a:ext cx="8229600" cy="5364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Trong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đều</a:t>
                </a:r>
                <a:r>
                  <a:rPr lang="en-US" sz="2800" dirty="0"/>
                  <a:t> E = 4.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en-US" sz="2800" dirty="0"/>
                  <a:t>V/m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mảnh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phẳng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tiết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diện</a:t>
                </a:r>
                <a:r>
                  <a:rPr lang="en-US" sz="2800" dirty="0"/>
                  <a:t> S = 50cm², vector </a:t>
                </a:r>
                <a:r>
                  <a:rPr lang="en-US" sz="2800" dirty="0" err="1"/>
                  <a:t>pháp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tuyến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hợp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với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góc</a:t>
                </a:r>
                <a:r>
                  <a:rPr lang="en-US" sz="2800" dirty="0"/>
                  <a:t> 120°.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lượng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cảm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ứng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qua S?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				</a:t>
                </a:r>
                <a:endParaRPr lang="en-US" sz="2800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762000"/>
                <a:ext cx="8229600" cy="5364163"/>
              </a:xfrm>
              <a:blipFill>
                <a:blip r:embed="rId2"/>
                <a:stretch>
                  <a:fillRect l="-1481" t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11E617-DD4E-10B7-4E63-69ED7DAE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57BA1-5D40-11E1-FFFB-B01E2DC1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Callout 3">
                <a:extLst>
                  <a:ext uri="{FF2B5EF4-FFF2-40B4-BE49-F238E27FC236}">
                    <a16:creationId xmlns:a16="http://schemas.microsoft.com/office/drawing/2014/main" id="{E626AF47-F61A-D670-02D7-6D4BAF19C7BB}"/>
                  </a:ext>
                </a:extLst>
              </p:cNvPr>
              <p:cNvSpPr/>
              <p:nvPr/>
            </p:nvSpPr>
            <p:spPr>
              <a:xfrm>
                <a:off x="304800" y="3200400"/>
                <a:ext cx="4114800" cy="1219200"/>
              </a:xfrm>
              <a:prstGeom prst="wedgeEllipseCallou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𝐸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𝑐𝑜𝑠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α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𝑐𝑜𝑠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Callout 3">
                <a:extLst>
                  <a:ext uri="{FF2B5EF4-FFF2-40B4-BE49-F238E27FC236}">
                    <a16:creationId xmlns:a16="http://schemas.microsoft.com/office/drawing/2014/main" id="{E626AF47-F61A-D670-02D7-6D4BAF19C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200400"/>
                <a:ext cx="4114800" cy="1219200"/>
              </a:xfrm>
              <a:prstGeom prst="wedgeEllipse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30A4A1D-A5D6-39AF-9E89-A705231591C9}"/>
                  </a:ext>
                </a:extLst>
              </p:cNvPr>
              <p:cNvSpPr/>
              <p:nvPr/>
            </p:nvSpPr>
            <p:spPr>
              <a:xfrm>
                <a:off x="3962400" y="4475254"/>
                <a:ext cx="4724400" cy="12192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l-GR" sz="1800" b="1" i="1" dirty="0"/>
                  <a:t>Φ</a:t>
                </a:r>
                <a:r>
                  <a:rPr lang="en-US" sz="1600" b="1" i="1" dirty="0"/>
                  <a:t>E</a:t>
                </a:r>
                <a:r>
                  <a:rPr lang="en-US" sz="1800" b="1" i="1" dirty="0"/>
                  <a:t> =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18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sz="1800" b="1" i="1" dirty="0"/>
                  <a:t> </a:t>
                </a:r>
                <a:r>
                  <a:rPr lang="en-US" sz="1800" b="1" i="1" dirty="0" err="1"/>
                  <a:t>Vm</a:t>
                </a:r>
                <a:endParaRPr lang="en-US" sz="1800" b="1" i="1" dirty="0"/>
              </a:p>
              <a:p>
                <a:pPr marL="0" indent="0">
                  <a:buNone/>
                </a:pPr>
                <a:r>
                  <a:rPr lang="en-US" sz="1800" b="1" i="1" dirty="0"/>
                  <a:t>				</a:t>
                </a:r>
                <a:r>
                  <a:rPr lang="el-GR" sz="1800" b="1" i="1" dirty="0"/>
                  <a:t>Φ</a:t>
                </a:r>
                <a:r>
                  <a:rPr lang="en-US" sz="1600" b="1" i="1" dirty="0"/>
                  <a:t>D</a:t>
                </a:r>
                <a:r>
                  <a:rPr lang="en-US" sz="1800" b="1" i="1" dirty="0"/>
                  <a:t> = - 8,86.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18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/>
                          </a:rPr>
                          <m:t>𝟏𝟗</m:t>
                        </m:r>
                      </m:sup>
                    </m:sSup>
                  </m:oMath>
                </a14:m>
                <a:r>
                  <a:rPr lang="en-US" sz="1800" b="1" i="1" dirty="0"/>
                  <a:t> C</a:t>
                </a: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30A4A1D-A5D6-39AF-9E89-A705231591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475254"/>
                <a:ext cx="4724400" cy="12192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94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838200"/>
                <a:ext cx="8229600" cy="52879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800" dirty="0" err="1"/>
                  <a:t>Mặt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kín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khối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lăng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trụ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trong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đều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phương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nằm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ngang</a:t>
                </a:r>
                <a:r>
                  <a:rPr lang="en-US" sz="2800" dirty="0"/>
                  <a:t>, E = 7,8.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800" dirty="0"/>
                  <a:t>N/C. </a:t>
                </a:r>
                <a:r>
                  <a:rPr lang="en-US" sz="2800" dirty="0" err="1"/>
                  <a:t>Tìm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lượng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gửi</a:t>
                </a:r>
                <a:r>
                  <a:rPr lang="en-US" sz="2800" dirty="0"/>
                  <a:t> qua </a:t>
                </a:r>
                <a:r>
                  <a:rPr lang="en-US" sz="2800" dirty="0" err="1"/>
                  <a:t>mặt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lăng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trụ</a:t>
                </a:r>
                <a:r>
                  <a:rPr lang="en-US" sz="2800" dirty="0"/>
                  <a:t> qua:</a:t>
                </a:r>
              </a:p>
              <a:p>
                <a:pPr marL="742950" indent="-742950" algn="just">
                  <a:buAutoNum type="alphaLcParenR"/>
                </a:pPr>
                <a:r>
                  <a:rPr lang="en-US" sz="2800" dirty="0" err="1"/>
                  <a:t>Mặt</a:t>
                </a:r>
                <a:r>
                  <a:rPr lang="en-US" sz="2800" dirty="0"/>
                  <a:t> tam </a:t>
                </a:r>
                <a:r>
                  <a:rPr lang="en-US" sz="2800" dirty="0" err="1"/>
                  <a:t>giác</a:t>
                </a:r>
                <a:endParaRPr lang="en-US" sz="2800" dirty="0"/>
              </a:p>
              <a:p>
                <a:pPr marL="742950" indent="-742950" algn="just">
                  <a:buAutoNum type="alphaLcParenR"/>
                </a:pPr>
                <a:r>
                  <a:rPr lang="en-US" sz="2800" dirty="0" err="1"/>
                  <a:t>Mặt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chữ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nhật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cạnh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góc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vuông</a:t>
                </a:r>
                <a:endParaRPr lang="en-US" sz="2800" dirty="0"/>
              </a:p>
              <a:p>
                <a:pPr marL="742950" indent="-742950" algn="just">
                  <a:buAutoNum type="alphaLcParenR"/>
                </a:pPr>
                <a:r>
                  <a:rPr lang="en-US" sz="2800" dirty="0" err="1"/>
                  <a:t>Mặt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chữ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nhật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cạnh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huyền</a:t>
                </a:r>
                <a:endParaRPr lang="en-US" sz="2800" dirty="0"/>
              </a:p>
              <a:p>
                <a:pPr marL="0" indent="0">
                  <a:buNone/>
                </a:pPr>
                <a:endParaRPr lang="en-US" sz="2800" b="1" i="1" dirty="0"/>
              </a:p>
              <a:p>
                <a:pPr marL="0" indent="0">
                  <a:buNone/>
                </a:pPr>
                <a:r>
                  <a:rPr lang="en-US" sz="2800" b="1" i="1" dirty="0"/>
                  <a:t>				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838200"/>
                <a:ext cx="8229600" cy="5287963"/>
              </a:xfrm>
              <a:blipFill>
                <a:blip r:embed="rId2"/>
                <a:stretch>
                  <a:fillRect l="-2148" t="-1384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4CF246-DEC8-4960-64AF-1DE2B31A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B5112-FEAC-A47C-DE15-B8944D84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12B1C-70CD-70D1-0495-DACDE1BA5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317" y="3989349"/>
            <a:ext cx="5024232" cy="253761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CE4AF5-0356-324A-C5C4-C61CB7594567}"/>
              </a:ext>
            </a:extLst>
          </p:cNvPr>
          <p:cNvCxnSpPr>
            <a:cxnSpLocks/>
          </p:cNvCxnSpPr>
          <p:nvPr/>
        </p:nvCxnSpPr>
        <p:spPr>
          <a:xfrm flipH="1" flipV="1">
            <a:off x="4038600" y="4919512"/>
            <a:ext cx="1357543" cy="2258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BBDD94-535B-E192-5CBE-6D7AD7460F52}"/>
              </a:ext>
            </a:extLst>
          </p:cNvPr>
          <p:cNvCxnSpPr>
            <a:cxnSpLocks/>
          </p:cNvCxnSpPr>
          <p:nvPr/>
        </p:nvCxnSpPr>
        <p:spPr>
          <a:xfrm flipH="1">
            <a:off x="4724400" y="5889624"/>
            <a:ext cx="529225" cy="9302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E36E46-3A8F-A350-9B65-A7D55AF7C0FC}"/>
              </a:ext>
            </a:extLst>
          </p:cNvPr>
          <p:cNvCxnSpPr>
            <a:cxnSpLocks/>
          </p:cNvCxnSpPr>
          <p:nvPr/>
        </p:nvCxnSpPr>
        <p:spPr>
          <a:xfrm flipV="1">
            <a:off x="6553200" y="4334122"/>
            <a:ext cx="810087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F00E66-4EF1-A26E-7630-72BE59535FF7}"/>
              </a:ext>
            </a:extLst>
          </p:cNvPr>
          <p:cNvCxnSpPr>
            <a:cxnSpLocks/>
          </p:cNvCxnSpPr>
          <p:nvPr/>
        </p:nvCxnSpPr>
        <p:spPr>
          <a:xfrm>
            <a:off x="6562817" y="5278114"/>
            <a:ext cx="1075837" cy="7461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18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18"/>
          <p:cNvGrpSpPr>
            <a:grpSpLocks/>
          </p:cNvGrpSpPr>
          <p:nvPr/>
        </p:nvGrpSpPr>
        <p:grpSpPr bwMode="auto">
          <a:xfrm>
            <a:off x="-304800" y="14288"/>
            <a:ext cx="9372600" cy="889000"/>
            <a:chOff x="1200" y="1392"/>
            <a:chExt cx="6735" cy="560"/>
          </a:xfrm>
        </p:grpSpPr>
        <p:pic>
          <p:nvPicPr>
            <p:cNvPr id="36933" name="Picture 8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6735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1726" y="1510"/>
              <a:ext cx="578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.4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Công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của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lực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,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hiệu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6867" name="Rectangle 115"/>
          <p:cNvSpPr>
            <a:spLocks noChangeArrowheads="1"/>
          </p:cNvSpPr>
          <p:nvPr/>
        </p:nvSpPr>
        <p:spPr bwMode="auto">
          <a:xfrm>
            <a:off x="0" y="180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300">
                <a:cs typeface="Times New Roman" pitchFamily="18" charset="0"/>
              </a:rPr>
              <a:t> </a:t>
            </a:r>
            <a:r>
              <a:rPr lang="vi-VN" sz="900"/>
              <a:t> </a:t>
            </a:r>
            <a:endParaRPr lang="vi-VN"/>
          </a:p>
        </p:txBody>
      </p:sp>
      <p:grpSp>
        <p:nvGrpSpPr>
          <p:cNvPr id="3" name="Group 134"/>
          <p:cNvGrpSpPr>
            <a:grpSpLocks/>
          </p:cNvGrpSpPr>
          <p:nvPr/>
        </p:nvGrpSpPr>
        <p:grpSpPr bwMode="auto">
          <a:xfrm>
            <a:off x="5638800" y="1828800"/>
            <a:ext cx="3429000" cy="2590800"/>
            <a:chOff x="4724398" y="1371600"/>
            <a:chExt cx="3918841" cy="3048000"/>
          </a:xfrm>
        </p:grpSpPr>
        <p:grpSp>
          <p:nvGrpSpPr>
            <p:cNvPr id="36885" name="Group 59"/>
            <p:cNvGrpSpPr>
              <a:grpSpLocks/>
            </p:cNvGrpSpPr>
            <p:nvPr/>
          </p:nvGrpSpPr>
          <p:grpSpPr bwMode="auto">
            <a:xfrm>
              <a:off x="4724398" y="1371600"/>
              <a:ext cx="3918841" cy="3048000"/>
              <a:chOff x="4478337" y="5024437"/>
              <a:chExt cx="2395885" cy="1870103"/>
            </a:xfrm>
          </p:grpSpPr>
          <p:sp>
            <p:nvSpPr>
              <p:cNvPr id="17413" name="Freeform 5"/>
              <p:cNvSpPr>
                <a:spLocks/>
              </p:cNvSpPr>
              <p:nvPr/>
            </p:nvSpPr>
            <p:spPr bwMode="auto">
              <a:xfrm>
                <a:off x="4727909" y="5470191"/>
                <a:ext cx="1926691" cy="330018"/>
              </a:xfrm>
              <a:custGeom>
                <a:avLst/>
                <a:gdLst/>
                <a:ahLst/>
                <a:cxnLst>
                  <a:cxn ang="0">
                    <a:pos x="0" y="638"/>
                  </a:cxn>
                  <a:cxn ang="0">
                    <a:pos x="267" y="458"/>
                  </a:cxn>
                  <a:cxn ang="0">
                    <a:pos x="543" y="295"/>
                  </a:cxn>
                  <a:cxn ang="0">
                    <a:pos x="835" y="156"/>
                  </a:cxn>
                  <a:cxn ang="0">
                    <a:pos x="981" y="107"/>
                  </a:cxn>
                  <a:cxn ang="0">
                    <a:pos x="1144" y="58"/>
                  </a:cxn>
                  <a:cxn ang="0">
                    <a:pos x="1306" y="33"/>
                  </a:cxn>
                  <a:cxn ang="0">
                    <a:pos x="1484" y="8"/>
                  </a:cxn>
                  <a:cxn ang="0">
                    <a:pos x="1858" y="0"/>
                  </a:cxn>
                  <a:cxn ang="0">
                    <a:pos x="2231" y="17"/>
                  </a:cxn>
                  <a:cxn ang="0">
                    <a:pos x="2401" y="33"/>
                  </a:cxn>
                  <a:cxn ang="0">
                    <a:pos x="2563" y="58"/>
                  </a:cxn>
                  <a:cxn ang="0">
                    <a:pos x="2847" y="131"/>
                  </a:cxn>
                  <a:cxn ang="0">
                    <a:pos x="3099" y="237"/>
                  </a:cxn>
                  <a:cxn ang="0">
                    <a:pos x="3334" y="360"/>
                  </a:cxn>
                  <a:cxn ang="0">
                    <a:pos x="3561" y="491"/>
                  </a:cxn>
                </a:cxnLst>
                <a:rect l="0" t="0" r="r" b="b"/>
                <a:pathLst>
                  <a:path w="3561" h="638">
                    <a:moveTo>
                      <a:pt x="0" y="638"/>
                    </a:moveTo>
                    <a:lnTo>
                      <a:pt x="267" y="458"/>
                    </a:lnTo>
                    <a:lnTo>
                      <a:pt x="543" y="295"/>
                    </a:lnTo>
                    <a:lnTo>
                      <a:pt x="835" y="156"/>
                    </a:lnTo>
                    <a:lnTo>
                      <a:pt x="981" y="107"/>
                    </a:lnTo>
                    <a:lnTo>
                      <a:pt x="1144" y="58"/>
                    </a:lnTo>
                    <a:lnTo>
                      <a:pt x="1306" y="33"/>
                    </a:lnTo>
                    <a:lnTo>
                      <a:pt x="1484" y="8"/>
                    </a:lnTo>
                    <a:lnTo>
                      <a:pt x="1858" y="0"/>
                    </a:lnTo>
                    <a:lnTo>
                      <a:pt x="2231" y="17"/>
                    </a:lnTo>
                    <a:lnTo>
                      <a:pt x="2401" y="33"/>
                    </a:lnTo>
                    <a:lnTo>
                      <a:pt x="2563" y="58"/>
                    </a:lnTo>
                    <a:lnTo>
                      <a:pt x="2847" y="131"/>
                    </a:lnTo>
                    <a:lnTo>
                      <a:pt x="3099" y="237"/>
                    </a:lnTo>
                    <a:lnTo>
                      <a:pt x="3334" y="360"/>
                    </a:lnTo>
                    <a:lnTo>
                      <a:pt x="3561" y="491"/>
                    </a:lnTo>
                  </a:path>
                </a:pathLst>
              </a:custGeom>
              <a:noFill/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15" name="Freeform 7"/>
              <p:cNvSpPr>
                <a:spLocks/>
              </p:cNvSpPr>
              <p:nvPr/>
            </p:nvSpPr>
            <p:spPr bwMode="auto">
              <a:xfrm>
                <a:off x="4709052" y="5800209"/>
                <a:ext cx="68771" cy="72191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16" y="16"/>
                  </a:cxn>
                  <a:cxn ang="0">
                    <a:pos x="0" y="65"/>
                  </a:cxn>
                  <a:cxn ang="0">
                    <a:pos x="16" y="115"/>
                  </a:cxn>
                  <a:cxn ang="0">
                    <a:pos x="65" y="139"/>
                  </a:cxn>
                  <a:cxn ang="0">
                    <a:pos x="113" y="115"/>
                  </a:cxn>
                  <a:cxn ang="0">
                    <a:pos x="138" y="65"/>
                  </a:cxn>
                  <a:cxn ang="0">
                    <a:pos x="113" y="16"/>
                  </a:cxn>
                  <a:cxn ang="0">
                    <a:pos x="65" y="0"/>
                  </a:cxn>
                </a:cxnLst>
                <a:rect l="0" t="0" r="r" b="b"/>
                <a:pathLst>
                  <a:path w="138" h="139">
                    <a:moveTo>
                      <a:pt x="65" y="0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16" y="115"/>
                    </a:lnTo>
                    <a:lnTo>
                      <a:pt x="65" y="139"/>
                    </a:lnTo>
                    <a:lnTo>
                      <a:pt x="113" y="115"/>
                    </a:lnTo>
                    <a:lnTo>
                      <a:pt x="138" y="65"/>
                    </a:lnTo>
                    <a:lnTo>
                      <a:pt x="113" y="16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16" name="Freeform 8"/>
              <p:cNvSpPr>
                <a:spLocks/>
              </p:cNvSpPr>
              <p:nvPr/>
            </p:nvSpPr>
            <p:spPr bwMode="auto">
              <a:xfrm>
                <a:off x="4709052" y="5800209"/>
                <a:ext cx="68771" cy="72191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16" y="16"/>
                  </a:cxn>
                  <a:cxn ang="0">
                    <a:pos x="0" y="65"/>
                  </a:cxn>
                  <a:cxn ang="0">
                    <a:pos x="16" y="115"/>
                  </a:cxn>
                  <a:cxn ang="0">
                    <a:pos x="65" y="139"/>
                  </a:cxn>
                  <a:cxn ang="0">
                    <a:pos x="113" y="115"/>
                  </a:cxn>
                  <a:cxn ang="0">
                    <a:pos x="138" y="65"/>
                  </a:cxn>
                  <a:cxn ang="0">
                    <a:pos x="113" y="16"/>
                  </a:cxn>
                  <a:cxn ang="0">
                    <a:pos x="65" y="0"/>
                  </a:cxn>
                </a:cxnLst>
                <a:rect l="0" t="0" r="r" b="b"/>
                <a:pathLst>
                  <a:path w="138" h="139">
                    <a:moveTo>
                      <a:pt x="65" y="0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16" y="115"/>
                    </a:lnTo>
                    <a:lnTo>
                      <a:pt x="65" y="139"/>
                    </a:lnTo>
                    <a:lnTo>
                      <a:pt x="113" y="115"/>
                    </a:lnTo>
                    <a:lnTo>
                      <a:pt x="138" y="65"/>
                    </a:lnTo>
                    <a:lnTo>
                      <a:pt x="113" y="16"/>
                    </a:lnTo>
                    <a:lnTo>
                      <a:pt x="65" y="0"/>
                    </a:lnTo>
                  </a:path>
                </a:pathLst>
              </a:custGeom>
              <a:noFill/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17" name="Freeform 9"/>
              <p:cNvSpPr>
                <a:spLocks/>
              </p:cNvSpPr>
              <p:nvPr/>
            </p:nvSpPr>
            <p:spPr bwMode="auto">
              <a:xfrm>
                <a:off x="6616886" y="5724580"/>
                <a:ext cx="69880" cy="71046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24" y="24"/>
                  </a:cxn>
                  <a:cxn ang="0">
                    <a:pos x="0" y="73"/>
                  </a:cxn>
                  <a:cxn ang="0">
                    <a:pos x="24" y="123"/>
                  </a:cxn>
                  <a:cxn ang="0">
                    <a:pos x="73" y="139"/>
                  </a:cxn>
                  <a:cxn ang="0">
                    <a:pos x="122" y="123"/>
                  </a:cxn>
                  <a:cxn ang="0">
                    <a:pos x="138" y="73"/>
                  </a:cxn>
                  <a:cxn ang="0">
                    <a:pos x="122" y="24"/>
                  </a:cxn>
                  <a:cxn ang="0">
                    <a:pos x="73" y="0"/>
                  </a:cxn>
                </a:cxnLst>
                <a:rect l="0" t="0" r="r" b="b"/>
                <a:pathLst>
                  <a:path w="138" h="139">
                    <a:moveTo>
                      <a:pt x="73" y="0"/>
                    </a:moveTo>
                    <a:lnTo>
                      <a:pt x="24" y="24"/>
                    </a:lnTo>
                    <a:lnTo>
                      <a:pt x="0" y="73"/>
                    </a:lnTo>
                    <a:lnTo>
                      <a:pt x="24" y="123"/>
                    </a:lnTo>
                    <a:lnTo>
                      <a:pt x="73" y="139"/>
                    </a:lnTo>
                    <a:lnTo>
                      <a:pt x="122" y="123"/>
                    </a:lnTo>
                    <a:lnTo>
                      <a:pt x="138" y="73"/>
                    </a:lnTo>
                    <a:lnTo>
                      <a:pt x="122" y="24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18" name="Freeform 10"/>
              <p:cNvSpPr>
                <a:spLocks/>
              </p:cNvSpPr>
              <p:nvPr/>
            </p:nvSpPr>
            <p:spPr bwMode="auto">
              <a:xfrm>
                <a:off x="6616886" y="5724580"/>
                <a:ext cx="69880" cy="71046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24" y="24"/>
                  </a:cxn>
                  <a:cxn ang="0">
                    <a:pos x="0" y="73"/>
                  </a:cxn>
                  <a:cxn ang="0">
                    <a:pos x="24" y="123"/>
                  </a:cxn>
                  <a:cxn ang="0">
                    <a:pos x="73" y="139"/>
                  </a:cxn>
                  <a:cxn ang="0">
                    <a:pos x="122" y="123"/>
                  </a:cxn>
                  <a:cxn ang="0">
                    <a:pos x="138" y="73"/>
                  </a:cxn>
                  <a:cxn ang="0">
                    <a:pos x="122" y="24"/>
                  </a:cxn>
                  <a:cxn ang="0">
                    <a:pos x="73" y="0"/>
                  </a:cxn>
                </a:cxnLst>
                <a:rect l="0" t="0" r="r" b="b"/>
                <a:pathLst>
                  <a:path w="138" h="139">
                    <a:moveTo>
                      <a:pt x="73" y="0"/>
                    </a:moveTo>
                    <a:lnTo>
                      <a:pt x="24" y="24"/>
                    </a:lnTo>
                    <a:lnTo>
                      <a:pt x="0" y="73"/>
                    </a:lnTo>
                    <a:lnTo>
                      <a:pt x="24" y="123"/>
                    </a:lnTo>
                    <a:lnTo>
                      <a:pt x="73" y="139"/>
                    </a:lnTo>
                    <a:lnTo>
                      <a:pt x="122" y="123"/>
                    </a:lnTo>
                    <a:lnTo>
                      <a:pt x="138" y="73"/>
                    </a:lnTo>
                    <a:lnTo>
                      <a:pt x="122" y="24"/>
                    </a:lnTo>
                    <a:lnTo>
                      <a:pt x="73" y="0"/>
                    </a:lnTo>
                  </a:path>
                </a:pathLst>
              </a:custGeom>
              <a:noFill/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19" name="Freeform 11"/>
              <p:cNvSpPr>
                <a:spLocks/>
              </p:cNvSpPr>
              <p:nvPr/>
            </p:nvSpPr>
            <p:spPr bwMode="auto">
              <a:xfrm>
                <a:off x="4709052" y="6684841"/>
                <a:ext cx="145306" cy="148967"/>
              </a:xfrm>
              <a:custGeom>
                <a:avLst/>
                <a:gdLst/>
                <a:ahLst/>
                <a:cxnLst>
                  <a:cxn ang="0">
                    <a:pos x="138" y="0"/>
                  </a:cxn>
                  <a:cxn ang="0">
                    <a:pos x="81" y="16"/>
                  </a:cxn>
                  <a:cxn ang="0">
                    <a:pos x="40" y="41"/>
                  </a:cxn>
                  <a:cxn ang="0">
                    <a:pos x="8" y="90"/>
                  </a:cxn>
                  <a:cxn ang="0">
                    <a:pos x="0" y="147"/>
                  </a:cxn>
                  <a:cxn ang="0">
                    <a:pos x="8" y="205"/>
                  </a:cxn>
                  <a:cxn ang="0">
                    <a:pos x="40" y="245"/>
                  </a:cxn>
                  <a:cxn ang="0">
                    <a:pos x="81" y="278"/>
                  </a:cxn>
                  <a:cxn ang="0">
                    <a:pos x="138" y="286"/>
                  </a:cxn>
                  <a:cxn ang="0">
                    <a:pos x="195" y="278"/>
                  </a:cxn>
                  <a:cxn ang="0">
                    <a:pos x="235" y="245"/>
                  </a:cxn>
                  <a:cxn ang="0">
                    <a:pos x="268" y="205"/>
                  </a:cxn>
                  <a:cxn ang="0">
                    <a:pos x="284" y="147"/>
                  </a:cxn>
                  <a:cxn ang="0">
                    <a:pos x="268" y="90"/>
                  </a:cxn>
                  <a:cxn ang="0">
                    <a:pos x="235" y="41"/>
                  </a:cxn>
                  <a:cxn ang="0">
                    <a:pos x="195" y="16"/>
                  </a:cxn>
                  <a:cxn ang="0">
                    <a:pos x="138" y="0"/>
                  </a:cxn>
                </a:cxnLst>
                <a:rect l="0" t="0" r="r" b="b"/>
                <a:pathLst>
                  <a:path w="284" h="286">
                    <a:moveTo>
                      <a:pt x="138" y="0"/>
                    </a:moveTo>
                    <a:lnTo>
                      <a:pt x="81" y="16"/>
                    </a:lnTo>
                    <a:lnTo>
                      <a:pt x="40" y="41"/>
                    </a:lnTo>
                    <a:lnTo>
                      <a:pt x="8" y="90"/>
                    </a:lnTo>
                    <a:lnTo>
                      <a:pt x="0" y="147"/>
                    </a:lnTo>
                    <a:lnTo>
                      <a:pt x="8" y="205"/>
                    </a:lnTo>
                    <a:lnTo>
                      <a:pt x="40" y="245"/>
                    </a:lnTo>
                    <a:lnTo>
                      <a:pt x="81" y="278"/>
                    </a:lnTo>
                    <a:lnTo>
                      <a:pt x="138" y="286"/>
                    </a:lnTo>
                    <a:lnTo>
                      <a:pt x="195" y="278"/>
                    </a:lnTo>
                    <a:lnTo>
                      <a:pt x="235" y="245"/>
                    </a:lnTo>
                    <a:lnTo>
                      <a:pt x="268" y="205"/>
                    </a:lnTo>
                    <a:lnTo>
                      <a:pt x="284" y="147"/>
                    </a:lnTo>
                    <a:lnTo>
                      <a:pt x="268" y="90"/>
                    </a:lnTo>
                    <a:lnTo>
                      <a:pt x="235" y="41"/>
                    </a:lnTo>
                    <a:lnTo>
                      <a:pt x="195" y="16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0" name="Freeform 12"/>
              <p:cNvSpPr>
                <a:spLocks/>
              </p:cNvSpPr>
              <p:nvPr/>
            </p:nvSpPr>
            <p:spPr bwMode="auto">
              <a:xfrm>
                <a:off x="4709052" y="6684841"/>
                <a:ext cx="145306" cy="148967"/>
              </a:xfrm>
              <a:custGeom>
                <a:avLst/>
                <a:gdLst/>
                <a:ahLst/>
                <a:cxnLst>
                  <a:cxn ang="0">
                    <a:pos x="138" y="0"/>
                  </a:cxn>
                  <a:cxn ang="0">
                    <a:pos x="81" y="16"/>
                  </a:cxn>
                  <a:cxn ang="0">
                    <a:pos x="40" y="41"/>
                  </a:cxn>
                  <a:cxn ang="0">
                    <a:pos x="8" y="90"/>
                  </a:cxn>
                  <a:cxn ang="0">
                    <a:pos x="0" y="147"/>
                  </a:cxn>
                  <a:cxn ang="0">
                    <a:pos x="8" y="205"/>
                  </a:cxn>
                  <a:cxn ang="0">
                    <a:pos x="40" y="245"/>
                  </a:cxn>
                  <a:cxn ang="0">
                    <a:pos x="81" y="278"/>
                  </a:cxn>
                  <a:cxn ang="0">
                    <a:pos x="138" y="286"/>
                  </a:cxn>
                  <a:cxn ang="0">
                    <a:pos x="195" y="278"/>
                  </a:cxn>
                  <a:cxn ang="0">
                    <a:pos x="235" y="245"/>
                  </a:cxn>
                  <a:cxn ang="0">
                    <a:pos x="268" y="205"/>
                  </a:cxn>
                  <a:cxn ang="0">
                    <a:pos x="284" y="147"/>
                  </a:cxn>
                  <a:cxn ang="0">
                    <a:pos x="268" y="90"/>
                  </a:cxn>
                  <a:cxn ang="0">
                    <a:pos x="235" y="41"/>
                  </a:cxn>
                  <a:cxn ang="0">
                    <a:pos x="195" y="16"/>
                  </a:cxn>
                  <a:cxn ang="0">
                    <a:pos x="138" y="0"/>
                  </a:cxn>
                </a:cxnLst>
                <a:rect l="0" t="0" r="r" b="b"/>
                <a:pathLst>
                  <a:path w="284" h="286">
                    <a:moveTo>
                      <a:pt x="138" y="0"/>
                    </a:moveTo>
                    <a:lnTo>
                      <a:pt x="81" y="16"/>
                    </a:lnTo>
                    <a:lnTo>
                      <a:pt x="40" y="41"/>
                    </a:lnTo>
                    <a:lnTo>
                      <a:pt x="8" y="90"/>
                    </a:lnTo>
                    <a:lnTo>
                      <a:pt x="0" y="147"/>
                    </a:lnTo>
                    <a:lnTo>
                      <a:pt x="8" y="205"/>
                    </a:lnTo>
                    <a:lnTo>
                      <a:pt x="40" y="245"/>
                    </a:lnTo>
                    <a:lnTo>
                      <a:pt x="81" y="278"/>
                    </a:lnTo>
                    <a:lnTo>
                      <a:pt x="138" y="286"/>
                    </a:lnTo>
                    <a:lnTo>
                      <a:pt x="195" y="278"/>
                    </a:lnTo>
                    <a:lnTo>
                      <a:pt x="235" y="245"/>
                    </a:lnTo>
                    <a:lnTo>
                      <a:pt x="268" y="205"/>
                    </a:lnTo>
                    <a:lnTo>
                      <a:pt x="284" y="147"/>
                    </a:lnTo>
                    <a:lnTo>
                      <a:pt x="268" y="90"/>
                    </a:lnTo>
                    <a:lnTo>
                      <a:pt x="235" y="41"/>
                    </a:lnTo>
                    <a:lnTo>
                      <a:pt x="195" y="16"/>
                    </a:lnTo>
                    <a:lnTo>
                      <a:pt x="138" y="0"/>
                    </a:lnTo>
                  </a:path>
                </a:pathLst>
              </a:custGeom>
              <a:noFill/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1" name="Line 13"/>
              <p:cNvSpPr>
                <a:spLocks noChangeShapeType="1"/>
              </p:cNvSpPr>
              <p:nvPr/>
            </p:nvSpPr>
            <p:spPr bwMode="auto">
              <a:xfrm flipH="1" flipV="1">
                <a:off x="4727909" y="5864379"/>
                <a:ext cx="49914" cy="820462"/>
              </a:xfrm>
              <a:prstGeom prst="line">
                <a:avLst/>
              </a:prstGeom>
              <a:noFill/>
              <a:ln w="22225">
                <a:solidFill>
                  <a:srgbClr val="0070C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2" name="Freeform 14"/>
              <p:cNvSpPr>
                <a:spLocks noEditPoints="1"/>
              </p:cNvSpPr>
              <p:nvPr/>
            </p:nvSpPr>
            <p:spPr bwMode="auto">
              <a:xfrm>
                <a:off x="4774495" y="5597385"/>
                <a:ext cx="376020" cy="1112666"/>
              </a:xfrm>
              <a:custGeom>
                <a:avLst/>
                <a:gdLst/>
                <a:ahLst/>
                <a:cxnLst>
                  <a:cxn ang="0">
                    <a:pos x="0" y="2150"/>
                  </a:cxn>
                  <a:cxn ang="0">
                    <a:pos x="714" y="8"/>
                  </a:cxn>
                  <a:cxn ang="0">
                    <a:pos x="714" y="8"/>
                  </a:cxn>
                  <a:cxn ang="0">
                    <a:pos x="722" y="16"/>
                  </a:cxn>
                  <a:cxn ang="0">
                    <a:pos x="16" y="2150"/>
                  </a:cxn>
                  <a:cxn ang="0">
                    <a:pos x="8" y="2158"/>
                  </a:cxn>
                  <a:cxn ang="0">
                    <a:pos x="0" y="2150"/>
                  </a:cxn>
                  <a:cxn ang="0">
                    <a:pos x="0" y="2150"/>
                  </a:cxn>
                  <a:cxn ang="0">
                    <a:pos x="673" y="49"/>
                  </a:cxn>
                  <a:cxn ang="0">
                    <a:pos x="722" y="0"/>
                  </a:cxn>
                  <a:cxn ang="0">
                    <a:pos x="730" y="65"/>
                  </a:cxn>
                  <a:cxn ang="0">
                    <a:pos x="730" y="73"/>
                  </a:cxn>
                  <a:cxn ang="0">
                    <a:pos x="722" y="65"/>
                  </a:cxn>
                  <a:cxn ang="0">
                    <a:pos x="714" y="16"/>
                  </a:cxn>
                  <a:cxn ang="0">
                    <a:pos x="722" y="16"/>
                  </a:cxn>
                  <a:cxn ang="0">
                    <a:pos x="681" y="57"/>
                  </a:cxn>
                  <a:cxn ang="0">
                    <a:pos x="673" y="57"/>
                  </a:cxn>
                  <a:cxn ang="0">
                    <a:pos x="673" y="49"/>
                  </a:cxn>
                  <a:cxn ang="0">
                    <a:pos x="673" y="49"/>
                  </a:cxn>
                </a:cxnLst>
                <a:rect l="0" t="0" r="r" b="b"/>
                <a:pathLst>
                  <a:path w="730" h="2158">
                    <a:moveTo>
                      <a:pt x="0" y="2150"/>
                    </a:moveTo>
                    <a:lnTo>
                      <a:pt x="714" y="8"/>
                    </a:lnTo>
                    <a:lnTo>
                      <a:pt x="714" y="8"/>
                    </a:lnTo>
                    <a:lnTo>
                      <a:pt x="722" y="16"/>
                    </a:lnTo>
                    <a:lnTo>
                      <a:pt x="16" y="2150"/>
                    </a:lnTo>
                    <a:lnTo>
                      <a:pt x="8" y="2158"/>
                    </a:lnTo>
                    <a:lnTo>
                      <a:pt x="0" y="2150"/>
                    </a:lnTo>
                    <a:lnTo>
                      <a:pt x="0" y="2150"/>
                    </a:lnTo>
                    <a:close/>
                    <a:moveTo>
                      <a:pt x="673" y="49"/>
                    </a:moveTo>
                    <a:lnTo>
                      <a:pt x="722" y="0"/>
                    </a:lnTo>
                    <a:lnTo>
                      <a:pt x="730" y="65"/>
                    </a:lnTo>
                    <a:lnTo>
                      <a:pt x="730" y="73"/>
                    </a:lnTo>
                    <a:lnTo>
                      <a:pt x="722" y="65"/>
                    </a:lnTo>
                    <a:lnTo>
                      <a:pt x="714" y="16"/>
                    </a:lnTo>
                    <a:lnTo>
                      <a:pt x="722" y="16"/>
                    </a:lnTo>
                    <a:lnTo>
                      <a:pt x="681" y="57"/>
                    </a:lnTo>
                    <a:lnTo>
                      <a:pt x="673" y="57"/>
                    </a:lnTo>
                    <a:lnTo>
                      <a:pt x="673" y="49"/>
                    </a:lnTo>
                    <a:lnTo>
                      <a:pt x="673" y="49"/>
                    </a:lnTo>
                    <a:close/>
                  </a:path>
                </a:pathLst>
              </a:custGeom>
              <a:solidFill>
                <a:srgbClr val="000000"/>
              </a:solidFill>
              <a:ln w="22225">
                <a:solidFill>
                  <a:srgbClr val="1109B7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3" name="Line 15"/>
              <p:cNvSpPr>
                <a:spLocks noChangeShapeType="1"/>
              </p:cNvSpPr>
              <p:nvPr/>
            </p:nvSpPr>
            <p:spPr bwMode="auto">
              <a:xfrm flipV="1">
                <a:off x="4777823" y="5504568"/>
                <a:ext cx="724312" cy="1192878"/>
              </a:xfrm>
              <a:prstGeom prst="line">
                <a:avLst/>
              </a:prstGeom>
              <a:noFill/>
              <a:ln w="22225">
                <a:solidFill>
                  <a:srgbClr val="1109B7"/>
                </a:solidFill>
                <a:round/>
                <a:headEnd/>
                <a:tailEnd type="none"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4" name="Line 16"/>
              <p:cNvSpPr>
                <a:spLocks noChangeShapeType="1"/>
              </p:cNvSpPr>
              <p:nvPr/>
            </p:nvSpPr>
            <p:spPr bwMode="auto">
              <a:xfrm flipV="1">
                <a:off x="4777823" y="5770416"/>
                <a:ext cx="1876777" cy="914425"/>
              </a:xfrm>
              <a:prstGeom prst="line">
                <a:avLst/>
              </a:prstGeom>
              <a:noFill/>
              <a:ln w="22225">
                <a:solidFill>
                  <a:srgbClr val="0070C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5" name="Freeform 17"/>
              <p:cNvSpPr>
                <a:spLocks noEditPoints="1"/>
              </p:cNvSpPr>
              <p:nvPr/>
            </p:nvSpPr>
            <p:spPr bwMode="auto">
              <a:xfrm>
                <a:off x="5143861" y="5134443"/>
                <a:ext cx="158617" cy="442316"/>
              </a:xfrm>
              <a:custGeom>
                <a:avLst/>
                <a:gdLst/>
                <a:ahLst/>
                <a:cxnLst>
                  <a:cxn ang="0">
                    <a:pos x="0" y="859"/>
                  </a:cxn>
                  <a:cxn ang="0">
                    <a:pos x="275" y="33"/>
                  </a:cxn>
                  <a:cxn ang="0">
                    <a:pos x="283" y="25"/>
                  </a:cxn>
                  <a:cxn ang="0">
                    <a:pos x="283" y="33"/>
                  </a:cxn>
                  <a:cxn ang="0">
                    <a:pos x="16" y="859"/>
                  </a:cxn>
                  <a:cxn ang="0">
                    <a:pos x="8" y="859"/>
                  </a:cxn>
                  <a:cxn ang="0">
                    <a:pos x="0" y="859"/>
                  </a:cxn>
                  <a:cxn ang="0">
                    <a:pos x="0" y="859"/>
                  </a:cxn>
                  <a:cxn ang="0">
                    <a:pos x="219" y="74"/>
                  </a:cxn>
                  <a:cxn ang="0">
                    <a:pos x="292" y="0"/>
                  </a:cxn>
                  <a:cxn ang="0">
                    <a:pos x="308" y="98"/>
                  </a:cxn>
                  <a:cxn ang="0">
                    <a:pos x="219" y="74"/>
                  </a:cxn>
                </a:cxnLst>
                <a:rect l="0" t="0" r="r" b="b"/>
                <a:pathLst>
                  <a:path w="308" h="859">
                    <a:moveTo>
                      <a:pt x="0" y="859"/>
                    </a:moveTo>
                    <a:lnTo>
                      <a:pt x="275" y="33"/>
                    </a:lnTo>
                    <a:lnTo>
                      <a:pt x="283" y="25"/>
                    </a:lnTo>
                    <a:lnTo>
                      <a:pt x="283" y="33"/>
                    </a:lnTo>
                    <a:lnTo>
                      <a:pt x="16" y="859"/>
                    </a:lnTo>
                    <a:lnTo>
                      <a:pt x="8" y="859"/>
                    </a:lnTo>
                    <a:lnTo>
                      <a:pt x="0" y="859"/>
                    </a:lnTo>
                    <a:lnTo>
                      <a:pt x="0" y="859"/>
                    </a:lnTo>
                    <a:close/>
                    <a:moveTo>
                      <a:pt x="219" y="74"/>
                    </a:moveTo>
                    <a:lnTo>
                      <a:pt x="292" y="0"/>
                    </a:lnTo>
                    <a:lnTo>
                      <a:pt x="308" y="98"/>
                    </a:lnTo>
                    <a:lnTo>
                      <a:pt x="219" y="74"/>
                    </a:lnTo>
                    <a:close/>
                  </a:path>
                </a:pathLst>
              </a:custGeom>
              <a:solidFill>
                <a:srgbClr val="000000"/>
              </a:solidFill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6" name="Freeform 18"/>
              <p:cNvSpPr>
                <a:spLocks noEditPoints="1"/>
              </p:cNvSpPr>
              <p:nvPr/>
            </p:nvSpPr>
            <p:spPr bwMode="auto">
              <a:xfrm>
                <a:off x="5143861" y="5572176"/>
                <a:ext cx="199657" cy="15240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0" y="16"/>
                  </a:cxn>
                  <a:cxn ang="0">
                    <a:pos x="40" y="24"/>
                  </a:cxn>
                  <a:cxn ang="0">
                    <a:pos x="32" y="24"/>
                  </a:cxn>
                  <a:cxn ang="0">
                    <a:pos x="8" y="8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81" y="40"/>
                  </a:cxn>
                  <a:cxn ang="0">
                    <a:pos x="113" y="57"/>
                  </a:cxn>
                  <a:cxn ang="0">
                    <a:pos x="121" y="65"/>
                  </a:cxn>
                  <a:cxn ang="0">
                    <a:pos x="113" y="65"/>
                  </a:cxn>
                  <a:cxn ang="0">
                    <a:pos x="81" y="49"/>
                  </a:cxn>
                  <a:cxn ang="0">
                    <a:pos x="73" y="40"/>
                  </a:cxn>
                  <a:cxn ang="0">
                    <a:pos x="81" y="40"/>
                  </a:cxn>
                  <a:cxn ang="0">
                    <a:pos x="81" y="40"/>
                  </a:cxn>
                  <a:cxn ang="0">
                    <a:pos x="162" y="73"/>
                  </a:cxn>
                  <a:cxn ang="0">
                    <a:pos x="186" y="89"/>
                  </a:cxn>
                  <a:cxn ang="0">
                    <a:pos x="194" y="98"/>
                  </a:cxn>
                  <a:cxn ang="0">
                    <a:pos x="186" y="98"/>
                  </a:cxn>
                  <a:cxn ang="0">
                    <a:pos x="154" y="89"/>
                  </a:cxn>
                  <a:cxn ang="0">
                    <a:pos x="154" y="81"/>
                  </a:cxn>
                  <a:cxn ang="0">
                    <a:pos x="162" y="73"/>
                  </a:cxn>
                  <a:cxn ang="0">
                    <a:pos x="162" y="73"/>
                  </a:cxn>
                  <a:cxn ang="0">
                    <a:pos x="235" y="114"/>
                  </a:cxn>
                  <a:cxn ang="0">
                    <a:pos x="267" y="130"/>
                  </a:cxn>
                  <a:cxn ang="0">
                    <a:pos x="267" y="139"/>
                  </a:cxn>
                  <a:cxn ang="0">
                    <a:pos x="259" y="139"/>
                  </a:cxn>
                  <a:cxn ang="0">
                    <a:pos x="227" y="122"/>
                  </a:cxn>
                  <a:cxn ang="0">
                    <a:pos x="227" y="114"/>
                  </a:cxn>
                  <a:cxn ang="0">
                    <a:pos x="235" y="114"/>
                  </a:cxn>
                  <a:cxn ang="0">
                    <a:pos x="235" y="114"/>
                  </a:cxn>
                </a:cxnLst>
                <a:rect l="0" t="0" r="r" b="b"/>
                <a:pathLst>
                  <a:path w="267" h="139">
                    <a:moveTo>
                      <a:pt x="8" y="0"/>
                    </a:moveTo>
                    <a:lnTo>
                      <a:pt x="40" y="16"/>
                    </a:lnTo>
                    <a:lnTo>
                      <a:pt x="40" y="24"/>
                    </a:lnTo>
                    <a:lnTo>
                      <a:pt x="32" y="24"/>
                    </a:lnTo>
                    <a:lnTo>
                      <a:pt x="8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  <a:moveTo>
                      <a:pt x="81" y="40"/>
                    </a:moveTo>
                    <a:lnTo>
                      <a:pt x="113" y="57"/>
                    </a:lnTo>
                    <a:lnTo>
                      <a:pt x="121" y="65"/>
                    </a:lnTo>
                    <a:lnTo>
                      <a:pt x="113" y="65"/>
                    </a:lnTo>
                    <a:lnTo>
                      <a:pt x="81" y="49"/>
                    </a:lnTo>
                    <a:lnTo>
                      <a:pt x="73" y="40"/>
                    </a:lnTo>
                    <a:lnTo>
                      <a:pt x="81" y="40"/>
                    </a:lnTo>
                    <a:lnTo>
                      <a:pt x="81" y="40"/>
                    </a:lnTo>
                    <a:close/>
                    <a:moveTo>
                      <a:pt x="162" y="73"/>
                    </a:moveTo>
                    <a:lnTo>
                      <a:pt x="186" y="89"/>
                    </a:lnTo>
                    <a:lnTo>
                      <a:pt x="194" y="98"/>
                    </a:lnTo>
                    <a:lnTo>
                      <a:pt x="186" y="98"/>
                    </a:lnTo>
                    <a:lnTo>
                      <a:pt x="154" y="89"/>
                    </a:lnTo>
                    <a:lnTo>
                      <a:pt x="154" y="81"/>
                    </a:lnTo>
                    <a:lnTo>
                      <a:pt x="162" y="73"/>
                    </a:lnTo>
                    <a:lnTo>
                      <a:pt x="162" y="73"/>
                    </a:lnTo>
                    <a:close/>
                    <a:moveTo>
                      <a:pt x="235" y="114"/>
                    </a:moveTo>
                    <a:lnTo>
                      <a:pt x="267" y="130"/>
                    </a:lnTo>
                    <a:lnTo>
                      <a:pt x="267" y="139"/>
                    </a:lnTo>
                    <a:lnTo>
                      <a:pt x="259" y="139"/>
                    </a:lnTo>
                    <a:lnTo>
                      <a:pt x="227" y="122"/>
                    </a:lnTo>
                    <a:lnTo>
                      <a:pt x="227" y="114"/>
                    </a:lnTo>
                    <a:lnTo>
                      <a:pt x="235" y="114"/>
                    </a:lnTo>
                    <a:lnTo>
                      <a:pt x="235" y="114"/>
                    </a:lnTo>
                    <a:close/>
                  </a:path>
                </a:pathLst>
              </a:custGeom>
              <a:solidFill>
                <a:srgbClr val="000000"/>
              </a:solidFill>
              <a:ln w="508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27" name="Rectangle 19"/>
              <p:cNvSpPr>
                <a:spLocks noChangeArrowheads="1"/>
              </p:cNvSpPr>
              <p:nvPr/>
            </p:nvSpPr>
            <p:spPr bwMode="auto">
              <a:xfrm>
                <a:off x="6754428" y="5686765"/>
                <a:ext cx="116467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N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28" name="Rectangle 20"/>
              <p:cNvSpPr>
                <a:spLocks noChangeArrowheads="1"/>
              </p:cNvSpPr>
              <p:nvPr/>
            </p:nvSpPr>
            <p:spPr bwMode="auto">
              <a:xfrm>
                <a:off x="6834291" y="5686765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29" name="Rectangle 21"/>
              <p:cNvSpPr>
                <a:spLocks noChangeArrowheads="1"/>
              </p:cNvSpPr>
              <p:nvPr/>
            </p:nvSpPr>
            <p:spPr bwMode="auto">
              <a:xfrm>
                <a:off x="4549326" y="5757811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0" name="Rectangle 22"/>
              <p:cNvSpPr>
                <a:spLocks noChangeArrowheads="1"/>
              </p:cNvSpPr>
              <p:nvPr/>
            </p:nvSpPr>
            <p:spPr bwMode="auto">
              <a:xfrm>
                <a:off x="4518268" y="5745206"/>
                <a:ext cx="141978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M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1" name="Rectangle 23"/>
              <p:cNvSpPr>
                <a:spLocks noChangeArrowheads="1"/>
              </p:cNvSpPr>
              <p:nvPr/>
            </p:nvSpPr>
            <p:spPr bwMode="auto">
              <a:xfrm>
                <a:off x="4670230" y="5757811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2" name="Rectangle 24"/>
              <p:cNvSpPr>
                <a:spLocks noChangeArrowheads="1"/>
              </p:cNvSpPr>
              <p:nvPr/>
            </p:nvSpPr>
            <p:spPr bwMode="auto">
              <a:xfrm>
                <a:off x="4531579" y="6539312"/>
                <a:ext cx="227388" cy="3552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32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q</a:t>
                </a:r>
                <a:endParaRPr lang="vi-VN" sz="32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3" name="Rectangle 25"/>
              <p:cNvSpPr>
                <a:spLocks noChangeArrowheads="1"/>
              </p:cNvSpPr>
              <p:nvPr/>
            </p:nvSpPr>
            <p:spPr bwMode="auto">
              <a:xfrm>
                <a:off x="4971934" y="6720364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4" name="Rectangle 26"/>
              <p:cNvSpPr>
                <a:spLocks noChangeArrowheads="1"/>
              </p:cNvSpPr>
              <p:nvPr/>
            </p:nvSpPr>
            <p:spPr bwMode="auto">
              <a:xfrm>
                <a:off x="5723976" y="6205857"/>
                <a:ext cx="120903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 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5" name="Rectangle 27"/>
              <p:cNvSpPr>
                <a:spLocks noChangeArrowheads="1"/>
              </p:cNvSpPr>
              <p:nvPr/>
            </p:nvSpPr>
            <p:spPr bwMode="auto">
              <a:xfrm>
                <a:off x="5821586" y="6205857"/>
                <a:ext cx="129777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r</a:t>
                </a:r>
                <a:r>
                  <a:rPr lang="vi-VN" sz="2400" baseline="-250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N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7" name="Rectangle 29"/>
              <p:cNvSpPr>
                <a:spLocks noChangeArrowheads="1"/>
              </p:cNvSpPr>
              <p:nvPr/>
            </p:nvSpPr>
            <p:spPr bwMode="auto">
              <a:xfrm>
                <a:off x="5276965" y="5880422"/>
                <a:ext cx="53242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r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38" name="Rectangle 30"/>
              <p:cNvSpPr>
                <a:spLocks noChangeArrowheads="1"/>
              </p:cNvSpPr>
              <p:nvPr/>
            </p:nvSpPr>
            <p:spPr bwMode="auto">
              <a:xfrm>
                <a:off x="5442237" y="5540909"/>
                <a:ext cx="414843" cy="222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0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dr</a:t>
                </a:r>
                <a:endParaRPr lang="vi-VN" sz="20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40" name="Rectangle 32"/>
              <p:cNvSpPr>
                <a:spLocks noChangeArrowheads="1"/>
              </p:cNvSpPr>
              <p:nvPr/>
            </p:nvSpPr>
            <p:spPr bwMode="auto">
              <a:xfrm>
                <a:off x="4867669" y="5834586"/>
                <a:ext cx="119794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 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41" name="Rectangle 33"/>
              <p:cNvSpPr>
                <a:spLocks noChangeArrowheads="1"/>
              </p:cNvSpPr>
              <p:nvPr/>
            </p:nvSpPr>
            <p:spPr bwMode="auto">
              <a:xfrm>
                <a:off x="4904272" y="5834586"/>
                <a:ext cx="53242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r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42" name="Rectangle 34"/>
              <p:cNvSpPr>
                <a:spLocks noChangeArrowheads="1"/>
              </p:cNvSpPr>
              <p:nvPr/>
            </p:nvSpPr>
            <p:spPr bwMode="auto">
              <a:xfrm>
                <a:off x="5009647" y="5880422"/>
                <a:ext cx="41040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43" name="Rectangle 35"/>
              <p:cNvSpPr>
                <a:spLocks noChangeArrowheads="1"/>
              </p:cNvSpPr>
              <p:nvPr/>
            </p:nvSpPr>
            <p:spPr bwMode="auto">
              <a:xfrm>
                <a:off x="5343518" y="5493109"/>
                <a:ext cx="0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44" name="Rectangle 36"/>
              <p:cNvSpPr>
                <a:spLocks noChangeArrowheads="1"/>
              </p:cNvSpPr>
              <p:nvPr/>
            </p:nvSpPr>
            <p:spPr bwMode="auto">
              <a:xfrm>
                <a:off x="5169373" y="5529778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45" name="Rectangle 37"/>
              <p:cNvSpPr>
                <a:spLocks noChangeArrowheads="1"/>
              </p:cNvSpPr>
              <p:nvPr/>
            </p:nvSpPr>
            <p:spPr bwMode="auto">
              <a:xfrm>
                <a:off x="5225942" y="5351018"/>
                <a:ext cx="0" cy="175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49" name="Rectangle 41"/>
              <p:cNvSpPr>
                <a:spLocks noChangeArrowheads="1"/>
              </p:cNvSpPr>
              <p:nvPr/>
            </p:nvSpPr>
            <p:spPr bwMode="auto">
              <a:xfrm>
                <a:off x="5723976" y="5159653"/>
                <a:ext cx="120903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 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0" name="Rectangle 42"/>
              <p:cNvSpPr>
                <a:spLocks noChangeArrowheads="1"/>
              </p:cNvSpPr>
              <p:nvPr/>
            </p:nvSpPr>
            <p:spPr bwMode="auto">
              <a:xfrm>
                <a:off x="5817149" y="5159653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1" name="Rectangle 43"/>
              <p:cNvSpPr>
                <a:spLocks noChangeArrowheads="1"/>
              </p:cNvSpPr>
              <p:nvPr/>
            </p:nvSpPr>
            <p:spPr bwMode="auto">
              <a:xfrm>
                <a:off x="5969110" y="5229553"/>
                <a:ext cx="212968" cy="175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(C)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3" name="Rectangle 45"/>
              <p:cNvSpPr>
                <a:spLocks noChangeArrowheads="1"/>
              </p:cNvSpPr>
              <p:nvPr/>
            </p:nvSpPr>
            <p:spPr bwMode="auto">
              <a:xfrm>
                <a:off x="4976371" y="5024437"/>
                <a:ext cx="353836" cy="2669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 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4" name="Rectangle 46"/>
              <p:cNvSpPr>
                <a:spLocks noChangeArrowheads="1"/>
              </p:cNvSpPr>
              <p:nvPr/>
            </p:nvSpPr>
            <p:spPr bwMode="auto">
              <a:xfrm>
                <a:off x="5322443" y="5027875"/>
                <a:ext cx="0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5" name="Rectangle 47"/>
              <p:cNvSpPr>
                <a:spLocks noChangeArrowheads="1"/>
              </p:cNvSpPr>
              <p:nvPr/>
            </p:nvSpPr>
            <p:spPr bwMode="auto">
              <a:xfrm>
                <a:off x="5406743" y="5070273"/>
                <a:ext cx="39931" cy="1753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6" name="Rectangle 48"/>
              <p:cNvSpPr>
                <a:spLocks noChangeArrowheads="1"/>
              </p:cNvSpPr>
              <p:nvPr/>
            </p:nvSpPr>
            <p:spPr bwMode="auto">
              <a:xfrm>
                <a:off x="4478337" y="6127936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7" name="Rectangle 49"/>
              <p:cNvSpPr>
                <a:spLocks noChangeArrowheads="1"/>
              </p:cNvSpPr>
              <p:nvPr/>
            </p:nvSpPr>
            <p:spPr bwMode="auto">
              <a:xfrm>
                <a:off x="4507176" y="6127936"/>
                <a:ext cx="39931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8" name="Rectangle 50"/>
              <p:cNvSpPr>
                <a:spLocks noChangeArrowheads="1"/>
              </p:cNvSpPr>
              <p:nvPr/>
            </p:nvSpPr>
            <p:spPr bwMode="auto">
              <a:xfrm>
                <a:off x="4531579" y="6127936"/>
                <a:ext cx="148634" cy="1741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r</a:t>
                </a:r>
                <a:r>
                  <a:rPr lang="vi-VN" sz="2400" baseline="-250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M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59" name="Rectangle 51"/>
              <p:cNvSpPr>
                <a:spLocks noChangeArrowheads="1"/>
              </p:cNvSpPr>
              <p:nvPr/>
            </p:nvSpPr>
            <p:spPr bwMode="auto">
              <a:xfrm>
                <a:off x="4709052" y="6174917"/>
                <a:ext cx="39931" cy="1753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60" name="Rectangle 52"/>
              <p:cNvSpPr>
                <a:spLocks noChangeArrowheads="1"/>
              </p:cNvSpPr>
              <p:nvPr/>
            </p:nvSpPr>
            <p:spPr bwMode="auto">
              <a:xfrm>
                <a:off x="4916474" y="5462169"/>
                <a:ext cx="119794" cy="1753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4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  </a:t>
                </a:r>
                <a:endParaRPr lang="vi-VN" sz="24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61" name="Rectangle 53"/>
              <p:cNvSpPr>
                <a:spLocks noChangeArrowheads="1"/>
              </p:cNvSpPr>
              <p:nvPr/>
            </p:nvSpPr>
            <p:spPr bwMode="auto">
              <a:xfrm>
                <a:off x="4895398" y="5244449"/>
                <a:ext cx="285068" cy="622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vi-VN" sz="28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q</a:t>
                </a:r>
                <a:r>
                  <a:rPr lang="en-US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0</a:t>
                </a:r>
                <a:r>
                  <a:rPr lang="vi-VN" sz="2800" baseline="-2500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0</a:t>
                </a:r>
                <a:endParaRPr lang="vi-VN" sz="280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464" name="Freeform 56"/>
              <p:cNvSpPr>
                <a:spLocks/>
              </p:cNvSpPr>
              <p:nvPr/>
            </p:nvSpPr>
            <p:spPr bwMode="auto">
              <a:xfrm>
                <a:off x="5180465" y="5461024"/>
                <a:ext cx="52132" cy="836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4" y="84"/>
                  </a:cxn>
                  <a:cxn ang="0">
                    <a:pos x="72" y="132"/>
                  </a:cxn>
                </a:cxnLst>
                <a:rect l="0" t="0" r="r" b="b"/>
                <a:pathLst>
                  <a:path w="84" h="132">
                    <a:moveTo>
                      <a:pt x="0" y="0"/>
                    </a:moveTo>
                    <a:cubicBezTo>
                      <a:pt x="66" y="16"/>
                      <a:pt x="63" y="22"/>
                      <a:pt x="84" y="84"/>
                    </a:cubicBezTo>
                    <a:cubicBezTo>
                      <a:pt x="80" y="100"/>
                      <a:pt x="72" y="132"/>
                      <a:pt x="72" y="132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65" name="Freeform 57"/>
              <p:cNvSpPr>
                <a:spLocks/>
              </p:cNvSpPr>
              <p:nvPr/>
            </p:nvSpPr>
            <p:spPr bwMode="auto">
              <a:xfrm>
                <a:off x="5333535" y="5502276"/>
                <a:ext cx="113139" cy="114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2" y="108"/>
                  </a:cxn>
                </a:cxnLst>
                <a:rect l="0" t="0" r="r" b="b"/>
                <a:pathLst>
                  <a:path w="72" h="108">
                    <a:moveTo>
                      <a:pt x="0" y="0"/>
                    </a:moveTo>
                    <a:cubicBezTo>
                      <a:pt x="9" y="64"/>
                      <a:pt x="0" y="108"/>
                      <a:pt x="72" y="10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  <p:sp>
            <p:nvSpPr>
              <p:cNvPr id="17466" name="Line 58"/>
              <p:cNvSpPr>
                <a:spLocks noChangeShapeType="1"/>
              </p:cNvSpPr>
              <p:nvPr/>
            </p:nvSpPr>
            <p:spPr bwMode="auto">
              <a:xfrm flipV="1">
                <a:off x="5101711" y="5591656"/>
                <a:ext cx="31058" cy="113443"/>
              </a:xfrm>
              <a:prstGeom prst="line">
                <a:avLst/>
              </a:prstGeom>
              <a:noFill/>
              <a:ln w="9525">
                <a:solidFill>
                  <a:srgbClr val="1109B7"/>
                </a:solidFill>
                <a:round/>
                <a:headEnd/>
                <a:tailEnd type="arrow" w="lg" len="lg"/>
              </a:ln>
            </p:spPr>
            <p:txBody>
              <a:bodyPr/>
              <a:lstStyle/>
              <a:p>
                <a:pPr>
                  <a:defRPr/>
                </a:pPr>
                <a:endParaRPr lang="vi-VN" sz="2400">
                  <a:latin typeface="+mj-lt"/>
                </a:endParaRPr>
              </a:p>
            </p:txBody>
          </p:sp>
        </p:grpSp>
        <p:pic>
          <p:nvPicPr>
            <p:cNvPr id="36887" name="Picture 12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1899" y="1508353"/>
              <a:ext cx="589635" cy="64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Rectangle 135"/>
              <p:cNvSpPr>
                <a:spLocks noChangeArrowheads="1"/>
              </p:cNvSpPr>
              <p:nvPr/>
            </p:nvSpPr>
            <p:spPr bwMode="auto">
              <a:xfrm>
                <a:off x="457200" y="3200400"/>
                <a:ext cx="4876800" cy="1743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3200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Công trong sự chuyển dời </a:t>
                </a:r>
              </a:p>
              <a:p>
                <a:r>
                  <a:rPr lang="en-US" sz="3200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điện tích q</a:t>
                </a:r>
                <a:r>
                  <a:rPr lang="en-US" sz="3200" b="1" baseline="-25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sz="3200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từ M tới N:</a:t>
                </a:r>
              </a:p>
              <a:p>
                <a:r>
                  <a:rPr lang="en-US" sz="3200" i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𝑀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𝑑𝐴</m:t>
                        </m:r>
                      </m:e>
                    </m:nary>
                  </m:oMath>
                </a14:m>
                <a:r>
                  <a:rPr lang="en-US" sz="3200" i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𝑀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𝑘</m:t>
                        </m:r>
                        <m:f>
                          <m:f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𝑞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0.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l-G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𝜀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𝑟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²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3200" i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dr</a:t>
                </a:r>
                <a:endParaRPr lang="vi-VN" sz="3200" i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6" name="Rectangle 1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200400"/>
                <a:ext cx="4876800" cy="1743234"/>
              </a:xfrm>
              <a:prstGeom prst="rect">
                <a:avLst/>
              </a:prstGeom>
              <a:blipFill rotWithShape="1">
                <a:blip r:embed="rId5"/>
                <a:stretch>
                  <a:fillRect l="-3125" t="-4895" r="-875" b="-55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Right Arrow 138"/>
          <p:cNvSpPr/>
          <p:nvPr/>
        </p:nvSpPr>
        <p:spPr>
          <a:xfrm>
            <a:off x="152400" y="2667000"/>
            <a:ext cx="3810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4-Point Star 139"/>
          <p:cNvSpPr/>
          <p:nvPr/>
        </p:nvSpPr>
        <p:spPr>
          <a:xfrm>
            <a:off x="138113" y="3290888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6591300" y="2447925"/>
            <a:ext cx="573088" cy="12541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92150" y="2336800"/>
          <a:ext cx="2184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393700" progId="Equation.DSMT4">
                  <p:embed/>
                </p:oleObj>
              </mc:Choice>
              <mc:Fallback>
                <p:oleObj name="Equation" r:id="rId6" imgW="9144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2336800"/>
                        <a:ext cx="2184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883" name="Rectangle 114"/>
              <p:cNvSpPr>
                <a:spLocks noChangeArrowheads="1"/>
              </p:cNvSpPr>
              <p:nvPr/>
            </p:nvSpPr>
            <p:spPr bwMode="auto">
              <a:xfrm>
                <a:off x="405285" y="867742"/>
                <a:ext cx="8089900" cy="1398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pPr eaLnBrk="0" hangingPunct="0"/>
                <a:r>
                  <a:rPr lang="en-US" sz="3200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Công của lực tĩnh điện trong chuyển dời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  <m:t>𝒅𝒔</m:t>
                        </m:r>
                      </m:e>
                    </m:acc>
                  </m:oMath>
                </a14:m>
                <a:r>
                  <a:rPr lang="en-US" sz="3200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:</a:t>
                </a:r>
              </a:p>
              <a:p>
                <a:pPr eaLnBrk="0" hangingPunct="0"/>
                <a:r>
                  <a:rPr lang="en-US" sz="32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dA = </a:t>
                </a:r>
                <a:r>
                  <a:rPr lang="en-US" sz="3200">
                    <a:latin typeface="Times New Roman" pitchFamily="18" charset="0"/>
                    <a:cs typeface="Times New Roman" pitchFamily="18" charset="0"/>
                  </a:rPr>
                  <a:t>F.dS.cos</a:t>
                </a:r>
                <a:r>
                  <a:rPr lang="el-GR" sz="3200">
                    <a:latin typeface="Times New Roman" pitchFamily="18" charset="0"/>
                    <a:cs typeface="Times New Roman" pitchFamily="18" charset="0"/>
                  </a:rPr>
                  <a:t>α</a:t>
                </a:r>
                <a:r>
                  <a:rPr lang="en-US" sz="320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sz="32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F.dS.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𝑑𝑆</m:t>
                        </m:r>
                      </m:den>
                    </m:f>
                  </m:oMath>
                </a14:m>
                <a:r>
                  <a:rPr lang="en-US" sz="32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36883" name="Rectangle 1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285" y="867742"/>
                <a:ext cx="8089900" cy="1398075"/>
              </a:xfrm>
              <a:prstGeom prst="rect">
                <a:avLst/>
              </a:prstGeom>
              <a:blipFill rotWithShape="1">
                <a:blip r:embed="rId10"/>
                <a:stretch>
                  <a:fillRect l="-1883" r="-1581" b="-43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0" y="914400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63" name="Rectangle 50"/>
          <p:cNvSpPr>
            <a:spLocks noChangeArrowheads="1"/>
          </p:cNvSpPr>
          <p:nvPr/>
        </p:nvSpPr>
        <p:spPr bwMode="auto">
          <a:xfrm>
            <a:off x="6734176" y="2024296"/>
            <a:ext cx="15068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lang="vi-VN" sz="2800" b="1" i="1" baseline="-25000">
                <a:solidFill>
                  <a:srgbClr val="000000"/>
                </a:solidFill>
                <a:latin typeface="+mj-lt"/>
                <a:cs typeface="Arial" pitchFamily="34" charset="0"/>
              </a:rPr>
              <a:t>α</a:t>
            </a:r>
            <a:endParaRPr lang="vi-VN" sz="2800" b="1" i="1">
              <a:latin typeface="+mj-lt"/>
              <a:cs typeface="Arial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8724F6-F09A-75AE-5EAD-99CF8FA0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81790-249F-0541-7A2B-670539C4C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1876EBB-A93F-48D6-5B80-D7D4B90BC2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406864"/>
              </p:ext>
            </p:extLst>
          </p:nvPr>
        </p:nvGraphicFramePr>
        <p:xfrm>
          <a:off x="629122" y="4923017"/>
          <a:ext cx="3821113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431800" progId="Equation.DSMT4">
                  <p:embed/>
                </p:oleObj>
              </mc:Choice>
              <mc:Fallback>
                <p:oleObj name="Equation" r:id="rId11" imgW="1371600" imgH="43180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2" y="4923017"/>
                        <a:ext cx="3821113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9" grpId="0" animBg="1"/>
      <p:bldP spid="7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18"/>
          <p:cNvGrpSpPr>
            <a:grpSpLocks/>
          </p:cNvGrpSpPr>
          <p:nvPr/>
        </p:nvGrpSpPr>
        <p:grpSpPr bwMode="auto">
          <a:xfrm>
            <a:off x="-304800" y="14288"/>
            <a:ext cx="9372600" cy="889000"/>
            <a:chOff x="1200" y="1392"/>
            <a:chExt cx="6735" cy="560"/>
          </a:xfrm>
        </p:grpSpPr>
        <p:pic>
          <p:nvPicPr>
            <p:cNvPr id="37904" name="Picture 8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6735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1726" y="1510"/>
              <a:ext cx="578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.4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Công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của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lực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,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hiệu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04800" y="945684"/>
            <a:ext cx="7753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lang="en-US" sz="28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sz="28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Tính chất thế của trường tĩnh điện:</a:t>
            </a:r>
            <a:endParaRPr lang="en-US" sz="2800" u="sng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4" name="Rectangle 12"/>
          <p:cNvSpPr>
            <a:spLocks noChangeArrowheads="1"/>
          </p:cNvSpPr>
          <p:nvPr/>
        </p:nvSpPr>
        <p:spPr bwMode="auto">
          <a:xfrm>
            <a:off x="1676400" y="5205413"/>
            <a:ext cx="69421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i="1">
                <a:solidFill>
                  <a:srgbClr val="FF0000"/>
                </a:solidFill>
                <a:latin typeface="+mj-lt"/>
                <a:cs typeface="Times New Roman" pitchFamily="18" charset="0"/>
              </a:rPr>
              <a:t>Điện trường tĩnh là một trường thế</a:t>
            </a:r>
            <a:r>
              <a:rPr lang="en-US" sz="2800" b="1">
                <a:solidFill>
                  <a:srgbClr val="FF0000"/>
                </a:solidFill>
                <a:latin typeface="+mj-lt"/>
                <a:cs typeface="Times New Roman" pitchFamily="18" charset="0"/>
              </a:rPr>
              <a:t>. </a:t>
            </a:r>
            <a:endParaRPr lang="vi-VN" sz="2800" b="1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85800" y="5410200"/>
            <a:ext cx="690563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692007"/>
              </p:ext>
            </p:extLst>
          </p:nvPr>
        </p:nvGraphicFramePr>
        <p:xfrm>
          <a:off x="2154237" y="1524000"/>
          <a:ext cx="3821113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431800" progId="Equation.DSMT4">
                  <p:embed/>
                </p:oleObj>
              </mc:Choice>
              <mc:Fallback>
                <p:oleObj name="Equation" r:id="rId3" imgW="13716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7" y="1524000"/>
                        <a:ext cx="3821113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Arrow Connector 4"/>
          <p:cNvCxnSpPr/>
          <p:nvPr/>
        </p:nvCxnSpPr>
        <p:spPr>
          <a:xfrm flipV="1">
            <a:off x="2362200" y="3052763"/>
            <a:ext cx="609600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362200" y="3586163"/>
            <a:ext cx="609600" cy="63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362200" y="3586163"/>
            <a:ext cx="609600" cy="609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3052763"/>
            <a:ext cx="246697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Công của lực điện trường </a:t>
            </a:r>
            <a:endParaRPr lang="en-US" sz="28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076575" y="2667000"/>
            <a:ext cx="5848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Phụ thuộc vị trí điểm đầu - cuối</a:t>
            </a:r>
            <a:endParaRPr lang="en-US" sz="2800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3059113" y="3357563"/>
            <a:ext cx="601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Không phụ thuộc dạng đường đi</a:t>
            </a:r>
            <a:endParaRPr lang="en-US" sz="2800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>
                <a:spLocks noChangeArrowheads="1"/>
              </p:cNvSpPr>
              <p:nvPr/>
            </p:nvSpPr>
            <p:spPr bwMode="auto">
              <a:xfrm>
                <a:off x="3073400" y="3992563"/>
                <a:ext cx="5994400" cy="17960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2800" b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Bằng 0 khi dịch chuyển theo đường cong kín </a:t>
                </a:r>
                <a:r>
                  <a:rPr lang="en-US" sz="2400" b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(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US" sz="2400" b="1" i="1" smtClean="0">
                            <a:solidFill>
                              <a:srgbClr val="1109B7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en-US" sz="2400" b="1" i="1" smtClean="0">
                                <a:solidFill>
                                  <a:srgbClr val="1109B7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smtClean="0">
                                <a:solidFill>
                                  <a:srgbClr val="1109B7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𝑬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sz="2400" b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d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 smtClean="0">
                            <a:solidFill>
                              <a:srgbClr val="1109B7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solidFill>
                              <a:srgbClr val="1109B7"/>
                            </a:solidFill>
                            <a:latin typeface="Cambria Math"/>
                            <a:cs typeface="Times New Roman" pitchFamily="18" charset="0"/>
                          </a:rPr>
                          <m:t>𝑺</m:t>
                        </m:r>
                      </m:e>
                    </m:acc>
                  </m:oMath>
                </a14:m>
                <a:r>
                  <a:rPr lang="en-US" sz="2400" b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= 0: Lưu số của vector cường độ điện trường)</a:t>
                </a:r>
              </a:p>
              <a:p>
                <a:endParaRPr lang="en-US" sz="2800">
                  <a:solidFill>
                    <a:srgbClr val="1109B7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3400" y="3992563"/>
                <a:ext cx="5994400" cy="1796069"/>
              </a:xfrm>
              <a:prstGeom prst="rect">
                <a:avLst/>
              </a:prstGeom>
              <a:blipFill rotWithShape="1">
                <a:blip r:embed="rId6"/>
                <a:stretch>
                  <a:fillRect l="-2033" t="-33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1625600" y="5805488"/>
            <a:ext cx="75184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i="1">
                <a:solidFill>
                  <a:srgbClr val="FF0000"/>
                </a:solidFill>
                <a:latin typeface="+mj-lt"/>
                <a:cs typeface="Times New Roman" pitchFamily="18" charset="0"/>
              </a:rPr>
              <a:t>Điện tích đặt trong điện trường sẽ mang năng lượng dưới dạng </a:t>
            </a:r>
            <a:r>
              <a:rPr lang="en-US" sz="2800" b="1" i="1" u="sng">
                <a:solidFill>
                  <a:srgbClr val="1109B7"/>
                </a:solidFill>
                <a:latin typeface="+mj-lt"/>
                <a:cs typeface="Times New Roman" pitchFamily="18" charset="0"/>
              </a:rPr>
              <a:t>thế</a:t>
            </a:r>
            <a:r>
              <a:rPr lang="en-US" sz="2800" b="1" u="sng">
                <a:solidFill>
                  <a:srgbClr val="1109B7"/>
                </a:solidFill>
                <a:latin typeface="+mj-lt"/>
                <a:cs typeface="Times New Roman" pitchFamily="18" charset="0"/>
              </a:rPr>
              <a:t> năng </a:t>
            </a:r>
            <a:endParaRPr lang="vi-VN" sz="2800" b="1" u="sng">
              <a:solidFill>
                <a:srgbClr val="1109B7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4" name="Right Arrow 33"/>
          <p:cNvSpPr/>
          <p:nvPr/>
        </p:nvSpPr>
        <p:spPr>
          <a:xfrm rot="1923316">
            <a:off x="612775" y="5686425"/>
            <a:ext cx="7620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2AEC4-6BBF-BFB1-E692-C17A7D95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174A-B08C-BA66-D732-A16AF36B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0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1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514" grpId="0"/>
      <p:bldP spid="16" grpId="0" animBg="1"/>
      <p:bldP spid="11" grpId="0"/>
      <p:bldP spid="30" grpId="0"/>
      <p:bldP spid="31" grpId="0"/>
      <p:bldP spid="32" grpId="0"/>
      <p:bldP spid="33" grpId="0"/>
      <p:bldP spid="3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18"/>
          <p:cNvGrpSpPr>
            <a:grpSpLocks/>
          </p:cNvGrpSpPr>
          <p:nvPr/>
        </p:nvGrpSpPr>
        <p:grpSpPr bwMode="auto">
          <a:xfrm>
            <a:off x="-363236" y="-11906"/>
            <a:ext cx="9906984" cy="889000"/>
            <a:chOff x="1090" y="1392"/>
            <a:chExt cx="7119" cy="560"/>
          </a:xfrm>
        </p:grpSpPr>
        <p:pic>
          <p:nvPicPr>
            <p:cNvPr id="38927" name="Picture 8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" y="1392"/>
              <a:ext cx="7119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1756" y="1510"/>
              <a:ext cx="5817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.4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Công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của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lực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,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hiệu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0" y="914400"/>
            <a:ext cx="830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Thế năng của một điện tích trong điện trường</a:t>
            </a:r>
            <a:endParaRPr lang="vi-VN" sz="32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33400" y="4560888"/>
            <a:ext cx="8382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fr-FR" sz="3200" b="1" baseline="-250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fr-FR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: Thế năng của điện tích điểm q</a:t>
            </a:r>
            <a:r>
              <a:rPr lang="fr-FR" sz="3200" b="1" baseline="-250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fr-FR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 đặt trong điện trường của điện tích điểm q</a:t>
            </a:r>
            <a:endParaRPr lang="vi-VN" sz="3200" b="1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228600" y="5740400"/>
            <a:ext cx="8972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lang="fr-FR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_ Khi chọn gốc thế năng ở xa vô cực: C = 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19600" y="2427288"/>
            <a:ext cx="341313" cy="1457325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ounded Rectangle 17"/>
          <p:cNvSpPr>
            <a:spLocks noChangeArrowheads="1"/>
          </p:cNvSpPr>
          <p:nvPr/>
        </p:nvSpPr>
        <p:spPr bwMode="auto">
          <a:xfrm>
            <a:off x="5257800" y="2546293"/>
            <a:ext cx="3253339" cy="1252537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 sz="3200">
              <a:solidFill>
                <a:schemeClr val="l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726067"/>
              </p:ext>
            </p:extLst>
          </p:nvPr>
        </p:nvGraphicFramePr>
        <p:xfrm>
          <a:off x="296863" y="3762544"/>
          <a:ext cx="35877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900" imgH="241300" progId="Equation.DSMT4">
                  <p:embed/>
                </p:oleObj>
              </mc:Choice>
              <mc:Fallback>
                <p:oleObj name="Equation" r:id="rId3" imgW="11049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3" y="3762544"/>
                        <a:ext cx="35877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866190"/>
              </p:ext>
            </p:extLst>
          </p:nvPr>
        </p:nvGraphicFramePr>
        <p:xfrm>
          <a:off x="5400675" y="2743200"/>
          <a:ext cx="29051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170" imgH="393529" progId="Equation.DSMT4">
                  <p:embed/>
                </p:oleObj>
              </mc:Choice>
              <mc:Fallback>
                <p:oleObj name="Equation" r:id="rId5" imgW="990170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2743200"/>
                        <a:ext cx="29051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96863" y="1625600"/>
            <a:ext cx="3284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b="1" u="sng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Công của lực thế</a:t>
            </a:r>
            <a:r>
              <a:rPr lang="en-US" sz="32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9550" y="885372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1F06B-4C20-C4FA-63B8-B4B1D13D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7910E-13D1-60F1-ED55-142B8D54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2DB82FC-389F-6786-44D9-8DEBDCA4FD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135657"/>
              </p:ext>
            </p:extLst>
          </p:nvPr>
        </p:nvGraphicFramePr>
        <p:xfrm>
          <a:off x="193089" y="2293542"/>
          <a:ext cx="3821113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71600" imgH="431800" progId="Equation.DSMT4">
                  <p:embed/>
                </p:oleObj>
              </mc:Choice>
              <mc:Fallback>
                <p:oleObj name="Equation" r:id="rId7" imgW="1371600" imgH="43180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89" y="2293542"/>
                        <a:ext cx="3821113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9467" grpId="0"/>
      <p:bldP spid="17" grpId="0" animBg="1"/>
      <p:bldP spid="16" grpId="0"/>
      <p:bldP spid="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38200" y="731520"/>
                <a:ext cx="7924800" cy="5288280"/>
              </a:xfrm>
            </p:spPr>
            <p:txBody>
              <a:bodyPr>
                <a:normAutofit/>
              </a:bodyPr>
              <a:lstStyle/>
              <a:p>
                <a:pPr marL="45720" indent="0">
                  <a:buNone/>
                </a:pPr>
                <a:r>
                  <a:rPr lang="en-US"/>
                  <a:t>Một điện tích điểm:		 </a:t>
                </a:r>
                <a:r>
                  <a:rPr lang="en-US" sz="4000">
                    <a:solidFill>
                      <a:srgbClr val="0070C0"/>
                    </a:solidFill>
                  </a:rPr>
                  <a:t>W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𝑞𝑄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40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ε</m:t>
                        </m:r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sz="4000"/>
                  <a:t> </a:t>
                </a:r>
                <a:r>
                  <a:rPr lang="en-US" sz="4000">
                    <a:solidFill>
                      <a:srgbClr val="0070C0"/>
                    </a:solidFill>
                  </a:rPr>
                  <a:t>+ C</a:t>
                </a:r>
              </a:p>
              <a:p>
                <a:pPr marL="45720" indent="0">
                  <a:buNone/>
                </a:pPr>
                <a:endParaRPr lang="en-US" sz="4000"/>
              </a:p>
              <a:p>
                <a:pPr marL="45720" indent="0">
                  <a:buNone/>
                </a:pPr>
                <a:r>
                  <a:rPr lang="en-US"/>
                  <a:t>Hệ điện tích điểm:		</a:t>
                </a:r>
                <a:r>
                  <a:rPr lang="en-US" sz="4000">
                    <a:solidFill>
                      <a:srgbClr val="0070C0"/>
                    </a:solidFill>
                  </a:rPr>
                  <a:t>W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f>
                          <m:fPr>
                            <m:ctrlPr>
                              <a:rPr lang="en-US" sz="4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𝑞𝑄𝑖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4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ε</m:t>
                            </m:r>
                            <m:r>
                              <a:rPr lang="en-US" sz="4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𝑟𝑖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4000">
                    <a:solidFill>
                      <a:srgbClr val="0070C0"/>
                    </a:solidFill>
                  </a:rPr>
                  <a:t> + C</a:t>
                </a:r>
              </a:p>
              <a:p>
                <a:pPr marL="45720" indent="0">
                  <a:buNone/>
                </a:pPr>
                <a:endParaRPr lang="en-US" sz="4000">
                  <a:solidFill>
                    <a:srgbClr val="0070C0"/>
                  </a:solidFill>
                </a:endParaRPr>
              </a:p>
              <a:p>
                <a:pPr marL="45720" indent="0">
                  <a:buNone/>
                </a:pPr>
                <a:r>
                  <a:rPr lang="en-US">
                    <a:solidFill>
                      <a:schemeClr val="tx1"/>
                    </a:solidFill>
                  </a:rPr>
                  <a:t>Trong điện trường bất kì: </a:t>
                </a:r>
                <a:r>
                  <a:rPr lang="en-US">
                    <a:solidFill>
                      <a:srgbClr val="0070C0"/>
                    </a:solidFill>
                  </a:rPr>
                  <a:t>	</a:t>
                </a:r>
                <a:r>
                  <a:rPr lang="en-US" sz="4000">
                    <a:solidFill>
                      <a:srgbClr val="0070C0"/>
                    </a:solidFill>
                  </a:rPr>
                  <a:t>W</a:t>
                </a:r>
                <a:r>
                  <a:rPr lang="en-US">
                    <a:solidFill>
                      <a:srgbClr val="0070C0"/>
                    </a:solidFill>
                  </a:rPr>
                  <a:t>M</a:t>
                </a:r>
                <a:r>
                  <a:rPr lang="en-US" sz="4000">
                    <a:solidFill>
                      <a:srgbClr val="0070C0"/>
                    </a:solidFill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𝑀</m:t>
                        </m:r>
                      </m:sub>
                      <m:sup>
                        <m: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  <m:acc>
                          <m:accPr>
                            <m:chr m:val="⃗"/>
                            <m:ctrlPr>
                              <a:rPr lang="en-US" sz="4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sz="4000">
                    <a:solidFill>
                      <a:srgbClr val="0070C0"/>
                    </a:solidFill>
                  </a:rPr>
                  <a:t>d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𝑠</m:t>
                        </m:r>
                      </m:e>
                    </m:acc>
                  </m:oMath>
                </a14:m>
                <a:endParaRPr lang="en-US" sz="4000">
                  <a:solidFill>
                    <a:srgbClr val="0070C0"/>
                  </a:solidFill>
                </a:endParaRPr>
              </a:p>
              <a:p>
                <a:pPr marL="45720" indent="0">
                  <a:buNone/>
                </a:pPr>
                <a:r>
                  <a:rPr lang="en-US" sz="2800" i="1">
                    <a:solidFill>
                      <a:srgbClr val="0070C0"/>
                    </a:solidFill>
                  </a:rPr>
                  <a:t>( quy ước thế năng của điện tích q ở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sz="2800" i="1">
                    <a:solidFill>
                      <a:srgbClr val="0070C0"/>
                    </a:solidFill>
                  </a:rPr>
                  <a:t> bằng 0)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38200" y="731520"/>
                <a:ext cx="7924800" cy="5288280"/>
              </a:xfrm>
              <a:blipFill rotWithShape="1">
                <a:blip r:embed="rId2"/>
                <a:stretch>
                  <a:fillRect l="-1000" r="-1154" b="-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74D9F4-18C6-A84F-891E-476F48613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4FB80-F8B9-455C-A0C9-154426E6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91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0" y="533400"/>
            <a:ext cx="7696200" cy="5791200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Q = - 5μC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yên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khí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q = +8μC di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thẳng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xuyên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qua Q,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Q 40cm,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gần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Q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20cm.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A.	 0,9 J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B.	 – 0,9 J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C.	 – 0,3 J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D.	 0 J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5681D2-BE19-8C97-23DE-16DDCCF4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B48C3-C125-38C8-0230-692D481A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6431E36-DDA9-02B5-479F-07A1580FC7DD}"/>
                  </a:ext>
                </a:extLst>
              </p:cNvPr>
              <p:cNvSpPr/>
              <p:nvPr/>
            </p:nvSpPr>
            <p:spPr>
              <a:xfrm>
                <a:off x="3962400" y="3886199"/>
                <a:ext cx="4191000" cy="1676401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A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den>
                    </m:f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</m:den>
                    </m:f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6431E36-DDA9-02B5-479F-07A1580FC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886199"/>
                <a:ext cx="4191000" cy="16764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44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0" y="533400"/>
            <a:ext cx="7543800" cy="5486400"/>
          </a:xfrm>
        </p:spPr>
        <p:txBody>
          <a:bodyPr/>
          <a:lstStyle/>
          <a:p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electron di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1,0 cm,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dọc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chiều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(+)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sức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E = 1,0 kV/m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A. 	–1,6.10</a:t>
            </a:r>
            <a:r>
              <a:rPr lang="en-US" sz="3200" b="1" baseline="30000" dirty="0">
                <a:latin typeface="Times New Roman" pitchFamily="18" charset="0"/>
                <a:cs typeface="Times New Roman" pitchFamily="18" charset="0"/>
              </a:rPr>
              <a:t>– 16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J.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B. 	+1,6.10 </a:t>
            </a:r>
            <a:r>
              <a:rPr lang="en-US" sz="3200" b="1" baseline="30000" dirty="0">
                <a:latin typeface="Times New Roman" pitchFamily="18" charset="0"/>
                <a:cs typeface="Times New Roman" pitchFamily="18" charset="0"/>
              </a:rPr>
              <a:t>– 16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J.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C. 	–1,6.10 </a:t>
            </a:r>
            <a:r>
              <a:rPr lang="en-US" sz="3200" b="1" baseline="30000" dirty="0">
                <a:latin typeface="Times New Roman" pitchFamily="18" charset="0"/>
                <a:cs typeface="Times New Roman" pitchFamily="18" charset="0"/>
              </a:rPr>
              <a:t>– 18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J.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D. 	+1,6.10 </a:t>
            </a:r>
            <a:r>
              <a:rPr lang="en-US" sz="3200" b="1" baseline="30000" dirty="0">
                <a:latin typeface="Times New Roman" pitchFamily="18" charset="0"/>
                <a:cs typeface="Times New Roman" pitchFamily="18" charset="0"/>
              </a:rPr>
              <a:t>– 18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J.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63DC9C-2874-4C09-7E8F-7F1C51F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98F4F-1DA2-E27E-388F-8C05408D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0CA887-07E9-0AC0-27A2-DDBF6D5CB784}"/>
              </a:ext>
            </a:extLst>
          </p:cNvPr>
          <p:cNvSpPr/>
          <p:nvPr/>
        </p:nvSpPr>
        <p:spPr>
          <a:xfrm>
            <a:off x="4724400" y="3505200"/>
            <a:ext cx="40386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= </a:t>
            </a:r>
            <a:r>
              <a:rPr lang="en-US" dirty="0" err="1"/>
              <a:t>q.E.s.cos</a:t>
            </a:r>
            <a:r>
              <a:rPr lang="el-GR" dirty="0"/>
              <a:t>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2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0" y="609600"/>
            <a:ext cx="7772400" cy="5638800"/>
          </a:xfrm>
        </p:spPr>
        <p:txBody>
          <a:bodyPr/>
          <a:lstStyle/>
          <a:p>
            <a:pPr marL="45720" indent="0">
              <a:buNone/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Q= 5,5.10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-8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q = -2,3.10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-8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3,5 cm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khí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q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" indent="0" fontAlgn="ctr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A.	-9,3.10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-4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J</a:t>
            </a:r>
          </a:p>
          <a:p>
            <a:pPr marL="4572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B.	9,3.10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-4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J</a:t>
            </a:r>
          </a:p>
          <a:p>
            <a:pPr marL="4572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C.	-3,2.10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-4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J</a:t>
            </a:r>
          </a:p>
          <a:p>
            <a:pPr marL="4572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3,2.10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-4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J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E96A26-D82F-66A4-E24B-3005D45B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64E70-1FE4-2317-6B65-9A1B4124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8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0" y="609600"/>
            <a:ext cx="7772400" cy="5638800"/>
          </a:xfrm>
        </p:spPr>
        <p:txBody>
          <a:bodyPr/>
          <a:lstStyle/>
          <a:p>
            <a:pPr marL="45720" indent="0">
              <a:buNone/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Q = 5,5.10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-8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cố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tọa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oxy.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q = -2,3.10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-8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 di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(3,5cm; 0)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(0; 3,5cm).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q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" indent="0" fontAlgn="ctr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A.	3,1.10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-3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J</a:t>
            </a:r>
          </a:p>
          <a:p>
            <a:pPr marL="4572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B.	- 3,1.10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-3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J</a:t>
            </a:r>
          </a:p>
          <a:p>
            <a:pPr marL="4572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C.	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6,0.10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-5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J</a:t>
            </a:r>
            <a:r>
              <a:rPr lang="vi-VN" sz="32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	0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677E5B-B185-1EA7-DEE4-13BC7A1F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B9D37-0318-DC98-4B03-1EF6A6A6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4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18"/>
          <p:cNvGrpSpPr>
            <a:grpSpLocks/>
          </p:cNvGrpSpPr>
          <p:nvPr/>
        </p:nvGrpSpPr>
        <p:grpSpPr bwMode="auto">
          <a:xfrm>
            <a:off x="-304800" y="14288"/>
            <a:ext cx="9372600" cy="889000"/>
            <a:chOff x="1200" y="1392"/>
            <a:chExt cx="6735" cy="560"/>
          </a:xfrm>
        </p:grpSpPr>
        <p:pic>
          <p:nvPicPr>
            <p:cNvPr id="39964" name="Picture 8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6735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1726" y="1510"/>
              <a:ext cx="578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.4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Công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của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lực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,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hiệu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0" y="914400"/>
            <a:ext cx="243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 thế</a:t>
            </a:r>
            <a:endParaRPr lang="vi-VN" sz="3200" u="sng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590800" y="4027488"/>
            <a:ext cx="65532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28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:điện thế gây ra bởi một điện tích điểm q tại điểm cách nó một khoảng r </a:t>
            </a:r>
            <a:endParaRPr lang="vi-VN" sz="2800" b="1" i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ounded Rectangle 17"/>
          <p:cNvSpPr>
            <a:spLocks noChangeArrowheads="1"/>
          </p:cNvSpPr>
          <p:nvPr/>
        </p:nvSpPr>
        <p:spPr bwMode="auto">
          <a:xfrm>
            <a:off x="76200" y="3862350"/>
            <a:ext cx="2514600" cy="11668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304800" y="1447800"/>
            <a:ext cx="8686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Tại </a:t>
            </a:r>
            <a:r>
              <a:rPr lang="vi-V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 bất kì trong điện trường, lần lượt đặt các điện tích điểm q</a:t>
            </a:r>
            <a:r>
              <a:rPr lang="vi-VN" sz="2800" b="1" baseline="-25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vi-V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q</a:t>
            </a:r>
            <a:r>
              <a:rPr lang="vi-VN" sz="2800" b="1" baseline="-25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vi-V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…, q</a:t>
            </a:r>
            <a:r>
              <a:rPr lang="vi-VN" sz="2800" b="1" baseline="-25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</a:t>
            </a:r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669925" y="2676525"/>
          <a:ext cx="519747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900" imgH="520700" progId="Equation.DSMT4">
                  <p:embed/>
                </p:oleObj>
              </mc:Choice>
              <mc:Fallback>
                <p:oleObj name="Equation" r:id="rId4" imgW="2501900" imgH="5207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2676525"/>
                        <a:ext cx="5197475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5913438" y="2894013"/>
          <a:ext cx="9445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225" imgH="190335" progId="Equation.DSMT4">
                  <p:embed/>
                </p:oleObj>
              </mc:Choice>
              <mc:Fallback>
                <p:oleObj name="Equation" r:id="rId6" imgW="317225" imgH="190335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438" y="2894013"/>
                        <a:ext cx="9445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5410200" y="1879600"/>
            <a:ext cx="3505200" cy="1041400"/>
            <a:chOff x="4668157" y="8001000"/>
            <a:chExt cx="3505200" cy="1041976"/>
          </a:xfrm>
        </p:grpSpPr>
        <p:grpSp>
          <p:nvGrpSpPr>
            <p:cNvPr id="39956" name="Group 24"/>
            <p:cNvGrpSpPr>
              <a:grpSpLocks/>
            </p:cNvGrpSpPr>
            <p:nvPr/>
          </p:nvGrpSpPr>
          <p:grpSpPr bwMode="auto">
            <a:xfrm>
              <a:off x="4668157" y="8001000"/>
              <a:ext cx="3086100" cy="1041976"/>
              <a:chOff x="3390900" y="2079604"/>
              <a:chExt cx="3086100" cy="1041207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3733800" y="2362127"/>
                <a:ext cx="457200" cy="45711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vi-VN" sz="3200">
                    <a:solidFill>
                      <a:srgbClr val="FFFF00"/>
                    </a:solidFill>
                    <a:latin typeface="+mj-lt"/>
                  </a:rPr>
                  <a:t>+</a:t>
                </a: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019800" y="2514498"/>
                <a:ext cx="152400" cy="152372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vi-VN" sz="3200">
                  <a:latin typeface="+mj-lt"/>
                </a:endParaRPr>
              </a:p>
            </p:txBody>
          </p:sp>
          <p:sp>
            <p:nvSpPr>
              <p:cNvPr id="39960" name="TextBox 27"/>
              <p:cNvSpPr txBox="1">
                <a:spLocks noChangeArrowheads="1"/>
              </p:cNvSpPr>
              <p:nvPr/>
            </p:nvSpPr>
            <p:spPr bwMode="auto">
              <a:xfrm>
                <a:off x="3390900" y="2536467"/>
                <a:ext cx="457200" cy="584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3200" b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  <a:endParaRPr lang="vi-VN" sz="3200" b="1">
                  <a:solidFill>
                    <a:srgbClr val="1109B7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TextBox 28"/>
              <p:cNvSpPr txBox="1">
                <a:spLocks noChangeArrowheads="1"/>
              </p:cNvSpPr>
              <p:nvPr/>
            </p:nvSpPr>
            <p:spPr bwMode="auto">
              <a:xfrm>
                <a:off x="5753100" y="2557353"/>
                <a:ext cx="723900" cy="461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vi-VN" sz="2400" b="1">
                    <a:solidFill>
                      <a:srgbClr val="1109B7"/>
                    </a:solidFill>
                    <a:latin typeface="+mj-lt"/>
                  </a:rPr>
                  <a:t>q</a:t>
                </a:r>
                <a:r>
                  <a:rPr lang="vi-VN" sz="2400" b="1" baseline="-25000">
                    <a:solidFill>
                      <a:srgbClr val="1109B7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35" name="TextBox 29"/>
              <p:cNvSpPr txBox="1">
                <a:spLocks noChangeArrowheads="1"/>
              </p:cNvSpPr>
              <p:nvPr/>
            </p:nvSpPr>
            <p:spPr bwMode="auto">
              <a:xfrm>
                <a:off x="5732463" y="2079604"/>
                <a:ext cx="457200" cy="4618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vi-VN" sz="2400">
                    <a:solidFill>
                      <a:srgbClr val="1109B7"/>
                    </a:solidFill>
                    <a:latin typeface="+mj-lt"/>
                  </a:rPr>
                  <a:t>M</a:t>
                </a:r>
              </a:p>
            </p:txBody>
          </p:sp>
          <p:cxnSp>
            <p:nvCxnSpPr>
              <p:cNvPr id="36" name="Straight Connector 35"/>
              <p:cNvCxnSpPr>
                <a:stCxn id="31" idx="6"/>
                <a:endCxn id="32" idx="2"/>
              </p:cNvCxnSpPr>
              <p:nvPr/>
            </p:nvCxnSpPr>
            <p:spPr>
              <a:xfrm>
                <a:off x="4191000" y="2590684"/>
                <a:ext cx="1828800" cy="1588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28"/>
            <p:cNvSpPr txBox="1">
              <a:spLocks noChangeArrowheads="1"/>
            </p:cNvSpPr>
            <p:nvPr/>
          </p:nvSpPr>
          <p:spPr bwMode="auto">
            <a:xfrm>
              <a:off x="7449457" y="8258317"/>
              <a:ext cx="723900" cy="58611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3200" b="1">
                  <a:solidFill>
                    <a:srgbClr val="1109B7"/>
                  </a:solidFill>
                  <a:latin typeface="+mj-lt"/>
                </a:rPr>
                <a:t>W</a:t>
              </a:r>
              <a:r>
                <a:rPr lang="vi-VN" sz="3200" b="1" baseline="-25000">
                  <a:solidFill>
                    <a:srgbClr val="1109B7"/>
                  </a:solidFill>
                  <a:latin typeface="+mj-lt"/>
                </a:rPr>
                <a:t>1</a:t>
              </a:r>
            </a:p>
          </p:txBody>
        </p:sp>
      </p:grp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58750" y="3817938"/>
          <a:ext cx="2363788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457200" progId="Equation.DSMT4">
                  <p:embed/>
                </p:oleObj>
              </mc:Choice>
              <mc:Fallback>
                <p:oleObj name="Equation" r:id="rId7" imgW="9144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3817938"/>
                        <a:ext cx="2363788" cy="118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290513" y="5130800"/>
            <a:ext cx="7843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2800" b="1" i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_ Chọn gốc điện thế ở vô cực, khi đó </a:t>
            </a:r>
            <a:r>
              <a:rPr lang="fr-FR" sz="2800" b="1" i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C=0 :</a:t>
            </a:r>
            <a:endParaRPr lang="vi-VN" sz="2800" b="1" i="1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ounded Rectangle 29"/>
          <p:cNvSpPr>
            <a:spLocks noChangeArrowheads="1"/>
          </p:cNvSpPr>
          <p:nvPr/>
        </p:nvSpPr>
        <p:spPr bwMode="auto">
          <a:xfrm>
            <a:off x="3127829" y="5691150"/>
            <a:ext cx="1901371" cy="11668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2419350" y="5773738"/>
            <a:ext cx="341313" cy="1008062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09550" y="914400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6943E-EC3E-BA82-DEED-D8EC3B8C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BA7CE-5067-A7E2-67F6-2F9376B4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4A672E0-AC43-04B7-0974-54272AF43EA1}"/>
                  </a:ext>
                </a:extLst>
              </p:cNvPr>
              <p:cNvSpPr/>
              <p:nvPr/>
            </p:nvSpPr>
            <p:spPr>
              <a:xfrm>
                <a:off x="3298030" y="5755620"/>
                <a:ext cx="1578770" cy="102618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8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4A672E0-AC43-04B7-0974-54272AF43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030" y="5755620"/>
                <a:ext cx="1578770" cy="10261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9" grpId="0" autoUpdateAnimBg="0"/>
      <p:bldP spid="28" grpId="0"/>
      <p:bldP spid="37" grpId="0" animBg="1"/>
      <p:bldP spid="26" grpId="0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18"/>
          <p:cNvGrpSpPr>
            <a:grpSpLocks/>
          </p:cNvGrpSpPr>
          <p:nvPr/>
        </p:nvGrpSpPr>
        <p:grpSpPr bwMode="auto">
          <a:xfrm>
            <a:off x="-304800" y="14288"/>
            <a:ext cx="9372600" cy="889000"/>
            <a:chOff x="1200" y="1392"/>
            <a:chExt cx="6735" cy="560"/>
          </a:xfrm>
        </p:grpSpPr>
        <p:pic>
          <p:nvPicPr>
            <p:cNvPr id="40981" name="Picture 8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6735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1726" y="1510"/>
              <a:ext cx="578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.4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Công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của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lực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,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hiệu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0" y="914400"/>
            <a:ext cx="3771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Điện thế gây ra bởi:</a:t>
            </a:r>
            <a:endParaRPr lang="vi-VN" sz="3200" u="sng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ounded Rectangle 17"/>
          <p:cNvSpPr>
            <a:spLocks noChangeArrowheads="1"/>
          </p:cNvSpPr>
          <p:nvPr/>
        </p:nvSpPr>
        <p:spPr bwMode="auto">
          <a:xfrm>
            <a:off x="4267200" y="1524000"/>
            <a:ext cx="2286000" cy="11668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161925" y="1828800"/>
            <a:ext cx="4202113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charset="0"/>
              <a:buNone/>
            </a:pPr>
            <a:r>
              <a:rPr lang="en-US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_Một điện tích điểm:</a:t>
            </a:r>
          </a:p>
        </p:txBody>
      </p:sp>
      <p:graphicFrame>
        <p:nvGraphicFramePr>
          <p:cNvPr id="26" name="Object 4"/>
          <p:cNvGraphicFramePr>
            <a:graphicFrameLocks noGrp="1" noChangeAspect="1"/>
          </p:cNvGraphicFramePr>
          <p:nvPr>
            <p:ph sz="quarter" idx="13"/>
          </p:nvPr>
        </p:nvGraphicFramePr>
        <p:xfrm>
          <a:off x="4430713" y="1676400"/>
          <a:ext cx="18716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753" imgH="393529" progId="Equation.DSMT4">
                  <p:embed/>
                </p:oleObj>
              </mc:Choice>
              <mc:Fallback>
                <p:oleObj name="Equation" r:id="rId4" imgW="799753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1676400"/>
                        <a:ext cx="18716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3962400" y="3021013"/>
          <a:ext cx="4484688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600" imgH="419100" progId="Equation.DSMT4">
                  <p:embed/>
                </p:oleObj>
              </mc:Choice>
              <mc:Fallback>
                <p:oleObj name="Equation" r:id="rId6" imgW="17526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021013"/>
                        <a:ext cx="4484688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"/>
          <p:cNvGraphicFramePr>
            <a:graphicFrameLocks noChangeAspect="1"/>
          </p:cNvGraphicFramePr>
          <p:nvPr/>
        </p:nvGraphicFramePr>
        <p:xfrm>
          <a:off x="3276600" y="4572000"/>
          <a:ext cx="4814888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400" imgH="482600" progId="Equation.DSMT4">
                  <p:embed/>
                </p:oleObj>
              </mc:Choice>
              <mc:Fallback>
                <p:oleObj name="Equation" r:id="rId8" imgW="1803400" imgH="482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0"/>
                        <a:ext cx="4814888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107950" y="2851150"/>
            <a:ext cx="370205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_Hệ điện tích điểm:</a:t>
            </a:r>
          </a:p>
        </p:txBody>
      </p: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180975" y="4495800"/>
            <a:ext cx="278765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_Vật tích điện:</a:t>
            </a: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3733800" y="2895600"/>
            <a:ext cx="4953000" cy="137257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38" name="Rounded Rectangle 37"/>
          <p:cNvSpPr>
            <a:spLocks noChangeArrowheads="1"/>
          </p:cNvSpPr>
          <p:nvPr/>
        </p:nvSpPr>
        <p:spPr bwMode="auto">
          <a:xfrm>
            <a:off x="3124200" y="4495800"/>
            <a:ext cx="5105400" cy="1401781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381000" y="6096000"/>
            <a:ext cx="7845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32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Nếu chọn gốc điện thế ở vô cực thì </a:t>
            </a:r>
            <a:r>
              <a:rPr lang="fr-FR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C=0</a:t>
            </a:r>
            <a:endParaRPr lang="vi-VN" sz="32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09550" y="914400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C36A14-8EE9-C594-7830-C2AF20FE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BEEA5E-9749-FAB2-A0C3-4CAF0230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 build="p"/>
      <p:bldP spid="30" grpId="0" build="p"/>
      <p:bldP spid="33" grpId="0" build="p"/>
      <p:bldP spid="42" grpId="0"/>
      <p:bldP spid="1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18"/>
          <p:cNvGrpSpPr>
            <a:grpSpLocks/>
          </p:cNvGrpSpPr>
          <p:nvPr/>
        </p:nvGrpSpPr>
        <p:grpSpPr bwMode="auto">
          <a:xfrm>
            <a:off x="-304800" y="14288"/>
            <a:ext cx="9372600" cy="889000"/>
            <a:chOff x="1200" y="1392"/>
            <a:chExt cx="6735" cy="560"/>
          </a:xfrm>
        </p:grpSpPr>
        <p:pic>
          <p:nvPicPr>
            <p:cNvPr id="43023" name="Picture 8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392"/>
              <a:ext cx="6735" cy="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1726" y="1510"/>
              <a:ext cx="5786" cy="291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.4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Công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của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lực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trường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–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,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hiệu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điện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cs typeface="+mn-cs"/>
                </a:rPr>
                <a:t> </a:t>
              </a:r>
              <a:r>
                <a:rPr lang="en-US" sz="2400" b="1" dirty="0" err="1">
                  <a:solidFill>
                    <a:schemeClr val="dk1"/>
                  </a:solidFill>
                  <a:latin typeface="+mn-lt"/>
                  <a:cs typeface="+mn-cs"/>
                </a:rPr>
                <a:t>thế</a:t>
              </a:r>
              <a:endParaRPr lang="en-US" sz="24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0" y="914400"/>
            <a:ext cx="2667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Hiệu điện thế</a:t>
            </a:r>
            <a:endParaRPr lang="vi-VN" sz="3200" u="sng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1" y="3113088"/>
                <a:ext cx="9067800" cy="24900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fr-FR" sz="24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fr-FR" sz="2400" b="1" i="1" baseline="-25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MN</a:t>
                </a:r>
                <a:r>
                  <a:rPr lang="fr-FR" sz="24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Hiệu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thế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giữa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2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điểm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M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và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N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i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trường</a:t>
                </a:r>
                <a:r>
                  <a:rPr lang="fr-FR" sz="2400" b="1" i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r>
                  <a:rPr lang="en-US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Với</a:t>
                </a:r>
                <a:r>
                  <a:rPr lang="en-US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trường</a:t>
                </a:r>
                <a:r>
                  <a:rPr lang="en-US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liên</a:t>
                </a:r>
                <a:r>
                  <a:rPr lang="en-US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tục</a:t>
                </a:r>
                <a:r>
                  <a:rPr lang="en-US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:</a:t>
                </a:r>
              </a:p>
              <a:p>
                <a:r>
                  <a:rPr lang="en-US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sz="20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MN</a:t>
                </a:r>
                <a:r>
                  <a:rPr lang="en-US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l-GR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Δ</a:t>
                </a:r>
                <a:r>
                  <a:rPr lang="en-US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V = V</a:t>
                </a:r>
                <a:r>
                  <a:rPr lang="en-US" sz="20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– V</a:t>
                </a:r>
                <a:r>
                  <a:rPr lang="en-US" sz="20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1109B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0">
                            <a:solidFill>
                              <a:srgbClr val="1109B7"/>
                            </a:solidFill>
                            <a:latin typeface="Cambria Math"/>
                          </a:rPr>
                          <m:t>𝐀𝐌𝐍</m:t>
                        </m:r>
                      </m:num>
                      <m:den>
                        <m:r>
                          <a:rPr lang="en-US" sz="2800" b="1" i="0">
                            <a:solidFill>
                              <a:srgbClr val="1109B7"/>
                            </a:solidFill>
                            <a:latin typeface="Cambria Math"/>
                          </a:rPr>
                          <m:t>𝐪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= -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800" b="1" i="1">
                            <a:solidFill>
                              <a:srgbClr val="1109B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800" b="1" i="0">
                            <a:solidFill>
                              <a:srgbClr val="1109B7"/>
                            </a:solidFill>
                            <a:latin typeface="Cambria Math"/>
                          </a:rPr>
                          <m:t>𝐌</m:t>
                        </m:r>
                      </m:sub>
                      <m:sup>
                        <m:r>
                          <a:rPr lang="en-US" sz="2800" b="1" i="0">
                            <a:solidFill>
                              <a:srgbClr val="1109B7"/>
                            </a:solidFill>
                            <a:latin typeface="Cambria Math"/>
                          </a:rPr>
                          <m:t>𝐍</m:t>
                        </m:r>
                      </m:sup>
                      <m:e>
                        <m:acc>
                          <m:accPr>
                            <m:chr m:val="⃗"/>
                            <m:ctrlPr>
                              <a:rPr lang="en-US" sz="2800" b="1" i="1">
                                <a:solidFill>
                                  <a:srgbClr val="1109B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1" i="0">
                                <a:solidFill>
                                  <a:srgbClr val="1109B7"/>
                                </a:solidFill>
                                <a:latin typeface="Cambria Math"/>
                              </a:rPr>
                              <m:t>𝐄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sz="28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.d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solidFill>
                              <a:srgbClr val="1109B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0">
                            <a:solidFill>
                              <a:srgbClr val="1109B7"/>
                            </a:solidFill>
                            <a:latin typeface="Cambria Math"/>
                          </a:rPr>
                          <m:t>𝐒</m:t>
                        </m:r>
                      </m:e>
                    </m:acc>
                  </m:oMath>
                </a14:m>
                <a:r>
                  <a:rPr lang="fr-FR" sz="32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= -</a:t>
                </a:r>
                <a:r>
                  <a:rPr lang="fr-FR" sz="32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E.s</a:t>
                </a:r>
                <a:endParaRPr lang="fr-FR" sz="3200" b="1" dirty="0">
                  <a:solidFill>
                    <a:srgbClr val="1109B7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fr-FR" sz="32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dấu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’-’: 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độ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giảm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thế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năng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fr-FR" sz="2400" b="1" dirty="0" err="1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tích</a:t>
                </a:r>
                <a:r>
                  <a:rPr lang="fr-FR" sz="2400" b="1" dirty="0">
                    <a:solidFill>
                      <a:srgbClr val="1109B7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endParaRPr lang="vi-VN" sz="3200" b="1" dirty="0">
                  <a:solidFill>
                    <a:srgbClr val="1109B7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" y="3113088"/>
                <a:ext cx="9067800" cy="2490041"/>
              </a:xfrm>
              <a:prstGeom prst="rect">
                <a:avLst/>
              </a:prstGeom>
              <a:blipFill>
                <a:blip r:embed="rId4"/>
                <a:stretch>
                  <a:fillRect l="-1344" t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ight Arrow 27"/>
          <p:cNvSpPr/>
          <p:nvPr/>
        </p:nvSpPr>
        <p:spPr>
          <a:xfrm>
            <a:off x="257175" y="5263646"/>
            <a:ext cx="228600" cy="3429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ounded Rectangle 19"/>
          <p:cNvSpPr>
            <a:spLocks noChangeArrowheads="1"/>
          </p:cNvSpPr>
          <p:nvPr/>
        </p:nvSpPr>
        <p:spPr bwMode="auto">
          <a:xfrm>
            <a:off x="2552700" y="5813039"/>
            <a:ext cx="2895600" cy="943496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594859" y="5142996"/>
            <a:ext cx="84693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Công của lực điện trường trong dịch chuyển q</a:t>
            </a:r>
            <a:r>
              <a:rPr lang="en-US" sz="2800" b="1" baseline="-25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endParaRPr lang="en-US" sz="28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889750" y="2057400"/>
          <a:ext cx="14922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700" imgH="241300" progId="Equation.DSMT4">
                  <p:embed/>
                </p:oleObj>
              </mc:Choice>
              <mc:Fallback>
                <p:oleObj name="Equation" r:id="rId5" imgW="6477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2057400"/>
                        <a:ext cx="14922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04800" y="1628775"/>
          <a:ext cx="4033838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47172" imgH="482391" progId="Equation.DSMT4">
                  <p:embed/>
                </p:oleObj>
              </mc:Choice>
              <mc:Fallback>
                <p:oleObj name="Equation" r:id="rId7" imgW="1447172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28775"/>
                        <a:ext cx="4033838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343400" y="2033588"/>
          <a:ext cx="24876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79032" imgH="241195" progId="Equation.DSMT4">
                  <p:embed/>
                </p:oleObj>
              </mc:Choice>
              <mc:Fallback>
                <p:oleObj name="Equation" r:id="rId9" imgW="1079032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033588"/>
                        <a:ext cx="24876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805290"/>
              </p:ext>
            </p:extLst>
          </p:nvPr>
        </p:nvGraphicFramePr>
        <p:xfrm>
          <a:off x="2774950" y="5993480"/>
          <a:ext cx="24511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16000" imgH="241300" progId="Equation.DSMT4">
                  <p:embed/>
                </p:oleObj>
              </mc:Choice>
              <mc:Fallback>
                <p:oleObj name="Equation" r:id="rId11" imgW="10160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5993480"/>
                        <a:ext cx="24511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09550" y="914400"/>
            <a:ext cx="552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109B7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2" name="Right Arrow 1">
            <a:hlinkClick r:id="rId13" action="ppaction://hlinkpres?slideindex=16&amp;slidetitle=PowerPoint Presentation"/>
          </p:cNvPr>
          <p:cNvSpPr/>
          <p:nvPr/>
        </p:nvSpPr>
        <p:spPr>
          <a:xfrm>
            <a:off x="8229600" y="6284787"/>
            <a:ext cx="673608" cy="471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8ABFF-C231-3015-C28E-291505C70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CB4C1-4096-7975-F2E8-EEE8E7B3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5715000" y="5813039"/>
                <a:ext cx="2133600" cy="914400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1109B7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1109B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1109B7"/>
                            </a:solidFill>
                            <a:latin typeface="Cambria Math"/>
                          </a:rPr>
                          <m:t>𝐪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1109B7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800" b="1" i="0" smtClean="0">
                        <a:solidFill>
                          <a:srgbClr val="1109B7"/>
                        </a:solidFill>
                        <a:latin typeface="Cambria Math"/>
                      </a:rPr>
                      <m:t>.</m:t>
                    </m:r>
                    <m:r>
                      <a:rPr lang="en-US" sz="2800" b="1" i="0" smtClean="0">
                        <a:solidFill>
                          <a:srgbClr val="1109B7"/>
                        </a:solidFill>
                        <a:latin typeface="Cambria Math"/>
                      </a:rPr>
                      <m:t>𝐄</m:t>
                    </m:r>
                    <m:r>
                      <a:rPr lang="en-US" sz="2800" b="1" i="0" smtClean="0">
                        <a:solidFill>
                          <a:srgbClr val="1109B7"/>
                        </a:solidFill>
                        <a:latin typeface="Cambria Math"/>
                      </a:rPr>
                      <m:t>.</m:t>
                    </m:r>
                    <m:r>
                      <a:rPr lang="en-US" sz="2800" b="1" i="0" smtClean="0">
                        <a:solidFill>
                          <a:srgbClr val="1109B7"/>
                        </a:solidFill>
                        <a:latin typeface="Cambria Math"/>
                      </a:rPr>
                      <m:t>𝐬</m:t>
                    </m:r>
                  </m:oMath>
                </a14:m>
                <a:endParaRPr lang="en-US" sz="2800" b="1" dirty="0">
                  <a:solidFill>
                    <a:srgbClr val="1109B7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813039"/>
                <a:ext cx="2133600" cy="914400"/>
              </a:xfrm>
              <a:prstGeom prst="round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93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28" grpId="0" animBg="1"/>
      <p:bldP spid="16" grpId="0"/>
      <p:bldP spid="17" grpId="0"/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228600"/>
                <a:ext cx="8229600" cy="61722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Bài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tập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công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lực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trường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thế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năng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 -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thế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hiệu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35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500" b="1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thế</a:t>
                </a:r>
                <a:endParaRPr lang="en-US" sz="3500" b="1" i="1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2800" b="1" u="sng" dirty="0"/>
              </a:p>
              <a:p>
                <a:pPr marL="0" indent="0" algn="just">
                  <a:buNone/>
                </a:pPr>
                <a:r>
                  <a:rPr lang="en-US" sz="2800" b="1" u="sng" dirty="0"/>
                  <a:t>1. </a:t>
                </a:r>
                <a:r>
                  <a:rPr lang="en-US" sz="2800" b="1" u="sng" dirty="0" err="1"/>
                  <a:t>Điện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thế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của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một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điện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tích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điểm</a:t>
                </a:r>
                <a:endParaRPr lang="en-US" sz="2800" b="1" u="sng" dirty="0"/>
              </a:p>
              <a:p>
                <a:pPr marL="45720" indent="0">
                  <a:buNone/>
                </a:pPr>
                <a:endParaRPr lang="en-US" sz="2400" dirty="0"/>
              </a:p>
              <a:p>
                <a:pPr marL="45720" indent="0">
                  <a:buNone/>
                </a:pPr>
                <a:r>
                  <a:rPr lang="en-US" sz="2400" dirty="0" err="1"/>
                  <a:t>Điện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thế</a:t>
                </a:r>
                <a:r>
                  <a:rPr lang="en-US" sz="2400" dirty="0"/>
                  <a:t> do 1 electron </a:t>
                </a:r>
                <a:r>
                  <a:rPr lang="en-US" sz="2400" dirty="0" err="1"/>
                  <a:t>gây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</a:t>
                </a:r>
                <a:r>
                  <a:rPr lang="en-US" sz="2400" dirty="0"/>
                  <a:t> 1 </a:t>
                </a:r>
                <a:r>
                  <a:rPr lang="en-US" sz="2400" dirty="0" err="1"/>
                  <a:t>điểm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nó</a:t>
                </a:r>
                <a:r>
                  <a:rPr lang="en-US" sz="2400" dirty="0"/>
                  <a:t> 1cm </a:t>
                </a:r>
                <a:r>
                  <a:rPr lang="en-US" sz="2400" dirty="0" err="1"/>
                  <a:t>là</a:t>
                </a:r>
                <a:r>
                  <a:rPr lang="vi-VN" sz="2400" dirty="0"/>
                  <a:t>: </a:t>
                </a:r>
                <a:endParaRPr lang="en-US" sz="2400" dirty="0"/>
              </a:p>
              <a:p>
                <a:r>
                  <a:rPr lang="en-US" sz="2400" dirty="0"/>
                  <a:t>   </a:t>
                </a:r>
                <a:r>
                  <a:rPr lang="en-US" sz="2400" b="1" dirty="0"/>
                  <a:t>A. </a:t>
                </a:r>
                <a:r>
                  <a:rPr lang="en-US" sz="2400" dirty="0"/>
                  <a:t>14,4.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400" dirty="0"/>
                  <a:t> V</a:t>
                </a:r>
              </a:p>
              <a:p>
                <a:r>
                  <a:rPr lang="en-US" sz="2400" dirty="0"/>
                  <a:t>   </a:t>
                </a:r>
                <a:r>
                  <a:rPr lang="en-US" sz="2400" b="1" dirty="0"/>
                  <a:t>B. </a:t>
                </a:r>
                <a:r>
                  <a:rPr lang="en-US" sz="2400" dirty="0"/>
                  <a:t>14,4.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400" dirty="0"/>
                  <a:t> V</a:t>
                </a:r>
              </a:p>
              <a:p>
                <a:r>
                  <a:rPr lang="en-US" sz="2400" dirty="0"/>
                  <a:t>   </a:t>
                </a:r>
                <a:r>
                  <a:rPr lang="en-US" sz="2400" b="1" dirty="0"/>
                  <a:t>C. -</a:t>
                </a:r>
                <a:r>
                  <a:rPr lang="en-US" sz="2400" dirty="0"/>
                  <a:t>14,4.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−8</m:t>
                        </m:r>
                      </m:sup>
                    </m:sSup>
                  </m:oMath>
                </a14:m>
                <a:r>
                  <a:rPr lang="en-US" sz="2400" dirty="0"/>
                  <a:t> V</a:t>
                </a:r>
              </a:p>
              <a:p>
                <a:r>
                  <a:rPr lang="en-US" sz="2400" dirty="0"/>
                  <a:t>   </a:t>
                </a:r>
                <a:r>
                  <a:rPr lang="en-US" sz="2400" b="1" dirty="0"/>
                  <a:t>D. -</a:t>
                </a:r>
                <a:r>
                  <a:rPr lang="en-US" sz="2400" dirty="0"/>
                  <a:t>14,4.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400" dirty="0"/>
                  <a:t> V</a:t>
                </a:r>
              </a:p>
              <a:p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800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228600"/>
                <a:ext cx="8229600" cy="6172200"/>
              </a:xfrm>
              <a:blipFill rotWithShape="1">
                <a:blip r:embed="rId2"/>
                <a:stretch>
                  <a:fillRect l="-1481" t="-1581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16AA46-EDBE-F6DA-C321-994FE77EF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F262F-5741-D63C-BAE0-11D63C81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4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685800"/>
                <a:ext cx="8229600" cy="5440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u="sng" dirty="0"/>
                  <a:t>2. </a:t>
                </a:r>
                <a:r>
                  <a:rPr lang="en-US" sz="2800" b="1" u="sng" dirty="0" err="1"/>
                  <a:t>Điện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thế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của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vật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tích</a:t>
                </a:r>
                <a:r>
                  <a:rPr lang="en-US" sz="2800" b="1" u="sng" dirty="0"/>
                  <a:t> </a:t>
                </a:r>
                <a:r>
                  <a:rPr lang="en-US" sz="2800" b="1" u="sng" dirty="0" err="1"/>
                  <a:t>điện</a:t>
                </a:r>
                <a:endParaRPr lang="en-US" sz="2800" b="1" u="sng" dirty="0"/>
              </a:p>
              <a:p>
                <a:pPr marL="0" indent="0">
                  <a:buNone/>
                </a:pP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vòng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dây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tròn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kính</a:t>
                </a:r>
                <a:r>
                  <a:rPr lang="en-US" sz="2800" dirty="0"/>
                  <a:t> 4cm </a:t>
                </a:r>
                <a:r>
                  <a:rPr lang="en-US" sz="2800" dirty="0" err="1"/>
                  <a:t>tích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đều</a:t>
                </a:r>
                <a:r>
                  <a:rPr lang="en-US" sz="2800" dirty="0"/>
                  <a:t> Q = (1/9).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−8</m:t>
                        </m:r>
                      </m:sup>
                    </m:sSup>
                  </m:oMath>
                </a14:m>
                <a:r>
                  <a:rPr lang="en-US" sz="2800" dirty="0"/>
                  <a:t>C.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thế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tại</a:t>
                </a:r>
                <a:r>
                  <a:rPr lang="en-US" sz="2800" dirty="0"/>
                  <a:t>:</a:t>
                </a:r>
              </a:p>
              <a:p>
                <a:pPr marL="514350" indent="-514350">
                  <a:buAutoNum type="alphaLcParenR"/>
                </a:pPr>
                <a:r>
                  <a:rPr lang="en-US" sz="2800" dirty="0" err="1"/>
                  <a:t>Tâm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vòng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dây</a:t>
                </a:r>
                <a:endParaRPr lang="en-US" sz="2800" dirty="0"/>
              </a:p>
              <a:p>
                <a:pPr marL="514350" indent="-514350">
                  <a:buAutoNum type="alphaLcParenR"/>
                </a:pP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điểm</a:t>
                </a:r>
                <a:r>
                  <a:rPr lang="en-US" sz="2800" dirty="0"/>
                  <a:t> M </a:t>
                </a:r>
                <a:r>
                  <a:rPr lang="en-US" sz="2800" dirty="0" err="1"/>
                  <a:t>trên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trục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vòng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dây</a:t>
                </a:r>
                <a:r>
                  <a:rPr lang="en-US" sz="2800" dirty="0"/>
                  <a:t>, </a:t>
                </a:r>
                <a:r>
                  <a:rPr lang="en-US" sz="2800" dirty="0" err="1"/>
                  <a:t>cách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tâm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vòng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dây</a:t>
                </a:r>
                <a:r>
                  <a:rPr lang="en-US" sz="2800" dirty="0"/>
                  <a:t> h = 3cm</a:t>
                </a:r>
              </a:p>
              <a:p>
                <a:pPr marL="0" indent="0">
                  <a:buNone/>
                </a:pP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tích</a:t>
                </a:r>
                <a:r>
                  <a:rPr lang="en-US" sz="2800" dirty="0"/>
                  <a:t> Q </a:t>
                </a:r>
                <a:r>
                  <a:rPr lang="en-US" sz="2800" dirty="0" err="1"/>
                  <a:t>phân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bố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đều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với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mật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độ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khối</a:t>
                </a:r>
                <a:r>
                  <a:rPr lang="en-US" sz="2800" dirty="0"/>
                  <a:t> 5.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800" dirty="0"/>
                  <a:t>C/m³ </a:t>
                </a:r>
                <a:r>
                  <a:rPr lang="en-US" sz="2800" dirty="0" err="1"/>
                  <a:t>trong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khối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cầu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tâm</a:t>
                </a:r>
                <a:r>
                  <a:rPr lang="en-US" sz="2800" dirty="0"/>
                  <a:t> O, </a:t>
                </a:r>
                <a:r>
                  <a:rPr lang="en-US" sz="2800" dirty="0" err="1"/>
                  <a:t>bán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kính</a:t>
                </a:r>
                <a:r>
                  <a:rPr lang="en-US" sz="2800" dirty="0"/>
                  <a:t> 10cm, </a:t>
                </a:r>
                <a:r>
                  <a:rPr lang="en-US" sz="2800" dirty="0" err="1"/>
                  <a:t>đặt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trong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dầu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l-GR" sz="2800" dirty="0"/>
                  <a:t>ε</a:t>
                </a:r>
                <a:r>
                  <a:rPr lang="en-US" sz="2800" dirty="0"/>
                  <a:t> = 5. </a:t>
                </a:r>
                <a:r>
                  <a:rPr lang="en-US" sz="2800" dirty="0" err="1"/>
                  <a:t>Chọn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gốc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thế</a:t>
                </a:r>
                <a:r>
                  <a:rPr lang="en-US" sz="2800" dirty="0"/>
                  <a:t> ở </a:t>
                </a:r>
                <a:r>
                  <a:rPr lang="en-US" sz="2800" dirty="0" err="1"/>
                  <a:t>vô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cùng</a:t>
                </a:r>
                <a:r>
                  <a:rPr lang="en-US" sz="2800" dirty="0"/>
                  <a:t>.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thế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tại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điểm</a:t>
                </a:r>
                <a:r>
                  <a:rPr lang="en-US" sz="2800" dirty="0"/>
                  <a:t> M </a:t>
                </a:r>
                <a:r>
                  <a:rPr lang="en-US" sz="2800" dirty="0" err="1"/>
                  <a:t>cách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tâm</a:t>
                </a:r>
                <a:r>
                  <a:rPr lang="en-US" sz="2800" dirty="0"/>
                  <a:t> O 12cm.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685800"/>
                <a:ext cx="8229600" cy="5440363"/>
              </a:xfrm>
              <a:blipFill rotWithShape="1">
                <a:blip r:embed="rId2"/>
                <a:stretch>
                  <a:fillRect l="-2148" t="-1121" r="-1556" b="-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A6950B-964A-ABE0-241D-E5A933F7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7592A-AF75-0C67-C6E3-0AF97CFB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Callout 4"/>
              <p:cNvSpPr/>
              <p:nvPr/>
            </p:nvSpPr>
            <p:spPr>
              <a:xfrm>
                <a:off x="5791200" y="5486400"/>
                <a:ext cx="2743200" cy="1143000"/>
              </a:xfrm>
              <a:prstGeom prst="wedgeEllipseCallou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= 314 V</a:t>
                </a:r>
              </a:p>
            </p:txBody>
          </p:sp>
        </mc:Choice>
        <mc:Fallback xmlns="">
          <p:sp>
            <p:nvSpPr>
              <p:cNvPr id="5" name="Oval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5486400"/>
                <a:ext cx="2743200" cy="1143000"/>
              </a:xfrm>
              <a:prstGeom prst="wedgeEllipseCallou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6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13036A-5D1A-3B01-BE1F-14717427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0E2D72-A249-91A0-DDB3-C4ACF8F2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E0F73EA-CD20-4B5D-99A7-89575814991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09600" y="5105400"/>
                <a:ext cx="6400800" cy="1249362"/>
              </a:xfrm>
            </p:spPr>
            <p:txBody>
              <a:bodyPr/>
              <a:lstStyle/>
              <a:p>
                <a:r>
                  <a:rPr lang="en-US" dirty="0"/>
                  <a:t>r=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e>
                    </m:rad>
                  </m:oMath>
                </a14:m>
                <a:r>
                  <a:rPr lang="en-US" dirty="0"/>
                  <a:t>, </a:t>
                </a:r>
                <a:r>
                  <a:rPr lang="en-US" sz="24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E0F73EA-CD20-4B5D-99A7-895758149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09600" y="5105400"/>
                <a:ext cx="6400800" cy="1249362"/>
              </a:xfrm>
              <a:blipFill>
                <a:blip r:embed="rId2"/>
                <a:stretch>
                  <a:fillRect l="-1048" t="-2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4159DB20-3F3D-D546-9CD9-877B622F0E09}"/>
              </a:ext>
            </a:extLst>
          </p:cNvPr>
          <p:cNvSpPr/>
          <p:nvPr/>
        </p:nvSpPr>
        <p:spPr>
          <a:xfrm>
            <a:off x="1219200" y="1066800"/>
            <a:ext cx="2209800" cy="3657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115B92-D422-3A7B-EE66-FCB4A7832A21}"/>
              </a:ext>
            </a:extLst>
          </p:cNvPr>
          <p:cNvSpPr/>
          <p:nvPr/>
        </p:nvSpPr>
        <p:spPr>
          <a:xfrm>
            <a:off x="2305751" y="2971500"/>
            <a:ext cx="45719" cy="4603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A8F7F5-D275-D916-5D09-A854482F6816}"/>
              </a:ext>
            </a:extLst>
          </p:cNvPr>
          <p:cNvCxnSpPr>
            <a:cxnSpLocks/>
          </p:cNvCxnSpPr>
          <p:nvPr/>
        </p:nvCxnSpPr>
        <p:spPr>
          <a:xfrm flipV="1">
            <a:off x="2324100" y="1320055"/>
            <a:ext cx="505175" cy="1697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EE0921-F467-C016-CB9A-B6F9275B53F7}"/>
                  </a:ext>
                </a:extLst>
              </p:cNvPr>
              <p:cNvSpPr/>
              <p:nvPr/>
            </p:nvSpPr>
            <p:spPr>
              <a:xfrm>
                <a:off x="4724400" y="381000"/>
                <a:ext cx="1578770" cy="102618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sz="28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EE0921-F467-C016-CB9A-B6F9275B53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81000"/>
                <a:ext cx="1578770" cy="10261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87244C-1757-DA82-A5BD-FBF22A7227F8}"/>
              </a:ext>
            </a:extLst>
          </p:cNvPr>
          <p:cNvCxnSpPr>
            <a:cxnSpLocks/>
          </p:cNvCxnSpPr>
          <p:nvPr/>
        </p:nvCxnSpPr>
        <p:spPr>
          <a:xfrm>
            <a:off x="2308862" y="2971530"/>
            <a:ext cx="44836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FF7BBB8-E624-9074-9E0A-6EB637D58FC6}"/>
              </a:ext>
            </a:extLst>
          </p:cNvPr>
          <p:cNvSpPr/>
          <p:nvPr/>
        </p:nvSpPr>
        <p:spPr>
          <a:xfrm>
            <a:off x="6759241" y="2362200"/>
            <a:ext cx="381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A2732-D5CE-E962-FBC7-C33CFE7FF81D}"/>
              </a:ext>
            </a:extLst>
          </p:cNvPr>
          <p:cNvSpPr/>
          <p:nvPr/>
        </p:nvSpPr>
        <p:spPr>
          <a:xfrm>
            <a:off x="4533900" y="2961753"/>
            <a:ext cx="381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0F5E23-C1B4-27E1-CE2B-D2C12F9238EB}"/>
              </a:ext>
            </a:extLst>
          </p:cNvPr>
          <p:cNvCxnSpPr>
            <a:cxnSpLocks/>
          </p:cNvCxnSpPr>
          <p:nvPr/>
        </p:nvCxnSpPr>
        <p:spPr>
          <a:xfrm>
            <a:off x="2868779" y="1289598"/>
            <a:ext cx="3890462" cy="1666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2734B02-03F2-F9BE-96F8-B636B6E1E1AA}"/>
              </a:ext>
            </a:extLst>
          </p:cNvPr>
          <p:cNvSpPr/>
          <p:nvPr/>
        </p:nvSpPr>
        <p:spPr>
          <a:xfrm>
            <a:off x="4433010" y="1521480"/>
            <a:ext cx="381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5C6CD5-55EA-9591-86C9-AD8A9F3631CB}"/>
              </a:ext>
            </a:extLst>
          </p:cNvPr>
          <p:cNvSpPr/>
          <p:nvPr/>
        </p:nvSpPr>
        <p:spPr>
          <a:xfrm>
            <a:off x="2133599" y="1751294"/>
            <a:ext cx="381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94860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90600" y="731520"/>
            <a:ext cx="7467600" cy="5059680"/>
          </a:xfrm>
        </p:spPr>
        <p:txBody>
          <a:bodyPr>
            <a:normAutofit lnSpcReduction="10000"/>
          </a:bodyPr>
          <a:lstStyle/>
          <a:p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5: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kim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kính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50 cm,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chân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Q = 5.10</a:t>
            </a:r>
            <a:r>
              <a:rPr lang="en-US" sz="3200" b="1" baseline="30000" dirty="0">
                <a:latin typeface="Times New Roman" pitchFamily="18" charset="0"/>
                <a:cs typeface="Times New Roman" pitchFamily="18" charset="0"/>
              </a:rPr>
              <a:t> – 6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(C).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mặt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pt-BR" sz="3200" b="1" dirty="0">
                <a:latin typeface="Times New Roman" pitchFamily="18" charset="0"/>
                <a:cs typeface="Times New Roman" pitchFamily="18" charset="0"/>
              </a:rPr>
              <a:t>A. 	300</a:t>
            </a:r>
            <a:r>
              <a:rPr lang="pt-BR" sz="3200" b="1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3200" b="1" dirty="0">
                <a:latin typeface="Times New Roman" pitchFamily="18" charset="0"/>
                <a:cs typeface="Times New Roman" pitchFamily="18" charset="0"/>
              </a:rPr>
              <a:t>V     				</a:t>
            </a:r>
          </a:p>
          <a:p>
            <a:r>
              <a:rPr lang="pt-BR" sz="3200" b="1" dirty="0">
                <a:latin typeface="Times New Roman" pitchFamily="18" charset="0"/>
                <a:cs typeface="Times New Roman" pitchFamily="18" charset="0"/>
              </a:rPr>
              <a:t>B. 	9.10</a:t>
            </a:r>
            <a:r>
              <a:rPr lang="pt-BR" sz="3200" b="1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pt-BR" sz="3200" b="1" dirty="0">
                <a:latin typeface="Times New Roman" pitchFamily="18" charset="0"/>
                <a:cs typeface="Times New Roman" pitchFamily="18" charset="0"/>
              </a:rPr>
              <a:t> V    			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3200" b="1" dirty="0">
                <a:latin typeface="Times New Roman" pitchFamily="18" charset="0"/>
                <a:cs typeface="Times New Roman" pitchFamily="18" charset="0"/>
              </a:rPr>
              <a:t>C. 	18.10</a:t>
            </a:r>
            <a:r>
              <a:rPr lang="pt-BR" sz="3200" b="1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pt-BR" sz="3200" b="1" dirty="0">
                <a:latin typeface="Times New Roman" pitchFamily="18" charset="0"/>
                <a:cs typeface="Times New Roman" pitchFamily="18" charset="0"/>
              </a:rPr>
              <a:t> V				</a:t>
            </a:r>
          </a:p>
          <a:p>
            <a:r>
              <a:rPr lang="pt-BR" sz="3200" b="1" dirty="0">
                <a:latin typeface="Times New Roman" pitchFamily="18" charset="0"/>
                <a:cs typeface="Times New Roman" pitchFamily="18" charset="0"/>
              </a:rPr>
              <a:t>D. 	0 V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4EDF02-4F06-40F5-53F0-A932E282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63F7-AFCA-76FA-C67C-CEE40D0E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66B20A-7F8A-36D9-200F-D7955ADAE473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3733800" cy="19812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Điện</a:t>
                </a:r>
                <a:r>
                  <a:rPr lang="en-US" dirty="0"/>
                  <a:t> </a:t>
                </a:r>
                <a:r>
                  <a:rPr lang="en-US" dirty="0" err="1"/>
                  <a:t>thế</a:t>
                </a:r>
                <a:r>
                  <a:rPr lang="en-US" dirty="0"/>
                  <a:t> </a:t>
                </a:r>
                <a:r>
                  <a:rPr lang="en-US" dirty="0" err="1"/>
                  <a:t>gây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tâm</a:t>
                </a:r>
                <a:endParaRPr lang="en-US" dirty="0"/>
              </a:p>
              <a:p>
                <a:pPr algn="ctr"/>
                <a:r>
                  <a:rPr lang="en-US" dirty="0" err="1"/>
                  <a:t>Quả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rỗng</a:t>
                </a:r>
                <a:r>
                  <a:rPr lang="en-US" dirty="0"/>
                  <a:t>: </a:t>
                </a:r>
                <a:r>
                  <a:rPr lang="en-US" sz="18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= 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sz="18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1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sz="18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 err="1"/>
                  <a:t>Qủa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đặc</a:t>
                </a:r>
                <a:r>
                  <a:rPr lang="en-US" dirty="0"/>
                  <a:t>: 0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66B20A-7F8A-36D9-200F-D7955ADAE4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29000"/>
                <a:ext cx="3733800" cy="198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Callout 5"/>
              <p:cNvSpPr/>
              <p:nvPr/>
            </p:nvSpPr>
            <p:spPr>
              <a:xfrm>
                <a:off x="3886200" y="5486400"/>
                <a:ext cx="3657600" cy="1295400"/>
              </a:xfrm>
              <a:prstGeom prst="wedgeEllipseCallou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Qủa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rỗng</a:t>
                </a:r>
                <a:r>
                  <a:rPr lang="en-US" dirty="0"/>
                  <a:t> </a:t>
                </a:r>
                <a:r>
                  <a:rPr lang="en-US" dirty="0" err="1"/>
                  <a:t>tích</a:t>
                </a: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pt-BR" b="1" dirty="0">
                    <a:latin typeface="Times New Roman" pitchFamily="18" charset="0"/>
                    <a:cs typeface="Times New Roman" pitchFamily="18" charset="0"/>
                  </a:rPr>
                  <a:t>9.10</a:t>
                </a:r>
                <a:r>
                  <a:rPr lang="pt-BR" b="1" baseline="30000" dirty="0">
                    <a:latin typeface="Times New Roman" pitchFamily="18" charset="0"/>
                    <a:cs typeface="Times New Roman" pitchFamily="18" charset="0"/>
                  </a:rPr>
                  <a:t>4</a:t>
                </a:r>
                <a:r>
                  <a:rPr lang="pt-BR" b="1" dirty="0">
                    <a:latin typeface="Times New Roman" pitchFamily="18" charset="0"/>
                    <a:cs typeface="Times New Roman" pitchFamily="18" charset="0"/>
                  </a:rPr>
                  <a:t> V </a:t>
                </a:r>
                <a:endParaRPr lang="en-US" dirty="0"/>
              </a:p>
            </p:txBody>
          </p:sp>
        </mc:Choice>
        <mc:Fallback xmlns="">
          <p:sp>
            <p:nvSpPr>
              <p:cNvPr id="6" name="Oval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486400"/>
                <a:ext cx="3657600" cy="1295400"/>
              </a:xfrm>
              <a:prstGeom prst="wedgeEllipseCallou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2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04800" y="91440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45720" indent="0">
                  <a:buNone/>
                </a:pP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8.5.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Chuyển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hạt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mang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trường</a:t>
                </a:r>
                <a:endParaRPr lang="en-US" sz="32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A =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q.U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= q.</a:t>
                </a:r>
                <a:r>
                  <a:rPr lang="el-GR" sz="3200" b="1" dirty="0">
                    <a:latin typeface="Times New Roman" pitchFamily="18" charset="0"/>
                    <a:cs typeface="Times New Roman" pitchFamily="18" charset="0"/>
                  </a:rPr>
                  <a:t>Δ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V</a:t>
                </a:r>
              </a:p>
              <a:p>
                <a:pPr marL="45720" indent="0">
                  <a:buNone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 A = ΔK = K2 – K1 =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q.U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q.E.s.cos</a:t>
                </a:r>
                <a:r>
                  <a:rPr lang="el-GR" sz="3200" b="1" dirty="0">
                    <a:latin typeface="Times New Roman" pitchFamily="18" charset="0"/>
                    <a:cs typeface="Times New Roman" pitchFamily="18" charset="0"/>
                  </a:rPr>
                  <a:t>α</a:t>
                </a:r>
                <a:endParaRPr lang="en-US" sz="32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 ΔV = </a:t>
                </a:r>
                <a:r>
                  <a:rPr lang="en-US" sz="32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-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sub>
                      <m:sup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𝑩</m:t>
                        </m:r>
                      </m:sup>
                      <m:e>
                        <m:acc>
                          <m:accPr>
                            <m:chr m:val="⃗"/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𝑬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  <a:r>
                  <a:rPr lang="en-US" sz="3200" b="1" i="1" dirty="0">
                    <a:latin typeface="Times New Roman" pitchFamily="18" charset="0"/>
                    <a:cs typeface="Times New Roman" pitchFamily="18" charset="0"/>
                  </a:rPr>
                  <a:t>d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/>
                          </a:rPr>
                          <m:t>𝑺</m:t>
                        </m:r>
                      </m:e>
                    </m:acc>
                  </m:oMath>
                </a14:m>
                <a:r>
                  <a:rPr lang="en-US" sz="3200" b="1" i="1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E.s (s: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quãng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đường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hạt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di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chuyển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điện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3200" b="1" dirty="0" err="1">
                    <a:latin typeface="Times New Roman" pitchFamily="18" charset="0"/>
                    <a:cs typeface="Times New Roman" pitchFamily="18" charset="0"/>
                  </a:rPr>
                  <a:t>trường</a:t>
                </a:r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</a:p>
              <a:p>
                <a:pPr marL="0" indent="0">
                  <a:buNone/>
                </a:pPr>
                <a:endParaRPr lang="en-US" sz="3200" b="1" dirty="0"/>
              </a:p>
              <a:p>
                <a:pPr marL="45720" indent="0">
                  <a:buNone/>
                </a:pPr>
                <a:endParaRPr lang="en-US" sz="3200" b="1" i="1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04800" y="914400"/>
                <a:ext cx="8229600" cy="4525963"/>
              </a:xfrm>
              <a:blipFill rotWithShape="1">
                <a:blip r:embed="rId2"/>
                <a:stretch>
                  <a:fillRect l="-1926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CE6C29-BB6A-9297-0861-C7EA06EC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D180D-0AE4-7D45-1CDF-8BDD8C71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97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0" y="731520"/>
            <a:ext cx="7772400" cy="5593080"/>
          </a:xfrm>
        </p:spPr>
        <p:txBody>
          <a:bodyPr/>
          <a:lstStyle/>
          <a:p>
            <a:pPr marL="45720" indent="0" algn="ctr">
              <a:buNone/>
            </a:pPr>
            <a:r>
              <a:rPr lang="en-US" sz="2400" b="1" i="1" dirty="0" err="1"/>
              <a:t>Bài</a:t>
            </a:r>
            <a:r>
              <a:rPr lang="en-US" sz="2400" b="1" i="1" dirty="0"/>
              <a:t> </a:t>
            </a:r>
            <a:r>
              <a:rPr lang="en-US" sz="2400" b="1" i="1" dirty="0" err="1"/>
              <a:t>tập</a:t>
            </a:r>
            <a:r>
              <a:rPr lang="en-US" sz="2400" b="1" i="1" dirty="0"/>
              <a:t> </a:t>
            </a:r>
            <a:r>
              <a:rPr lang="en-US" sz="2400" b="1" i="1" dirty="0" err="1"/>
              <a:t>công</a:t>
            </a:r>
            <a:r>
              <a:rPr lang="en-US" sz="2400" b="1" i="1" dirty="0"/>
              <a:t> </a:t>
            </a:r>
            <a:r>
              <a:rPr lang="en-US" sz="2400" b="1" i="1" dirty="0" err="1"/>
              <a:t>của</a:t>
            </a:r>
            <a:r>
              <a:rPr lang="en-US" sz="2400" b="1" i="1" dirty="0"/>
              <a:t> </a:t>
            </a:r>
            <a:r>
              <a:rPr lang="en-US" sz="2400" b="1" i="1" dirty="0" err="1"/>
              <a:t>lực</a:t>
            </a:r>
            <a:r>
              <a:rPr lang="en-US" sz="2400" b="1" i="1" dirty="0"/>
              <a:t> </a:t>
            </a:r>
            <a:r>
              <a:rPr lang="en-US" sz="2400" b="1" i="1" dirty="0" err="1"/>
              <a:t>điện</a:t>
            </a:r>
            <a:r>
              <a:rPr lang="en-US" sz="2400" b="1" i="1" dirty="0"/>
              <a:t> </a:t>
            </a:r>
            <a:r>
              <a:rPr lang="en-US" sz="2400" b="1" i="1" dirty="0" err="1"/>
              <a:t>trường</a:t>
            </a:r>
            <a:r>
              <a:rPr lang="en-US" sz="2400" b="1" i="1" dirty="0"/>
              <a:t> – </a:t>
            </a:r>
            <a:r>
              <a:rPr lang="en-US" sz="2400" b="1" i="1" dirty="0" err="1"/>
              <a:t>điện</a:t>
            </a:r>
            <a:r>
              <a:rPr lang="en-US" sz="2400" b="1" i="1" dirty="0"/>
              <a:t> </a:t>
            </a:r>
            <a:r>
              <a:rPr lang="en-US" sz="2400" b="1" i="1" dirty="0" err="1"/>
              <a:t>thế</a:t>
            </a:r>
            <a:r>
              <a:rPr lang="en-US" sz="2400" b="1" i="1" dirty="0"/>
              <a:t>, </a:t>
            </a:r>
            <a:r>
              <a:rPr lang="en-US" sz="2400" b="1" i="1" dirty="0" err="1"/>
              <a:t>hiệu</a:t>
            </a:r>
            <a:r>
              <a:rPr lang="en-US" sz="2400" b="1" i="1" dirty="0"/>
              <a:t> </a:t>
            </a:r>
            <a:r>
              <a:rPr lang="en-US" sz="2400" b="1" i="1" dirty="0" err="1"/>
              <a:t>điện</a:t>
            </a:r>
            <a:r>
              <a:rPr lang="en-US" sz="2400" b="1" i="1" dirty="0"/>
              <a:t> </a:t>
            </a:r>
            <a:r>
              <a:rPr lang="en-US" sz="2400" b="1" i="1" dirty="0" err="1"/>
              <a:t>thế</a:t>
            </a:r>
            <a:endParaRPr lang="en-US" sz="2400" b="1" i="1" dirty="0"/>
          </a:p>
          <a:p>
            <a:pPr marL="45720" indent="0" algn="ctr">
              <a:buNone/>
            </a:pPr>
            <a:endParaRPr lang="en-US" sz="2400" b="1" i="1" dirty="0"/>
          </a:p>
          <a:p>
            <a:pPr marL="45720" indent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A.	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cường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trường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B.	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trường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C.	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tỉ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thuận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tích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D.	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đúng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0991E4-6142-87D6-BB38-848564899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834AD-B19F-2481-4D98-DE25DF6C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0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7200" y="457200"/>
                <a:ext cx="8229600" cy="57912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800" b="1" i="1" dirty="0" err="1"/>
                  <a:t>Bài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tập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công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của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lực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điện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trường</a:t>
                </a:r>
                <a:r>
                  <a:rPr lang="en-US" sz="2800" b="1" i="1" dirty="0"/>
                  <a:t> – </a:t>
                </a:r>
                <a:r>
                  <a:rPr lang="en-US" sz="2800" b="1" i="1" dirty="0" err="1"/>
                  <a:t>điện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thế</a:t>
                </a:r>
                <a:r>
                  <a:rPr lang="en-US" sz="2800" b="1" i="1" dirty="0"/>
                  <a:t>, </a:t>
                </a:r>
                <a:r>
                  <a:rPr lang="en-US" sz="2800" b="1" i="1" dirty="0" err="1"/>
                  <a:t>hiệu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điện</a:t>
                </a:r>
                <a:r>
                  <a:rPr lang="en-US" sz="2800" b="1" i="1" dirty="0"/>
                  <a:t> </a:t>
                </a:r>
                <a:r>
                  <a:rPr lang="en-US" sz="2800" b="1" i="1" dirty="0" err="1"/>
                  <a:t>thế</a:t>
                </a:r>
                <a:endParaRPr lang="en-US" sz="2800" b="1" i="1" dirty="0"/>
              </a:p>
              <a:p>
                <a:pPr marL="0" indent="0">
                  <a:buNone/>
                </a:pPr>
                <a:r>
                  <a:rPr lang="en-US" sz="2800" dirty="0"/>
                  <a:t>5.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proton </a:t>
                </a:r>
                <a:r>
                  <a:rPr lang="en-US" sz="2800" dirty="0" err="1"/>
                  <a:t>được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gia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tốc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từ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điểm</a:t>
                </a:r>
                <a:r>
                  <a:rPr lang="en-US" sz="2800" dirty="0"/>
                  <a:t> A </a:t>
                </a:r>
                <a:r>
                  <a:rPr lang="en-US" sz="2800" dirty="0" err="1"/>
                  <a:t>trong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đều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vận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tốc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đầu</a:t>
                </a:r>
                <a:r>
                  <a:rPr lang="en-US" sz="2800" dirty="0"/>
                  <a:t>. </a:t>
                </a:r>
                <a:r>
                  <a:rPr lang="en-US" sz="2800" dirty="0" err="1"/>
                  <a:t>Biết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rằng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độ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lớn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của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độ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8.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800" dirty="0"/>
                  <a:t> V/m. </a:t>
                </a:r>
                <a:r>
                  <a:rPr lang="en-US" sz="2800" dirty="0" err="1"/>
                  <a:t>Khoảng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cách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giữa</a:t>
                </a:r>
                <a:r>
                  <a:rPr lang="en-US" sz="2800" dirty="0"/>
                  <a:t> 2 </a:t>
                </a:r>
                <a:r>
                  <a:rPr lang="en-US" sz="2800" dirty="0" err="1"/>
                  <a:t>điểm</a:t>
                </a:r>
                <a:r>
                  <a:rPr lang="en-US" sz="2800" dirty="0"/>
                  <a:t> A </a:t>
                </a:r>
                <a:r>
                  <a:rPr lang="en-US" sz="2800" dirty="0" err="1"/>
                  <a:t>và</a:t>
                </a:r>
                <a:r>
                  <a:rPr lang="en-US" sz="2800" dirty="0"/>
                  <a:t> B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d = 0,5m.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tốc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độ</a:t>
                </a:r>
                <a:r>
                  <a:rPr lang="en-US" sz="2800" dirty="0"/>
                  <a:t> proton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đến</a:t>
                </a:r>
                <a:r>
                  <a:rPr lang="en-US" sz="2800" dirty="0"/>
                  <a:t> B?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			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7200" y="457200"/>
                <a:ext cx="8229600" cy="5791200"/>
              </a:xfrm>
              <a:blipFill rotWithShape="1">
                <a:blip r:embed="rId2"/>
                <a:stretch>
                  <a:fillRect l="-1481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Callout 3"/>
              <p:cNvSpPr/>
              <p:nvPr/>
            </p:nvSpPr>
            <p:spPr>
              <a:xfrm>
                <a:off x="4419600" y="3200400"/>
                <a:ext cx="4572000" cy="1603248"/>
              </a:xfrm>
              <a:prstGeom prst="cloudCallou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/>
                  <a:t>V = 2,7.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2800" b="1" i="1">
                            <a:latin typeface="Cambria Math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US" sz="2800" b="1"/>
                  <a:t> m/s </a:t>
                </a:r>
              </a:p>
            </p:txBody>
          </p:sp>
        </mc:Choice>
        <mc:Fallback xmlns="">
          <p:sp>
            <p:nvSpPr>
              <p:cNvPr id="4" name="Cloud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3200400"/>
                <a:ext cx="4572000" cy="1603248"/>
              </a:xfrm>
              <a:prstGeom prst="cloud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B7E594-AEC6-E28A-2E95-70F7F2DA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BAB1F-4E8F-0DCC-1E3B-E963AAFA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9BEE21-6CCB-56D0-020A-D03CF6E60096}"/>
              </a:ext>
            </a:extLst>
          </p:cNvPr>
          <p:cNvSpPr/>
          <p:nvPr/>
        </p:nvSpPr>
        <p:spPr>
          <a:xfrm>
            <a:off x="533400" y="4575366"/>
            <a:ext cx="4572000" cy="17793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 = K2 – K1 = </a:t>
            </a:r>
            <a:r>
              <a:rPr lang="en-US" dirty="0" err="1"/>
              <a:t>q.U</a:t>
            </a:r>
            <a:r>
              <a:rPr lang="en-US" dirty="0"/>
              <a:t> = </a:t>
            </a:r>
            <a:r>
              <a:rPr lang="en-US" dirty="0" err="1"/>
              <a:t>q.E.d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807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1143000" y="2667000"/>
            <a:ext cx="6781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6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HẾT CHƯƠNG 8</a:t>
            </a:r>
            <a:endParaRPr lang="vi-VN" sz="6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E8EE36-6261-9AEA-770A-0F4CF48F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89B2B-DCFC-E8B6-4B7D-B5731BAB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5C33D-BF7F-43D8-8B8A-2EB51DF73557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uts:outSpaceData xmlns:outs="http://schemas.microsoft.com/office/2009/outspace/metadata">
  <outs:relatedDates>
    <outs:relatedDate>
      <outs:type>3</outs:type>
      <outs:displayName>Last Modified</outs:displayName>
      <outs:dateTime>2010-03-28T15:09:32Z</outs:dateTime>
      <outs:isPinned>true</outs:isPinned>
    </outs:relatedDate>
    <outs:relatedDate>
      <outs:type>2</outs:type>
      <outs:displayName>Created</outs:displayName>
      <outs:dateTime>2009-05-14T16:51:07Z</outs:dateTime>
      <outs:isPinned>true</outs:isPinned>
    </outs:relatedDate>
    <outs:relatedDate>
      <outs:type>4</outs:type>
      <outs:displayName>Last Printed</outs:displayName>
      <outs:dateTime/>
      <outs:isPinned>true</outs:isPinned>
    </outs:relatedDate>
  </outs:relatedDates>
  <outs:relatedDocuments>
    <outs:relatedDocument>
      <outs:type>2</outs:type>
      <outs:displayName>Other documents in current folder</outs:displayName>
      <outs:uri/>
      <outs:isPinned>true</outs:isPinned>
    </outs:relatedDocument>
  </outs:relatedDocuments>
  <outs:relatedPeople>
    <outs:relatedPeopleItem>
      <outs:category>Author</outs:category>
      <outs:people>
        <outs:relatedPerson>
          <outs:displayName>Nam LV</outs:displayName>
          <outs:accountName/>
        </outs:relatedPerson>
      </outs:people>
      <outs:source>0</outs:source>
      <outs:isPinned>true</outs:isPinned>
    </outs:relatedPeopleItem>
    <outs:relatedPeopleItem>
      <outs:category>Last modified by</outs:category>
      <outs:people>
        <outs:relatedPerson>
          <outs:displayName>LE VAN NAM</outs:displayName>
          <outs:accountName/>
        </outs:relatedPerson>
      </outs:people>
      <outs:source>0</outs:source>
      <outs:isPinned>true</outs:isPinned>
    </outs:relatedPeopleItem>
    <outs:relatedPeopleItem>
      <outs:category>Manager</outs:category>
      <outs:people/>
      <outs:source>0</outs:source>
      <outs:isPinned>false</outs:isPinned>
    </outs:relatedPeopleItem>
  </outs:relatedPeople>
  <propertyMetadataList xmlns="http://schemas.microsoft.com/office/2009/outspace/metadata">
    <propertyMetadata>
      <type>0</type>
      <propertyId>2228224</propertyId>
      <propertyName/>
      <isPinned>true</isPinned>
    </propertyMetadata>
    <propertyMetadata>
      <type>0</type>
      <propertyId>1114115</propertyId>
      <propertyName/>
      <isPinned>true</isPinned>
    </propertyMetadata>
    <propertyMetadata>
      <type>0</type>
      <propertyId>1114117</propertyId>
      <propertyName/>
      <isPinned>true</isPinned>
    </propertyMetadata>
    <propertyMetadata>
      <type>0</type>
      <propertyId>589825</propertyId>
      <propertyName/>
      <isPinned>false</isPinned>
    </propertyMetadata>
    <propertyMetadata>
      <type>0</type>
      <propertyId>1114116</propertyId>
      <propertyName/>
      <isPinned>false</isPinned>
    </propertyMetadata>
    <propertyMetadata>
      <type>0</type>
      <propertyId>14</propertyId>
      <propertyName/>
      <isPinned>true</isPinned>
    </propertyMetadata>
    <propertyMetadata>
      <type>0</type>
      <propertyId>8</propertyId>
      <propertyName/>
      <isPinned>true</isPinned>
    </propertyMetadata>
    <propertyMetadata>
      <type>0</type>
      <propertyId>6</propertyId>
      <propertyName/>
      <isPinned>false</isPinned>
    </propertyMetadata>
    <propertyMetadata>
      <type>0</type>
      <propertyId>1114118</propertyId>
      <propertyName/>
      <isPinned>false</isPinned>
    </propertyMetadata>
    <propertyMetadata>
      <type>0</type>
      <propertyId>1179649</propertyId>
      <propertyName/>
      <isPinned>false</isPinned>
    </propertyMetadata>
    <propertyMetadata>
      <type>0</type>
      <propertyId>655365</propertyId>
      <propertyName/>
      <isPinned>false</isPinned>
    </propertyMetadata>
    <propertyMetadata>
      <type>0</type>
      <propertyId>1</propertyId>
      <propertyName/>
      <isPinned>false</isPinned>
    </propertyMetadata>
    <propertyMetadata>
      <type>0</type>
      <propertyId>0</propertyId>
      <propertyName/>
      <isPinned>true</isPinned>
    </propertyMetadata>
    <propertyMetadata>
      <type>0</type>
      <propertyId>13</propertyId>
      <propertyName/>
      <isPinned>false</isPinned>
    </propertyMetadata>
    <propertyMetadata>
      <type>0</type>
      <propertyId>1179653</propertyId>
      <propertyName/>
      <isPinned>false</isPinned>
    </propertyMetadata>
    <propertyMetadata>
      <type>0</type>
      <propertyId>22</propertyId>
      <propertyName/>
      <isPinned>false</isPinned>
    </propertyMetadata>
  </propertyMetadataList>
  <outs:corruptMetadataWasLost/>
</outs:outSpaceData>
</file>

<file path=customXml/itemProps1.xml><?xml version="1.0" encoding="utf-8"?>
<ds:datastoreItem xmlns:ds="http://schemas.openxmlformats.org/officeDocument/2006/customXml" ds:itemID="{6698E9D0-7381-487E-9AEE-8E8B4975081C}">
  <ds:schemaRefs>
    <ds:schemaRef ds:uri="http://schemas.microsoft.com/office/2009/outspace/meta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13012</TotalTime>
  <Words>4188</Words>
  <Application>Microsoft Office PowerPoint</Application>
  <PresentationFormat>On-screen Show (4:3)</PresentationFormat>
  <Paragraphs>655</Paragraphs>
  <Slides>64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4" baseType="lpstr">
      <vt:lpstr>SimSun</vt:lpstr>
      <vt:lpstr>Arial</vt:lpstr>
      <vt:lpstr>Calibri</vt:lpstr>
      <vt:lpstr>Cambria Math</vt:lpstr>
      <vt:lpstr>Georgia</vt:lpstr>
      <vt:lpstr>Times New Roman</vt:lpstr>
      <vt:lpstr>Trebuchet MS</vt:lpstr>
      <vt:lpstr>Wingdings</vt:lpstr>
      <vt:lpstr>Slipstream</vt:lpstr>
      <vt:lpstr>Equation</vt:lpstr>
      <vt:lpstr>PowerPoint Presentation</vt:lpstr>
      <vt:lpstr>NHẮC LẠI</vt:lpstr>
      <vt:lpstr>NHẮC LẠI</vt:lpstr>
      <vt:lpstr>NHẮC LẠI</vt:lpstr>
      <vt:lpstr>TƯƠNG TÁC ĐIỆN – ĐỊNH LUẬT BTĐT</vt:lpstr>
      <vt:lpstr>PowerPoint Presentation</vt:lpstr>
      <vt:lpstr>BẢO TOÀN ĐIỆN TÍCH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F_23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Cường độ điện trường một số trường hợp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Hình ảnh đường sức của 2 quả cầu kim loại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Φ_E= E.S.cos0°+ E.S.cos180°= 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Nam LV</dc:creator>
  <cp:lastModifiedBy>huynhminhmanpham@gmail.com</cp:lastModifiedBy>
  <cp:revision>764</cp:revision>
  <dcterms:created xsi:type="dcterms:W3CDTF">2009-05-14T16:51:07Z</dcterms:created>
  <dcterms:modified xsi:type="dcterms:W3CDTF">2025-09-30T05:35:34Z</dcterms:modified>
</cp:coreProperties>
</file>