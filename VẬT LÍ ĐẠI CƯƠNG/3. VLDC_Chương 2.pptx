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86"/>
  </p:notesMasterIdLst>
  <p:sldIdLst>
    <p:sldId id="258" r:id="rId2"/>
    <p:sldId id="259" r:id="rId3"/>
    <p:sldId id="354" r:id="rId4"/>
    <p:sldId id="335" r:id="rId5"/>
    <p:sldId id="355" r:id="rId6"/>
    <p:sldId id="262" r:id="rId7"/>
    <p:sldId id="263" r:id="rId8"/>
    <p:sldId id="336" r:id="rId9"/>
    <p:sldId id="337" r:id="rId10"/>
    <p:sldId id="361" r:id="rId11"/>
    <p:sldId id="266" r:id="rId12"/>
    <p:sldId id="267" r:id="rId13"/>
    <p:sldId id="360" r:id="rId14"/>
    <p:sldId id="268" r:id="rId15"/>
    <p:sldId id="269" r:id="rId16"/>
    <p:sldId id="270" r:id="rId17"/>
    <p:sldId id="271" r:id="rId18"/>
    <p:sldId id="272" r:id="rId19"/>
    <p:sldId id="274" r:id="rId20"/>
    <p:sldId id="275" r:id="rId21"/>
    <p:sldId id="276" r:id="rId22"/>
    <p:sldId id="277" r:id="rId23"/>
    <p:sldId id="367" r:id="rId24"/>
    <p:sldId id="378" r:id="rId25"/>
    <p:sldId id="368" r:id="rId26"/>
    <p:sldId id="369" r:id="rId27"/>
    <p:sldId id="370" r:id="rId28"/>
    <p:sldId id="371" r:id="rId29"/>
    <p:sldId id="372" r:id="rId30"/>
    <p:sldId id="373" r:id="rId31"/>
    <p:sldId id="374" r:id="rId32"/>
    <p:sldId id="376" r:id="rId33"/>
    <p:sldId id="377" r:id="rId34"/>
    <p:sldId id="285" r:id="rId35"/>
    <p:sldId id="286" r:id="rId36"/>
    <p:sldId id="287" r:id="rId37"/>
    <p:sldId id="357" r:id="rId38"/>
    <p:sldId id="312" r:id="rId39"/>
    <p:sldId id="289" r:id="rId40"/>
    <p:sldId id="290" r:id="rId41"/>
    <p:sldId id="313" r:id="rId42"/>
    <p:sldId id="359" r:id="rId43"/>
    <p:sldId id="291" r:id="rId44"/>
    <p:sldId id="292" r:id="rId45"/>
    <p:sldId id="315" r:id="rId46"/>
    <p:sldId id="317" r:id="rId47"/>
    <p:sldId id="348" r:id="rId48"/>
    <p:sldId id="316" r:id="rId49"/>
    <p:sldId id="295" r:id="rId50"/>
    <p:sldId id="318" r:id="rId51"/>
    <p:sldId id="320" r:id="rId52"/>
    <p:sldId id="321" r:id="rId53"/>
    <p:sldId id="322" r:id="rId54"/>
    <p:sldId id="323" r:id="rId55"/>
    <p:sldId id="356" r:id="rId56"/>
    <p:sldId id="324" r:id="rId57"/>
    <p:sldId id="325" r:id="rId58"/>
    <p:sldId id="326" r:id="rId59"/>
    <p:sldId id="327" r:id="rId60"/>
    <p:sldId id="328" r:id="rId61"/>
    <p:sldId id="329" r:id="rId62"/>
    <p:sldId id="330" r:id="rId63"/>
    <p:sldId id="353" r:id="rId64"/>
    <p:sldId id="331" r:id="rId65"/>
    <p:sldId id="332" r:id="rId66"/>
    <p:sldId id="358" r:id="rId67"/>
    <p:sldId id="333" r:id="rId68"/>
    <p:sldId id="334" r:id="rId69"/>
    <p:sldId id="338" r:id="rId70"/>
    <p:sldId id="364" r:id="rId71"/>
    <p:sldId id="366" r:id="rId72"/>
    <p:sldId id="362" r:id="rId73"/>
    <p:sldId id="363" r:id="rId74"/>
    <p:sldId id="300" r:id="rId75"/>
    <p:sldId id="302" r:id="rId76"/>
    <p:sldId id="365" r:id="rId77"/>
    <p:sldId id="301" r:id="rId78"/>
    <p:sldId id="296" r:id="rId79"/>
    <p:sldId id="297" r:id="rId80"/>
    <p:sldId id="298" r:id="rId81"/>
    <p:sldId id="299" r:id="rId82"/>
    <p:sldId id="303" r:id="rId83"/>
    <p:sldId id="304" r:id="rId84"/>
    <p:sldId id="340" r:id="rId8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 d="1"/>
        <a:sy n="1" d="1"/>
      </p:scale>
      <p:origin x="0" y="0"/>
    </p:cViewPr>
  </p:notesTextViewPr>
  <p:notesViewPr>
    <p:cSldViewPr>
      <p:cViewPr varScale="1">
        <p:scale>
          <a:sx n="68" d="100"/>
          <a:sy n="68" d="100"/>
        </p:scale>
        <p:origin x="-2328" y="-11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441B31-21A5-4002-B9D8-F01607221284}" type="datetimeFigureOut">
              <a:rPr lang="en-US" smtClean="0"/>
              <a:t>9/30/2025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5E4B66-455C-41B2-B805-A0E6130C9DAE}" type="slidenum">
              <a:rPr lang="en-US" smtClean="0"/>
              <a:t>‹#›</a:t>
            </a:fld>
            <a:endParaRPr lang="en-US"/>
          </a:p>
        </p:txBody>
      </p:sp>
    </p:spTree>
    <p:extLst>
      <p:ext uri="{BB962C8B-B14F-4D97-AF65-F5344CB8AC3E}">
        <p14:creationId xmlns:p14="http://schemas.microsoft.com/office/powerpoint/2010/main" val="187153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515E4B66-455C-41B2-B805-A0E6130C9DAE}" type="slidenum">
              <a:rPr lang="en-US" smtClean="0"/>
              <a:t>6</a:t>
            </a:fld>
            <a:endParaRPr lang="en-US"/>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prstGeom prst="wedgeEllipseCallou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 xmlns:m="http://schemas.openxmlformats.org/officeDocument/2006/math">
                    <m:acc>
                      <m:accPr>
                        <m:chr m:val="⃗"/>
                        <m:ctrlPr>
                          <a:rPr lang="en-US" sz="2800" b="1" i="1" smtClean="0">
                            <a:solidFill>
                              <a:schemeClr val="tx1"/>
                            </a:solidFill>
                            <a:latin typeface="Cambria Math" panose="02040503050406030204" pitchFamily="18" charset="0"/>
                            <a:cs typeface="Times New Roman" pitchFamily="18" charset="0"/>
                          </a:rPr>
                        </m:ctrlPr>
                      </m:accPr>
                      <m:e>
                        <m:r>
                          <a:rPr lang="en-US" sz="2800" b="1" i="0">
                            <a:solidFill>
                              <a:schemeClr val="tx1"/>
                            </a:solidFill>
                            <a:latin typeface="Cambria Math"/>
                            <a:cs typeface="Times New Roman" pitchFamily="18" charset="0"/>
                          </a:rPr>
                          <m:t>𝐅</m:t>
                        </m:r>
                      </m:e>
                    </m:acc>
                  </m:oMath>
                </a14:m>
                <a:r>
                  <a:rPr lang="en-US" sz="2800" b="1" dirty="0">
                    <a:solidFill>
                      <a:schemeClr val="tx1"/>
                    </a:solidFill>
                    <a:latin typeface="Times New Roman" pitchFamily="18" charset="0"/>
                    <a:cs typeface="Times New Roman" pitchFamily="18" charset="0"/>
                  </a:rPr>
                  <a:t> = m</a:t>
                </a:r>
                <a14:m>
                  <m:oMath xmlns:m="http://schemas.openxmlformats.org/officeDocument/2006/math">
                    <m:acc>
                      <m:accPr>
                        <m:chr m:val="⃗"/>
                        <m:ctrlPr>
                          <a:rPr lang="en-US" sz="2800" b="1" i="1">
                            <a:solidFill>
                              <a:schemeClr val="tx1"/>
                            </a:solidFill>
                            <a:latin typeface="Cambria Math" panose="02040503050406030204" pitchFamily="18" charset="0"/>
                            <a:cs typeface="Times New Roman" pitchFamily="18" charset="0"/>
                          </a:rPr>
                        </m:ctrlPr>
                      </m:accPr>
                      <m:e>
                        <m:r>
                          <a:rPr lang="en-US" sz="2800" b="1" i="0">
                            <a:solidFill>
                              <a:schemeClr val="tx1"/>
                            </a:solidFill>
                            <a:latin typeface="Cambria Math"/>
                            <a:cs typeface="Times New Roman" pitchFamily="18" charset="0"/>
                          </a:rPr>
                          <m:t>𝐚</m:t>
                        </m:r>
                      </m:e>
                    </m:acc>
                  </m:oMath>
                </a14:m>
                <a:endParaRPr lang="en-US" sz="2800" dirty="0">
                  <a:latin typeface="Times New Roman" pitchFamily="18" charset="0"/>
                  <a:cs typeface="Times New Roman" pitchFamily="18" charset="0"/>
                </a:endParaRPr>
              </a:p>
              <a:p>
                <a:pPr algn="ctr"/>
                <a14:m>
                  <m:oMath xmlns:m="http://schemas.openxmlformats.org/officeDocument/2006/math">
                    <m:d>
                      <m:dPr>
                        <m:begChr m:val="|"/>
                        <m:endChr m:val="|"/>
                        <m:ctrlPr>
                          <a:rPr lang="en-US" sz="2800" b="1" i="1" smtClean="0">
                            <a:latin typeface="Cambria Math" panose="02040503050406030204" pitchFamily="18" charset="0"/>
                          </a:rPr>
                        </m:ctrlPr>
                      </m:dPr>
                      <m:e>
                        <m:acc>
                          <m:accPr>
                            <m:chr m:val="⃗"/>
                            <m:ctrlPr>
                              <a:rPr lang="en-US" sz="2800" b="1" i="1" smtClean="0">
                                <a:latin typeface="Cambria Math" panose="02040503050406030204" pitchFamily="18" charset="0"/>
                              </a:rPr>
                            </m:ctrlPr>
                          </m:accPr>
                          <m:e>
                            <m:r>
                              <a:rPr lang="en-US" sz="2800" b="1" i="0" smtClean="0">
                                <a:latin typeface="Cambria Math"/>
                              </a:rPr>
                              <m:t>𝐚</m:t>
                            </m:r>
                          </m:e>
                        </m:acc>
                      </m:e>
                    </m:d>
                  </m:oMath>
                </a14:m>
                <a:r>
                  <a:rPr lang="en-US" sz="2800" b="1" dirty="0">
                    <a:latin typeface="Times New Roman" pitchFamily="18" charset="0"/>
                    <a:cs typeface="Times New Roman" pitchFamily="18" charset="0"/>
                  </a:rPr>
                  <a:t> = </a:t>
                </a:r>
                <a14:m>
                  <m:oMath xmlns:m="http://schemas.openxmlformats.org/officeDocument/2006/math">
                    <m:rad>
                      <m:radPr>
                        <m:degHide m:val="on"/>
                        <m:ctrlPr>
                          <a:rPr lang="en-US" sz="2800" b="1" i="1" smtClean="0">
                            <a:latin typeface="Cambria Math" panose="02040503050406030204" pitchFamily="18" charset="0"/>
                          </a:rPr>
                        </m:ctrlPr>
                      </m:radPr>
                      <m:deg/>
                      <m:e>
                        <m:r>
                          <m:rPr>
                            <m:nor/>
                          </m:rPr>
                          <a:rPr lang="en-US" sz="2800" b="1">
                            <a:latin typeface="Times New Roman" pitchFamily="18" charset="0"/>
                            <a:cs typeface="Times New Roman" pitchFamily="18" charset="0"/>
                          </a:rPr>
                          <m:t>a</m:t>
                        </m:r>
                        <m:r>
                          <m:rPr>
                            <m:nor/>
                          </m:rPr>
                          <a:rPr lang="en-US" sz="2800" b="1">
                            <a:latin typeface="Times New Roman" pitchFamily="18" charset="0"/>
                            <a:cs typeface="Times New Roman" pitchFamily="18" charset="0"/>
                          </a:rPr>
                          <m:t>²</m:t>
                        </m:r>
                        <m:r>
                          <m:rPr>
                            <m:nor/>
                          </m:rPr>
                          <a:rPr lang="en-US" sz="2800" b="1" smtClean="0">
                            <a:effectLst/>
                            <a:latin typeface="Times New Roman" pitchFamily="18" charset="0"/>
                            <a:cs typeface="Times New Roman" pitchFamily="18" charset="0"/>
                          </a:rPr>
                          <m:t>x</m:t>
                        </m:r>
                        <m:r>
                          <m:rPr>
                            <m:nor/>
                          </m:rPr>
                          <a:rPr lang="en-US" sz="2800" b="1">
                            <a:latin typeface="Times New Roman" pitchFamily="18" charset="0"/>
                            <a:cs typeface="Times New Roman" pitchFamily="18" charset="0"/>
                          </a:rPr>
                          <m:t>  + </m:t>
                        </m:r>
                        <m:r>
                          <m:rPr>
                            <m:nor/>
                          </m:rPr>
                          <a:rPr lang="en-US" sz="2800" b="1">
                            <a:latin typeface="Times New Roman" pitchFamily="18" charset="0"/>
                            <a:cs typeface="Times New Roman" pitchFamily="18" charset="0"/>
                          </a:rPr>
                          <m:t>a</m:t>
                        </m:r>
                        <m:r>
                          <m:rPr>
                            <m:nor/>
                          </m:rPr>
                          <a:rPr lang="en-US" sz="2800" b="1">
                            <a:latin typeface="Times New Roman" pitchFamily="18" charset="0"/>
                            <a:cs typeface="Times New Roman" pitchFamily="18" charset="0"/>
                          </a:rPr>
                          <m:t>²</m:t>
                        </m:r>
                        <m:r>
                          <m:rPr>
                            <m:nor/>
                          </m:rPr>
                          <a:rPr lang="en-US" sz="2800" b="1">
                            <a:latin typeface="Times New Roman" pitchFamily="18" charset="0"/>
                            <a:cs typeface="Times New Roman" pitchFamily="18" charset="0"/>
                          </a:rPr>
                          <m:t>y</m:t>
                        </m:r>
                        <m:r>
                          <m:rPr>
                            <m:nor/>
                          </m:rPr>
                          <a:rPr lang="en-US" sz="2800" b="1">
                            <a:latin typeface="Times New Roman" pitchFamily="18" charset="0"/>
                            <a:cs typeface="Times New Roman" pitchFamily="18" charset="0"/>
                          </a:rPr>
                          <m:t> </m:t>
                        </m:r>
                      </m:e>
                    </m:rad>
                  </m:oMath>
                </a14:m>
                <a:endParaRPr lang="en-US" sz="2800" b="1" dirty="0">
                  <a:latin typeface="Times New Roman" pitchFamily="18" charset="0"/>
                  <a:cs typeface="Times New Roman" pitchFamily="18" charset="0"/>
                </a:endParaRPr>
              </a:p>
              <a:p>
                <a:pPr algn="ctr"/>
                <a:r>
                  <a:rPr lang="en-US" sz="2800" b="1" dirty="0">
                    <a:latin typeface="Times New Roman" pitchFamily="18" charset="0"/>
                    <a:cs typeface="Times New Roman" pitchFamily="18" charset="0"/>
                  </a:rPr>
                  <a:t>ax = x” (t=2), ay = y”(t=2)</a:t>
                </a:r>
              </a:p>
              <a:p>
                <a:pPr algn="ctr"/>
                <a:r>
                  <a:rPr lang="en-US" sz="2800" b="1" dirty="0">
                    <a:latin typeface="Times New Roman" pitchFamily="18" charset="0"/>
                    <a:cs typeface="Times New Roman" pitchFamily="18" charset="0"/>
                  </a:rPr>
                  <a:t>F = 112N</a:t>
                </a:r>
              </a:p>
              <a:p>
                <a:pPr algn="ctr"/>
                <a:endParaRPr lang="en-US" sz="2800" b="1" dirty="0">
                  <a:latin typeface="Times New Roman" pitchFamily="18" charset="0"/>
                  <a:cs typeface="Times New Roman" pitchFamily="18" charset="0"/>
                </a:endParaRPr>
              </a:p>
            </p:txBody>
          </p:sp>
        </mc:Choice>
        <mc:Fallback xmlns="">
          <p:sp>
            <p:nvSpPr>
              <p:cNvPr id="5" name="Notes Placeholder 4"/>
              <p:cNvSpPr>
                <a:spLocks noGrp="1"/>
              </p:cNvSpPr>
              <p:nvPr>
                <p:ph type="body" idx="1"/>
              </p:nvPr>
            </p:nvSpPr>
            <p:spPr>
              <a:prstGeom prst="wedgeEllipseCallou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b="1" i="0">
                    <a:solidFill>
                      <a:schemeClr val="tx1"/>
                    </a:solidFill>
                    <a:latin typeface="Cambria Math"/>
                    <a:cs typeface="Times New Roman" pitchFamily="18" charset="0"/>
                  </a:rPr>
                  <a:t>𝐅</a:t>
                </a:r>
                <a:r>
                  <a:rPr lang="en-US" sz="2800" b="1" i="0" smtClean="0">
                    <a:solidFill>
                      <a:schemeClr val="tx1"/>
                    </a:solidFill>
                    <a:latin typeface="Cambria Math"/>
                    <a:cs typeface="Times New Roman" pitchFamily="18" charset="0"/>
                  </a:rPr>
                  <a:t> ⃗</a:t>
                </a:r>
                <a:r>
                  <a:rPr lang="en-US" sz="2800" b="1" dirty="0">
                    <a:solidFill>
                      <a:schemeClr val="tx1"/>
                    </a:solidFill>
                    <a:latin typeface="Times New Roman" pitchFamily="18" charset="0"/>
                    <a:cs typeface="Times New Roman" pitchFamily="18" charset="0"/>
                  </a:rPr>
                  <a:t> = m</a:t>
                </a:r>
                <a:r>
                  <a:rPr lang="en-US" sz="2800" b="1" i="0">
                    <a:solidFill>
                      <a:schemeClr val="tx1"/>
                    </a:solidFill>
                    <a:latin typeface="Cambria Math"/>
                    <a:cs typeface="Times New Roman" pitchFamily="18" charset="0"/>
                  </a:rPr>
                  <a:t>𝐚 ⃗</a:t>
                </a:r>
                <a:endParaRPr lang="en-US" sz="2800" dirty="0" smtClean="0">
                  <a:latin typeface="Times New Roman" pitchFamily="18" charset="0"/>
                  <a:cs typeface="Times New Roman" pitchFamily="18" charset="0"/>
                </a:endParaRPr>
              </a:p>
              <a:p>
                <a:pPr algn="ctr"/>
                <a:r>
                  <a:rPr lang="en-US" sz="2800" b="1" i="0" smtClean="0">
                    <a:latin typeface="Cambria Math"/>
                  </a:rPr>
                  <a:t>|𝐚 ⃗ |</a:t>
                </a:r>
                <a:r>
                  <a:rPr lang="en-US" sz="2800" b="1" dirty="0" smtClean="0">
                    <a:latin typeface="Times New Roman" pitchFamily="18" charset="0"/>
                    <a:cs typeface="Times New Roman" pitchFamily="18" charset="0"/>
                  </a:rPr>
                  <a:t> = </a:t>
                </a:r>
                <a:r>
                  <a:rPr lang="en-US" sz="2800" b="1" i="0" smtClean="0">
                    <a:latin typeface="Cambria Math"/>
                  </a:rPr>
                  <a:t>√(</a:t>
                </a:r>
                <a:r>
                  <a:rPr lang="en-US" sz="2800" b="1" i="0">
                    <a:latin typeface="Cambria Math"/>
                  </a:rPr>
                  <a:t>"</a:t>
                </a:r>
                <a:r>
                  <a:rPr lang="en-US" sz="2800" b="1" i="0">
                    <a:latin typeface="Times New Roman" pitchFamily="18" charset="0"/>
                    <a:cs typeface="Times New Roman" pitchFamily="18" charset="0"/>
                  </a:rPr>
                  <a:t>a²</a:t>
                </a:r>
                <a:r>
                  <a:rPr lang="en-US" sz="2800" b="1" i="0" smtClean="0">
                    <a:effectLst/>
                    <a:latin typeface="Times New Roman" pitchFamily="18" charset="0"/>
                    <a:cs typeface="Times New Roman" pitchFamily="18" charset="0"/>
                  </a:rPr>
                  <a:t>x</a:t>
                </a:r>
                <a:r>
                  <a:rPr lang="en-US" sz="2800" b="1" i="0">
                    <a:latin typeface="Times New Roman" pitchFamily="18" charset="0"/>
                    <a:cs typeface="Times New Roman" pitchFamily="18" charset="0"/>
                  </a:rPr>
                  <a:t>  + a²y </a:t>
                </a:r>
                <a:r>
                  <a:rPr lang="en-US" sz="2800" b="1" i="0">
                    <a:latin typeface="Cambria Math"/>
                    <a:cs typeface="Times New Roman" pitchFamily="18" charset="0"/>
                  </a:rPr>
                  <a:t>" </a:t>
                </a:r>
                <a:r>
                  <a:rPr lang="en-US" sz="2800" b="1" i="0" smtClean="0">
                    <a:latin typeface="Cambria Math"/>
                    <a:cs typeface="Times New Roman" pitchFamily="18" charset="0"/>
                  </a:rPr>
                  <a:t>)</a:t>
                </a:r>
                <a:endParaRPr lang="en-US" sz="2800" b="1" dirty="0" smtClean="0">
                  <a:latin typeface="Times New Roman" pitchFamily="18" charset="0"/>
                  <a:cs typeface="Times New Roman" pitchFamily="18" charset="0"/>
                </a:endParaRPr>
              </a:p>
              <a:p>
                <a:pPr algn="ctr"/>
                <a:r>
                  <a:rPr lang="en-US" sz="2800" b="1" dirty="0">
                    <a:latin typeface="Times New Roman" pitchFamily="18" charset="0"/>
                    <a:cs typeface="Times New Roman" pitchFamily="18" charset="0"/>
                  </a:rPr>
                  <a:t>a</a:t>
                </a:r>
                <a:r>
                  <a:rPr lang="en-US" sz="2800" b="1" dirty="0" smtClean="0">
                    <a:latin typeface="Times New Roman" pitchFamily="18" charset="0"/>
                    <a:cs typeface="Times New Roman" pitchFamily="18" charset="0"/>
                  </a:rPr>
                  <a:t>x = x” (t=2), ay = y”(t=2)</a:t>
                </a:r>
              </a:p>
              <a:p>
                <a:pPr algn="ctr"/>
                <a:r>
                  <a:rPr lang="en-US" sz="2800" b="1" dirty="0" smtClean="0">
                    <a:latin typeface="Times New Roman" pitchFamily="18" charset="0"/>
                    <a:cs typeface="Times New Roman" pitchFamily="18" charset="0"/>
                  </a:rPr>
                  <a:t>F = 112N</a:t>
                </a:r>
              </a:p>
              <a:p>
                <a:pPr algn="ctr"/>
                <a:endParaRPr lang="en-US" sz="2800" b="1" dirty="0" smtClean="0">
                  <a:latin typeface="Times New Roman" pitchFamily="18" charset="0"/>
                  <a:cs typeface="Times New Roman" pitchFamily="18" charset="0"/>
                </a:endParaRPr>
              </a:p>
            </p:txBody>
          </p:sp>
        </mc:Fallback>
      </mc:AlternateContent>
    </p:spTree>
    <p:extLst>
      <p:ext uri="{BB962C8B-B14F-4D97-AF65-F5344CB8AC3E}">
        <p14:creationId xmlns:p14="http://schemas.microsoft.com/office/powerpoint/2010/main" val="2209796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515E4B66-455C-41B2-B805-A0E6130C9DAE}" type="slidenum">
              <a:rPr lang="en-US" smtClean="0"/>
              <a:t>7</a:t>
            </a:fld>
            <a:endParaRPr lang="en-US"/>
          </a:p>
        </p:txBody>
      </p:sp>
      <p:sp>
        <p:nvSpPr>
          <p:cNvPr id="5" name="Notes Placeholder 4"/>
          <p:cNvSpPr>
            <a:spLocks noGrp="1"/>
          </p:cNvSpPr>
          <p:nvPr>
            <p:ph type="body" idx="1"/>
          </p:nvPr>
        </p:nvSpPr>
        <p:spPr>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marL="342900" indent="-342900">
              <a:buAutoNum type="alphaLcPeriod"/>
            </a:pPr>
            <a:r>
              <a:rPr lang="en-US" sz="2400" b="1" dirty="0">
                <a:latin typeface="Times New Roman" pitchFamily="18" charset="0"/>
                <a:cs typeface="Times New Roman" pitchFamily="18" charset="0"/>
              </a:rPr>
              <a:t>a = - 0,3 m/s²</a:t>
            </a:r>
          </a:p>
          <a:p>
            <a:pPr marL="342900" indent="-342900">
              <a:buAutoNum type="alphaLcPeriod"/>
            </a:pPr>
            <a:r>
              <a:rPr lang="en-US" sz="2400" b="1" dirty="0">
                <a:latin typeface="Times New Roman" pitchFamily="18" charset="0"/>
                <a:cs typeface="Times New Roman" pitchFamily="18" charset="0"/>
              </a:rPr>
              <a:t>t = 50s</a:t>
            </a:r>
          </a:p>
          <a:p>
            <a:pPr marL="342900" indent="-342900">
              <a:buAutoNum type="alphaLcPeriod"/>
            </a:pPr>
            <a:r>
              <a:rPr lang="en-US" sz="2400" b="1" dirty="0">
                <a:latin typeface="Times New Roman" pitchFamily="18" charset="0"/>
                <a:cs typeface="Times New Roman" pitchFamily="18" charset="0"/>
              </a:rPr>
              <a:t>S = 375m</a:t>
            </a:r>
          </a:p>
        </p:txBody>
      </p:sp>
    </p:spTree>
    <p:extLst>
      <p:ext uri="{BB962C8B-B14F-4D97-AF65-F5344CB8AC3E}">
        <p14:creationId xmlns:p14="http://schemas.microsoft.com/office/powerpoint/2010/main" val="3688370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15E4B66-455C-41B2-B805-A0E6130C9DAE}" type="slidenum">
              <a:rPr lang="en-US" smtClean="0"/>
              <a:t>8</a:t>
            </a:fld>
            <a:endParaRPr lang="en-US"/>
          </a:p>
        </p:txBody>
      </p:sp>
    </p:spTree>
    <p:extLst>
      <p:ext uri="{BB962C8B-B14F-4D97-AF65-F5344CB8AC3E}">
        <p14:creationId xmlns:p14="http://schemas.microsoft.com/office/powerpoint/2010/main" val="3925976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515E4B66-455C-41B2-B805-A0E6130C9DAE}" type="slidenum">
              <a:rPr lang="en-US" smtClean="0"/>
              <a:t>19</a:t>
            </a:fld>
            <a:endParaRPr lang="en-US"/>
          </a:p>
        </p:txBody>
      </p:sp>
      <mc:AlternateContent xmlns:mc="http://schemas.openxmlformats.org/markup-compatibility/2006" xmlns:a14="http://schemas.microsoft.com/office/drawing/2010/main">
        <mc:Choice Requires="a14">
          <p:sp>
            <p:nvSpPr>
              <p:cNvPr id="7" name="Notes Placeholder 4"/>
              <p:cNvSpPr>
                <a:spLocks noGrp="1"/>
              </p:cNvSpPr>
              <p:nvPr>
                <p:ph type="body" sz="quarter" idx="11"/>
              </p:nvPr>
            </p:nvSpPr>
            <p:spPr>
              <a:xfrm>
                <a:off x="685800" y="4343400"/>
                <a:ext cx="5181600" cy="12954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dirty="0"/>
                  <a:t>F = k</a:t>
                </a:r>
                <a14:m>
                  <m:oMath xmlns:m="http://schemas.openxmlformats.org/officeDocument/2006/math">
                    <m:r>
                      <a:rPr lang="en-US" i="1" smtClean="0">
                        <a:latin typeface="Cambria Math"/>
                        <a:ea typeface="Cambria Math"/>
                      </a:rPr>
                      <m:t>∆</m:t>
                    </m:r>
                    <m:r>
                      <a:rPr lang="en-US" b="0" i="1" smtClean="0">
                        <a:latin typeface="Cambria Math"/>
                        <a:ea typeface="Cambria Math"/>
                      </a:rPr>
                      <m:t>𝑙</m:t>
                    </m:r>
                    <m:r>
                      <a:rPr lang="en-US" b="0" i="1" smtClean="0">
                        <a:latin typeface="Cambria Math"/>
                        <a:ea typeface="Cambria Math"/>
                      </a:rPr>
                      <m:t>=</m:t>
                    </m:r>
                    <m:r>
                      <a:rPr lang="en-US" b="0" i="1" smtClean="0">
                        <a:latin typeface="Cambria Math"/>
                        <a:ea typeface="Cambria Math"/>
                      </a:rPr>
                      <m:t>𝑃</m:t>
                    </m:r>
                    <m:r>
                      <a:rPr lang="en-US" b="0" i="1" smtClean="0">
                        <a:latin typeface="Cambria Math"/>
                        <a:ea typeface="Cambria Math"/>
                      </a:rPr>
                      <m:t>=</m:t>
                    </m:r>
                    <m:r>
                      <a:rPr lang="en-US" b="0" i="1" smtClean="0">
                        <a:latin typeface="Cambria Math"/>
                        <a:ea typeface="Cambria Math"/>
                      </a:rPr>
                      <m:t>𝑚𝑔</m:t>
                    </m:r>
                    <m:r>
                      <a:rPr lang="en-US" b="0" i="1" smtClean="0">
                        <a:latin typeface="Cambria Math"/>
                        <a:ea typeface="Cambria Math"/>
                      </a:rPr>
                      <m:t> → ∆</m:t>
                    </m:r>
                    <m:r>
                      <a:rPr lang="en-US" i="1">
                        <a:latin typeface="Cambria Math"/>
                        <a:ea typeface="Cambria Math"/>
                      </a:rPr>
                      <m:t>𝑙</m:t>
                    </m:r>
                  </m:oMath>
                </a14:m>
                <a:r>
                  <a:rPr lang="en-US" dirty="0"/>
                  <a:t> = 0,05 m = 5cm</a:t>
                </a:r>
              </a:p>
              <a:p>
                <a:pPr algn="ctr">
                  <a:defRPr/>
                </a:pPr>
                <a:r>
                  <a:rPr lang="en-US" dirty="0"/>
                  <a:t>X =  8cm/ 2cm</a:t>
                </a:r>
              </a:p>
              <a:p>
                <a:pPr algn="ctr">
                  <a:defRPr/>
                </a:pPr>
                <a:r>
                  <a:rPr lang="en-US" dirty="0" err="1"/>
                  <a:t>F</a:t>
                </a:r>
                <a:r>
                  <a:rPr lang="en-US" sz="2000" b="1" i="1" dirty="0" err="1"/>
                  <a:t>đh</a:t>
                </a:r>
                <a:r>
                  <a:rPr lang="en-US" dirty="0"/>
                  <a:t> = 8N / 2N</a:t>
                </a:r>
              </a:p>
            </p:txBody>
          </p:sp>
        </mc:Choice>
        <mc:Fallback xmlns="">
          <p:sp>
            <p:nvSpPr>
              <p:cNvPr id="7" name="Notes Placeholder 4"/>
              <p:cNvSpPr>
                <a:spLocks noGrp="1"/>
              </p:cNvSpPr>
              <p:nvPr>
                <p:ph type="body" sz="quarter" idx="11"/>
              </p:nvPr>
            </p:nvSpPr>
            <p:spPr>
              <a:xfrm>
                <a:off x="685800" y="4343400"/>
                <a:ext cx="5181600" cy="1295400"/>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r>
                  <a:rPr lang="en-US" dirty="0" smtClean="0"/>
                  <a:t>F = k</a:t>
                </a:r>
                <a:r>
                  <a:rPr lang="en-US" i="0" smtClean="0">
                    <a:latin typeface="Cambria Math"/>
                    <a:ea typeface="Cambria Math"/>
                  </a:rPr>
                  <a:t>∆</a:t>
                </a:r>
                <a:r>
                  <a:rPr lang="en-US" b="0" i="0" smtClean="0">
                    <a:latin typeface="Cambria Math"/>
                    <a:ea typeface="Cambria Math"/>
                  </a:rPr>
                  <a:t>𝑙=𝑃=𝑚𝑔 → ∆</a:t>
                </a:r>
                <a:r>
                  <a:rPr lang="en-US" i="0">
                    <a:latin typeface="Cambria Math"/>
                    <a:ea typeface="Cambria Math"/>
                  </a:rPr>
                  <a:t>𝑙</a:t>
                </a:r>
                <a:r>
                  <a:rPr lang="en-US" dirty="0" smtClean="0"/>
                  <a:t> = 0,05 m = 5cm</a:t>
                </a:r>
              </a:p>
              <a:p>
                <a:pPr algn="ctr">
                  <a:defRPr/>
                </a:pPr>
                <a:r>
                  <a:rPr lang="en-US" dirty="0" smtClean="0"/>
                  <a:t>X =  8cm/ 2cm</a:t>
                </a:r>
              </a:p>
              <a:p>
                <a:pPr algn="ctr">
                  <a:defRPr/>
                </a:pPr>
                <a:r>
                  <a:rPr lang="en-US" dirty="0" err="1" smtClean="0"/>
                  <a:t>F</a:t>
                </a:r>
                <a:r>
                  <a:rPr lang="en-US" sz="2000" b="1" i="1" dirty="0" err="1" smtClean="0"/>
                  <a:t>đh</a:t>
                </a:r>
                <a:r>
                  <a:rPr lang="en-US" dirty="0" smtClean="0"/>
                  <a:t> </a:t>
                </a:r>
                <a:r>
                  <a:rPr lang="en-US" dirty="0"/>
                  <a:t>= 8N / 2N</a:t>
                </a:r>
              </a:p>
            </p:txBody>
          </p:sp>
        </mc:Fallback>
      </mc:AlternateContent>
    </p:spTree>
    <p:extLst>
      <p:ext uri="{BB962C8B-B14F-4D97-AF65-F5344CB8AC3E}">
        <p14:creationId xmlns:p14="http://schemas.microsoft.com/office/powerpoint/2010/main" val="27119489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515E4B66-455C-41B2-B805-A0E6130C9DAE}" type="slidenum">
              <a:rPr lang="en-US" smtClean="0"/>
              <a:t>21</a:t>
            </a:fld>
            <a:endParaRPr lang="en-US"/>
          </a:p>
        </p:txBody>
      </p:sp>
      <p:sp>
        <p:nvSpPr>
          <p:cNvPr id="5" name="Notes Placeholder 4"/>
          <p:cNvSpPr>
            <a:spLocks noGrp="1"/>
          </p:cNvSpPr>
          <p:nvPr>
            <p:ph type="body" idx="1"/>
          </p:nvPr>
        </p:nvSpPr>
        <p:spPr>
          <a:xfrm>
            <a:off x="685800" y="4343400"/>
            <a:ext cx="5410200" cy="1752600"/>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defRPr/>
            </a:pPr>
            <a:r>
              <a:rPr lang="el-GR" sz="2400" b="1" dirty="0">
                <a:solidFill>
                  <a:schemeClr val="tx1"/>
                </a:solidFill>
              </a:rPr>
              <a:t>μ</a:t>
            </a:r>
            <a:r>
              <a:rPr lang="en-US" sz="2400" b="1" dirty="0">
                <a:solidFill>
                  <a:schemeClr val="tx1"/>
                </a:solidFill>
              </a:rPr>
              <a:t> = F/mg = 0,22</a:t>
            </a:r>
          </a:p>
        </p:txBody>
      </p:sp>
    </p:spTree>
    <p:extLst>
      <p:ext uri="{BB962C8B-B14F-4D97-AF65-F5344CB8AC3E}">
        <p14:creationId xmlns:p14="http://schemas.microsoft.com/office/powerpoint/2010/main" val="1553095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15E4B66-455C-41B2-B805-A0E6130C9DAE}" type="slidenum">
              <a:rPr lang="en-US" smtClean="0"/>
              <a:t>27</a:t>
            </a:fld>
            <a:endParaRPr lang="en-US"/>
          </a:p>
        </p:txBody>
      </p:sp>
    </p:spTree>
    <p:extLst>
      <p:ext uri="{BB962C8B-B14F-4D97-AF65-F5344CB8AC3E}">
        <p14:creationId xmlns:p14="http://schemas.microsoft.com/office/powerpoint/2010/main" val="818793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515E4B66-455C-41B2-B805-A0E6130C9DAE}" type="slidenum">
              <a:rPr lang="en-US" smtClean="0"/>
              <a:t>29</a:t>
            </a:fld>
            <a:endParaRPr lang="en-US"/>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i="1" dirty="0">
                    <a:solidFill>
                      <a:srgbClr val="FF0000"/>
                    </a:solidFill>
                    <a:latin typeface="Times New Roman" pitchFamily="18" charset="0"/>
                    <a:cs typeface="Times New Roman" pitchFamily="18" charset="0"/>
                  </a:rPr>
                  <a:t>a = g(sin</a:t>
                </a:r>
                <a14:m>
                  <m:oMath xmlns:m="http://schemas.openxmlformats.org/officeDocument/2006/math">
                    <m:r>
                      <a:rPr lang="en-US" b="1" i="1">
                        <a:solidFill>
                          <a:srgbClr val="FF0000"/>
                        </a:solidFill>
                        <a:latin typeface="Cambria Math"/>
                        <a:ea typeface="Cambria Math"/>
                      </a:rPr>
                      <m:t>𝜽</m:t>
                    </m:r>
                  </m:oMath>
                </a14:m>
                <a:r>
                  <a:rPr lang="en-US" b="1" i="1" dirty="0">
                    <a:solidFill>
                      <a:srgbClr val="FF0000"/>
                    </a:solidFill>
                    <a:latin typeface="Times New Roman" pitchFamily="18" charset="0"/>
                    <a:cs typeface="Times New Roman" pitchFamily="18" charset="0"/>
                  </a:rPr>
                  <a:t> - </a:t>
                </a:r>
                <a14:m>
                  <m:oMath xmlns:m="http://schemas.openxmlformats.org/officeDocument/2006/math">
                    <m:r>
                      <a:rPr lang="en-US" b="1" i="1">
                        <a:solidFill>
                          <a:srgbClr val="FF0000"/>
                        </a:solidFill>
                        <a:latin typeface="Cambria Math"/>
                        <a:ea typeface="Cambria Math"/>
                      </a:rPr>
                      <m:t>𝝁</m:t>
                    </m:r>
                    <m:r>
                      <a:rPr lang="en-US" b="1" i="1">
                        <a:solidFill>
                          <a:srgbClr val="FF0000"/>
                        </a:solidFill>
                        <a:latin typeface="Cambria Math"/>
                        <a:ea typeface="Cambria Math"/>
                      </a:rPr>
                      <m:t>𝒄𝒐𝒔</m:t>
                    </m:r>
                    <m:r>
                      <a:rPr lang="en-US" b="1" i="1">
                        <a:solidFill>
                          <a:srgbClr val="FF0000"/>
                        </a:solidFill>
                        <a:latin typeface="Cambria Math"/>
                        <a:ea typeface="Cambria Math"/>
                      </a:rPr>
                      <m:t>𝜽</m:t>
                    </m:r>
                  </m:oMath>
                </a14:m>
                <a:r>
                  <a:rPr lang="en-US" b="1" i="1" dirty="0">
                    <a:solidFill>
                      <a:srgbClr val="FF0000"/>
                    </a:solidFill>
                    <a:latin typeface="Times New Roman" pitchFamily="18" charset="0"/>
                    <a:cs typeface="Times New Roman" pitchFamily="18" charset="0"/>
                  </a:rPr>
                  <a:t>) </a:t>
                </a:r>
                <a:r>
                  <a:rPr lang="en-US" b="1" i="1" dirty="0">
                    <a:latin typeface="Times New Roman" pitchFamily="18" charset="0"/>
                    <a:cs typeface="Times New Roman" pitchFamily="18" charset="0"/>
                  </a:rPr>
                  <a:t>= 0</a:t>
                </a:r>
              </a:p>
              <a:p>
                <a:pPr algn="ctr"/>
                <a:r>
                  <a:rPr lang="el-GR" b="1" i="1" dirty="0">
                    <a:latin typeface="Times New Roman" pitchFamily="18" charset="0"/>
                    <a:cs typeface="Times New Roman" pitchFamily="18" charset="0"/>
                  </a:rPr>
                  <a:t>μ</a:t>
                </a:r>
                <a:r>
                  <a:rPr lang="en-US" b="1" i="1" dirty="0">
                    <a:latin typeface="Times New Roman" pitchFamily="18" charset="0"/>
                    <a:cs typeface="Times New Roman" pitchFamily="18" charset="0"/>
                  </a:rPr>
                  <a:t> = </a:t>
                </a:r>
                <a:r>
                  <a:rPr lang="en-US" b="1" i="1" dirty="0" err="1">
                    <a:latin typeface="Times New Roman" pitchFamily="18" charset="0"/>
                    <a:cs typeface="Times New Roman" pitchFamily="18" charset="0"/>
                  </a:rPr>
                  <a:t>tg</a:t>
                </a:r>
                <a:r>
                  <a:rPr lang="el-GR" b="1" i="1" dirty="0">
                    <a:latin typeface="Times New Roman" pitchFamily="18" charset="0"/>
                    <a:cs typeface="Times New Roman" pitchFamily="18" charset="0"/>
                  </a:rPr>
                  <a:t>α</a:t>
                </a:r>
                <a:endParaRPr lang="en-US" b="1" i="1" dirty="0">
                  <a:latin typeface="Times New Roman" pitchFamily="18" charset="0"/>
                  <a:cs typeface="Times New Roman" pitchFamily="18" charset="0"/>
                </a:endParaRPr>
              </a:p>
              <a:p>
                <a:pPr algn="ctr"/>
                <a:r>
                  <a:rPr lang="en-US" b="1" i="1" dirty="0">
                    <a:solidFill>
                      <a:srgbClr val="FF0000"/>
                    </a:solidFill>
                    <a:latin typeface="Times New Roman" pitchFamily="18" charset="0"/>
                    <a:cs typeface="Times New Roman" pitchFamily="18" charset="0"/>
                  </a:rPr>
                  <a:t>a = </a:t>
                </a:r>
                <a:r>
                  <a:rPr lang="en-US" b="1" i="1" dirty="0" err="1">
                    <a:solidFill>
                      <a:srgbClr val="FF0000"/>
                    </a:solidFill>
                    <a:latin typeface="Times New Roman" pitchFamily="18" charset="0"/>
                    <a:cs typeface="Times New Roman" pitchFamily="18" charset="0"/>
                  </a:rPr>
                  <a:t>gsin</a:t>
                </a:r>
                <a:r>
                  <a:rPr lang="el-GR" b="1" i="1" dirty="0">
                    <a:solidFill>
                      <a:srgbClr val="FF0000"/>
                    </a:solidFill>
                    <a:latin typeface="Times New Roman" pitchFamily="18" charset="0"/>
                    <a:cs typeface="Times New Roman" pitchFamily="18" charset="0"/>
                  </a:rPr>
                  <a:t>θ </a:t>
                </a:r>
                <a:r>
                  <a:rPr lang="en-US" b="1" i="1" dirty="0">
                    <a:latin typeface="Times New Roman" pitchFamily="18" charset="0"/>
                    <a:cs typeface="Times New Roman" pitchFamily="18" charset="0"/>
                  </a:rPr>
                  <a:t>(</a:t>
                </a:r>
                <a:r>
                  <a:rPr lang="en-US" b="1" i="1" dirty="0" err="1">
                    <a:latin typeface="Times New Roman" pitchFamily="18" charset="0"/>
                    <a:cs typeface="Times New Roman" pitchFamily="18" charset="0"/>
                  </a:rPr>
                  <a:t>không</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ms</a:t>
                </a:r>
                <a:r>
                  <a:rPr lang="en-US" b="1" i="1" dirty="0">
                    <a:latin typeface="Times New Roman" pitchFamily="18" charset="0"/>
                    <a:cs typeface="Times New Roman" pitchFamily="18" charset="0"/>
                  </a:rPr>
                  <a:t>)</a:t>
                </a:r>
              </a:p>
            </p:txBody>
          </p:sp>
        </mc:Choice>
        <mc:Fallback xmlns="">
          <p:sp>
            <p:nvSpPr>
              <p:cNvPr id="5" name="Notes Placeholder 4"/>
              <p:cNvSpPr>
                <a:spLocks noGrp="1"/>
              </p:cNvSpPr>
              <p:nvPr>
                <p:ph type="body" idx="1"/>
              </p:nvPr>
            </p:nvSpPr>
            <p:spPr>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i="1" smtClean="0">
                    <a:solidFill>
                      <a:srgbClr val="FF0000"/>
                    </a:solidFill>
                    <a:latin typeface="Times New Roman" pitchFamily="18" charset="0"/>
                    <a:cs typeface="Times New Roman" pitchFamily="18" charset="0"/>
                  </a:rPr>
                  <a:t>a = g(sin</a:t>
                </a:r>
                <a:r>
                  <a:rPr lang="en-US" b="1" i="0">
                    <a:solidFill>
                      <a:srgbClr val="FF0000"/>
                    </a:solidFill>
                    <a:latin typeface="Cambria Math"/>
                    <a:ea typeface="Cambria Math"/>
                  </a:rPr>
                  <a:t>𝜽</a:t>
                </a:r>
                <a:r>
                  <a:rPr lang="en-US" b="1" i="1">
                    <a:solidFill>
                      <a:srgbClr val="FF0000"/>
                    </a:solidFill>
                    <a:latin typeface="Times New Roman" pitchFamily="18" charset="0"/>
                    <a:cs typeface="Times New Roman" pitchFamily="18" charset="0"/>
                  </a:rPr>
                  <a:t> - </a:t>
                </a:r>
                <a:r>
                  <a:rPr lang="en-US" b="1" i="0">
                    <a:solidFill>
                      <a:srgbClr val="FF0000"/>
                    </a:solidFill>
                    <a:latin typeface="Cambria Math"/>
                    <a:ea typeface="Cambria Math"/>
                  </a:rPr>
                  <a:t>𝝁𝒄𝒐𝒔𝜽</a:t>
                </a:r>
                <a:r>
                  <a:rPr lang="en-US" b="1" i="1" smtClean="0">
                    <a:solidFill>
                      <a:srgbClr val="FF0000"/>
                    </a:solidFill>
                    <a:latin typeface="Times New Roman" pitchFamily="18" charset="0"/>
                    <a:cs typeface="Times New Roman" pitchFamily="18" charset="0"/>
                  </a:rPr>
                  <a:t>) </a:t>
                </a:r>
                <a:r>
                  <a:rPr lang="en-US" b="1" i="1" smtClean="0">
                    <a:latin typeface="Times New Roman" pitchFamily="18" charset="0"/>
                    <a:cs typeface="Times New Roman" pitchFamily="18" charset="0"/>
                  </a:rPr>
                  <a:t>= 0</a:t>
                </a:r>
              </a:p>
              <a:p>
                <a:pPr algn="ctr"/>
                <a:r>
                  <a:rPr lang="el-GR" b="1" i="1">
                    <a:latin typeface="Times New Roman" pitchFamily="18" charset="0"/>
                    <a:cs typeface="Times New Roman" pitchFamily="18" charset="0"/>
                  </a:rPr>
                  <a:t>μ</a:t>
                </a:r>
                <a:r>
                  <a:rPr lang="en-US" b="1" i="1" smtClean="0">
                    <a:latin typeface="Times New Roman" pitchFamily="18" charset="0"/>
                    <a:cs typeface="Times New Roman" pitchFamily="18" charset="0"/>
                  </a:rPr>
                  <a:t> = tg</a:t>
                </a:r>
                <a:r>
                  <a:rPr lang="el-GR" b="1" i="1" smtClean="0">
                    <a:latin typeface="Times New Roman" pitchFamily="18" charset="0"/>
                    <a:cs typeface="Times New Roman" pitchFamily="18" charset="0"/>
                  </a:rPr>
                  <a:t>α</a:t>
                </a:r>
                <a:endParaRPr lang="en-US" b="1" i="1" smtClean="0">
                  <a:latin typeface="Times New Roman" pitchFamily="18" charset="0"/>
                  <a:cs typeface="Times New Roman" pitchFamily="18" charset="0"/>
                </a:endParaRPr>
              </a:p>
              <a:p>
                <a:pPr algn="ctr"/>
                <a:r>
                  <a:rPr lang="en-US" b="1" i="1">
                    <a:solidFill>
                      <a:srgbClr val="FF0000"/>
                    </a:solidFill>
                    <a:latin typeface="Times New Roman" pitchFamily="18" charset="0"/>
                    <a:cs typeface="Times New Roman" pitchFamily="18" charset="0"/>
                  </a:rPr>
                  <a:t>a</a:t>
                </a:r>
                <a:r>
                  <a:rPr lang="en-US" b="1" i="1" smtClean="0">
                    <a:solidFill>
                      <a:srgbClr val="FF0000"/>
                    </a:solidFill>
                    <a:latin typeface="Times New Roman" pitchFamily="18" charset="0"/>
                    <a:cs typeface="Times New Roman" pitchFamily="18" charset="0"/>
                  </a:rPr>
                  <a:t> = gsin</a:t>
                </a:r>
                <a:r>
                  <a:rPr lang="el-GR" b="1" i="1" smtClean="0">
                    <a:solidFill>
                      <a:srgbClr val="FF0000"/>
                    </a:solidFill>
                    <a:latin typeface="Times New Roman" pitchFamily="18" charset="0"/>
                    <a:cs typeface="Times New Roman" pitchFamily="18" charset="0"/>
                  </a:rPr>
                  <a:t>θ </a:t>
                </a:r>
                <a:r>
                  <a:rPr lang="en-US" b="1" i="1" smtClean="0">
                    <a:latin typeface="Times New Roman" pitchFamily="18" charset="0"/>
                    <a:cs typeface="Times New Roman" pitchFamily="18" charset="0"/>
                  </a:rPr>
                  <a:t>(không ms)</a:t>
                </a:r>
                <a:endParaRPr lang="en-US" b="1" i="1">
                  <a:latin typeface="Times New Roman" pitchFamily="18" charset="0"/>
                  <a:cs typeface="Times New Roman" pitchFamily="18" charset="0"/>
                </a:endParaRPr>
              </a:p>
            </p:txBody>
          </p:sp>
        </mc:Fallback>
      </mc:AlternateContent>
    </p:spTree>
    <p:extLst>
      <p:ext uri="{BB962C8B-B14F-4D97-AF65-F5344CB8AC3E}">
        <p14:creationId xmlns:p14="http://schemas.microsoft.com/office/powerpoint/2010/main" val="1419698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515E4B66-455C-41B2-B805-A0E6130C9DAE}" type="slidenum">
              <a:rPr lang="en-US" smtClean="0"/>
              <a:t>30</a:t>
            </a:fld>
            <a:endParaRPr lang="en-US"/>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prstGeom prst="wedgeEllipseCallout">
                <a:avLst/>
              </a:prstGeom>
            </p:spPr>
            <p:style>
              <a:lnRef idx="2">
                <a:schemeClr val="accent5"/>
              </a:lnRef>
              <a:fillRef idx="1">
                <a:schemeClr val="lt1"/>
              </a:fillRef>
              <a:effectRef idx="0">
                <a:schemeClr val="accent5"/>
              </a:effectRef>
              <a:fontRef idx="minor">
                <a:schemeClr val="dk1"/>
              </a:fontRef>
            </p:style>
            <p:txBody>
              <a:bodyPr rtlCol="0" anchor="ctr"/>
              <a:lstStyle/>
              <a:p>
                <a14:m>
                  <m:oMath xmlns:m="http://schemas.openxmlformats.org/officeDocument/2006/math">
                    <m:acc>
                      <m:accPr>
                        <m:chr m:val="⃗"/>
                        <m:ctrlPr>
                          <a:rPr lang="en-US" sz="2000" b="1" i="1">
                            <a:latin typeface="Cambria Math" panose="02040503050406030204" pitchFamily="18" charset="0"/>
                            <a:cs typeface="Times New Roman" pitchFamily="18" charset="0"/>
                          </a:rPr>
                        </m:ctrlPr>
                      </m:accPr>
                      <m:e>
                        <m:r>
                          <a:rPr lang="en-US" sz="2000" b="1" i="1">
                            <a:latin typeface="Cambria Math"/>
                            <a:cs typeface="Times New Roman" pitchFamily="18" charset="0"/>
                          </a:rPr>
                          <m:t>𝑭</m:t>
                        </m:r>
                      </m:e>
                    </m:acc>
                  </m:oMath>
                </a14:m>
                <a:r>
                  <a:rPr lang="en-US" sz="2000" b="1" i="1" dirty="0">
                    <a:latin typeface="Times New Roman" pitchFamily="18" charset="0"/>
                    <a:cs typeface="Times New Roman" pitchFamily="18" charset="0"/>
                  </a:rPr>
                  <a:t> = </a:t>
                </a:r>
                <a14:m>
                  <m:oMath xmlns:m="http://schemas.openxmlformats.org/officeDocument/2006/math">
                    <m:acc>
                      <m:accPr>
                        <m:chr m:val="⃗"/>
                        <m:ctrlPr>
                          <a:rPr lang="en-US" sz="2000" b="1" i="1">
                            <a:latin typeface="Cambria Math" panose="02040503050406030204" pitchFamily="18" charset="0"/>
                            <a:cs typeface="Times New Roman" pitchFamily="18" charset="0"/>
                          </a:rPr>
                        </m:ctrlPr>
                      </m:accPr>
                      <m:e>
                        <m:sSub>
                          <m:sSubPr>
                            <m:ctrlPr>
                              <a:rPr lang="en-US" sz="2000" b="1" i="1">
                                <a:latin typeface="Cambria Math" panose="02040503050406030204" pitchFamily="18" charset="0"/>
                                <a:cs typeface="Times New Roman" pitchFamily="18" charset="0"/>
                              </a:rPr>
                            </m:ctrlPr>
                          </m:sSubPr>
                          <m:e>
                            <m:r>
                              <a:rPr lang="en-US" sz="2000" b="1" i="1">
                                <a:latin typeface="Cambria Math"/>
                                <a:cs typeface="Times New Roman" pitchFamily="18" charset="0"/>
                              </a:rPr>
                              <m:t>𝑭</m:t>
                            </m:r>
                          </m:e>
                          <m:sub>
                            <m:r>
                              <a:rPr lang="en-US" sz="2000" b="1" i="1">
                                <a:latin typeface="Cambria Math"/>
                                <a:cs typeface="Times New Roman" pitchFamily="18" charset="0"/>
                              </a:rPr>
                              <m:t>𝟏</m:t>
                            </m:r>
                          </m:sub>
                        </m:sSub>
                      </m:e>
                    </m:acc>
                  </m:oMath>
                </a14:m>
                <a:r>
                  <a:rPr lang="en-US" sz="2000" b="1" i="1" dirty="0">
                    <a:latin typeface="Times New Roman" pitchFamily="18" charset="0"/>
                    <a:cs typeface="Times New Roman" pitchFamily="18" charset="0"/>
                  </a:rPr>
                  <a:t>+</a:t>
                </a:r>
                <a:r>
                  <a:rPr lang="en-US" sz="2000" b="1" dirty="0">
                    <a:cs typeface="Times New Roman" pitchFamily="18" charset="0"/>
                  </a:rPr>
                  <a:t> </a:t>
                </a:r>
                <a14:m>
                  <m:oMath xmlns:m="http://schemas.openxmlformats.org/officeDocument/2006/math">
                    <m:acc>
                      <m:accPr>
                        <m:chr m:val="⃗"/>
                        <m:ctrlPr>
                          <a:rPr lang="en-US" sz="2000" b="1" i="1">
                            <a:latin typeface="Cambria Math" panose="02040503050406030204" pitchFamily="18" charset="0"/>
                            <a:cs typeface="Times New Roman" pitchFamily="18" charset="0"/>
                          </a:rPr>
                        </m:ctrlPr>
                      </m:accPr>
                      <m:e>
                        <m:sSub>
                          <m:sSubPr>
                            <m:ctrlPr>
                              <a:rPr lang="en-US" sz="2000" b="1" i="1">
                                <a:latin typeface="Cambria Math" panose="02040503050406030204" pitchFamily="18" charset="0"/>
                                <a:cs typeface="Times New Roman" pitchFamily="18" charset="0"/>
                              </a:rPr>
                            </m:ctrlPr>
                          </m:sSubPr>
                          <m:e>
                            <m:r>
                              <a:rPr lang="en-US" sz="2000" b="1" i="1">
                                <a:latin typeface="Cambria Math"/>
                                <a:cs typeface="Times New Roman" pitchFamily="18" charset="0"/>
                              </a:rPr>
                              <m:t>𝑭</m:t>
                            </m:r>
                          </m:e>
                          <m:sub>
                            <m:r>
                              <a:rPr lang="en-US" sz="2000" b="1" i="1">
                                <a:latin typeface="Cambria Math"/>
                                <a:cs typeface="Times New Roman" pitchFamily="18" charset="0"/>
                              </a:rPr>
                              <m:t>𝟐</m:t>
                            </m:r>
                          </m:sub>
                        </m:sSub>
                      </m:e>
                    </m:acc>
                    <m:r>
                      <a:rPr lang="en-US" sz="2000" b="1" i="1">
                        <a:latin typeface="Cambria Math"/>
                        <a:cs typeface="Times New Roman" pitchFamily="18" charset="0"/>
                      </a:rPr>
                      <m:t> </m:t>
                    </m:r>
                  </m:oMath>
                </a14:m>
                <a:r>
                  <a:rPr lang="en-US" sz="2000" b="1" i="1" dirty="0">
                    <a:latin typeface="Times New Roman" pitchFamily="18" charset="0"/>
                    <a:cs typeface="Times New Roman" pitchFamily="18" charset="0"/>
                  </a:rPr>
                  <a:t>, </a:t>
                </a:r>
                <a14:m>
                  <m:oMath xmlns:m="http://schemas.openxmlformats.org/officeDocument/2006/math">
                    <m:sSub>
                      <m:sSubPr>
                        <m:ctrlPr>
                          <a:rPr lang="en-US" sz="2000" b="1" i="1">
                            <a:latin typeface="Cambria Math" panose="02040503050406030204" pitchFamily="18" charset="0"/>
                            <a:cs typeface="Times New Roman" pitchFamily="18" charset="0"/>
                          </a:rPr>
                        </m:ctrlPr>
                      </m:sSubPr>
                      <m:e>
                        <m:r>
                          <a:rPr lang="en-US" sz="2000" b="1" i="1">
                            <a:latin typeface="Cambria Math"/>
                            <a:cs typeface="Times New Roman" pitchFamily="18" charset="0"/>
                          </a:rPr>
                          <m:t>𝑭</m:t>
                        </m:r>
                      </m:e>
                      <m:sub>
                        <m:r>
                          <a:rPr lang="en-US" sz="2000" b="1" i="1">
                            <a:latin typeface="Cambria Math"/>
                            <a:cs typeface="Times New Roman" pitchFamily="18" charset="0"/>
                          </a:rPr>
                          <m:t>𝟏</m:t>
                        </m:r>
                      </m:sub>
                    </m:sSub>
                  </m:oMath>
                </a14:m>
                <a:r>
                  <a:rPr lang="en-US" sz="2000" b="1" i="1" dirty="0">
                    <a:latin typeface="Times New Roman" pitchFamily="18" charset="0"/>
                    <a:cs typeface="Times New Roman" pitchFamily="18" charset="0"/>
                  </a:rPr>
                  <a:t>=</a:t>
                </a:r>
                <a:r>
                  <a:rPr lang="en-US" sz="2000" b="1" i="1" dirty="0" err="1">
                    <a:latin typeface="Times New Roman" pitchFamily="18" charset="0"/>
                    <a:cs typeface="Times New Roman" pitchFamily="18" charset="0"/>
                  </a:rPr>
                  <a:t>Fcos</a:t>
                </a:r>
                <a:r>
                  <a:rPr lang="el-GR" sz="2000" b="1" i="1" dirty="0">
                    <a:latin typeface="Times New Roman" pitchFamily="18" charset="0"/>
                    <a:cs typeface="Times New Roman" pitchFamily="18" charset="0"/>
                  </a:rPr>
                  <a:t>α</a:t>
                </a:r>
                <a:r>
                  <a:rPr lang="en-US" sz="2000" b="1" i="1" dirty="0">
                    <a:latin typeface="Times New Roman" pitchFamily="18" charset="0"/>
                    <a:cs typeface="Times New Roman" pitchFamily="18" charset="0"/>
                  </a:rPr>
                  <a:t> ,</a:t>
                </a:r>
                <a14:m>
                  <m:oMath xmlns:m="http://schemas.openxmlformats.org/officeDocument/2006/math">
                    <m:sSub>
                      <m:sSubPr>
                        <m:ctrlPr>
                          <a:rPr lang="en-US" sz="2000" b="1" i="1">
                            <a:latin typeface="Cambria Math" panose="02040503050406030204" pitchFamily="18" charset="0"/>
                            <a:cs typeface="Times New Roman" pitchFamily="18" charset="0"/>
                          </a:rPr>
                        </m:ctrlPr>
                      </m:sSubPr>
                      <m:e>
                        <m:r>
                          <a:rPr lang="en-US" sz="2000" b="1" i="1">
                            <a:latin typeface="Cambria Math"/>
                            <a:cs typeface="Times New Roman" pitchFamily="18" charset="0"/>
                          </a:rPr>
                          <m:t>𝑭</m:t>
                        </m:r>
                      </m:e>
                      <m:sub>
                        <m:r>
                          <a:rPr lang="en-US" sz="2000" b="1" i="1">
                            <a:latin typeface="Cambria Math"/>
                            <a:cs typeface="Times New Roman" pitchFamily="18" charset="0"/>
                          </a:rPr>
                          <m:t>𝟐</m:t>
                        </m:r>
                      </m:sub>
                    </m:sSub>
                  </m:oMath>
                </a14:m>
                <a:r>
                  <a:rPr lang="en-US" sz="2000" b="1" i="1" dirty="0">
                    <a:latin typeface="Times New Roman" pitchFamily="18" charset="0"/>
                    <a:cs typeface="Times New Roman" pitchFamily="18" charset="0"/>
                  </a:rPr>
                  <a:t>=</a:t>
                </a:r>
                <a:r>
                  <a:rPr lang="en-US" sz="2000" b="1" i="1" dirty="0" err="1">
                    <a:latin typeface="Times New Roman" pitchFamily="18" charset="0"/>
                    <a:cs typeface="Times New Roman" pitchFamily="18" charset="0"/>
                  </a:rPr>
                  <a:t>Fsin</a:t>
                </a:r>
                <a:r>
                  <a:rPr lang="el-GR" sz="2000" b="1" i="1" dirty="0">
                    <a:latin typeface="Times New Roman" pitchFamily="18" charset="0"/>
                    <a:cs typeface="Times New Roman" pitchFamily="18" charset="0"/>
                  </a:rPr>
                  <a:t>α</a:t>
                </a:r>
                <a:endParaRPr lang="en-US" sz="2000" b="1" i="1" dirty="0">
                  <a:latin typeface="Times New Roman" pitchFamily="18" charset="0"/>
                  <a:cs typeface="Times New Roman" pitchFamily="18" charset="0"/>
                </a:endParaRPr>
              </a:p>
              <a:p>
                <a:r>
                  <a:rPr lang="en-US" sz="2000" b="1" i="1" dirty="0" err="1">
                    <a:latin typeface="Times New Roman" pitchFamily="18" charset="0"/>
                    <a:cs typeface="Times New Roman" pitchFamily="18" charset="0"/>
                  </a:rPr>
                  <a:t>Fcos</a:t>
                </a:r>
                <a:r>
                  <a:rPr lang="el-GR" sz="2000" b="1" i="1" dirty="0">
                    <a:latin typeface="Times New Roman" pitchFamily="18" charset="0"/>
                    <a:cs typeface="Times New Roman" pitchFamily="18" charset="0"/>
                  </a:rPr>
                  <a:t>α</a:t>
                </a:r>
                <a:r>
                  <a:rPr lang="en-US" sz="2000" b="1" i="1" dirty="0">
                    <a:latin typeface="Times New Roman" pitchFamily="18" charset="0"/>
                    <a:cs typeface="Times New Roman" pitchFamily="18" charset="0"/>
                  </a:rPr>
                  <a:t> = ma + </a:t>
                </a:r>
                <a:r>
                  <a:rPr lang="el-GR" sz="2000" b="1" i="1" dirty="0">
                    <a:latin typeface="Times New Roman" pitchFamily="18" charset="0"/>
                    <a:cs typeface="Times New Roman" pitchFamily="18" charset="0"/>
                  </a:rPr>
                  <a:t>μ</a:t>
                </a:r>
                <a:r>
                  <a:rPr lang="en-US" sz="2000" b="1" i="1" dirty="0">
                    <a:latin typeface="Times New Roman" pitchFamily="18" charset="0"/>
                    <a:cs typeface="Times New Roman" pitchFamily="18" charset="0"/>
                  </a:rPr>
                  <a:t>N, N = mg - </a:t>
                </a:r>
                <a:r>
                  <a:rPr lang="en-US" sz="2000" b="1" i="1" dirty="0" err="1">
                    <a:latin typeface="Times New Roman" pitchFamily="18" charset="0"/>
                    <a:cs typeface="Times New Roman" pitchFamily="18" charset="0"/>
                  </a:rPr>
                  <a:t>Fsin</a:t>
                </a:r>
                <a:r>
                  <a:rPr lang="el-GR" sz="2000" b="1" i="1" dirty="0">
                    <a:latin typeface="Times New Roman" pitchFamily="18" charset="0"/>
                    <a:cs typeface="Times New Roman" pitchFamily="18" charset="0"/>
                  </a:rPr>
                  <a:t>α</a:t>
                </a:r>
                <a:r>
                  <a:rPr lang="en-US" sz="2000" b="1" i="1" dirty="0">
                    <a:latin typeface="Times New Roman" pitchFamily="18" charset="0"/>
                    <a:cs typeface="Times New Roman" pitchFamily="18" charset="0"/>
                  </a:rPr>
                  <a:t> </a:t>
                </a:r>
              </a:p>
              <a:p>
                <a:pPr>
                  <a:defRPr/>
                </a:pPr>
                <a:r>
                  <a:rPr lang="en-US" sz="2000" b="1" i="1" dirty="0" err="1">
                    <a:latin typeface="Times New Roman" pitchFamily="18" charset="0"/>
                    <a:cs typeface="Times New Roman" pitchFamily="18" charset="0"/>
                  </a:rPr>
                  <a:t>Fcos</a:t>
                </a:r>
                <a:r>
                  <a:rPr lang="el-GR" sz="2000" b="1" i="1" dirty="0">
                    <a:latin typeface="Times New Roman" pitchFamily="18" charset="0"/>
                    <a:cs typeface="Times New Roman" pitchFamily="18" charset="0"/>
                  </a:rPr>
                  <a:t>α</a:t>
                </a:r>
                <a:r>
                  <a:rPr lang="en-US" sz="2000" b="1" i="1" dirty="0">
                    <a:latin typeface="Times New Roman" pitchFamily="18" charset="0"/>
                    <a:cs typeface="Times New Roman" pitchFamily="18" charset="0"/>
                  </a:rPr>
                  <a:t> – </a:t>
                </a:r>
                <a:r>
                  <a:rPr lang="el-GR" sz="2000" b="1" i="1" dirty="0">
                    <a:latin typeface="Times New Roman" pitchFamily="18" charset="0"/>
                    <a:cs typeface="Times New Roman" pitchFamily="18" charset="0"/>
                  </a:rPr>
                  <a:t>μ</a:t>
                </a:r>
                <a:r>
                  <a:rPr lang="en-US" sz="2000" b="1" i="1" dirty="0">
                    <a:latin typeface="Times New Roman" pitchFamily="18" charset="0"/>
                    <a:cs typeface="Times New Roman" pitchFamily="18" charset="0"/>
                  </a:rPr>
                  <a:t>(mg - </a:t>
                </a:r>
                <a:r>
                  <a:rPr lang="en-US" sz="2000" b="1" i="1" dirty="0" err="1">
                    <a:latin typeface="Times New Roman" pitchFamily="18" charset="0"/>
                    <a:cs typeface="Times New Roman" pitchFamily="18" charset="0"/>
                  </a:rPr>
                  <a:t>Fsin</a:t>
                </a:r>
                <a:r>
                  <a:rPr lang="el-GR" sz="2000" b="1" i="1" dirty="0">
                    <a:latin typeface="Times New Roman" pitchFamily="18" charset="0"/>
                    <a:cs typeface="Times New Roman" pitchFamily="18" charset="0"/>
                  </a:rPr>
                  <a:t>α</a:t>
                </a:r>
                <a:r>
                  <a:rPr lang="en-US" sz="2000" b="1" i="1" dirty="0">
                    <a:latin typeface="Times New Roman" pitchFamily="18" charset="0"/>
                    <a:cs typeface="Times New Roman" pitchFamily="18" charset="0"/>
                  </a:rPr>
                  <a:t>) = ma </a:t>
                </a:r>
                <a14:m>
                  <m:oMath xmlns:m="http://schemas.openxmlformats.org/officeDocument/2006/math">
                    <m:r>
                      <a:rPr lang="en-US" sz="2000" b="1" i="1">
                        <a:latin typeface="Cambria Math"/>
                        <a:ea typeface="Cambria Math"/>
                        <a:cs typeface="Times New Roman" pitchFamily="18" charset="0"/>
                      </a:rPr>
                      <m:t>→</m:t>
                    </m:r>
                  </m:oMath>
                </a14:m>
                <a:r>
                  <a:rPr lang="en-US" sz="2000" b="1" dirty="0"/>
                  <a:t> </a:t>
                </a:r>
                <a:r>
                  <a:rPr lang="en-US" sz="2000" b="1" i="1" dirty="0"/>
                  <a:t>a </a:t>
                </a:r>
                <a:r>
                  <a:rPr lang="en-US" i="1" dirty="0"/>
                  <a:t>= </a:t>
                </a:r>
              </a:p>
            </p:txBody>
          </p:sp>
        </mc:Choice>
        <mc:Fallback xmlns="">
          <p:sp>
            <p:nvSpPr>
              <p:cNvPr id="5" name="Notes Placeholder 4"/>
              <p:cNvSpPr>
                <a:spLocks noGrp="1"/>
              </p:cNvSpPr>
              <p:nvPr>
                <p:ph type="body" idx="1"/>
              </p:nvPr>
            </p:nvSpPr>
            <p:spPr>
              <a:prstGeom prst="wedgeEllipseCallou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2000" b="1" i="0">
                    <a:latin typeface="Cambria Math"/>
                    <a:cs typeface="Times New Roman" pitchFamily="18" charset="0"/>
                  </a:rPr>
                  <a:t>𝑭 ⃗</a:t>
                </a:r>
                <a:r>
                  <a:rPr lang="en-US" sz="2000" b="1" i="1" dirty="0">
                    <a:latin typeface="Times New Roman" pitchFamily="18" charset="0"/>
                    <a:cs typeface="Times New Roman" pitchFamily="18" charset="0"/>
                  </a:rPr>
                  <a:t> = </a:t>
                </a:r>
                <a:r>
                  <a:rPr lang="en-US" sz="2000" b="1" i="0">
                    <a:latin typeface="Cambria Math"/>
                    <a:cs typeface="Times New Roman" pitchFamily="18" charset="0"/>
                  </a:rPr>
                  <a:t>(𝑭_𝟏 ) ⃗</a:t>
                </a:r>
                <a:r>
                  <a:rPr lang="en-US" sz="2000" b="1" i="1" dirty="0">
                    <a:latin typeface="Times New Roman" pitchFamily="18" charset="0"/>
                    <a:cs typeface="Times New Roman" pitchFamily="18" charset="0"/>
                  </a:rPr>
                  <a:t>+</a:t>
                </a:r>
                <a:r>
                  <a:rPr lang="en-US" sz="2000" b="1" dirty="0">
                    <a:cs typeface="Times New Roman" pitchFamily="18" charset="0"/>
                  </a:rPr>
                  <a:t> </a:t>
                </a:r>
                <a:r>
                  <a:rPr lang="en-US" sz="2000" b="1" i="0">
                    <a:latin typeface="Cambria Math"/>
                    <a:cs typeface="Times New Roman" pitchFamily="18" charset="0"/>
                  </a:rPr>
                  <a:t>(𝑭_𝟐 ) ⃗  </a:t>
                </a:r>
                <a:r>
                  <a:rPr lang="en-US" sz="2000" b="1" i="1" dirty="0">
                    <a:latin typeface="Times New Roman" pitchFamily="18" charset="0"/>
                    <a:cs typeface="Times New Roman" pitchFamily="18" charset="0"/>
                  </a:rPr>
                  <a:t>, </a:t>
                </a:r>
                <a:r>
                  <a:rPr lang="en-US" sz="2000" b="1" i="0">
                    <a:latin typeface="Cambria Math"/>
                    <a:cs typeface="Times New Roman" pitchFamily="18" charset="0"/>
                  </a:rPr>
                  <a:t>𝑭_𝟏</a:t>
                </a:r>
                <a:r>
                  <a:rPr lang="en-US" sz="2000" b="1" i="1" dirty="0">
                    <a:latin typeface="Times New Roman" pitchFamily="18" charset="0"/>
                    <a:cs typeface="Times New Roman" pitchFamily="18" charset="0"/>
                  </a:rPr>
                  <a:t>=</a:t>
                </a:r>
                <a:r>
                  <a:rPr lang="en-US" sz="2000" b="1" i="1" dirty="0" err="1">
                    <a:latin typeface="Times New Roman" pitchFamily="18" charset="0"/>
                    <a:cs typeface="Times New Roman" pitchFamily="18" charset="0"/>
                  </a:rPr>
                  <a:t>Fcos</a:t>
                </a:r>
                <a:r>
                  <a:rPr lang="el-GR" sz="2000" b="1" i="1" dirty="0">
                    <a:latin typeface="Times New Roman" pitchFamily="18" charset="0"/>
                    <a:cs typeface="Times New Roman" pitchFamily="18" charset="0"/>
                  </a:rPr>
                  <a:t>α</a:t>
                </a:r>
                <a:r>
                  <a:rPr lang="en-US" sz="2000" b="1" i="1" dirty="0">
                    <a:latin typeface="Times New Roman" pitchFamily="18" charset="0"/>
                    <a:cs typeface="Times New Roman" pitchFamily="18" charset="0"/>
                  </a:rPr>
                  <a:t> ,</a:t>
                </a:r>
                <a:r>
                  <a:rPr lang="en-US" sz="2000" b="1" i="0">
                    <a:latin typeface="Cambria Math"/>
                    <a:cs typeface="Times New Roman" pitchFamily="18" charset="0"/>
                  </a:rPr>
                  <a:t>𝑭_𝟐</a:t>
                </a:r>
                <a:r>
                  <a:rPr lang="en-US" sz="2000" b="1" i="1" dirty="0">
                    <a:latin typeface="Times New Roman" pitchFamily="18" charset="0"/>
                    <a:cs typeface="Times New Roman" pitchFamily="18" charset="0"/>
                  </a:rPr>
                  <a:t>=</a:t>
                </a:r>
                <a:r>
                  <a:rPr lang="en-US" sz="2000" b="1" i="1" dirty="0" err="1">
                    <a:latin typeface="Times New Roman" pitchFamily="18" charset="0"/>
                    <a:cs typeface="Times New Roman" pitchFamily="18" charset="0"/>
                  </a:rPr>
                  <a:t>Fsin</a:t>
                </a:r>
                <a:r>
                  <a:rPr lang="el-GR" sz="2000" b="1" i="1" dirty="0" smtClean="0">
                    <a:latin typeface="Times New Roman" pitchFamily="18" charset="0"/>
                    <a:cs typeface="Times New Roman" pitchFamily="18" charset="0"/>
                  </a:rPr>
                  <a:t>α</a:t>
                </a:r>
                <a:endParaRPr lang="en-US" sz="2000" b="1" i="1" dirty="0" smtClean="0">
                  <a:latin typeface="Times New Roman" pitchFamily="18" charset="0"/>
                  <a:cs typeface="Times New Roman" pitchFamily="18" charset="0"/>
                </a:endParaRPr>
              </a:p>
              <a:p>
                <a:r>
                  <a:rPr lang="en-US" sz="2000" b="1" i="1" dirty="0" err="1" smtClean="0">
                    <a:latin typeface="Times New Roman" pitchFamily="18" charset="0"/>
                    <a:cs typeface="Times New Roman" pitchFamily="18" charset="0"/>
                  </a:rPr>
                  <a:t>Fcos</a:t>
                </a:r>
                <a:r>
                  <a:rPr lang="el-GR" sz="2000" b="1" i="1" dirty="0" smtClean="0">
                    <a:latin typeface="Times New Roman" pitchFamily="18" charset="0"/>
                    <a:cs typeface="Times New Roman" pitchFamily="18" charset="0"/>
                  </a:rPr>
                  <a:t>α</a:t>
                </a:r>
                <a:r>
                  <a:rPr lang="en-US" sz="2000" b="1" i="1" dirty="0" smtClean="0">
                    <a:latin typeface="Times New Roman" pitchFamily="18" charset="0"/>
                    <a:cs typeface="Times New Roman" pitchFamily="18" charset="0"/>
                  </a:rPr>
                  <a:t> </a:t>
                </a:r>
                <a:r>
                  <a:rPr lang="en-US" sz="2000" b="1" i="1" dirty="0">
                    <a:latin typeface="Times New Roman" pitchFamily="18" charset="0"/>
                    <a:cs typeface="Times New Roman" pitchFamily="18" charset="0"/>
                  </a:rPr>
                  <a:t>= ma + </a:t>
                </a:r>
                <a:r>
                  <a:rPr lang="el-GR" sz="2000" b="1" i="1" dirty="0" smtClean="0">
                    <a:latin typeface="Times New Roman" pitchFamily="18" charset="0"/>
                    <a:cs typeface="Times New Roman" pitchFamily="18" charset="0"/>
                  </a:rPr>
                  <a:t>μ</a:t>
                </a:r>
                <a:r>
                  <a:rPr lang="en-US" sz="2000" b="1" i="1" dirty="0">
                    <a:latin typeface="Times New Roman" pitchFamily="18" charset="0"/>
                    <a:cs typeface="Times New Roman" pitchFamily="18" charset="0"/>
                  </a:rPr>
                  <a:t>N</a:t>
                </a:r>
                <a:r>
                  <a:rPr lang="en-US" sz="2000" b="1" i="1" dirty="0" smtClean="0">
                    <a:latin typeface="Times New Roman" pitchFamily="18" charset="0"/>
                    <a:cs typeface="Times New Roman" pitchFamily="18" charset="0"/>
                  </a:rPr>
                  <a:t>, N = mg - </a:t>
                </a:r>
                <a:r>
                  <a:rPr lang="en-US" sz="2000" b="1" i="1" dirty="0" err="1" smtClean="0">
                    <a:latin typeface="Times New Roman" pitchFamily="18" charset="0"/>
                    <a:cs typeface="Times New Roman" pitchFamily="18" charset="0"/>
                  </a:rPr>
                  <a:t>Fsin</a:t>
                </a:r>
                <a:r>
                  <a:rPr lang="el-GR" sz="2000" b="1" i="1" dirty="0" smtClean="0">
                    <a:latin typeface="Times New Roman" pitchFamily="18" charset="0"/>
                    <a:cs typeface="Times New Roman" pitchFamily="18" charset="0"/>
                  </a:rPr>
                  <a:t>α</a:t>
                </a:r>
                <a:r>
                  <a:rPr lang="en-US" sz="2000" b="1" i="1" dirty="0" smtClean="0">
                    <a:latin typeface="Times New Roman" pitchFamily="18" charset="0"/>
                    <a:cs typeface="Times New Roman" pitchFamily="18" charset="0"/>
                  </a:rPr>
                  <a:t> </a:t>
                </a:r>
                <a:endParaRPr lang="en-US" sz="2000" b="1" i="1" dirty="0">
                  <a:latin typeface="Times New Roman" pitchFamily="18" charset="0"/>
                  <a:cs typeface="Times New Roman" pitchFamily="18" charset="0"/>
                </a:endParaRPr>
              </a:p>
              <a:p>
                <a:pPr>
                  <a:defRPr/>
                </a:pPr>
                <a:r>
                  <a:rPr lang="en-US" sz="2000" b="1" i="1" dirty="0" err="1">
                    <a:latin typeface="Times New Roman" pitchFamily="18" charset="0"/>
                    <a:cs typeface="Times New Roman" pitchFamily="18" charset="0"/>
                  </a:rPr>
                  <a:t>Fcos</a:t>
                </a:r>
                <a:r>
                  <a:rPr lang="el-GR" sz="2000" b="1" i="1" dirty="0">
                    <a:latin typeface="Times New Roman" pitchFamily="18" charset="0"/>
                    <a:cs typeface="Times New Roman" pitchFamily="18" charset="0"/>
                  </a:rPr>
                  <a:t>α</a:t>
                </a:r>
                <a:r>
                  <a:rPr lang="en-US" sz="2000" b="1" i="1" dirty="0">
                    <a:latin typeface="Times New Roman" pitchFamily="18" charset="0"/>
                    <a:cs typeface="Times New Roman" pitchFamily="18" charset="0"/>
                  </a:rPr>
                  <a:t> – </a:t>
                </a:r>
                <a:r>
                  <a:rPr lang="el-GR" sz="2000" b="1" i="1" dirty="0">
                    <a:latin typeface="Times New Roman" pitchFamily="18" charset="0"/>
                    <a:cs typeface="Times New Roman" pitchFamily="18" charset="0"/>
                  </a:rPr>
                  <a:t>μ</a:t>
                </a:r>
                <a:r>
                  <a:rPr lang="en-US" sz="2000" b="1" i="1" dirty="0">
                    <a:latin typeface="Times New Roman" pitchFamily="18" charset="0"/>
                    <a:cs typeface="Times New Roman" pitchFamily="18" charset="0"/>
                  </a:rPr>
                  <a:t>(mg - </a:t>
                </a:r>
                <a:r>
                  <a:rPr lang="en-US" sz="2000" b="1" i="1" dirty="0" err="1">
                    <a:latin typeface="Times New Roman" pitchFamily="18" charset="0"/>
                    <a:cs typeface="Times New Roman" pitchFamily="18" charset="0"/>
                  </a:rPr>
                  <a:t>Fsin</a:t>
                </a:r>
                <a:r>
                  <a:rPr lang="el-GR" sz="2000" b="1" i="1" dirty="0">
                    <a:latin typeface="Times New Roman" pitchFamily="18" charset="0"/>
                    <a:cs typeface="Times New Roman" pitchFamily="18" charset="0"/>
                  </a:rPr>
                  <a:t>α</a:t>
                </a:r>
                <a:r>
                  <a:rPr lang="en-US" sz="2000" b="1" i="1" dirty="0">
                    <a:latin typeface="Times New Roman" pitchFamily="18" charset="0"/>
                    <a:cs typeface="Times New Roman" pitchFamily="18" charset="0"/>
                  </a:rPr>
                  <a:t>) = ma </a:t>
                </a:r>
                <a:r>
                  <a:rPr lang="en-US" sz="2000" b="1" i="0">
                    <a:latin typeface="Cambria Math"/>
                    <a:ea typeface="Cambria Math"/>
                    <a:cs typeface="Times New Roman" pitchFamily="18" charset="0"/>
                  </a:rPr>
                  <a:t>→</a:t>
                </a:r>
                <a:r>
                  <a:rPr lang="en-US" sz="2000" b="1" dirty="0"/>
                  <a:t> </a:t>
                </a:r>
                <a:r>
                  <a:rPr lang="en-US" sz="2000" b="1" i="1" dirty="0"/>
                  <a:t>a </a:t>
                </a:r>
                <a:r>
                  <a:rPr lang="en-US" i="1" dirty="0"/>
                  <a:t>= </a:t>
                </a:r>
              </a:p>
            </p:txBody>
          </p:sp>
        </mc:Fallback>
      </mc:AlternateContent>
    </p:spTree>
    <p:extLst>
      <p:ext uri="{BB962C8B-B14F-4D97-AF65-F5344CB8AC3E}">
        <p14:creationId xmlns:p14="http://schemas.microsoft.com/office/powerpoint/2010/main" val="27646284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515E4B66-455C-41B2-B805-A0E6130C9DAE}" type="slidenum">
              <a:rPr lang="en-US" smtClean="0"/>
              <a:t>31</a:t>
            </a:fld>
            <a:endParaRPr lang="en-US"/>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a:rPr>
                          <m:t>𝐹</m:t>
                        </m:r>
                      </m:e>
                    </m:acc>
                  </m:oMath>
                </a14:m>
                <a:r>
                  <a:rPr lang="en-US" dirty="0"/>
                  <a:t> + </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a:rPr>
                          <m:t>𝑁</m:t>
                        </m:r>
                      </m:e>
                    </m:acc>
                    <m:r>
                      <a:rPr lang="en-US" b="0" i="1" smtClean="0">
                        <a:latin typeface="Cambria Math"/>
                      </a:rPr>
                      <m:t>+ </m:t>
                    </m:r>
                    <m:acc>
                      <m:accPr>
                        <m:chr m:val="⃗"/>
                        <m:ctrlPr>
                          <a:rPr lang="en-US" i="1">
                            <a:latin typeface="Cambria Math" panose="02040503050406030204" pitchFamily="18" charset="0"/>
                          </a:rPr>
                        </m:ctrlPr>
                      </m:accPr>
                      <m:e>
                        <m:r>
                          <a:rPr lang="en-US" b="0" i="1" smtClean="0">
                            <a:latin typeface="Cambria Math"/>
                          </a:rPr>
                          <m:t>𝐹𝑚𝑠</m:t>
                        </m:r>
                      </m:e>
                    </m:acc>
                  </m:oMath>
                </a14:m>
                <a:r>
                  <a:rPr lang="en-US" dirty="0"/>
                  <a:t>  + </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a:rPr>
                          <m:t>𝑃</m:t>
                        </m:r>
                      </m:e>
                    </m:acc>
                  </m:oMath>
                </a14:m>
                <a:r>
                  <a:rPr lang="en-US" dirty="0"/>
                  <a:t> = m</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a:rPr>
                          <m:t>𝑎</m:t>
                        </m:r>
                      </m:e>
                    </m:acc>
                  </m:oMath>
                </a14:m>
                <a:endParaRPr lang="en-US" dirty="0"/>
              </a:p>
              <a:p>
                <a:r>
                  <a:rPr lang="en-US" dirty="0"/>
                  <a:t>Ox: F - </a:t>
                </a:r>
                <a:r>
                  <a:rPr lang="en-US" dirty="0" err="1"/>
                  <a:t>mgsin</a:t>
                </a:r>
                <a:r>
                  <a:rPr lang="el-GR" dirty="0"/>
                  <a:t>θ</a:t>
                </a:r>
                <a:r>
                  <a:rPr lang="en-US" dirty="0"/>
                  <a:t> - </a:t>
                </a:r>
                <a:r>
                  <a:rPr lang="en-US" dirty="0" err="1"/>
                  <a:t>Fms</a:t>
                </a:r>
                <a:r>
                  <a:rPr lang="en-US" dirty="0"/>
                  <a:t> = ma = 0</a:t>
                </a:r>
              </a:p>
              <a:p>
                <a:pPr marL="285750" indent="-285750">
                  <a:buFont typeface="Arial" pitchFamily="34" charset="0"/>
                  <a:buChar char="•"/>
                </a:pPr>
                <a:r>
                  <a:rPr lang="en-US" b="1" dirty="0"/>
                  <a:t>F =  </a:t>
                </a:r>
                <a:r>
                  <a:rPr lang="en-US" b="1" dirty="0" err="1"/>
                  <a:t>mgsin</a:t>
                </a:r>
                <a:r>
                  <a:rPr lang="el-GR" b="1" dirty="0"/>
                  <a:t>θ</a:t>
                </a:r>
                <a:r>
                  <a:rPr lang="en-US" b="1" dirty="0"/>
                  <a:t> + </a:t>
                </a:r>
                <a:r>
                  <a:rPr lang="el-GR" b="1" dirty="0"/>
                  <a:t>μ</a:t>
                </a:r>
                <a:r>
                  <a:rPr lang="en-US" b="1" dirty="0" err="1"/>
                  <a:t>mgcos</a:t>
                </a:r>
                <a:r>
                  <a:rPr lang="el-GR" b="1" dirty="0"/>
                  <a:t>θ</a:t>
                </a:r>
                <a:r>
                  <a:rPr lang="en-US" b="1" dirty="0"/>
                  <a:t> </a:t>
                </a:r>
                <a:r>
                  <a:rPr lang="en-US" dirty="0"/>
                  <a:t>= mg(sin</a:t>
                </a:r>
                <a:r>
                  <a:rPr lang="el-GR" dirty="0"/>
                  <a:t>θ</a:t>
                </a:r>
                <a:r>
                  <a:rPr lang="en-US" dirty="0"/>
                  <a:t> + </a:t>
                </a:r>
                <a:r>
                  <a:rPr lang="el-GR" dirty="0"/>
                  <a:t>μ</a:t>
                </a:r>
                <a:r>
                  <a:rPr lang="en-US" dirty="0" err="1"/>
                  <a:t>cos</a:t>
                </a:r>
                <a:r>
                  <a:rPr lang="el-GR" dirty="0"/>
                  <a:t>θ</a:t>
                </a:r>
                <a:r>
                  <a:rPr lang="en-US" dirty="0"/>
                  <a:t> )</a:t>
                </a:r>
              </a:p>
              <a:p>
                <a:pPr marL="285750" indent="-285750">
                  <a:buFont typeface="Arial" pitchFamily="34" charset="0"/>
                  <a:buChar char="•"/>
                </a:pPr>
                <a:r>
                  <a:rPr lang="en-US" b="1" dirty="0"/>
                  <a:t> </a:t>
                </a:r>
                <a:r>
                  <a:rPr lang="en-US" dirty="0" err="1"/>
                  <a:t>vật</a:t>
                </a:r>
                <a:r>
                  <a:rPr lang="en-US" dirty="0"/>
                  <a:t> </a:t>
                </a:r>
                <a:r>
                  <a:rPr lang="en-US" dirty="0" err="1"/>
                  <a:t>đứng</a:t>
                </a:r>
                <a:r>
                  <a:rPr lang="en-US" dirty="0"/>
                  <a:t> </a:t>
                </a:r>
                <a:r>
                  <a:rPr lang="en-US" dirty="0" err="1"/>
                  <a:t>yên</a:t>
                </a:r>
                <a:r>
                  <a:rPr lang="en-US" dirty="0"/>
                  <a:t> </a:t>
                </a:r>
                <a:r>
                  <a:rPr lang="en-US" dirty="0" err="1"/>
                  <a:t>trên</a:t>
                </a:r>
                <a:r>
                  <a:rPr lang="en-US" dirty="0"/>
                  <a:t> mf </a:t>
                </a:r>
                <a:r>
                  <a:rPr lang="en-US" dirty="0" err="1"/>
                  <a:t>nghiêng</a:t>
                </a:r>
                <a:r>
                  <a:rPr lang="en-US" dirty="0"/>
                  <a:t>: </a:t>
                </a:r>
                <a:r>
                  <a:rPr lang="en-US" b="1" dirty="0"/>
                  <a:t>F =  </a:t>
                </a:r>
                <a:r>
                  <a:rPr lang="en-US" b="1" dirty="0" err="1"/>
                  <a:t>mgsin</a:t>
                </a:r>
                <a:r>
                  <a:rPr lang="el-GR" b="1" dirty="0"/>
                  <a:t>θ</a:t>
                </a:r>
                <a:r>
                  <a:rPr lang="en-US" b="1" dirty="0"/>
                  <a:t> + </a:t>
                </a:r>
                <a:r>
                  <a:rPr lang="el-GR" b="1" dirty="0"/>
                  <a:t>μ</a:t>
                </a:r>
                <a:r>
                  <a:rPr lang="en-US" b="1" dirty="0" err="1"/>
                  <a:t>mgcos</a:t>
                </a:r>
                <a:r>
                  <a:rPr lang="el-GR" b="1" dirty="0"/>
                  <a:t>θ</a:t>
                </a:r>
                <a:r>
                  <a:rPr lang="en-US" b="1" dirty="0"/>
                  <a:t> </a:t>
                </a:r>
                <a:endParaRPr lang="en-US" dirty="0"/>
              </a:p>
            </p:txBody>
          </p:sp>
        </mc:Choice>
        <mc:Fallback xmlns="">
          <p:sp>
            <p:nvSpPr>
              <p:cNvPr id="5" name="Notes Placeholder 4"/>
              <p:cNvSpPr>
                <a:spLocks noGrp="1"/>
              </p:cNvSpPr>
              <p:nvPr>
                <p:ph type="body" idx="1"/>
              </p:nvPr>
            </p:nvSpPr>
            <p:spPr>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0" i="0" smtClean="0">
                    <a:latin typeface="Cambria Math"/>
                  </a:rPr>
                  <a:t>𝐹 ⃗</a:t>
                </a:r>
                <a:r>
                  <a:rPr lang="en-US" dirty="0" smtClean="0"/>
                  <a:t> + </a:t>
                </a:r>
                <a:r>
                  <a:rPr lang="en-US" b="0" i="0" smtClean="0">
                    <a:latin typeface="Cambria Math"/>
                  </a:rPr>
                  <a:t>𝑁</a:t>
                </a:r>
                <a:r>
                  <a:rPr lang="en-US" b="0" i="0">
                    <a:latin typeface="Cambria Math"/>
                  </a:rPr>
                  <a:t> ⃗</a:t>
                </a:r>
                <a:r>
                  <a:rPr lang="en-US" b="0" i="0" smtClean="0">
                    <a:latin typeface="Cambria Math"/>
                  </a:rPr>
                  <a:t>+ </a:t>
                </a:r>
                <a:r>
                  <a:rPr lang="en-US" i="0">
                    <a:latin typeface="Cambria Math"/>
                  </a:rPr>
                  <a:t>(</a:t>
                </a:r>
                <a:r>
                  <a:rPr lang="en-US" b="0" i="0" smtClean="0">
                    <a:latin typeface="Cambria Math"/>
                  </a:rPr>
                  <a:t>𝐹𝑚𝑠</a:t>
                </a:r>
                <a:r>
                  <a:rPr lang="en-US" b="0" i="0">
                    <a:latin typeface="Cambria Math"/>
                  </a:rPr>
                  <a:t>) ⃗</a:t>
                </a:r>
                <a:r>
                  <a:rPr lang="en-US" dirty="0" smtClean="0"/>
                  <a:t>  + </a:t>
                </a:r>
                <a:r>
                  <a:rPr lang="en-US" b="0" i="0" smtClean="0">
                    <a:latin typeface="Cambria Math"/>
                  </a:rPr>
                  <a:t>𝑃</a:t>
                </a:r>
                <a:r>
                  <a:rPr lang="en-US" b="0" i="0">
                    <a:latin typeface="Cambria Math"/>
                  </a:rPr>
                  <a:t> ⃗</a:t>
                </a:r>
                <a:r>
                  <a:rPr lang="en-US" dirty="0" smtClean="0"/>
                  <a:t> = m</a:t>
                </a:r>
                <a:r>
                  <a:rPr lang="en-US" b="0" i="0" smtClean="0">
                    <a:latin typeface="Cambria Math"/>
                  </a:rPr>
                  <a:t>𝑎 ⃗</a:t>
                </a:r>
                <a:endParaRPr lang="en-US" dirty="0" smtClean="0"/>
              </a:p>
              <a:p>
                <a:r>
                  <a:rPr lang="en-US" dirty="0" smtClean="0"/>
                  <a:t>Ox: F </a:t>
                </a:r>
                <a:r>
                  <a:rPr lang="en-US" dirty="0"/>
                  <a:t>-</a:t>
                </a:r>
                <a:r>
                  <a:rPr lang="en-US" dirty="0" smtClean="0"/>
                  <a:t> </a:t>
                </a:r>
                <a:r>
                  <a:rPr lang="en-US" dirty="0" err="1" smtClean="0"/>
                  <a:t>mgsin</a:t>
                </a:r>
                <a:r>
                  <a:rPr lang="el-GR" dirty="0" smtClean="0"/>
                  <a:t>θ</a:t>
                </a:r>
                <a:r>
                  <a:rPr lang="en-US" dirty="0"/>
                  <a:t> </a:t>
                </a:r>
                <a:r>
                  <a:rPr lang="en-US" dirty="0" smtClean="0"/>
                  <a:t>- </a:t>
                </a:r>
                <a:r>
                  <a:rPr lang="en-US" dirty="0" err="1" smtClean="0"/>
                  <a:t>Fms</a:t>
                </a:r>
                <a:r>
                  <a:rPr lang="en-US" dirty="0" smtClean="0"/>
                  <a:t> = ma = 0</a:t>
                </a:r>
              </a:p>
              <a:p>
                <a:pPr marL="285750" indent="-285750">
                  <a:buFont typeface="Arial" pitchFamily="34" charset="0"/>
                  <a:buChar char="•"/>
                </a:pPr>
                <a:r>
                  <a:rPr lang="en-US" b="1" dirty="0" smtClean="0"/>
                  <a:t>F =  </a:t>
                </a:r>
                <a:r>
                  <a:rPr lang="en-US" b="1" dirty="0" err="1"/>
                  <a:t>mgsin</a:t>
                </a:r>
                <a:r>
                  <a:rPr lang="el-GR" b="1" dirty="0" smtClean="0"/>
                  <a:t>θ</a:t>
                </a:r>
                <a:r>
                  <a:rPr lang="en-US" b="1" dirty="0" smtClean="0"/>
                  <a:t> + </a:t>
                </a:r>
                <a:r>
                  <a:rPr lang="el-GR" b="1" dirty="0" smtClean="0"/>
                  <a:t>μ</a:t>
                </a:r>
                <a:r>
                  <a:rPr lang="en-US" b="1" dirty="0" err="1" smtClean="0"/>
                  <a:t>mgcos</a:t>
                </a:r>
                <a:r>
                  <a:rPr lang="el-GR" b="1" dirty="0" smtClean="0"/>
                  <a:t>θ</a:t>
                </a:r>
                <a:r>
                  <a:rPr lang="en-US" b="1" dirty="0"/>
                  <a:t> </a:t>
                </a:r>
                <a:r>
                  <a:rPr lang="en-US" dirty="0" smtClean="0"/>
                  <a:t>= mg(sin</a:t>
                </a:r>
                <a:r>
                  <a:rPr lang="el-GR" dirty="0"/>
                  <a:t>θ</a:t>
                </a:r>
                <a:r>
                  <a:rPr lang="en-US" dirty="0"/>
                  <a:t> + </a:t>
                </a:r>
                <a:r>
                  <a:rPr lang="el-GR" dirty="0" smtClean="0"/>
                  <a:t>μ</a:t>
                </a:r>
                <a:r>
                  <a:rPr lang="en-US" dirty="0" err="1" smtClean="0"/>
                  <a:t>cos</a:t>
                </a:r>
                <a:r>
                  <a:rPr lang="el-GR" dirty="0"/>
                  <a:t>θ</a:t>
                </a:r>
                <a:r>
                  <a:rPr lang="en-US" dirty="0" smtClean="0"/>
                  <a:t> )</a:t>
                </a:r>
              </a:p>
              <a:p>
                <a:pPr marL="285750" indent="-285750">
                  <a:buFont typeface="Arial" pitchFamily="34" charset="0"/>
                  <a:buChar char="•"/>
                </a:pPr>
                <a:r>
                  <a:rPr lang="en-US" b="1" dirty="0" smtClean="0"/>
                  <a:t> </a:t>
                </a:r>
                <a:r>
                  <a:rPr lang="en-US" dirty="0" err="1" smtClean="0"/>
                  <a:t>vật</a:t>
                </a:r>
                <a:r>
                  <a:rPr lang="en-US" dirty="0" smtClean="0"/>
                  <a:t> </a:t>
                </a:r>
                <a:r>
                  <a:rPr lang="en-US" dirty="0" err="1" smtClean="0"/>
                  <a:t>đứng</a:t>
                </a:r>
                <a:r>
                  <a:rPr lang="en-US" dirty="0" smtClean="0"/>
                  <a:t> </a:t>
                </a:r>
                <a:r>
                  <a:rPr lang="en-US" dirty="0" err="1" smtClean="0"/>
                  <a:t>yên</a:t>
                </a:r>
                <a:r>
                  <a:rPr lang="en-US" dirty="0" smtClean="0"/>
                  <a:t> </a:t>
                </a:r>
                <a:r>
                  <a:rPr lang="en-US" dirty="0" err="1" smtClean="0"/>
                  <a:t>trên</a:t>
                </a:r>
                <a:r>
                  <a:rPr lang="en-US" dirty="0" smtClean="0"/>
                  <a:t> mf </a:t>
                </a:r>
                <a:r>
                  <a:rPr lang="en-US" dirty="0" err="1" smtClean="0"/>
                  <a:t>nghiêng</a:t>
                </a:r>
                <a:r>
                  <a:rPr lang="en-US" dirty="0" smtClean="0"/>
                  <a:t>: </a:t>
                </a:r>
                <a:r>
                  <a:rPr lang="en-US" b="1" dirty="0"/>
                  <a:t>F =  </a:t>
                </a:r>
                <a:r>
                  <a:rPr lang="en-US" b="1" dirty="0" err="1"/>
                  <a:t>mgsin</a:t>
                </a:r>
                <a:r>
                  <a:rPr lang="el-GR" b="1" dirty="0"/>
                  <a:t>θ</a:t>
                </a:r>
                <a:r>
                  <a:rPr lang="en-US" b="1" dirty="0"/>
                  <a:t> + </a:t>
                </a:r>
                <a:r>
                  <a:rPr lang="el-GR" b="1" dirty="0"/>
                  <a:t>μ</a:t>
                </a:r>
                <a:r>
                  <a:rPr lang="en-US" b="1" dirty="0" err="1"/>
                  <a:t>mgcos</a:t>
                </a:r>
                <a:r>
                  <a:rPr lang="el-GR" b="1" dirty="0"/>
                  <a:t>θ</a:t>
                </a:r>
                <a:r>
                  <a:rPr lang="en-US" b="1" dirty="0"/>
                  <a:t> </a:t>
                </a:r>
                <a:endParaRPr lang="en-US" dirty="0"/>
              </a:p>
            </p:txBody>
          </p:sp>
        </mc:Fallback>
      </mc:AlternateContent>
    </p:spTree>
    <p:extLst>
      <p:ext uri="{BB962C8B-B14F-4D97-AF65-F5344CB8AC3E}">
        <p14:creationId xmlns:p14="http://schemas.microsoft.com/office/powerpoint/2010/main" val="203984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515E4B66-455C-41B2-B805-A0E6130C9DAE}" type="slidenum">
              <a:rPr lang="en-US" smtClean="0"/>
              <a:t>39</a:t>
            </a:fld>
            <a:endParaRPr lang="en-US"/>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xfrm>
                <a:off x="685800" y="5867400"/>
                <a:ext cx="5105400" cy="2590800"/>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a:rPr lang="en-US" sz="2400" b="1" i="1" smtClean="0">
                        <a:latin typeface="Cambria Math"/>
                        <a:ea typeface="Cambria Math"/>
                      </a:rPr>
                      <m:t>∆</m:t>
                    </m:r>
                    <m:r>
                      <a:rPr lang="en-US" sz="2400" b="1" i="1" smtClean="0">
                        <a:latin typeface="Cambria Math"/>
                        <a:ea typeface="Cambria Math"/>
                      </a:rPr>
                      <m:t>𝒑</m:t>
                    </m:r>
                    <m:r>
                      <a:rPr lang="en-US" sz="2400" b="1" i="1" smtClean="0">
                        <a:latin typeface="Cambria Math"/>
                        <a:ea typeface="Cambria Math"/>
                      </a:rPr>
                      <m:t>= </m:t>
                    </m:r>
                  </m:oMath>
                </a14:m>
                <a:r>
                  <a:rPr lang="en-US" sz="2400" b="1" dirty="0"/>
                  <a:t>p2 – p1 = mv2 – mv1 = F.</a:t>
                </a:r>
                <a14:m>
                  <m:oMath xmlns:m="http://schemas.openxmlformats.org/officeDocument/2006/math">
                    <m:r>
                      <a:rPr lang="en-US" sz="2400" b="1" i="1" smtClean="0">
                        <a:latin typeface="Cambria Math"/>
                        <a:ea typeface="Cambria Math"/>
                      </a:rPr>
                      <m:t>∆</m:t>
                    </m:r>
                    <m:r>
                      <a:rPr lang="en-US" sz="2400" b="1" i="1" smtClean="0">
                        <a:latin typeface="Cambria Math"/>
                        <a:ea typeface="Cambria Math"/>
                      </a:rPr>
                      <m:t>𝒕</m:t>
                    </m:r>
                  </m:oMath>
                </a14:m>
                <a:endParaRPr lang="en-US" sz="2400" b="1" dirty="0"/>
              </a:p>
            </p:txBody>
          </p:sp>
        </mc:Choice>
        <mc:Fallback xmlns="">
          <p:sp>
            <p:nvSpPr>
              <p:cNvPr id="5" name="Notes Placeholder 4"/>
              <p:cNvSpPr>
                <a:spLocks noGrp="1"/>
              </p:cNvSpPr>
              <p:nvPr>
                <p:ph type="body" idx="1"/>
              </p:nvPr>
            </p:nvSpPr>
            <p:spPr>
              <a:xfrm>
                <a:off x="685800" y="5867400"/>
                <a:ext cx="5105400" cy="2590800"/>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i="0" smtClean="0">
                    <a:latin typeface="Cambria Math"/>
                    <a:ea typeface="Cambria Math"/>
                  </a:rPr>
                  <a:t>∆𝒑= </a:t>
                </a:r>
                <a:r>
                  <a:rPr lang="en-US" sz="2400" b="1" dirty="0" smtClean="0"/>
                  <a:t>p2 – p1 = mv2 – mv1 = F.</a:t>
                </a:r>
                <a:r>
                  <a:rPr lang="en-US" sz="2400" b="1" i="0" smtClean="0">
                    <a:latin typeface="Cambria Math"/>
                    <a:ea typeface="Cambria Math"/>
                  </a:rPr>
                  <a:t>∆𝒕</a:t>
                </a:r>
                <a:endParaRPr lang="en-US" sz="2400" b="1" dirty="0"/>
              </a:p>
            </p:txBody>
          </p:sp>
        </mc:Fallback>
      </mc:AlternateContent>
    </p:spTree>
    <p:extLst>
      <p:ext uri="{BB962C8B-B14F-4D97-AF65-F5344CB8AC3E}">
        <p14:creationId xmlns:p14="http://schemas.microsoft.com/office/powerpoint/2010/main" val="22022852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515E4B66-455C-41B2-B805-A0E6130C9DAE}" type="slidenum">
              <a:rPr lang="en-US" smtClean="0"/>
              <a:t>40</a:t>
            </a:fld>
            <a:endParaRPr lang="en-US"/>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xfrm>
                <a:off x="685800" y="4343400"/>
                <a:ext cx="5334000" cy="1752600"/>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a:rPr lang="en-US" sz="2400" b="1" i="1" smtClean="0">
                        <a:latin typeface="Cambria Math"/>
                        <a:ea typeface="Cambria Math"/>
                      </a:rPr>
                      <m:t>∆</m:t>
                    </m:r>
                    <m:r>
                      <a:rPr lang="en-US" sz="2400" b="1" i="1" smtClean="0">
                        <a:latin typeface="Cambria Math"/>
                        <a:ea typeface="Cambria Math"/>
                      </a:rPr>
                      <m:t>𝒑</m:t>
                    </m:r>
                    <m:r>
                      <a:rPr lang="en-US" sz="2400" b="1" i="1" smtClean="0">
                        <a:latin typeface="Cambria Math"/>
                        <a:ea typeface="Cambria Math"/>
                      </a:rPr>
                      <m:t>= </m:t>
                    </m:r>
                  </m:oMath>
                </a14:m>
                <a:r>
                  <a:rPr lang="en-US" sz="2400" b="1" dirty="0"/>
                  <a:t>p2 – p1 = mg.</a:t>
                </a:r>
                <a14:m>
                  <m:oMath xmlns:m="http://schemas.openxmlformats.org/officeDocument/2006/math">
                    <m:r>
                      <a:rPr lang="en-US" sz="2400" b="1" i="1" smtClean="0">
                        <a:latin typeface="Cambria Math"/>
                        <a:ea typeface="Cambria Math"/>
                      </a:rPr>
                      <m:t>∆</m:t>
                    </m:r>
                    <m:r>
                      <a:rPr lang="en-US" sz="2400" b="1" i="1" smtClean="0">
                        <a:latin typeface="Cambria Math"/>
                        <a:ea typeface="Cambria Math"/>
                      </a:rPr>
                      <m:t>𝒕</m:t>
                    </m:r>
                  </m:oMath>
                </a14:m>
                <a:endParaRPr lang="en-US" sz="2400" b="1" dirty="0"/>
              </a:p>
            </p:txBody>
          </p:sp>
        </mc:Choice>
        <mc:Fallback xmlns="">
          <p:sp>
            <p:nvSpPr>
              <p:cNvPr id="5" name="Notes Placeholder 4"/>
              <p:cNvSpPr>
                <a:spLocks noGrp="1"/>
              </p:cNvSpPr>
              <p:nvPr>
                <p:ph type="body" idx="1"/>
              </p:nvPr>
            </p:nvSpPr>
            <p:spPr>
              <a:xfrm>
                <a:off x="685800" y="4343400"/>
                <a:ext cx="5334000" cy="1752600"/>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i="0" smtClean="0">
                    <a:latin typeface="Cambria Math"/>
                    <a:ea typeface="Cambria Math"/>
                  </a:rPr>
                  <a:t>∆𝒑= </a:t>
                </a:r>
                <a:r>
                  <a:rPr lang="en-US" sz="2400" b="1" dirty="0" smtClean="0"/>
                  <a:t>p2 – p1 = </a:t>
                </a:r>
                <a:r>
                  <a:rPr lang="en-US" sz="2400" b="1" dirty="0" smtClean="0"/>
                  <a:t>mg</a:t>
                </a:r>
                <a:r>
                  <a:rPr lang="en-US" sz="2400" b="1" dirty="0" smtClean="0"/>
                  <a:t>.</a:t>
                </a:r>
                <a:r>
                  <a:rPr lang="en-US" sz="2400" b="1" i="0" smtClean="0">
                    <a:latin typeface="Cambria Math"/>
                    <a:ea typeface="Cambria Math"/>
                  </a:rPr>
                  <a:t>∆𝒕</a:t>
                </a:r>
                <a:endParaRPr lang="en-US" sz="2400" b="1" dirty="0"/>
              </a:p>
            </p:txBody>
          </p:sp>
        </mc:Fallback>
      </mc:AlternateContent>
    </p:spTree>
    <p:extLst>
      <p:ext uri="{BB962C8B-B14F-4D97-AF65-F5344CB8AC3E}">
        <p14:creationId xmlns:p14="http://schemas.microsoft.com/office/powerpoint/2010/main" val="26816395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515E4B66-455C-41B2-B805-A0E6130C9DAE}" type="slidenum">
              <a:rPr lang="en-US" smtClean="0"/>
              <a:t>41</a:t>
            </a:fld>
            <a:endParaRPr lang="en-US" dirty="0"/>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𝑣</m:t>
                        </m:r>
                        <m:r>
                          <a:rPr lang="en-US" b="0" i="1" smtClean="0">
                            <a:latin typeface="Cambria Math"/>
                          </a:rPr>
                          <m:t>2</m:t>
                        </m:r>
                        <m:r>
                          <a:rPr lang="en-US" b="0" i="1" smtClean="0">
                            <a:latin typeface="Cambria Math"/>
                          </a:rPr>
                          <m:t>²</m:t>
                        </m:r>
                        <m:r>
                          <a:rPr lang="en-US" b="0" i="1" smtClean="0">
                            <a:latin typeface="Cambria Math"/>
                          </a:rPr>
                          <m:t> −</m:t>
                        </m:r>
                        <m:r>
                          <a:rPr lang="en-US" b="0" i="1" smtClean="0">
                            <a:latin typeface="Cambria Math"/>
                          </a:rPr>
                          <m:t>𝑣</m:t>
                        </m:r>
                        <m:r>
                          <a:rPr lang="en-US" b="0" i="1" smtClean="0">
                            <a:latin typeface="Cambria Math"/>
                          </a:rPr>
                          <m:t>1</m:t>
                        </m:r>
                        <m:r>
                          <a:rPr lang="en-US" b="0" i="1" smtClean="0">
                            <a:latin typeface="Cambria Math"/>
                          </a:rPr>
                          <m:t>²</m:t>
                        </m:r>
                      </m:num>
                      <m:den>
                        <m:r>
                          <a:rPr lang="en-US" b="0" i="1" smtClean="0">
                            <a:latin typeface="Cambria Math"/>
                          </a:rPr>
                          <m:t>2</m:t>
                        </m:r>
                        <m:r>
                          <a:rPr lang="en-US" b="0" i="1" smtClean="0">
                            <a:latin typeface="Cambria Math"/>
                          </a:rPr>
                          <m:t>𝑠</m:t>
                        </m:r>
                      </m:den>
                    </m:f>
                  </m:oMath>
                </a14:m>
                <a:r>
                  <a:rPr lang="en-US" dirty="0"/>
                  <a:t> = 1,5 m/s²</a:t>
                </a:r>
              </a:p>
              <a:p>
                <a:pPr algn="ctr"/>
                <a14:m>
                  <m:oMath xmlns:m="http://schemas.openxmlformats.org/officeDocument/2006/math">
                    <m:r>
                      <a:rPr lang="en-US" i="1" smtClean="0">
                        <a:latin typeface="Cambria Math"/>
                        <a:ea typeface="Cambria Math"/>
                      </a:rPr>
                      <m:t>∆</m:t>
                    </m:r>
                    <m:r>
                      <a:rPr lang="en-US" b="0" i="1" smtClean="0">
                        <a:latin typeface="Cambria Math"/>
                        <a:ea typeface="Cambria Math"/>
                      </a:rPr>
                      <m:t>𝑡</m:t>
                    </m:r>
                    <m:r>
                      <a:rPr lang="en-US" b="0" i="1" smtClean="0">
                        <a:latin typeface="Cambria Math"/>
                        <a:ea typeface="Cambria Math"/>
                      </a:rPr>
                      <m:t> </m:t>
                    </m:r>
                  </m:oMath>
                </a14:m>
                <a:r>
                  <a:rPr lang="en-US" dirty="0"/>
                  <a:t>=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𝑣</m:t>
                        </m:r>
                        <m:r>
                          <a:rPr lang="en-US" b="0" i="1" smtClean="0">
                            <a:latin typeface="Cambria Math"/>
                          </a:rPr>
                          <m:t>2</m:t>
                        </m:r>
                        <m:r>
                          <a:rPr lang="en-US" b="0" i="1" smtClean="0">
                            <a:latin typeface="Cambria Math"/>
                          </a:rPr>
                          <m:t> −</m:t>
                        </m:r>
                        <m:r>
                          <a:rPr lang="en-US" b="0" i="1" smtClean="0">
                            <a:latin typeface="Cambria Math"/>
                          </a:rPr>
                          <m:t>𝑣</m:t>
                        </m:r>
                        <m:r>
                          <a:rPr lang="en-US" b="0" i="1" smtClean="0">
                            <a:latin typeface="Cambria Math"/>
                          </a:rPr>
                          <m:t>1</m:t>
                        </m:r>
                      </m:num>
                      <m:den>
                        <m:r>
                          <a:rPr lang="en-US" b="0" i="1" smtClean="0">
                            <a:latin typeface="Cambria Math"/>
                          </a:rPr>
                          <m:t>𝑎</m:t>
                        </m:r>
                      </m:den>
                    </m:f>
                  </m:oMath>
                </a14:m>
                <a:endParaRPr lang="en-US" dirty="0"/>
              </a:p>
              <a:p>
                <a:pPr algn="ctr"/>
                <a:r>
                  <a:rPr lang="en-US" dirty="0"/>
                  <a:t>mv2 – mv1 =  (F - Fc).</a:t>
                </a:r>
                <a:r>
                  <a:rPr lang="en-US" dirty="0">
                    <a:ea typeface="Cambria Math"/>
                  </a:rPr>
                  <a:t> </a:t>
                </a:r>
                <a14:m>
                  <m:oMath xmlns:m="http://schemas.openxmlformats.org/officeDocument/2006/math">
                    <m:r>
                      <a:rPr lang="en-US" i="1">
                        <a:latin typeface="Cambria Math"/>
                        <a:ea typeface="Cambria Math"/>
                      </a:rPr>
                      <m:t>∆</m:t>
                    </m:r>
                    <m:r>
                      <a:rPr lang="en-US" i="1">
                        <a:latin typeface="Cambria Math"/>
                        <a:ea typeface="Cambria Math"/>
                      </a:rPr>
                      <m:t>𝑡</m:t>
                    </m:r>
                    <m:r>
                      <a:rPr lang="en-US" i="1">
                        <a:latin typeface="Cambria Math"/>
                        <a:ea typeface="Cambria Math"/>
                      </a:rPr>
                      <m:t> </m:t>
                    </m:r>
                  </m:oMath>
                </a14:m>
                <a:endParaRPr lang="en-US" dirty="0"/>
              </a:p>
              <a:p>
                <a:pPr algn="ctr"/>
                <a14:m>
                  <m:oMath xmlns:m="http://schemas.openxmlformats.org/officeDocument/2006/math">
                    <m:r>
                      <a:rPr lang="en-US" i="1" smtClean="0">
                        <a:latin typeface="Cambria Math"/>
                        <a:ea typeface="Cambria Math"/>
                      </a:rPr>
                      <m:t>→</m:t>
                    </m:r>
                    <m:r>
                      <a:rPr lang="en-US" b="0" i="1" smtClean="0">
                        <a:latin typeface="Cambria Math"/>
                        <a:ea typeface="Cambria Math"/>
                      </a:rPr>
                      <m:t>𝐹</m:t>
                    </m:r>
                  </m:oMath>
                </a14:m>
                <a:r>
                  <a:rPr lang="en-US" dirty="0"/>
                  <a:t> = ...</a:t>
                </a:r>
              </a:p>
            </p:txBody>
          </p:sp>
        </mc:Choice>
        <mc:Fallback xmlns="">
          <p:sp>
            <p:nvSpPr>
              <p:cNvPr id="5" name="Notes Placeholder 4"/>
              <p:cNvSpPr>
                <a:spLocks noGrp="1"/>
              </p:cNvSpPr>
              <p:nvPr>
                <p:ph type="body" idx="1"/>
              </p:nvPr>
            </p:nvSpPr>
            <p:spPr>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a = </a:t>
                </a:r>
                <a:r>
                  <a:rPr lang="en-US" i="0" smtClean="0">
                    <a:latin typeface="Cambria Math"/>
                  </a:rPr>
                  <a:t>(</a:t>
                </a:r>
                <a:r>
                  <a:rPr lang="en-US" b="0" i="0" smtClean="0">
                    <a:latin typeface="Cambria Math"/>
                  </a:rPr>
                  <a:t>𝑣2² −𝑣1²)/2𝑠</a:t>
                </a:r>
                <a:r>
                  <a:rPr lang="en-US" dirty="0" smtClean="0"/>
                  <a:t> = 1,5 m/s²</a:t>
                </a:r>
              </a:p>
              <a:p>
                <a:pPr algn="ctr"/>
                <a:r>
                  <a:rPr lang="en-US" i="0" smtClean="0">
                    <a:latin typeface="Cambria Math"/>
                    <a:ea typeface="Cambria Math"/>
                  </a:rPr>
                  <a:t>∆</a:t>
                </a:r>
                <a:r>
                  <a:rPr lang="en-US" b="0" i="0" smtClean="0">
                    <a:latin typeface="Cambria Math"/>
                    <a:ea typeface="Cambria Math"/>
                  </a:rPr>
                  <a:t>𝑡 </a:t>
                </a:r>
                <a:r>
                  <a:rPr lang="en-US" dirty="0" smtClean="0"/>
                  <a:t>= </a:t>
                </a:r>
                <a:r>
                  <a:rPr lang="en-US" i="0" smtClean="0">
                    <a:latin typeface="Cambria Math"/>
                  </a:rPr>
                  <a:t>(</a:t>
                </a:r>
                <a:r>
                  <a:rPr lang="en-US" b="0" i="0" smtClean="0">
                    <a:latin typeface="Cambria Math"/>
                  </a:rPr>
                  <a:t>𝑣2 −𝑣1)/𝑎</a:t>
                </a:r>
                <a:endParaRPr lang="en-US" dirty="0" smtClean="0"/>
              </a:p>
              <a:p>
                <a:pPr algn="ctr"/>
                <a:r>
                  <a:rPr lang="en-US" dirty="0"/>
                  <a:t>m</a:t>
                </a:r>
                <a:r>
                  <a:rPr lang="en-US" dirty="0" smtClean="0"/>
                  <a:t>v2 – mv1 =  (F - Fc).</a:t>
                </a:r>
                <a:r>
                  <a:rPr lang="en-US" dirty="0">
                    <a:ea typeface="Cambria Math"/>
                  </a:rPr>
                  <a:t> </a:t>
                </a:r>
                <a:r>
                  <a:rPr lang="en-US" i="0">
                    <a:latin typeface="Cambria Math"/>
                    <a:ea typeface="Cambria Math"/>
                  </a:rPr>
                  <a:t>∆𝑡 </a:t>
                </a:r>
                <a:endParaRPr lang="en-US" dirty="0" smtClean="0"/>
              </a:p>
              <a:p>
                <a:pPr algn="ctr"/>
                <a:r>
                  <a:rPr lang="en-US" i="0" smtClean="0">
                    <a:latin typeface="Cambria Math"/>
                    <a:ea typeface="Cambria Math"/>
                  </a:rPr>
                  <a:t>→</a:t>
                </a:r>
                <a:r>
                  <a:rPr lang="en-US" b="0" i="0" smtClean="0">
                    <a:latin typeface="Cambria Math"/>
                    <a:ea typeface="Cambria Math"/>
                  </a:rPr>
                  <a:t>𝐹</a:t>
                </a:r>
                <a:r>
                  <a:rPr lang="en-US" dirty="0" smtClean="0"/>
                  <a:t> = ...</a:t>
                </a:r>
                <a:endParaRPr lang="en-US" dirty="0"/>
              </a:p>
            </p:txBody>
          </p:sp>
        </mc:Fallback>
      </mc:AlternateContent>
    </p:spTree>
    <p:extLst>
      <p:ext uri="{BB962C8B-B14F-4D97-AF65-F5344CB8AC3E}">
        <p14:creationId xmlns:p14="http://schemas.microsoft.com/office/powerpoint/2010/main" val="23529083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515E4B66-455C-41B2-B805-A0E6130C9DAE}" type="slidenum">
              <a:rPr lang="en-US" smtClean="0"/>
              <a:t>46</a:t>
            </a:fld>
            <a:endParaRPr lang="en-US"/>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prstGeom prst="wedgeEllipseCallout">
                <a:avLst/>
              </a:prstGeom>
            </p:spPr>
            <p:style>
              <a:lnRef idx="2">
                <a:schemeClr val="accent5"/>
              </a:lnRef>
              <a:fillRef idx="1">
                <a:schemeClr val="lt1"/>
              </a:fillRef>
              <a:effectRef idx="0">
                <a:schemeClr val="accent5"/>
              </a:effectRef>
              <a:fontRef idx="minor">
                <a:schemeClr val="dk1"/>
              </a:fontRef>
            </p:style>
            <p:txBody>
              <a:bodyPr rtlCol="0" anchor="ctr"/>
              <a:lstStyle/>
              <a:p>
                <a:pPr algn="ct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𝑣</m:t>
                        </m:r>
                      </m:e>
                      <m:sub>
                        <m:r>
                          <a:rPr lang="en-US" b="0" i="1" smtClean="0">
                            <a:latin typeface="Cambria Math"/>
                          </a:rPr>
                          <m:t>1</m:t>
                        </m:r>
                      </m:sub>
                    </m:sSub>
                  </m:oMath>
                </a14:m>
                <a:r>
                  <a:rPr lang="en-US" dirty="0"/>
                  <a:t> = 275 cm/s</a:t>
                </a:r>
              </a:p>
            </p:txBody>
          </p:sp>
        </mc:Choice>
        <mc:Fallback xmlns="">
          <p:sp>
            <p:nvSpPr>
              <p:cNvPr id="5" name="Notes Placeholder 4"/>
              <p:cNvSpPr>
                <a:spLocks noGrp="1"/>
              </p:cNvSpPr>
              <p:nvPr>
                <p:ph type="body" idx="1"/>
              </p:nvPr>
            </p:nvSpPr>
            <p:spPr>
              <a:prstGeom prst="wedgeEllipseCallou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b="0" i="0" smtClean="0">
                    <a:latin typeface="Cambria Math"/>
                  </a:rPr>
                  <a:t>𝑣_1</a:t>
                </a:r>
                <a:r>
                  <a:rPr lang="en-US" dirty="0" smtClean="0"/>
                  <a:t> = 275 cm/s</a:t>
                </a:r>
                <a:endParaRPr lang="en-US" dirty="0"/>
              </a:p>
            </p:txBody>
          </p:sp>
        </mc:Fallback>
      </mc:AlternateContent>
    </p:spTree>
    <p:extLst>
      <p:ext uri="{BB962C8B-B14F-4D97-AF65-F5344CB8AC3E}">
        <p14:creationId xmlns:p14="http://schemas.microsoft.com/office/powerpoint/2010/main" val="2734988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515E4B66-455C-41B2-B805-A0E6130C9DAE}" type="slidenum">
              <a:rPr lang="en-US" smtClean="0"/>
              <a:t>47</a:t>
            </a:fld>
            <a:endParaRPr lang="en-US"/>
          </a:p>
        </p:txBody>
      </p:sp>
      <p:sp>
        <p:nvSpPr>
          <p:cNvPr id="5" name="Notes Placeholder 4"/>
          <p:cNvSpPr>
            <a:spLocks noGrp="1"/>
          </p:cNvSpPr>
          <p:nvPr>
            <p:ph type="body" idx="1"/>
          </p:nvPr>
        </p:nvSpPr>
        <p:spPr>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t>M = 3 kg</a:t>
            </a:r>
          </a:p>
        </p:txBody>
      </p:sp>
    </p:spTree>
    <p:extLst>
      <p:ext uri="{BB962C8B-B14F-4D97-AF65-F5344CB8AC3E}">
        <p14:creationId xmlns:p14="http://schemas.microsoft.com/office/powerpoint/2010/main" val="16852673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15E4B66-455C-41B2-B805-A0E6130C9DAE}" type="slidenum">
              <a:rPr lang="en-US" smtClean="0"/>
              <a:t>60</a:t>
            </a:fld>
            <a:endParaRPr lang="en-US"/>
          </a:p>
        </p:txBody>
      </p:sp>
      <p:sp>
        <p:nvSpPr>
          <p:cNvPr id="5" name="Oval Callout 4"/>
          <p:cNvSpPr/>
          <p:nvPr/>
        </p:nvSpPr>
        <p:spPr>
          <a:xfrm>
            <a:off x="990600" y="6858000"/>
            <a:ext cx="2971800" cy="838200"/>
          </a:xfrm>
          <a:prstGeom prst="wedgeEllipseCallou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i="1" dirty="0">
                <a:solidFill>
                  <a:srgbClr val="FF0000"/>
                </a:solidFill>
              </a:rPr>
              <a:t>V = 465 m/s</a:t>
            </a:r>
          </a:p>
        </p:txBody>
      </p:sp>
      <p:sp>
        <p:nvSpPr>
          <p:cNvPr id="6" name="Rectangle 5"/>
          <p:cNvSpPr/>
          <p:nvPr/>
        </p:nvSpPr>
        <p:spPr>
          <a:xfrm>
            <a:off x="4800600" y="6099174"/>
            <a:ext cx="3581400" cy="15970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T = 2</a:t>
            </a:r>
            <a:r>
              <a:rPr lang="el-GR"/>
              <a:t>π</a:t>
            </a:r>
            <a:r>
              <a:rPr lang="en-US"/>
              <a:t>/</a:t>
            </a:r>
            <a:r>
              <a:rPr lang="el-GR"/>
              <a:t>ω</a:t>
            </a:r>
            <a:r>
              <a:rPr lang="en-US"/>
              <a:t> = 24.3600 s</a:t>
            </a:r>
          </a:p>
          <a:p>
            <a:pPr algn="ctr"/>
            <a:r>
              <a:rPr lang="en-US"/>
              <a:t>V = </a:t>
            </a:r>
            <a:r>
              <a:rPr lang="el-GR"/>
              <a:t>ω</a:t>
            </a:r>
            <a:r>
              <a:rPr lang="en-US"/>
              <a:t>.R</a:t>
            </a:r>
          </a:p>
        </p:txBody>
      </p:sp>
    </p:spTree>
    <p:extLst>
      <p:ext uri="{BB962C8B-B14F-4D97-AF65-F5344CB8AC3E}">
        <p14:creationId xmlns:p14="http://schemas.microsoft.com/office/powerpoint/2010/main" val="33628188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15E4B66-455C-41B2-B805-A0E6130C9DAE}" type="slidenum">
              <a:rPr lang="en-US" smtClean="0"/>
              <a:t>61</a:t>
            </a:fld>
            <a:endParaRPr lang="en-US"/>
          </a:p>
        </p:txBody>
      </p:sp>
      <p:sp>
        <p:nvSpPr>
          <p:cNvPr id="5" name="Oval Callout 4"/>
          <p:cNvSpPr/>
          <p:nvPr/>
        </p:nvSpPr>
        <p:spPr>
          <a:xfrm>
            <a:off x="609600" y="5321448"/>
            <a:ext cx="2819400" cy="914400"/>
          </a:xfrm>
          <a:prstGeom prst="wedgeEllipseCallout">
            <a:avLst/>
          </a:prstGeom>
          <a:noFill/>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i="1"/>
              <a:t>V = 30km/s</a:t>
            </a:r>
          </a:p>
        </p:txBody>
      </p:sp>
      <p:sp>
        <p:nvSpPr>
          <p:cNvPr id="6" name="Rectangle 5"/>
          <p:cNvSpPr/>
          <p:nvPr/>
        </p:nvSpPr>
        <p:spPr>
          <a:xfrm>
            <a:off x="3146425" y="5172222"/>
            <a:ext cx="3581400" cy="15970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T = 2</a:t>
            </a:r>
            <a:r>
              <a:rPr lang="el-GR"/>
              <a:t>π</a:t>
            </a:r>
            <a:r>
              <a:rPr lang="en-US"/>
              <a:t>/</a:t>
            </a:r>
            <a:r>
              <a:rPr lang="el-GR"/>
              <a:t>ω</a:t>
            </a:r>
            <a:r>
              <a:rPr lang="en-US"/>
              <a:t> = 365.24.3600 s</a:t>
            </a:r>
          </a:p>
          <a:p>
            <a:pPr algn="ctr"/>
            <a:r>
              <a:rPr lang="en-US"/>
              <a:t>V = </a:t>
            </a:r>
            <a:r>
              <a:rPr lang="el-GR"/>
              <a:t>ω</a:t>
            </a:r>
            <a:r>
              <a:rPr lang="en-US"/>
              <a:t>.R</a:t>
            </a:r>
          </a:p>
        </p:txBody>
      </p:sp>
    </p:spTree>
    <p:extLst>
      <p:ext uri="{BB962C8B-B14F-4D97-AF65-F5344CB8AC3E}">
        <p14:creationId xmlns:p14="http://schemas.microsoft.com/office/powerpoint/2010/main" val="5876324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515E4B66-455C-41B2-B805-A0E6130C9DAE}" type="slidenum">
              <a:rPr lang="en-US" smtClean="0"/>
              <a:t>67</a:t>
            </a:fld>
            <a:endParaRPr lang="en-US"/>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prstGeom prst="wedgeEllipse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 xmlns:m="http://schemas.openxmlformats.org/officeDocument/2006/math">
                    <m:r>
                      <a:rPr lang="en-US" sz="2400" b="1" i="1" smtClean="0">
                        <a:solidFill>
                          <a:schemeClr val="tx1"/>
                        </a:solidFill>
                        <a:latin typeface="Cambria Math"/>
                        <a:ea typeface="Cambria Math"/>
                      </a:rPr>
                      <m:t>𝜷</m:t>
                    </m:r>
                  </m:oMath>
                </a14:m>
                <a:r>
                  <a:rPr lang="en-US" sz="2400" b="1">
                    <a:solidFill>
                      <a:schemeClr val="tx1"/>
                    </a:solidFill>
                  </a:rPr>
                  <a:t> = (</a:t>
                </a:r>
                <a:r>
                  <a:rPr lang="el-GR" sz="2400" b="1">
                    <a:solidFill>
                      <a:schemeClr val="tx1"/>
                    </a:solidFill>
                  </a:rPr>
                  <a:t>ω</a:t>
                </a:r>
                <a:r>
                  <a:rPr lang="en-US" sz="2400" b="1">
                    <a:solidFill>
                      <a:schemeClr val="tx1"/>
                    </a:solidFill>
                  </a:rPr>
                  <a:t>2 – </a:t>
                </a:r>
                <a:r>
                  <a:rPr lang="el-GR" sz="2400" b="1">
                    <a:solidFill>
                      <a:schemeClr val="tx1"/>
                    </a:solidFill>
                  </a:rPr>
                  <a:t>ω</a:t>
                </a:r>
                <a:r>
                  <a:rPr lang="en-US" sz="2400" b="1">
                    <a:solidFill>
                      <a:schemeClr val="tx1"/>
                    </a:solidFill>
                  </a:rPr>
                  <a:t>1)/t</a:t>
                </a:r>
              </a:p>
            </p:txBody>
          </p:sp>
        </mc:Choice>
        <mc:Fallback xmlns="">
          <p:sp>
            <p:nvSpPr>
              <p:cNvPr id="5" name="Notes Placeholder 4"/>
              <p:cNvSpPr>
                <a:spLocks noGrp="1"/>
              </p:cNvSpPr>
              <p:nvPr>
                <p:ph type="body" idx="1"/>
              </p:nvPr>
            </p:nvSpPr>
            <p:spPr>
              <a:prstGeom prst="wedgeEllipse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b="1" i="0" smtClean="0">
                    <a:solidFill>
                      <a:schemeClr val="tx1"/>
                    </a:solidFill>
                    <a:latin typeface="Cambria Math"/>
                    <a:ea typeface="Cambria Math"/>
                  </a:rPr>
                  <a:t>𝜷</a:t>
                </a:r>
                <a:r>
                  <a:rPr lang="en-US" sz="2400" b="1">
                    <a:solidFill>
                      <a:schemeClr val="tx1"/>
                    </a:solidFill>
                  </a:rPr>
                  <a:t> = (</a:t>
                </a:r>
                <a:r>
                  <a:rPr lang="el-GR" sz="2400" b="1">
                    <a:solidFill>
                      <a:schemeClr val="tx1"/>
                    </a:solidFill>
                  </a:rPr>
                  <a:t>ω</a:t>
                </a:r>
                <a:r>
                  <a:rPr lang="en-US" sz="2400" b="1">
                    <a:solidFill>
                      <a:schemeClr val="tx1"/>
                    </a:solidFill>
                  </a:rPr>
                  <a:t>2 – </a:t>
                </a:r>
                <a:r>
                  <a:rPr lang="el-GR" sz="2400" b="1">
                    <a:solidFill>
                      <a:schemeClr val="tx1"/>
                    </a:solidFill>
                  </a:rPr>
                  <a:t>ω</a:t>
                </a:r>
                <a:r>
                  <a:rPr lang="en-US" sz="2400" b="1">
                    <a:solidFill>
                      <a:schemeClr val="tx1"/>
                    </a:solidFill>
                  </a:rPr>
                  <a:t>1)/t</a:t>
                </a:r>
              </a:p>
            </p:txBody>
          </p:sp>
        </mc:Fallback>
      </mc:AlternateContent>
    </p:spTree>
    <p:extLst>
      <p:ext uri="{BB962C8B-B14F-4D97-AF65-F5344CB8AC3E}">
        <p14:creationId xmlns:p14="http://schemas.microsoft.com/office/powerpoint/2010/main" val="34763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515E4B66-455C-41B2-B805-A0E6130C9DAE}" type="slidenum">
              <a:rPr lang="en-US" smtClean="0"/>
              <a:t>68</a:t>
            </a:fld>
            <a:endParaRPr lang="en-US"/>
          </a:p>
        </p:txBody>
      </p:sp>
      <mc:AlternateContent xmlns:mc="http://schemas.openxmlformats.org/markup-compatibility/2006" xmlns:a14="http://schemas.microsoft.com/office/drawing/2010/main">
        <mc:Choice Requires="a14">
          <p:sp>
            <p:nvSpPr>
              <p:cNvPr id="5" name="Notes Placeholder 4"/>
              <p:cNvSpPr>
                <a:spLocks noGrp="1"/>
              </p:cNvSpPr>
              <p:nvPr>
                <p:ph type="body" idx="1"/>
              </p:nvPr>
            </p:nvSpPr>
            <p:spPr>
              <a:prstGeom prst="cloudCallout">
                <a:avLst>
                  <a:gd name="adj1" fmla="val -47665"/>
                  <a:gd name="adj2" fmla="val -66389"/>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 xmlns:m="http://schemas.openxmlformats.org/officeDocument/2006/math">
                    <m:r>
                      <a:rPr lang="en-US" sz="2400" b="1" i="1" smtClean="0">
                        <a:solidFill>
                          <a:schemeClr val="tx1"/>
                        </a:solidFill>
                        <a:latin typeface="Cambria Math"/>
                        <a:ea typeface="Cambria Math"/>
                      </a:rPr>
                      <m:t>𝜷</m:t>
                    </m:r>
                  </m:oMath>
                </a14:m>
                <a:r>
                  <a:rPr lang="en-US" sz="2400" b="1" i="1" dirty="0">
                    <a:solidFill>
                      <a:schemeClr val="tx1"/>
                    </a:solidFill>
                    <a:latin typeface="Times New Roman" pitchFamily="18" charset="0"/>
                    <a:cs typeface="Times New Roman" pitchFamily="18" charset="0"/>
                  </a:rPr>
                  <a:t> = (</a:t>
                </a:r>
                <a:r>
                  <a:rPr lang="el-GR" sz="2400" b="1" i="1" dirty="0">
                    <a:solidFill>
                      <a:schemeClr val="tx1"/>
                    </a:solidFill>
                    <a:latin typeface="Times New Roman" pitchFamily="18" charset="0"/>
                    <a:cs typeface="Times New Roman" pitchFamily="18" charset="0"/>
                  </a:rPr>
                  <a:t>ω</a:t>
                </a:r>
                <a:r>
                  <a:rPr lang="en-US" sz="2400" b="1" i="1" dirty="0">
                    <a:solidFill>
                      <a:schemeClr val="tx1"/>
                    </a:solidFill>
                    <a:latin typeface="Times New Roman" pitchFamily="18" charset="0"/>
                    <a:cs typeface="Times New Roman" pitchFamily="18" charset="0"/>
                  </a:rPr>
                  <a:t>2 – </a:t>
                </a:r>
                <a:r>
                  <a:rPr lang="el-GR" sz="2400" b="1" i="1" dirty="0">
                    <a:solidFill>
                      <a:schemeClr val="tx1"/>
                    </a:solidFill>
                    <a:latin typeface="Times New Roman" pitchFamily="18" charset="0"/>
                    <a:cs typeface="Times New Roman" pitchFamily="18" charset="0"/>
                  </a:rPr>
                  <a:t>ω</a:t>
                </a:r>
                <a:r>
                  <a:rPr lang="en-US" sz="2400" b="1" i="1" dirty="0">
                    <a:solidFill>
                      <a:schemeClr val="tx1"/>
                    </a:solidFill>
                    <a:latin typeface="Times New Roman" pitchFamily="18" charset="0"/>
                    <a:cs typeface="Times New Roman" pitchFamily="18" charset="0"/>
                  </a:rPr>
                  <a:t>1)/t</a:t>
                </a:r>
              </a:p>
              <a:p>
                <a:pPr algn="ctr"/>
                <a14:m>
                  <m:oMath xmlns:m="http://schemas.openxmlformats.org/officeDocument/2006/math">
                    <m:sSup>
                      <m:sSupPr>
                        <m:ctrlPr>
                          <a:rPr lang="en-US" sz="2400" b="1" i="1">
                            <a:solidFill>
                              <a:schemeClr val="tx1"/>
                            </a:solidFill>
                            <a:latin typeface="Cambria Math" panose="02040503050406030204" pitchFamily="18" charset="0"/>
                          </a:rPr>
                        </m:ctrlPr>
                      </m:sSupPr>
                      <m:e>
                        <m:r>
                          <a:rPr lang="en-US" sz="2400" b="1" i="1">
                            <a:solidFill>
                              <a:schemeClr val="tx1"/>
                            </a:solidFill>
                            <a:latin typeface="Cambria Math"/>
                            <a:ea typeface="Cambria Math"/>
                          </a:rPr>
                          <m:t>𝝎</m:t>
                        </m:r>
                        <m:r>
                          <a:rPr lang="en-US" sz="2400" b="1" i="1">
                            <a:solidFill>
                              <a:schemeClr val="tx1"/>
                            </a:solidFill>
                            <a:latin typeface="Cambria Math"/>
                            <a:ea typeface="Cambria Math"/>
                          </a:rPr>
                          <m:t>𝟐</m:t>
                        </m:r>
                      </m:e>
                      <m:sup>
                        <m:r>
                          <a:rPr lang="en-US" sz="2400" b="1" i="1">
                            <a:solidFill>
                              <a:schemeClr val="tx1"/>
                            </a:solidFill>
                            <a:latin typeface="Cambria Math"/>
                          </a:rPr>
                          <m:t>𝟐</m:t>
                        </m:r>
                      </m:sup>
                    </m:sSup>
                  </m:oMath>
                </a14:m>
                <a:r>
                  <a:rPr lang="en-US" sz="2400" b="1" i="1" dirty="0">
                    <a:solidFill>
                      <a:schemeClr val="tx1"/>
                    </a:solidFill>
                    <a:latin typeface="Times New Roman" pitchFamily="18" charset="0"/>
                    <a:cs typeface="Times New Roman" pitchFamily="18" charset="0"/>
                  </a:rPr>
                  <a:t> - </a:t>
                </a:r>
                <a14:m>
                  <m:oMath xmlns:m="http://schemas.openxmlformats.org/officeDocument/2006/math">
                    <m:sSup>
                      <m:sSupPr>
                        <m:ctrlPr>
                          <a:rPr lang="en-US" sz="2400" b="1" i="1">
                            <a:solidFill>
                              <a:schemeClr val="tx1"/>
                            </a:solidFill>
                            <a:latin typeface="Cambria Math" panose="02040503050406030204" pitchFamily="18" charset="0"/>
                          </a:rPr>
                        </m:ctrlPr>
                      </m:sSupPr>
                      <m:e>
                        <m:r>
                          <a:rPr lang="en-US" sz="2400" b="1" i="1">
                            <a:solidFill>
                              <a:schemeClr val="tx1"/>
                            </a:solidFill>
                            <a:latin typeface="Cambria Math"/>
                            <a:ea typeface="Cambria Math"/>
                          </a:rPr>
                          <m:t>𝝎</m:t>
                        </m:r>
                        <m:r>
                          <a:rPr lang="en-US" sz="2400" b="1" i="1">
                            <a:solidFill>
                              <a:schemeClr val="tx1"/>
                            </a:solidFill>
                            <a:latin typeface="Cambria Math"/>
                            <a:ea typeface="Cambria Math"/>
                          </a:rPr>
                          <m:t>𝟏</m:t>
                        </m:r>
                      </m:e>
                      <m:sup>
                        <m:r>
                          <a:rPr lang="en-US" sz="2400" b="1" i="1">
                            <a:solidFill>
                              <a:schemeClr val="tx1"/>
                            </a:solidFill>
                            <a:latin typeface="Cambria Math"/>
                          </a:rPr>
                          <m:t>𝟐</m:t>
                        </m:r>
                      </m:sup>
                    </m:sSup>
                  </m:oMath>
                </a14:m>
                <a:r>
                  <a:rPr lang="en-US" sz="2400" b="1" i="1" dirty="0">
                    <a:solidFill>
                      <a:schemeClr val="tx1"/>
                    </a:solidFill>
                    <a:latin typeface="Times New Roman" pitchFamily="18" charset="0"/>
                    <a:cs typeface="Times New Roman" pitchFamily="18" charset="0"/>
                  </a:rPr>
                  <a:t> = 2</a:t>
                </a:r>
                <a:r>
                  <a:rPr lang="el-GR" sz="2400" b="1" i="1" dirty="0">
                    <a:solidFill>
                      <a:schemeClr val="tx1"/>
                    </a:solidFill>
                    <a:latin typeface="Times New Roman" pitchFamily="18" charset="0"/>
                    <a:cs typeface="Times New Roman" pitchFamily="18" charset="0"/>
                  </a:rPr>
                  <a:t>β</a:t>
                </a:r>
                <a:r>
                  <a:rPr lang="en-US" sz="2400" b="1" i="1" dirty="0">
                    <a:solidFill>
                      <a:schemeClr val="tx1"/>
                    </a:solidFill>
                    <a:latin typeface="Times New Roman" pitchFamily="18" charset="0"/>
                    <a:cs typeface="Times New Roman" pitchFamily="18" charset="0"/>
                  </a:rPr>
                  <a:t>θ</a:t>
                </a:r>
              </a:p>
              <a:p>
                <a:pPr algn="ctr"/>
                <a:r>
                  <a:rPr lang="el-GR" sz="2400" b="1" i="1" dirty="0">
                    <a:solidFill>
                      <a:schemeClr val="tx1"/>
                    </a:solidFill>
                    <a:latin typeface="Times New Roman" pitchFamily="18" charset="0"/>
                    <a:cs typeface="Times New Roman" pitchFamily="18" charset="0"/>
                  </a:rPr>
                  <a:t>Θ</a:t>
                </a:r>
                <a:r>
                  <a:rPr lang="en-US" sz="2400" b="1" i="1" dirty="0">
                    <a:solidFill>
                      <a:schemeClr val="tx1"/>
                    </a:solidFill>
                    <a:latin typeface="Times New Roman" pitchFamily="18" charset="0"/>
                    <a:cs typeface="Times New Roman" pitchFamily="18" charset="0"/>
                  </a:rPr>
                  <a:t> = 2</a:t>
                </a:r>
                <a:r>
                  <a:rPr lang="el-GR" sz="2400" b="1" i="1" dirty="0">
                    <a:solidFill>
                      <a:schemeClr val="tx1"/>
                    </a:solidFill>
                    <a:latin typeface="Times New Roman" pitchFamily="18" charset="0"/>
                    <a:cs typeface="Times New Roman" pitchFamily="18" charset="0"/>
                  </a:rPr>
                  <a:t>π</a:t>
                </a:r>
                <a:r>
                  <a:rPr lang="en-US" sz="2400" b="1" i="1" dirty="0">
                    <a:solidFill>
                      <a:schemeClr val="tx1"/>
                    </a:solidFill>
                    <a:latin typeface="Times New Roman" pitchFamily="18" charset="0"/>
                    <a:cs typeface="Times New Roman" pitchFamily="18" charset="0"/>
                  </a:rPr>
                  <a:t>.N</a:t>
                </a:r>
              </a:p>
            </p:txBody>
          </p:sp>
        </mc:Choice>
        <mc:Fallback xmlns="">
          <p:sp>
            <p:nvSpPr>
              <p:cNvPr id="5" name="Notes Placeholder 4"/>
              <p:cNvSpPr>
                <a:spLocks noGrp="1"/>
              </p:cNvSpPr>
              <p:nvPr>
                <p:ph type="body" idx="1"/>
              </p:nvPr>
            </p:nvSpPr>
            <p:spPr>
              <a:prstGeom prst="cloudCallout">
                <a:avLst>
                  <a:gd name="adj1" fmla="val -47665"/>
                  <a:gd name="adj2" fmla="val -66389"/>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i="0" smtClean="0">
                    <a:solidFill>
                      <a:schemeClr val="tx1"/>
                    </a:solidFill>
                    <a:latin typeface="Cambria Math"/>
                    <a:ea typeface="Cambria Math"/>
                  </a:rPr>
                  <a:t>𝜷</a:t>
                </a:r>
                <a:r>
                  <a:rPr lang="en-US" sz="2400" b="1" i="1">
                    <a:solidFill>
                      <a:schemeClr val="tx1"/>
                    </a:solidFill>
                    <a:latin typeface="Times New Roman" pitchFamily="18" charset="0"/>
                    <a:cs typeface="Times New Roman" pitchFamily="18" charset="0"/>
                  </a:rPr>
                  <a:t> = (</a:t>
                </a:r>
                <a:r>
                  <a:rPr lang="el-GR" sz="2400" b="1" i="1">
                    <a:solidFill>
                      <a:schemeClr val="tx1"/>
                    </a:solidFill>
                    <a:latin typeface="Times New Roman" pitchFamily="18" charset="0"/>
                    <a:cs typeface="Times New Roman" pitchFamily="18" charset="0"/>
                  </a:rPr>
                  <a:t>ω</a:t>
                </a:r>
                <a:r>
                  <a:rPr lang="en-US" sz="2400" b="1" i="1">
                    <a:solidFill>
                      <a:schemeClr val="tx1"/>
                    </a:solidFill>
                    <a:latin typeface="Times New Roman" pitchFamily="18" charset="0"/>
                    <a:cs typeface="Times New Roman" pitchFamily="18" charset="0"/>
                  </a:rPr>
                  <a:t>2 – </a:t>
                </a:r>
                <a:r>
                  <a:rPr lang="el-GR" sz="2400" b="1" i="1">
                    <a:solidFill>
                      <a:schemeClr val="tx1"/>
                    </a:solidFill>
                    <a:latin typeface="Times New Roman" pitchFamily="18" charset="0"/>
                    <a:cs typeface="Times New Roman" pitchFamily="18" charset="0"/>
                  </a:rPr>
                  <a:t>ω</a:t>
                </a:r>
                <a:r>
                  <a:rPr lang="en-US" sz="2400" b="1" i="1">
                    <a:solidFill>
                      <a:schemeClr val="tx1"/>
                    </a:solidFill>
                    <a:latin typeface="Times New Roman" pitchFamily="18" charset="0"/>
                    <a:cs typeface="Times New Roman" pitchFamily="18" charset="0"/>
                  </a:rPr>
                  <a:t>1)/t</a:t>
                </a:r>
              </a:p>
              <a:p>
                <a:pPr algn="ctr"/>
                <a:r>
                  <a:rPr lang="en-US" sz="2400" b="1" i="0">
                    <a:solidFill>
                      <a:schemeClr val="tx1"/>
                    </a:solidFill>
                    <a:latin typeface="Cambria Math"/>
                  </a:rPr>
                  <a:t>〖</a:t>
                </a:r>
                <a:r>
                  <a:rPr lang="en-US" sz="2400" b="1" i="0">
                    <a:solidFill>
                      <a:schemeClr val="tx1"/>
                    </a:solidFill>
                    <a:latin typeface="Cambria Math"/>
                    <a:ea typeface="Cambria Math"/>
                  </a:rPr>
                  <a:t>𝝎𝟐〗^</a:t>
                </a:r>
                <a:r>
                  <a:rPr lang="en-US" sz="2400" b="1" i="0">
                    <a:solidFill>
                      <a:schemeClr val="tx1"/>
                    </a:solidFill>
                    <a:latin typeface="Cambria Math"/>
                  </a:rPr>
                  <a:t>𝟐</a:t>
                </a:r>
                <a:r>
                  <a:rPr lang="en-US" sz="2400" b="1" i="1">
                    <a:solidFill>
                      <a:schemeClr val="tx1"/>
                    </a:solidFill>
                    <a:latin typeface="Times New Roman" pitchFamily="18" charset="0"/>
                    <a:cs typeface="Times New Roman" pitchFamily="18" charset="0"/>
                  </a:rPr>
                  <a:t> - </a:t>
                </a:r>
                <a:r>
                  <a:rPr lang="en-US" sz="2400" b="1" i="0">
                    <a:solidFill>
                      <a:schemeClr val="tx1"/>
                    </a:solidFill>
                    <a:latin typeface="Cambria Math"/>
                  </a:rPr>
                  <a:t>〖</a:t>
                </a:r>
                <a:r>
                  <a:rPr lang="en-US" sz="2400" b="1" i="0">
                    <a:solidFill>
                      <a:schemeClr val="tx1"/>
                    </a:solidFill>
                    <a:latin typeface="Cambria Math"/>
                    <a:ea typeface="Cambria Math"/>
                  </a:rPr>
                  <a:t>𝝎𝟏〗^</a:t>
                </a:r>
                <a:r>
                  <a:rPr lang="en-US" sz="2400" b="1" i="0">
                    <a:solidFill>
                      <a:schemeClr val="tx1"/>
                    </a:solidFill>
                    <a:latin typeface="Cambria Math"/>
                  </a:rPr>
                  <a:t>𝟐</a:t>
                </a:r>
                <a:r>
                  <a:rPr lang="en-US" sz="2400" b="1" i="1">
                    <a:solidFill>
                      <a:schemeClr val="tx1"/>
                    </a:solidFill>
                    <a:latin typeface="Times New Roman" pitchFamily="18" charset="0"/>
                    <a:cs typeface="Times New Roman" pitchFamily="18" charset="0"/>
                  </a:rPr>
                  <a:t> = 2</a:t>
                </a:r>
                <a:r>
                  <a:rPr lang="el-GR" sz="2400" b="1" i="1">
                    <a:solidFill>
                      <a:schemeClr val="tx1"/>
                    </a:solidFill>
                    <a:latin typeface="Times New Roman" pitchFamily="18" charset="0"/>
                    <a:cs typeface="Times New Roman" pitchFamily="18" charset="0"/>
                  </a:rPr>
                  <a:t>β</a:t>
                </a:r>
                <a:r>
                  <a:rPr lang="en-US" sz="2400" b="1" i="1">
                    <a:solidFill>
                      <a:schemeClr val="tx1"/>
                    </a:solidFill>
                    <a:latin typeface="Times New Roman" pitchFamily="18" charset="0"/>
                    <a:cs typeface="Times New Roman" pitchFamily="18" charset="0"/>
                  </a:rPr>
                  <a:t>θ</a:t>
                </a:r>
              </a:p>
              <a:p>
                <a:pPr algn="ctr"/>
                <a:r>
                  <a:rPr lang="el-GR" sz="2400" b="1" i="1">
                    <a:solidFill>
                      <a:schemeClr val="tx1"/>
                    </a:solidFill>
                    <a:latin typeface="Times New Roman" pitchFamily="18" charset="0"/>
                    <a:cs typeface="Times New Roman" pitchFamily="18" charset="0"/>
                  </a:rPr>
                  <a:t>Θ</a:t>
                </a:r>
                <a:r>
                  <a:rPr lang="en-US" sz="2400" b="1" i="1">
                    <a:solidFill>
                      <a:schemeClr val="tx1"/>
                    </a:solidFill>
                    <a:latin typeface="Times New Roman" pitchFamily="18" charset="0"/>
                    <a:cs typeface="Times New Roman" pitchFamily="18" charset="0"/>
                  </a:rPr>
                  <a:t> = 2</a:t>
                </a:r>
                <a:r>
                  <a:rPr lang="el-GR" sz="2400" b="1" i="1">
                    <a:solidFill>
                      <a:schemeClr val="tx1"/>
                    </a:solidFill>
                    <a:latin typeface="Times New Roman" pitchFamily="18" charset="0"/>
                    <a:cs typeface="Times New Roman" pitchFamily="18" charset="0"/>
                  </a:rPr>
                  <a:t>π</a:t>
                </a:r>
                <a:r>
                  <a:rPr lang="en-US" sz="2400" b="1" i="1">
                    <a:solidFill>
                      <a:schemeClr val="tx1"/>
                    </a:solidFill>
                    <a:latin typeface="Times New Roman" pitchFamily="18" charset="0"/>
                    <a:cs typeface="Times New Roman" pitchFamily="18" charset="0"/>
                  </a:rPr>
                  <a:t>.N</a:t>
                </a:r>
              </a:p>
            </p:txBody>
          </p:sp>
        </mc:Fallback>
      </mc:AlternateContent>
    </p:spTree>
    <p:extLst>
      <p:ext uri="{BB962C8B-B14F-4D97-AF65-F5344CB8AC3E}">
        <p14:creationId xmlns:p14="http://schemas.microsoft.com/office/powerpoint/2010/main" val="14224608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15E4B66-455C-41B2-B805-A0E6130C9DAE}" type="slidenum">
              <a:rPr lang="en-US" smtClean="0"/>
              <a:t>69</a:t>
            </a:fld>
            <a:endParaRPr lang="en-US"/>
          </a:p>
        </p:txBody>
      </p:sp>
      <p:sp>
        <p:nvSpPr>
          <p:cNvPr id="5" name="Oval Callout 4"/>
          <p:cNvSpPr/>
          <p:nvPr/>
        </p:nvSpPr>
        <p:spPr>
          <a:xfrm>
            <a:off x="609600" y="4724400"/>
            <a:ext cx="3429000" cy="1908175"/>
          </a:xfrm>
          <a:prstGeom prst="wedgeEllipseCallout">
            <a:avLst>
              <a:gd name="adj1" fmla="val 47738"/>
              <a:gd name="adj2" fmla="val -64146"/>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 </a:t>
            </a:r>
            <a:r>
              <a:rPr lang="en-US" sz="2800" b="1">
                <a:latin typeface="Times New Roman" pitchFamily="18" charset="0"/>
                <a:cs typeface="Times New Roman" pitchFamily="18" charset="0"/>
              </a:rPr>
              <a:t>F = 0,784N </a:t>
            </a:r>
          </a:p>
        </p:txBody>
      </p:sp>
      <p:sp>
        <p:nvSpPr>
          <p:cNvPr id="6" name="Rounded Rectangular Callout 5"/>
          <p:cNvSpPr/>
          <p:nvPr/>
        </p:nvSpPr>
        <p:spPr>
          <a:xfrm>
            <a:off x="5410200" y="5524500"/>
            <a:ext cx="3048000" cy="876300"/>
          </a:xfrm>
          <a:prstGeom prst="wedgeRoundRectCallout">
            <a:avLst>
              <a:gd name="adj1" fmla="val -68833"/>
              <a:gd name="adj2" fmla="val -154394"/>
              <a:gd name="adj3" fmla="val 16667"/>
            </a:avLst>
          </a:prstGeom>
        </p:spPr>
        <p:style>
          <a:lnRef idx="2">
            <a:schemeClr val="accent2"/>
          </a:lnRef>
          <a:fillRef idx="1">
            <a:schemeClr val="lt1"/>
          </a:fillRef>
          <a:effectRef idx="0">
            <a:schemeClr val="accent2"/>
          </a:effectRef>
          <a:fontRef idx="minor">
            <a:schemeClr val="dk1"/>
          </a:fontRef>
        </p:style>
        <p:txBody>
          <a:bodyPr anchor="ctr"/>
          <a:lstStyle/>
          <a:p>
            <a:pPr>
              <a:buFont typeface="Arial" charset="0"/>
              <a:buNone/>
              <a:defRPr/>
            </a:pPr>
            <a:r>
              <a:rPr lang="el-GR" sz="3200" b="1" i="1" dirty="0">
                <a:latin typeface="Times New Roman" pitchFamily="18" charset="0"/>
                <a:cs typeface="Times New Roman" pitchFamily="18" charset="0"/>
              </a:rPr>
              <a:t>ω</a:t>
            </a:r>
            <a:r>
              <a:rPr lang="en-US" sz="3200" b="1" i="1" dirty="0">
                <a:latin typeface="Times New Roman" pitchFamily="18" charset="0"/>
                <a:cs typeface="Times New Roman" pitchFamily="18" charset="0"/>
              </a:rPr>
              <a:t> = 2,2 rad/s</a:t>
            </a:r>
          </a:p>
        </p:txBody>
      </p:sp>
    </p:spTree>
    <p:extLst>
      <p:ext uri="{BB962C8B-B14F-4D97-AF65-F5344CB8AC3E}">
        <p14:creationId xmlns:p14="http://schemas.microsoft.com/office/powerpoint/2010/main" val="2355751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791DC94-7EF4-45DF-90D5-9C76598F1416}" type="datetime1">
              <a:rPr lang="en-US" smtClean="0"/>
              <a:t>9/30/2025</a:t>
            </a:fld>
            <a:endParaRPr lang="en-US"/>
          </a:p>
        </p:txBody>
      </p:sp>
      <p:sp>
        <p:nvSpPr>
          <p:cNvPr id="5" name="Footer Placeholder 4"/>
          <p:cNvSpPr>
            <a:spLocks noGrp="1"/>
          </p:cNvSpPr>
          <p:nvPr>
            <p:ph type="ftr" sz="quarter" idx="11"/>
          </p:nvPr>
        </p:nvSpPr>
        <p:spPr/>
        <p:txBody>
          <a:bodyPr/>
          <a:lstStyle/>
          <a:p>
            <a:r>
              <a:rPr lang="en-US"/>
              <a:t>Bùi Quốc Trung - VLDC</a:t>
            </a:r>
          </a:p>
        </p:txBody>
      </p:sp>
      <p:sp>
        <p:nvSpPr>
          <p:cNvPr id="6" name="Slide Number Placeholder 5"/>
          <p:cNvSpPr>
            <a:spLocks noGrp="1"/>
          </p:cNvSpPr>
          <p:nvPr>
            <p:ph type="sldNum" sz="quarter" idx="12"/>
          </p:nvPr>
        </p:nvSpPr>
        <p:spPr/>
        <p:txBody>
          <a:bodyPr/>
          <a:lstStyle/>
          <a:p>
            <a:fld id="{C4A94DE9-7404-4CC4-BDD8-EA2E97866C70}" type="slidenum">
              <a:rPr lang="en-US" smtClean="0"/>
              <a:t>‹#›</a:t>
            </a:fld>
            <a:endParaRPr lang="en-US"/>
          </a:p>
        </p:txBody>
      </p:sp>
    </p:spTree>
    <p:extLst>
      <p:ext uri="{BB962C8B-B14F-4D97-AF65-F5344CB8AC3E}">
        <p14:creationId xmlns:p14="http://schemas.microsoft.com/office/powerpoint/2010/main" val="3685449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A5D387-2034-47B2-9174-119C1BFB6F6E}" type="datetime1">
              <a:rPr lang="en-US" smtClean="0"/>
              <a:t>9/30/2025</a:t>
            </a:fld>
            <a:endParaRPr lang="en-US"/>
          </a:p>
        </p:txBody>
      </p:sp>
      <p:sp>
        <p:nvSpPr>
          <p:cNvPr id="5" name="Footer Placeholder 4"/>
          <p:cNvSpPr>
            <a:spLocks noGrp="1"/>
          </p:cNvSpPr>
          <p:nvPr>
            <p:ph type="ftr" sz="quarter" idx="11"/>
          </p:nvPr>
        </p:nvSpPr>
        <p:spPr/>
        <p:txBody>
          <a:bodyPr/>
          <a:lstStyle/>
          <a:p>
            <a:r>
              <a:rPr lang="en-US"/>
              <a:t>Bùi Quốc Trung - VLDC</a:t>
            </a:r>
          </a:p>
        </p:txBody>
      </p:sp>
      <p:sp>
        <p:nvSpPr>
          <p:cNvPr id="6" name="Slide Number Placeholder 5"/>
          <p:cNvSpPr>
            <a:spLocks noGrp="1"/>
          </p:cNvSpPr>
          <p:nvPr>
            <p:ph type="sldNum" sz="quarter" idx="12"/>
          </p:nvPr>
        </p:nvSpPr>
        <p:spPr/>
        <p:txBody>
          <a:bodyPr/>
          <a:lstStyle/>
          <a:p>
            <a:fld id="{C4A94DE9-7404-4CC4-BDD8-EA2E97866C70}" type="slidenum">
              <a:rPr lang="en-US" smtClean="0"/>
              <a:t>‹#›</a:t>
            </a:fld>
            <a:endParaRPr lang="en-US"/>
          </a:p>
        </p:txBody>
      </p:sp>
    </p:spTree>
    <p:extLst>
      <p:ext uri="{BB962C8B-B14F-4D97-AF65-F5344CB8AC3E}">
        <p14:creationId xmlns:p14="http://schemas.microsoft.com/office/powerpoint/2010/main" val="4256265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1599D4-72C1-49DB-B7AC-B25516CCFB18}" type="datetime1">
              <a:rPr lang="en-US" smtClean="0"/>
              <a:t>9/30/2025</a:t>
            </a:fld>
            <a:endParaRPr lang="en-US"/>
          </a:p>
        </p:txBody>
      </p:sp>
      <p:sp>
        <p:nvSpPr>
          <p:cNvPr id="5" name="Footer Placeholder 4"/>
          <p:cNvSpPr>
            <a:spLocks noGrp="1"/>
          </p:cNvSpPr>
          <p:nvPr>
            <p:ph type="ftr" sz="quarter" idx="11"/>
          </p:nvPr>
        </p:nvSpPr>
        <p:spPr/>
        <p:txBody>
          <a:bodyPr/>
          <a:lstStyle/>
          <a:p>
            <a:r>
              <a:rPr lang="en-US"/>
              <a:t>Bùi Quốc Trung - VLDC</a:t>
            </a:r>
          </a:p>
        </p:txBody>
      </p:sp>
      <p:sp>
        <p:nvSpPr>
          <p:cNvPr id="6" name="Slide Number Placeholder 5"/>
          <p:cNvSpPr>
            <a:spLocks noGrp="1"/>
          </p:cNvSpPr>
          <p:nvPr>
            <p:ph type="sldNum" sz="quarter" idx="12"/>
          </p:nvPr>
        </p:nvSpPr>
        <p:spPr/>
        <p:txBody>
          <a:bodyPr/>
          <a:lstStyle/>
          <a:p>
            <a:fld id="{C4A94DE9-7404-4CC4-BDD8-EA2E97866C70}" type="slidenum">
              <a:rPr lang="en-US" smtClean="0"/>
              <a:t>‹#›</a:t>
            </a:fld>
            <a:endParaRPr lang="en-US"/>
          </a:p>
        </p:txBody>
      </p:sp>
    </p:spTree>
    <p:extLst>
      <p:ext uri="{BB962C8B-B14F-4D97-AF65-F5344CB8AC3E}">
        <p14:creationId xmlns:p14="http://schemas.microsoft.com/office/powerpoint/2010/main" val="3832206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08EAA14-06B1-4BC1-80E2-C95337D05778}" type="datetime1">
              <a:rPr lang="en-US" smtClean="0"/>
              <a:t>9/30/2025</a:t>
            </a:fld>
            <a:endParaRPr lang="en-US"/>
          </a:p>
        </p:txBody>
      </p:sp>
      <p:sp>
        <p:nvSpPr>
          <p:cNvPr id="6" name="Footer Placeholder 5"/>
          <p:cNvSpPr>
            <a:spLocks noGrp="1"/>
          </p:cNvSpPr>
          <p:nvPr>
            <p:ph type="ftr" sz="quarter" idx="11"/>
          </p:nvPr>
        </p:nvSpPr>
        <p:spPr/>
        <p:txBody>
          <a:bodyPr/>
          <a:lstStyle/>
          <a:p>
            <a:r>
              <a:rPr lang="en-US"/>
              <a:t>Bùi Quốc Trung - VLDC</a:t>
            </a:r>
          </a:p>
        </p:txBody>
      </p:sp>
      <p:sp>
        <p:nvSpPr>
          <p:cNvPr id="7" name="Slide Number Placeholder 6"/>
          <p:cNvSpPr>
            <a:spLocks noGrp="1"/>
          </p:cNvSpPr>
          <p:nvPr>
            <p:ph type="sldNum" sz="quarter" idx="12"/>
          </p:nvPr>
        </p:nvSpPr>
        <p:spPr/>
        <p:txBody>
          <a:bodyPr/>
          <a:lstStyle/>
          <a:p>
            <a:fld id="{C4A94DE9-7404-4CC4-BDD8-EA2E97866C70}" type="slidenum">
              <a:rPr lang="en-US" smtClean="0"/>
              <a:t>‹#›</a:t>
            </a:fld>
            <a:endParaRPr lang="en-US"/>
          </a:p>
        </p:txBody>
      </p:sp>
    </p:spTree>
    <p:extLst>
      <p:ext uri="{BB962C8B-B14F-4D97-AF65-F5344CB8AC3E}">
        <p14:creationId xmlns:p14="http://schemas.microsoft.com/office/powerpoint/2010/main" val="4163764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7EBBA74-8B89-4285-B985-DE0670368C65}" type="datetime1">
              <a:rPr lang="en-US" smtClean="0"/>
              <a:t>9/30/2025</a:t>
            </a:fld>
            <a:endParaRPr lang="en-US"/>
          </a:p>
        </p:txBody>
      </p:sp>
      <p:sp>
        <p:nvSpPr>
          <p:cNvPr id="8" name="Footer Placeholder 7"/>
          <p:cNvSpPr>
            <a:spLocks noGrp="1"/>
          </p:cNvSpPr>
          <p:nvPr>
            <p:ph type="ftr" sz="quarter" idx="11"/>
          </p:nvPr>
        </p:nvSpPr>
        <p:spPr/>
        <p:txBody>
          <a:bodyPr/>
          <a:lstStyle/>
          <a:p>
            <a:r>
              <a:rPr lang="en-US"/>
              <a:t>Bùi Quốc Trung - VLDC</a:t>
            </a:r>
          </a:p>
        </p:txBody>
      </p:sp>
      <p:sp>
        <p:nvSpPr>
          <p:cNvPr id="9" name="Slide Number Placeholder 8"/>
          <p:cNvSpPr>
            <a:spLocks noGrp="1"/>
          </p:cNvSpPr>
          <p:nvPr>
            <p:ph type="sldNum" sz="quarter" idx="12"/>
          </p:nvPr>
        </p:nvSpPr>
        <p:spPr/>
        <p:txBody>
          <a:bodyPr/>
          <a:lstStyle/>
          <a:p>
            <a:fld id="{C4A94DE9-7404-4CC4-BDD8-EA2E97866C70}" type="slidenum">
              <a:rPr lang="en-US" smtClean="0"/>
              <a:t>‹#›</a:t>
            </a:fld>
            <a:endParaRPr lang="en-US"/>
          </a:p>
        </p:txBody>
      </p:sp>
    </p:spTree>
    <p:extLst>
      <p:ext uri="{BB962C8B-B14F-4D97-AF65-F5344CB8AC3E}">
        <p14:creationId xmlns:p14="http://schemas.microsoft.com/office/powerpoint/2010/main" val="1211936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08D5C82-C364-4F5D-8D52-524AC3D2ED56}" type="datetime1">
              <a:rPr lang="en-US" smtClean="0"/>
              <a:t>9/30/2025</a:t>
            </a:fld>
            <a:endParaRPr lang="en-US"/>
          </a:p>
        </p:txBody>
      </p:sp>
      <p:sp>
        <p:nvSpPr>
          <p:cNvPr id="4" name="Footer Placeholder 3"/>
          <p:cNvSpPr>
            <a:spLocks noGrp="1"/>
          </p:cNvSpPr>
          <p:nvPr>
            <p:ph type="ftr" sz="quarter" idx="11"/>
          </p:nvPr>
        </p:nvSpPr>
        <p:spPr/>
        <p:txBody>
          <a:bodyPr/>
          <a:lstStyle/>
          <a:p>
            <a:r>
              <a:rPr lang="en-US"/>
              <a:t>Bùi Quốc Trung - VLDC</a:t>
            </a:r>
          </a:p>
        </p:txBody>
      </p:sp>
      <p:sp>
        <p:nvSpPr>
          <p:cNvPr id="5" name="Slide Number Placeholder 4"/>
          <p:cNvSpPr>
            <a:spLocks noGrp="1"/>
          </p:cNvSpPr>
          <p:nvPr>
            <p:ph type="sldNum" sz="quarter" idx="12"/>
          </p:nvPr>
        </p:nvSpPr>
        <p:spPr/>
        <p:txBody>
          <a:bodyPr/>
          <a:lstStyle/>
          <a:p>
            <a:fld id="{C4A94DE9-7404-4CC4-BDD8-EA2E97866C70}" type="slidenum">
              <a:rPr lang="en-US" smtClean="0"/>
              <a:t>‹#›</a:t>
            </a:fld>
            <a:endParaRPr lang="en-US"/>
          </a:p>
        </p:txBody>
      </p:sp>
    </p:spTree>
    <p:extLst>
      <p:ext uri="{BB962C8B-B14F-4D97-AF65-F5344CB8AC3E}">
        <p14:creationId xmlns:p14="http://schemas.microsoft.com/office/powerpoint/2010/main" val="3328077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C3F4F4-FBFE-4EB8-82A3-70B33142C780}" type="datetime1">
              <a:rPr lang="en-US" smtClean="0"/>
              <a:t>9/30/2025</a:t>
            </a:fld>
            <a:endParaRPr lang="en-US"/>
          </a:p>
        </p:txBody>
      </p:sp>
      <p:sp>
        <p:nvSpPr>
          <p:cNvPr id="3" name="Footer Placeholder 2"/>
          <p:cNvSpPr>
            <a:spLocks noGrp="1"/>
          </p:cNvSpPr>
          <p:nvPr>
            <p:ph type="ftr" sz="quarter" idx="11"/>
          </p:nvPr>
        </p:nvSpPr>
        <p:spPr/>
        <p:txBody>
          <a:bodyPr/>
          <a:lstStyle/>
          <a:p>
            <a:r>
              <a:rPr lang="en-US"/>
              <a:t>Bùi Quốc Trung - VLDC</a:t>
            </a:r>
          </a:p>
        </p:txBody>
      </p:sp>
      <p:sp>
        <p:nvSpPr>
          <p:cNvPr id="4" name="Slide Number Placeholder 3"/>
          <p:cNvSpPr>
            <a:spLocks noGrp="1"/>
          </p:cNvSpPr>
          <p:nvPr>
            <p:ph type="sldNum" sz="quarter" idx="12"/>
          </p:nvPr>
        </p:nvSpPr>
        <p:spPr/>
        <p:txBody>
          <a:bodyPr/>
          <a:lstStyle/>
          <a:p>
            <a:fld id="{C4A94DE9-7404-4CC4-BDD8-EA2E97866C70}" type="slidenum">
              <a:rPr lang="en-US" smtClean="0"/>
              <a:t>‹#›</a:t>
            </a:fld>
            <a:endParaRPr lang="en-US"/>
          </a:p>
        </p:txBody>
      </p:sp>
    </p:spTree>
    <p:extLst>
      <p:ext uri="{BB962C8B-B14F-4D97-AF65-F5344CB8AC3E}">
        <p14:creationId xmlns:p14="http://schemas.microsoft.com/office/powerpoint/2010/main" val="2078205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B2A87E-3F09-4850-91AB-4813D4E56484}" type="datetime1">
              <a:rPr lang="en-US" smtClean="0"/>
              <a:t>9/30/2025</a:t>
            </a:fld>
            <a:endParaRPr lang="en-US"/>
          </a:p>
        </p:txBody>
      </p:sp>
      <p:sp>
        <p:nvSpPr>
          <p:cNvPr id="6" name="Footer Placeholder 5"/>
          <p:cNvSpPr>
            <a:spLocks noGrp="1"/>
          </p:cNvSpPr>
          <p:nvPr>
            <p:ph type="ftr" sz="quarter" idx="11"/>
          </p:nvPr>
        </p:nvSpPr>
        <p:spPr/>
        <p:txBody>
          <a:bodyPr/>
          <a:lstStyle/>
          <a:p>
            <a:r>
              <a:rPr lang="en-US"/>
              <a:t>Bùi Quốc Trung - VLDC</a:t>
            </a:r>
          </a:p>
        </p:txBody>
      </p:sp>
      <p:sp>
        <p:nvSpPr>
          <p:cNvPr id="7" name="Slide Number Placeholder 6"/>
          <p:cNvSpPr>
            <a:spLocks noGrp="1"/>
          </p:cNvSpPr>
          <p:nvPr>
            <p:ph type="sldNum" sz="quarter" idx="12"/>
          </p:nvPr>
        </p:nvSpPr>
        <p:spPr/>
        <p:txBody>
          <a:bodyPr/>
          <a:lstStyle/>
          <a:p>
            <a:fld id="{C4A94DE9-7404-4CC4-BDD8-EA2E97866C70}" type="slidenum">
              <a:rPr lang="en-US" smtClean="0"/>
              <a:t>‹#›</a:t>
            </a:fld>
            <a:endParaRPr lang="en-US"/>
          </a:p>
        </p:txBody>
      </p:sp>
    </p:spTree>
    <p:extLst>
      <p:ext uri="{BB962C8B-B14F-4D97-AF65-F5344CB8AC3E}">
        <p14:creationId xmlns:p14="http://schemas.microsoft.com/office/powerpoint/2010/main" val="2272638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14753E0-3157-4DF0-8915-0FA5EACC4CD4}" type="datetime1">
              <a:rPr lang="en-US" smtClean="0"/>
              <a:t>9/30/2025</a:t>
            </a:fld>
            <a:endParaRPr lang="en-US"/>
          </a:p>
        </p:txBody>
      </p:sp>
      <p:sp>
        <p:nvSpPr>
          <p:cNvPr id="6" name="Footer Placeholder 5"/>
          <p:cNvSpPr>
            <a:spLocks noGrp="1"/>
          </p:cNvSpPr>
          <p:nvPr>
            <p:ph type="ftr" sz="quarter" idx="11"/>
          </p:nvPr>
        </p:nvSpPr>
        <p:spPr/>
        <p:txBody>
          <a:bodyPr/>
          <a:lstStyle/>
          <a:p>
            <a:r>
              <a:rPr lang="en-US"/>
              <a:t>Bùi Quốc Trung - VLDC</a:t>
            </a:r>
          </a:p>
        </p:txBody>
      </p:sp>
      <p:sp>
        <p:nvSpPr>
          <p:cNvPr id="7" name="Slide Number Placeholder 6"/>
          <p:cNvSpPr>
            <a:spLocks noGrp="1"/>
          </p:cNvSpPr>
          <p:nvPr>
            <p:ph type="sldNum" sz="quarter" idx="12"/>
          </p:nvPr>
        </p:nvSpPr>
        <p:spPr/>
        <p:txBody>
          <a:bodyPr/>
          <a:lstStyle/>
          <a:p>
            <a:fld id="{C4A94DE9-7404-4CC4-BDD8-EA2E97866C70}" type="slidenum">
              <a:rPr lang="en-US" smtClean="0"/>
              <a:t>‹#›</a:t>
            </a:fld>
            <a:endParaRPr lang="en-US"/>
          </a:p>
        </p:txBody>
      </p:sp>
    </p:spTree>
    <p:extLst>
      <p:ext uri="{BB962C8B-B14F-4D97-AF65-F5344CB8AC3E}">
        <p14:creationId xmlns:p14="http://schemas.microsoft.com/office/powerpoint/2010/main" val="2205147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EF691F-7842-4B76-8022-4A3F9870499F}" type="datetime1">
              <a:rPr lang="en-US" smtClean="0"/>
              <a:t>9/30/2025</a:t>
            </a:fld>
            <a:endParaRPr lang="en-US"/>
          </a:p>
        </p:txBody>
      </p:sp>
      <p:sp>
        <p:nvSpPr>
          <p:cNvPr id="5" name="Footer Placeholder 4"/>
          <p:cNvSpPr>
            <a:spLocks noGrp="1"/>
          </p:cNvSpPr>
          <p:nvPr>
            <p:ph type="ftr" sz="quarter" idx="11"/>
          </p:nvPr>
        </p:nvSpPr>
        <p:spPr/>
        <p:txBody>
          <a:bodyPr/>
          <a:lstStyle/>
          <a:p>
            <a:r>
              <a:rPr lang="en-US"/>
              <a:t>Bùi Quốc Trung - VLDC</a:t>
            </a:r>
          </a:p>
        </p:txBody>
      </p:sp>
      <p:sp>
        <p:nvSpPr>
          <p:cNvPr id="6" name="Slide Number Placeholder 5"/>
          <p:cNvSpPr>
            <a:spLocks noGrp="1"/>
          </p:cNvSpPr>
          <p:nvPr>
            <p:ph type="sldNum" sz="quarter" idx="12"/>
          </p:nvPr>
        </p:nvSpPr>
        <p:spPr/>
        <p:txBody>
          <a:bodyPr/>
          <a:lstStyle/>
          <a:p>
            <a:fld id="{C4A94DE9-7404-4CC4-BDD8-EA2E97866C70}" type="slidenum">
              <a:rPr lang="en-US" smtClean="0"/>
              <a:t>‹#›</a:t>
            </a:fld>
            <a:endParaRPr lang="en-US"/>
          </a:p>
        </p:txBody>
      </p:sp>
    </p:spTree>
    <p:extLst>
      <p:ext uri="{BB962C8B-B14F-4D97-AF65-F5344CB8AC3E}">
        <p14:creationId xmlns:p14="http://schemas.microsoft.com/office/powerpoint/2010/main" val="552060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C4D5BB-A6E4-4BB9-A5DB-8FBF29AED792}" type="datetime1">
              <a:rPr lang="en-US" smtClean="0"/>
              <a:t>9/30/2025</a:t>
            </a:fld>
            <a:endParaRPr lang="en-US"/>
          </a:p>
        </p:txBody>
      </p:sp>
      <p:sp>
        <p:nvSpPr>
          <p:cNvPr id="5" name="Footer Placeholder 4"/>
          <p:cNvSpPr>
            <a:spLocks noGrp="1"/>
          </p:cNvSpPr>
          <p:nvPr>
            <p:ph type="ftr" sz="quarter" idx="11"/>
          </p:nvPr>
        </p:nvSpPr>
        <p:spPr/>
        <p:txBody>
          <a:bodyPr/>
          <a:lstStyle/>
          <a:p>
            <a:r>
              <a:rPr lang="en-US"/>
              <a:t>Bùi Quốc Trung - VLDC</a:t>
            </a:r>
          </a:p>
        </p:txBody>
      </p:sp>
      <p:sp>
        <p:nvSpPr>
          <p:cNvPr id="6" name="Slide Number Placeholder 5"/>
          <p:cNvSpPr>
            <a:spLocks noGrp="1"/>
          </p:cNvSpPr>
          <p:nvPr>
            <p:ph type="sldNum" sz="quarter" idx="12"/>
          </p:nvPr>
        </p:nvSpPr>
        <p:spPr/>
        <p:txBody>
          <a:bodyPr/>
          <a:lstStyle/>
          <a:p>
            <a:fld id="{C4A94DE9-7404-4CC4-BDD8-EA2E97866C70}" type="slidenum">
              <a:rPr lang="en-US" smtClean="0"/>
              <a:t>‹#›</a:t>
            </a:fld>
            <a:endParaRPr lang="en-US"/>
          </a:p>
        </p:txBody>
      </p:sp>
    </p:spTree>
    <p:extLst>
      <p:ext uri="{BB962C8B-B14F-4D97-AF65-F5344CB8AC3E}">
        <p14:creationId xmlns:p14="http://schemas.microsoft.com/office/powerpoint/2010/main" val="1202223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1_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p:cNvSpPr>
            <a:spLocks noGrp="1"/>
          </p:cNvSpPr>
          <p:nvPr>
            <p:ph type="dt" sz="half" idx="10"/>
          </p:nvPr>
        </p:nvSpPr>
        <p:spPr/>
        <p:txBody>
          <a:bodyPr/>
          <a:lstStyle>
            <a:lvl1pPr>
              <a:defRPr/>
            </a:lvl1pPr>
          </a:lstStyle>
          <a:p>
            <a:pPr>
              <a:defRPr/>
            </a:pPr>
            <a:fld id="{61E44FC0-783A-409C-A047-984465DFA900}" type="datetime1">
              <a:rPr lang="en-US" smtClean="0"/>
              <a:t>9/30/2025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Bùi Quốc Trung - VLDC</a:t>
            </a:r>
          </a:p>
        </p:txBody>
      </p:sp>
      <p:sp>
        <p:nvSpPr>
          <p:cNvPr id="5" name="Slide Number Placeholder 5"/>
          <p:cNvSpPr>
            <a:spLocks noGrp="1"/>
          </p:cNvSpPr>
          <p:nvPr>
            <p:ph type="sldNum" sz="quarter" idx="12"/>
          </p:nvPr>
        </p:nvSpPr>
        <p:spPr/>
        <p:txBody>
          <a:bodyPr/>
          <a:lstStyle>
            <a:lvl1pPr>
              <a:defRPr/>
            </a:lvl1pPr>
          </a:lstStyle>
          <a:p>
            <a:pPr>
              <a:defRPr/>
            </a:pPr>
            <a:fld id="{76921531-3DE4-4FE6-8586-93C8C3054BFB}" type="slidenum">
              <a:rPr lang="en-US"/>
              <a:pPr>
                <a:defRPr/>
              </a:pPr>
              <a:t>‹#›</a:t>
            </a:fld>
            <a:endParaRPr lang="en-US"/>
          </a:p>
        </p:txBody>
      </p:sp>
    </p:spTree>
    <p:extLst>
      <p:ext uri="{BB962C8B-B14F-4D97-AF65-F5344CB8AC3E}">
        <p14:creationId xmlns:p14="http://schemas.microsoft.com/office/powerpoint/2010/main" val="3183775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26A1BA-3530-444D-B1D6-AD8BD0534408}" type="datetime1">
              <a:rPr lang="en-US" smtClean="0"/>
              <a:t>9/30/2025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Bùi Quốc Trung - VLDC</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A94DE9-7404-4CC4-BDD8-EA2E97866C70}" type="slidenum">
              <a:rPr lang="en-US" smtClean="0"/>
              <a:t>‹#›</a:t>
            </a:fld>
            <a:endParaRPr lang="en-US"/>
          </a:p>
        </p:txBody>
      </p:sp>
    </p:spTree>
    <p:extLst>
      <p:ext uri="{BB962C8B-B14F-4D97-AF65-F5344CB8AC3E}">
        <p14:creationId xmlns:p14="http://schemas.microsoft.com/office/powerpoint/2010/main" val="193192113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hyperlink" Target="../th&#7911;y%20tri&#7873;u.mp4" TargetMode="External"/><Relationship Id="rId7" Type="http://schemas.openxmlformats.org/officeDocument/2006/relationships/image" Target="../media/image8.wmf"/><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oleObject" Target="../embeddings/oleObject1.bin"/><Relationship Id="rId5" Type="http://schemas.openxmlformats.org/officeDocument/2006/relationships/image" Target="../media/image1.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6.bin"/><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12.wm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0.wmf"/><Relationship Id="rId11" Type="http://schemas.openxmlformats.org/officeDocument/2006/relationships/oleObject" Target="../embeddings/oleObject5.bin"/><Relationship Id="rId5" Type="http://schemas.openxmlformats.org/officeDocument/2006/relationships/oleObject" Target="../embeddings/oleObject3.bin"/><Relationship Id="rId10" Type="http://schemas.openxmlformats.org/officeDocument/2006/relationships/image" Target="../media/image13.png"/><Relationship Id="rId4" Type="http://schemas.openxmlformats.org/officeDocument/2006/relationships/image" Target="../media/image9.wmf"/><Relationship Id="rId14" Type="http://schemas.openxmlformats.org/officeDocument/2006/relationships/image" Target="../media/image13.wmf"/></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image" Target="../media/image19.png"/><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8.wmf"/><Relationship Id="rId2" Type="http://schemas.openxmlformats.org/officeDocument/2006/relationships/image" Target="../media/image1.png"/><Relationship Id="rId16"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15.wmf"/><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image" Target="../media/image21.png"/><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0.bin"/><Relationship Id="rId1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oleObject" Target="../embeddings/oleObject17.bin"/><Relationship Id="rId18" Type="http://schemas.openxmlformats.org/officeDocument/2006/relationships/image" Target="../media/image30.wmf"/><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27.wmf"/><Relationship Id="rId17" Type="http://schemas.openxmlformats.org/officeDocument/2006/relationships/oleObject" Target="../embeddings/oleObject19.bin"/><Relationship Id="rId2" Type="http://schemas.openxmlformats.org/officeDocument/2006/relationships/image" Target="../media/image1.png"/><Relationship Id="rId16" Type="http://schemas.openxmlformats.org/officeDocument/2006/relationships/image" Target="../media/image29.wmf"/><Relationship Id="rId20"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24.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oleObject" Target="../embeddings/oleObject18.bin"/><Relationship Id="rId23" Type="http://schemas.openxmlformats.org/officeDocument/2006/relationships/image" Target="../media/image340.png"/><Relationship Id="rId10" Type="http://schemas.openxmlformats.org/officeDocument/2006/relationships/image" Target="../media/image26.emf"/><Relationship Id="rId19" Type="http://schemas.openxmlformats.org/officeDocument/2006/relationships/image" Target="../media/image31.png"/><Relationship Id="rId4" Type="http://schemas.openxmlformats.org/officeDocument/2006/relationships/image" Target="../media/image23.wmf"/><Relationship Id="rId9" Type="http://schemas.openxmlformats.org/officeDocument/2006/relationships/oleObject" Target="../embeddings/oleObject15.bin"/><Relationship Id="rId14" Type="http://schemas.openxmlformats.org/officeDocument/2006/relationships/image" Target="../media/image28.wmf"/><Relationship Id="rId22" Type="http://schemas.openxmlformats.org/officeDocument/2006/relationships/image" Target="../media/image3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70.png"/><Relationship Id="rId4" Type="http://schemas.openxmlformats.org/officeDocument/2006/relationships/image" Target="../media/image33.wmf"/></Relationships>
</file>

<file path=ppt/slides/_rels/slide24.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2.xml"/><Relationship Id="rId4" Type="http://schemas.openxmlformats.org/officeDocument/2006/relationships/image" Target="../media/image36.JPG"/></Relationships>
</file>

<file path=ppt/slides/_rels/slide26.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106.png"/><Relationship Id="rId1" Type="http://schemas.openxmlformats.org/officeDocument/2006/relationships/slideLayout" Target="../slideLayouts/slideLayout2.xml"/><Relationship Id="rId4" Type="http://schemas.openxmlformats.org/officeDocument/2006/relationships/image" Target="../media/image1010.png"/></Relationships>
</file>

<file path=ppt/slides/_rels/slide2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07.png"/><Relationship Id="rId4" Type="http://schemas.openxmlformats.org/officeDocument/2006/relationships/image" Target="../media/image103.png"/></Relationships>
</file>

<file path=ppt/slides/_rels/slide30.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070.png"/><Relationship Id="rId5" Type="http://schemas.openxmlformats.org/officeDocument/2006/relationships/image" Target="../media/image1061.png"/><Relationship Id="rId4" Type="http://schemas.openxmlformats.org/officeDocument/2006/relationships/image" Target="../media/image105.png"/></Relationships>
</file>

<file path=ppt/slides/_rels/slide31.xml.rels><?xml version="1.0" encoding="UTF-8" standalone="yes"?>
<Relationships xmlns="http://schemas.openxmlformats.org/package/2006/relationships"><Relationship Id="rId7" Type="http://schemas.openxmlformats.org/officeDocument/2006/relationships/image" Target="../media/image1000.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99.png"/><Relationship Id="rId5" Type="http://schemas.openxmlformats.org/officeDocument/2006/relationships/image" Target="../media/image34.JPG"/><Relationship Id="rId4" Type="http://schemas.openxmlformats.org/officeDocument/2006/relationships/image" Target="../media/image1060.png"/></Relationships>
</file>

<file path=ppt/slides/_rels/slide32.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jpg"/><Relationship Id="rId1" Type="http://schemas.openxmlformats.org/officeDocument/2006/relationships/slideLayout" Target="../slideLayouts/slideLayout2.xml"/><Relationship Id="rId4" Type="http://schemas.openxmlformats.org/officeDocument/2006/relationships/image" Target="../media/image39.jpg"/></Relationships>
</file>

<file path=ppt/slides/_rels/slide33.xml.rels><?xml version="1.0" encoding="UTF-8" standalone="yes"?>
<Relationships xmlns="http://schemas.openxmlformats.org/package/2006/relationships"><Relationship Id="rId8" Type="http://schemas.openxmlformats.org/officeDocument/2006/relationships/image" Target="../media/image40.jpg"/><Relationship Id="rId3" Type="http://schemas.openxmlformats.org/officeDocument/2006/relationships/oleObject" Target="../embeddings/oleObject21.bin"/><Relationship Id="rId7" Type="http://schemas.openxmlformats.org/officeDocument/2006/relationships/hyperlink" Target="https://www.youtube.com/watch?v=EzNfvwPCFs0"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4.png"/><Relationship Id="rId9" Type="http://schemas.openxmlformats.org/officeDocument/2006/relationships/image" Target="../media/image41.jpg"/></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1.bin"/><Relationship Id="rId7" Type="http://schemas.openxmlformats.org/officeDocument/2006/relationships/image" Target="../media/image6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8" Type="http://schemas.openxmlformats.org/officeDocument/2006/relationships/image" Target="../media/image410.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0.png"/><Relationship Id="rId7" Type="http://schemas.openxmlformats.org/officeDocument/2006/relationships/image" Target="../media/image48.png"/><Relationship Id="rId2" Type="http://schemas.openxmlformats.org/officeDocument/2006/relationships/image" Target="../media/image420.png"/><Relationship Id="rId1" Type="http://schemas.openxmlformats.org/officeDocument/2006/relationships/slideLayout" Target="../slideLayouts/slideLayout7.xml"/><Relationship Id="rId6" Type="http://schemas.openxmlformats.org/officeDocument/2006/relationships/image" Target="../media/image470.png"/><Relationship Id="rId5" Type="http://schemas.openxmlformats.org/officeDocument/2006/relationships/image" Target="../media/image460.png"/><Relationship Id="rId4" Type="http://schemas.openxmlformats.org/officeDocument/2006/relationships/image" Target="../media/image45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hyperlink" Target="file:///D:\Word%20and%20Study\DH%20CNTP\Tai%20lieu%20tham%20khao%20VLDC\Flash\Co%20hoc\Vachamdanhoi1.swf"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file:///D:\Word%20and%20Study\DH%20CNTP\Tai%20lieu%20tham%20khao%20VLDC\Flash\Co%20hoc\Vachamdanhoi1.swf" TargetMode="External"/><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image" Target="../media/image54.png"/><Relationship Id="rId7" Type="http://schemas.openxmlformats.org/officeDocument/2006/relationships/image" Target="../media/image57.wm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oleObject" Target="../embeddings/oleObject23.bin"/><Relationship Id="rId5" Type="http://schemas.openxmlformats.org/officeDocument/2006/relationships/image" Target="../media/image56.wmf"/><Relationship Id="rId4" Type="http://schemas.openxmlformats.org/officeDocument/2006/relationships/oleObject" Target="../embeddings/oleObject22.bin"/><Relationship Id="rId9" Type="http://schemas.openxmlformats.org/officeDocument/2006/relationships/image" Target="../media/image58.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image" Target="../media/image60.jpeg"/><Relationship Id="rId7" Type="http://schemas.openxmlformats.org/officeDocument/2006/relationships/image" Target="../media/image63.wmf"/><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oleObject" Target="../embeddings/oleObject25.bin"/><Relationship Id="rId11" Type="http://schemas.openxmlformats.org/officeDocument/2006/relationships/image" Target="../media/image65.wmf"/><Relationship Id="rId5" Type="http://schemas.openxmlformats.org/officeDocument/2006/relationships/image" Target="../media/image62.jpeg"/><Relationship Id="rId10" Type="http://schemas.openxmlformats.org/officeDocument/2006/relationships/oleObject" Target="../embeddings/oleObject27.bin"/><Relationship Id="rId4" Type="http://schemas.openxmlformats.org/officeDocument/2006/relationships/image" Target="../media/image61.jpeg"/><Relationship Id="rId9" Type="http://schemas.openxmlformats.org/officeDocument/2006/relationships/image" Target="../media/image64.wmf"/></Relationships>
</file>

<file path=ppt/slides/_rels/slide4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slideLayout" Target="../slideLayouts/slideLayout12.xml"/><Relationship Id="rId4" Type="http://schemas.openxmlformats.org/officeDocument/2006/relationships/image" Target="../media/image59.png"/></Relationships>
</file>

<file path=ppt/slides/_rels/slide52.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8.wmf"/><Relationship Id="rId7" Type="http://schemas.openxmlformats.org/officeDocument/2006/relationships/image" Target="../media/image70.emf"/><Relationship Id="rId2"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30.bin"/><Relationship Id="rId5" Type="http://schemas.openxmlformats.org/officeDocument/2006/relationships/image" Target="../media/image69.emf"/><Relationship Id="rId4" Type="http://schemas.openxmlformats.org/officeDocument/2006/relationships/oleObject" Target="../embeddings/oleObject29.bin"/><Relationship Id="rId9" Type="http://schemas.openxmlformats.org/officeDocument/2006/relationships/image" Target="../media/image72.png"/></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image" Target="../media/image78.wmf"/><Relationship Id="rId18" Type="http://schemas.openxmlformats.org/officeDocument/2006/relationships/image" Target="../media/image81.png"/><Relationship Id="rId3" Type="http://schemas.openxmlformats.org/officeDocument/2006/relationships/image" Target="../media/image73.wmf"/><Relationship Id="rId7" Type="http://schemas.openxmlformats.org/officeDocument/2006/relationships/image" Target="../media/image75.wmf"/><Relationship Id="rId12" Type="http://schemas.openxmlformats.org/officeDocument/2006/relationships/oleObject" Target="../embeddings/oleObject36.bin"/><Relationship Id="rId17" Type="http://schemas.openxmlformats.org/officeDocument/2006/relationships/image" Target="../media/image80.wmf"/><Relationship Id="rId2" Type="http://schemas.openxmlformats.org/officeDocument/2006/relationships/oleObject" Target="../embeddings/oleObject31.bin"/><Relationship Id="rId16" Type="http://schemas.openxmlformats.org/officeDocument/2006/relationships/oleObject" Target="../embeddings/oleObject38.bin"/><Relationship Id="rId1" Type="http://schemas.openxmlformats.org/officeDocument/2006/relationships/slideLayout" Target="../slideLayouts/slideLayout2.xml"/><Relationship Id="rId6" Type="http://schemas.openxmlformats.org/officeDocument/2006/relationships/oleObject" Target="../embeddings/oleObject33.bin"/><Relationship Id="rId11" Type="http://schemas.openxmlformats.org/officeDocument/2006/relationships/image" Target="../media/image77.wmf"/><Relationship Id="rId5" Type="http://schemas.openxmlformats.org/officeDocument/2006/relationships/image" Target="../media/image74.wmf"/><Relationship Id="rId15" Type="http://schemas.openxmlformats.org/officeDocument/2006/relationships/image" Target="../media/image79.wmf"/><Relationship Id="rId10" Type="http://schemas.openxmlformats.org/officeDocument/2006/relationships/oleObject" Target="../embeddings/oleObject35.bin"/><Relationship Id="rId19" Type="http://schemas.openxmlformats.org/officeDocument/2006/relationships/image" Target="../media/image82.png"/><Relationship Id="rId4" Type="http://schemas.openxmlformats.org/officeDocument/2006/relationships/oleObject" Target="../embeddings/oleObject32.bin"/><Relationship Id="rId9" Type="http://schemas.openxmlformats.org/officeDocument/2006/relationships/image" Target="../media/image76.wmf"/><Relationship Id="rId14" Type="http://schemas.openxmlformats.org/officeDocument/2006/relationships/oleObject" Target="../embeddings/oleObject37.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42.bin"/><Relationship Id="rId13" Type="http://schemas.openxmlformats.org/officeDocument/2006/relationships/image" Target="../media/image88.png"/><Relationship Id="rId3" Type="http://schemas.openxmlformats.org/officeDocument/2006/relationships/image" Target="../media/image73.wmf"/><Relationship Id="rId7" Type="http://schemas.openxmlformats.org/officeDocument/2006/relationships/image" Target="../media/image84.wmf"/><Relationship Id="rId12" Type="http://schemas.openxmlformats.org/officeDocument/2006/relationships/image" Target="../media/image87.png"/><Relationship Id="rId2" Type="http://schemas.openxmlformats.org/officeDocument/2006/relationships/oleObject" Target="../embeddings/oleObject39.bin"/><Relationship Id="rId16" Type="http://schemas.openxmlformats.org/officeDocument/2006/relationships/image" Target="../media/image91.png"/><Relationship Id="rId1" Type="http://schemas.openxmlformats.org/officeDocument/2006/relationships/slideLayout" Target="../slideLayouts/slideLayout2.xml"/><Relationship Id="rId6" Type="http://schemas.openxmlformats.org/officeDocument/2006/relationships/oleObject" Target="../embeddings/oleObject41.bin"/><Relationship Id="rId11" Type="http://schemas.openxmlformats.org/officeDocument/2006/relationships/image" Target="../media/image86.wmf"/><Relationship Id="rId5" Type="http://schemas.openxmlformats.org/officeDocument/2006/relationships/image" Target="../media/image83.wmf"/><Relationship Id="rId15" Type="http://schemas.openxmlformats.org/officeDocument/2006/relationships/image" Target="../media/image90.png"/><Relationship Id="rId10" Type="http://schemas.openxmlformats.org/officeDocument/2006/relationships/oleObject" Target="../embeddings/oleObject43.bin"/><Relationship Id="rId19" Type="http://schemas.openxmlformats.org/officeDocument/2006/relationships/image" Target="../media/image800.png"/><Relationship Id="rId4" Type="http://schemas.openxmlformats.org/officeDocument/2006/relationships/oleObject" Target="../embeddings/oleObject40.bin"/><Relationship Id="rId9" Type="http://schemas.openxmlformats.org/officeDocument/2006/relationships/image" Target="../media/image85.wmf"/><Relationship Id="rId14" Type="http://schemas.openxmlformats.org/officeDocument/2006/relationships/image" Target="../media/image89.png"/></Relationships>
</file>

<file path=ppt/slides/_rels/slide5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930.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62.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011.png"/></Relationships>
</file>

<file path=ppt/slides/_rels/slide6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oleObject" Target="../embeddings/oleObject44.bin"/><Relationship Id="rId7" Type="http://schemas.openxmlformats.org/officeDocument/2006/relationships/image" Target="../media/image11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02.emf"/><Relationship Id="rId5" Type="http://schemas.openxmlformats.org/officeDocument/2006/relationships/oleObject" Target="../embeddings/oleObject45.bin"/><Relationship Id="rId10" Type="http://schemas.openxmlformats.org/officeDocument/2006/relationships/image" Target="../media/image113.png"/><Relationship Id="rId4" Type="http://schemas.openxmlformats.org/officeDocument/2006/relationships/image" Target="../media/image101.emf"/><Relationship Id="rId9" Type="http://schemas.openxmlformats.org/officeDocument/2006/relationships/image" Target="../media/image112.png"/></Relationships>
</file>

<file path=ppt/slides/_rels/slide79.xml.rels><?xml version="1.0" encoding="UTF-8" standalone="yes"?>
<Relationships xmlns="http://schemas.openxmlformats.org/package/2006/relationships"><Relationship Id="rId8" Type="http://schemas.openxmlformats.org/officeDocument/2006/relationships/image" Target="../media/image116.emf"/><Relationship Id="rId13" Type="http://schemas.openxmlformats.org/officeDocument/2006/relationships/image" Target="../media/image120.png"/><Relationship Id="rId3" Type="http://schemas.openxmlformats.org/officeDocument/2006/relationships/image" Target="../media/image114.png"/><Relationship Id="rId7" Type="http://schemas.openxmlformats.org/officeDocument/2006/relationships/oleObject" Target="../embeddings/oleObject45.bin"/><Relationship Id="rId12" Type="http://schemas.openxmlformats.org/officeDocument/2006/relationships/image" Target="../media/image119.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oleObject" Target="../embeddings/oleObject46.bin"/><Relationship Id="rId11" Type="http://schemas.openxmlformats.org/officeDocument/2006/relationships/image" Target="../media/image118.png"/><Relationship Id="rId5" Type="http://schemas.openxmlformats.org/officeDocument/2006/relationships/image" Target="../media/image115.emf"/><Relationship Id="rId10" Type="http://schemas.openxmlformats.org/officeDocument/2006/relationships/image" Target="../media/image117.png"/><Relationship Id="rId4" Type="http://schemas.openxmlformats.org/officeDocument/2006/relationships/oleObject" Target="../embeddings/oleObject44.bin"/><Relationship Id="rId9" Type="http://schemas.openxmlformats.org/officeDocument/2006/relationships/image" Target="../media/image110.png"/></Relationships>
</file>

<file path=ppt/slides/_rels/slide8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image" Target="../media/image125.emf"/><Relationship Id="rId13" Type="http://schemas.openxmlformats.org/officeDocument/2006/relationships/image" Target="../media/image129.png"/><Relationship Id="rId3" Type="http://schemas.openxmlformats.org/officeDocument/2006/relationships/image" Target="../media/image123.png"/><Relationship Id="rId7" Type="http://schemas.openxmlformats.org/officeDocument/2006/relationships/oleObject" Target="../embeddings/oleObject49.bin"/><Relationship Id="rId12" Type="http://schemas.openxmlformats.org/officeDocument/2006/relationships/image" Target="../media/image128.pn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oleObject" Target="../embeddings/oleObject48.bin"/><Relationship Id="rId11" Type="http://schemas.openxmlformats.org/officeDocument/2006/relationships/image" Target="../media/image127.png"/><Relationship Id="rId5" Type="http://schemas.openxmlformats.org/officeDocument/2006/relationships/image" Target="../media/image124.emf"/><Relationship Id="rId10" Type="http://schemas.openxmlformats.org/officeDocument/2006/relationships/image" Target="../media/image126.emf"/><Relationship Id="rId4" Type="http://schemas.openxmlformats.org/officeDocument/2006/relationships/oleObject" Target="../embeddings/oleObject47.bin"/><Relationship Id="rId9" Type="http://schemas.openxmlformats.org/officeDocument/2006/relationships/oleObject" Target="../embeddings/oleObject50.bin"/></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24690" y="76200"/>
            <a:ext cx="8915400" cy="762000"/>
          </a:xfrm>
          <a:prstGeom prst="rect">
            <a:avLst/>
          </a:prstGeom>
          <a:gradFill>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5400000" scaled="0"/>
          </a:gradFill>
          <a:ln>
            <a:noFill/>
          </a:ln>
        </p:spPr>
        <p:txBody>
          <a:bodyPr lIns="0" tIns="0" rIns="18288" bIns="0" anchor="b">
            <a:normAutofit fontScale="92500"/>
            <a:scene3d>
              <a:camera prst="orthographicFront"/>
              <a:lightRig rig="freezing" dir="t">
                <a:rot lat="0" lon="0" rev="5640000"/>
              </a:lightRig>
            </a:scene3d>
            <a:sp3d prstMaterial="flat">
              <a:bevelT w="38100" h="38100"/>
              <a:contourClr>
                <a:schemeClr val="tx2"/>
              </a:contourClr>
            </a:sp3d>
          </a:bodyPr>
          <a:lstStyle/>
          <a:p>
            <a:pPr algn="ctr" fontAlgn="auto">
              <a:spcBef>
                <a:spcPts val="0"/>
              </a:spcBef>
              <a:spcAft>
                <a:spcPts val="0"/>
              </a:spcAft>
              <a:defRPr/>
            </a:pPr>
            <a:r>
              <a:rPr lang="en-US" sz="3600" b="1">
                <a:solidFill>
                  <a:srgbClr val="FFFF99"/>
                </a:solidFill>
                <a:effectLst>
                  <a:outerShdw blurRad="38100" dist="25400" dir="5400000" algn="tl" rotWithShape="0">
                    <a:srgbClr val="000000">
                      <a:alpha val="43000"/>
                    </a:srgbClr>
                  </a:outerShdw>
                </a:effectLst>
                <a:latin typeface="Times New Roman" pitchFamily="18" charset="0"/>
                <a:ea typeface="+mj-ea"/>
                <a:cs typeface="Times New Roman" pitchFamily="18" charset="0"/>
              </a:rPr>
              <a:t>CHƯƠNG 2: ĐỘNG LỰC HỌC CHẤT ĐIỂM</a:t>
            </a:r>
          </a:p>
        </p:txBody>
      </p:sp>
      <p:sp>
        <p:nvSpPr>
          <p:cNvPr id="8" name="Subtitle 2"/>
          <p:cNvSpPr txBox="1">
            <a:spLocks/>
          </p:cNvSpPr>
          <p:nvPr/>
        </p:nvSpPr>
        <p:spPr bwMode="auto">
          <a:xfrm>
            <a:off x="609600" y="990600"/>
            <a:ext cx="8229600" cy="5562600"/>
          </a:xfrm>
          <a:prstGeom prst="rect">
            <a:avLst/>
          </a:prstGeom>
          <a:noFill/>
          <a:ln w="9525">
            <a:noFill/>
            <a:miter lim="800000"/>
            <a:headEnd/>
            <a:tailEnd/>
          </a:ln>
        </p:spPr>
        <p:txBody>
          <a:bodyPr lIns="0" rIns="18288"/>
          <a:lstStyle/>
          <a:p>
            <a:pPr algn="just" fontAlgn="auto">
              <a:spcBef>
                <a:spcPts val="1800"/>
              </a:spcBef>
              <a:spcAft>
                <a:spcPts val="1800"/>
              </a:spcAft>
              <a:defRPr/>
            </a:pPr>
            <a:r>
              <a:rPr lang="en-US" sz="3200" b="1" dirty="0">
                <a:solidFill>
                  <a:srgbClr val="002060"/>
                </a:solidFill>
                <a:effectLst>
                  <a:outerShdw blurRad="38100" dist="38100" dir="2700000" algn="tl">
                    <a:srgbClr val="000000">
                      <a:alpha val="43137"/>
                    </a:srgbClr>
                  </a:outerShdw>
                </a:effectLst>
                <a:latin typeface="+mj-lt"/>
                <a:cs typeface="Times New Roman" pitchFamily="18" charset="0"/>
              </a:rPr>
              <a:t>2.1.</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Lực</a:t>
            </a:r>
            <a:r>
              <a:rPr lang="en-US" sz="3200" dirty="0">
                <a:solidFill>
                  <a:srgbClr val="C00000"/>
                </a:solidFill>
                <a:latin typeface="+mj-lt"/>
                <a:cs typeface="Times New Roman" pitchFamily="18" charset="0"/>
              </a:rPr>
              <a:t> – </a:t>
            </a:r>
            <a:r>
              <a:rPr lang="en-US" sz="3200" dirty="0" err="1">
                <a:solidFill>
                  <a:srgbClr val="C00000"/>
                </a:solidFill>
                <a:latin typeface="+mj-lt"/>
                <a:cs typeface="Times New Roman" pitchFamily="18" charset="0"/>
              </a:rPr>
              <a:t>tương</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tác</a:t>
            </a:r>
            <a:r>
              <a:rPr lang="en-US" sz="3200" dirty="0">
                <a:solidFill>
                  <a:srgbClr val="C00000"/>
                </a:solidFill>
                <a:latin typeface="+mj-lt"/>
                <a:cs typeface="Times New Roman" pitchFamily="18" charset="0"/>
              </a:rPr>
              <a:t> – </a:t>
            </a:r>
            <a:r>
              <a:rPr lang="en-US" sz="3200" dirty="0" err="1">
                <a:solidFill>
                  <a:srgbClr val="C00000"/>
                </a:solidFill>
                <a:latin typeface="+mj-lt"/>
                <a:cs typeface="Times New Roman" pitchFamily="18" charset="0"/>
              </a:rPr>
              <a:t>Các</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định</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luật</a:t>
            </a:r>
            <a:r>
              <a:rPr lang="en-US" sz="3200" dirty="0">
                <a:solidFill>
                  <a:srgbClr val="C00000"/>
                </a:solidFill>
                <a:latin typeface="+mj-lt"/>
                <a:cs typeface="Times New Roman" pitchFamily="18" charset="0"/>
              </a:rPr>
              <a:t> Newton</a:t>
            </a:r>
            <a:endParaRPr lang="en-US" sz="3200" dirty="0">
              <a:solidFill>
                <a:srgbClr val="C00000"/>
              </a:solidFill>
              <a:effectLst>
                <a:outerShdw blurRad="38100" dist="38100" dir="2700000" algn="tl" rotWithShape="0">
                  <a:srgbClr val="000000">
                    <a:alpha val="43137"/>
                  </a:srgbClr>
                </a:outerShdw>
              </a:effectLst>
              <a:latin typeface="+mj-lt"/>
              <a:cs typeface="Times New Roman" pitchFamily="18" charset="0"/>
            </a:endParaRPr>
          </a:p>
          <a:p>
            <a:pPr algn="just" fontAlgn="auto">
              <a:spcBef>
                <a:spcPts val="1800"/>
              </a:spcBef>
              <a:spcAft>
                <a:spcPts val="1800"/>
              </a:spcAft>
              <a:defRPr/>
            </a:pPr>
            <a:r>
              <a:rPr lang="en-US" sz="3200" b="1" dirty="0">
                <a:solidFill>
                  <a:srgbClr val="002060"/>
                </a:solidFill>
                <a:effectLst>
                  <a:outerShdw blurRad="38100" dist="38100" dir="2700000" algn="tl">
                    <a:srgbClr val="000000">
                      <a:alpha val="43137"/>
                    </a:srgbClr>
                  </a:outerShdw>
                </a:effectLst>
                <a:latin typeface="+mj-lt"/>
                <a:cs typeface="Times New Roman" pitchFamily="18" charset="0"/>
              </a:rPr>
              <a:t>2.2.</a:t>
            </a:r>
            <a:r>
              <a:rPr lang="en-US" sz="3200" b="1" dirty="0">
                <a:solidFill>
                  <a:srgbClr val="002060"/>
                </a:solidFill>
                <a:latin typeface="+mj-lt"/>
                <a:cs typeface="Times New Roman" pitchFamily="18" charset="0"/>
              </a:rPr>
              <a:t> </a:t>
            </a:r>
            <a:r>
              <a:rPr lang="vi-VN" sz="3200" dirty="0">
                <a:solidFill>
                  <a:srgbClr val="C00000"/>
                </a:solidFill>
                <a:latin typeface="+mj-lt"/>
                <a:cs typeface="Times New Roman" pitchFamily="18" charset="0"/>
              </a:rPr>
              <a:t>Các lực cơ học </a:t>
            </a:r>
            <a:endParaRPr lang="en-US" sz="3200" dirty="0">
              <a:solidFill>
                <a:srgbClr val="C00000"/>
              </a:solidFill>
              <a:latin typeface="+mj-lt"/>
              <a:cs typeface="Times New Roman" pitchFamily="18" charset="0"/>
            </a:endParaRPr>
          </a:p>
          <a:p>
            <a:pPr algn="just" fontAlgn="auto">
              <a:spcBef>
                <a:spcPts val="1800"/>
              </a:spcBef>
              <a:spcAft>
                <a:spcPts val="1800"/>
              </a:spcAft>
              <a:defRPr/>
            </a:pPr>
            <a:r>
              <a:rPr lang="en-US" sz="3200" b="1" dirty="0">
                <a:solidFill>
                  <a:srgbClr val="002060"/>
                </a:solidFill>
                <a:effectLst>
                  <a:outerShdw blurRad="38100" dist="38100" dir="2700000" algn="tl">
                    <a:srgbClr val="000000">
                      <a:alpha val="43137"/>
                    </a:srgbClr>
                  </a:outerShdw>
                </a:effectLst>
                <a:latin typeface="+mj-lt"/>
                <a:cs typeface="Times New Roman" pitchFamily="18" charset="0"/>
              </a:rPr>
              <a:t>2.3. </a:t>
            </a:r>
            <a:r>
              <a:rPr lang="en-US" sz="3200" dirty="0" err="1">
                <a:solidFill>
                  <a:srgbClr val="C00000"/>
                </a:solidFill>
                <a:latin typeface="+mj-lt"/>
                <a:cs typeface="Times New Roman" pitchFamily="18" charset="0"/>
              </a:rPr>
              <a:t>Động</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lượng</a:t>
            </a:r>
            <a:endParaRPr lang="en-US" sz="3200" dirty="0">
              <a:solidFill>
                <a:srgbClr val="C00000"/>
              </a:solidFill>
              <a:latin typeface="+mj-lt"/>
              <a:cs typeface="Times New Roman" pitchFamily="18" charset="0"/>
            </a:endParaRPr>
          </a:p>
          <a:p>
            <a:pPr algn="just" fontAlgn="auto">
              <a:spcBef>
                <a:spcPts val="1800"/>
              </a:spcBef>
              <a:spcAft>
                <a:spcPts val="1800"/>
              </a:spcAft>
              <a:defRPr/>
            </a:pPr>
            <a:r>
              <a:rPr lang="en-US" sz="3200" b="1" dirty="0">
                <a:solidFill>
                  <a:srgbClr val="002060"/>
                </a:solidFill>
                <a:effectLst>
                  <a:outerShdw blurRad="38100" dist="38100" dir="2700000" algn="tl">
                    <a:srgbClr val="000000">
                      <a:alpha val="43137"/>
                    </a:srgbClr>
                  </a:outerShdw>
                </a:effectLst>
                <a:latin typeface="+mj-lt"/>
                <a:cs typeface="Times New Roman" pitchFamily="18" charset="0"/>
              </a:rPr>
              <a:t>2.4. </a:t>
            </a:r>
            <a:r>
              <a:rPr lang="en-US" sz="3200" dirty="0" err="1">
                <a:solidFill>
                  <a:srgbClr val="C00000"/>
                </a:solidFill>
                <a:latin typeface="+mj-lt"/>
                <a:cs typeface="Times New Roman" pitchFamily="18" charset="0"/>
              </a:rPr>
              <a:t>Ứng</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dụng</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của</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lực</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trong</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các</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máy</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cơ</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đơn</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giản</a:t>
            </a:r>
            <a:endParaRPr lang="en-US" sz="3200" dirty="0">
              <a:solidFill>
                <a:srgbClr val="C00000"/>
              </a:solidFill>
              <a:latin typeface="+mj-lt"/>
              <a:cs typeface="Times New Roman" pitchFamily="18" charset="0"/>
            </a:endParaRPr>
          </a:p>
          <a:p>
            <a:pPr algn="just" fontAlgn="auto">
              <a:spcBef>
                <a:spcPts val="1800"/>
              </a:spcBef>
              <a:spcAft>
                <a:spcPts val="1800"/>
              </a:spcAft>
              <a:defRPr/>
            </a:pPr>
            <a:r>
              <a:rPr lang="en-US" sz="3200" b="1" dirty="0">
                <a:solidFill>
                  <a:srgbClr val="002060"/>
                </a:solidFill>
                <a:effectLst>
                  <a:outerShdw blurRad="38100" dist="38100" dir="2700000" algn="tl">
                    <a:srgbClr val="000000">
                      <a:alpha val="43137"/>
                    </a:srgbClr>
                  </a:outerShdw>
                </a:effectLst>
                <a:latin typeface="+mj-lt"/>
                <a:cs typeface="Times New Roman" pitchFamily="18" charset="0"/>
              </a:rPr>
              <a:t>2.5. </a:t>
            </a:r>
            <a:r>
              <a:rPr lang="en-US" sz="3200" dirty="0" err="1">
                <a:solidFill>
                  <a:srgbClr val="C00000"/>
                </a:solidFill>
                <a:latin typeface="+mj-lt"/>
                <a:cs typeface="Times New Roman" pitchFamily="18" charset="0"/>
              </a:rPr>
              <a:t>Chuyển</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động</a:t>
            </a:r>
            <a:r>
              <a:rPr lang="en-US" sz="3200" dirty="0">
                <a:solidFill>
                  <a:srgbClr val="C00000"/>
                </a:solidFill>
                <a:latin typeface="+mj-lt"/>
                <a:cs typeface="Times New Roman" pitchFamily="18" charset="0"/>
              </a:rPr>
              <a:t> quay</a:t>
            </a:r>
          </a:p>
          <a:p>
            <a:pPr algn="just" fontAlgn="auto">
              <a:spcBef>
                <a:spcPts val="1800"/>
              </a:spcBef>
              <a:spcAft>
                <a:spcPts val="1800"/>
              </a:spcAft>
              <a:defRPr/>
            </a:pPr>
            <a:r>
              <a:rPr lang="en-US" sz="3200" b="1" dirty="0">
                <a:solidFill>
                  <a:srgbClr val="002060"/>
                </a:solidFill>
                <a:latin typeface="+mj-lt"/>
                <a:cs typeface="Times New Roman" pitchFamily="18" charset="0"/>
              </a:rPr>
              <a:t>2.6. </a:t>
            </a:r>
            <a:r>
              <a:rPr lang="en-US" sz="3200" dirty="0" err="1">
                <a:solidFill>
                  <a:srgbClr val="C00000"/>
                </a:solidFill>
                <a:latin typeface="+mj-lt"/>
                <a:cs typeface="Times New Roman" pitchFamily="18" charset="0"/>
              </a:rPr>
              <a:t>Phương</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pháp</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động</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lực</a:t>
            </a:r>
            <a:r>
              <a:rPr lang="en-US" sz="3200" dirty="0">
                <a:solidFill>
                  <a:srgbClr val="C00000"/>
                </a:solidFill>
                <a:latin typeface="+mj-lt"/>
                <a:cs typeface="Times New Roman" pitchFamily="18" charset="0"/>
              </a:rPr>
              <a:t> </a:t>
            </a:r>
            <a:r>
              <a:rPr lang="en-US" sz="3200" dirty="0" err="1">
                <a:solidFill>
                  <a:srgbClr val="C00000"/>
                </a:solidFill>
                <a:latin typeface="+mj-lt"/>
                <a:cs typeface="Times New Roman" pitchFamily="18" charset="0"/>
              </a:rPr>
              <a:t>học</a:t>
            </a:r>
            <a:endParaRPr lang="en-US" sz="3200" dirty="0">
              <a:solidFill>
                <a:srgbClr val="C00000"/>
              </a:solidFill>
              <a:latin typeface="+mj-lt"/>
              <a:cs typeface="Times New Roman" pitchFamily="18" charset="0"/>
            </a:endParaRPr>
          </a:p>
          <a:p>
            <a:pPr algn="just" fontAlgn="auto">
              <a:spcBef>
                <a:spcPts val="1800"/>
              </a:spcBef>
              <a:spcAft>
                <a:spcPts val="1800"/>
              </a:spcAft>
              <a:defRPr/>
            </a:pPr>
            <a:endParaRPr lang="en-US" sz="3200" dirty="0">
              <a:solidFill>
                <a:srgbClr val="C00000"/>
              </a:solidFill>
              <a:latin typeface="Times New Roman" pitchFamily="18" charset="0"/>
              <a:cs typeface="Times New Roman" pitchFamily="18" charset="0"/>
            </a:endParaRPr>
          </a:p>
          <a:p>
            <a:pPr algn="just" fontAlgn="auto">
              <a:spcBef>
                <a:spcPts val="1800"/>
              </a:spcBef>
              <a:spcAft>
                <a:spcPts val="1800"/>
              </a:spcAft>
              <a:defRPr/>
            </a:pPr>
            <a:endParaRPr lang="en-US" sz="3200" dirty="0">
              <a:solidFill>
                <a:srgbClr val="C00000"/>
              </a:solidFill>
              <a:effectLst>
                <a:outerShdw blurRad="38100" dist="38100" dir="2700000" algn="tl" rotWithShape="0">
                  <a:srgbClr val="000000">
                    <a:alpha val="43137"/>
                  </a:srgbClr>
                </a:outerShdw>
              </a:effectLst>
              <a:latin typeface="Times New Roman" pitchFamily="18" charset="0"/>
              <a:cs typeface="Times New Roman" pitchFamily="18" charset="0"/>
            </a:endParaRPr>
          </a:p>
          <a:p>
            <a:pPr algn="just" fontAlgn="auto">
              <a:spcBef>
                <a:spcPts val="1800"/>
              </a:spcBef>
              <a:spcAft>
                <a:spcPts val="1800"/>
              </a:spcAft>
              <a:defRPr/>
            </a:pPr>
            <a:endParaRPr lang="en-US" sz="3200" dirty="0">
              <a:solidFill>
                <a:srgbClr val="C00000"/>
              </a:solidFill>
              <a:effectLst>
                <a:outerShdw blurRad="38100" dist="38100" dir="2700000" algn="tl" rotWithShape="0">
                  <a:srgbClr val="000000">
                    <a:alpha val="43137"/>
                  </a:srgbClr>
                </a:outerShdw>
              </a:effectLst>
              <a:latin typeface="Times New Roman" pitchFamily="18" charset="0"/>
              <a:cs typeface="Times New Roman" pitchFamily="18" charset="0"/>
            </a:endParaRPr>
          </a:p>
          <a:p>
            <a:pPr algn="just" fontAlgn="auto">
              <a:spcBef>
                <a:spcPts val="1800"/>
              </a:spcBef>
              <a:spcAft>
                <a:spcPts val="1800"/>
              </a:spcAft>
              <a:defRPr/>
            </a:pPr>
            <a:endParaRPr lang="en-US" sz="3200" dirty="0">
              <a:solidFill>
                <a:srgbClr val="C00000"/>
              </a:solidFill>
              <a:effectLst>
                <a:outerShdw blurRad="38100" dist="38100" dir="2700000" algn="tl" rotWithShape="0">
                  <a:srgbClr val="000000">
                    <a:alpha val="43137"/>
                  </a:srgbClr>
                </a:outerShdw>
              </a:effectLst>
              <a:latin typeface="Times New Roman" pitchFamily="18" charset="0"/>
              <a:cs typeface="Times New Roman" pitchFamily="18" charset="0"/>
            </a:endParaRPr>
          </a:p>
          <a:p>
            <a:pPr algn="just" fontAlgn="auto">
              <a:spcBef>
                <a:spcPts val="1800"/>
              </a:spcBef>
              <a:spcAft>
                <a:spcPts val="1800"/>
              </a:spcAft>
              <a:defRPr/>
            </a:pPr>
            <a:endParaRPr lang="en-US" sz="3200" dirty="0">
              <a:solidFill>
                <a:srgbClr val="C00000"/>
              </a:solidFill>
              <a:latin typeface="Times New Roman" pitchFamily="18" charset="0"/>
              <a:cs typeface="Times New Roman" pitchFamily="18" charset="0"/>
            </a:endParaRPr>
          </a:p>
          <a:p>
            <a:pPr algn="just" fontAlgn="auto">
              <a:spcBef>
                <a:spcPts val="1800"/>
              </a:spcBef>
              <a:spcAft>
                <a:spcPts val="1800"/>
              </a:spcAft>
              <a:defRPr/>
            </a:pPr>
            <a:endParaRPr lang="en-US" sz="3200" dirty="0">
              <a:solidFill>
                <a:srgbClr val="C00000"/>
              </a:solidFill>
              <a:effectLst>
                <a:outerShdw blurRad="38100" dist="38100" dir="2700000" algn="tl" rotWithShape="0">
                  <a:srgbClr val="000000">
                    <a:alpha val="43137"/>
                  </a:srgbClr>
                </a:outerShdw>
              </a:effectLst>
              <a:latin typeface="Times New Roman" pitchFamily="18" charset="0"/>
              <a:cs typeface="Times New Roman" pitchFamily="18" charset="0"/>
            </a:endParaRPr>
          </a:p>
          <a:p>
            <a:pPr algn="just" fontAlgn="auto">
              <a:spcBef>
                <a:spcPts val="1800"/>
              </a:spcBef>
              <a:spcAft>
                <a:spcPts val="1800"/>
              </a:spcAft>
              <a:buClr>
                <a:srgbClr val="0BD0D9"/>
              </a:buClr>
              <a:buSzPct val="95000"/>
              <a:defRPr/>
            </a:pPr>
            <a:endParaRPr lang="en-US" sz="3200" dirty="0">
              <a:solidFill>
                <a:srgbClr val="C00000"/>
              </a:solidFill>
              <a:latin typeface="Times New Roman" pitchFamily="18" charset="0"/>
              <a:cs typeface="Times New Roman" pitchFamily="18" charset="0"/>
            </a:endParaRPr>
          </a:p>
        </p:txBody>
      </p:sp>
      <p:sp>
        <p:nvSpPr>
          <p:cNvPr id="2" name="Footer Placeholder 1">
            <a:extLst>
              <a:ext uri="{FF2B5EF4-FFF2-40B4-BE49-F238E27FC236}">
                <a16:creationId xmlns:a16="http://schemas.microsoft.com/office/drawing/2014/main" id="{3BC3EC3E-DBDC-0CA0-59DE-5ED2F0C39063}"/>
              </a:ext>
            </a:extLst>
          </p:cNvPr>
          <p:cNvSpPr>
            <a:spLocks noGrp="1"/>
          </p:cNvSpPr>
          <p:nvPr>
            <p:ph type="ftr" sz="quarter" idx="11"/>
          </p:nvPr>
        </p:nvSpPr>
        <p:spPr/>
        <p:txBody>
          <a:bodyPr/>
          <a:lstStyle/>
          <a:p>
            <a:r>
              <a:rPr lang="en-US"/>
              <a:t>Bùi Quốc Trung - VLDC</a:t>
            </a:r>
          </a:p>
        </p:txBody>
      </p:sp>
      <p:sp>
        <p:nvSpPr>
          <p:cNvPr id="3" name="Slide Number Placeholder 2">
            <a:extLst>
              <a:ext uri="{FF2B5EF4-FFF2-40B4-BE49-F238E27FC236}">
                <a16:creationId xmlns:a16="http://schemas.microsoft.com/office/drawing/2014/main" id="{AF2B493E-02A5-868A-D832-1D04A8F6E508}"/>
              </a:ext>
            </a:extLst>
          </p:cNvPr>
          <p:cNvSpPr>
            <a:spLocks noGrp="1"/>
          </p:cNvSpPr>
          <p:nvPr>
            <p:ph type="sldNum" sz="quarter" idx="12"/>
          </p:nvPr>
        </p:nvSpPr>
        <p:spPr/>
        <p:txBody>
          <a:bodyPr/>
          <a:lstStyle/>
          <a:p>
            <a:fld id="{C4A94DE9-7404-4CC4-BDD8-EA2E97866C70}" type="slidenum">
              <a:rPr lang="en-US" smtClean="0"/>
              <a:t>1</a:t>
            </a:fld>
            <a:endParaRPr lang="en-US"/>
          </a:p>
        </p:txBody>
      </p:sp>
    </p:spTree>
    <p:extLst>
      <p:ext uri="{BB962C8B-B14F-4D97-AF65-F5344CB8AC3E}">
        <p14:creationId xmlns:p14="http://schemas.microsoft.com/office/powerpoint/2010/main" val="13857272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nodeType="afterGroup">
                            <p:stCondLst>
                              <p:cond delay="500"/>
                            </p:stCondLst>
                            <p:childTnLst>
                              <p:par>
                                <p:cTn id="9" presetID="14" presetClass="entr" presetSubtype="10" fill="hold"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randombar(horizontal)">
                                      <p:cBhvr>
                                        <p:cTn id="11" dur="500"/>
                                        <p:tgtEl>
                                          <p:spTgt spid="8">
                                            <p:txEl>
                                              <p:pRg st="0" end="0"/>
                                            </p:txEl>
                                          </p:spTgt>
                                        </p:tgtEl>
                                      </p:cBhvr>
                                    </p:animEffect>
                                  </p:childTnLst>
                                </p:cTn>
                              </p:par>
                            </p:childTnLst>
                          </p:cTn>
                        </p:par>
                        <p:par>
                          <p:cTn id="12" fill="hold" nodeType="afterGroup">
                            <p:stCondLst>
                              <p:cond delay="1000"/>
                            </p:stCondLst>
                            <p:childTnLst>
                              <p:par>
                                <p:cTn id="13" presetID="14" presetClass="entr" presetSubtype="10" fill="hold" nodeType="after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randombar(horizontal)">
                                      <p:cBhvr>
                                        <p:cTn id="15" dur="500"/>
                                        <p:tgtEl>
                                          <p:spTgt spid="8">
                                            <p:txEl>
                                              <p:pRg st="1" end="1"/>
                                            </p:txEl>
                                          </p:spTgt>
                                        </p:tgtEl>
                                      </p:cBhvr>
                                    </p:animEffect>
                                  </p:childTnLst>
                                </p:cTn>
                              </p:par>
                            </p:childTnLst>
                          </p:cTn>
                        </p:par>
                        <p:par>
                          <p:cTn id="16" fill="hold" nodeType="afterGroup">
                            <p:stCondLst>
                              <p:cond delay="1500"/>
                            </p:stCondLst>
                            <p:childTnLst>
                              <p:par>
                                <p:cTn id="17" presetID="14" presetClass="entr" presetSubtype="10" fill="hold" nodeType="after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Effect transition="in" filter="randombar(horizontal)">
                                      <p:cBhvr>
                                        <p:cTn id="19" dur="500"/>
                                        <p:tgtEl>
                                          <p:spTgt spid="8">
                                            <p:txEl>
                                              <p:pRg st="2" end="2"/>
                                            </p:txEl>
                                          </p:spTgt>
                                        </p:tgtEl>
                                      </p:cBhvr>
                                    </p:animEffect>
                                  </p:childTnLst>
                                </p:cTn>
                              </p:par>
                            </p:childTnLst>
                          </p:cTn>
                        </p:par>
                        <p:par>
                          <p:cTn id="20" fill="hold">
                            <p:stCondLst>
                              <p:cond delay="2000"/>
                            </p:stCondLst>
                            <p:childTnLst>
                              <p:par>
                                <p:cTn id="21" presetID="14" presetClass="entr" presetSubtype="10" fill="hold" nodeType="after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randombar(horizontal)">
                                      <p:cBhvr>
                                        <p:cTn id="23" dur="500"/>
                                        <p:tgtEl>
                                          <p:spTgt spid="8">
                                            <p:txEl>
                                              <p:pRg st="3" end="3"/>
                                            </p:txEl>
                                          </p:spTgt>
                                        </p:tgtEl>
                                      </p:cBhvr>
                                    </p:animEffect>
                                  </p:childTnLst>
                                </p:cTn>
                              </p:par>
                            </p:childTnLst>
                          </p:cTn>
                        </p:par>
                        <p:par>
                          <p:cTn id="24" fill="hold" nodeType="afterGroup">
                            <p:stCondLst>
                              <p:cond delay="2500"/>
                            </p:stCondLst>
                            <p:childTnLst>
                              <p:par>
                                <p:cTn id="25" presetID="14" presetClass="entr" presetSubtype="10" fill="hold" nodeType="after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randombar(horizontal)">
                                      <p:cBhvr>
                                        <p:cTn id="27" dur="500"/>
                                        <p:tgtEl>
                                          <p:spTgt spid="8">
                                            <p:txEl>
                                              <p:pRg st="4" end="4"/>
                                            </p:txEl>
                                          </p:spTgt>
                                        </p:tgtEl>
                                      </p:cBhvr>
                                    </p:animEffect>
                                  </p:childTnLst>
                                </p:cTn>
                              </p:par>
                            </p:childTnLst>
                          </p:cTn>
                        </p:par>
                        <p:par>
                          <p:cTn id="28" fill="hold">
                            <p:stCondLst>
                              <p:cond delay="3000"/>
                            </p:stCondLst>
                            <p:childTnLst>
                              <p:par>
                                <p:cTn id="29" presetID="14" presetClass="entr" presetSubtype="10" fill="hold" nodeType="after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Effect transition="in" filter="randombar(horizontal)">
                                      <p:cBhvr>
                                        <p:cTn id="31"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
          <p:cNvGrpSpPr>
            <a:grpSpLocks/>
          </p:cNvGrpSpPr>
          <p:nvPr/>
        </p:nvGrpSpPr>
        <p:grpSpPr bwMode="auto">
          <a:xfrm>
            <a:off x="2057400" y="0"/>
            <a:ext cx="4724400" cy="685800"/>
            <a:chOff x="1310" y="1392"/>
            <a:chExt cx="3395" cy="432"/>
          </a:xfrm>
        </p:grpSpPr>
        <p:pic>
          <p:nvPicPr>
            <p:cNvPr id="3093"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3395"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1755" y="1449"/>
              <a:ext cx="2635"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just"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2.1.</a:t>
              </a:r>
              <a:r>
                <a:rPr lang="en-US" sz="2400">
                  <a:solidFill>
                    <a:srgbClr val="C00000"/>
                  </a:solidFill>
                  <a:latin typeface="Times New Roman" pitchFamily="18" charset="0"/>
                  <a:cs typeface="Times New Roman" pitchFamily="18" charset="0"/>
                </a:rPr>
                <a:t> </a:t>
              </a:r>
              <a:r>
                <a:rPr lang="vi-VN" sz="2400" b="1">
                  <a:solidFill>
                    <a:srgbClr val="FF0000"/>
                  </a:solidFill>
                  <a:latin typeface="Times New Roman" pitchFamily="18" charset="0"/>
                  <a:cs typeface="Times New Roman" pitchFamily="18" charset="0"/>
                </a:rPr>
                <a:t>Các định luật Newton</a:t>
              </a:r>
              <a:endParaRPr lang="en-US" sz="2400" b="1">
                <a:solidFill>
                  <a:srgbClr val="FF0000"/>
                </a:solidFill>
                <a:effectLst>
                  <a:outerShdw blurRad="38100" dist="38100" dir="2700000" algn="tl" rotWithShape="0">
                    <a:srgbClr val="000000">
                      <a:alpha val="43137"/>
                    </a:srgbClr>
                  </a:outerShdw>
                </a:effectLst>
                <a:latin typeface="Times New Roman" pitchFamily="18" charset="0"/>
                <a:cs typeface="Times New Roman" pitchFamily="18" charset="0"/>
              </a:endParaRPr>
            </a:p>
          </p:txBody>
        </p:sp>
      </p:grpSp>
      <p:grpSp>
        <p:nvGrpSpPr>
          <p:cNvPr id="3" name="Group 26"/>
          <p:cNvGrpSpPr>
            <a:grpSpLocks/>
          </p:cNvGrpSpPr>
          <p:nvPr/>
        </p:nvGrpSpPr>
        <p:grpSpPr bwMode="auto">
          <a:xfrm>
            <a:off x="7467600" y="0"/>
            <a:ext cx="1676400" cy="2971800"/>
            <a:chOff x="7772400" y="2743200"/>
            <a:chExt cx="1685793" cy="2707074"/>
          </a:xfrm>
        </p:grpSpPr>
        <p:pic>
          <p:nvPicPr>
            <p:cNvPr id="3091" name="Picture 34" descr="GodfreyKneller-IsaacNewton-168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2400" y="2743200"/>
              <a:ext cx="1685793"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92" name="Text Box 35"/>
            <p:cNvSpPr txBox="1">
              <a:spLocks noChangeArrowheads="1"/>
            </p:cNvSpPr>
            <p:nvPr/>
          </p:nvSpPr>
          <p:spPr bwMode="auto">
            <a:xfrm>
              <a:off x="7772400" y="4648200"/>
              <a:ext cx="1654175" cy="802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algn="ctr"/>
              <a:r>
                <a:rPr lang="en-US" sz="1600" b="1">
                  <a:solidFill>
                    <a:srgbClr val="002060"/>
                  </a:solidFill>
                  <a:latin typeface="Times New Roman" pitchFamily="18" charset="0"/>
                  <a:cs typeface="Times New Roman" pitchFamily="18" charset="0"/>
                </a:rPr>
                <a:t>Isaac Newton</a:t>
              </a:r>
            </a:p>
            <a:p>
              <a:pPr algn="ctr"/>
              <a:r>
                <a:rPr lang="en-US" sz="1600" b="1">
                  <a:solidFill>
                    <a:srgbClr val="002060"/>
                  </a:solidFill>
                  <a:latin typeface="Times New Roman" pitchFamily="18" charset="0"/>
                  <a:cs typeface="Times New Roman" pitchFamily="18" charset="0"/>
                </a:rPr>
                <a:t>(1642-1727)</a:t>
              </a:r>
            </a:p>
          </p:txBody>
        </p:sp>
      </p:grpSp>
      <p:sp>
        <p:nvSpPr>
          <p:cNvPr id="2058" name="Text Box 18"/>
          <p:cNvSpPr txBox="1">
            <a:spLocks noChangeArrowheads="1"/>
          </p:cNvSpPr>
          <p:nvPr/>
        </p:nvSpPr>
        <p:spPr bwMode="auto">
          <a:xfrm>
            <a:off x="171450" y="4352925"/>
            <a:ext cx="3771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pPr>
            <a:r>
              <a:rPr lang="en-US" sz="2800" b="1">
                <a:solidFill>
                  <a:srgbClr val="002060"/>
                </a:solidFill>
                <a:latin typeface="Times New Roman" pitchFamily="18" charset="0"/>
                <a:cs typeface="Times New Roman" pitchFamily="18" charset="0"/>
              </a:rPr>
              <a:t>Định luật về gia tốc </a:t>
            </a:r>
          </a:p>
        </p:txBody>
      </p:sp>
      <p:sp>
        <p:nvSpPr>
          <p:cNvPr id="2059" name="Text Box 19"/>
          <p:cNvSpPr txBox="1">
            <a:spLocks noChangeArrowheads="1"/>
          </p:cNvSpPr>
          <p:nvPr/>
        </p:nvSpPr>
        <p:spPr bwMode="auto">
          <a:xfrm>
            <a:off x="222068" y="4876800"/>
            <a:ext cx="701693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algn="just" eaLnBrk="1" hangingPunct="1">
              <a:spcBef>
                <a:spcPct val="50000"/>
              </a:spcBef>
              <a:buClr>
                <a:srgbClr val="CC3300"/>
              </a:buClr>
              <a:buFont typeface="Wingdings" pitchFamily="2" charset="2"/>
              <a:buNone/>
            </a:pPr>
            <a:r>
              <a:rPr lang="en-US" sz="2400" dirty="0">
                <a:latin typeface="Times New Roman" pitchFamily="18" charset="0"/>
                <a:cs typeface="Times New Roman" pitchFamily="18" charset="0"/>
              </a:rPr>
              <a:t>Gia tốc mà vật thu được tỉ lệ thuận với lực tác dụng và tỉ lệ nghịch với khối lượng của vật.</a:t>
            </a:r>
          </a:p>
        </p:txBody>
      </p:sp>
      <p:sp>
        <p:nvSpPr>
          <p:cNvPr id="2061" name="Rectangle 23"/>
          <p:cNvSpPr>
            <a:spLocks noChangeArrowheads="1"/>
          </p:cNvSpPr>
          <p:nvPr/>
        </p:nvSpPr>
        <p:spPr bwMode="auto">
          <a:xfrm>
            <a:off x="228600" y="1905000"/>
            <a:ext cx="7315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dirty="0">
                <a:latin typeface="Times New Roman" pitchFamily="18" charset="0"/>
                <a:cs typeface="Times New Roman" pitchFamily="18" charset="0"/>
              </a:rPr>
              <a:t>(Vật cô lập là vật không chịu tác dụng từ bên ngoài</a:t>
            </a:r>
            <a:br>
              <a:rPr lang="en-US" sz="2400" dirty="0">
                <a:latin typeface="Times New Roman" pitchFamily="18" charset="0"/>
                <a:cs typeface="Times New Roman" pitchFamily="18" charset="0"/>
              </a:rPr>
            </a:br>
            <a:r>
              <a:rPr lang="en-US" sz="2400" i="1" u="sng" dirty="0">
                <a:latin typeface="Times New Roman" pitchFamily="18" charset="0"/>
                <a:cs typeface="Times New Roman" pitchFamily="18" charset="0"/>
              </a:rPr>
              <a:t>Quán tính </a:t>
            </a:r>
            <a:r>
              <a:rPr lang="en-US" sz="2400" dirty="0">
                <a:latin typeface="Times New Roman" pitchFamily="18" charset="0"/>
                <a:cs typeface="Times New Roman" pitchFamily="18" charset="0"/>
              </a:rPr>
              <a:t>là tính bảo toàn trạng thái chuyển động của vật)</a:t>
            </a:r>
          </a:p>
        </p:txBody>
      </p:sp>
      <p:sp>
        <p:nvSpPr>
          <p:cNvPr id="2063" name="Text Box 9"/>
          <p:cNvSpPr txBox="1">
            <a:spLocks noChangeArrowheads="1"/>
          </p:cNvSpPr>
          <p:nvPr/>
        </p:nvSpPr>
        <p:spPr bwMode="auto">
          <a:xfrm>
            <a:off x="106680" y="809625"/>
            <a:ext cx="3733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pPr>
            <a:r>
              <a:rPr lang="en-US" sz="2800" b="1">
                <a:solidFill>
                  <a:srgbClr val="002060"/>
                </a:solidFill>
                <a:latin typeface="Times New Roman" pitchFamily="18" charset="0"/>
                <a:cs typeface="Times New Roman" pitchFamily="18" charset="0"/>
              </a:rPr>
              <a:t>Định luật quán tính</a:t>
            </a:r>
          </a:p>
        </p:txBody>
      </p:sp>
      <p:sp>
        <p:nvSpPr>
          <p:cNvPr id="2064" name="Text Box 8"/>
          <p:cNvSpPr txBox="1">
            <a:spLocks noChangeArrowheads="1"/>
          </p:cNvSpPr>
          <p:nvPr/>
        </p:nvSpPr>
        <p:spPr bwMode="auto">
          <a:xfrm>
            <a:off x="76200" y="1371600"/>
            <a:ext cx="7543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algn="just" eaLnBrk="1" hangingPunct="1">
              <a:spcBef>
                <a:spcPct val="50000"/>
              </a:spcBef>
              <a:buClr>
                <a:srgbClr val="CC3300"/>
              </a:buClr>
              <a:buFont typeface="Wingdings" pitchFamily="2" charset="2"/>
              <a:buNone/>
            </a:pPr>
            <a:r>
              <a:rPr lang="en-US" sz="2400" i="1" dirty="0">
                <a:latin typeface="Times New Roman" pitchFamily="18" charset="0"/>
                <a:cs typeface="Times New Roman" pitchFamily="18" charset="0"/>
              </a:rPr>
              <a:t>Một vật </a:t>
            </a:r>
            <a:r>
              <a:rPr lang="en-US" sz="2400" b="1" i="1" dirty="0">
                <a:latin typeface="Times New Roman" pitchFamily="18" charset="0"/>
                <a:cs typeface="Times New Roman" pitchFamily="18" charset="0"/>
              </a:rPr>
              <a:t>cô lập </a:t>
            </a:r>
            <a:r>
              <a:rPr lang="en-US" sz="2400" i="1" dirty="0">
                <a:latin typeface="Times New Roman" pitchFamily="18" charset="0"/>
                <a:cs typeface="Times New Roman" pitchFamily="18" charset="0"/>
              </a:rPr>
              <a:t>sẽ </a:t>
            </a:r>
            <a:r>
              <a:rPr lang="en-US" sz="2400" b="1" i="1" dirty="0">
                <a:latin typeface="Times New Roman" pitchFamily="18" charset="0"/>
                <a:cs typeface="Times New Roman" pitchFamily="18" charset="0"/>
              </a:rPr>
              <a:t>bảo toàn trạng thái </a:t>
            </a:r>
            <a:r>
              <a:rPr lang="en-US" sz="2400" i="1" dirty="0">
                <a:latin typeface="Times New Roman" pitchFamily="18" charset="0"/>
                <a:cs typeface="Times New Roman" pitchFamily="18" charset="0"/>
              </a:rPr>
              <a:t>chuyển động. </a:t>
            </a:r>
          </a:p>
        </p:txBody>
      </p:sp>
      <mc:AlternateContent xmlns:mc="http://schemas.openxmlformats.org/markup-compatibility/2006" xmlns:a14="http://schemas.microsoft.com/office/drawing/2010/main">
        <mc:Choice Requires="a14">
          <p:sp>
            <p:nvSpPr>
              <p:cNvPr id="2065" name="Rectangle 31"/>
              <p:cNvSpPr>
                <a:spLocks noChangeArrowheads="1"/>
              </p:cNvSpPr>
              <p:nvPr/>
            </p:nvSpPr>
            <p:spPr bwMode="auto">
              <a:xfrm>
                <a:off x="452438" y="6019800"/>
                <a:ext cx="6862762" cy="50642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pPr algn="just">
                  <a:spcBef>
                    <a:spcPct val="50000"/>
                  </a:spcBef>
                  <a:buClr>
                    <a:srgbClr val="CC3300"/>
                  </a:buClr>
                  <a:buFont typeface="Wingdings" pitchFamily="2" charset="2"/>
                  <a:buNone/>
                </a:pPr>
                <a:r>
                  <a:rPr lang="en-US" sz="2400" dirty="0">
                    <a:solidFill>
                      <a:schemeClr val="tx1"/>
                    </a:solidFill>
                    <a:latin typeface="Times New Roman" pitchFamily="18" charset="0"/>
                    <a:cs typeface="Times New Roman" pitchFamily="18" charset="0"/>
                  </a:rPr>
                  <a:t>PT Cơ bản của động lực học: </a:t>
                </a:r>
                <a14:m>
                  <m:oMath xmlns:m="http://schemas.openxmlformats.org/officeDocument/2006/math">
                    <m:acc>
                      <m:accPr>
                        <m:chr m:val="⃗"/>
                        <m:ctrlPr>
                          <a:rPr lang="en-US" sz="2400" b="1" i="1" smtClean="0">
                            <a:solidFill>
                              <a:schemeClr val="tx1"/>
                            </a:solidFill>
                            <a:latin typeface="Cambria Math" panose="02040503050406030204" pitchFamily="18" charset="0"/>
                            <a:cs typeface="Times New Roman" pitchFamily="18" charset="0"/>
                          </a:rPr>
                        </m:ctrlPr>
                      </m:accPr>
                      <m:e>
                        <m:r>
                          <a:rPr lang="en-US" sz="2400" b="1" i="1" smtClean="0">
                            <a:solidFill>
                              <a:schemeClr val="tx1"/>
                            </a:solidFill>
                            <a:latin typeface="Cambria Math"/>
                            <a:cs typeface="Times New Roman" pitchFamily="18" charset="0"/>
                          </a:rPr>
                          <m:t>𝑭</m:t>
                        </m:r>
                      </m:e>
                    </m:acc>
                  </m:oMath>
                </a14:m>
                <a:r>
                  <a:rPr lang="en-US" sz="2400" b="1" dirty="0">
                    <a:solidFill>
                      <a:schemeClr val="tx1"/>
                    </a:solidFill>
                    <a:latin typeface="Times New Roman" pitchFamily="18" charset="0"/>
                    <a:cs typeface="Times New Roman" pitchFamily="18" charset="0"/>
                  </a:rPr>
                  <a:t> = m</a:t>
                </a:r>
                <a14:m>
                  <m:oMath xmlns:m="http://schemas.openxmlformats.org/officeDocument/2006/math">
                    <m:acc>
                      <m:accPr>
                        <m:chr m:val="⃗"/>
                        <m:ctrlPr>
                          <a:rPr lang="en-US" sz="2400" b="1" i="1" smtClean="0">
                            <a:solidFill>
                              <a:schemeClr val="tx1"/>
                            </a:solidFill>
                            <a:latin typeface="Cambria Math" panose="02040503050406030204" pitchFamily="18" charset="0"/>
                            <a:cs typeface="Times New Roman" pitchFamily="18" charset="0"/>
                          </a:rPr>
                        </m:ctrlPr>
                      </m:accPr>
                      <m:e>
                        <m:r>
                          <a:rPr lang="en-US" sz="2400" b="1" i="1" smtClean="0">
                            <a:solidFill>
                              <a:schemeClr val="tx1"/>
                            </a:solidFill>
                            <a:latin typeface="Cambria Math"/>
                            <a:cs typeface="Times New Roman" pitchFamily="18" charset="0"/>
                          </a:rPr>
                          <m:t>𝒂</m:t>
                        </m:r>
                      </m:e>
                    </m:acc>
                  </m:oMath>
                </a14:m>
                <a:endParaRPr lang="en-US" sz="2400" b="1" dirty="0">
                  <a:solidFill>
                    <a:srgbClr val="1E22C0"/>
                  </a:solidFill>
                  <a:latin typeface="Times New Roman" pitchFamily="18" charset="0"/>
                  <a:cs typeface="Times New Roman" pitchFamily="18" charset="0"/>
                </a:endParaRPr>
              </a:p>
            </p:txBody>
          </p:sp>
        </mc:Choice>
        <mc:Fallback xmlns="">
          <p:sp>
            <p:nvSpPr>
              <p:cNvPr id="2065" name="Rectangle 31"/>
              <p:cNvSpPr>
                <a:spLocks noRot="1" noChangeAspect="1" noMove="1" noResize="1" noEditPoints="1" noAdjustHandles="1" noChangeArrowheads="1" noChangeShapeType="1" noTextEdit="1"/>
              </p:cNvSpPr>
              <p:nvPr/>
            </p:nvSpPr>
            <p:spPr bwMode="auto">
              <a:xfrm>
                <a:off x="452438" y="6019800"/>
                <a:ext cx="6862762" cy="506421"/>
              </a:xfrm>
              <a:prstGeom prst="rect">
                <a:avLst/>
              </a:prstGeom>
              <a:blipFill rotWithShape="1">
                <a:blip r:embed="rId4"/>
                <a:stretch>
                  <a:fillRect l="-1332" b="-2650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439297" y="4861819"/>
                <a:ext cx="1447800" cy="13914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acc>
                      <m:accPr>
                        <m:chr m:val="⃗"/>
                        <m:ctrlPr>
                          <a:rPr lang="en-US" sz="3600" b="1" i="1" smtClean="0">
                            <a:solidFill>
                              <a:schemeClr val="tx1"/>
                            </a:solidFill>
                            <a:latin typeface="Cambria Math" panose="02040503050406030204" pitchFamily="18" charset="0"/>
                          </a:rPr>
                        </m:ctrlPr>
                      </m:accPr>
                      <m:e>
                        <m:r>
                          <a:rPr lang="en-US" sz="3600" b="1" i="1" smtClean="0">
                            <a:solidFill>
                              <a:schemeClr val="tx1"/>
                            </a:solidFill>
                            <a:latin typeface="Cambria Math"/>
                          </a:rPr>
                          <m:t>𝒂</m:t>
                        </m:r>
                      </m:e>
                    </m:acc>
                  </m:oMath>
                </a14:m>
                <a:r>
                  <a:rPr lang="en-US" sz="3600" b="1" dirty="0">
                    <a:solidFill>
                      <a:schemeClr val="tx1"/>
                    </a:solidFill>
                    <a:latin typeface="Times New Roman" pitchFamily="18" charset="0"/>
                    <a:cs typeface="Times New Roman" pitchFamily="18" charset="0"/>
                  </a:rPr>
                  <a:t> = </a:t>
                </a:r>
                <a14:m>
                  <m:oMath xmlns:m="http://schemas.openxmlformats.org/officeDocument/2006/math">
                    <m:f>
                      <m:fPr>
                        <m:ctrlPr>
                          <a:rPr lang="en-US" sz="3600" b="1" i="1" smtClean="0">
                            <a:solidFill>
                              <a:schemeClr val="tx1"/>
                            </a:solidFill>
                            <a:latin typeface="Cambria Math" panose="02040503050406030204" pitchFamily="18" charset="0"/>
                          </a:rPr>
                        </m:ctrlPr>
                      </m:fPr>
                      <m:num>
                        <m:acc>
                          <m:accPr>
                            <m:chr m:val="⃗"/>
                            <m:ctrlPr>
                              <a:rPr lang="en-US" sz="3600" b="1" i="1" smtClean="0">
                                <a:solidFill>
                                  <a:schemeClr val="tx1"/>
                                </a:solidFill>
                                <a:latin typeface="Cambria Math" panose="02040503050406030204" pitchFamily="18" charset="0"/>
                              </a:rPr>
                            </m:ctrlPr>
                          </m:accPr>
                          <m:e>
                            <m:r>
                              <a:rPr lang="en-US" sz="3600" b="1" i="1" smtClean="0">
                                <a:solidFill>
                                  <a:schemeClr val="tx1"/>
                                </a:solidFill>
                                <a:latin typeface="Cambria Math"/>
                              </a:rPr>
                              <m:t>𝑭</m:t>
                            </m:r>
                          </m:e>
                        </m:acc>
                      </m:num>
                      <m:den>
                        <m:r>
                          <a:rPr lang="en-US" sz="3600" b="1" i="1" smtClean="0">
                            <a:solidFill>
                              <a:schemeClr val="tx1"/>
                            </a:solidFill>
                            <a:latin typeface="Cambria Math"/>
                          </a:rPr>
                          <m:t>𝒎</m:t>
                        </m:r>
                      </m:den>
                    </m:f>
                  </m:oMath>
                </a14:m>
                <a:endParaRPr lang="en-US" sz="3600" b="1" dirty="0">
                  <a:latin typeface="Times New Roman" pitchFamily="18" charset="0"/>
                  <a:cs typeface="Times New Roman"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7439297" y="4861819"/>
                <a:ext cx="1447800" cy="1391453"/>
              </a:xfrm>
              <a:prstGeom prst="rect">
                <a:avLst/>
              </a:prstGeom>
              <a:blipFill rotWithShape="1">
                <a:blip r:embed="rId5"/>
                <a:stretch>
                  <a:fillRect/>
                </a:stretch>
              </a:blipFill>
            </p:spPr>
            <p:txBody>
              <a:bodyPr/>
              <a:lstStyle/>
              <a:p>
                <a:r>
                  <a:rPr lang="en-US">
                    <a:noFill/>
                  </a:rPr>
                  <a:t> </a:t>
                </a:r>
              </a:p>
            </p:txBody>
          </p:sp>
        </mc:Fallback>
      </mc:AlternateContent>
      <p:sp>
        <p:nvSpPr>
          <p:cNvPr id="23" name="Text Box 19"/>
          <p:cNvSpPr txBox="1">
            <a:spLocks noChangeArrowheads="1"/>
          </p:cNvSpPr>
          <p:nvPr/>
        </p:nvSpPr>
        <p:spPr bwMode="auto">
          <a:xfrm>
            <a:off x="228600" y="2895600"/>
            <a:ext cx="80772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algn="just" eaLnBrk="1" hangingPunct="1">
              <a:defRPr/>
            </a:pPr>
            <a:r>
              <a:rPr lang="en-US" sz="2400" i="1" dirty="0">
                <a:latin typeface="Times New Roman" pitchFamily="18" charset="0"/>
                <a:cs typeface="Times New Roman" pitchFamily="18" charset="0"/>
              </a:rPr>
              <a:t>Một ô tô đang chuyển động thì dừng lại, người ngồi trên xe sẽ như thế nào? Trong trường hợp ngược lại? </a:t>
            </a:r>
          </a:p>
          <a:p>
            <a:pPr algn="just" eaLnBrk="1" hangingPunct="1">
              <a:defRPr/>
            </a:pPr>
            <a:r>
              <a:rPr lang="en-US" sz="2400" i="1" dirty="0">
                <a:latin typeface="Times New Roman" pitchFamily="18" charset="0"/>
                <a:cs typeface="Times New Roman" pitchFamily="18" charset="0"/>
              </a:rPr>
              <a:t>Làm thế nào để ít nguy hiểm hơn?</a:t>
            </a:r>
          </a:p>
        </p:txBody>
      </p:sp>
      <p:grpSp>
        <p:nvGrpSpPr>
          <p:cNvPr id="20" name="Group 19"/>
          <p:cNvGrpSpPr/>
          <p:nvPr/>
        </p:nvGrpSpPr>
        <p:grpSpPr>
          <a:xfrm>
            <a:off x="5486400" y="3695819"/>
            <a:ext cx="2982373" cy="1796534"/>
            <a:chOff x="38100" y="0"/>
            <a:chExt cx="2192020" cy="1600888"/>
          </a:xfrm>
        </p:grpSpPr>
        <p:pic>
          <p:nvPicPr>
            <p:cNvPr id="21" name="Picture 20" descr="Vật Lí lớp 10 | Chuyên đề: Lý thuyết và Bài tập Vật Lí 10 có đáp án"/>
            <p:cNvPicPr>
              <a:picLocks noChangeAspect="1"/>
            </p:cNvPicPr>
            <p:nvPr/>
          </p:nvPicPr>
          <p:blipFill rotWithShape="1">
            <a:blip r:embed="rId6">
              <a:extLst>
                <a:ext uri="{28A0092B-C50C-407E-A947-70E740481C1C}">
                  <a14:useLocalDpi xmlns:a14="http://schemas.microsoft.com/office/drawing/2010/main" val="0"/>
                </a:ext>
              </a:extLst>
            </a:blip>
            <a:srcRect b="56991"/>
            <a:stretch/>
          </p:blipFill>
          <p:spPr bwMode="auto">
            <a:xfrm>
              <a:off x="38100" y="0"/>
              <a:ext cx="2095500" cy="1162050"/>
            </a:xfrm>
            <a:prstGeom prst="rect">
              <a:avLst/>
            </a:prstGeom>
            <a:noFill/>
            <a:ln>
              <a:noFill/>
            </a:ln>
            <a:extLst>
              <a:ext uri="{53640926-AAD7-44D8-BBD7-CCE9431645EC}">
                <a14:shadowObscured xmlns:a14="http://schemas.microsoft.com/office/drawing/2010/main"/>
              </a:ext>
            </a:extLst>
          </p:spPr>
        </p:pic>
        <p:sp>
          <p:nvSpPr>
            <p:cNvPr id="22" name="Text Box 2"/>
            <p:cNvSpPr txBox="1">
              <a:spLocks noChangeArrowheads="1"/>
            </p:cNvSpPr>
            <p:nvPr/>
          </p:nvSpPr>
          <p:spPr bwMode="auto">
            <a:xfrm>
              <a:off x="38100" y="1296088"/>
              <a:ext cx="2192020" cy="304800"/>
            </a:xfrm>
            <a:prstGeom prst="rect">
              <a:avLst/>
            </a:prstGeom>
            <a:noFill/>
            <a:ln w="9525">
              <a:noFill/>
              <a:miter lim="800000"/>
              <a:headEnd/>
              <a:tailEnd/>
            </a:ln>
          </p:spPr>
          <p:txBody>
            <a:bodyPr rot="0" vert="horz" wrap="square" lIns="91440" tIns="45720" rIns="91440" bIns="45720" anchor="t" anchorCtr="0">
              <a:noAutofit/>
            </a:bodyPr>
            <a:lstStyle/>
            <a:p>
              <a:pPr algn="ctr">
                <a:lnSpc>
                  <a:spcPct val="115000"/>
                </a:lnSpc>
                <a:spcAft>
                  <a:spcPts val="1000"/>
                </a:spcAft>
              </a:pPr>
              <a:r>
                <a:rPr lang="en-US" sz="1300" b="1">
                  <a:latin typeface="Times New Roman"/>
                  <a:ea typeface="Arial"/>
                </a:rPr>
                <a:t>QUÁN TÍNH</a:t>
              </a:r>
              <a:endParaRPr lang="en-US" sz="1300" b="1">
                <a:effectLst/>
                <a:latin typeface="Times New Roman"/>
                <a:ea typeface="Arial"/>
              </a:endParaRPr>
            </a:p>
          </p:txBody>
        </p:sp>
      </p:grpSp>
      <p:sp>
        <p:nvSpPr>
          <p:cNvPr id="4" name="Footer Placeholder 3">
            <a:extLst>
              <a:ext uri="{FF2B5EF4-FFF2-40B4-BE49-F238E27FC236}">
                <a16:creationId xmlns:a16="http://schemas.microsoft.com/office/drawing/2014/main" id="{69B030BA-9F6B-11F0-AB78-35DB803DC419}"/>
              </a:ext>
            </a:extLst>
          </p:cNvPr>
          <p:cNvSpPr>
            <a:spLocks noGrp="1"/>
          </p:cNvSpPr>
          <p:nvPr>
            <p:ph type="ftr" sz="quarter" idx="11"/>
          </p:nvPr>
        </p:nvSpPr>
        <p:spPr/>
        <p:txBody>
          <a:bodyPr/>
          <a:lstStyle/>
          <a:p>
            <a:r>
              <a:rPr lang="en-US"/>
              <a:t>Bùi Quốc Trung - VLDC</a:t>
            </a:r>
          </a:p>
        </p:txBody>
      </p:sp>
      <p:sp>
        <p:nvSpPr>
          <p:cNvPr id="5" name="Slide Number Placeholder 4">
            <a:extLst>
              <a:ext uri="{FF2B5EF4-FFF2-40B4-BE49-F238E27FC236}">
                <a16:creationId xmlns:a16="http://schemas.microsoft.com/office/drawing/2014/main" id="{FD7B93F2-A835-82F5-ED05-782CC1E6932E}"/>
              </a:ext>
            </a:extLst>
          </p:cNvPr>
          <p:cNvSpPr>
            <a:spLocks noGrp="1"/>
          </p:cNvSpPr>
          <p:nvPr>
            <p:ph type="sldNum" sz="quarter" idx="12"/>
          </p:nvPr>
        </p:nvSpPr>
        <p:spPr/>
        <p:txBody>
          <a:bodyPr/>
          <a:lstStyle/>
          <a:p>
            <a:fld id="{C4A94DE9-7404-4CC4-BDD8-EA2E97866C70}" type="slidenum">
              <a:rPr lang="en-US" smtClean="0"/>
              <a:t>2</a:t>
            </a:fld>
            <a:endParaRPr lang="en-US"/>
          </a:p>
        </p:txBody>
      </p:sp>
    </p:spTree>
    <p:extLst>
      <p:ext uri="{BB962C8B-B14F-4D97-AF65-F5344CB8AC3E}">
        <p14:creationId xmlns:p14="http://schemas.microsoft.com/office/powerpoint/2010/main" val="190422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063"/>
                                        </p:tgtEl>
                                        <p:attrNameLst>
                                          <p:attrName>style.visibility</p:attrName>
                                        </p:attrNameLst>
                                      </p:cBhvr>
                                      <p:to>
                                        <p:strVal val="visible"/>
                                      </p:to>
                                    </p:set>
                                    <p:animEffect transition="in" filter="circle(in)">
                                      <p:cBhvr>
                                        <p:cTn id="7" dur="2000"/>
                                        <p:tgtEl>
                                          <p:spTgt spid="2063"/>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2064"/>
                                        </p:tgtEl>
                                        <p:attrNameLst>
                                          <p:attrName>style.visibility</p:attrName>
                                        </p:attrNameLst>
                                      </p:cBhvr>
                                      <p:to>
                                        <p:strVal val="visible"/>
                                      </p:to>
                                    </p:set>
                                    <p:animEffect transition="in" filter="circle(in)">
                                      <p:cBhvr>
                                        <p:cTn id="10" dur="2000"/>
                                        <p:tgtEl>
                                          <p:spTgt spid="2064"/>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2061"/>
                                        </p:tgtEl>
                                        <p:attrNameLst>
                                          <p:attrName>style.visibility</p:attrName>
                                        </p:attrNameLst>
                                      </p:cBhvr>
                                      <p:to>
                                        <p:strVal val="visible"/>
                                      </p:to>
                                    </p:set>
                                    <p:animEffect transition="in" filter="circle(in)">
                                      <p:cBhvr>
                                        <p:cTn id="13" dur="2000"/>
                                        <p:tgtEl>
                                          <p:spTgt spid="2061"/>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barn(inVertical)">
                                      <p:cBhvr>
                                        <p:cTn id="18" dur="5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20"/>
                                        </p:tgtEl>
                                      </p:cBhvr>
                                    </p:animEffect>
                                    <p:set>
                                      <p:cBhvr>
                                        <p:cTn id="28" dur="1" fill="hold">
                                          <p:stCondLst>
                                            <p:cond delay="499"/>
                                          </p:stCondLst>
                                        </p:cTn>
                                        <p:tgtEl>
                                          <p:spTgt spid="20"/>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058"/>
                                        </p:tgtEl>
                                        <p:attrNameLst>
                                          <p:attrName>style.visibility</p:attrName>
                                        </p:attrNameLst>
                                      </p:cBhvr>
                                      <p:to>
                                        <p:strVal val="visible"/>
                                      </p:to>
                                    </p:set>
                                    <p:anim calcmode="lin" valueType="num">
                                      <p:cBhvr additive="base">
                                        <p:cTn id="33" dur="500" fill="hold"/>
                                        <p:tgtEl>
                                          <p:spTgt spid="2058"/>
                                        </p:tgtEl>
                                        <p:attrNameLst>
                                          <p:attrName>ppt_x</p:attrName>
                                        </p:attrNameLst>
                                      </p:cBhvr>
                                      <p:tavLst>
                                        <p:tav tm="0">
                                          <p:val>
                                            <p:strVal val="#ppt_x"/>
                                          </p:val>
                                        </p:tav>
                                        <p:tav tm="100000">
                                          <p:val>
                                            <p:strVal val="#ppt_x"/>
                                          </p:val>
                                        </p:tav>
                                      </p:tavLst>
                                    </p:anim>
                                    <p:anim calcmode="lin" valueType="num">
                                      <p:cBhvr additive="base">
                                        <p:cTn id="34" dur="500" fill="hold"/>
                                        <p:tgtEl>
                                          <p:spTgt spid="205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059"/>
                                        </p:tgtEl>
                                        <p:attrNameLst>
                                          <p:attrName>style.visibility</p:attrName>
                                        </p:attrNameLst>
                                      </p:cBhvr>
                                      <p:to>
                                        <p:strVal val="visible"/>
                                      </p:to>
                                    </p:set>
                                    <p:anim calcmode="lin" valueType="num">
                                      <p:cBhvr additive="base">
                                        <p:cTn id="37" dur="500" fill="hold"/>
                                        <p:tgtEl>
                                          <p:spTgt spid="2059"/>
                                        </p:tgtEl>
                                        <p:attrNameLst>
                                          <p:attrName>ppt_x</p:attrName>
                                        </p:attrNameLst>
                                      </p:cBhvr>
                                      <p:tavLst>
                                        <p:tav tm="0">
                                          <p:val>
                                            <p:strVal val="#ppt_x"/>
                                          </p:val>
                                        </p:tav>
                                        <p:tav tm="100000">
                                          <p:val>
                                            <p:strVal val="#ppt_x"/>
                                          </p:val>
                                        </p:tav>
                                      </p:tavLst>
                                    </p:anim>
                                    <p:anim calcmode="lin" valueType="num">
                                      <p:cBhvr additive="base">
                                        <p:cTn id="38" dur="500" fill="hold"/>
                                        <p:tgtEl>
                                          <p:spTgt spid="205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500"/>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065"/>
                                        </p:tgtEl>
                                        <p:attrNameLst>
                                          <p:attrName>style.visibility</p:attrName>
                                        </p:attrNameLst>
                                      </p:cBhvr>
                                      <p:to>
                                        <p:strVal val="visible"/>
                                      </p:to>
                                    </p:set>
                                    <p:anim calcmode="lin" valueType="num">
                                      <p:cBhvr additive="base">
                                        <p:cTn id="48" dur="500" fill="hold"/>
                                        <p:tgtEl>
                                          <p:spTgt spid="2065"/>
                                        </p:tgtEl>
                                        <p:attrNameLst>
                                          <p:attrName>ppt_x</p:attrName>
                                        </p:attrNameLst>
                                      </p:cBhvr>
                                      <p:tavLst>
                                        <p:tav tm="0">
                                          <p:val>
                                            <p:strVal val="#ppt_x"/>
                                          </p:val>
                                        </p:tav>
                                        <p:tav tm="100000">
                                          <p:val>
                                            <p:strVal val="#ppt_x"/>
                                          </p:val>
                                        </p:tav>
                                      </p:tavLst>
                                    </p:anim>
                                    <p:anim calcmode="lin" valueType="num">
                                      <p:cBhvr additive="base">
                                        <p:cTn id="49" dur="500" fill="hold"/>
                                        <p:tgtEl>
                                          <p:spTgt spid="20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 grpId="0"/>
      <p:bldP spid="2059" grpId="0"/>
      <p:bldP spid="2061" grpId="0"/>
      <p:bldP spid="2063" grpId="0"/>
      <p:bldP spid="2064" grpId="0"/>
      <p:bldP spid="2065" grpId="0"/>
      <p:bldP spid="6" grpId="0" animBg="1"/>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533400"/>
                <a:ext cx="8229600" cy="5592763"/>
              </a:xfrm>
            </p:spPr>
            <p:txBody>
              <a:bodyPr>
                <a:normAutofit lnSpcReduction="10000"/>
              </a:bodyPr>
              <a:lstStyle/>
              <a:p>
                <a:pPr marL="0" indent="0">
                  <a:buNone/>
                </a:pPr>
                <a:r>
                  <a:rPr lang="en-US" sz="2400" b="1" u="sng">
                    <a:latin typeface="Times New Roman" pitchFamily="18" charset="0"/>
                    <a:cs typeface="Times New Roman" pitchFamily="18" charset="0"/>
                  </a:rPr>
                  <a:t>Ví dụ: </a:t>
                </a:r>
                <a:r>
                  <a:rPr lang="en-US" sz="2400">
                    <a:latin typeface="Times New Roman" pitchFamily="18" charset="0"/>
                    <a:cs typeface="Times New Roman" pitchFamily="18" charset="0"/>
                  </a:rPr>
                  <a:t>Một xuồng máy có khối lượng 3,5</a:t>
                </a:r>
              </a:p>
              <a:p>
                <a:pPr marL="0" indent="0">
                  <a:buNone/>
                </a:pPr>
                <a:r>
                  <a:rPr lang="en-US" sz="2400">
                    <a:latin typeface="Times New Roman" pitchFamily="18" charset="0"/>
                    <a:cs typeface="Times New Roman" pitchFamily="18" charset="0"/>
                  </a:rPr>
                  <a:t>.10²kg bao gồm cả hành khách có động </a:t>
                </a:r>
              </a:p>
              <a:p>
                <a:pPr marL="0" indent="0">
                  <a:buNone/>
                </a:pPr>
                <a:r>
                  <a:rPr lang="en-US" sz="2400">
                    <a:latin typeface="Times New Roman" pitchFamily="18" charset="0"/>
                    <a:cs typeface="Times New Roman" pitchFamily="18" charset="0"/>
                  </a:rPr>
                  <a:t>cơ tạo ra lực cản thực là 7,7.10²N. </a:t>
                </a:r>
              </a:p>
              <a:p>
                <a:pPr marL="0" lvl="0" indent="0">
                  <a:buNone/>
                </a:pPr>
                <a:r>
                  <a:rPr lang="en-US" sz="2400">
                    <a:latin typeface="Times New Roman" pitchFamily="18" charset="0"/>
                    <a:cs typeface="Times New Roman" pitchFamily="18" charset="0"/>
                  </a:rPr>
                  <a:t>a. Tìm gia tốc của thuyền</a:t>
                </a:r>
              </a:p>
              <a:p>
                <a:pPr marL="0" lvl="0" indent="0">
                  <a:buNone/>
                </a:pPr>
                <a:r>
                  <a:rPr lang="en-US" sz="2400">
                    <a:latin typeface="Times New Roman" pitchFamily="18" charset="0"/>
                    <a:cs typeface="Times New Roman" pitchFamily="18" charset="0"/>
                  </a:rPr>
                  <a:t>b. Bắt đầu từ lúc nghỉ sau bao lâu thì xuồng đạt vận tốc 12m/s</a:t>
                </a:r>
              </a:p>
              <a:p>
                <a:pPr marL="0" lvl="0" indent="0">
                  <a:buNone/>
                </a:pPr>
                <a:r>
                  <a:rPr lang="en-US" sz="2400">
                    <a:latin typeface="Times New Roman" pitchFamily="18" charset="0"/>
                    <a:cs typeface="Times New Roman" pitchFamily="18" charset="0"/>
                  </a:rPr>
                  <a:t>c. Sau khi đạt tốc độ đó, tắt động cơ và dừng lại ở khoảng cách 50m. Tìm lực cản.</a:t>
                </a:r>
              </a:p>
              <a:p>
                <a:r>
                  <a:rPr lang="en-US" sz="2400">
                    <a:latin typeface="Times New Roman" pitchFamily="18" charset="0"/>
                    <a:cs typeface="Times New Roman" pitchFamily="18" charset="0"/>
                  </a:rPr>
                  <a:t>Giải:</a:t>
                </a:r>
              </a:p>
              <a:p>
                <a:pPr marL="0" lvl="0" indent="0">
                  <a:buNone/>
                </a:pPr>
                <a:r>
                  <a:rPr lang="en-US" sz="2400">
                    <a:latin typeface="Times New Roman" pitchFamily="18" charset="0"/>
                    <a:cs typeface="Times New Roman" pitchFamily="18" charset="0"/>
                  </a:rPr>
                  <a:t>a. Áp dụng định luật II Newton, gia tốc của thuyền:</a:t>
                </a:r>
              </a:p>
              <a:p>
                <a:pPr marL="0" lvl="0" indent="0">
                  <a:buNone/>
                </a:pPr>
                <a:r>
                  <a:rPr lang="en-US" sz="2400">
                    <a:latin typeface="Times New Roman" pitchFamily="18" charset="0"/>
                    <a:cs typeface="Times New Roman" pitchFamily="18" charset="0"/>
                  </a:rPr>
                  <a:t>F = ma </a:t>
                </a:r>
                <a14:m>
                  <m:oMath xmlns:m="http://schemas.openxmlformats.org/officeDocument/2006/math">
                    <m:r>
                      <a:rPr lang="en-US" sz="2400" i="1" smtClean="0">
                        <a:latin typeface="Cambria Math"/>
                        <a:ea typeface="Cambria Math"/>
                        <a:cs typeface="Times New Roman" pitchFamily="18" charset="0"/>
                      </a:rPr>
                      <m:t>→</m:t>
                    </m:r>
                  </m:oMath>
                </a14:m>
                <a:r>
                  <a:rPr lang="en-US" sz="2400">
                    <a:latin typeface="Times New Roman" pitchFamily="18" charset="0"/>
                    <a:cs typeface="Times New Roman" pitchFamily="18" charset="0"/>
                  </a:rPr>
                  <a:t> a = </a:t>
                </a:r>
                <a14:m>
                  <m:oMath xmlns:m="http://schemas.openxmlformats.org/officeDocument/2006/math">
                    <m:f>
                      <m:fPr>
                        <m:ctrlPr>
                          <a:rPr lang="en-US" sz="2400" i="1" smtClean="0">
                            <a:latin typeface="Cambria Math" panose="02040503050406030204" pitchFamily="18" charset="0"/>
                            <a:cs typeface="Times New Roman" pitchFamily="18" charset="0"/>
                          </a:rPr>
                        </m:ctrlPr>
                      </m:fPr>
                      <m:num>
                        <m:r>
                          <a:rPr lang="en-US" sz="2400" b="0" i="1" smtClean="0">
                            <a:latin typeface="Cambria Math"/>
                            <a:cs typeface="Times New Roman" pitchFamily="18" charset="0"/>
                          </a:rPr>
                          <m:t>𝐹</m:t>
                        </m:r>
                      </m:num>
                      <m:den>
                        <m:r>
                          <a:rPr lang="en-US" sz="2400" b="0" i="1" smtClean="0">
                            <a:latin typeface="Cambria Math"/>
                            <a:cs typeface="Times New Roman" pitchFamily="18" charset="0"/>
                          </a:rPr>
                          <m:t>𝑚</m:t>
                        </m:r>
                      </m:den>
                    </m:f>
                  </m:oMath>
                </a14:m>
                <a:r>
                  <a:rPr lang="en-US" sz="2400">
                    <a:latin typeface="Times New Roman" pitchFamily="18" charset="0"/>
                    <a:cs typeface="Times New Roman" pitchFamily="18" charset="0"/>
                  </a:rPr>
                  <a:t> = 2,2 m/s²</a:t>
                </a:r>
              </a:p>
              <a:p>
                <a:pPr marL="0" lvl="0" indent="0">
                  <a:buNone/>
                </a:pPr>
                <a:r>
                  <a:rPr lang="en-US" sz="2400">
                    <a:latin typeface="Times New Roman" pitchFamily="18" charset="0"/>
                    <a:cs typeface="Times New Roman" pitchFamily="18" charset="0"/>
                  </a:rPr>
                  <a:t>b. v = v0 + at = 0 + 2,2 m/s².t </a:t>
                </a:r>
                <a14:m>
                  <m:oMath xmlns:m="http://schemas.openxmlformats.org/officeDocument/2006/math">
                    <m:r>
                      <a:rPr lang="en-US" sz="2400" i="1" smtClean="0">
                        <a:latin typeface="Cambria Math"/>
                        <a:ea typeface="Cambria Math"/>
                        <a:cs typeface="Times New Roman" pitchFamily="18" charset="0"/>
                      </a:rPr>
                      <m:t>→</m:t>
                    </m:r>
                  </m:oMath>
                </a14:m>
                <a:r>
                  <a:rPr lang="en-US" sz="2400">
                    <a:latin typeface="Times New Roman" pitchFamily="18" charset="0"/>
                    <a:cs typeface="Times New Roman" pitchFamily="18" charset="0"/>
                  </a:rPr>
                  <a:t> t = 5,45s</a:t>
                </a:r>
              </a:p>
              <a:p>
                <a:pPr marL="0" lvl="0" indent="0">
                  <a:buNone/>
                </a:pPr>
                <a:r>
                  <a:rPr lang="en-US" sz="2400">
                    <a:latin typeface="Times New Roman" pitchFamily="18" charset="0"/>
                    <a:cs typeface="Times New Roman" pitchFamily="18" charset="0"/>
                  </a:rPr>
                  <a:t>c. Lực cản lên xuồng:</a:t>
                </a:r>
              </a:p>
              <a:p>
                <a:pPr marL="0" lvl="0" indent="0">
                  <a:buNone/>
                </a:pPr>
                <a:r>
                  <a:rPr lang="en-US" sz="2400">
                    <a:latin typeface="Times New Roman" pitchFamily="18" charset="0"/>
                    <a:cs typeface="Times New Roman" pitchFamily="18" charset="0"/>
                  </a:rPr>
                  <a:t>v² - v0² = 2a</a:t>
                </a:r>
                <a14:m>
                  <m:oMath xmlns:m="http://schemas.openxmlformats.org/officeDocument/2006/math">
                    <m:r>
                      <a:rPr lang="en-US" sz="240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𝑥</m:t>
                    </m:r>
                    <m:r>
                      <a:rPr lang="en-US" sz="2400" b="0" i="1" smtClean="0">
                        <a:latin typeface="Cambria Math"/>
                        <a:ea typeface="Cambria Math"/>
                        <a:cs typeface="Times New Roman" pitchFamily="18" charset="0"/>
                      </a:rPr>
                      <m:t> → </m:t>
                    </m:r>
                  </m:oMath>
                </a14:m>
                <a:r>
                  <a:rPr lang="en-US" sz="2400">
                    <a:latin typeface="Times New Roman" pitchFamily="18" charset="0"/>
                    <a:cs typeface="Times New Roman" pitchFamily="18" charset="0"/>
                  </a:rPr>
                  <a:t>a = -1,44 m/s² </a:t>
                </a:r>
                <a14:m>
                  <m:oMath xmlns:m="http://schemas.openxmlformats.org/officeDocument/2006/math">
                    <m:r>
                      <a:rPr lang="en-US" sz="2400" i="1" smtClean="0">
                        <a:latin typeface="Cambria Math"/>
                        <a:ea typeface="Cambria Math"/>
                        <a:cs typeface="Times New Roman" pitchFamily="18" charset="0"/>
                      </a:rPr>
                      <m:t>→</m:t>
                    </m:r>
                  </m:oMath>
                </a14:m>
                <a:r>
                  <a:rPr lang="en-US" sz="2400">
                    <a:latin typeface="Times New Roman" pitchFamily="18" charset="0"/>
                    <a:cs typeface="Times New Roman" pitchFamily="18" charset="0"/>
                  </a:rPr>
                  <a:t> F = -504 N (lực cản)</a:t>
                </a:r>
              </a:p>
              <a:p>
                <a:endParaRPr lang="en-US" sz="200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533400"/>
                <a:ext cx="8229600" cy="5592763"/>
              </a:xfrm>
              <a:blipFill rotWithShape="1">
                <a:blip r:embed="rId2"/>
                <a:stretch>
                  <a:fillRect l="-1111" t="-1527"/>
                </a:stretch>
              </a:blipFill>
            </p:spPr>
            <p:txBody>
              <a:bodyPr/>
              <a:lstStyle/>
              <a:p>
                <a:r>
                  <a:rPr lang="en-US">
                    <a:noFill/>
                  </a:rPr>
                  <a:t> </a:t>
                </a:r>
              </a:p>
            </p:txBody>
          </p:sp>
        </mc:Fallback>
      </mc:AlternateContent>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5638800" y="533400"/>
            <a:ext cx="3057525" cy="1476375"/>
          </a:xfrm>
          <a:prstGeom prst="rect">
            <a:avLst/>
          </a:prstGeom>
        </p:spPr>
      </p:pic>
      <p:sp>
        <p:nvSpPr>
          <p:cNvPr id="2" name="Footer Placeholder 1">
            <a:extLst>
              <a:ext uri="{FF2B5EF4-FFF2-40B4-BE49-F238E27FC236}">
                <a16:creationId xmlns:a16="http://schemas.microsoft.com/office/drawing/2014/main" id="{1FC46D0C-1DBA-E0F2-0721-058EA5DDD548}"/>
              </a:ext>
            </a:extLst>
          </p:cNvPr>
          <p:cNvSpPr>
            <a:spLocks noGrp="1"/>
          </p:cNvSpPr>
          <p:nvPr>
            <p:ph type="ftr" sz="quarter" idx="11"/>
          </p:nvPr>
        </p:nvSpPr>
        <p:spPr/>
        <p:txBody>
          <a:bodyPr/>
          <a:lstStyle/>
          <a:p>
            <a:r>
              <a:rPr lang="en-US"/>
              <a:t>Bùi Quốc Trung - VLDC</a:t>
            </a:r>
          </a:p>
        </p:txBody>
      </p:sp>
      <p:sp>
        <p:nvSpPr>
          <p:cNvPr id="4" name="Slide Number Placeholder 3">
            <a:extLst>
              <a:ext uri="{FF2B5EF4-FFF2-40B4-BE49-F238E27FC236}">
                <a16:creationId xmlns:a16="http://schemas.microsoft.com/office/drawing/2014/main" id="{1BD7462E-3057-9CB2-3A8A-D30F3FBD76FF}"/>
              </a:ext>
            </a:extLst>
          </p:cNvPr>
          <p:cNvSpPr>
            <a:spLocks noGrp="1"/>
          </p:cNvSpPr>
          <p:nvPr>
            <p:ph type="sldNum" sz="quarter" idx="12"/>
          </p:nvPr>
        </p:nvSpPr>
        <p:spPr/>
        <p:txBody>
          <a:bodyPr/>
          <a:lstStyle/>
          <a:p>
            <a:fld id="{C4A94DE9-7404-4CC4-BDD8-EA2E97866C70}" type="slidenum">
              <a:rPr lang="en-US" smtClean="0"/>
              <a:t>3</a:t>
            </a:fld>
            <a:endParaRPr lang="en-US"/>
          </a:p>
        </p:txBody>
      </p:sp>
    </p:spTree>
    <p:extLst>
      <p:ext uri="{BB962C8B-B14F-4D97-AF65-F5344CB8AC3E}">
        <p14:creationId xmlns:p14="http://schemas.microsoft.com/office/powerpoint/2010/main" val="4237605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
          <p:cNvGrpSpPr>
            <a:grpSpLocks/>
          </p:cNvGrpSpPr>
          <p:nvPr/>
        </p:nvGrpSpPr>
        <p:grpSpPr bwMode="auto">
          <a:xfrm>
            <a:off x="2057400" y="0"/>
            <a:ext cx="4724400" cy="685800"/>
            <a:chOff x="1310" y="1392"/>
            <a:chExt cx="3395" cy="432"/>
          </a:xfrm>
        </p:grpSpPr>
        <p:pic>
          <p:nvPicPr>
            <p:cNvPr id="3093"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3395"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1755" y="1449"/>
              <a:ext cx="2635"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just"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2.1.</a:t>
              </a:r>
              <a:r>
                <a:rPr lang="en-US" sz="2400">
                  <a:solidFill>
                    <a:srgbClr val="C00000"/>
                  </a:solidFill>
                  <a:latin typeface="Times New Roman" pitchFamily="18" charset="0"/>
                  <a:cs typeface="Times New Roman" pitchFamily="18" charset="0"/>
                </a:rPr>
                <a:t> </a:t>
              </a:r>
              <a:r>
                <a:rPr lang="vi-VN" sz="2400" b="1">
                  <a:solidFill>
                    <a:srgbClr val="FF0000"/>
                  </a:solidFill>
                  <a:latin typeface="Times New Roman" pitchFamily="18" charset="0"/>
                  <a:cs typeface="Times New Roman" pitchFamily="18" charset="0"/>
                </a:rPr>
                <a:t>Các định luật Newton</a:t>
              </a:r>
              <a:endParaRPr lang="en-US" sz="2400" b="1">
                <a:solidFill>
                  <a:srgbClr val="FF0000"/>
                </a:solidFill>
                <a:effectLst>
                  <a:outerShdw blurRad="38100" dist="38100" dir="2700000" algn="tl" rotWithShape="0">
                    <a:srgbClr val="000000">
                      <a:alpha val="43137"/>
                    </a:srgbClr>
                  </a:outerShdw>
                </a:effectLst>
                <a:latin typeface="Times New Roman" pitchFamily="18" charset="0"/>
                <a:cs typeface="Times New Roman" pitchFamily="18" charset="0"/>
              </a:endParaRPr>
            </a:p>
          </p:txBody>
        </p:sp>
      </p:grpSp>
      <p:grpSp>
        <p:nvGrpSpPr>
          <p:cNvPr id="3" name="Group 26"/>
          <p:cNvGrpSpPr>
            <a:grpSpLocks/>
          </p:cNvGrpSpPr>
          <p:nvPr/>
        </p:nvGrpSpPr>
        <p:grpSpPr bwMode="auto">
          <a:xfrm>
            <a:off x="7467600" y="0"/>
            <a:ext cx="1676400" cy="2971800"/>
            <a:chOff x="7772400" y="2743200"/>
            <a:chExt cx="1685793" cy="2707074"/>
          </a:xfrm>
        </p:grpSpPr>
        <p:pic>
          <p:nvPicPr>
            <p:cNvPr id="3091" name="Picture 34" descr="GodfreyKneller-IsaacNewton-168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2400" y="2743200"/>
              <a:ext cx="1685793"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92" name="Text Box 35"/>
            <p:cNvSpPr txBox="1">
              <a:spLocks noChangeArrowheads="1"/>
            </p:cNvSpPr>
            <p:nvPr/>
          </p:nvSpPr>
          <p:spPr bwMode="auto">
            <a:xfrm>
              <a:off x="7772400" y="4648200"/>
              <a:ext cx="1654175" cy="802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algn="ctr"/>
              <a:r>
                <a:rPr lang="en-US" sz="1600" b="1">
                  <a:solidFill>
                    <a:srgbClr val="002060"/>
                  </a:solidFill>
                  <a:latin typeface="Times New Roman" pitchFamily="18" charset="0"/>
                  <a:cs typeface="Times New Roman" pitchFamily="18" charset="0"/>
                </a:rPr>
                <a:t>Isaac Newton</a:t>
              </a:r>
            </a:p>
            <a:p>
              <a:pPr algn="ctr"/>
              <a:r>
                <a:rPr lang="en-US" sz="1600" b="1">
                  <a:solidFill>
                    <a:srgbClr val="002060"/>
                  </a:solidFill>
                  <a:latin typeface="Times New Roman" pitchFamily="18" charset="0"/>
                  <a:cs typeface="Times New Roman" pitchFamily="18" charset="0"/>
                </a:rPr>
                <a:t>(1642-1727)</a:t>
              </a:r>
            </a:p>
          </p:txBody>
        </p:sp>
      </p:grpSp>
      <p:sp>
        <p:nvSpPr>
          <p:cNvPr id="2060" name="Text Box 21"/>
          <p:cNvSpPr txBox="1">
            <a:spLocks noChangeArrowheads="1"/>
          </p:cNvSpPr>
          <p:nvPr/>
        </p:nvSpPr>
        <p:spPr bwMode="auto">
          <a:xfrm>
            <a:off x="153342" y="914400"/>
            <a:ext cx="5638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pPr>
            <a:r>
              <a:rPr lang="en-US" sz="2800" b="1">
                <a:solidFill>
                  <a:srgbClr val="002060"/>
                </a:solidFill>
                <a:latin typeface="Times New Roman" pitchFamily="18" charset="0"/>
                <a:cs typeface="Times New Roman" pitchFamily="18" charset="0"/>
              </a:rPr>
              <a:t>Định luật về lực – phản lực</a:t>
            </a:r>
          </a:p>
        </p:txBody>
      </p:sp>
      <mc:AlternateContent xmlns:mc="http://schemas.openxmlformats.org/markup-compatibility/2006" xmlns:a14="http://schemas.microsoft.com/office/drawing/2010/main">
        <mc:Choice Requires="a14">
          <p:sp>
            <p:nvSpPr>
              <p:cNvPr id="3087" name="Text Box 23"/>
              <p:cNvSpPr txBox="1">
                <a:spLocks noChangeArrowheads="1"/>
              </p:cNvSpPr>
              <p:nvPr/>
            </p:nvSpPr>
            <p:spPr bwMode="auto">
              <a:xfrm>
                <a:off x="122862" y="1549953"/>
                <a:ext cx="6658938" cy="143545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algn="just" eaLnBrk="1" hangingPunct="1">
                  <a:lnSpc>
                    <a:spcPct val="115000"/>
                  </a:lnSpc>
                  <a:spcBef>
                    <a:spcPct val="50000"/>
                  </a:spcBef>
                  <a:buClr>
                    <a:srgbClr val="00CC00"/>
                  </a:buClr>
                  <a:buFont typeface="Wingdings" pitchFamily="2" charset="2"/>
                  <a:buNone/>
                </a:pPr>
                <a:r>
                  <a:rPr lang="en-US" sz="2400" dirty="0">
                    <a:solidFill>
                      <a:schemeClr val="tx1"/>
                    </a:solidFill>
                    <a:latin typeface="Times New Roman" pitchFamily="18" charset="0"/>
                    <a:cs typeface="Times New Roman" pitchFamily="18" charset="0"/>
                  </a:rPr>
                  <a:t>Nếu A tác dụng lên B một lực </a:t>
                </a:r>
                <a14:m>
                  <m:oMath xmlns:m="http://schemas.openxmlformats.org/officeDocument/2006/math">
                    <m:acc>
                      <m:accPr>
                        <m:chr m:val="⃗"/>
                        <m:ctrlPr>
                          <a:rPr lang="en-US" sz="2400" i="1" smtClean="0">
                            <a:solidFill>
                              <a:schemeClr val="tx1"/>
                            </a:solidFill>
                            <a:latin typeface="Cambria Math" panose="02040503050406030204" pitchFamily="18" charset="0"/>
                            <a:cs typeface="Times New Roman" pitchFamily="18" charset="0"/>
                          </a:rPr>
                        </m:ctrlPr>
                      </m:accPr>
                      <m:e>
                        <m:r>
                          <m:rPr>
                            <m:sty m:val="p"/>
                          </m:rPr>
                          <a:rPr lang="en-US" sz="2400" b="0" i="0" smtClean="0">
                            <a:solidFill>
                              <a:schemeClr val="tx1"/>
                            </a:solidFill>
                            <a:latin typeface="Cambria Math"/>
                            <a:cs typeface="Times New Roman" pitchFamily="18" charset="0"/>
                          </a:rPr>
                          <m:t>F</m:t>
                        </m:r>
                      </m:e>
                    </m:acc>
                  </m:oMath>
                </a14:m>
                <a:r>
                  <a:rPr lang="en-US" sz="2400" dirty="0">
                    <a:solidFill>
                      <a:schemeClr val="tx1"/>
                    </a:solidFill>
                    <a:latin typeface="Times New Roman" pitchFamily="18" charset="0"/>
                    <a:cs typeface="Times New Roman" pitchFamily="18" charset="0"/>
                  </a:rPr>
                  <a:t> thì B cũng sẽ tác dụng trở lại A một lực </a:t>
                </a:r>
                <a14:m>
                  <m:oMath xmlns:m="http://schemas.openxmlformats.org/officeDocument/2006/math">
                    <m:acc>
                      <m:accPr>
                        <m:chr m:val="⃗"/>
                        <m:ctrlPr>
                          <a:rPr lang="en-US" sz="2400" i="1" smtClean="0">
                            <a:solidFill>
                              <a:schemeClr val="tx1"/>
                            </a:solidFill>
                            <a:latin typeface="Cambria Math" panose="02040503050406030204" pitchFamily="18" charset="0"/>
                            <a:cs typeface="Times New Roman" pitchFamily="18" charset="0"/>
                          </a:rPr>
                        </m:ctrlPr>
                      </m:accPr>
                      <m:e>
                        <m:r>
                          <m:rPr>
                            <m:sty m:val="p"/>
                          </m:rPr>
                          <a:rPr lang="en-US" sz="2400" b="0" i="0" smtClean="0">
                            <a:solidFill>
                              <a:schemeClr val="tx1"/>
                            </a:solidFill>
                            <a:latin typeface="Cambria Math"/>
                            <a:cs typeface="Times New Roman" pitchFamily="18" charset="0"/>
                          </a:rPr>
                          <m:t>F</m:t>
                        </m:r>
                      </m:e>
                    </m:acc>
                    <m:r>
                      <a:rPr lang="en-US" sz="2400" b="0" i="0" smtClean="0">
                        <a:solidFill>
                          <a:schemeClr val="tx1"/>
                        </a:solidFill>
                        <a:latin typeface="Cambria Math"/>
                        <a:cs typeface="Times New Roman" pitchFamily="18" charset="0"/>
                      </a:rPr>
                      <m:t> </m:t>
                    </m:r>
                  </m:oMath>
                </a14:m>
                <a:r>
                  <a:rPr lang="en-US" sz="2400" dirty="0">
                    <a:solidFill>
                      <a:schemeClr val="tx1"/>
                    </a:solidFill>
                    <a:latin typeface="Times New Roman" pitchFamily="18" charset="0"/>
                    <a:cs typeface="Times New Roman" pitchFamily="18" charset="0"/>
                  </a:rPr>
                  <a:t>cùng độ lớn, cùng phương, ngược chiều với      </a:t>
                </a:r>
                <a:r>
                  <a:rPr lang="en-US" sz="2400" i="1" dirty="0">
                    <a:solidFill>
                      <a:srgbClr val="FF0000"/>
                    </a:solidFill>
                    <a:latin typeface="Times New Roman" pitchFamily="18" charset="0"/>
                    <a:cs typeface="Times New Roman" pitchFamily="18" charset="0"/>
                  </a:rPr>
                  <a:t>.</a:t>
                </a:r>
              </a:p>
            </p:txBody>
          </p:sp>
        </mc:Choice>
        <mc:Fallback xmlns="">
          <p:sp>
            <p:nvSpPr>
              <p:cNvPr id="3087" name="Text Box 23"/>
              <p:cNvSpPr txBox="1">
                <a:spLocks noRot="1" noChangeAspect="1" noMove="1" noResize="1" noEditPoints="1" noAdjustHandles="1" noChangeArrowheads="1" noChangeShapeType="1" noTextEdit="1"/>
              </p:cNvSpPr>
              <p:nvPr/>
            </p:nvSpPr>
            <p:spPr bwMode="auto">
              <a:xfrm>
                <a:off x="122862" y="1549953"/>
                <a:ext cx="6658938" cy="1435458"/>
              </a:xfrm>
              <a:prstGeom prst="rect">
                <a:avLst/>
              </a:prstGeom>
              <a:blipFill rotWithShape="1">
                <a:blip r:embed="rId4"/>
                <a:stretch>
                  <a:fillRect l="-1372" r="-1372" b="-847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22" name="Text Box 23"/>
          <p:cNvSpPr txBox="1">
            <a:spLocks noChangeArrowheads="1"/>
          </p:cNvSpPr>
          <p:nvPr/>
        </p:nvSpPr>
        <p:spPr bwMode="auto">
          <a:xfrm>
            <a:off x="275262" y="3733800"/>
            <a:ext cx="665893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r>
              <a:rPr lang="en-US" sz="2400" b="1" i="1" u="sng" dirty="0">
                <a:latin typeface="Times New Roman" pitchFamily="18" charset="0"/>
                <a:cs typeface="Times New Roman" pitchFamily="18" charset="0"/>
              </a:rPr>
              <a:t>Chú ý</a:t>
            </a:r>
          </a:p>
          <a:p>
            <a:endParaRPr lang="en-US" sz="2400" b="1" i="1" u="sng" dirty="0">
              <a:latin typeface="Times New Roman" pitchFamily="18" charset="0"/>
              <a:cs typeface="Times New Roman" pitchFamily="18" charset="0"/>
            </a:endParaRPr>
          </a:p>
          <a:p>
            <a:r>
              <a:rPr lang="en-US" sz="2400" i="1" dirty="0">
                <a:latin typeface="Times New Roman" pitchFamily="18" charset="0"/>
                <a:cs typeface="Times New Roman" pitchFamily="18" charset="0"/>
              </a:rPr>
              <a:t>Lực và phản lực ?</a:t>
            </a:r>
          </a:p>
          <a:p>
            <a:r>
              <a:rPr lang="en-US" sz="2400" i="1" dirty="0">
                <a:latin typeface="Times New Roman" pitchFamily="18" charset="0"/>
                <a:cs typeface="Times New Roman" pitchFamily="18" charset="0"/>
              </a:rPr>
              <a:t>Phân biệt lực trực đối và lực cân bằng?</a:t>
            </a:r>
          </a:p>
        </p:txBody>
      </p:sp>
      <p:sp>
        <p:nvSpPr>
          <p:cNvPr id="4" name="Oval 3"/>
          <p:cNvSpPr/>
          <p:nvPr/>
        </p:nvSpPr>
        <p:spPr>
          <a:xfrm>
            <a:off x="5562600" y="3714206"/>
            <a:ext cx="9144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A</a:t>
            </a:r>
          </a:p>
        </p:txBody>
      </p:sp>
      <p:sp>
        <p:nvSpPr>
          <p:cNvPr id="5" name="Oval 4"/>
          <p:cNvSpPr/>
          <p:nvPr/>
        </p:nvSpPr>
        <p:spPr>
          <a:xfrm>
            <a:off x="6477000" y="3668426"/>
            <a:ext cx="914400" cy="914400"/>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t>B</a:t>
            </a:r>
          </a:p>
        </p:txBody>
      </p:sp>
      <p:sp>
        <p:nvSpPr>
          <p:cNvPr id="6" name="Oval 5"/>
          <p:cNvSpPr/>
          <p:nvPr/>
        </p:nvSpPr>
        <p:spPr>
          <a:xfrm>
            <a:off x="6764383" y="5303460"/>
            <a:ext cx="9144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8" name="Straight Arrow Connector 7"/>
          <p:cNvCxnSpPr/>
          <p:nvPr/>
        </p:nvCxnSpPr>
        <p:spPr>
          <a:xfrm>
            <a:off x="6934200" y="4125626"/>
            <a:ext cx="152569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4510052" y="4167053"/>
            <a:ext cx="128209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7221583" y="5760660"/>
            <a:ext cx="1084217"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6019800" y="5760660"/>
            <a:ext cx="120178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Footer Placeholder 6">
            <a:extLst>
              <a:ext uri="{FF2B5EF4-FFF2-40B4-BE49-F238E27FC236}">
                <a16:creationId xmlns:a16="http://schemas.microsoft.com/office/drawing/2014/main" id="{11F2D25E-71B4-8F47-FFF6-9850849ABC82}"/>
              </a:ext>
            </a:extLst>
          </p:cNvPr>
          <p:cNvSpPr>
            <a:spLocks noGrp="1"/>
          </p:cNvSpPr>
          <p:nvPr>
            <p:ph type="ftr" sz="quarter" idx="11"/>
          </p:nvPr>
        </p:nvSpPr>
        <p:spPr/>
        <p:txBody>
          <a:bodyPr/>
          <a:lstStyle/>
          <a:p>
            <a:r>
              <a:rPr lang="en-US"/>
              <a:t>Bùi Quốc Trung - VLDC</a:t>
            </a:r>
          </a:p>
        </p:txBody>
      </p:sp>
      <p:sp>
        <p:nvSpPr>
          <p:cNvPr id="9" name="Slide Number Placeholder 8">
            <a:extLst>
              <a:ext uri="{FF2B5EF4-FFF2-40B4-BE49-F238E27FC236}">
                <a16:creationId xmlns:a16="http://schemas.microsoft.com/office/drawing/2014/main" id="{8BAF1CE5-74A5-43D2-F1A7-DB3B746308AE}"/>
              </a:ext>
            </a:extLst>
          </p:cNvPr>
          <p:cNvSpPr>
            <a:spLocks noGrp="1"/>
          </p:cNvSpPr>
          <p:nvPr>
            <p:ph type="sldNum" sz="quarter" idx="12"/>
          </p:nvPr>
        </p:nvSpPr>
        <p:spPr/>
        <p:txBody>
          <a:bodyPr/>
          <a:lstStyle/>
          <a:p>
            <a:fld id="{C4A94DE9-7404-4CC4-BDD8-EA2E97866C70}" type="slidenum">
              <a:rPr lang="en-US" smtClean="0"/>
              <a:t>4</a:t>
            </a:fld>
            <a:endParaRPr lang="en-US"/>
          </a:p>
        </p:txBody>
      </p:sp>
    </p:spTree>
    <p:extLst>
      <p:ext uri="{BB962C8B-B14F-4D97-AF65-F5344CB8AC3E}">
        <p14:creationId xmlns:p14="http://schemas.microsoft.com/office/powerpoint/2010/main" val="1859475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087"/>
                                        </p:tgtEl>
                                        <p:attrNameLst>
                                          <p:attrName>style.visibility</p:attrName>
                                        </p:attrNameLst>
                                      </p:cBhvr>
                                      <p:to>
                                        <p:strVal val="visible"/>
                                      </p:to>
                                    </p:set>
                                    <p:animEffect transition="in" filter="circle(in)">
                                      <p:cBhvr>
                                        <p:cTn id="7" dur="2000"/>
                                        <p:tgtEl>
                                          <p:spTgt spid="3087"/>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2060"/>
                                        </p:tgtEl>
                                        <p:attrNameLst>
                                          <p:attrName>style.visibility</p:attrName>
                                        </p:attrNameLst>
                                      </p:cBhvr>
                                      <p:to>
                                        <p:strVal val="visible"/>
                                      </p:to>
                                    </p:set>
                                    <p:animEffect transition="in" filter="circle(in)">
                                      <p:cBhvr>
                                        <p:cTn id="10" dur="2000"/>
                                        <p:tgtEl>
                                          <p:spTgt spid="206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barn(inVertical)">
                                      <p:cBhvr>
                                        <p:cTn id="1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0" grpId="0"/>
      <p:bldP spid="3087"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533400"/>
                <a:ext cx="8229600" cy="5592763"/>
              </a:xfrm>
            </p:spPr>
            <p:txBody>
              <a:bodyPr>
                <a:normAutofit/>
              </a:bodyPr>
              <a:lstStyle/>
              <a:p>
                <a:pPr marL="0" indent="0">
                  <a:buNone/>
                </a:pPr>
                <a:r>
                  <a:rPr lang="en-US" sz="2400" b="1" u="sng">
                    <a:latin typeface="Times New Roman" pitchFamily="18" charset="0"/>
                    <a:cs typeface="Times New Roman" pitchFamily="18" charset="0"/>
                  </a:rPr>
                  <a:t>Ví dụ: </a:t>
                </a:r>
                <a:r>
                  <a:rPr lang="en-US" sz="2400">
                    <a:latin typeface="Times New Roman" pitchFamily="18" charset="0"/>
                    <a:cs typeface="Times New Roman" pitchFamily="18" charset="0"/>
                  </a:rPr>
                  <a:t>Một người đàn ông nặng 75kg và một người phụ nữ nặng 50kg đứng đối diện nhau trên sân băng, cả hai đều mang giày trượt băng. Người phụ nữ đẩy người đàn ông một lực 85N nằm ngang theo phương x chiều dương. Gỉa sử băng không có ma sát. </a:t>
                </a:r>
              </a:p>
              <a:p>
                <a:pPr marL="0" lvl="0" indent="0">
                  <a:buNone/>
                </a:pPr>
                <a:r>
                  <a:rPr lang="en-US" sz="2400">
                    <a:latin typeface="Times New Roman" pitchFamily="18" charset="0"/>
                    <a:cs typeface="Times New Roman" pitchFamily="18" charset="0"/>
                  </a:rPr>
                  <a:t>a. Gia tốc người đàn ông là bao nhiêu? </a:t>
                </a:r>
              </a:p>
              <a:p>
                <a:pPr marL="0" lvl="0" indent="0">
                  <a:buNone/>
                </a:pPr>
                <a:r>
                  <a:rPr lang="en-US" sz="2400">
                    <a:latin typeface="Times New Roman" pitchFamily="18" charset="0"/>
                    <a:cs typeface="Times New Roman" pitchFamily="18" charset="0"/>
                  </a:rPr>
                  <a:t>b. Phản lực tác dụng lên người phụ nữ?</a:t>
                </a:r>
              </a:p>
              <a:p>
                <a:pPr marL="0" lvl="0" indent="0">
                  <a:buNone/>
                </a:pPr>
                <a:r>
                  <a:rPr lang="en-US" sz="2400">
                    <a:latin typeface="Times New Roman" pitchFamily="18" charset="0"/>
                    <a:cs typeface="Times New Roman" pitchFamily="18" charset="0"/>
                  </a:rPr>
                  <a:t>c. Gia tốc người phụ nữ?</a:t>
                </a:r>
              </a:p>
              <a:p>
                <a:pPr marL="0" lvl="0" indent="0">
                  <a:buNone/>
                </a:pPr>
                <a:r>
                  <a:rPr lang="en-US" sz="2400">
                    <a:latin typeface="Times New Roman" pitchFamily="18" charset="0"/>
                    <a:cs typeface="Times New Roman" pitchFamily="18" charset="0"/>
                  </a:rPr>
                  <a:t>Giải:</a:t>
                </a:r>
              </a:p>
              <a:p>
                <a:pPr marL="457200" lvl="0" indent="-457200">
                  <a:buAutoNum type="alphaLcPeriod"/>
                </a:pPr>
                <a:r>
                  <a:rPr lang="en-US" sz="2400">
                    <a:latin typeface="Times New Roman" pitchFamily="18" charset="0"/>
                    <a:cs typeface="Times New Roman" pitchFamily="18" charset="0"/>
                  </a:rPr>
                  <a:t>a = </a:t>
                </a:r>
                <a14:m>
                  <m:oMath xmlns:m="http://schemas.openxmlformats.org/officeDocument/2006/math">
                    <m:f>
                      <m:fPr>
                        <m:ctrlPr>
                          <a:rPr lang="en-US" sz="2400" i="1" smtClean="0">
                            <a:latin typeface="Cambria Math" panose="02040503050406030204" pitchFamily="18" charset="0"/>
                            <a:cs typeface="Times New Roman" pitchFamily="18" charset="0"/>
                          </a:rPr>
                        </m:ctrlPr>
                      </m:fPr>
                      <m:num>
                        <m:r>
                          <a:rPr lang="en-US" sz="2400" b="0" i="1" smtClean="0">
                            <a:latin typeface="Cambria Math"/>
                            <a:cs typeface="Times New Roman" pitchFamily="18" charset="0"/>
                          </a:rPr>
                          <m:t>𝐹</m:t>
                        </m:r>
                      </m:num>
                      <m:den>
                        <m:r>
                          <a:rPr lang="en-US" sz="2400" b="0" i="1" smtClean="0">
                            <a:latin typeface="Cambria Math"/>
                            <a:cs typeface="Times New Roman" pitchFamily="18" charset="0"/>
                          </a:rPr>
                          <m:t>𝑀</m:t>
                        </m:r>
                      </m:den>
                    </m:f>
                  </m:oMath>
                </a14:m>
                <a:r>
                  <a:rPr lang="en-US" sz="2400">
                    <a:latin typeface="Times New Roman" pitchFamily="18" charset="0"/>
                    <a:cs typeface="Times New Roman" pitchFamily="18" charset="0"/>
                  </a:rPr>
                  <a:t>  = 1,13 m/s²</a:t>
                </a:r>
              </a:p>
              <a:p>
                <a:pPr marL="457200" lvl="0" indent="-457200">
                  <a:buAutoNum type="alphaLcPeriod"/>
                </a:pPr>
                <a:r>
                  <a:rPr lang="en-US" sz="2400">
                    <a:latin typeface="Times New Roman" pitchFamily="18" charset="0"/>
                    <a:cs typeface="Times New Roman" pitchFamily="18" charset="0"/>
                  </a:rPr>
                  <a:t>R = - F = -85N</a:t>
                </a:r>
              </a:p>
              <a:p>
                <a:pPr marL="457200" indent="-457200">
                  <a:buFont typeface="Arial" pitchFamily="34" charset="0"/>
                  <a:buAutoNum type="alphaLcPeriod"/>
                </a:pPr>
                <a:r>
                  <a:rPr lang="en-US" sz="2400">
                    <a:latin typeface="Times New Roman" pitchFamily="18" charset="0"/>
                    <a:cs typeface="Times New Roman" pitchFamily="18" charset="0"/>
                  </a:rPr>
                  <a:t>a’ = </a:t>
                </a:r>
                <a14:m>
                  <m:oMath xmlns:m="http://schemas.openxmlformats.org/officeDocument/2006/math">
                    <m:f>
                      <m:fPr>
                        <m:ctrlPr>
                          <a:rPr lang="en-US" sz="2400" i="1" smtClean="0">
                            <a:latin typeface="Cambria Math" panose="02040503050406030204" pitchFamily="18" charset="0"/>
                            <a:cs typeface="Times New Roman" pitchFamily="18" charset="0"/>
                          </a:rPr>
                        </m:ctrlPr>
                      </m:fPr>
                      <m:num>
                        <m:r>
                          <a:rPr lang="en-US" sz="2400" b="0" i="1" smtClean="0">
                            <a:latin typeface="Cambria Math"/>
                            <a:cs typeface="Times New Roman" pitchFamily="18" charset="0"/>
                          </a:rPr>
                          <m:t>− </m:t>
                        </m:r>
                        <m:r>
                          <a:rPr lang="en-US" sz="2400" b="0" i="1" smtClean="0">
                            <a:latin typeface="Cambria Math"/>
                            <a:cs typeface="Times New Roman" pitchFamily="18" charset="0"/>
                          </a:rPr>
                          <m:t>𝐹</m:t>
                        </m:r>
                      </m:num>
                      <m:den>
                        <m:r>
                          <a:rPr lang="en-US" sz="2400" b="0" i="1" smtClean="0">
                            <a:latin typeface="Cambria Math"/>
                            <a:cs typeface="Times New Roman" pitchFamily="18" charset="0"/>
                          </a:rPr>
                          <m:t>𝑚</m:t>
                        </m:r>
                      </m:den>
                    </m:f>
                  </m:oMath>
                </a14:m>
                <a:r>
                  <a:rPr lang="en-US" sz="2400">
                    <a:latin typeface="Times New Roman" pitchFamily="18" charset="0"/>
                    <a:cs typeface="Times New Roman" pitchFamily="18" charset="0"/>
                  </a:rPr>
                  <a:t> = -1,55 m/s²</a:t>
                </a:r>
              </a:p>
              <a:p>
                <a:pPr marL="457200" lvl="0" indent="-457200">
                  <a:buAutoNum type="alphaLcPeriod"/>
                </a:pPr>
                <a:endParaRPr lang="en-US" sz="2000">
                  <a:latin typeface="Times New Roman" pitchFamily="18" charset="0"/>
                  <a:cs typeface="Times New Roman" pitchFamily="18" charset="0"/>
                </a:endParaRPr>
              </a:p>
              <a:p>
                <a:endParaRPr lang="en-US" sz="200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533400"/>
                <a:ext cx="8229600" cy="5592763"/>
              </a:xfrm>
              <a:blipFill rotWithShape="1">
                <a:blip r:embed="rId2"/>
                <a:stretch>
                  <a:fillRect l="-1111" t="-872" r="-741"/>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A400607F-A008-B040-BE95-F50463B7D78C}"/>
              </a:ext>
            </a:extLst>
          </p:cNvPr>
          <p:cNvSpPr>
            <a:spLocks noGrp="1"/>
          </p:cNvSpPr>
          <p:nvPr>
            <p:ph type="ftr" sz="quarter" idx="11"/>
          </p:nvPr>
        </p:nvSpPr>
        <p:spPr/>
        <p:txBody>
          <a:bodyPr/>
          <a:lstStyle/>
          <a:p>
            <a:r>
              <a:rPr lang="en-US"/>
              <a:t>Bùi Quốc Trung - VLDC</a:t>
            </a:r>
          </a:p>
        </p:txBody>
      </p:sp>
      <p:sp>
        <p:nvSpPr>
          <p:cNvPr id="4" name="Slide Number Placeholder 3">
            <a:extLst>
              <a:ext uri="{FF2B5EF4-FFF2-40B4-BE49-F238E27FC236}">
                <a16:creationId xmlns:a16="http://schemas.microsoft.com/office/drawing/2014/main" id="{7F21A1AF-0059-8114-D60C-45529E3685E2}"/>
              </a:ext>
            </a:extLst>
          </p:cNvPr>
          <p:cNvSpPr>
            <a:spLocks noGrp="1"/>
          </p:cNvSpPr>
          <p:nvPr>
            <p:ph type="sldNum" sz="quarter" idx="12"/>
          </p:nvPr>
        </p:nvSpPr>
        <p:spPr/>
        <p:txBody>
          <a:bodyPr/>
          <a:lstStyle/>
          <a:p>
            <a:fld id="{C4A94DE9-7404-4CC4-BDD8-EA2E97866C70}" type="slidenum">
              <a:rPr lang="en-US" smtClean="0"/>
              <a:t>5</a:t>
            </a:fld>
            <a:endParaRPr lang="en-US"/>
          </a:p>
        </p:txBody>
      </p:sp>
    </p:spTree>
    <p:extLst>
      <p:ext uri="{BB962C8B-B14F-4D97-AF65-F5344CB8AC3E}">
        <p14:creationId xmlns:p14="http://schemas.microsoft.com/office/powerpoint/2010/main" val="2087436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p:cNvSpPr>
          <p:nvPr>
            <p:ph/>
          </p:nvPr>
        </p:nvSpPr>
        <p:spPr>
          <a:solidFill>
            <a:schemeClr val="accent5">
              <a:lumMod val="20000"/>
              <a:lumOff val="80000"/>
            </a:schemeClr>
          </a:solidFill>
        </p:spPr>
        <p:txBody>
          <a:bodyPr/>
          <a:lstStyle/>
          <a:p>
            <a:pPr marL="287338" indent="-287338" eaLnBrk="1" hangingPunct="1">
              <a:buFont typeface="Arial" charset="0"/>
              <a:buNone/>
              <a:defRPr/>
            </a:pPr>
            <a:r>
              <a:rPr lang="en-US" dirty="0" err="1"/>
              <a:t>Một</a:t>
            </a:r>
            <a:r>
              <a:rPr lang="en-US" dirty="0"/>
              <a:t> </a:t>
            </a:r>
            <a:r>
              <a:rPr lang="en-US" dirty="0" err="1"/>
              <a:t>vật</a:t>
            </a:r>
            <a:r>
              <a:rPr lang="en-US" dirty="0"/>
              <a:t> </a:t>
            </a:r>
            <a:r>
              <a:rPr lang="en-US" dirty="0" err="1"/>
              <a:t>có</a:t>
            </a:r>
            <a:r>
              <a:rPr lang="en-US" dirty="0"/>
              <a:t> </a:t>
            </a:r>
            <a:r>
              <a:rPr lang="en-US" dirty="0" err="1"/>
              <a:t>khối</a:t>
            </a:r>
            <a:r>
              <a:rPr lang="en-US" dirty="0"/>
              <a:t> </a:t>
            </a:r>
            <a:r>
              <a:rPr lang="en-US" dirty="0" err="1"/>
              <a:t>lượng</a:t>
            </a:r>
            <a:r>
              <a:rPr lang="en-US" dirty="0"/>
              <a:t> 3kg </a:t>
            </a:r>
            <a:r>
              <a:rPr lang="en-US" dirty="0" err="1"/>
              <a:t>chuyển</a:t>
            </a:r>
            <a:r>
              <a:rPr lang="en-US" dirty="0"/>
              <a:t> </a:t>
            </a:r>
            <a:r>
              <a:rPr lang="en-US" dirty="0" err="1"/>
              <a:t>động</a:t>
            </a:r>
            <a:r>
              <a:rPr lang="en-US" dirty="0"/>
              <a:t> </a:t>
            </a:r>
            <a:r>
              <a:rPr lang="en-US" dirty="0" err="1"/>
              <a:t>trên</a:t>
            </a:r>
            <a:endParaRPr lang="en-US" dirty="0"/>
          </a:p>
          <a:p>
            <a:pPr marL="287338" indent="-287338" eaLnBrk="1" hangingPunct="1">
              <a:buFont typeface="Arial" charset="0"/>
              <a:buNone/>
              <a:defRPr/>
            </a:pPr>
            <a:r>
              <a:rPr lang="en-US" dirty="0" err="1"/>
              <a:t>mặt</a:t>
            </a:r>
            <a:r>
              <a:rPr lang="en-US" dirty="0"/>
              <a:t> </a:t>
            </a:r>
            <a:r>
              <a:rPr lang="en-US" dirty="0" err="1"/>
              <a:t>phẳng</a:t>
            </a:r>
            <a:r>
              <a:rPr lang="en-US" dirty="0"/>
              <a:t> </a:t>
            </a:r>
            <a:r>
              <a:rPr lang="en-US" dirty="0" err="1"/>
              <a:t>với</a:t>
            </a:r>
            <a:r>
              <a:rPr lang="en-US" dirty="0"/>
              <a:t> </a:t>
            </a:r>
            <a:r>
              <a:rPr lang="en-US" dirty="0" err="1"/>
              <a:t>phương</a:t>
            </a:r>
            <a:r>
              <a:rPr lang="en-US" dirty="0"/>
              <a:t> </a:t>
            </a:r>
            <a:r>
              <a:rPr lang="en-US" dirty="0" err="1"/>
              <a:t>trình</a:t>
            </a:r>
            <a:r>
              <a:rPr lang="en-US" dirty="0"/>
              <a:t>:</a:t>
            </a:r>
          </a:p>
          <a:p>
            <a:pPr lvl="1" indent="-341313" eaLnBrk="1" hangingPunct="1">
              <a:buFont typeface="Arial" charset="0"/>
              <a:buNone/>
              <a:defRPr/>
            </a:pPr>
            <a:r>
              <a:rPr lang="en-US" dirty="0"/>
              <a:t>				</a:t>
            </a:r>
          </a:p>
          <a:p>
            <a:pPr lvl="1" indent="-341313" eaLnBrk="1" hangingPunct="1">
              <a:buFont typeface="Arial" charset="0"/>
              <a:buNone/>
              <a:defRPr/>
            </a:pPr>
            <a:r>
              <a:rPr lang="en-US" dirty="0"/>
              <a:t>					</a:t>
            </a:r>
          </a:p>
          <a:p>
            <a:pPr lvl="1" indent="-341313" eaLnBrk="1" hangingPunct="1">
              <a:buFont typeface="Arial" charset="0"/>
              <a:buNone/>
              <a:defRPr/>
            </a:pPr>
            <a:r>
              <a:rPr lang="en-US" sz="3200" dirty="0" err="1"/>
              <a:t>Tìm</a:t>
            </a:r>
            <a:r>
              <a:rPr lang="en-US" sz="3200" dirty="0"/>
              <a:t> </a:t>
            </a:r>
            <a:r>
              <a:rPr lang="en-US" sz="3200" dirty="0" err="1"/>
              <a:t>độ</a:t>
            </a:r>
            <a:r>
              <a:rPr lang="en-US" sz="3200" dirty="0"/>
              <a:t> </a:t>
            </a:r>
            <a:r>
              <a:rPr lang="en-US" sz="3200" dirty="0" err="1"/>
              <a:t>lớn</a:t>
            </a:r>
            <a:r>
              <a:rPr lang="en-US" sz="3200" dirty="0"/>
              <a:t> </a:t>
            </a:r>
            <a:r>
              <a:rPr lang="en-US" sz="3200" dirty="0" err="1"/>
              <a:t>của</a:t>
            </a:r>
            <a:r>
              <a:rPr lang="en-US" sz="3200" dirty="0"/>
              <a:t> </a:t>
            </a:r>
            <a:r>
              <a:rPr lang="en-US" sz="3200" dirty="0" err="1"/>
              <a:t>hợp</a:t>
            </a:r>
            <a:r>
              <a:rPr lang="en-US" sz="3200" dirty="0"/>
              <a:t> </a:t>
            </a:r>
            <a:r>
              <a:rPr lang="en-US" sz="3200" dirty="0" err="1"/>
              <a:t>lực</a:t>
            </a:r>
            <a:r>
              <a:rPr lang="en-US" sz="3200" dirty="0"/>
              <a:t> </a:t>
            </a:r>
            <a:r>
              <a:rPr lang="en-US" sz="3200" dirty="0" err="1"/>
              <a:t>tác</a:t>
            </a:r>
            <a:r>
              <a:rPr lang="en-US" sz="3200" dirty="0"/>
              <a:t> </a:t>
            </a:r>
            <a:r>
              <a:rPr lang="en-US" sz="3200" dirty="0" err="1"/>
              <a:t>dụng</a:t>
            </a:r>
            <a:r>
              <a:rPr lang="en-US" sz="3200" dirty="0"/>
              <a:t> </a:t>
            </a:r>
            <a:r>
              <a:rPr lang="en-US" sz="3200" dirty="0" err="1"/>
              <a:t>lên</a:t>
            </a:r>
            <a:r>
              <a:rPr lang="en-US" sz="3200" dirty="0"/>
              <a:t> </a:t>
            </a:r>
            <a:r>
              <a:rPr lang="en-US" sz="3200" dirty="0" err="1"/>
              <a:t>vật</a:t>
            </a:r>
            <a:r>
              <a:rPr lang="en-US" sz="3200" dirty="0"/>
              <a:t> </a:t>
            </a:r>
            <a:r>
              <a:rPr lang="en-US" sz="3200" dirty="0" err="1"/>
              <a:t>này</a:t>
            </a:r>
            <a:r>
              <a:rPr lang="en-US" sz="3200" dirty="0"/>
              <a:t> </a:t>
            </a:r>
            <a:r>
              <a:rPr lang="en-US" sz="3200" dirty="0" err="1"/>
              <a:t>tại</a:t>
            </a:r>
            <a:r>
              <a:rPr lang="en-US" sz="3200" dirty="0"/>
              <a:t> </a:t>
            </a:r>
            <a:r>
              <a:rPr lang="en-US" sz="3200" dirty="0" err="1"/>
              <a:t>thời</a:t>
            </a:r>
            <a:r>
              <a:rPr lang="en-US" sz="3200" dirty="0"/>
              <a:t> </a:t>
            </a:r>
            <a:r>
              <a:rPr lang="en-US" sz="3200" dirty="0" err="1"/>
              <a:t>điểm</a:t>
            </a:r>
            <a:r>
              <a:rPr lang="en-US" sz="3200" dirty="0"/>
              <a:t> t = 2s</a:t>
            </a:r>
          </a:p>
          <a:p>
            <a:pPr lvl="1" indent="-341313" eaLnBrk="1" hangingPunct="1">
              <a:buFont typeface="Arial" charset="0"/>
              <a:buNone/>
              <a:defRPr/>
            </a:pPr>
            <a:endParaRPr lang="en-US" sz="3200" dirty="0">
              <a:solidFill>
                <a:srgbClr val="FF0066"/>
              </a:solidFill>
            </a:endParaRPr>
          </a:p>
        </p:txBody>
      </p:sp>
      <p:sp>
        <p:nvSpPr>
          <p:cNvPr id="2" name="TextBox 1"/>
          <p:cNvSpPr txBox="1">
            <a:spLocks noRot="1" noChangeAspect="1" noMove="1" noResize="1" noEditPoints="1" noAdjustHandles="1" noChangeArrowheads="1" noChangeShapeType="1" noTextEdit="1"/>
          </p:cNvSpPr>
          <p:nvPr/>
        </p:nvSpPr>
        <p:spPr>
          <a:xfrm>
            <a:off x="2286000" y="1447800"/>
            <a:ext cx="2500172" cy="1056956"/>
          </a:xfrm>
          <a:prstGeom prst="rect">
            <a:avLst/>
          </a:prstGeom>
          <a:blipFill rotWithShape="1">
            <a:blip r:embed="rId3"/>
            <a:stretch>
              <a:fillRect/>
            </a:stretch>
          </a:blipFill>
        </p:spPr>
        <p:txBody>
          <a:bodyPr/>
          <a:lstStyle/>
          <a:p>
            <a:pPr>
              <a:defRPr/>
            </a:pPr>
            <a:r>
              <a:rPr lang="en-US">
                <a:noFill/>
              </a:rPr>
              <a:t> </a:t>
            </a:r>
          </a:p>
        </p:txBody>
      </p:sp>
      <mc:AlternateContent xmlns:mc="http://schemas.openxmlformats.org/markup-compatibility/2006" xmlns:a14="http://schemas.microsoft.com/office/drawing/2010/main">
        <mc:Choice Requires="a14">
          <p:sp>
            <p:nvSpPr>
              <p:cNvPr id="5" name="Notes Placeholder 4"/>
              <p:cNvSpPr txBox="1">
                <a:spLocks/>
              </p:cNvSpPr>
              <p:nvPr/>
            </p:nvSpPr>
            <p:spPr>
              <a:xfrm>
                <a:off x="2667000" y="3733800"/>
                <a:ext cx="6324600" cy="2514600"/>
              </a:xfrm>
              <a:prstGeom prst="wedgeEllipseCallout">
                <a:avLst/>
              </a:prstGeom>
            </p:spPr>
            <p:style>
              <a:lnRef idx="1">
                <a:schemeClr val="accent2"/>
              </a:lnRef>
              <a:fillRef idx="2">
                <a:schemeClr val="accent2"/>
              </a:fillRef>
              <a:effectRef idx="1">
                <a:schemeClr val="accent2"/>
              </a:effectRef>
              <a:fontRef idx="minor">
                <a:schemeClr val="dk1"/>
              </a:fontRef>
            </p:style>
            <p:txBody>
              <a:bodyPr rtlCol="0" anchor="ct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14:m>
                  <m:oMath xmlns:m="http://schemas.openxmlformats.org/officeDocument/2006/math">
                    <m:acc>
                      <m:accPr>
                        <m:chr m:val="⃗"/>
                        <m:ctrlPr>
                          <a:rPr lang="en-US" sz="2800" b="1" i="1" smtClean="0">
                            <a:solidFill>
                              <a:schemeClr val="tx1"/>
                            </a:solidFill>
                            <a:latin typeface="Cambria Math" panose="02040503050406030204" pitchFamily="18" charset="0"/>
                            <a:cs typeface="Times New Roman" pitchFamily="18" charset="0"/>
                          </a:rPr>
                        </m:ctrlPr>
                      </m:accPr>
                      <m:e>
                        <m:r>
                          <a:rPr lang="en-US" sz="2800" b="1">
                            <a:solidFill>
                              <a:schemeClr val="tx1"/>
                            </a:solidFill>
                            <a:latin typeface="Cambria Math"/>
                            <a:cs typeface="Times New Roman" pitchFamily="18" charset="0"/>
                          </a:rPr>
                          <m:t>𝐅</m:t>
                        </m:r>
                      </m:e>
                    </m:acc>
                  </m:oMath>
                </a14:m>
                <a:r>
                  <a:rPr lang="en-US" sz="2800" b="1" dirty="0">
                    <a:solidFill>
                      <a:schemeClr val="tx1"/>
                    </a:solidFill>
                    <a:latin typeface="Times New Roman" pitchFamily="18" charset="0"/>
                    <a:cs typeface="Times New Roman" pitchFamily="18" charset="0"/>
                  </a:rPr>
                  <a:t> = m</a:t>
                </a:r>
                <a14:m>
                  <m:oMath xmlns:m="http://schemas.openxmlformats.org/officeDocument/2006/math">
                    <m:acc>
                      <m:accPr>
                        <m:chr m:val="⃗"/>
                        <m:ctrlPr>
                          <a:rPr lang="en-US" sz="2800" b="1" i="1">
                            <a:solidFill>
                              <a:schemeClr val="tx1"/>
                            </a:solidFill>
                            <a:latin typeface="Cambria Math" panose="02040503050406030204" pitchFamily="18" charset="0"/>
                            <a:cs typeface="Times New Roman" pitchFamily="18" charset="0"/>
                          </a:rPr>
                        </m:ctrlPr>
                      </m:accPr>
                      <m:e>
                        <m:r>
                          <a:rPr lang="en-US" sz="2800" b="1">
                            <a:solidFill>
                              <a:schemeClr val="tx1"/>
                            </a:solidFill>
                            <a:latin typeface="Cambria Math"/>
                            <a:cs typeface="Times New Roman" pitchFamily="18" charset="0"/>
                          </a:rPr>
                          <m:t>𝐚</m:t>
                        </m:r>
                      </m:e>
                    </m:acc>
                  </m:oMath>
                </a14:m>
                <a:endParaRPr lang="en-US" sz="2800" dirty="0">
                  <a:latin typeface="Times New Roman" pitchFamily="18" charset="0"/>
                  <a:cs typeface="Times New Roman" pitchFamily="18" charset="0"/>
                </a:endParaRPr>
              </a:p>
              <a:p>
                <a:pPr algn="ctr"/>
                <a14:m>
                  <m:oMath xmlns:m="http://schemas.openxmlformats.org/officeDocument/2006/math">
                    <m:d>
                      <m:dPr>
                        <m:begChr m:val="|"/>
                        <m:endChr m:val="|"/>
                        <m:ctrlPr>
                          <a:rPr lang="en-US" sz="2800" b="1" i="1">
                            <a:latin typeface="Cambria Math" panose="02040503050406030204" pitchFamily="18" charset="0"/>
                          </a:rPr>
                        </m:ctrlPr>
                      </m:dPr>
                      <m:e>
                        <m:acc>
                          <m:accPr>
                            <m:chr m:val="⃗"/>
                            <m:ctrlPr>
                              <a:rPr lang="en-US" sz="2800" b="1" i="1">
                                <a:latin typeface="Cambria Math" panose="02040503050406030204" pitchFamily="18" charset="0"/>
                              </a:rPr>
                            </m:ctrlPr>
                          </m:accPr>
                          <m:e>
                            <m:r>
                              <a:rPr lang="en-US" sz="2800" b="1">
                                <a:latin typeface="Cambria Math"/>
                              </a:rPr>
                              <m:t>𝐚</m:t>
                            </m:r>
                          </m:e>
                        </m:acc>
                      </m:e>
                    </m:d>
                  </m:oMath>
                </a14:m>
                <a:r>
                  <a:rPr lang="en-US" sz="2800" b="1" dirty="0">
                    <a:latin typeface="Times New Roman" pitchFamily="18" charset="0"/>
                    <a:cs typeface="Times New Roman" pitchFamily="18" charset="0"/>
                  </a:rPr>
                  <a:t> = </a:t>
                </a:r>
                <a14:m>
                  <m:oMath xmlns:m="http://schemas.openxmlformats.org/officeDocument/2006/math">
                    <m:rad>
                      <m:radPr>
                        <m:degHide m:val="on"/>
                        <m:ctrlPr>
                          <a:rPr lang="en-US" sz="2800" b="1" i="1">
                            <a:latin typeface="Cambria Math" panose="02040503050406030204" pitchFamily="18" charset="0"/>
                          </a:rPr>
                        </m:ctrlPr>
                      </m:radPr>
                      <m:deg/>
                      <m:e>
                        <m:r>
                          <m:rPr>
                            <m:nor/>
                          </m:rPr>
                          <a:rPr lang="en-US" sz="2800" b="1">
                            <a:latin typeface="Times New Roman" pitchFamily="18" charset="0"/>
                            <a:cs typeface="Times New Roman" pitchFamily="18" charset="0"/>
                          </a:rPr>
                          <m:t>a</m:t>
                        </m:r>
                        <m:r>
                          <m:rPr>
                            <m:nor/>
                          </m:rPr>
                          <a:rPr lang="en-US" sz="2800" b="1">
                            <a:latin typeface="Times New Roman" pitchFamily="18" charset="0"/>
                            <a:cs typeface="Times New Roman" pitchFamily="18" charset="0"/>
                          </a:rPr>
                          <m:t>²</m:t>
                        </m:r>
                        <m:r>
                          <m:rPr>
                            <m:nor/>
                          </m:rPr>
                          <a:rPr lang="en-US" sz="2800" b="1">
                            <a:latin typeface="Times New Roman" pitchFamily="18" charset="0"/>
                            <a:cs typeface="Times New Roman" pitchFamily="18" charset="0"/>
                          </a:rPr>
                          <m:t>x</m:t>
                        </m:r>
                        <m:r>
                          <m:rPr>
                            <m:nor/>
                          </m:rPr>
                          <a:rPr lang="en-US" sz="2800" b="1">
                            <a:latin typeface="Times New Roman" pitchFamily="18" charset="0"/>
                            <a:cs typeface="Times New Roman" pitchFamily="18" charset="0"/>
                          </a:rPr>
                          <m:t>  + </m:t>
                        </m:r>
                        <m:r>
                          <m:rPr>
                            <m:nor/>
                          </m:rPr>
                          <a:rPr lang="en-US" sz="2800" b="1">
                            <a:latin typeface="Times New Roman" pitchFamily="18" charset="0"/>
                            <a:cs typeface="Times New Roman" pitchFamily="18" charset="0"/>
                          </a:rPr>
                          <m:t>a</m:t>
                        </m:r>
                        <m:r>
                          <m:rPr>
                            <m:nor/>
                          </m:rPr>
                          <a:rPr lang="en-US" sz="2800" b="1">
                            <a:latin typeface="Times New Roman" pitchFamily="18" charset="0"/>
                            <a:cs typeface="Times New Roman" pitchFamily="18" charset="0"/>
                          </a:rPr>
                          <m:t>²</m:t>
                        </m:r>
                        <m:r>
                          <m:rPr>
                            <m:nor/>
                          </m:rPr>
                          <a:rPr lang="en-US" sz="2800" b="1">
                            <a:latin typeface="Times New Roman" pitchFamily="18" charset="0"/>
                            <a:cs typeface="Times New Roman" pitchFamily="18" charset="0"/>
                          </a:rPr>
                          <m:t>y</m:t>
                        </m:r>
                        <m:r>
                          <m:rPr>
                            <m:nor/>
                          </m:rPr>
                          <a:rPr lang="en-US" sz="2800" b="1">
                            <a:latin typeface="Times New Roman" pitchFamily="18" charset="0"/>
                            <a:cs typeface="Times New Roman" pitchFamily="18" charset="0"/>
                          </a:rPr>
                          <m:t> </m:t>
                        </m:r>
                      </m:e>
                    </m:rad>
                  </m:oMath>
                </a14:m>
                <a:r>
                  <a:rPr lang="en-US" sz="2800" b="1" dirty="0">
                    <a:latin typeface="Times New Roman" pitchFamily="18" charset="0"/>
                    <a:cs typeface="Times New Roman" pitchFamily="18" charset="0"/>
                  </a:rPr>
                  <a:t> = 37,4 m/s²</a:t>
                </a:r>
              </a:p>
              <a:p>
                <a:pPr algn="ctr"/>
                <a14:m>
                  <m:oMath xmlns:m="http://schemas.openxmlformats.org/officeDocument/2006/math">
                    <m:sSub>
                      <m:sSubPr>
                        <m:ctrlPr>
                          <a:rPr lang="en-US" sz="2800" b="1" i="1" smtClean="0">
                            <a:latin typeface="Cambria Math" panose="02040503050406030204" pitchFamily="18" charset="0"/>
                            <a:cs typeface="Times New Roman" pitchFamily="18" charset="0"/>
                          </a:rPr>
                        </m:ctrlPr>
                      </m:sSubPr>
                      <m:e>
                        <m:r>
                          <a:rPr lang="en-US" sz="2800" b="1" i="1" smtClean="0">
                            <a:latin typeface="Cambria Math"/>
                            <a:cs typeface="Times New Roman" pitchFamily="18" charset="0"/>
                          </a:rPr>
                          <m:t>𝒂</m:t>
                        </m:r>
                      </m:e>
                      <m:sub>
                        <m:r>
                          <a:rPr lang="en-US" sz="2800" b="1" i="1" smtClean="0">
                            <a:latin typeface="Cambria Math"/>
                            <a:cs typeface="Times New Roman" pitchFamily="18" charset="0"/>
                          </a:rPr>
                          <m:t>𝒙</m:t>
                        </m:r>
                      </m:sub>
                    </m:sSub>
                  </m:oMath>
                </a14:m>
                <a:r>
                  <a:rPr lang="en-US" sz="2800" b="1" dirty="0">
                    <a:latin typeface="Times New Roman" pitchFamily="18" charset="0"/>
                    <a:cs typeface="Times New Roman" pitchFamily="18" charset="0"/>
                  </a:rPr>
                  <a:t> = x” (t=2), </a:t>
                </a:r>
                <a14:m>
                  <m:oMath xmlns:m="http://schemas.openxmlformats.org/officeDocument/2006/math">
                    <m:sSub>
                      <m:sSubPr>
                        <m:ctrlPr>
                          <a:rPr lang="en-US" sz="2800" b="1" i="1">
                            <a:latin typeface="Cambria Math" panose="02040503050406030204" pitchFamily="18" charset="0"/>
                            <a:cs typeface="Times New Roman" pitchFamily="18" charset="0"/>
                          </a:rPr>
                        </m:ctrlPr>
                      </m:sSubPr>
                      <m:e>
                        <m:r>
                          <a:rPr lang="en-US" sz="2800" b="1" i="1">
                            <a:latin typeface="Cambria Math"/>
                            <a:cs typeface="Times New Roman" pitchFamily="18" charset="0"/>
                          </a:rPr>
                          <m:t>𝒂</m:t>
                        </m:r>
                      </m:e>
                      <m:sub>
                        <m:r>
                          <a:rPr lang="en-US" sz="2800" b="1" i="1" smtClean="0">
                            <a:latin typeface="Cambria Math"/>
                            <a:cs typeface="Times New Roman" pitchFamily="18" charset="0"/>
                          </a:rPr>
                          <m:t>𝒚</m:t>
                        </m:r>
                      </m:sub>
                    </m:sSub>
                  </m:oMath>
                </a14:m>
                <a:r>
                  <a:rPr lang="en-US" sz="2800" b="1" dirty="0">
                    <a:latin typeface="Times New Roman" pitchFamily="18" charset="0"/>
                    <a:cs typeface="Times New Roman" pitchFamily="18" charset="0"/>
                  </a:rPr>
                  <a:t> = y”(t=2)</a:t>
                </a:r>
              </a:p>
              <a:p>
                <a:pPr algn="ctr"/>
                <a:r>
                  <a:rPr lang="en-US" sz="2800" b="1" dirty="0">
                    <a:latin typeface="Times New Roman" pitchFamily="18" charset="0"/>
                    <a:cs typeface="Times New Roman" pitchFamily="18" charset="0"/>
                  </a:rPr>
                  <a:t>F = 112N</a:t>
                </a:r>
              </a:p>
              <a:p>
                <a:pPr algn="ctr"/>
                <a:endParaRPr lang="en-US" sz="2800" b="1" dirty="0">
                  <a:latin typeface="Times New Roman" pitchFamily="18" charset="0"/>
                  <a:cs typeface="Times New Roman" pitchFamily="18" charset="0"/>
                </a:endParaRPr>
              </a:p>
            </p:txBody>
          </p:sp>
        </mc:Choice>
        <mc:Fallback xmlns="">
          <p:sp>
            <p:nvSpPr>
              <p:cNvPr id="5" name="Notes Placeholder 4"/>
              <p:cNvSpPr txBox="1">
                <a:spLocks noRot="1" noChangeAspect="1" noMove="1" noResize="1" noEditPoints="1" noAdjustHandles="1" noChangeArrowheads="1" noChangeShapeType="1" noTextEdit="1"/>
              </p:cNvSpPr>
              <p:nvPr/>
            </p:nvSpPr>
            <p:spPr>
              <a:xfrm>
                <a:off x="2667000" y="3733800"/>
                <a:ext cx="6324600" cy="2514600"/>
              </a:xfrm>
              <a:prstGeom prst="wedgeEllipseCallout">
                <a:avLst/>
              </a:prstGeom>
              <a:blipFill rotWithShape="1">
                <a:blip r:embed="rId4"/>
                <a:stretch>
                  <a:fillRect/>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45AB3BBD-F25D-A3BF-FACB-7C2D6CC3648E}"/>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25868503-5CAE-DE13-E72E-3546286D839E}"/>
              </a:ext>
            </a:extLst>
          </p:cNvPr>
          <p:cNvSpPr>
            <a:spLocks noGrp="1"/>
          </p:cNvSpPr>
          <p:nvPr>
            <p:ph type="sldNum" sz="quarter" idx="12"/>
          </p:nvPr>
        </p:nvSpPr>
        <p:spPr/>
        <p:txBody>
          <a:bodyPr/>
          <a:lstStyle/>
          <a:p>
            <a:pPr>
              <a:defRPr/>
            </a:pPr>
            <a:fld id="{76921531-3DE4-4FE6-8586-93C8C3054BFB}" type="slidenum">
              <a:rPr lang="en-US" smtClean="0"/>
              <a:pPr>
                <a:defRPr/>
              </a:pPr>
              <a:t>6</a:t>
            </a:fld>
            <a:endParaRPr lang="en-US"/>
          </a:p>
        </p:txBody>
      </p:sp>
    </p:spTree>
    <p:extLst>
      <p:ext uri="{BB962C8B-B14F-4D97-AF65-F5344CB8AC3E}">
        <p14:creationId xmlns:p14="http://schemas.microsoft.com/office/powerpoint/2010/main" val="3270853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p:cNvSpPr>
          <p:nvPr>
            <p:ph/>
          </p:nvPr>
        </p:nvSpPr>
        <p:spPr>
          <a:solidFill>
            <a:schemeClr val="accent4">
              <a:lumMod val="20000"/>
              <a:lumOff val="80000"/>
            </a:schemeClr>
          </a:solidFill>
        </p:spPr>
        <p:txBody>
          <a:bodyPr/>
          <a:lstStyle/>
          <a:p>
            <a:pPr eaLnBrk="1" hangingPunct="1">
              <a:buFont typeface="Arial" charset="0"/>
              <a:buNone/>
              <a:defRPr/>
            </a:pPr>
            <a:r>
              <a:rPr lang="en-US" dirty="0"/>
              <a:t>	</a:t>
            </a:r>
            <a:r>
              <a:rPr lang="en-US" dirty="0" err="1"/>
              <a:t>Một</a:t>
            </a:r>
            <a:r>
              <a:rPr lang="en-US" dirty="0"/>
              <a:t> </a:t>
            </a:r>
            <a:r>
              <a:rPr lang="en-US" dirty="0" err="1"/>
              <a:t>xe</a:t>
            </a:r>
            <a:r>
              <a:rPr lang="en-US" dirty="0"/>
              <a:t> </a:t>
            </a:r>
            <a:r>
              <a:rPr lang="en-US" dirty="0" err="1"/>
              <a:t>có</a:t>
            </a:r>
            <a:r>
              <a:rPr lang="en-US" dirty="0"/>
              <a:t> </a:t>
            </a:r>
            <a:r>
              <a:rPr lang="en-US" dirty="0" err="1"/>
              <a:t>khối</a:t>
            </a:r>
            <a:r>
              <a:rPr lang="en-US" dirty="0"/>
              <a:t> </a:t>
            </a:r>
            <a:r>
              <a:rPr lang="en-US" dirty="0" err="1"/>
              <a:t>lượng</a:t>
            </a:r>
            <a:r>
              <a:rPr lang="en-US" dirty="0"/>
              <a:t> 20000kg, </a:t>
            </a:r>
            <a:r>
              <a:rPr lang="en-US" dirty="0" err="1"/>
              <a:t>chuyển</a:t>
            </a:r>
            <a:r>
              <a:rPr lang="en-US" dirty="0"/>
              <a:t> </a:t>
            </a:r>
            <a:r>
              <a:rPr lang="en-US" dirty="0" err="1"/>
              <a:t>động</a:t>
            </a:r>
            <a:r>
              <a:rPr lang="en-US" dirty="0"/>
              <a:t> </a:t>
            </a:r>
            <a:r>
              <a:rPr lang="en-US" dirty="0" err="1"/>
              <a:t>chậm</a:t>
            </a:r>
            <a:r>
              <a:rPr lang="en-US" dirty="0"/>
              <a:t> </a:t>
            </a:r>
            <a:r>
              <a:rPr lang="en-US" dirty="0" err="1"/>
              <a:t>dần</a:t>
            </a:r>
            <a:r>
              <a:rPr lang="en-US" dirty="0"/>
              <a:t> </a:t>
            </a:r>
            <a:r>
              <a:rPr lang="en-US" dirty="0" err="1"/>
              <a:t>đều</a:t>
            </a:r>
            <a:r>
              <a:rPr lang="en-US" dirty="0"/>
              <a:t> </a:t>
            </a:r>
            <a:r>
              <a:rPr lang="en-US" dirty="0" err="1"/>
              <a:t>dưới</a:t>
            </a:r>
            <a:r>
              <a:rPr lang="en-US" dirty="0"/>
              <a:t> </a:t>
            </a:r>
            <a:r>
              <a:rPr lang="en-US" dirty="0" err="1"/>
              <a:t>tác</a:t>
            </a:r>
            <a:r>
              <a:rPr lang="en-US" dirty="0"/>
              <a:t> </a:t>
            </a:r>
            <a:r>
              <a:rPr lang="en-US" dirty="0" err="1"/>
              <a:t>dụng</a:t>
            </a:r>
            <a:r>
              <a:rPr lang="en-US" dirty="0"/>
              <a:t> </a:t>
            </a:r>
            <a:r>
              <a:rPr lang="en-US" dirty="0" err="1"/>
              <a:t>của</a:t>
            </a:r>
            <a:r>
              <a:rPr lang="en-US" dirty="0"/>
              <a:t> </a:t>
            </a:r>
            <a:r>
              <a:rPr lang="en-US" dirty="0" err="1"/>
              <a:t>một</a:t>
            </a:r>
            <a:r>
              <a:rPr lang="en-US" dirty="0"/>
              <a:t> </a:t>
            </a:r>
            <a:r>
              <a:rPr lang="en-US" dirty="0" err="1"/>
              <a:t>lực</a:t>
            </a:r>
            <a:r>
              <a:rPr lang="en-US" dirty="0"/>
              <a:t> 6000N, </a:t>
            </a:r>
            <a:r>
              <a:rPr lang="en-US" dirty="0" err="1"/>
              <a:t>vận</a:t>
            </a:r>
            <a:r>
              <a:rPr lang="en-US" dirty="0"/>
              <a:t> </a:t>
            </a:r>
            <a:r>
              <a:rPr lang="en-US" dirty="0" err="1"/>
              <a:t>tốc</a:t>
            </a:r>
            <a:r>
              <a:rPr lang="en-US" dirty="0"/>
              <a:t> ban </a:t>
            </a:r>
            <a:r>
              <a:rPr lang="en-US" dirty="0" err="1"/>
              <a:t>đầu</a:t>
            </a:r>
            <a:r>
              <a:rPr lang="en-US" dirty="0"/>
              <a:t> </a:t>
            </a:r>
            <a:r>
              <a:rPr lang="en-US" dirty="0" err="1"/>
              <a:t>của</a:t>
            </a:r>
            <a:r>
              <a:rPr lang="en-US" dirty="0"/>
              <a:t> </a:t>
            </a:r>
            <a:r>
              <a:rPr lang="en-US" dirty="0" err="1"/>
              <a:t>xe</a:t>
            </a:r>
            <a:r>
              <a:rPr lang="en-US" dirty="0"/>
              <a:t> </a:t>
            </a:r>
            <a:r>
              <a:rPr lang="en-US" dirty="0" err="1"/>
              <a:t>là</a:t>
            </a:r>
            <a:r>
              <a:rPr lang="en-US" dirty="0"/>
              <a:t> 15m/s. </a:t>
            </a:r>
            <a:r>
              <a:rPr lang="en-US" dirty="0" err="1"/>
              <a:t>Hỏi</a:t>
            </a:r>
            <a:r>
              <a:rPr lang="en-US" dirty="0"/>
              <a:t>:</a:t>
            </a:r>
          </a:p>
          <a:p>
            <a:pPr eaLnBrk="1" hangingPunct="1">
              <a:buFont typeface="Arial" charset="0"/>
              <a:buNone/>
              <a:defRPr/>
            </a:pPr>
            <a:r>
              <a:rPr lang="en-US" dirty="0"/>
              <a:t>a) </a:t>
            </a:r>
            <a:r>
              <a:rPr lang="en-US" dirty="0" err="1"/>
              <a:t>Gia</a:t>
            </a:r>
            <a:r>
              <a:rPr lang="en-US" dirty="0"/>
              <a:t> </a:t>
            </a:r>
            <a:r>
              <a:rPr lang="en-US" dirty="0" err="1"/>
              <a:t>tốc</a:t>
            </a:r>
            <a:r>
              <a:rPr lang="en-US" dirty="0"/>
              <a:t> </a:t>
            </a:r>
            <a:r>
              <a:rPr lang="en-US" dirty="0" err="1"/>
              <a:t>của</a:t>
            </a:r>
            <a:r>
              <a:rPr lang="en-US" dirty="0"/>
              <a:t> </a:t>
            </a:r>
            <a:r>
              <a:rPr lang="en-US" dirty="0" err="1"/>
              <a:t>xe</a:t>
            </a:r>
            <a:endParaRPr lang="en-US" dirty="0"/>
          </a:p>
          <a:p>
            <a:pPr eaLnBrk="1" hangingPunct="1">
              <a:buFont typeface="Arial" charset="0"/>
              <a:buNone/>
              <a:defRPr/>
            </a:pPr>
            <a:r>
              <a:rPr lang="en-US" dirty="0"/>
              <a:t>b) </a:t>
            </a:r>
            <a:r>
              <a:rPr lang="en-US" dirty="0" err="1"/>
              <a:t>Sau</a:t>
            </a:r>
            <a:r>
              <a:rPr lang="en-US" dirty="0"/>
              <a:t> </a:t>
            </a:r>
            <a:r>
              <a:rPr lang="en-US" dirty="0" err="1"/>
              <a:t>bao</a:t>
            </a:r>
            <a:r>
              <a:rPr lang="en-US" dirty="0"/>
              <a:t> </a:t>
            </a:r>
            <a:r>
              <a:rPr lang="en-US" dirty="0" err="1"/>
              <a:t>lâu</a:t>
            </a:r>
            <a:r>
              <a:rPr lang="en-US" dirty="0"/>
              <a:t> </a:t>
            </a:r>
            <a:r>
              <a:rPr lang="en-US" dirty="0" err="1"/>
              <a:t>xe</a:t>
            </a:r>
            <a:r>
              <a:rPr lang="en-US" dirty="0"/>
              <a:t> </a:t>
            </a:r>
            <a:r>
              <a:rPr lang="en-US" dirty="0" err="1"/>
              <a:t>dừng</a:t>
            </a:r>
            <a:r>
              <a:rPr lang="en-US" dirty="0"/>
              <a:t> </a:t>
            </a:r>
            <a:r>
              <a:rPr lang="en-US" dirty="0" err="1"/>
              <a:t>lại</a:t>
            </a:r>
            <a:endParaRPr lang="en-US" dirty="0"/>
          </a:p>
          <a:p>
            <a:pPr eaLnBrk="1" hangingPunct="1">
              <a:buFont typeface="Arial" charset="0"/>
              <a:buNone/>
              <a:defRPr/>
            </a:pPr>
            <a:r>
              <a:rPr lang="en-US" dirty="0"/>
              <a:t>c) </a:t>
            </a:r>
            <a:r>
              <a:rPr lang="en-US" dirty="0" err="1"/>
              <a:t>Đoạn</a:t>
            </a:r>
            <a:r>
              <a:rPr lang="en-US" dirty="0"/>
              <a:t> </a:t>
            </a:r>
            <a:r>
              <a:rPr lang="en-US" dirty="0" err="1"/>
              <a:t>đường</a:t>
            </a:r>
            <a:r>
              <a:rPr lang="en-US" dirty="0"/>
              <a:t> </a:t>
            </a:r>
            <a:r>
              <a:rPr lang="en-US" dirty="0" err="1"/>
              <a:t>xe</a:t>
            </a:r>
            <a:r>
              <a:rPr lang="en-US" dirty="0"/>
              <a:t> </a:t>
            </a:r>
            <a:r>
              <a:rPr lang="en-US" dirty="0" err="1"/>
              <a:t>đã</a:t>
            </a:r>
            <a:r>
              <a:rPr lang="en-US" dirty="0"/>
              <a:t> </a:t>
            </a:r>
            <a:r>
              <a:rPr lang="en-US" dirty="0" err="1"/>
              <a:t>chạy</a:t>
            </a:r>
            <a:r>
              <a:rPr lang="en-US" dirty="0"/>
              <a:t> </a:t>
            </a:r>
            <a:r>
              <a:rPr lang="en-US" dirty="0" err="1"/>
              <a:t>kể</a:t>
            </a:r>
            <a:r>
              <a:rPr lang="en-US" dirty="0"/>
              <a:t> </a:t>
            </a:r>
            <a:r>
              <a:rPr lang="en-US" dirty="0" err="1"/>
              <a:t>từ</a:t>
            </a:r>
            <a:r>
              <a:rPr lang="en-US" dirty="0"/>
              <a:t> </a:t>
            </a:r>
            <a:r>
              <a:rPr lang="en-US" dirty="0" err="1"/>
              <a:t>lúc</a:t>
            </a:r>
            <a:r>
              <a:rPr lang="en-US" dirty="0"/>
              <a:t> </a:t>
            </a:r>
            <a:r>
              <a:rPr lang="en-US" dirty="0" err="1"/>
              <a:t>hãm</a:t>
            </a:r>
            <a:r>
              <a:rPr lang="en-US" dirty="0"/>
              <a:t> </a:t>
            </a:r>
            <a:r>
              <a:rPr lang="en-US" dirty="0" err="1"/>
              <a:t>cho</a:t>
            </a:r>
            <a:r>
              <a:rPr lang="en-US" dirty="0"/>
              <a:t> </a:t>
            </a:r>
            <a:r>
              <a:rPr lang="en-US" dirty="0" err="1"/>
              <a:t>đến</a:t>
            </a:r>
            <a:r>
              <a:rPr lang="en-US" dirty="0"/>
              <a:t> </a:t>
            </a:r>
            <a:r>
              <a:rPr lang="en-US" dirty="0" err="1"/>
              <a:t>khi</a:t>
            </a:r>
            <a:r>
              <a:rPr lang="en-US" dirty="0"/>
              <a:t> </a:t>
            </a:r>
            <a:r>
              <a:rPr lang="en-US" dirty="0" err="1"/>
              <a:t>xe</a:t>
            </a:r>
            <a:r>
              <a:rPr lang="en-US" dirty="0"/>
              <a:t> </a:t>
            </a:r>
            <a:r>
              <a:rPr lang="en-US" dirty="0" err="1"/>
              <a:t>dừng</a:t>
            </a:r>
            <a:r>
              <a:rPr lang="en-US" dirty="0"/>
              <a:t> </a:t>
            </a:r>
            <a:r>
              <a:rPr lang="en-US" dirty="0" err="1"/>
              <a:t>lại</a:t>
            </a:r>
            <a:endParaRPr lang="en-US" dirty="0"/>
          </a:p>
          <a:p>
            <a:pPr eaLnBrk="1" hangingPunct="1">
              <a:buFont typeface="Arial" charset="0"/>
              <a:buNone/>
              <a:defRPr/>
            </a:pPr>
            <a:endParaRPr lang="en-US" dirty="0"/>
          </a:p>
          <a:p>
            <a:pPr eaLnBrk="1" hangingPunct="1">
              <a:buFont typeface="Arial" charset="0"/>
              <a:buNone/>
              <a:defRPr/>
            </a:pPr>
            <a:r>
              <a:rPr lang="en-US" dirty="0"/>
              <a:t>SV </a:t>
            </a:r>
            <a:r>
              <a:rPr lang="en-US" dirty="0" err="1"/>
              <a:t>về</a:t>
            </a:r>
            <a:r>
              <a:rPr lang="en-US" dirty="0"/>
              <a:t> </a:t>
            </a:r>
            <a:r>
              <a:rPr lang="en-US" dirty="0" err="1"/>
              <a:t>làm</a:t>
            </a:r>
            <a:r>
              <a:rPr lang="en-US" dirty="0"/>
              <a:t> </a:t>
            </a:r>
            <a:r>
              <a:rPr lang="en-US" dirty="0" err="1"/>
              <a:t>bài</a:t>
            </a:r>
            <a:r>
              <a:rPr lang="en-US" dirty="0"/>
              <a:t> </a:t>
            </a:r>
            <a:r>
              <a:rPr lang="en-US" dirty="0" err="1"/>
              <a:t>tập</a:t>
            </a:r>
            <a:r>
              <a:rPr lang="en-US" dirty="0"/>
              <a:t> </a:t>
            </a:r>
            <a:r>
              <a:rPr lang="en-US" dirty="0" err="1"/>
              <a:t>trên</a:t>
            </a:r>
            <a:r>
              <a:rPr lang="en-US" dirty="0"/>
              <a:t>  </a:t>
            </a:r>
          </a:p>
        </p:txBody>
      </p:sp>
      <p:sp>
        <p:nvSpPr>
          <p:cNvPr id="5" name="Notes Placeholder 4"/>
          <p:cNvSpPr txBox="1">
            <a:spLocks/>
          </p:cNvSpPr>
          <p:nvPr/>
        </p:nvSpPr>
        <p:spPr>
          <a:xfrm>
            <a:off x="5105400" y="3886200"/>
            <a:ext cx="2743200" cy="1828800"/>
          </a:xfrm>
          <a:prstGeom prst="rect">
            <a:avLst/>
          </a:prstGeom>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342900" indent="-342900">
              <a:buFontTx/>
              <a:buAutoNum type="alphaLcPeriod"/>
            </a:pPr>
            <a:r>
              <a:rPr lang="en-US" sz="2400" b="1">
                <a:latin typeface="Times New Roman" pitchFamily="18" charset="0"/>
                <a:cs typeface="Times New Roman" pitchFamily="18" charset="0"/>
              </a:rPr>
              <a:t>a = - 0,3 m/s²</a:t>
            </a:r>
          </a:p>
          <a:p>
            <a:pPr marL="342900" indent="-342900">
              <a:buFontTx/>
              <a:buAutoNum type="alphaLcPeriod"/>
            </a:pPr>
            <a:r>
              <a:rPr lang="en-US" sz="2400" b="1">
                <a:latin typeface="Times New Roman" pitchFamily="18" charset="0"/>
                <a:cs typeface="Times New Roman" pitchFamily="18" charset="0"/>
              </a:rPr>
              <a:t>t = 50s</a:t>
            </a:r>
          </a:p>
          <a:p>
            <a:pPr marL="342900" indent="-342900">
              <a:buFontTx/>
              <a:buAutoNum type="alphaLcPeriod"/>
            </a:pPr>
            <a:r>
              <a:rPr lang="en-US" sz="2400" b="1">
                <a:latin typeface="Times New Roman" pitchFamily="18" charset="0"/>
                <a:cs typeface="Times New Roman" pitchFamily="18" charset="0"/>
              </a:rPr>
              <a:t>S = 375m</a:t>
            </a:r>
            <a:endParaRPr lang="en-US" sz="2400" b="1" dirty="0">
              <a:latin typeface="Times New Roman" pitchFamily="18" charset="0"/>
              <a:cs typeface="Times New Roman" pitchFamily="18" charset="0"/>
            </a:endParaRPr>
          </a:p>
        </p:txBody>
      </p:sp>
      <p:sp>
        <p:nvSpPr>
          <p:cNvPr id="2" name="Footer Placeholder 1">
            <a:extLst>
              <a:ext uri="{FF2B5EF4-FFF2-40B4-BE49-F238E27FC236}">
                <a16:creationId xmlns:a16="http://schemas.microsoft.com/office/drawing/2014/main" id="{34ACC08B-F765-4706-509F-D138CFF30BCA}"/>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5D9749F0-4D4A-2260-B63E-285641C8090B}"/>
              </a:ext>
            </a:extLst>
          </p:cNvPr>
          <p:cNvSpPr>
            <a:spLocks noGrp="1"/>
          </p:cNvSpPr>
          <p:nvPr>
            <p:ph type="sldNum" sz="quarter" idx="12"/>
          </p:nvPr>
        </p:nvSpPr>
        <p:spPr/>
        <p:txBody>
          <a:bodyPr/>
          <a:lstStyle/>
          <a:p>
            <a:pPr>
              <a:defRPr/>
            </a:pPr>
            <a:fld id="{76921531-3DE4-4FE6-8586-93C8C3054BFB}" type="slidenum">
              <a:rPr lang="en-US" smtClean="0"/>
              <a:pPr>
                <a:defRPr/>
              </a:pPr>
              <a:t>7</a:t>
            </a:fld>
            <a:endParaRPr lang="en-US"/>
          </a:p>
        </p:txBody>
      </p:sp>
    </p:spTree>
    <p:extLst>
      <p:ext uri="{BB962C8B-B14F-4D97-AF65-F5344CB8AC3E}">
        <p14:creationId xmlns:p14="http://schemas.microsoft.com/office/powerpoint/2010/main" val="4234937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p:nvPr>
            </p:nvSpPr>
            <p:spPr>
              <a:xfrm>
                <a:off x="342900" y="1285875"/>
                <a:ext cx="8572500" cy="5307013"/>
              </a:xfrm>
            </p:spPr>
            <p:txBody>
              <a:bodyPr>
                <a:normAutofit/>
              </a:bodyPr>
              <a:lstStyle/>
              <a:p>
                <a:pPr marL="0" indent="0">
                  <a:buNone/>
                </a:pPr>
                <a:r>
                  <a:rPr lang="en-US" sz="2400" b="1" dirty="0">
                    <a:latin typeface="Times New Roman" pitchFamily="18" charset="0"/>
                    <a:cs typeface="Times New Roman" pitchFamily="18" charset="0"/>
                  </a:rPr>
                  <a:t>Lực hấp dẫn</a:t>
                </a: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Ví dụ: Hiện tượng thủy triều,...</a:t>
                </a:r>
              </a:p>
              <a:p>
                <a:endParaRPr lang="en-US" sz="2400" dirty="0">
                  <a:latin typeface="Times New Roman" pitchFamily="18" charset="0"/>
                  <a:cs typeface="Times New Roman" pitchFamily="18" charset="0"/>
                </a:endParaRPr>
              </a:p>
              <a:p>
                <a:r>
                  <a:rPr lang="en-US" sz="2400" b="1" dirty="0">
                    <a:latin typeface="Times New Roman" pitchFamily="18" charset="0"/>
                    <a:cs typeface="Times New Roman" pitchFamily="18" charset="0"/>
                  </a:rPr>
                  <a:t>Trọng lực </a:t>
                </a:r>
                <a:r>
                  <a:rPr lang="en-US" sz="2400" dirty="0">
                    <a:latin typeface="Times New Roman" pitchFamily="18" charset="0"/>
                    <a:cs typeface="Times New Roman" pitchFamily="18" charset="0"/>
                  </a:rPr>
                  <a:t>tác dụng lên vật là lực hấp dẫn của Trái đất tác dụng lên vật đó </a:t>
                </a:r>
              </a:p>
              <a:p>
                <a:pPr marL="0" indent="0">
                  <a:buNone/>
                </a:pPr>
                <a:r>
                  <a:rPr lang="en-US" sz="2400" i="1" dirty="0">
                    <a:latin typeface="Times New Roman" pitchFamily="18" charset="0"/>
                    <a:cs typeface="Times New Roman" pitchFamily="18" charset="0"/>
                  </a:rPr>
                  <a:t>     P = F</a:t>
                </a:r>
                <a:r>
                  <a:rPr lang="en-US" sz="1400" i="1" dirty="0">
                    <a:latin typeface="Times New Roman" pitchFamily="18" charset="0"/>
                    <a:cs typeface="Times New Roman" pitchFamily="18" charset="0"/>
                  </a:rPr>
                  <a:t>hd</a:t>
                </a:r>
                <a:r>
                  <a:rPr lang="en-US" sz="2400" i="1" dirty="0">
                    <a:latin typeface="Times New Roman" pitchFamily="18" charset="0"/>
                    <a:cs typeface="Times New Roman" pitchFamily="18" charset="0"/>
                  </a:rPr>
                  <a:t> = G</a:t>
                </a:r>
                <a14:m>
                  <m:oMath xmlns:m="http://schemas.openxmlformats.org/officeDocument/2006/math">
                    <m:f>
                      <m:fPr>
                        <m:ctrlPr>
                          <a:rPr lang="en-US" sz="2400" i="1" smtClean="0">
                            <a:latin typeface="Cambria Math" panose="02040503050406030204" pitchFamily="18" charset="0"/>
                            <a:cs typeface="Times New Roman" pitchFamily="18" charset="0"/>
                          </a:rPr>
                        </m:ctrlPr>
                      </m:fPr>
                      <m:num>
                        <m:r>
                          <a:rPr lang="en-US" sz="2400" b="0" i="1" smtClean="0">
                            <a:latin typeface="Cambria Math"/>
                            <a:cs typeface="Times New Roman" pitchFamily="18" charset="0"/>
                          </a:rPr>
                          <m:t>𝑀𝑚</m:t>
                        </m:r>
                      </m:num>
                      <m:den>
                        <m:r>
                          <a:rPr lang="en-US" sz="2400" b="0" i="1" smtClean="0">
                            <a:latin typeface="Cambria Math"/>
                            <a:cs typeface="Times New Roman" pitchFamily="18" charset="0"/>
                          </a:rPr>
                          <m:t>(</m:t>
                        </m:r>
                        <m:r>
                          <a:rPr lang="en-US" sz="2400" b="0" i="1" smtClean="0">
                            <a:latin typeface="Cambria Math"/>
                            <a:cs typeface="Times New Roman" pitchFamily="18" charset="0"/>
                          </a:rPr>
                          <m:t>𝑅</m:t>
                        </m:r>
                        <m:r>
                          <a:rPr lang="en-US" sz="2400" b="0" i="1" smtClean="0">
                            <a:latin typeface="Cambria Math"/>
                            <a:cs typeface="Times New Roman" pitchFamily="18" charset="0"/>
                          </a:rPr>
                          <m:t>+</m:t>
                        </m:r>
                        <m:r>
                          <a:rPr lang="en-US" sz="2400" b="0" i="1" smtClean="0">
                            <a:latin typeface="Cambria Math"/>
                            <a:cs typeface="Times New Roman" pitchFamily="18" charset="0"/>
                          </a:rPr>
                          <m:t>h</m:t>
                        </m:r>
                        <m:r>
                          <a:rPr lang="en-US" sz="2400" b="0" i="1" smtClean="0">
                            <a:latin typeface="Cambria Math"/>
                            <a:cs typeface="Times New Roman" pitchFamily="18" charset="0"/>
                          </a:rPr>
                          <m:t>)²</m:t>
                        </m:r>
                      </m:den>
                    </m:f>
                  </m:oMath>
                </a14:m>
                <a:r>
                  <a:rPr lang="en-US" sz="2400" i="1" dirty="0">
                    <a:latin typeface="Times New Roman" pitchFamily="18" charset="0"/>
                    <a:cs typeface="Times New Roman" pitchFamily="18" charset="0"/>
                  </a:rPr>
                  <a:t> = mg, với g = G</a:t>
                </a:r>
                <a14:m>
                  <m:oMath xmlns:m="http://schemas.openxmlformats.org/officeDocument/2006/math">
                    <m:f>
                      <m:fPr>
                        <m:ctrlPr>
                          <a:rPr lang="en-US" sz="2400" i="1">
                            <a:latin typeface="Cambria Math" panose="02040503050406030204" pitchFamily="18" charset="0"/>
                            <a:cs typeface="Times New Roman" pitchFamily="18" charset="0"/>
                          </a:rPr>
                        </m:ctrlPr>
                      </m:fPr>
                      <m:num>
                        <m:r>
                          <a:rPr lang="en-US" sz="2400" b="0" i="1" smtClean="0">
                            <a:latin typeface="Cambria Math"/>
                            <a:cs typeface="Times New Roman" pitchFamily="18" charset="0"/>
                          </a:rPr>
                          <m:t>𝑀</m:t>
                        </m:r>
                      </m:num>
                      <m:den>
                        <m:r>
                          <a:rPr lang="en-US" sz="2400" i="1">
                            <a:latin typeface="Cambria Math"/>
                            <a:cs typeface="Times New Roman" pitchFamily="18" charset="0"/>
                          </a:rPr>
                          <m:t>(</m:t>
                        </m:r>
                        <m:r>
                          <a:rPr lang="en-US" sz="2400" i="1">
                            <a:latin typeface="Cambria Math"/>
                            <a:cs typeface="Times New Roman" pitchFamily="18" charset="0"/>
                          </a:rPr>
                          <m:t>𝑅</m:t>
                        </m:r>
                        <m:r>
                          <a:rPr lang="en-US" sz="2400" i="1">
                            <a:latin typeface="Cambria Math"/>
                            <a:cs typeface="Times New Roman" pitchFamily="18" charset="0"/>
                          </a:rPr>
                          <m:t>+</m:t>
                        </m:r>
                        <m:r>
                          <a:rPr lang="en-US" sz="2400" i="1">
                            <a:latin typeface="Cambria Math"/>
                            <a:cs typeface="Times New Roman" pitchFamily="18" charset="0"/>
                          </a:rPr>
                          <m:t>h</m:t>
                        </m:r>
                        <m:r>
                          <a:rPr lang="en-US" sz="2400" i="1">
                            <a:latin typeface="Cambria Math"/>
                            <a:cs typeface="Times New Roman" pitchFamily="18" charset="0"/>
                          </a:rPr>
                          <m:t>)²</m:t>
                        </m:r>
                      </m:den>
                    </m:f>
                  </m:oMath>
                </a14:m>
                <a:r>
                  <a:rPr lang="en-US" sz="2400" i="1" dirty="0">
                    <a:latin typeface="Times New Roman" pitchFamily="18" charset="0"/>
                    <a:cs typeface="Times New Roman" pitchFamily="18" charset="0"/>
                  </a:rPr>
                  <a:t> là gia tốc rơi tự do</a:t>
                </a:r>
              </a:p>
              <a:p>
                <a:r>
                  <a:rPr lang="en-US" sz="2400" dirty="0">
                    <a:latin typeface="Times New Roman" pitchFamily="18" charset="0"/>
                    <a:cs typeface="Times New Roman" pitchFamily="18" charset="0"/>
                  </a:rPr>
                  <a:t>Khi vật ở gần Trái đất R </a:t>
                </a:r>
                <a14:m>
                  <m:oMath xmlns:m="http://schemas.openxmlformats.org/officeDocument/2006/math">
                    <m:r>
                      <a:rPr lang="en-US" sz="2400" i="0" smtClean="0">
                        <a:latin typeface="Cambria Math"/>
                        <a:ea typeface="Cambria Math"/>
                        <a:cs typeface="Times New Roman" pitchFamily="18" charset="0"/>
                      </a:rPr>
                      <m:t>≫</m:t>
                    </m:r>
                  </m:oMath>
                </a14:m>
                <a:r>
                  <a:rPr lang="en-US" sz="2400" dirty="0">
                    <a:latin typeface="Times New Roman" pitchFamily="18" charset="0"/>
                    <a:cs typeface="Times New Roman" pitchFamily="18" charset="0"/>
                  </a:rPr>
                  <a:t> h</a:t>
                </a:r>
              </a:p>
              <a:p>
                <a:pPr marL="0" indent="0" algn="ctr">
                  <a:buNone/>
                </a:pPr>
                <a:r>
                  <a:rPr lang="en-US" sz="2400" i="1" dirty="0">
                    <a:latin typeface="Times New Roman" pitchFamily="18" charset="0"/>
                    <a:cs typeface="Times New Roman" pitchFamily="18" charset="0"/>
                  </a:rPr>
                  <a:t>g = G</a:t>
                </a:r>
                <a14:m>
                  <m:oMath xmlns:m="http://schemas.openxmlformats.org/officeDocument/2006/math">
                    <m:f>
                      <m:fPr>
                        <m:ctrlPr>
                          <a:rPr lang="en-US" sz="2400" i="1">
                            <a:latin typeface="Cambria Math" panose="02040503050406030204" pitchFamily="18" charset="0"/>
                            <a:cs typeface="Times New Roman" pitchFamily="18" charset="0"/>
                          </a:rPr>
                        </m:ctrlPr>
                      </m:fPr>
                      <m:num>
                        <m:r>
                          <a:rPr lang="en-US" sz="2400" i="1">
                            <a:latin typeface="Cambria Math"/>
                            <a:cs typeface="Times New Roman" pitchFamily="18" charset="0"/>
                          </a:rPr>
                          <m:t>𝑀</m:t>
                        </m:r>
                      </m:num>
                      <m:den>
                        <m:r>
                          <a:rPr lang="en-US" sz="2400" i="1">
                            <a:latin typeface="Cambria Math"/>
                            <a:cs typeface="Times New Roman" pitchFamily="18" charset="0"/>
                          </a:rPr>
                          <m:t>𝑅</m:t>
                        </m:r>
                        <m:r>
                          <a:rPr lang="en-US" sz="2400" i="1">
                            <a:latin typeface="Cambria Math"/>
                            <a:cs typeface="Times New Roman" pitchFamily="18" charset="0"/>
                          </a:rPr>
                          <m:t>²</m:t>
                        </m:r>
                      </m:den>
                    </m:f>
                  </m:oMath>
                </a14:m>
                <a:r>
                  <a:rPr lang="en-US" sz="2400" i="1" dirty="0">
                    <a:latin typeface="Times New Roman" pitchFamily="18" charset="0"/>
                    <a:cs typeface="Times New Roman" pitchFamily="18" charset="0"/>
                  </a:rPr>
                  <a:t> </a:t>
                </a:r>
                <a14:m>
                  <m:oMath xmlns:m="http://schemas.openxmlformats.org/officeDocument/2006/math">
                    <m:r>
                      <a:rPr lang="en-US" sz="2400" i="1" dirty="0" smtClean="0">
                        <a:latin typeface="Cambria Math"/>
                        <a:ea typeface="Cambria Math"/>
                        <a:cs typeface="Times New Roman" pitchFamily="18" charset="0"/>
                      </a:rPr>
                      <m:t>≈</m:t>
                    </m:r>
                  </m:oMath>
                </a14:m>
                <a:r>
                  <a:rPr lang="en-US" sz="2400" i="1" dirty="0">
                    <a:latin typeface="Times New Roman" pitchFamily="18" charset="0"/>
                    <a:cs typeface="Times New Roman" pitchFamily="18" charset="0"/>
                  </a:rPr>
                  <a:t> 9,82 m/s² , M = 5,97.</a:t>
                </a:r>
                <a14:m>
                  <m:oMath xmlns:m="http://schemas.openxmlformats.org/officeDocument/2006/math">
                    <m:sSup>
                      <m:sSupPr>
                        <m:ctrlPr>
                          <a:rPr lang="en-US" sz="2400" i="1" smtClean="0">
                            <a:latin typeface="Cambria Math" panose="02040503050406030204" pitchFamily="18" charset="0"/>
                            <a:cs typeface="Times New Roman" pitchFamily="18" charset="0"/>
                          </a:rPr>
                        </m:ctrlPr>
                      </m:sSupPr>
                      <m:e>
                        <m:r>
                          <a:rPr lang="en-US" sz="2400" b="0" i="1" smtClean="0">
                            <a:latin typeface="Cambria Math"/>
                            <a:cs typeface="Times New Roman" pitchFamily="18" charset="0"/>
                          </a:rPr>
                          <m:t>10</m:t>
                        </m:r>
                      </m:e>
                      <m:sup>
                        <m:r>
                          <a:rPr lang="en-US" sz="2400" b="0" i="1" smtClean="0">
                            <a:latin typeface="Cambria Math"/>
                            <a:cs typeface="Times New Roman" pitchFamily="18" charset="0"/>
                          </a:rPr>
                          <m:t>24</m:t>
                        </m:r>
                      </m:sup>
                    </m:sSup>
                    <m:r>
                      <a:rPr lang="en-US" sz="2400" b="0" i="1" smtClean="0">
                        <a:latin typeface="Cambria Math"/>
                        <a:cs typeface="Times New Roman" pitchFamily="18" charset="0"/>
                      </a:rPr>
                      <m:t>𝑘𝑔</m:t>
                    </m:r>
                  </m:oMath>
                </a14:m>
                <a:endParaRPr lang="en-US" sz="2400" b="0" i="1" dirty="0">
                  <a:latin typeface="Times New Roman" pitchFamily="18" charset="0"/>
                  <a:cs typeface="Times New Roman" pitchFamily="18" charset="0"/>
                </a:endParaRPr>
              </a:p>
              <a:p>
                <a:pPr marL="3657600" lvl="8" indent="0">
                  <a:buNone/>
                </a:pPr>
                <a:r>
                  <a:rPr lang="en-US" sz="2400" i="1" dirty="0">
                    <a:latin typeface="Times New Roman" pitchFamily="18" charset="0"/>
                    <a:cs typeface="Times New Roman" pitchFamily="18" charset="0"/>
                  </a:rPr>
                  <a:t>       R = 6370 km</a:t>
                </a:r>
              </a:p>
            </p:txBody>
          </p:sp>
        </mc:Choice>
        <mc:Fallback xmlns="">
          <p:sp>
            <p:nvSpPr>
              <p:cNvPr id="2" name="Content Placeholder 1"/>
              <p:cNvSpPr>
                <a:spLocks noGrp="1" noRot="1" noChangeAspect="1" noMove="1" noResize="1" noEditPoints="1" noAdjustHandles="1" noChangeArrowheads="1" noChangeShapeType="1" noTextEdit="1"/>
              </p:cNvSpPr>
              <p:nvPr>
                <p:ph/>
              </p:nvPr>
            </p:nvSpPr>
            <p:spPr>
              <a:xfrm>
                <a:off x="342900" y="1285875"/>
                <a:ext cx="8572500" cy="5307013"/>
              </a:xfrm>
              <a:blipFill rotWithShape="1">
                <a:blip r:embed="rId4"/>
                <a:stretch>
                  <a:fillRect l="-1066" t="-918" b="-574"/>
                </a:stretch>
              </a:blipFill>
            </p:spPr>
            <p:txBody>
              <a:bodyPr/>
              <a:lstStyle/>
              <a:p>
                <a:r>
                  <a:rPr lang="en-US">
                    <a:noFill/>
                  </a:rPr>
                  <a:t> </a:t>
                </a:r>
              </a:p>
            </p:txBody>
          </p:sp>
        </mc:Fallback>
      </mc:AlternateContent>
      <p:grpSp>
        <p:nvGrpSpPr>
          <p:cNvPr id="3" name="Group 18"/>
          <p:cNvGrpSpPr>
            <a:grpSpLocks/>
          </p:cNvGrpSpPr>
          <p:nvPr/>
        </p:nvGrpSpPr>
        <p:grpSpPr bwMode="auto">
          <a:xfrm>
            <a:off x="2514600" y="0"/>
            <a:ext cx="3886200" cy="685800"/>
            <a:chOff x="1310" y="1392"/>
            <a:chExt cx="2793" cy="432"/>
          </a:xfrm>
        </p:grpSpPr>
        <p:pic>
          <p:nvPicPr>
            <p:cNvPr id="4" name="Picture 24" descr="PPP_CSHAP_CLP_Sleek_Silver">
              <a:hlinkClick r:id="" action="ppaction://hlinkshowjump?jump=nextslide" highlightClick="1"/>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0" y="1392"/>
              <a:ext cx="2793"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4"/>
            <p:cNvSpPr txBox="1">
              <a:spLocks noChangeArrowheads="1"/>
            </p:cNvSpPr>
            <p:nvPr/>
          </p:nvSpPr>
          <p:spPr bwMode="auto">
            <a:xfrm>
              <a:off x="1693" y="1449"/>
              <a:ext cx="2008"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just"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2.2.</a:t>
              </a:r>
              <a:r>
                <a:rPr lang="en-US" sz="2400" b="1">
                  <a:solidFill>
                    <a:srgbClr val="002060"/>
                  </a:solidFill>
                  <a:latin typeface="Times New Roman" pitchFamily="18" charset="0"/>
                  <a:cs typeface="Times New Roman" pitchFamily="18" charset="0"/>
                </a:rPr>
                <a:t> </a:t>
              </a:r>
              <a:r>
                <a:rPr lang="vi-VN" sz="2400" b="1">
                  <a:solidFill>
                    <a:srgbClr val="FF0000"/>
                  </a:solidFill>
                  <a:latin typeface="Times New Roman" pitchFamily="18" charset="0"/>
                  <a:cs typeface="Times New Roman" pitchFamily="18" charset="0"/>
                </a:rPr>
                <a:t>Các lực cơ học </a:t>
              </a:r>
              <a:endParaRPr lang="en-US" sz="2400" b="1">
                <a:solidFill>
                  <a:srgbClr val="FF0000"/>
                </a:solidFill>
                <a:latin typeface="Times New Roman" pitchFamily="18" charset="0"/>
                <a:cs typeface="Times New Roman" pitchFamily="18" charset="0"/>
              </a:endParaRPr>
            </a:p>
          </p:txBody>
        </p:sp>
      </p:grpSp>
      <p:sp>
        <p:nvSpPr>
          <p:cNvPr id="6" name="Text Box 5"/>
          <p:cNvSpPr txBox="1">
            <a:spLocks noChangeArrowheads="1"/>
          </p:cNvSpPr>
          <p:nvPr/>
        </p:nvSpPr>
        <p:spPr bwMode="auto">
          <a:xfrm>
            <a:off x="304800" y="762000"/>
            <a:ext cx="6172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pPr>
            <a:r>
              <a:rPr lang="en-US" sz="2800" b="1" dirty="0">
                <a:latin typeface="Times New Roman" pitchFamily="18" charset="0"/>
                <a:cs typeface="Times New Roman" pitchFamily="18" charset="0"/>
              </a:rPr>
              <a:t> CÁC LỰC CƠ HỌC THƯỜNG GẶP</a:t>
            </a:r>
          </a:p>
        </p:txBody>
      </p:sp>
      <p:graphicFrame>
        <p:nvGraphicFramePr>
          <p:cNvPr id="7" name="Object 6"/>
          <p:cNvGraphicFramePr>
            <a:graphicFrameLocks noChangeAspect="1"/>
          </p:cNvGraphicFramePr>
          <p:nvPr/>
        </p:nvGraphicFramePr>
        <p:xfrm>
          <a:off x="3257550" y="1371600"/>
          <a:ext cx="2165350" cy="839788"/>
        </p:xfrm>
        <a:graphic>
          <a:graphicData uri="http://schemas.openxmlformats.org/presentationml/2006/ole">
            <mc:AlternateContent xmlns:mc="http://schemas.openxmlformats.org/markup-compatibility/2006">
              <mc:Choice xmlns:v="urn:schemas-microsoft-com:vml" Requires="v">
                <p:oleObj name="Equation" r:id="rId6" imgW="875920" imgH="393529" progId="Equation.DSMT4">
                  <p:embed/>
                </p:oleObj>
              </mc:Choice>
              <mc:Fallback>
                <p:oleObj name="Equation" r:id="rId6" imgW="875920" imgH="393529" progId="Equation.DSMT4">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57550" y="1371600"/>
                        <a:ext cx="2165350" cy="839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Rectangle 24"/>
          <p:cNvSpPr>
            <a:spLocks noChangeArrowheads="1"/>
          </p:cNvSpPr>
          <p:nvPr/>
        </p:nvSpPr>
        <p:spPr bwMode="auto">
          <a:xfrm>
            <a:off x="5727700" y="1447800"/>
            <a:ext cx="3276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sz="2400" dirty="0">
                <a:latin typeface="Times New Roman" pitchFamily="18" charset="0"/>
                <a:cs typeface="Times New Roman" pitchFamily="18" charset="0"/>
              </a:rPr>
              <a:t>G = 6,67.10</a:t>
            </a:r>
            <a:r>
              <a:rPr lang="en-US" sz="2400" baseline="30000" dirty="0">
                <a:latin typeface="Times New Roman" pitchFamily="18" charset="0"/>
                <a:cs typeface="Times New Roman" pitchFamily="18" charset="0"/>
              </a:rPr>
              <a:t>-11</a:t>
            </a:r>
            <a:r>
              <a:rPr lang="en-US" sz="2400" dirty="0">
                <a:latin typeface="Times New Roman" pitchFamily="18" charset="0"/>
                <a:cs typeface="Times New Roman" pitchFamily="18" charset="0"/>
              </a:rPr>
              <a:t> (Nm</a:t>
            </a:r>
            <a:r>
              <a:rPr lang="en-US" sz="2400" baseline="30000" dirty="0">
                <a:latin typeface="Times New Roman" pitchFamily="18" charset="0"/>
                <a:cs typeface="Times New Roman" pitchFamily="18" charset="0"/>
              </a:rPr>
              <a:t>2</a:t>
            </a:r>
            <a:r>
              <a:rPr lang="en-US" sz="2400" dirty="0">
                <a:latin typeface="Times New Roman" pitchFamily="18" charset="0"/>
                <a:cs typeface="Times New Roman" pitchFamily="18" charset="0"/>
              </a:rPr>
              <a:t>/kg</a:t>
            </a:r>
            <a:r>
              <a:rPr lang="en-US" sz="2400" baseline="30000" dirty="0">
                <a:latin typeface="Times New Roman" pitchFamily="18" charset="0"/>
                <a:cs typeface="Times New Roman" pitchFamily="18" charset="0"/>
              </a:rPr>
              <a:t>2</a:t>
            </a:r>
            <a:r>
              <a:rPr lang="en-US" sz="2400" dirty="0">
                <a:latin typeface="Times New Roman" pitchFamily="18" charset="0"/>
                <a:cs typeface="Times New Roman" pitchFamily="18" charset="0"/>
              </a:rPr>
              <a:t>)</a:t>
            </a:r>
          </a:p>
          <a:p>
            <a:pPr marL="0" lvl="8"/>
            <a:r>
              <a:rPr lang="en-US" sz="2400" i="1" dirty="0">
                <a:latin typeface="Times New Roman" pitchFamily="18" charset="0"/>
                <a:cs typeface="Times New Roman" pitchFamily="18" charset="0"/>
              </a:rPr>
              <a:t>là hằng số hấp dẫn</a:t>
            </a:r>
          </a:p>
          <a:p>
            <a:endParaRPr lang="en-US" sz="2400" dirty="0">
              <a:latin typeface="Times New Roman" pitchFamily="18" charset="0"/>
              <a:cs typeface="Times New Roman" pitchFamily="18" charset="0"/>
            </a:endParaRPr>
          </a:p>
        </p:txBody>
      </p:sp>
      <p:sp>
        <p:nvSpPr>
          <p:cNvPr id="12" name="Right Arrow 11">
            <a:hlinkClick r:id="rId8" action="ppaction://hlinkfile"/>
          </p:cNvPr>
          <p:cNvSpPr/>
          <p:nvPr/>
        </p:nvSpPr>
        <p:spPr>
          <a:xfrm>
            <a:off x="7620000" y="25146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8">
            <a:extLst>
              <a:ext uri="{FF2B5EF4-FFF2-40B4-BE49-F238E27FC236}">
                <a16:creationId xmlns:a16="http://schemas.microsoft.com/office/drawing/2014/main" id="{94C11B66-8479-AE82-7124-19E13A2C5D7E}"/>
              </a:ext>
            </a:extLst>
          </p:cNvPr>
          <p:cNvSpPr>
            <a:spLocks noGrp="1"/>
          </p:cNvSpPr>
          <p:nvPr>
            <p:ph type="ftr" sz="quarter" idx="11"/>
          </p:nvPr>
        </p:nvSpPr>
        <p:spPr/>
        <p:txBody>
          <a:bodyPr/>
          <a:lstStyle/>
          <a:p>
            <a:pPr>
              <a:defRPr/>
            </a:pPr>
            <a:r>
              <a:rPr lang="en-US"/>
              <a:t>Bùi Quốc Trung - VLDC</a:t>
            </a:r>
          </a:p>
        </p:txBody>
      </p:sp>
      <p:sp>
        <p:nvSpPr>
          <p:cNvPr id="10" name="Slide Number Placeholder 9">
            <a:extLst>
              <a:ext uri="{FF2B5EF4-FFF2-40B4-BE49-F238E27FC236}">
                <a16:creationId xmlns:a16="http://schemas.microsoft.com/office/drawing/2014/main" id="{236F0310-96FF-6498-92EF-D8722AF93156}"/>
              </a:ext>
            </a:extLst>
          </p:cNvPr>
          <p:cNvSpPr>
            <a:spLocks noGrp="1"/>
          </p:cNvSpPr>
          <p:nvPr>
            <p:ph type="sldNum" sz="quarter" idx="12"/>
          </p:nvPr>
        </p:nvSpPr>
        <p:spPr/>
        <p:txBody>
          <a:bodyPr/>
          <a:lstStyle/>
          <a:p>
            <a:pPr>
              <a:defRPr/>
            </a:pPr>
            <a:fld id="{76921531-3DE4-4FE6-8586-93C8C3054BFB}" type="slidenum">
              <a:rPr lang="en-US" smtClean="0"/>
              <a:pPr>
                <a:defRPr/>
              </a:pPr>
              <a:t>8</a:t>
            </a:fld>
            <a:endParaRPr lang="en-US"/>
          </a:p>
        </p:txBody>
      </p:sp>
    </p:spTree>
    <p:extLst>
      <p:ext uri="{BB962C8B-B14F-4D97-AF65-F5344CB8AC3E}">
        <p14:creationId xmlns:p14="http://schemas.microsoft.com/office/powerpoint/2010/main" val="3845413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
          <p:cNvGrpSpPr>
            <a:grpSpLocks/>
          </p:cNvGrpSpPr>
          <p:nvPr/>
        </p:nvGrpSpPr>
        <p:grpSpPr bwMode="auto">
          <a:xfrm>
            <a:off x="2514600" y="0"/>
            <a:ext cx="3886200" cy="685800"/>
            <a:chOff x="1310" y="1392"/>
            <a:chExt cx="2793" cy="432"/>
          </a:xfrm>
        </p:grpSpPr>
        <p:pic>
          <p:nvPicPr>
            <p:cNvPr id="8211"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2793"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1693" y="1449"/>
              <a:ext cx="2008"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just"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2.2.</a:t>
              </a:r>
              <a:r>
                <a:rPr lang="en-US" sz="2400" b="1">
                  <a:solidFill>
                    <a:srgbClr val="002060"/>
                  </a:solidFill>
                  <a:latin typeface="Times New Roman" pitchFamily="18" charset="0"/>
                  <a:cs typeface="Times New Roman" pitchFamily="18" charset="0"/>
                </a:rPr>
                <a:t> </a:t>
              </a:r>
              <a:r>
                <a:rPr lang="vi-VN" sz="2400" b="1">
                  <a:solidFill>
                    <a:srgbClr val="FF0000"/>
                  </a:solidFill>
                  <a:latin typeface="Times New Roman" pitchFamily="18" charset="0"/>
                  <a:cs typeface="Times New Roman" pitchFamily="18" charset="0"/>
                </a:rPr>
                <a:t>Các lực cơ học </a:t>
              </a:r>
              <a:endParaRPr lang="en-US" sz="2400" b="1">
                <a:solidFill>
                  <a:srgbClr val="FF0000"/>
                </a:solidFill>
                <a:latin typeface="Times New Roman" pitchFamily="18" charset="0"/>
                <a:cs typeface="Times New Roman" pitchFamily="18" charset="0"/>
              </a:endParaRPr>
            </a:p>
          </p:txBody>
        </p:sp>
      </p:grpSp>
      <p:sp>
        <p:nvSpPr>
          <p:cNvPr id="5" name="Text Box 5"/>
          <p:cNvSpPr txBox="1">
            <a:spLocks noChangeArrowheads="1"/>
          </p:cNvSpPr>
          <p:nvPr/>
        </p:nvSpPr>
        <p:spPr bwMode="auto">
          <a:xfrm>
            <a:off x="304800" y="762000"/>
            <a:ext cx="6172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pPr>
            <a:r>
              <a:rPr lang="en-US" sz="2800" b="1" dirty="0">
                <a:latin typeface="Times New Roman" pitchFamily="18" charset="0"/>
                <a:cs typeface="Times New Roman" pitchFamily="18" charset="0"/>
              </a:rPr>
              <a:t> CÁC LỰC CƠ HỌC THƯỜNG GẶP</a:t>
            </a:r>
          </a:p>
        </p:txBody>
      </p:sp>
      <p:sp>
        <p:nvSpPr>
          <p:cNvPr id="7" name="Text Box 8"/>
          <p:cNvSpPr txBox="1">
            <a:spLocks noChangeArrowheads="1"/>
          </p:cNvSpPr>
          <p:nvPr/>
        </p:nvSpPr>
        <p:spPr bwMode="auto">
          <a:xfrm>
            <a:off x="546100" y="1600200"/>
            <a:ext cx="251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buClr>
                <a:schemeClr val="hlink"/>
              </a:buClr>
              <a:buFont typeface="Wingdings" pitchFamily="2" charset="2"/>
              <a:buChar char="q"/>
            </a:pPr>
            <a:r>
              <a:rPr lang="en-US" sz="2800" b="1">
                <a:solidFill>
                  <a:srgbClr val="FF0066"/>
                </a:solidFill>
                <a:latin typeface="Times New Roman" pitchFamily="18" charset="0"/>
                <a:cs typeface="Times New Roman" pitchFamily="18" charset="0"/>
              </a:rPr>
              <a:t> </a:t>
            </a:r>
            <a:r>
              <a:rPr lang="en-US" sz="2800" b="1">
                <a:latin typeface="Times New Roman" pitchFamily="18" charset="0"/>
                <a:cs typeface="Times New Roman" pitchFamily="18" charset="0"/>
              </a:rPr>
              <a:t>Lực đàn hồi</a:t>
            </a:r>
          </a:p>
        </p:txBody>
      </p:sp>
      <p:sp>
        <p:nvSpPr>
          <p:cNvPr id="9" name="Text Box 10"/>
          <p:cNvSpPr txBox="1">
            <a:spLocks noChangeArrowheads="1"/>
          </p:cNvSpPr>
          <p:nvPr/>
        </p:nvSpPr>
        <p:spPr bwMode="auto">
          <a:xfrm>
            <a:off x="546100" y="2330585"/>
            <a:ext cx="34242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buClr>
                <a:schemeClr val="hlink"/>
              </a:buClr>
              <a:buFont typeface="Wingdings" pitchFamily="2" charset="2"/>
              <a:buChar char="q"/>
            </a:pPr>
            <a:r>
              <a:rPr lang="en-US" sz="2800" b="1">
                <a:latin typeface="Times New Roman" pitchFamily="18" charset="0"/>
                <a:cs typeface="Times New Roman" pitchFamily="18" charset="0"/>
              </a:rPr>
              <a:t> Lực ma sát trượt</a:t>
            </a:r>
          </a:p>
        </p:txBody>
      </p:sp>
      <p:sp>
        <p:nvSpPr>
          <p:cNvPr id="10" name="Text Box 11"/>
          <p:cNvSpPr txBox="1">
            <a:spLocks noChangeArrowheads="1"/>
          </p:cNvSpPr>
          <p:nvPr/>
        </p:nvSpPr>
        <p:spPr bwMode="auto">
          <a:xfrm>
            <a:off x="546100" y="5286375"/>
            <a:ext cx="47117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buClr>
                <a:schemeClr val="hlink"/>
              </a:buClr>
              <a:buFont typeface="Wingdings" pitchFamily="2" charset="2"/>
              <a:buChar char="q"/>
            </a:pP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Lực</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hướng</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tâm</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và</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ly</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tâm</a:t>
            </a:r>
            <a:endParaRPr lang="en-US" sz="2800" b="1" dirty="0">
              <a:latin typeface="Times New Roman" pitchFamily="18" charset="0"/>
              <a:cs typeface="Times New Roman" pitchFamily="18" charset="0"/>
            </a:endParaRPr>
          </a:p>
        </p:txBody>
      </p:sp>
      <p:graphicFrame>
        <p:nvGraphicFramePr>
          <p:cNvPr id="16" name="Object 4"/>
          <p:cNvGraphicFramePr>
            <a:graphicFrameLocks noChangeAspect="1"/>
          </p:cNvGraphicFramePr>
          <p:nvPr>
            <p:extLst>
              <p:ext uri="{D42A27DB-BD31-4B8C-83A1-F6EECF244321}">
                <p14:modId xmlns:p14="http://schemas.microsoft.com/office/powerpoint/2010/main" val="4011162839"/>
              </p:ext>
            </p:extLst>
          </p:nvPr>
        </p:nvGraphicFramePr>
        <p:xfrm>
          <a:off x="3836987" y="2332172"/>
          <a:ext cx="1617663" cy="536575"/>
        </p:xfrm>
        <a:graphic>
          <a:graphicData uri="http://schemas.openxmlformats.org/presentationml/2006/ole">
            <mc:AlternateContent xmlns:mc="http://schemas.openxmlformats.org/markup-compatibility/2006">
              <mc:Choice xmlns:v="urn:schemas-microsoft-com:vml" Requires="v">
                <p:oleObj name="Equation" r:id="rId3" imgW="583947" imgH="228501" progId="Equation.DSMT4">
                  <p:embed/>
                </p:oleObj>
              </mc:Choice>
              <mc:Fallback>
                <p:oleObj name="Equation" r:id="rId3" imgW="583947" imgH="228501"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6987" y="2332172"/>
                        <a:ext cx="1617663"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5"/>
          <p:cNvGraphicFramePr>
            <a:graphicFrameLocks noChangeAspect="1"/>
          </p:cNvGraphicFramePr>
          <p:nvPr>
            <p:extLst>
              <p:ext uri="{D42A27DB-BD31-4B8C-83A1-F6EECF244321}">
                <p14:modId xmlns:p14="http://schemas.microsoft.com/office/powerpoint/2010/main" val="3849060112"/>
              </p:ext>
            </p:extLst>
          </p:nvPr>
        </p:nvGraphicFramePr>
        <p:xfrm>
          <a:off x="3160849" y="1689893"/>
          <a:ext cx="1320800" cy="344487"/>
        </p:xfrm>
        <a:graphic>
          <a:graphicData uri="http://schemas.openxmlformats.org/presentationml/2006/ole">
            <mc:AlternateContent xmlns:mc="http://schemas.openxmlformats.org/markup-compatibility/2006">
              <mc:Choice xmlns:v="urn:schemas-microsoft-com:vml" Requires="v">
                <p:oleObj name="Equation" r:id="rId5" imgW="532937" imgH="164957" progId="Equation.DSMT4">
                  <p:embed/>
                </p:oleObj>
              </mc:Choice>
              <mc:Fallback>
                <p:oleObj name="Equation" r:id="rId5" imgW="532937" imgH="164957"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60849" y="1689893"/>
                        <a:ext cx="1320800" cy="34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6"/>
          <p:cNvGraphicFramePr>
            <a:graphicFrameLocks noChangeAspect="1"/>
          </p:cNvGraphicFramePr>
          <p:nvPr>
            <p:extLst>
              <p:ext uri="{D42A27DB-BD31-4B8C-83A1-F6EECF244321}">
                <p14:modId xmlns:p14="http://schemas.microsoft.com/office/powerpoint/2010/main" val="2524992230"/>
              </p:ext>
            </p:extLst>
          </p:nvPr>
        </p:nvGraphicFramePr>
        <p:xfrm>
          <a:off x="5205413" y="4988910"/>
          <a:ext cx="3009900" cy="1038225"/>
        </p:xfrm>
        <a:graphic>
          <a:graphicData uri="http://schemas.openxmlformats.org/presentationml/2006/ole">
            <mc:AlternateContent xmlns:mc="http://schemas.openxmlformats.org/markup-compatibility/2006">
              <mc:Choice xmlns:v="urn:schemas-microsoft-com:vml" Requires="v">
                <p:oleObj name="Equation" r:id="rId7" imgW="1079500" imgH="419100" progId="Equation.DSMT4">
                  <p:embed/>
                </p:oleObj>
              </mc:Choice>
              <mc:Fallback>
                <p:oleObj name="Equation" r:id="rId7" imgW="1079500" imgH="4191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05413" y="4988910"/>
                        <a:ext cx="3009900" cy="1038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88" name="Text Box 21"/>
          <p:cNvSpPr txBox="1">
            <a:spLocks noChangeArrowheads="1"/>
          </p:cNvSpPr>
          <p:nvPr/>
        </p:nvSpPr>
        <p:spPr bwMode="auto">
          <a:xfrm>
            <a:off x="3365500" y="5953125"/>
            <a:ext cx="5378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pPr>
            <a:r>
              <a:rPr lang="en-US" sz="2800" i="1" dirty="0">
                <a:latin typeface="Times New Roman" pitchFamily="18" charset="0"/>
                <a:cs typeface="Times New Roman" pitchFamily="18" charset="0"/>
              </a:rPr>
              <a:t>(F</a:t>
            </a:r>
            <a:r>
              <a:rPr lang="en-US" sz="2800" i="1" baseline="-25000" dirty="0">
                <a:latin typeface="Times New Roman" pitchFamily="18" charset="0"/>
                <a:cs typeface="Times New Roman" pitchFamily="18" charset="0"/>
              </a:rPr>
              <a:t>lt</a:t>
            </a:r>
            <a:r>
              <a:rPr lang="en-US" sz="2800" i="1" dirty="0">
                <a:latin typeface="Times New Roman" pitchFamily="18" charset="0"/>
                <a:cs typeface="Times New Roman" pitchFamily="18" charset="0"/>
              </a:rPr>
              <a:t> là phản lực của lực hướng tâm)</a:t>
            </a:r>
          </a:p>
        </p:txBody>
      </p:sp>
      <p:sp>
        <p:nvSpPr>
          <p:cNvPr id="21" name="Text Box 10"/>
          <p:cNvSpPr txBox="1">
            <a:spLocks noChangeArrowheads="1"/>
          </p:cNvSpPr>
          <p:nvPr/>
        </p:nvSpPr>
        <p:spPr bwMode="auto">
          <a:xfrm>
            <a:off x="5454650" y="2332172"/>
            <a:ext cx="2667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buClr>
                <a:schemeClr val="hlink"/>
              </a:buClr>
            </a:pPr>
            <a:r>
              <a:rPr lang="en-US" sz="2800" dirty="0">
                <a:latin typeface="Times New Roman" pitchFamily="18" charset="0"/>
                <a:cs typeface="Times New Roman" pitchFamily="18" charset="0"/>
              </a:rPr>
              <a:t>(k: hệ số ma sát)</a:t>
            </a:r>
          </a:p>
        </p:txBody>
      </p:sp>
      <p:sp>
        <p:nvSpPr>
          <p:cNvPr id="22" name="Text Box 10"/>
          <p:cNvSpPr txBox="1">
            <a:spLocks noChangeArrowheads="1"/>
          </p:cNvSpPr>
          <p:nvPr/>
        </p:nvSpPr>
        <p:spPr bwMode="auto">
          <a:xfrm>
            <a:off x="5454650" y="1600200"/>
            <a:ext cx="20447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buClr>
                <a:schemeClr val="hlink"/>
              </a:buClr>
            </a:pPr>
            <a:r>
              <a:rPr lang="en-US" sz="2800" dirty="0">
                <a:latin typeface="Times New Roman" pitchFamily="18" charset="0"/>
                <a:cs typeface="Times New Roman" pitchFamily="18" charset="0"/>
              </a:rPr>
              <a:t>(k: độ cứng)</a:t>
            </a:r>
          </a:p>
        </p:txBody>
      </p:sp>
      <p:sp>
        <p:nvSpPr>
          <p:cNvPr id="23" name="Text Box 12"/>
          <p:cNvSpPr txBox="1">
            <a:spLocks noChangeArrowheads="1"/>
          </p:cNvSpPr>
          <p:nvPr/>
        </p:nvSpPr>
        <p:spPr bwMode="auto">
          <a:xfrm>
            <a:off x="546100" y="3125561"/>
            <a:ext cx="4230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buClr>
                <a:schemeClr val="hlink"/>
              </a:buClr>
              <a:buFont typeface="Wingdings" pitchFamily="2" charset="2"/>
              <a:buChar char="q"/>
            </a:pPr>
            <a:r>
              <a:rPr lang="en-US" sz="2800" b="1" dirty="0">
                <a:latin typeface="Times New Roman" pitchFamily="18" charset="0"/>
                <a:cs typeface="Times New Roman" pitchFamily="18" charset="0"/>
              </a:rPr>
              <a:t> Lực căng dây</a:t>
            </a:r>
            <a:endParaRPr lang="en-US" sz="1800" b="1"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4" name="Rectangle 46"/>
              <p:cNvSpPr>
                <a:spLocks noChangeArrowheads="1"/>
              </p:cNvSpPr>
              <p:nvPr/>
            </p:nvSpPr>
            <p:spPr bwMode="auto">
              <a:xfrm>
                <a:off x="990599" y="3942533"/>
                <a:ext cx="5959475" cy="104637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p>
                <a:pPr algn="just">
                  <a:buFont typeface="Wingdings" pitchFamily="2" charset="2"/>
                  <a:buNone/>
                </a:pPr>
                <a:r>
                  <a:rPr lang="en-US" sz="2800" dirty="0">
                    <a:latin typeface="Times New Roman" pitchFamily="18" charset="0"/>
                    <a:cs typeface="Times New Roman" pitchFamily="18" charset="0"/>
                  </a:rPr>
                  <a:t>Tại mỗi điểm của dây sẽ xuất hiện những lực  và phản </a:t>
                </a:r>
                <a:r>
                  <a:rPr lang="en-US" sz="2800">
                    <a:latin typeface="Times New Roman" pitchFamily="18" charset="0"/>
                    <a:cs typeface="Times New Roman" pitchFamily="18" charset="0"/>
                  </a:rPr>
                  <a:t>lực: </a:t>
                </a:r>
                <a14:m>
                  <m:oMath xmlns:m="http://schemas.openxmlformats.org/officeDocument/2006/math">
                    <m:acc>
                      <m:accPr>
                        <m:chr m:val="⃗"/>
                        <m:ctrlPr>
                          <a:rPr lang="en-US" sz="2800" i="1" smtClean="0">
                            <a:latin typeface="Cambria Math" panose="02040503050406030204" pitchFamily="18" charset="0"/>
                            <a:cs typeface="Times New Roman" pitchFamily="18" charset="0"/>
                          </a:rPr>
                        </m:ctrlPr>
                      </m:accPr>
                      <m:e>
                        <m:r>
                          <a:rPr lang="en-US" sz="2800" b="0" i="1" smtClean="0">
                            <a:latin typeface="Cambria Math"/>
                            <a:cs typeface="Times New Roman" pitchFamily="18" charset="0"/>
                          </a:rPr>
                          <m:t>𝑇</m:t>
                        </m:r>
                      </m:e>
                    </m:acc>
                  </m:oMath>
                </a14:m>
                <a:r>
                  <a:rPr lang="en-US" sz="2800" dirty="0">
                    <a:latin typeface="Times New Roman" pitchFamily="18" charset="0"/>
                    <a:cs typeface="Times New Roman" pitchFamily="18" charset="0"/>
                  </a:rPr>
                  <a:t> </a:t>
                </a:r>
                <a:r>
                  <a:rPr lang="en-US" sz="2800">
                    <a:latin typeface="Times New Roman" pitchFamily="18" charset="0"/>
                    <a:cs typeface="Times New Roman" pitchFamily="18" charset="0"/>
                  </a:rPr>
                  <a:t>= </a:t>
                </a:r>
                <a14:m>
                  <m:oMath xmlns:m="http://schemas.openxmlformats.org/officeDocument/2006/math">
                    <m:r>
                      <a:rPr lang="en-US" sz="2800" b="0" i="0" smtClean="0">
                        <a:latin typeface="Cambria Math"/>
                        <a:cs typeface="Times New Roman" pitchFamily="18" charset="0"/>
                      </a:rPr>
                      <m:t>−</m:t>
                    </m:r>
                    <m:acc>
                      <m:accPr>
                        <m:chr m:val="⃗"/>
                        <m:ctrlPr>
                          <a:rPr lang="en-US" sz="2800" i="1" smtClean="0">
                            <a:latin typeface="Cambria Math" panose="02040503050406030204" pitchFamily="18" charset="0"/>
                            <a:cs typeface="Times New Roman" pitchFamily="18" charset="0"/>
                          </a:rPr>
                        </m:ctrlPr>
                      </m:accPr>
                      <m:e>
                        <m:r>
                          <a:rPr lang="en-US" sz="2800" b="0" i="1" smtClean="0">
                            <a:latin typeface="Cambria Math"/>
                            <a:cs typeface="Times New Roman" pitchFamily="18" charset="0"/>
                          </a:rPr>
                          <m:t>𝑇</m:t>
                        </m:r>
                        <m:r>
                          <a:rPr lang="en-US" sz="2800" b="0" i="1" smtClean="0">
                            <a:latin typeface="Cambria Math"/>
                            <a:cs typeface="Times New Roman" pitchFamily="18" charset="0"/>
                          </a:rPr>
                          <m:t>′</m:t>
                        </m:r>
                      </m:e>
                    </m:acc>
                  </m:oMath>
                </a14:m>
                <a:endParaRPr lang="en-US" sz="2800" dirty="0">
                  <a:latin typeface="Times New Roman" pitchFamily="18" charset="0"/>
                  <a:cs typeface="Times New Roman" pitchFamily="18" charset="0"/>
                </a:endParaRPr>
              </a:p>
            </p:txBody>
          </p:sp>
        </mc:Choice>
        <mc:Fallback xmlns="">
          <p:sp>
            <p:nvSpPr>
              <p:cNvPr id="24" name="Rectangle 46"/>
              <p:cNvSpPr>
                <a:spLocks noRot="1" noChangeAspect="1" noMove="1" noResize="1" noEditPoints="1" noAdjustHandles="1" noChangeArrowheads="1" noChangeShapeType="1" noTextEdit="1"/>
              </p:cNvSpPr>
              <p:nvPr/>
            </p:nvSpPr>
            <p:spPr bwMode="auto">
              <a:xfrm>
                <a:off x="990599" y="3942533"/>
                <a:ext cx="5959475" cy="1046377"/>
              </a:xfrm>
              <a:prstGeom prst="rect">
                <a:avLst/>
              </a:prstGeom>
              <a:blipFill rotWithShape="1">
                <a:blip r:embed="rId10"/>
                <a:stretch>
                  <a:fillRect l="-2045" t="-5848" r="-3579" b="-1578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25" name="Rectangle 24"/>
          <p:cNvSpPr/>
          <p:nvPr/>
        </p:nvSpPr>
        <p:spPr>
          <a:xfrm>
            <a:off x="7147197" y="3125561"/>
            <a:ext cx="1676400" cy="762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cxnSp>
        <p:nvCxnSpPr>
          <p:cNvPr id="27" name="Straight Arrow Connector 26"/>
          <p:cNvCxnSpPr/>
          <p:nvPr/>
        </p:nvCxnSpPr>
        <p:spPr>
          <a:xfrm rot="16200000" flipV="1">
            <a:off x="7834313" y="3828233"/>
            <a:ext cx="762000" cy="2286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16200000" flipH="1">
            <a:off x="7194572" y="3838575"/>
            <a:ext cx="2209800" cy="685800"/>
          </a:xfrm>
          <a:prstGeom prst="line">
            <a:avLst/>
          </a:prstGeom>
          <a:ln w="22225">
            <a:solidFill>
              <a:srgbClr val="002060"/>
            </a:solidFill>
            <a:tailEnd type="oval"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16200000" flipH="1">
            <a:off x="8101034" y="4568008"/>
            <a:ext cx="696912" cy="20796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8299472" y="4285433"/>
            <a:ext cx="46037" cy="762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graphicFrame>
        <p:nvGraphicFramePr>
          <p:cNvPr id="3" name="Object 2"/>
          <p:cNvGraphicFramePr>
            <a:graphicFrameLocks noChangeAspect="1"/>
          </p:cNvGraphicFramePr>
          <p:nvPr>
            <p:extLst>
              <p:ext uri="{D42A27DB-BD31-4B8C-83A1-F6EECF244321}">
                <p14:modId xmlns:p14="http://schemas.microsoft.com/office/powerpoint/2010/main" val="2397662558"/>
              </p:ext>
            </p:extLst>
          </p:nvPr>
        </p:nvGraphicFramePr>
        <p:xfrm>
          <a:off x="8384880" y="3736793"/>
          <a:ext cx="277812" cy="322263"/>
        </p:xfrm>
        <a:graphic>
          <a:graphicData uri="http://schemas.openxmlformats.org/presentationml/2006/ole">
            <mc:AlternateContent xmlns:mc="http://schemas.openxmlformats.org/markup-compatibility/2006">
              <mc:Choice xmlns:v="urn:schemas-microsoft-com:vml" Requires="v">
                <p:oleObj name="Equation" r:id="rId11" imgW="177569" imgH="202936" progId="Equation.DSMT4">
                  <p:embed/>
                </p:oleObj>
              </mc:Choice>
              <mc:Fallback>
                <p:oleObj name="Equation" r:id="rId11" imgW="177569" imgH="202936"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84880" y="3736793"/>
                        <a:ext cx="277812"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2858599371"/>
              </p:ext>
            </p:extLst>
          </p:nvPr>
        </p:nvGraphicFramePr>
        <p:xfrm>
          <a:off x="8054069" y="4574359"/>
          <a:ext cx="217487" cy="322262"/>
        </p:xfrm>
        <a:graphic>
          <a:graphicData uri="http://schemas.openxmlformats.org/presentationml/2006/ole">
            <mc:AlternateContent xmlns:mc="http://schemas.openxmlformats.org/markup-compatibility/2006">
              <mc:Choice xmlns:v="urn:schemas-microsoft-com:vml" Requires="v">
                <p:oleObj name="Equation" r:id="rId13" imgW="139639" imgH="203112" progId="Equation.DSMT4">
                  <p:embed/>
                </p:oleObj>
              </mc:Choice>
              <mc:Fallback>
                <p:oleObj name="Equation" r:id="rId13" imgW="139639" imgH="203112" progId="Equation.DSMT4">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54069" y="4574359"/>
                        <a:ext cx="217487"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Footer Placeholder 3">
            <a:extLst>
              <a:ext uri="{FF2B5EF4-FFF2-40B4-BE49-F238E27FC236}">
                <a16:creationId xmlns:a16="http://schemas.microsoft.com/office/drawing/2014/main" id="{AB2A1361-5131-0193-2354-3C0BD5B3B3C9}"/>
              </a:ext>
            </a:extLst>
          </p:cNvPr>
          <p:cNvSpPr>
            <a:spLocks noGrp="1"/>
          </p:cNvSpPr>
          <p:nvPr>
            <p:ph type="ftr" sz="quarter" idx="11"/>
          </p:nvPr>
        </p:nvSpPr>
        <p:spPr/>
        <p:txBody>
          <a:bodyPr/>
          <a:lstStyle/>
          <a:p>
            <a:r>
              <a:rPr lang="en-US"/>
              <a:t>Bùi Quốc Trung - VLDC</a:t>
            </a:r>
          </a:p>
        </p:txBody>
      </p:sp>
      <p:sp>
        <p:nvSpPr>
          <p:cNvPr id="6" name="Slide Number Placeholder 5">
            <a:extLst>
              <a:ext uri="{FF2B5EF4-FFF2-40B4-BE49-F238E27FC236}">
                <a16:creationId xmlns:a16="http://schemas.microsoft.com/office/drawing/2014/main" id="{0545AF13-0146-4BC4-E8DA-FA227EE779F3}"/>
              </a:ext>
            </a:extLst>
          </p:cNvPr>
          <p:cNvSpPr>
            <a:spLocks noGrp="1"/>
          </p:cNvSpPr>
          <p:nvPr>
            <p:ph type="sldNum" sz="quarter" idx="12"/>
          </p:nvPr>
        </p:nvSpPr>
        <p:spPr/>
        <p:txBody>
          <a:bodyPr/>
          <a:lstStyle/>
          <a:p>
            <a:fld id="{C4A94DE9-7404-4CC4-BDD8-EA2E97866C70}" type="slidenum">
              <a:rPr lang="en-US" smtClean="0"/>
              <a:t>9</a:t>
            </a:fld>
            <a:endParaRPr lang="en-US"/>
          </a:p>
        </p:txBody>
      </p:sp>
    </p:spTree>
    <p:extLst>
      <p:ext uri="{BB962C8B-B14F-4D97-AF65-F5344CB8AC3E}">
        <p14:creationId xmlns:p14="http://schemas.microsoft.com/office/powerpoint/2010/main" val="15880602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from="(-#ppt_w/2)" to="(#ppt_x)" calcmode="lin" valueType="num">
                                      <p:cBhvr>
                                        <p:cTn id="7" dur="300" fill="hold">
                                          <p:stCondLst>
                                            <p:cond delay="0"/>
                                          </p:stCondLst>
                                        </p:cTn>
                                        <p:tgtEl>
                                          <p:spTgt spid="5"/>
                                        </p:tgtEl>
                                        <p:attrNameLst>
                                          <p:attrName>ppt_x</p:attrName>
                                        </p:attrNameLst>
                                      </p:cBhvr>
                                    </p:anim>
                                    <p:anim from="0" to="-1.0" calcmode="lin" valueType="num">
                                      <p:cBhvr>
                                        <p:cTn id="8" dur="100" decel="50000" autoRev="1" fill="hold">
                                          <p:stCondLst>
                                            <p:cond delay="300"/>
                                          </p:stCondLst>
                                        </p:cTn>
                                        <p:tgtEl>
                                          <p:spTgt spid="5"/>
                                        </p:tgtEl>
                                        <p:attrNameLst>
                                          <p:attrName>xshear</p:attrName>
                                        </p:attrNameLst>
                                      </p:cBhvr>
                                    </p:anim>
                                    <p:animScale>
                                      <p:cBhvr>
                                        <p:cTn id="9" dur="100" decel="100000" autoRev="1" fill="hold">
                                          <p:stCondLst>
                                            <p:cond delay="300"/>
                                          </p:stCondLst>
                                        </p:cTn>
                                        <p:tgtEl>
                                          <p:spTgt spid="5"/>
                                        </p:tgtEl>
                                      </p:cBhvr>
                                      <p:from x="100000" y="100000"/>
                                      <p:to x="80000" y="100000"/>
                                    </p:animScale>
                                    <p:anim by="(#ppt_h/3+#ppt_w*0.1)" calcmode="lin" valueType="num">
                                      <p:cBhvr additive="sum">
                                        <p:cTn id="10" dur="100" decel="100000" autoRev="1" fill="hold">
                                          <p:stCondLst>
                                            <p:cond delay="300"/>
                                          </p:stCondLst>
                                        </p:cTn>
                                        <p:tgtEl>
                                          <p:spTgt spid="5"/>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arn(inVertical)">
                                      <p:cBhvr>
                                        <p:cTn id="26" dur="500"/>
                                        <p:tgtEl>
                                          <p:spTgt spid="9"/>
                                        </p:tgtEl>
                                      </p:cBhvr>
                                    </p:animEffect>
                                  </p:childTnLst>
                                </p:cTn>
                              </p:par>
                              <p:par>
                                <p:cTn id="27" presetID="16" presetClass="entr" presetSubtype="21"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barn(inVertical)">
                                      <p:cBhvr>
                                        <p:cTn id="29" dur="500"/>
                                        <p:tgtEl>
                                          <p:spTgt spid="16"/>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barn(inVertical)">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1000"/>
                                        <p:tgtEl>
                                          <p:spTgt spid="27"/>
                                        </p:tgtEl>
                                      </p:cBhvr>
                                    </p:animEffect>
                                    <p:anim calcmode="lin" valueType="num">
                                      <p:cBhvr>
                                        <p:cTn id="49" dur="1000" fill="hold"/>
                                        <p:tgtEl>
                                          <p:spTgt spid="27"/>
                                        </p:tgtEl>
                                        <p:attrNameLst>
                                          <p:attrName>ppt_x</p:attrName>
                                        </p:attrNameLst>
                                      </p:cBhvr>
                                      <p:tavLst>
                                        <p:tav tm="0">
                                          <p:val>
                                            <p:strVal val="#ppt_x"/>
                                          </p:val>
                                        </p:tav>
                                        <p:tav tm="100000">
                                          <p:val>
                                            <p:strVal val="#ppt_x"/>
                                          </p:val>
                                        </p:tav>
                                      </p:tavLst>
                                    </p:anim>
                                    <p:anim calcmode="lin" valueType="num">
                                      <p:cBhvr>
                                        <p:cTn id="50" dur="1000" fill="hold"/>
                                        <p:tgtEl>
                                          <p:spTgt spid="27"/>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1000"/>
                                        <p:tgtEl>
                                          <p:spTgt spid="29"/>
                                        </p:tgtEl>
                                      </p:cBhvr>
                                    </p:animEffect>
                                    <p:anim calcmode="lin" valueType="num">
                                      <p:cBhvr>
                                        <p:cTn id="54" dur="1000" fill="hold"/>
                                        <p:tgtEl>
                                          <p:spTgt spid="29"/>
                                        </p:tgtEl>
                                        <p:attrNameLst>
                                          <p:attrName>ppt_x</p:attrName>
                                        </p:attrNameLst>
                                      </p:cBhvr>
                                      <p:tavLst>
                                        <p:tav tm="0">
                                          <p:val>
                                            <p:strVal val="#ppt_x"/>
                                          </p:val>
                                        </p:tav>
                                        <p:tav tm="100000">
                                          <p:val>
                                            <p:strVal val="#ppt_x"/>
                                          </p:val>
                                        </p:tav>
                                      </p:tavLst>
                                    </p:anim>
                                    <p:anim calcmode="lin" valueType="num">
                                      <p:cBhvr>
                                        <p:cTn id="55" dur="1000" fill="hold"/>
                                        <p:tgtEl>
                                          <p:spTgt spid="29"/>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fade">
                                      <p:cBhvr>
                                        <p:cTn id="58" dur="1000"/>
                                        <p:tgtEl>
                                          <p:spTgt spid="3"/>
                                        </p:tgtEl>
                                      </p:cBhvr>
                                    </p:animEffect>
                                    <p:anim calcmode="lin" valueType="num">
                                      <p:cBhvr>
                                        <p:cTn id="59" dur="1000" fill="hold"/>
                                        <p:tgtEl>
                                          <p:spTgt spid="3"/>
                                        </p:tgtEl>
                                        <p:attrNameLst>
                                          <p:attrName>ppt_x</p:attrName>
                                        </p:attrNameLst>
                                      </p:cBhvr>
                                      <p:tavLst>
                                        <p:tav tm="0">
                                          <p:val>
                                            <p:strVal val="#ppt_x"/>
                                          </p:val>
                                        </p:tav>
                                        <p:tav tm="100000">
                                          <p:val>
                                            <p:strVal val="#ppt_x"/>
                                          </p:val>
                                        </p:tav>
                                      </p:tavLst>
                                    </p:anim>
                                    <p:anim calcmode="lin" valueType="num">
                                      <p:cBhvr>
                                        <p:cTn id="60" dur="1000" fill="hold"/>
                                        <p:tgtEl>
                                          <p:spTgt spid="3"/>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fade">
                                      <p:cBhvr>
                                        <p:cTn id="63" dur="1000"/>
                                        <p:tgtEl>
                                          <p:spTgt spid="11"/>
                                        </p:tgtEl>
                                      </p:cBhvr>
                                    </p:animEffect>
                                    <p:anim calcmode="lin" valueType="num">
                                      <p:cBhvr>
                                        <p:cTn id="64" dur="1000" fill="hold"/>
                                        <p:tgtEl>
                                          <p:spTgt spid="11"/>
                                        </p:tgtEl>
                                        <p:attrNameLst>
                                          <p:attrName>ppt_x</p:attrName>
                                        </p:attrNameLst>
                                      </p:cBhvr>
                                      <p:tavLst>
                                        <p:tav tm="0">
                                          <p:val>
                                            <p:strVal val="#ppt_x"/>
                                          </p:val>
                                        </p:tav>
                                        <p:tav tm="100000">
                                          <p:val>
                                            <p:strVal val="#ppt_x"/>
                                          </p:val>
                                        </p:tav>
                                      </p:tavLst>
                                    </p:anim>
                                    <p:anim calcmode="lin" valueType="num">
                                      <p:cBhvr>
                                        <p:cTn id="65" dur="1000" fill="hold"/>
                                        <p:tgtEl>
                                          <p:spTgt spid="11"/>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1000"/>
                                        <p:tgtEl>
                                          <p:spTgt spid="24"/>
                                        </p:tgtEl>
                                      </p:cBhvr>
                                    </p:animEffect>
                                    <p:anim calcmode="lin" valueType="num">
                                      <p:cBhvr>
                                        <p:cTn id="69" dur="1000" fill="hold"/>
                                        <p:tgtEl>
                                          <p:spTgt spid="24"/>
                                        </p:tgtEl>
                                        <p:attrNameLst>
                                          <p:attrName>ppt_x</p:attrName>
                                        </p:attrNameLst>
                                      </p:cBhvr>
                                      <p:tavLst>
                                        <p:tav tm="0">
                                          <p:val>
                                            <p:strVal val="#ppt_x"/>
                                          </p:val>
                                        </p:tav>
                                        <p:tav tm="100000">
                                          <p:val>
                                            <p:strVal val="#ppt_x"/>
                                          </p:val>
                                        </p:tav>
                                      </p:tavLst>
                                    </p:anim>
                                    <p:anim calcmode="lin" valueType="num">
                                      <p:cBhvr>
                                        <p:cTn id="70"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wipe(down)">
                                      <p:cBhvr>
                                        <p:cTn id="75" dur="500"/>
                                        <p:tgtEl>
                                          <p:spTgt spid="10"/>
                                        </p:tgtEl>
                                      </p:cBhvr>
                                    </p:animEffect>
                                  </p:childTnLst>
                                </p:cTn>
                              </p:par>
                              <p:par>
                                <p:cTn id="76" presetID="22" presetClass="entr" presetSubtype="4" fill="hold" nodeType="with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wipe(down)">
                                      <p:cBhvr>
                                        <p:cTn id="78" dur="500"/>
                                        <p:tgtEl>
                                          <p:spTgt spid="18"/>
                                        </p:tgtEl>
                                      </p:cBhvr>
                                    </p:animEffect>
                                  </p:childTnLst>
                                </p:cTn>
                              </p:par>
                              <p:par>
                                <p:cTn id="79" presetID="22" presetClass="entr" presetSubtype="4" fill="hold" grpId="0" nodeType="withEffect">
                                  <p:stCondLst>
                                    <p:cond delay="0"/>
                                  </p:stCondLst>
                                  <p:childTnLst>
                                    <p:set>
                                      <p:cBhvr>
                                        <p:cTn id="80" dur="1" fill="hold">
                                          <p:stCondLst>
                                            <p:cond delay="0"/>
                                          </p:stCondLst>
                                        </p:cTn>
                                        <p:tgtEl>
                                          <p:spTgt spid="3088"/>
                                        </p:tgtEl>
                                        <p:attrNameLst>
                                          <p:attrName>style.visibility</p:attrName>
                                        </p:attrNameLst>
                                      </p:cBhvr>
                                      <p:to>
                                        <p:strVal val="visible"/>
                                      </p:to>
                                    </p:set>
                                    <p:animEffect transition="in" filter="wipe(down)">
                                      <p:cBhvr>
                                        <p:cTn id="81" dur="500"/>
                                        <p:tgtEl>
                                          <p:spTgt spid="3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0" grpId="0"/>
      <p:bldP spid="3088" grpId="0"/>
      <p:bldP spid="21" grpId="0"/>
      <p:bldP spid="22" grpId="0"/>
      <p:bldP spid="23" grpId="0"/>
      <p:bldP spid="24" grpId="0"/>
      <p:bldP spid="2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A0CF0DF-A54D-E5A6-DDF1-534054905BB5}"/>
                  </a:ext>
                </a:extLst>
              </p:cNvPr>
              <p:cNvSpPr>
                <a:spLocks noGrp="1"/>
              </p:cNvSpPr>
              <p:nvPr>
                <p:ph idx="1"/>
              </p:nvPr>
            </p:nvSpPr>
            <p:spPr>
              <a:xfrm>
                <a:off x="457200" y="609600"/>
                <a:ext cx="8229600" cy="5516563"/>
              </a:xfrm>
            </p:spPr>
            <p:txBody>
              <a:bodyPr>
                <a:normAutofit/>
              </a:bodyPr>
              <a:lstStyle/>
              <a:p>
                <a:r>
                  <a:rPr lang="en-US" sz="2400" dirty="0">
                    <a:latin typeface="Times New Roman" panose="02020603050405020304" pitchFamily="18" charset="0"/>
                    <a:cs typeface="Times New Roman" panose="02020603050405020304" pitchFamily="18" charset="0"/>
                  </a:rPr>
                  <a:t>Lực ma </a:t>
                </a:r>
                <a:r>
                  <a:rPr lang="en-US" sz="2400" dirty="0" err="1">
                    <a:latin typeface="Times New Roman" panose="02020603050405020304" pitchFamily="18" charset="0"/>
                    <a:cs typeface="Times New Roman" panose="02020603050405020304" pitchFamily="18" charset="0"/>
                  </a:rPr>
                  <a:t>sát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nghỉ</a:t>
                </a:r>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Lực</a:t>
                </a:r>
                <a:r>
                  <a:rPr lang="en-US" sz="2400" dirty="0">
                    <a:latin typeface="Times New Roman" panose="02020603050405020304" pitchFamily="18" charset="0"/>
                    <a:cs typeface="Times New Roman" panose="02020603050405020304" pitchFamily="18" charset="0"/>
                  </a:rPr>
                  <a:t> ma </a:t>
                </a:r>
                <a:r>
                  <a:rPr lang="en-US" sz="2400" dirty="0" err="1">
                    <a:latin typeface="Times New Roman" panose="02020603050405020304" pitchFamily="18" charset="0"/>
                    <a:cs typeface="Times New Roman" panose="02020603050405020304" pitchFamily="18" charset="0"/>
                  </a:rPr>
                  <a:t>sát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trượt</a:t>
                </a:r>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Lực</a:t>
                </a:r>
                <a:r>
                  <a:rPr lang="en-US" sz="2400" dirty="0">
                    <a:latin typeface="Times New Roman" panose="02020603050405020304" pitchFamily="18" charset="0"/>
                    <a:cs typeface="Times New Roman" panose="02020603050405020304" pitchFamily="18" charset="0"/>
                  </a:rPr>
                  <a:t> ma </a:t>
                </a:r>
                <a:r>
                  <a:rPr lang="en-US" sz="2400" dirty="0" err="1">
                    <a:latin typeface="Times New Roman" panose="02020603050405020304" pitchFamily="18" charset="0"/>
                    <a:cs typeface="Times New Roman" panose="02020603050405020304" pitchFamily="18" charset="0"/>
                  </a:rPr>
                  <a:t>sát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lăn</a:t>
                </a:r>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Đặc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điểm</a:t>
                </a:r>
                <a:r>
                  <a:rPr lang="en-US" sz="2400" dirty="0">
                    <a:latin typeface="Times New Roman" panose="02020603050405020304" pitchFamily="18" charset="0"/>
                    <a:cs typeface="Times New Roman" panose="02020603050405020304" pitchFamily="18" charset="0"/>
                  </a:rPr>
                  <a:t>:</a:t>
                </a:r>
              </a:p>
              <a:p>
                <a:pPr lvl="1"/>
                <a:r>
                  <a:rPr lang="en-US" sz="2000" dirty="0" err="1">
                    <a:latin typeface="Times New Roman" panose="02020603050405020304" pitchFamily="18" charset="0"/>
                    <a:cs typeface="Times New Roman" panose="02020603050405020304" pitchFamily="18" charset="0"/>
                  </a:rPr>
                  <a:t>Lực</a:t>
                </a:r>
                <a:r>
                  <a:rPr lang="en-US" sz="2000" dirty="0">
                    <a:latin typeface="Times New Roman" panose="02020603050405020304" pitchFamily="18" charset="0"/>
                    <a:cs typeface="Times New Roman" panose="02020603050405020304" pitchFamily="18" charset="0"/>
                  </a:rPr>
                  <a:t> ma </a:t>
                </a:r>
                <a:r>
                  <a:rPr lang="en-US" sz="2000" dirty="0" err="1">
                    <a:latin typeface="Times New Roman" panose="02020603050405020304" pitchFamily="18" charset="0"/>
                    <a:cs typeface="Times New Roman" panose="02020603050405020304" pitchFamily="18" charset="0"/>
                  </a:rPr>
                  <a:t>sát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nghỉ</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trở</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triệt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tiêu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lực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dụng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có</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giá</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trị</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lớn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nhất</a:t>
                </a:r>
                <a:endParaRPr lang="en-US" sz="2000" dirty="0">
                  <a:latin typeface="Times New Roman" panose="02020603050405020304" pitchFamily="18" charset="0"/>
                  <a:cs typeface="Times New Roman" panose="02020603050405020304" pitchFamily="18" charset="0"/>
                </a:endParaRPr>
              </a:p>
              <a:p>
                <a:pPr lvl="1"/>
                <a:r>
                  <a:rPr lang="en-US" sz="2000" dirty="0" err="1">
                    <a:latin typeface="Times New Roman" panose="02020603050405020304" pitchFamily="18" charset="0"/>
                    <a:cs typeface="Times New Roman" panose="02020603050405020304" pitchFamily="18" charset="0"/>
                  </a:rPr>
                  <a:t>Lực</a:t>
                </a:r>
                <a:r>
                  <a:rPr lang="en-US" sz="2000" dirty="0">
                    <a:latin typeface="Times New Roman" panose="02020603050405020304" pitchFamily="18" charset="0"/>
                    <a:cs typeface="Times New Roman" panose="02020603050405020304" pitchFamily="18" charset="0"/>
                  </a:rPr>
                  <a:t> ma </a:t>
                </a:r>
                <a:r>
                  <a:rPr lang="en-US" sz="2000" dirty="0" err="1">
                    <a:latin typeface="Times New Roman" panose="02020603050405020304" pitchFamily="18" charset="0"/>
                    <a:cs typeface="Times New Roman" panose="02020603050405020304" pitchFamily="18" charset="0"/>
                  </a:rPr>
                  <a:t>sát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trượt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xuất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hiện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vật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bắt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đầu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trượt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trên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nhau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trở</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chuyển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động</a:t>
                </a:r>
                <a:endParaRPr lang="en-US" sz="2000" dirty="0">
                  <a:latin typeface="Times New Roman" panose="02020603050405020304" pitchFamily="18" charset="0"/>
                  <a:cs typeface="Times New Roman" panose="02020603050405020304" pitchFamily="18" charset="0"/>
                </a:endParaRPr>
              </a:p>
              <a:p>
                <a:pPr lvl="1"/>
                <a:r>
                  <a:rPr lang="en-US" sz="2000" dirty="0" err="1">
                    <a:latin typeface="Times New Roman" panose="02020603050405020304" pitchFamily="18" charset="0"/>
                    <a:cs typeface="Times New Roman" panose="02020603050405020304" pitchFamily="18" charset="0"/>
                  </a:rPr>
                  <a:t>Lực</a:t>
                </a:r>
                <a:r>
                  <a:rPr lang="en-US" sz="2000" dirty="0">
                    <a:latin typeface="Times New Roman" panose="02020603050405020304" pitchFamily="18" charset="0"/>
                    <a:cs typeface="Times New Roman" panose="02020603050405020304" pitchFamily="18" charset="0"/>
                  </a:rPr>
                  <a:t> ma </a:t>
                </a:r>
                <a:r>
                  <a:rPr lang="en-US" sz="2000" dirty="0" err="1">
                    <a:latin typeface="Times New Roman" panose="02020603050405020304" pitchFamily="18" charset="0"/>
                    <a:cs typeface="Times New Roman" panose="02020603050405020304" pitchFamily="18" charset="0"/>
                  </a:rPr>
                  <a:t>sát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lăn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xuất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hiện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vật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chuyển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động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có</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giá</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trị</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nhỏ</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nhất</a:t>
                </a:r>
                <a:endParaRPr lang="en-US" sz="2000" dirty="0">
                  <a:latin typeface="Times New Roman" panose="02020603050405020304" pitchFamily="18" charset="0"/>
                  <a:cs typeface="Times New Roman" panose="02020603050405020304" pitchFamily="18" charset="0"/>
                </a:endParaRPr>
              </a:p>
              <a:p>
                <a:pPr lvl="1"/>
                <a:r>
                  <a:rPr lang="en-US" sz="2000" dirty="0" err="1">
                    <a:latin typeface="Times New Roman" panose="02020603050405020304" pitchFamily="18" charset="0"/>
                    <a:cs typeface="Times New Roman" panose="02020603050405020304" pitchFamily="18" charset="0"/>
                  </a:rPr>
                  <a:t>Các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lực</a:t>
                </a:r>
                <a:r>
                  <a:rPr lang="en-US" sz="2000" dirty="0">
                    <a:latin typeface="Times New Roman" panose="02020603050405020304" pitchFamily="18" charset="0"/>
                    <a:cs typeface="Times New Roman" panose="02020603050405020304" pitchFamily="18" charset="0"/>
                  </a:rPr>
                  <a:t> ma </a:t>
                </a:r>
                <a:r>
                  <a:rPr lang="en-US" sz="2000" dirty="0" err="1">
                    <a:latin typeface="Times New Roman" panose="02020603050405020304" pitchFamily="18" charset="0"/>
                    <a:cs typeface="Times New Roman" panose="02020603050405020304" pitchFamily="18" charset="0"/>
                  </a:rPr>
                  <a:t>sát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đều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có</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dụng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trở</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chuyển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động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tỉ</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lệ</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áp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lực</a:t>
                </a:r>
                <a:endParaRPr lang="en-US" sz="2000" dirty="0">
                  <a:latin typeface="Times New Roman" panose="02020603050405020304" pitchFamily="18" charset="0"/>
                  <a:cs typeface="Times New Roman" panose="02020603050405020304" pitchFamily="18" charset="0"/>
                </a:endParaRPr>
              </a:p>
              <a:p>
                <a:pPr marL="457200" lvl="1" indent="0" algn="ctr">
                  <a:buNone/>
                </a:pPr>
                <a14:m>
                  <m:oMath xmlns:m="http://schemas.openxmlformats.org/officeDocument/2006/math">
                    <m:sSub>
                      <m:sSubPr>
                        <m:ctrlPr>
                          <a:rPr lang="en-US" sz="200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𝐹</m:t>
                        </m:r>
                      </m:e>
                      <m:sub>
                        <m:r>
                          <a:rPr lang="en-US" sz="2000" b="0" i="1" smtClean="0">
                            <a:latin typeface="Cambria Math" panose="02040503050406030204" pitchFamily="18" charset="0"/>
                            <a:cs typeface="Times New Roman" panose="02020603050405020304" pitchFamily="18" charset="0"/>
                          </a:rPr>
                          <m:t>𝑚𝑠</m:t>
                        </m:r>
                      </m:sub>
                    </m:sSub>
                  </m:oMath>
                </a14:m>
                <a:r>
                  <a:rPr lang="en-US" sz="2000" dirty="0">
                    <a:latin typeface="Times New Roman" panose="02020603050405020304" pitchFamily="18" charset="0"/>
                    <a:cs typeface="Times New Roman" panose="02020603050405020304" pitchFamily="18" charset="0"/>
                  </a:rPr>
                  <a:t>=</a:t>
                </a:r>
                <a14:m>
                  <m:oMath xmlns:m="http://schemas.openxmlformats.org/officeDocument/2006/math">
                    <m:r>
                      <a:rPr lang="en-US" sz="2000" i="1" dirty="0" smtClean="0">
                        <a:latin typeface="Cambria Math" panose="02040503050406030204" pitchFamily="18" charset="0"/>
                        <a:ea typeface="Cambria Math" panose="02040503050406030204" pitchFamily="18" charset="0"/>
                        <a:cs typeface="Times New Roman" panose="02020603050405020304" pitchFamily="18" charset="0"/>
                      </a:rPr>
                      <m:t>𝜇</m:t>
                    </m:r>
                    <m:r>
                      <a:rPr lang="en-US" sz="200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sz="2000" b="0" i="1" dirty="0" smtClean="0">
                        <a:latin typeface="Cambria Math" panose="02040503050406030204" pitchFamily="18" charset="0"/>
                        <a:ea typeface="Cambria Math" panose="02040503050406030204" pitchFamily="18" charset="0"/>
                        <a:cs typeface="Times New Roman" panose="02020603050405020304" pitchFamily="18" charset="0"/>
                      </a:rPr>
                      <m:t>𝑁</m:t>
                    </m:r>
                  </m:oMath>
                </a14:m>
                <a:endParaRPr lang="en-US" sz="20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8A0CF0DF-A54D-E5A6-DDF1-534054905BB5}"/>
                  </a:ext>
                </a:extLst>
              </p:cNvPr>
              <p:cNvSpPr>
                <a:spLocks noGrp="1" noRot="1" noChangeAspect="1" noMove="1" noResize="1" noEditPoints="1" noAdjustHandles="1" noChangeArrowheads="1" noChangeShapeType="1" noTextEdit="1"/>
              </p:cNvSpPr>
              <p:nvPr>
                <p:ph idx="1"/>
              </p:nvPr>
            </p:nvSpPr>
            <p:spPr>
              <a:xfrm>
                <a:off x="457200" y="609600"/>
                <a:ext cx="8229600" cy="5516563"/>
              </a:xfrm>
              <a:blipFill>
                <a:blip r:embed="rId2"/>
                <a:stretch>
                  <a:fillRect l="-963" t="-884"/>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F6EB20FF-326E-85AF-0CC1-56C370B1C88E}"/>
              </a:ext>
            </a:extLst>
          </p:cNvPr>
          <p:cNvSpPr>
            <a:spLocks noGrp="1"/>
          </p:cNvSpPr>
          <p:nvPr>
            <p:ph type="ftr" sz="quarter" idx="11"/>
          </p:nvPr>
        </p:nvSpPr>
        <p:spPr/>
        <p:txBody>
          <a:bodyPr/>
          <a:lstStyle/>
          <a:p>
            <a:r>
              <a:rPr lang="en-US"/>
              <a:t>Bùi Quốc Trung - VLDC</a:t>
            </a:r>
          </a:p>
        </p:txBody>
      </p:sp>
      <p:sp>
        <p:nvSpPr>
          <p:cNvPr id="5" name="Slide Number Placeholder 4">
            <a:extLst>
              <a:ext uri="{FF2B5EF4-FFF2-40B4-BE49-F238E27FC236}">
                <a16:creationId xmlns:a16="http://schemas.microsoft.com/office/drawing/2014/main" id="{A2AA242E-5197-08CF-D41C-DEB1AA678329}"/>
              </a:ext>
            </a:extLst>
          </p:cNvPr>
          <p:cNvSpPr>
            <a:spLocks noGrp="1"/>
          </p:cNvSpPr>
          <p:nvPr>
            <p:ph type="sldNum" sz="quarter" idx="12"/>
          </p:nvPr>
        </p:nvSpPr>
        <p:spPr/>
        <p:txBody>
          <a:bodyPr/>
          <a:lstStyle/>
          <a:p>
            <a:fld id="{C4A94DE9-7404-4CC4-BDD8-EA2E97866C70}" type="slidenum">
              <a:rPr lang="en-US" smtClean="0"/>
              <a:t>10</a:t>
            </a:fld>
            <a:endParaRPr lang="en-US"/>
          </a:p>
        </p:txBody>
      </p:sp>
    </p:spTree>
    <p:extLst>
      <p:ext uri="{BB962C8B-B14F-4D97-AF65-F5344CB8AC3E}">
        <p14:creationId xmlns:p14="http://schemas.microsoft.com/office/powerpoint/2010/main" val="3740871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18"/>
          <p:cNvGrpSpPr>
            <a:grpSpLocks/>
          </p:cNvGrpSpPr>
          <p:nvPr/>
        </p:nvGrpSpPr>
        <p:grpSpPr bwMode="auto">
          <a:xfrm>
            <a:off x="2514600" y="0"/>
            <a:ext cx="3886200" cy="685800"/>
            <a:chOff x="1310" y="1392"/>
            <a:chExt cx="2793" cy="432"/>
          </a:xfrm>
        </p:grpSpPr>
        <p:pic>
          <p:nvPicPr>
            <p:cNvPr id="10273"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2793"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1693" y="1449"/>
              <a:ext cx="2008"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just" fontAlgn="auto">
                <a:spcBef>
                  <a:spcPts val="1800"/>
                </a:spcBef>
                <a:spcAft>
                  <a:spcPts val="2400"/>
                </a:spcAft>
                <a:defRPr/>
              </a:pPr>
              <a:r>
                <a:rPr lang="en-US" sz="2400" b="1" i="1" dirty="0">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2.2.</a:t>
              </a:r>
              <a:r>
                <a:rPr lang="en-US" sz="2400" b="1" dirty="0">
                  <a:solidFill>
                    <a:srgbClr val="002060"/>
                  </a:solidFill>
                  <a:latin typeface="Times New Roman" pitchFamily="18" charset="0"/>
                  <a:cs typeface="Times New Roman" pitchFamily="18" charset="0"/>
                </a:rPr>
                <a:t> </a:t>
              </a:r>
              <a:r>
                <a:rPr lang="vi-VN" sz="2400" b="1" dirty="0">
                  <a:latin typeface="Times New Roman" pitchFamily="18" charset="0"/>
                  <a:cs typeface="Times New Roman" pitchFamily="18" charset="0"/>
                </a:rPr>
                <a:t>Các lực cơ học </a:t>
              </a:r>
              <a:endParaRPr lang="en-US" sz="2400" b="1" dirty="0">
                <a:latin typeface="Times New Roman" pitchFamily="18" charset="0"/>
                <a:cs typeface="Times New Roman" pitchFamily="18" charset="0"/>
              </a:endParaRPr>
            </a:p>
          </p:txBody>
        </p:sp>
      </p:grpSp>
      <p:sp>
        <p:nvSpPr>
          <p:cNvPr id="4109" name="Text Box 9"/>
          <p:cNvSpPr txBox="1">
            <a:spLocks noChangeArrowheads="1"/>
          </p:cNvSpPr>
          <p:nvPr/>
        </p:nvSpPr>
        <p:spPr bwMode="auto">
          <a:xfrm>
            <a:off x="304800" y="685800"/>
            <a:ext cx="6781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pPr>
            <a:r>
              <a:rPr lang="en-US" sz="2800" b="1" dirty="0">
                <a:latin typeface="Times New Roman" pitchFamily="18" charset="0"/>
                <a:cs typeface="Times New Roman" pitchFamily="18" charset="0"/>
              </a:rPr>
              <a:t>Đặc điểm của một số lực cơ học:</a:t>
            </a:r>
          </a:p>
        </p:txBody>
      </p:sp>
      <p:sp>
        <p:nvSpPr>
          <p:cNvPr id="8" name="Text Box 12"/>
          <p:cNvSpPr txBox="1">
            <a:spLocks noChangeArrowheads="1"/>
          </p:cNvSpPr>
          <p:nvPr/>
        </p:nvSpPr>
        <p:spPr bwMode="auto">
          <a:xfrm>
            <a:off x="457200" y="1371600"/>
            <a:ext cx="4495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buClr>
                <a:schemeClr val="hlink"/>
              </a:buClr>
              <a:buFont typeface="Wingdings" pitchFamily="2" charset="2"/>
              <a:buChar char="q"/>
            </a:pPr>
            <a:r>
              <a:rPr lang="en-US" sz="2800" b="1" dirty="0">
                <a:solidFill>
                  <a:srgbClr val="FF0000"/>
                </a:solidFill>
                <a:latin typeface="Times New Roman" pitchFamily="18" charset="0"/>
                <a:cs typeface="Times New Roman" pitchFamily="18" charset="0"/>
              </a:rPr>
              <a:t> </a:t>
            </a:r>
            <a:r>
              <a:rPr lang="en-US" sz="2800" b="1" dirty="0">
                <a:latin typeface="Times New Roman" pitchFamily="18" charset="0"/>
                <a:cs typeface="Times New Roman" pitchFamily="18" charset="0"/>
              </a:rPr>
              <a:t>Phản lực và lực ma sát</a:t>
            </a:r>
          </a:p>
        </p:txBody>
      </p:sp>
      <p:sp>
        <p:nvSpPr>
          <p:cNvPr id="10245" name="Text Box 26"/>
          <p:cNvSpPr txBox="1">
            <a:spLocks noChangeArrowheads="1"/>
          </p:cNvSpPr>
          <p:nvPr/>
        </p:nvSpPr>
        <p:spPr bwMode="auto">
          <a:xfrm>
            <a:off x="6654800" y="17526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endParaRPr lang="en-US" sz="1800"/>
          </a:p>
        </p:txBody>
      </p:sp>
      <p:sp>
        <p:nvSpPr>
          <p:cNvPr id="10246" name="Text Box 28"/>
          <p:cNvSpPr txBox="1">
            <a:spLocks noChangeArrowheads="1"/>
          </p:cNvSpPr>
          <p:nvPr/>
        </p:nvSpPr>
        <p:spPr bwMode="auto">
          <a:xfrm>
            <a:off x="8069263" y="24876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endParaRPr lang="en-US" sz="1800"/>
          </a:p>
        </p:txBody>
      </p:sp>
      <p:sp>
        <p:nvSpPr>
          <p:cNvPr id="4130" name="AutoShape 15"/>
          <p:cNvSpPr>
            <a:spLocks noChangeArrowheads="1"/>
          </p:cNvSpPr>
          <p:nvPr/>
        </p:nvSpPr>
        <p:spPr bwMode="auto">
          <a:xfrm>
            <a:off x="6229350" y="1927225"/>
            <a:ext cx="2824163" cy="1349375"/>
          </a:xfrm>
          <a:custGeom>
            <a:avLst/>
            <a:gdLst>
              <a:gd name="T0" fmla="*/ 2147483647 w 21600"/>
              <a:gd name="T1" fmla="*/ 0 h 21600"/>
              <a:gd name="T2" fmla="*/ 0 w 21600"/>
              <a:gd name="T3" fmla="*/ 0 h 21600"/>
              <a:gd name="T4" fmla="*/ 2147483647 w 21600"/>
              <a:gd name="T5" fmla="*/ 0 h 21600"/>
              <a:gd name="T6" fmla="*/ 2147483647 w 21600"/>
              <a:gd name="T7" fmla="*/ 0 h 21600"/>
              <a:gd name="T8" fmla="*/ 0 60000 65536"/>
              <a:gd name="T9" fmla="*/ 0 60000 65536"/>
              <a:gd name="T10" fmla="*/ 0 60000 65536"/>
              <a:gd name="T11" fmla="*/ 0 60000 65536"/>
              <a:gd name="T12" fmla="*/ 23 w 21600"/>
              <a:gd name="T13" fmla="*/ 0 h 21600"/>
              <a:gd name="T14" fmla="*/ 21577 w 21600"/>
              <a:gd name="T15" fmla="*/ 11531 h 21600"/>
            </a:gdLst>
            <a:ahLst/>
            <a:cxnLst>
              <a:cxn ang="T8">
                <a:pos x="T0" y="T1"/>
              </a:cxn>
              <a:cxn ang="T9">
                <a:pos x="T2" y="T3"/>
              </a:cxn>
              <a:cxn ang="T10">
                <a:pos x="T4" y="T5"/>
              </a:cxn>
              <a:cxn ang="T11">
                <a:pos x="T6" y="T7"/>
              </a:cxn>
            </a:cxnLst>
            <a:rect l="T12" t="T13" r="T14" b="T15"/>
            <a:pathLst>
              <a:path w="21600" h="21600">
                <a:moveTo>
                  <a:pt x="487" y="8693"/>
                </a:moveTo>
                <a:cubicBezTo>
                  <a:pt x="1488" y="3793"/>
                  <a:pt x="5798" y="273"/>
                  <a:pt x="10800" y="274"/>
                </a:cubicBezTo>
                <a:cubicBezTo>
                  <a:pt x="15801" y="274"/>
                  <a:pt x="20111" y="3793"/>
                  <a:pt x="21112" y="8693"/>
                </a:cubicBezTo>
                <a:lnTo>
                  <a:pt x="21381" y="8638"/>
                </a:lnTo>
                <a:cubicBezTo>
                  <a:pt x="20354" y="3610"/>
                  <a:pt x="15931" y="-1"/>
                  <a:pt x="10799" y="0"/>
                </a:cubicBezTo>
                <a:cubicBezTo>
                  <a:pt x="5668" y="0"/>
                  <a:pt x="1245" y="3610"/>
                  <a:pt x="218" y="8638"/>
                </a:cubicBezTo>
                <a:lnTo>
                  <a:pt x="487" y="8693"/>
                </a:lnTo>
                <a:close/>
              </a:path>
            </a:pathLst>
          </a:custGeom>
          <a:solidFill>
            <a:srgbClr val="FFFF00"/>
          </a:solidFill>
          <a:ln w="9525">
            <a:solidFill>
              <a:srgbClr val="FF0000"/>
            </a:solidFill>
            <a:miter lim="800000"/>
            <a:headEnd/>
            <a:tailEnd/>
          </a:ln>
        </p:spPr>
        <p:txBody>
          <a:bodyPr/>
          <a:lstStyle/>
          <a:p>
            <a:endParaRPr lang="en-US"/>
          </a:p>
        </p:txBody>
      </p:sp>
      <p:sp>
        <p:nvSpPr>
          <p:cNvPr id="4131" name="Rectangle 16"/>
          <p:cNvSpPr>
            <a:spLocks noChangeArrowheads="1"/>
          </p:cNvSpPr>
          <p:nvPr/>
        </p:nvSpPr>
        <p:spPr bwMode="auto">
          <a:xfrm>
            <a:off x="7280275" y="1693863"/>
            <a:ext cx="704850" cy="220662"/>
          </a:xfrm>
          <a:prstGeom prst="rect">
            <a:avLst/>
          </a:prstGeom>
          <a:solidFill>
            <a:srgbClr val="00B0F0"/>
          </a:solidFill>
          <a:ln w="28575">
            <a:solidFill>
              <a:srgbClr val="00E200"/>
            </a:solidFill>
            <a:miter lim="800000"/>
            <a:headEnd/>
            <a:tailEnd/>
          </a:ln>
        </p:spPr>
        <p:txBody>
          <a:bodyPr/>
          <a:lstStyle/>
          <a:p>
            <a:endParaRPr lang="en-US" sz="1800"/>
          </a:p>
        </p:txBody>
      </p:sp>
      <p:sp>
        <p:nvSpPr>
          <p:cNvPr id="4132" name="Line 17"/>
          <p:cNvSpPr>
            <a:spLocks noChangeShapeType="1"/>
          </p:cNvSpPr>
          <p:nvPr/>
        </p:nvSpPr>
        <p:spPr bwMode="auto">
          <a:xfrm>
            <a:off x="7642225" y="1828800"/>
            <a:ext cx="0" cy="817563"/>
          </a:xfrm>
          <a:prstGeom prst="line">
            <a:avLst/>
          </a:prstGeom>
          <a:noFill/>
          <a:ln w="25400">
            <a:solidFill>
              <a:srgbClr val="1109B7"/>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33" name="Line 18"/>
          <p:cNvSpPr>
            <a:spLocks noChangeShapeType="1"/>
          </p:cNvSpPr>
          <p:nvPr/>
        </p:nvSpPr>
        <p:spPr bwMode="auto">
          <a:xfrm flipV="1">
            <a:off x="7642225" y="1068388"/>
            <a:ext cx="1588" cy="844550"/>
          </a:xfrm>
          <a:prstGeom prst="line">
            <a:avLst/>
          </a:prstGeom>
          <a:noFill/>
          <a:ln w="25400">
            <a:solidFill>
              <a:srgbClr val="1109B7"/>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34" name="Line 19"/>
          <p:cNvSpPr>
            <a:spLocks noChangeShapeType="1"/>
          </p:cNvSpPr>
          <p:nvPr/>
        </p:nvSpPr>
        <p:spPr bwMode="auto">
          <a:xfrm>
            <a:off x="7642225" y="1814513"/>
            <a:ext cx="1096963" cy="0"/>
          </a:xfrm>
          <a:prstGeom prst="line">
            <a:avLst/>
          </a:prstGeom>
          <a:noFill/>
          <a:ln w="25400">
            <a:solidFill>
              <a:srgbClr val="1109B7"/>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35" name="Line 20"/>
          <p:cNvSpPr>
            <a:spLocks noChangeShapeType="1"/>
          </p:cNvSpPr>
          <p:nvPr/>
        </p:nvSpPr>
        <p:spPr bwMode="auto">
          <a:xfrm flipH="1">
            <a:off x="6686550" y="1814513"/>
            <a:ext cx="955675" cy="0"/>
          </a:xfrm>
          <a:prstGeom prst="line">
            <a:avLst/>
          </a:prstGeom>
          <a:noFill/>
          <a:ln w="25400">
            <a:solidFill>
              <a:srgbClr val="1109B7"/>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4099" name="Object 1"/>
          <p:cNvGraphicFramePr>
            <a:graphicFrameLocks noChangeAspect="1"/>
          </p:cNvGraphicFramePr>
          <p:nvPr/>
        </p:nvGraphicFramePr>
        <p:xfrm>
          <a:off x="6200775" y="1512888"/>
          <a:ext cx="384175" cy="493712"/>
        </p:xfrm>
        <a:graphic>
          <a:graphicData uri="http://schemas.openxmlformats.org/presentationml/2006/ole">
            <mc:AlternateContent xmlns:mc="http://schemas.openxmlformats.org/markup-compatibility/2006">
              <mc:Choice xmlns:v="urn:schemas-microsoft-com:vml" Requires="v">
                <p:oleObj name="Equation" r:id="rId3" imgW="203024" imgH="253780" progId="Equation.DSMT4">
                  <p:embed/>
                </p:oleObj>
              </mc:Choice>
              <mc:Fallback>
                <p:oleObj name="Equation" r:id="rId3" imgW="203024" imgH="2537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0775" y="1512888"/>
                        <a:ext cx="38417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00" name="Object 2"/>
          <p:cNvGraphicFramePr>
            <a:graphicFrameLocks noChangeAspect="1"/>
          </p:cNvGraphicFramePr>
          <p:nvPr/>
        </p:nvGraphicFramePr>
        <p:xfrm>
          <a:off x="8759825" y="1444625"/>
          <a:ext cx="384175" cy="400050"/>
        </p:xfrm>
        <a:graphic>
          <a:graphicData uri="http://schemas.openxmlformats.org/presentationml/2006/ole">
            <mc:AlternateContent xmlns:mc="http://schemas.openxmlformats.org/markup-compatibility/2006">
              <mc:Choice xmlns:v="urn:schemas-microsoft-com:vml" Requires="v">
                <p:oleObj name="Equation" r:id="rId5" imgW="126835" imgH="202936" progId="Equation.DSMT4">
                  <p:embed/>
                </p:oleObj>
              </mc:Choice>
              <mc:Fallback>
                <p:oleObj name="Equation" r:id="rId5" imgW="126835" imgH="202936"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59825" y="1444625"/>
                        <a:ext cx="384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01" name="Object 3"/>
          <p:cNvGraphicFramePr>
            <a:graphicFrameLocks noChangeAspect="1"/>
          </p:cNvGraphicFramePr>
          <p:nvPr/>
        </p:nvGraphicFramePr>
        <p:xfrm>
          <a:off x="7751763" y="895350"/>
          <a:ext cx="293687" cy="374650"/>
        </p:xfrm>
        <a:graphic>
          <a:graphicData uri="http://schemas.openxmlformats.org/presentationml/2006/ole">
            <mc:AlternateContent xmlns:mc="http://schemas.openxmlformats.org/markup-compatibility/2006">
              <mc:Choice xmlns:v="urn:schemas-microsoft-com:vml" Requires="v">
                <p:oleObj name="Equation" r:id="rId7" imgW="164885" imgH="215619" progId="Equation.DSMT4">
                  <p:embed/>
                </p:oleObj>
              </mc:Choice>
              <mc:Fallback>
                <p:oleObj name="Equation" r:id="rId7" imgW="164885" imgH="215619"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51763" y="895350"/>
                        <a:ext cx="293687"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02" name="Object 4"/>
          <p:cNvGraphicFramePr>
            <a:graphicFrameLocks noChangeAspect="1"/>
          </p:cNvGraphicFramePr>
          <p:nvPr/>
        </p:nvGraphicFramePr>
        <p:xfrm>
          <a:off x="7370763" y="2376488"/>
          <a:ext cx="217487" cy="322262"/>
        </p:xfrm>
        <a:graphic>
          <a:graphicData uri="http://schemas.openxmlformats.org/presentationml/2006/ole">
            <mc:AlternateContent xmlns:mc="http://schemas.openxmlformats.org/markup-compatibility/2006">
              <mc:Choice xmlns:v="urn:schemas-microsoft-com:vml" Requires="v">
                <p:oleObj name="Equation" r:id="rId9" imgW="139639" imgH="203112" progId="Equation.DSMT4">
                  <p:embed/>
                </p:oleObj>
              </mc:Choice>
              <mc:Fallback>
                <p:oleObj name="Equation" r:id="rId9" imgW="139639" imgH="203112"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70763" y="2376488"/>
                        <a:ext cx="217487"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3" name="Straight Connector 22"/>
          <p:cNvCxnSpPr/>
          <p:nvPr/>
        </p:nvCxnSpPr>
        <p:spPr>
          <a:xfrm rot="5400000">
            <a:off x="8290719" y="2234406"/>
            <a:ext cx="838200" cy="1588"/>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7643813" y="2638425"/>
            <a:ext cx="1066800" cy="1588"/>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7656513" y="1828800"/>
            <a:ext cx="1087437" cy="823913"/>
          </a:xfrm>
          <a:prstGeom prst="straightConnector1">
            <a:avLst/>
          </a:prstGeom>
          <a:ln w="222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10800000">
            <a:off x="6700838" y="1066800"/>
            <a:ext cx="941387" cy="747713"/>
          </a:xfrm>
          <a:prstGeom prst="straightConnector1">
            <a:avLst/>
          </a:prstGeom>
          <a:ln w="222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5400000">
            <a:off x="6306344" y="1432719"/>
            <a:ext cx="762000" cy="1588"/>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6686550" y="1052513"/>
            <a:ext cx="957263" cy="15875"/>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119" name="Rectangle 61"/>
          <p:cNvSpPr>
            <a:spLocks noChangeArrowheads="1"/>
          </p:cNvSpPr>
          <p:nvPr/>
        </p:nvSpPr>
        <p:spPr bwMode="auto">
          <a:xfrm>
            <a:off x="1371600" y="3124200"/>
            <a:ext cx="62484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800" b="1" i="1" dirty="0">
                <a:latin typeface="Times New Roman" pitchFamily="18" charset="0"/>
                <a:cs typeface="Times New Roman" pitchFamily="18" charset="0"/>
              </a:rPr>
              <a:t>phụ thuộc </a:t>
            </a:r>
            <a:r>
              <a:rPr lang="en-US" sz="2800" i="1" dirty="0">
                <a:latin typeface="Times New Roman" pitchFamily="18" charset="0"/>
                <a:cs typeface="Times New Roman" pitchFamily="18" charset="0"/>
              </a:rPr>
              <a:t>vào </a:t>
            </a:r>
            <a:r>
              <a:rPr lang="en-US" sz="2800" b="1" i="1" dirty="0">
                <a:latin typeface="Times New Roman" pitchFamily="18" charset="0"/>
                <a:cs typeface="Times New Roman" pitchFamily="18" charset="0"/>
              </a:rPr>
              <a:t>bản chất và tính chất </a:t>
            </a:r>
            <a:r>
              <a:rPr lang="en-US" sz="2800" i="1" dirty="0">
                <a:latin typeface="Times New Roman" pitchFamily="18" charset="0"/>
                <a:cs typeface="Times New Roman" pitchFamily="18" charset="0"/>
              </a:rPr>
              <a:t>của các mặt tiếp xúc</a:t>
            </a:r>
          </a:p>
        </p:txBody>
      </p:sp>
      <p:sp>
        <p:nvSpPr>
          <p:cNvPr id="4121" name="Rectangle 61"/>
          <p:cNvSpPr>
            <a:spLocks noChangeArrowheads="1"/>
          </p:cNvSpPr>
          <p:nvPr/>
        </p:nvSpPr>
        <p:spPr bwMode="auto">
          <a:xfrm>
            <a:off x="617538" y="2590800"/>
            <a:ext cx="38782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800" i="1" dirty="0">
                <a:solidFill>
                  <a:srgbClr val="002060"/>
                </a:solidFill>
                <a:latin typeface="Times New Roman" pitchFamily="18" charset="0"/>
                <a:cs typeface="Times New Roman" pitchFamily="18" charset="0"/>
              </a:rPr>
              <a:t>  : </a:t>
            </a:r>
            <a:r>
              <a:rPr lang="en-US" sz="2800" i="1" dirty="0">
                <a:latin typeface="Times New Roman" pitchFamily="18" charset="0"/>
                <a:cs typeface="Times New Roman" pitchFamily="18" charset="0"/>
              </a:rPr>
              <a:t>phản lực </a:t>
            </a:r>
            <a:r>
              <a:rPr lang="en-US" sz="2800" i="1" u="sng" dirty="0">
                <a:latin typeface="Times New Roman" pitchFamily="18" charset="0"/>
                <a:cs typeface="Times New Roman" pitchFamily="18" charset="0"/>
              </a:rPr>
              <a:t>pháp tuyến</a:t>
            </a:r>
          </a:p>
        </p:txBody>
      </p:sp>
      <p:sp>
        <p:nvSpPr>
          <p:cNvPr id="42" name="Rectangle 41"/>
          <p:cNvSpPr>
            <a:spLocks noChangeArrowheads="1"/>
          </p:cNvSpPr>
          <p:nvPr/>
        </p:nvSpPr>
        <p:spPr bwMode="auto">
          <a:xfrm>
            <a:off x="1295400" y="4038600"/>
            <a:ext cx="6553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800" b="1" i="1" dirty="0">
                <a:latin typeface="Times New Roman" pitchFamily="18" charset="0"/>
                <a:cs typeface="Times New Roman" pitchFamily="18" charset="0"/>
              </a:rPr>
              <a:t>không phụ thuộc </a:t>
            </a:r>
            <a:r>
              <a:rPr lang="en-US" sz="2800" i="1" dirty="0">
                <a:latin typeface="Times New Roman" pitchFamily="18" charset="0"/>
                <a:cs typeface="Times New Roman" pitchFamily="18" charset="0"/>
              </a:rPr>
              <a:t>vào </a:t>
            </a:r>
            <a:r>
              <a:rPr lang="en-US" sz="2800" b="1" i="1" dirty="0">
                <a:latin typeface="Times New Roman" pitchFamily="18" charset="0"/>
                <a:cs typeface="Times New Roman" pitchFamily="18" charset="0"/>
              </a:rPr>
              <a:t>diện tích tiếp xúc</a:t>
            </a:r>
            <a:r>
              <a:rPr lang="en-US" sz="2800" i="1" dirty="0">
                <a:latin typeface="Times New Roman" pitchFamily="18" charset="0"/>
                <a:cs typeface="Times New Roman" pitchFamily="18" charset="0"/>
              </a:rPr>
              <a:t>. </a:t>
            </a:r>
            <a:endParaRPr lang="en-US" sz="2800" dirty="0"/>
          </a:p>
        </p:txBody>
      </p:sp>
      <p:cxnSp>
        <p:nvCxnSpPr>
          <p:cNvPr id="44" name="Straight Arrow Connector 43"/>
          <p:cNvCxnSpPr/>
          <p:nvPr/>
        </p:nvCxnSpPr>
        <p:spPr>
          <a:xfrm rot="5400000" flipH="1" flipV="1">
            <a:off x="914400" y="3505200"/>
            <a:ext cx="381000" cy="3810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endCxn id="42" idx="1"/>
          </p:cNvCxnSpPr>
          <p:nvPr/>
        </p:nvCxnSpPr>
        <p:spPr>
          <a:xfrm rot="16200000" flipH="1">
            <a:off x="897731" y="3902869"/>
            <a:ext cx="414338" cy="3810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4138" name="Object 42"/>
          <p:cNvGraphicFramePr>
            <a:graphicFrameLocks noChangeAspect="1"/>
          </p:cNvGraphicFramePr>
          <p:nvPr/>
        </p:nvGraphicFramePr>
        <p:xfrm>
          <a:off x="6629400" y="657225"/>
          <a:ext cx="498475" cy="400050"/>
        </p:xfrm>
        <a:graphic>
          <a:graphicData uri="http://schemas.openxmlformats.org/presentationml/2006/ole">
            <mc:AlternateContent xmlns:mc="http://schemas.openxmlformats.org/markup-compatibility/2006">
              <mc:Choice xmlns:v="urn:schemas-microsoft-com:vml" Requires="v">
                <p:oleObj name="Equation" r:id="rId11" imgW="164957" imgH="203024" progId="Equation.DSMT4">
                  <p:embed/>
                </p:oleObj>
              </mc:Choice>
              <mc:Fallback>
                <p:oleObj name="Equation" r:id="rId11" imgW="164957" imgH="203024"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29400" y="657225"/>
                        <a:ext cx="498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129" name="Picture 18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4800" y="4572000"/>
            <a:ext cx="82423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a:spLocks noRot="1" noChangeAspect="1" noMove="1" noResize="1" noEditPoints="1" noAdjustHandles="1" noChangeArrowheads="1" noChangeShapeType="1" noTextEdit="1"/>
          </p:cNvSpPr>
          <p:nvPr/>
        </p:nvSpPr>
        <p:spPr>
          <a:xfrm>
            <a:off x="914400" y="1938362"/>
            <a:ext cx="4038600" cy="663550"/>
          </a:xfrm>
          <a:prstGeom prst="rect">
            <a:avLst/>
          </a:prstGeom>
          <a:blipFill rotWithShape="1">
            <a:blip r:embed="rId14"/>
            <a:stretch>
              <a:fillRect t="-9735" b="-46018"/>
            </a:stretch>
          </a:blipFill>
        </p:spPr>
        <p:txBody>
          <a:bodyPr/>
          <a:lstStyle/>
          <a:p>
            <a:pPr>
              <a:defRPr/>
            </a:pPr>
            <a:r>
              <a:rPr lang="en-US">
                <a:noFill/>
              </a:rPr>
              <a:t> </a:t>
            </a:r>
          </a:p>
        </p:txBody>
      </p:sp>
      <p:sp>
        <p:nvSpPr>
          <p:cNvPr id="5" name="TextBox 4"/>
          <p:cNvSpPr txBox="1">
            <a:spLocks noRot="1" noChangeAspect="1" noMove="1" noResize="1" noEditPoints="1" noAdjustHandles="1" noChangeArrowheads="1" noChangeShapeType="1" noTextEdit="1"/>
          </p:cNvSpPr>
          <p:nvPr/>
        </p:nvSpPr>
        <p:spPr>
          <a:xfrm>
            <a:off x="304800" y="2412304"/>
            <a:ext cx="457200" cy="782587"/>
          </a:xfrm>
          <a:prstGeom prst="rect">
            <a:avLst/>
          </a:prstGeom>
          <a:blipFill rotWithShape="1">
            <a:blip r:embed="rId15"/>
            <a:stretch>
              <a:fillRect r="-1333"/>
            </a:stretch>
          </a:blipFill>
        </p:spPr>
        <p:txBody>
          <a:bodyPr/>
          <a:lstStyle/>
          <a:p>
            <a:pPr>
              <a:defRPr/>
            </a:pPr>
            <a:r>
              <a:rPr lang="en-US">
                <a:noFill/>
              </a:rPr>
              <a:t> </a:t>
            </a:r>
          </a:p>
        </p:txBody>
      </p:sp>
      <p:sp>
        <p:nvSpPr>
          <p:cNvPr id="38" name="TextBox 37"/>
          <p:cNvSpPr txBox="1">
            <a:spLocks noRot="1" noChangeAspect="1" noMove="1" noResize="1" noEditPoints="1" noAdjustHandles="1" noChangeArrowheads="1" noChangeShapeType="1" noTextEdit="1"/>
          </p:cNvSpPr>
          <p:nvPr/>
        </p:nvSpPr>
        <p:spPr>
          <a:xfrm>
            <a:off x="-6398" y="3295526"/>
            <a:ext cx="1142999" cy="800347"/>
          </a:xfrm>
          <a:prstGeom prst="rect">
            <a:avLst/>
          </a:prstGeom>
          <a:blipFill rotWithShape="1">
            <a:blip r:embed="rId16"/>
            <a:stretch>
              <a:fillRect b="-16031"/>
            </a:stretch>
          </a:blipFill>
        </p:spPr>
        <p:txBody>
          <a:bodyPr/>
          <a:lstStyle/>
          <a:p>
            <a:pPr>
              <a:defRPr/>
            </a:pPr>
            <a:r>
              <a:rPr lang="en-US">
                <a:noFill/>
              </a:rPr>
              <a:t> </a:t>
            </a:r>
          </a:p>
        </p:txBody>
      </p:sp>
      <p:sp>
        <p:nvSpPr>
          <p:cNvPr id="2" name="Footer Placeholder 1">
            <a:extLst>
              <a:ext uri="{FF2B5EF4-FFF2-40B4-BE49-F238E27FC236}">
                <a16:creationId xmlns:a16="http://schemas.microsoft.com/office/drawing/2014/main" id="{FC552DFB-0CD5-3979-E6EF-DC5A0A0D9FBF}"/>
              </a:ext>
            </a:extLst>
          </p:cNvPr>
          <p:cNvSpPr>
            <a:spLocks noGrp="1"/>
          </p:cNvSpPr>
          <p:nvPr>
            <p:ph type="ftr" sz="quarter" idx="11"/>
          </p:nvPr>
        </p:nvSpPr>
        <p:spPr/>
        <p:txBody>
          <a:bodyPr/>
          <a:lstStyle/>
          <a:p>
            <a:r>
              <a:rPr lang="en-US"/>
              <a:t>Bùi Quốc Trung - VLDC</a:t>
            </a:r>
          </a:p>
        </p:txBody>
      </p:sp>
      <p:sp>
        <p:nvSpPr>
          <p:cNvPr id="4" name="Slide Number Placeholder 3">
            <a:extLst>
              <a:ext uri="{FF2B5EF4-FFF2-40B4-BE49-F238E27FC236}">
                <a16:creationId xmlns:a16="http://schemas.microsoft.com/office/drawing/2014/main" id="{15DAB9DD-A68B-AF77-055E-B34DD5AC3A78}"/>
              </a:ext>
            </a:extLst>
          </p:cNvPr>
          <p:cNvSpPr>
            <a:spLocks noGrp="1"/>
          </p:cNvSpPr>
          <p:nvPr>
            <p:ph type="sldNum" sz="quarter" idx="12"/>
          </p:nvPr>
        </p:nvSpPr>
        <p:spPr/>
        <p:txBody>
          <a:bodyPr/>
          <a:lstStyle/>
          <a:p>
            <a:fld id="{C4A94DE9-7404-4CC4-BDD8-EA2E97866C70}" type="slidenum">
              <a:rPr lang="en-US" smtClean="0"/>
              <a:t>11</a:t>
            </a:fld>
            <a:endParaRPr lang="en-US"/>
          </a:p>
        </p:txBody>
      </p:sp>
    </p:spTree>
    <p:extLst>
      <p:ext uri="{BB962C8B-B14F-4D97-AF65-F5344CB8AC3E}">
        <p14:creationId xmlns:p14="http://schemas.microsoft.com/office/powerpoint/2010/main" val="21259374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grpId="0" nodeType="afterEffect">
                                  <p:stCondLst>
                                    <p:cond delay="0"/>
                                  </p:stCondLst>
                                  <p:childTnLst>
                                    <p:set>
                                      <p:cBhvr>
                                        <p:cTn id="6" dur="1" fill="hold">
                                          <p:stCondLst>
                                            <p:cond delay="0"/>
                                          </p:stCondLst>
                                        </p:cTn>
                                        <p:tgtEl>
                                          <p:spTgt spid="4109"/>
                                        </p:tgtEl>
                                        <p:attrNameLst>
                                          <p:attrName>style.visibility</p:attrName>
                                        </p:attrNameLst>
                                      </p:cBhvr>
                                      <p:to>
                                        <p:strVal val="visible"/>
                                      </p:to>
                                    </p:set>
                                    <p:animEffect transition="in" filter="diamond(in)">
                                      <p:cBhvr>
                                        <p:cTn id="7" dur="500"/>
                                        <p:tgtEl>
                                          <p:spTgt spid="41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amond(in)">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4130"/>
                                        </p:tgtEl>
                                        <p:attrNameLst>
                                          <p:attrName>style.visibility</p:attrName>
                                        </p:attrNameLst>
                                      </p:cBhvr>
                                      <p:to>
                                        <p:strVal val="visible"/>
                                      </p:to>
                                    </p:set>
                                    <p:animEffect transition="in" filter="diamond(in)">
                                      <p:cBhvr>
                                        <p:cTn id="17" dur="500"/>
                                        <p:tgtEl>
                                          <p:spTgt spid="4130"/>
                                        </p:tgtEl>
                                      </p:cBhvr>
                                    </p:animEffect>
                                  </p:childTnLst>
                                </p:cTn>
                              </p:par>
                            </p:childTnLst>
                          </p:cTn>
                        </p:par>
                        <p:par>
                          <p:cTn id="18" fill="hold" nodeType="afterGroup">
                            <p:stCondLst>
                              <p:cond delay="500"/>
                            </p:stCondLst>
                            <p:childTnLst>
                              <p:par>
                                <p:cTn id="19" presetID="8" presetClass="entr" presetSubtype="16" fill="hold" grpId="0" nodeType="afterEffect">
                                  <p:stCondLst>
                                    <p:cond delay="0"/>
                                  </p:stCondLst>
                                  <p:childTnLst>
                                    <p:set>
                                      <p:cBhvr>
                                        <p:cTn id="20" dur="1" fill="hold">
                                          <p:stCondLst>
                                            <p:cond delay="0"/>
                                          </p:stCondLst>
                                        </p:cTn>
                                        <p:tgtEl>
                                          <p:spTgt spid="4131"/>
                                        </p:tgtEl>
                                        <p:attrNameLst>
                                          <p:attrName>style.visibility</p:attrName>
                                        </p:attrNameLst>
                                      </p:cBhvr>
                                      <p:to>
                                        <p:strVal val="visible"/>
                                      </p:to>
                                    </p:set>
                                    <p:animEffect transition="in" filter="diamond(in)">
                                      <p:cBhvr>
                                        <p:cTn id="21" dur="500"/>
                                        <p:tgtEl>
                                          <p:spTgt spid="413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8" presetClass="entr" presetSubtype="32" fill="hold" grpId="0" nodeType="clickEffect">
                                  <p:stCondLst>
                                    <p:cond delay="0"/>
                                  </p:stCondLst>
                                  <p:childTnLst>
                                    <p:set>
                                      <p:cBhvr>
                                        <p:cTn id="25" dur="1" fill="hold">
                                          <p:stCondLst>
                                            <p:cond delay="0"/>
                                          </p:stCondLst>
                                        </p:cTn>
                                        <p:tgtEl>
                                          <p:spTgt spid="4132"/>
                                        </p:tgtEl>
                                        <p:attrNameLst>
                                          <p:attrName>style.visibility</p:attrName>
                                        </p:attrNameLst>
                                      </p:cBhvr>
                                      <p:to>
                                        <p:strVal val="visible"/>
                                      </p:to>
                                    </p:set>
                                    <p:animEffect transition="in" filter="diamond(out)">
                                      <p:cBhvr>
                                        <p:cTn id="26" dur="500"/>
                                        <p:tgtEl>
                                          <p:spTgt spid="4132"/>
                                        </p:tgtEl>
                                      </p:cBhvr>
                                    </p:animEffect>
                                  </p:childTnLst>
                                </p:cTn>
                              </p:par>
                            </p:childTnLst>
                          </p:cTn>
                        </p:par>
                        <p:par>
                          <p:cTn id="27" fill="hold" nodeType="afterGroup">
                            <p:stCondLst>
                              <p:cond delay="500"/>
                            </p:stCondLst>
                            <p:childTnLst>
                              <p:par>
                                <p:cTn id="28" presetID="8" presetClass="entr" presetSubtype="16" fill="hold" nodeType="afterEffect">
                                  <p:stCondLst>
                                    <p:cond delay="0"/>
                                  </p:stCondLst>
                                  <p:childTnLst>
                                    <p:set>
                                      <p:cBhvr>
                                        <p:cTn id="29" dur="1" fill="hold">
                                          <p:stCondLst>
                                            <p:cond delay="0"/>
                                          </p:stCondLst>
                                        </p:cTn>
                                        <p:tgtEl>
                                          <p:spTgt spid="4102"/>
                                        </p:tgtEl>
                                        <p:attrNameLst>
                                          <p:attrName>style.visibility</p:attrName>
                                        </p:attrNameLst>
                                      </p:cBhvr>
                                      <p:to>
                                        <p:strVal val="visible"/>
                                      </p:to>
                                    </p:set>
                                    <p:animEffect transition="in" filter="diamond(in)">
                                      <p:cBhvr>
                                        <p:cTn id="30" dur="500"/>
                                        <p:tgtEl>
                                          <p:spTgt spid="410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8" presetClass="entr" presetSubtype="32" fill="hold" grpId="0" nodeType="clickEffect">
                                  <p:stCondLst>
                                    <p:cond delay="0"/>
                                  </p:stCondLst>
                                  <p:childTnLst>
                                    <p:set>
                                      <p:cBhvr>
                                        <p:cTn id="34" dur="1" fill="hold">
                                          <p:stCondLst>
                                            <p:cond delay="0"/>
                                          </p:stCondLst>
                                        </p:cTn>
                                        <p:tgtEl>
                                          <p:spTgt spid="4134"/>
                                        </p:tgtEl>
                                        <p:attrNameLst>
                                          <p:attrName>style.visibility</p:attrName>
                                        </p:attrNameLst>
                                      </p:cBhvr>
                                      <p:to>
                                        <p:strVal val="visible"/>
                                      </p:to>
                                    </p:set>
                                    <p:animEffect transition="in" filter="diamond(out)">
                                      <p:cBhvr>
                                        <p:cTn id="35" dur="500"/>
                                        <p:tgtEl>
                                          <p:spTgt spid="4134"/>
                                        </p:tgtEl>
                                      </p:cBhvr>
                                    </p:animEffect>
                                  </p:childTnLst>
                                </p:cTn>
                              </p:par>
                            </p:childTnLst>
                          </p:cTn>
                        </p:par>
                        <p:par>
                          <p:cTn id="36" fill="hold" nodeType="afterGroup">
                            <p:stCondLst>
                              <p:cond delay="500"/>
                            </p:stCondLst>
                            <p:childTnLst>
                              <p:par>
                                <p:cTn id="37" presetID="8" presetClass="entr" presetSubtype="16" fill="hold" nodeType="afterEffect">
                                  <p:stCondLst>
                                    <p:cond delay="0"/>
                                  </p:stCondLst>
                                  <p:childTnLst>
                                    <p:set>
                                      <p:cBhvr>
                                        <p:cTn id="38" dur="1" fill="hold">
                                          <p:stCondLst>
                                            <p:cond delay="0"/>
                                          </p:stCondLst>
                                        </p:cTn>
                                        <p:tgtEl>
                                          <p:spTgt spid="4100"/>
                                        </p:tgtEl>
                                        <p:attrNameLst>
                                          <p:attrName>style.visibility</p:attrName>
                                        </p:attrNameLst>
                                      </p:cBhvr>
                                      <p:to>
                                        <p:strVal val="visible"/>
                                      </p:to>
                                    </p:set>
                                    <p:animEffect transition="in" filter="diamond(in)">
                                      <p:cBhvr>
                                        <p:cTn id="39" dur="500"/>
                                        <p:tgtEl>
                                          <p:spTgt spid="410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8" presetClass="entr" presetSubtype="16" fill="hold"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diamond(in)">
                                      <p:cBhvr>
                                        <p:cTn id="44" dur="2000"/>
                                        <p:tgtEl>
                                          <p:spTgt spid="23"/>
                                        </p:tgtEl>
                                      </p:cBhvr>
                                    </p:animEffect>
                                  </p:childTnLst>
                                </p:cTn>
                              </p:par>
                              <p:par>
                                <p:cTn id="45" presetID="8" presetClass="entr" presetSubtype="16"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diamond(in)">
                                      <p:cBhvr>
                                        <p:cTn id="47" dur="2000"/>
                                        <p:tgtEl>
                                          <p:spTgt spid="32"/>
                                        </p:tgtEl>
                                      </p:cBhvr>
                                    </p:animEffect>
                                  </p:childTnLst>
                                </p:cTn>
                              </p:par>
                            </p:childTnLst>
                          </p:cTn>
                        </p:par>
                        <p:par>
                          <p:cTn id="48" fill="hold" nodeType="afterGroup">
                            <p:stCondLst>
                              <p:cond delay="2000"/>
                            </p:stCondLst>
                            <p:childTnLst>
                              <p:par>
                                <p:cTn id="49" presetID="8" presetClass="entr" presetSubtype="32" fill="hold" nodeType="after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diamond(out)">
                                      <p:cBhvr>
                                        <p:cTn id="51" dur="500"/>
                                        <p:tgtEl>
                                          <p:spTgt spid="3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8" presetClass="entr" presetSubtype="32" fill="hold" nodeType="click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diamond(out)">
                                      <p:cBhvr>
                                        <p:cTn id="56" dur="500"/>
                                        <p:tgtEl>
                                          <p:spTgt spid="39"/>
                                        </p:tgtEl>
                                      </p:cBhvr>
                                    </p:animEffect>
                                  </p:childTnLst>
                                </p:cTn>
                              </p:par>
                            </p:childTnLst>
                          </p:cTn>
                        </p:par>
                        <p:par>
                          <p:cTn id="57" fill="hold" nodeType="afterGroup">
                            <p:stCondLst>
                              <p:cond delay="500"/>
                            </p:stCondLst>
                            <p:childTnLst>
                              <p:par>
                                <p:cTn id="58" presetID="8" presetClass="entr" presetSubtype="16" fill="hold" nodeType="afterEffect">
                                  <p:stCondLst>
                                    <p:cond delay="0"/>
                                  </p:stCondLst>
                                  <p:childTnLst>
                                    <p:set>
                                      <p:cBhvr>
                                        <p:cTn id="59" dur="1" fill="hold">
                                          <p:stCondLst>
                                            <p:cond delay="0"/>
                                          </p:stCondLst>
                                        </p:cTn>
                                        <p:tgtEl>
                                          <p:spTgt spid="4138"/>
                                        </p:tgtEl>
                                        <p:attrNameLst>
                                          <p:attrName>style.visibility</p:attrName>
                                        </p:attrNameLst>
                                      </p:cBhvr>
                                      <p:to>
                                        <p:strVal val="visible"/>
                                      </p:to>
                                    </p:set>
                                    <p:animEffect transition="in" filter="diamond(in)">
                                      <p:cBhvr>
                                        <p:cTn id="60" dur="500"/>
                                        <p:tgtEl>
                                          <p:spTgt spid="4138"/>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8" presetClass="entr" presetSubtype="16" fill="hold" nodeType="clickEffect">
                                  <p:stCondLst>
                                    <p:cond delay="0"/>
                                  </p:stCondLst>
                                  <p:childTnLst>
                                    <p:set>
                                      <p:cBhvr>
                                        <p:cTn id="64" dur="1" fill="hold">
                                          <p:stCondLst>
                                            <p:cond delay="0"/>
                                          </p:stCondLst>
                                        </p:cTn>
                                        <p:tgtEl>
                                          <p:spTgt spid="60"/>
                                        </p:tgtEl>
                                        <p:attrNameLst>
                                          <p:attrName>style.visibility</p:attrName>
                                        </p:attrNameLst>
                                      </p:cBhvr>
                                      <p:to>
                                        <p:strVal val="visible"/>
                                      </p:to>
                                    </p:set>
                                    <p:animEffect transition="in" filter="diamond(in)">
                                      <p:cBhvr>
                                        <p:cTn id="65" dur="2000"/>
                                        <p:tgtEl>
                                          <p:spTgt spid="60"/>
                                        </p:tgtEl>
                                      </p:cBhvr>
                                    </p:animEffect>
                                  </p:childTnLst>
                                </p:cTn>
                              </p:par>
                              <p:par>
                                <p:cTn id="66" presetID="8" presetClass="entr" presetSubtype="16" fill="hold" nodeType="withEffect">
                                  <p:stCondLst>
                                    <p:cond delay="0"/>
                                  </p:stCondLst>
                                  <p:childTnLst>
                                    <p:set>
                                      <p:cBhvr>
                                        <p:cTn id="67" dur="1" fill="hold">
                                          <p:stCondLst>
                                            <p:cond delay="0"/>
                                          </p:stCondLst>
                                        </p:cTn>
                                        <p:tgtEl>
                                          <p:spTgt spid="54"/>
                                        </p:tgtEl>
                                        <p:attrNameLst>
                                          <p:attrName>style.visibility</p:attrName>
                                        </p:attrNameLst>
                                      </p:cBhvr>
                                      <p:to>
                                        <p:strVal val="visible"/>
                                      </p:to>
                                    </p:set>
                                    <p:animEffect transition="in" filter="diamond(in)">
                                      <p:cBhvr>
                                        <p:cTn id="68" dur="2000"/>
                                        <p:tgtEl>
                                          <p:spTgt spid="54"/>
                                        </p:tgtEl>
                                      </p:cBhvr>
                                    </p:animEffect>
                                  </p:childTnLst>
                                </p:cTn>
                              </p:par>
                            </p:childTnLst>
                          </p:cTn>
                        </p:par>
                        <p:par>
                          <p:cTn id="69" fill="hold" nodeType="afterGroup">
                            <p:stCondLst>
                              <p:cond delay="2000"/>
                            </p:stCondLst>
                            <p:childTnLst>
                              <p:par>
                                <p:cTn id="70" presetID="8" presetClass="entr" presetSubtype="32" fill="hold" grpId="0" nodeType="afterEffect">
                                  <p:stCondLst>
                                    <p:cond delay="0"/>
                                  </p:stCondLst>
                                  <p:childTnLst>
                                    <p:set>
                                      <p:cBhvr>
                                        <p:cTn id="71" dur="1" fill="hold">
                                          <p:stCondLst>
                                            <p:cond delay="0"/>
                                          </p:stCondLst>
                                        </p:cTn>
                                        <p:tgtEl>
                                          <p:spTgt spid="4135"/>
                                        </p:tgtEl>
                                        <p:attrNameLst>
                                          <p:attrName>style.visibility</p:attrName>
                                        </p:attrNameLst>
                                      </p:cBhvr>
                                      <p:to>
                                        <p:strVal val="visible"/>
                                      </p:to>
                                    </p:set>
                                    <p:animEffect transition="in" filter="diamond(out)">
                                      <p:cBhvr>
                                        <p:cTn id="72" dur="2000"/>
                                        <p:tgtEl>
                                          <p:spTgt spid="4135"/>
                                        </p:tgtEl>
                                      </p:cBhvr>
                                    </p:animEffect>
                                  </p:childTnLst>
                                </p:cTn>
                              </p:par>
                              <p:par>
                                <p:cTn id="73" presetID="8" presetClass="entr" presetSubtype="32" fill="hold" grpId="0" nodeType="withEffect">
                                  <p:stCondLst>
                                    <p:cond delay="0"/>
                                  </p:stCondLst>
                                  <p:childTnLst>
                                    <p:set>
                                      <p:cBhvr>
                                        <p:cTn id="74" dur="1" fill="hold">
                                          <p:stCondLst>
                                            <p:cond delay="0"/>
                                          </p:stCondLst>
                                        </p:cTn>
                                        <p:tgtEl>
                                          <p:spTgt spid="4133"/>
                                        </p:tgtEl>
                                        <p:attrNameLst>
                                          <p:attrName>style.visibility</p:attrName>
                                        </p:attrNameLst>
                                      </p:cBhvr>
                                      <p:to>
                                        <p:strVal val="visible"/>
                                      </p:to>
                                    </p:set>
                                    <p:animEffect transition="in" filter="diamond(out)">
                                      <p:cBhvr>
                                        <p:cTn id="75" dur="2000"/>
                                        <p:tgtEl>
                                          <p:spTgt spid="4133"/>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8" presetClass="entr" presetSubtype="16" fill="hold" nodeType="clickEffect">
                                  <p:stCondLst>
                                    <p:cond delay="0"/>
                                  </p:stCondLst>
                                  <p:childTnLst>
                                    <p:set>
                                      <p:cBhvr>
                                        <p:cTn id="79" dur="1" fill="hold">
                                          <p:stCondLst>
                                            <p:cond delay="0"/>
                                          </p:stCondLst>
                                        </p:cTn>
                                        <p:tgtEl>
                                          <p:spTgt spid="4101"/>
                                        </p:tgtEl>
                                        <p:attrNameLst>
                                          <p:attrName>style.visibility</p:attrName>
                                        </p:attrNameLst>
                                      </p:cBhvr>
                                      <p:to>
                                        <p:strVal val="visible"/>
                                      </p:to>
                                    </p:set>
                                    <p:animEffect transition="in" filter="diamond(in)">
                                      <p:cBhvr>
                                        <p:cTn id="80" dur="500"/>
                                        <p:tgtEl>
                                          <p:spTgt spid="4101"/>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8" presetClass="entr" presetSubtype="16" fill="hold" nodeType="clickEffect">
                                  <p:stCondLst>
                                    <p:cond delay="0"/>
                                  </p:stCondLst>
                                  <p:childTnLst>
                                    <p:set>
                                      <p:cBhvr>
                                        <p:cTn id="84" dur="1" fill="hold">
                                          <p:stCondLst>
                                            <p:cond delay="0"/>
                                          </p:stCondLst>
                                        </p:cTn>
                                        <p:tgtEl>
                                          <p:spTgt spid="4099"/>
                                        </p:tgtEl>
                                        <p:attrNameLst>
                                          <p:attrName>style.visibility</p:attrName>
                                        </p:attrNameLst>
                                      </p:cBhvr>
                                      <p:to>
                                        <p:strVal val="visible"/>
                                      </p:to>
                                    </p:set>
                                    <p:animEffect transition="in" filter="diamond(in)">
                                      <p:cBhvr>
                                        <p:cTn id="85" dur="500"/>
                                        <p:tgtEl>
                                          <p:spTgt spid="4099"/>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16" presetClass="entr" presetSubtype="21" fill="hold" nodeType="clickEffect">
                                  <p:stCondLst>
                                    <p:cond delay="0"/>
                                  </p:stCondLst>
                                  <p:childTnLst>
                                    <p:set>
                                      <p:cBhvr>
                                        <p:cTn id="89" dur="1" fill="hold">
                                          <p:stCondLst>
                                            <p:cond delay="0"/>
                                          </p:stCondLst>
                                        </p:cTn>
                                        <p:tgtEl>
                                          <p:spTgt spid="3"/>
                                        </p:tgtEl>
                                        <p:attrNameLst>
                                          <p:attrName>style.visibility</p:attrName>
                                        </p:attrNameLst>
                                      </p:cBhvr>
                                      <p:to>
                                        <p:strVal val="visible"/>
                                      </p:to>
                                    </p:set>
                                    <p:animEffect transition="in" filter="barn(inVertical)">
                                      <p:cBhvr>
                                        <p:cTn id="90" dur="500"/>
                                        <p:tgtEl>
                                          <p:spTgt spid="3"/>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4" fill="hold" nodeType="clickEffect">
                                  <p:stCondLst>
                                    <p:cond delay="0"/>
                                  </p:stCondLst>
                                  <p:childTnLst>
                                    <p:set>
                                      <p:cBhvr>
                                        <p:cTn id="94" dur="1" fill="hold">
                                          <p:stCondLst>
                                            <p:cond delay="0"/>
                                          </p:stCondLst>
                                        </p:cTn>
                                        <p:tgtEl>
                                          <p:spTgt spid="5"/>
                                        </p:tgtEl>
                                        <p:attrNameLst>
                                          <p:attrName>style.visibility</p:attrName>
                                        </p:attrNameLst>
                                      </p:cBhvr>
                                      <p:to>
                                        <p:strVal val="visible"/>
                                      </p:to>
                                    </p:set>
                                    <p:animEffect transition="in" filter="wipe(down)">
                                      <p:cBhvr>
                                        <p:cTn id="95" dur="500"/>
                                        <p:tgtEl>
                                          <p:spTgt spid="5"/>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6" presetClass="entr" presetSubtype="16" fill="hold" grpId="0" nodeType="clickEffect">
                                  <p:stCondLst>
                                    <p:cond delay="0"/>
                                  </p:stCondLst>
                                  <p:childTnLst>
                                    <p:set>
                                      <p:cBhvr>
                                        <p:cTn id="99" dur="1" fill="hold">
                                          <p:stCondLst>
                                            <p:cond delay="0"/>
                                          </p:stCondLst>
                                        </p:cTn>
                                        <p:tgtEl>
                                          <p:spTgt spid="4121"/>
                                        </p:tgtEl>
                                        <p:attrNameLst>
                                          <p:attrName>style.visibility</p:attrName>
                                        </p:attrNameLst>
                                      </p:cBhvr>
                                      <p:to>
                                        <p:strVal val="visible"/>
                                      </p:to>
                                    </p:set>
                                    <p:animEffect transition="in" filter="circle(in)">
                                      <p:cBhvr>
                                        <p:cTn id="100" dur="2000"/>
                                        <p:tgtEl>
                                          <p:spTgt spid="4121"/>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4" fill="hold" nodeType="click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wipe(down)">
                                      <p:cBhvr>
                                        <p:cTn id="105" dur="500"/>
                                        <p:tgtEl>
                                          <p:spTgt spid="38"/>
                                        </p:tgtEl>
                                      </p:cBhvr>
                                    </p:animEffect>
                                  </p:childTnLst>
                                </p:cTn>
                              </p:par>
                            </p:childTnLst>
                          </p:cTn>
                        </p:par>
                        <p:par>
                          <p:cTn id="106" fill="hold" nodeType="afterGroup">
                            <p:stCondLst>
                              <p:cond delay="500"/>
                            </p:stCondLst>
                            <p:childTnLst>
                              <p:par>
                                <p:cTn id="107" presetID="8" presetClass="entr" presetSubtype="16" fill="hold" nodeType="afterEffect">
                                  <p:stCondLst>
                                    <p:cond delay="0"/>
                                  </p:stCondLst>
                                  <p:childTnLst>
                                    <p:set>
                                      <p:cBhvr>
                                        <p:cTn id="108" dur="1" fill="hold">
                                          <p:stCondLst>
                                            <p:cond delay="0"/>
                                          </p:stCondLst>
                                        </p:cTn>
                                        <p:tgtEl>
                                          <p:spTgt spid="44"/>
                                        </p:tgtEl>
                                        <p:attrNameLst>
                                          <p:attrName>style.visibility</p:attrName>
                                        </p:attrNameLst>
                                      </p:cBhvr>
                                      <p:to>
                                        <p:strVal val="visible"/>
                                      </p:to>
                                    </p:set>
                                    <p:animEffect transition="in" filter="diamond(in)">
                                      <p:cBhvr>
                                        <p:cTn id="109" dur="500"/>
                                        <p:tgtEl>
                                          <p:spTgt spid="44"/>
                                        </p:tgtEl>
                                      </p:cBhvr>
                                    </p:animEffect>
                                  </p:childTnLst>
                                </p:cTn>
                              </p:par>
                            </p:childTnLst>
                          </p:cTn>
                        </p:par>
                        <p:par>
                          <p:cTn id="110" fill="hold" nodeType="afterGroup">
                            <p:stCondLst>
                              <p:cond delay="1000"/>
                            </p:stCondLst>
                            <p:childTnLst>
                              <p:par>
                                <p:cTn id="111" presetID="8" presetClass="entr" presetSubtype="16" fill="hold" grpId="0" nodeType="afterEffect">
                                  <p:stCondLst>
                                    <p:cond delay="0"/>
                                  </p:stCondLst>
                                  <p:childTnLst>
                                    <p:set>
                                      <p:cBhvr>
                                        <p:cTn id="112" dur="1" fill="hold">
                                          <p:stCondLst>
                                            <p:cond delay="0"/>
                                          </p:stCondLst>
                                        </p:cTn>
                                        <p:tgtEl>
                                          <p:spTgt spid="4119"/>
                                        </p:tgtEl>
                                        <p:attrNameLst>
                                          <p:attrName>style.visibility</p:attrName>
                                        </p:attrNameLst>
                                      </p:cBhvr>
                                      <p:to>
                                        <p:strVal val="visible"/>
                                      </p:to>
                                    </p:set>
                                    <p:animEffect transition="in" filter="diamond(in)">
                                      <p:cBhvr>
                                        <p:cTn id="113" dur="500"/>
                                        <p:tgtEl>
                                          <p:spTgt spid="4119"/>
                                        </p:tgtEl>
                                      </p:cBhvr>
                                    </p:animEffect>
                                  </p:childTnLst>
                                </p:cTn>
                              </p:par>
                            </p:childTnLst>
                          </p:cTn>
                        </p:par>
                        <p:par>
                          <p:cTn id="114" fill="hold" nodeType="afterGroup">
                            <p:stCondLst>
                              <p:cond delay="1500"/>
                            </p:stCondLst>
                            <p:childTnLst>
                              <p:par>
                                <p:cTn id="115" presetID="8" presetClass="entr" presetSubtype="16" fill="hold" nodeType="afterEffect">
                                  <p:stCondLst>
                                    <p:cond delay="0"/>
                                  </p:stCondLst>
                                  <p:childTnLst>
                                    <p:set>
                                      <p:cBhvr>
                                        <p:cTn id="116" dur="1" fill="hold">
                                          <p:stCondLst>
                                            <p:cond delay="0"/>
                                          </p:stCondLst>
                                        </p:cTn>
                                        <p:tgtEl>
                                          <p:spTgt spid="47"/>
                                        </p:tgtEl>
                                        <p:attrNameLst>
                                          <p:attrName>style.visibility</p:attrName>
                                        </p:attrNameLst>
                                      </p:cBhvr>
                                      <p:to>
                                        <p:strVal val="visible"/>
                                      </p:to>
                                    </p:set>
                                    <p:animEffect transition="in" filter="diamond(in)">
                                      <p:cBhvr>
                                        <p:cTn id="117" dur="500"/>
                                        <p:tgtEl>
                                          <p:spTgt spid="47"/>
                                        </p:tgtEl>
                                      </p:cBhvr>
                                    </p:animEffect>
                                  </p:childTnLst>
                                </p:cTn>
                              </p:par>
                            </p:childTnLst>
                          </p:cTn>
                        </p:par>
                        <p:par>
                          <p:cTn id="118" fill="hold" nodeType="afterGroup">
                            <p:stCondLst>
                              <p:cond delay="2000"/>
                            </p:stCondLst>
                            <p:childTnLst>
                              <p:par>
                                <p:cTn id="119" presetID="8" presetClass="entr" presetSubtype="16" fill="hold" grpId="0" nodeType="afterEffect">
                                  <p:stCondLst>
                                    <p:cond delay="0"/>
                                  </p:stCondLst>
                                  <p:childTnLst>
                                    <p:set>
                                      <p:cBhvr>
                                        <p:cTn id="120" dur="1" fill="hold">
                                          <p:stCondLst>
                                            <p:cond delay="0"/>
                                          </p:stCondLst>
                                        </p:cTn>
                                        <p:tgtEl>
                                          <p:spTgt spid="42"/>
                                        </p:tgtEl>
                                        <p:attrNameLst>
                                          <p:attrName>style.visibility</p:attrName>
                                        </p:attrNameLst>
                                      </p:cBhvr>
                                      <p:to>
                                        <p:strVal val="visible"/>
                                      </p:to>
                                    </p:set>
                                    <p:animEffect transition="in" filter="diamond(in)">
                                      <p:cBhvr>
                                        <p:cTn id="121" dur="500"/>
                                        <p:tgtEl>
                                          <p:spTgt spid="42"/>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9" presetClass="entr" presetSubtype="0" fill="hold" nodeType="clickEffect">
                                  <p:stCondLst>
                                    <p:cond delay="0"/>
                                  </p:stCondLst>
                                  <p:childTnLst>
                                    <p:set>
                                      <p:cBhvr>
                                        <p:cTn id="125" dur="1" fill="hold">
                                          <p:stCondLst>
                                            <p:cond delay="0"/>
                                          </p:stCondLst>
                                        </p:cTn>
                                        <p:tgtEl>
                                          <p:spTgt spid="4129"/>
                                        </p:tgtEl>
                                        <p:attrNameLst>
                                          <p:attrName>style.visibility</p:attrName>
                                        </p:attrNameLst>
                                      </p:cBhvr>
                                      <p:to>
                                        <p:strVal val="visible"/>
                                      </p:to>
                                    </p:set>
                                    <p:animEffect transition="in" filter="dissolve">
                                      <p:cBhvr>
                                        <p:cTn id="126" dur="1000"/>
                                        <p:tgtEl>
                                          <p:spTgt spid="4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9" grpId="0"/>
      <p:bldP spid="8" grpId="0"/>
      <p:bldP spid="4130" grpId="0" animBg="1"/>
      <p:bldP spid="4131" grpId="0" animBg="1"/>
      <p:bldP spid="4132" grpId="0" animBg="1"/>
      <p:bldP spid="4133" grpId="0" animBg="1"/>
      <p:bldP spid="4134" grpId="0" animBg="1"/>
      <p:bldP spid="4135" grpId="0" animBg="1"/>
      <p:bldP spid="4119" grpId="0"/>
      <p:bldP spid="4121" grpId="0"/>
      <p:bldP spid="4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18"/>
          <p:cNvGrpSpPr>
            <a:grpSpLocks/>
          </p:cNvGrpSpPr>
          <p:nvPr/>
        </p:nvGrpSpPr>
        <p:grpSpPr bwMode="auto">
          <a:xfrm>
            <a:off x="2514600" y="0"/>
            <a:ext cx="3886200" cy="685800"/>
            <a:chOff x="1310" y="1392"/>
            <a:chExt cx="2793" cy="432"/>
          </a:xfrm>
        </p:grpSpPr>
        <p:pic>
          <p:nvPicPr>
            <p:cNvPr id="11312"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2793"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1693" y="1449"/>
              <a:ext cx="2008"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just"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2.2.</a:t>
              </a:r>
              <a:r>
                <a:rPr lang="en-US" sz="2400" b="1">
                  <a:solidFill>
                    <a:srgbClr val="002060"/>
                  </a:solidFill>
                  <a:latin typeface="Times New Roman" pitchFamily="18" charset="0"/>
                  <a:cs typeface="Times New Roman" pitchFamily="18" charset="0"/>
                </a:rPr>
                <a:t> </a:t>
              </a:r>
              <a:r>
                <a:rPr lang="vi-VN" sz="2400" b="1">
                  <a:solidFill>
                    <a:srgbClr val="FF0000"/>
                  </a:solidFill>
                  <a:latin typeface="Times New Roman" pitchFamily="18" charset="0"/>
                  <a:cs typeface="Times New Roman" pitchFamily="18" charset="0"/>
                </a:rPr>
                <a:t>Các lực cơ học </a:t>
              </a:r>
              <a:endParaRPr lang="en-US" sz="2400" b="1">
                <a:solidFill>
                  <a:srgbClr val="FF0000"/>
                </a:solidFill>
                <a:latin typeface="Times New Roman" pitchFamily="18" charset="0"/>
                <a:cs typeface="Times New Roman" pitchFamily="18" charset="0"/>
              </a:endParaRPr>
            </a:p>
          </p:txBody>
        </p:sp>
      </p:grpSp>
      <p:sp>
        <p:nvSpPr>
          <p:cNvPr id="5" name="Freeform 4"/>
          <p:cNvSpPr/>
          <p:nvPr/>
        </p:nvSpPr>
        <p:spPr>
          <a:xfrm rot="1546346">
            <a:off x="5432425" y="3563938"/>
            <a:ext cx="3652838" cy="1106487"/>
          </a:xfrm>
          <a:custGeom>
            <a:avLst/>
            <a:gdLst>
              <a:gd name="connsiteX0" fmla="*/ 0 w 4305905"/>
              <a:gd name="connsiteY0" fmla="*/ 1843315 h 1843315"/>
              <a:gd name="connsiteX1" fmla="*/ 1059543 w 4305905"/>
              <a:gd name="connsiteY1" fmla="*/ 972457 h 1843315"/>
              <a:gd name="connsiteX2" fmla="*/ 2830286 w 4305905"/>
              <a:gd name="connsiteY2" fmla="*/ 1277257 h 1843315"/>
              <a:gd name="connsiteX3" fmla="*/ 4064000 w 4305905"/>
              <a:gd name="connsiteY3" fmla="*/ 304800 h 1843315"/>
              <a:gd name="connsiteX4" fmla="*/ 4281714 w 4305905"/>
              <a:gd name="connsiteY4" fmla="*/ 0 h 1843315"/>
              <a:gd name="connsiteX0" fmla="*/ 0 w 4064000"/>
              <a:gd name="connsiteY0" fmla="*/ 1538515 h 1538515"/>
              <a:gd name="connsiteX1" fmla="*/ 1059543 w 4064000"/>
              <a:gd name="connsiteY1" fmla="*/ 667657 h 1538515"/>
              <a:gd name="connsiteX2" fmla="*/ 2830286 w 4064000"/>
              <a:gd name="connsiteY2" fmla="*/ 972457 h 1538515"/>
              <a:gd name="connsiteX3" fmla="*/ 4064000 w 4064000"/>
              <a:gd name="connsiteY3" fmla="*/ 0 h 1538515"/>
              <a:gd name="connsiteX0" fmla="*/ 0 w 4064000"/>
              <a:gd name="connsiteY0" fmla="*/ 1538515 h 1538515"/>
              <a:gd name="connsiteX1" fmla="*/ 1059543 w 4064000"/>
              <a:gd name="connsiteY1" fmla="*/ 667657 h 1538515"/>
              <a:gd name="connsiteX2" fmla="*/ 2830286 w 4064000"/>
              <a:gd name="connsiteY2" fmla="*/ 972457 h 1538515"/>
              <a:gd name="connsiteX3" fmla="*/ 3652444 w 4064000"/>
              <a:gd name="connsiteY3" fmla="*/ 432803 h 1538515"/>
              <a:gd name="connsiteX4" fmla="*/ 4064000 w 4064000"/>
              <a:gd name="connsiteY4" fmla="*/ 0 h 1538515"/>
              <a:gd name="connsiteX0" fmla="*/ 0 w 3652444"/>
              <a:gd name="connsiteY0" fmla="*/ 1105712 h 1105712"/>
              <a:gd name="connsiteX1" fmla="*/ 1059543 w 3652444"/>
              <a:gd name="connsiteY1" fmla="*/ 234854 h 1105712"/>
              <a:gd name="connsiteX2" fmla="*/ 2830286 w 3652444"/>
              <a:gd name="connsiteY2" fmla="*/ 539654 h 1105712"/>
              <a:gd name="connsiteX3" fmla="*/ 3652444 w 3652444"/>
              <a:gd name="connsiteY3" fmla="*/ 0 h 1105712"/>
            </a:gdLst>
            <a:ahLst/>
            <a:cxnLst>
              <a:cxn ang="0">
                <a:pos x="connsiteX0" y="connsiteY0"/>
              </a:cxn>
              <a:cxn ang="0">
                <a:pos x="connsiteX1" y="connsiteY1"/>
              </a:cxn>
              <a:cxn ang="0">
                <a:pos x="connsiteX2" y="connsiteY2"/>
              </a:cxn>
              <a:cxn ang="0">
                <a:pos x="connsiteX3" y="connsiteY3"/>
              </a:cxn>
            </a:cxnLst>
            <a:rect l="l" t="t" r="r" b="b"/>
            <a:pathLst>
              <a:path w="3652444" h="1105712">
                <a:moveTo>
                  <a:pt x="0" y="1105712"/>
                </a:moveTo>
                <a:cubicBezTo>
                  <a:pt x="293914" y="717454"/>
                  <a:pt x="587829" y="329197"/>
                  <a:pt x="1059543" y="234854"/>
                </a:cubicBezTo>
                <a:cubicBezTo>
                  <a:pt x="1531257" y="140511"/>
                  <a:pt x="2398136" y="578796"/>
                  <a:pt x="2830286" y="539654"/>
                </a:cubicBezTo>
                <a:cubicBezTo>
                  <a:pt x="3262436" y="500512"/>
                  <a:pt x="3446825" y="162076"/>
                  <a:pt x="3652444" y="0"/>
                </a:cubicBezTo>
              </a:path>
            </a:pathLst>
          </a:custGeom>
          <a:ln w="31750">
            <a:solidFill>
              <a:srgbClr val="CD0303"/>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1800"/>
          </a:p>
        </p:txBody>
      </p:sp>
      <p:sp>
        <p:nvSpPr>
          <p:cNvPr id="6" name="Oval 20"/>
          <p:cNvSpPr>
            <a:spLocks noChangeArrowheads="1"/>
          </p:cNvSpPr>
          <p:nvPr/>
        </p:nvSpPr>
        <p:spPr bwMode="auto">
          <a:xfrm>
            <a:off x="5430838" y="3455988"/>
            <a:ext cx="1957387" cy="1917700"/>
          </a:xfrm>
          <a:prstGeom prst="ellipse">
            <a:avLst/>
          </a:prstGeom>
          <a:solidFill>
            <a:srgbClr val="B8FB75"/>
          </a:solidFill>
          <a:ln w="9525">
            <a:solidFill>
              <a:srgbClr val="000000"/>
            </a:solidFill>
            <a:round/>
            <a:headEnd/>
            <a:tailEnd/>
          </a:ln>
        </p:spPr>
        <p:txBody>
          <a:bodyPr/>
          <a:lstStyle/>
          <a:p>
            <a:endParaRPr lang="en-US" sz="1800"/>
          </a:p>
        </p:txBody>
      </p:sp>
      <p:sp>
        <p:nvSpPr>
          <p:cNvPr id="7" name="Freeform 21"/>
          <p:cNvSpPr>
            <a:spLocks/>
          </p:cNvSpPr>
          <p:nvPr/>
        </p:nvSpPr>
        <p:spPr bwMode="auto">
          <a:xfrm>
            <a:off x="6357938" y="4414838"/>
            <a:ext cx="755650" cy="261937"/>
          </a:xfrm>
          <a:custGeom>
            <a:avLst/>
            <a:gdLst>
              <a:gd name="T0" fmla="*/ 0 w 832"/>
              <a:gd name="T1" fmla="*/ 0 h 295"/>
              <a:gd name="T2" fmla="*/ 2147483647 w 832"/>
              <a:gd name="T3" fmla="*/ 2147483647 h 295"/>
              <a:gd name="T4" fmla="*/ 0 60000 65536"/>
              <a:gd name="T5" fmla="*/ 0 60000 65536"/>
              <a:gd name="T6" fmla="*/ 0 w 832"/>
              <a:gd name="T7" fmla="*/ 0 h 295"/>
              <a:gd name="T8" fmla="*/ 832 w 832"/>
              <a:gd name="T9" fmla="*/ 295 h 295"/>
            </a:gdLst>
            <a:ahLst/>
            <a:cxnLst>
              <a:cxn ang="T4">
                <a:pos x="T0" y="T1"/>
              </a:cxn>
              <a:cxn ang="T5">
                <a:pos x="T2" y="T3"/>
              </a:cxn>
            </a:cxnLst>
            <a:rect l="T6" t="T7" r="T8" b="T9"/>
            <a:pathLst>
              <a:path w="832" h="295">
                <a:moveTo>
                  <a:pt x="0" y="0"/>
                </a:moveTo>
                <a:lnTo>
                  <a:pt x="832" y="295"/>
                </a:lnTo>
              </a:path>
            </a:pathLst>
          </a:custGeom>
          <a:noFill/>
          <a:ln w="2222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 name="Freeform 22"/>
          <p:cNvSpPr>
            <a:spLocks/>
          </p:cNvSpPr>
          <p:nvPr/>
        </p:nvSpPr>
        <p:spPr bwMode="auto">
          <a:xfrm>
            <a:off x="6342063" y="3498850"/>
            <a:ext cx="315912" cy="906463"/>
          </a:xfrm>
          <a:custGeom>
            <a:avLst/>
            <a:gdLst>
              <a:gd name="T0" fmla="*/ 2147483647 w 346"/>
              <a:gd name="T1" fmla="*/ 0 h 1022"/>
              <a:gd name="T2" fmla="*/ 0 w 346"/>
              <a:gd name="T3" fmla="*/ 2147483647 h 1022"/>
              <a:gd name="T4" fmla="*/ 0 60000 65536"/>
              <a:gd name="T5" fmla="*/ 0 60000 65536"/>
              <a:gd name="T6" fmla="*/ 0 w 346"/>
              <a:gd name="T7" fmla="*/ 0 h 1022"/>
              <a:gd name="T8" fmla="*/ 346 w 346"/>
              <a:gd name="T9" fmla="*/ 1022 h 1022"/>
            </a:gdLst>
            <a:ahLst/>
            <a:cxnLst>
              <a:cxn ang="T4">
                <a:pos x="T0" y="T1"/>
              </a:cxn>
              <a:cxn ang="T5">
                <a:pos x="T2" y="T3"/>
              </a:cxn>
            </a:cxnLst>
            <a:rect l="T6" t="T7" r="T8" b="T9"/>
            <a:pathLst>
              <a:path w="346" h="1022">
                <a:moveTo>
                  <a:pt x="346" y="0"/>
                </a:moveTo>
                <a:lnTo>
                  <a:pt x="0" y="1022"/>
                </a:lnTo>
              </a:path>
            </a:pathLst>
          </a:custGeom>
          <a:noFill/>
          <a:ln w="222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 name="Text Box 23"/>
          <p:cNvSpPr txBox="1">
            <a:spLocks noChangeArrowheads="1"/>
          </p:cNvSpPr>
          <p:nvPr/>
        </p:nvSpPr>
        <p:spPr bwMode="auto">
          <a:xfrm>
            <a:off x="6443663" y="3101975"/>
            <a:ext cx="4905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r>
              <a:rPr lang="en-US" sz="2000">
                <a:latin typeface="Times New Roman" pitchFamily="18" charset="0"/>
                <a:cs typeface="Times New Roman" pitchFamily="18" charset="0"/>
              </a:rPr>
              <a:t>M</a:t>
            </a:r>
          </a:p>
        </p:txBody>
      </p:sp>
      <p:sp>
        <p:nvSpPr>
          <p:cNvPr id="11272" name="Text Box 26"/>
          <p:cNvSpPr txBox="1">
            <a:spLocks noChangeArrowheads="1"/>
          </p:cNvSpPr>
          <p:nvPr/>
        </p:nvSpPr>
        <p:spPr bwMode="auto">
          <a:xfrm>
            <a:off x="5907088" y="425608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endParaRPr lang="en-US" sz="1800"/>
          </a:p>
        </p:txBody>
      </p:sp>
      <p:sp>
        <p:nvSpPr>
          <p:cNvPr id="12" name="Line 28"/>
          <p:cNvSpPr>
            <a:spLocks noChangeShapeType="1"/>
          </p:cNvSpPr>
          <p:nvPr/>
        </p:nvSpPr>
        <p:spPr bwMode="auto">
          <a:xfrm>
            <a:off x="6672263" y="3484563"/>
            <a:ext cx="815975" cy="320675"/>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 name="Freeform 29"/>
          <p:cNvSpPr>
            <a:spLocks/>
          </p:cNvSpPr>
          <p:nvPr/>
        </p:nvSpPr>
        <p:spPr bwMode="auto">
          <a:xfrm>
            <a:off x="7121525" y="3775075"/>
            <a:ext cx="312738" cy="908050"/>
          </a:xfrm>
          <a:custGeom>
            <a:avLst/>
            <a:gdLst>
              <a:gd name="T0" fmla="*/ 2147483647 w 346"/>
              <a:gd name="T1" fmla="*/ 0 h 1022"/>
              <a:gd name="T2" fmla="*/ 0 w 346"/>
              <a:gd name="T3" fmla="*/ 2147483647 h 1022"/>
              <a:gd name="T4" fmla="*/ 0 60000 65536"/>
              <a:gd name="T5" fmla="*/ 0 60000 65536"/>
              <a:gd name="T6" fmla="*/ 0 w 346"/>
              <a:gd name="T7" fmla="*/ 0 h 1022"/>
              <a:gd name="T8" fmla="*/ 346 w 346"/>
              <a:gd name="T9" fmla="*/ 1022 h 1022"/>
            </a:gdLst>
            <a:ahLst/>
            <a:cxnLst>
              <a:cxn ang="T4">
                <a:pos x="T0" y="T1"/>
              </a:cxn>
              <a:cxn ang="T5">
                <a:pos x="T2" y="T3"/>
              </a:cxn>
            </a:cxnLst>
            <a:rect l="T6" t="T7" r="T8" b="T9"/>
            <a:pathLst>
              <a:path w="346" h="1022">
                <a:moveTo>
                  <a:pt x="346" y="0"/>
                </a:moveTo>
                <a:lnTo>
                  <a:pt x="0" y="1022"/>
                </a:lnTo>
              </a:path>
            </a:pathLst>
          </a:custGeom>
          <a:noFill/>
          <a:ln w="2222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Freeform 30"/>
          <p:cNvSpPr>
            <a:spLocks/>
          </p:cNvSpPr>
          <p:nvPr/>
        </p:nvSpPr>
        <p:spPr bwMode="auto">
          <a:xfrm>
            <a:off x="6675438" y="3470275"/>
            <a:ext cx="438150" cy="1206500"/>
          </a:xfrm>
          <a:custGeom>
            <a:avLst/>
            <a:gdLst>
              <a:gd name="T0" fmla="*/ 0 w 484"/>
              <a:gd name="T1" fmla="*/ 0 h 1359"/>
              <a:gd name="T2" fmla="*/ 2147483647 w 484"/>
              <a:gd name="T3" fmla="*/ 2147483647 h 1359"/>
              <a:gd name="T4" fmla="*/ 0 60000 65536"/>
              <a:gd name="T5" fmla="*/ 0 60000 65536"/>
              <a:gd name="T6" fmla="*/ 0 w 484"/>
              <a:gd name="T7" fmla="*/ 0 h 1359"/>
              <a:gd name="T8" fmla="*/ 484 w 484"/>
              <a:gd name="T9" fmla="*/ 1359 h 1359"/>
            </a:gdLst>
            <a:ahLst/>
            <a:cxnLst>
              <a:cxn ang="T4">
                <a:pos x="T0" y="T1"/>
              </a:cxn>
              <a:cxn ang="T5">
                <a:pos x="T2" y="T3"/>
              </a:cxn>
            </a:cxnLst>
            <a:rect l="T6" t="T7" r="T8" b="T9"/>
            <a:pathLst>
              <a:path w="484" h="1359">
                <a:moveTo>
                  <a:pt x="0" y="0"/>
                </a:moveTo>
                <a:lnTo>
                  <a:pt x="484" y="1359"/>
                </a:lnTo>
              </a:path>
            </a:pathLst>
          </a:custGeom>
          <a:noFill/>
          <a:ln w="222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aphicFrame>
        <p:nvGraphicFramePr>
          <p:cNvPr id="16" name="Object 5"/>
          <p:cNvGraphicFramePr>
            <a:graphicFrameLocks noChangeAspect="1"/>
          </p:cNvGraphicFramePr>
          <p:nvPr/>
        </p:nvGraphicFramePr>
        <p:xfrm>
          <a:off x="6019800" y="3733800"/>
          <a:ext cx="401638" cy="609600"/>
        </p:xfrm>
        <a:graphic>
          <a:graphicData uri="http://schemas.openxmlformats.org/presentationml/2006/ole">
            <mc:AlternateContent xmlns:mc="http://schemas.openxmlformats.org/markup-compatibility/2006">
              <mc:Choice xmlns:v="urn:schemas-microsoft-com:vml" Requires="v">
                <p:oleObj name="Equation" r:id="rId3" imgW="203024" imgH="266469" progId="Equation.3">
                  <p:embed/>
                </p:oleObj>
              </mc:Choice>
              <mc:Fallback>
                <p:oleObj name="Equation" r:id="rId3" imgW="203024" imgH="26646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3733800"/>
                        <a:ext cx="4016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6"/>
          <p:cNvGraphicFramePr>
            <a:graphicFrameLocks noChangeAspect="1"/>
          </p:cNvGraphicFramePr>
          <p:nvPr/>
        </p:nvGraphicFramePr>
        <p:xfrm>
          <a:off x="7162800" y="3143250"/>
          <a:ext cx="374650" cy="558800"/>
        </p:xfrm>
        <a:graphic>
          <a:graphicData uri="http://schemas.openxmlformats.org/presentationml/2006/ole">
            <mc:AlternateContent xmlns:mc="http://schemas.openxmlformats.org/markup-compatibility/2006">
              <mc:Choice xmlns:v="urn:schemas-microsoft-com:vml" Requires="v">
                <p:oleObj name="Equation" r:id="rId5" imgW="177569" imgH="266353" progId="Equation.3">
                  <p:embed/>
                </p:oleObj>
              </mc:Choice>
              <mc:Fallback>
                <p:oleObj name="Equation" r:id="rId5" imgW="177569" imgH="26635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2800" y="3143250"/>
                        <a:ext cx="3746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7"/>
          <p:cNvGraphicFramePr>
            <a:graphicFrameLocks noChangeAspect="1"/>
          </p:cNvGraphicFramePr>
          <p:nvPr/>
        </p:nvGraphicFramePr>
        <p:xfrm>
          <a:off x="6553200" y="4006850"/>
          <a:ext cx="466725" cy="536575"/>
        </p:xfrm>
        <a:graphic>
          <a:graphicData uri="http://schemas.openxmlformats.org/presentationml/2006/ole">
            <mc:AlternateContent xmlns:mc="http://schemas.openxmlformats.org/markup-compatibility/2006">
              <mc:Choice xmlns:v="urn:schemas-microsoft-com:vml" Requires="v">
                <p:oleObj name="Equation" r:id="rId7" imgW="126890" imgH="228402" progId="Equation.3">
                  <p:embed/>
                </p:oleObj>
              </mc:Choice>
              <mc:Fallback>
                <p:oleObj name="Equation" r:id="rId7" imgW="126890" imgH="228402"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53200" y="4006850"/>
                        <a:ext cx="46672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9" name="Straight Arrow Connector 18"/>
          <p:cNvCxnSpPr/>
          <p:nvPr/>
        </p:nvCxnSpPr>
        <p:spPr>
          <a:xfrm>
            <a:off x="8429625" y="4586288"/>
            <a:ext cx="76200" cy="1587"/>
          </a:xfrm>
          <a:prstGeom prst="straightConnector1">
            <a:avLst/>
          </a:prstGeom>
          <a:ln w="34925">
            <a:solidFill>
              <a:srgbClr val="C00000"/>
            </a:solidFill>
            <a:tailEnd type="arrow" w="lg" len="lg"/>
          </a:ln>
        </p:spPr>
        <p:style>
          <a:lnRef idx="1">
            <a:schemeClr val="accent1"/>
          </a:lnRef>
          <a:fillRef idx="0">
            <a:schemeClr val="accent1"/>
          </a:fillRef>
          <a:effectRef idx="0">
            <a:schemeClr val="accent1"/>
          </a:effectRef>
          <a:fontRef idx="minor">
            <a:schemeClr val="tx1"/>
          </a:fontRef>
        </p:style>
      </p:cxnSp>
      <p:sp>
        <p:nvSpPr>
          <p:cNvPr id="21" name="Text Box 12"/>
          <p:cNvSpPr txBox="1">
            <a:spLocks noChangeArrowheads="1"/>
          </p:cNvSpPr>
          <p:nvPr/>
        </p:nvSpPr>
        <p:spPr bwMode="auto">
          <a:xfrm>
            <a:off x="455442" y="990600"/>
            <a:ext cx="5105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buClr>
                <a:schemeClr val="hlink"/>
              </a:buClr>
              <a:buFont typeface="Wingdings" pitchFamily="2" charset="2"/>
              <a:buChar char="q"/>
            </a:pPr>
            <a:r>
              <a:rPr lang="en-US" sz="2800" b="1" dirty="0">
                <a:latin typeface="Times New Roman" pitchFamily="18" charset="0"/>
                <a:cs typeface="Times New Roman" pitchFamily="18" charset="0"/>
              </a:rPr>
              <a:t> Lực trong chuyển động cong</a:t>
            </a:r>
          </a:p>
        </p:txBody>
      </p:sp>
      <p:sp>
        <p:nvSpPr>
          <p:cNvPr id="25" name="Line 28"/>
          <p:cNvSpPr>
            <a:spLocks noChangeShapeType="1"/>
          </p:cNvSpPr>
          <p:nvPr/>
        </p:nvSpPr>
        <p:spPr bwMode="auto">
          <a:xfrm>
            <a:off x="6691313" y="3487738"/>
            <a:ext cx="1233487" cy="47466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 name="Freeform 22"/>
          <p:cNvSpPr>
            <a:spLocks/>
          </p:cNvSpPr>
          <p:nvPr/>
        </p:nvSpPr>
        <p:spPr bwMode="auto">
          <a:xfrm rot="181379">
            <a:off x="6172200" y="3473450"/>
            <a:ext cx="468313" cy="1524000"/>
          </a:xfrm>
          <a:custGeom>
            <a:avLst/>
            <a:gdLst>
              <a:gd name="T0" fmla="*/ 2147483647 w 346"/>
              <a:gd name="T1" fmla="*/ 0 h 1022"/>
              <a:gd name="T2" fmla="*/ 0 w 346"/>
              <a:gd name="T3" fmla="*/ 2147483647 h 1022"/>
              <a:gd name="T4" fmla="*/ 0 60000 65536"/>
              <a:gd name="T5" fmla="*/ 0 60000 65536"/>
              <a:gd name="T6" fmla="*/ 0 w 346"/>
              <a:gd name="T7" fmla="*/ 0 h 1022"/>
              <a:gd name="T8" fmla="*/ 346 w 346"/>
              <a:gd name="T9" fmla="*/ 1022 h 1022"/>
            </a:gdLst>
            <a:ahLst/>
            <a:cxnLst>
              <a:cxn ang="T4">
                <a:pos x="T0" y="T1"/>
              </a:cxn>
              <a:cxn ang="T5">
                <a:pos x="T2" y="T3"/>
              </a:cxn>
            </a:cxnLst>
            <a:rect l="T6" t="T7" r="T8" b="T9"/>
            <a:pathLst>
              <a:path w="346" h="1022">
                <a:moveTo>
                  <a:pt x="346" y="0"/>
                </a:moveTo>
                <a:lnTo>
                  <a:pt x="0" y="1022"/>
                </a:ln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29" name="Straight Connector 28"/>
          <p:cNvCxnSpPr/>
          <p:nvPr/>
        </p:nvCxnSpPr>
        <p:spPr>
          <a:xfrm rot="16200000" flipH="1" flipV="1">
            <a:off x="6919913" y="4402138"/>
            <a:ext cx="1447800" cy="53340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6129338" y="4964113"/>
            <a:ext cx="1247775" cy="415925"/>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2" name="Freeform 30"/>
          <p:cNvSpPr>
            <a:spLocks/>
          </p:cNvSpPr>
          <p:nvPr/>
        </p:nvSpPr>
        <p:spPr bwMode="auto">
          <a:xfrm>
            <a:off x="6705600" y="3549650"/>
            <a:ext cx="685800" cy="1828800"/>
          </a:xfrm>
          <a:custGeom>
            <a:avLst/>
            <a:gdLst>
              <a:gd name="T0" fmla="*/ 0 w 484"/>
              <a:gd name="T1" fmla="*/ 0 h 1359"/>
              <a:gd name="T2" fmla="*/ 2147483647 w 484"/>
              <a:gd name="T3" fmla="*/ 2147483647 h 1359"/>
              <a:gd name="T4" fmla="*/ 0 60000 65536"/>
              <a:gd name="T5" fmla="*/ 0 60000 65536"/>
              <a:gd name="T6" fmla="*/ 0 w 484"/>
              <a:gd name="T7" fmla="*/ 0 h 1359"/>
              <a:gd name="T8" fmla="*/ 484 w 484"/>
              <a:gd name="T9" fmla="*/ 1359 h 1359"/>
            </a:gdLst>
            <a:ahLst/>
            <a:cxnLst>
              <a:cxn ang="T4">
                <a:pos x="T0" y="T1"/>
              </a:cxn>
              <a:cxn ang="T5">
                <a:pos x="T2" y="T3"/>
              </a:cxn>
            </a:cxnLst>
            <a:rect l="T6" t="T7" r="T8" b="T9"/>
            <a:pathLst>
              <a:path w="484" h="1359">
                <a:moveTo>
                  <a:pt x="0" y="0"/>
                </a:moveTo>
                <a:lnTo>
                  <a:pt x="484" y="1359"/>
                </a:lnTo>
              </a:path>
            </a:pathLst>
          </a:custGeom>
          <a:noFill/>
          <a:ln w="2222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 name="Text Box 6"/>
          <p:cNvSpPr txBox="1">
            <a:spLocks noChangeArrowheads="1"/>
          </p:cNvSpPr>
          <p:nvPr/>
        </p:nvSpPr>
        <p:spPr bwMode="auto">
          <a:xfrm>
            <a:off x="838200" y="5410200"/>
            <a:ext cx="2743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buClr>
                <a:schemeClr val="hlink"/>
              </a:buClr>
            </a:pPr>
            <a:r>
              <a:rPr lang="en-US" sz="2800" dirty="0">
                <a:latin typeface="Times New Roman" pitchFamily="18" charset="0"/>
                <a:cs typeface="Times New Roman" pitchFamily="18" charset="0"/>
              </a:rPr>
              <a:t> : Lực tiếp tuyến </a:t>
            </a:r>
          </a:p>
        </p:txBody>
      </p:sp>
      <p:sp>
        <p:nvSpPr>
          <p:cNvPr id="36" name="Text Box 6"/>
          <p:cNvSpPr txBox="1">
            <a:spLocks noChangeArrowheads="1"/>
          </p:cNvSpPr>
          <p:nvPr/>
        </p:nvSpPr>
        <p:spPr bwMode="auto">
          <a:xfrm>
            <a:off x="838200" y="6029325"/>
            <a:ext cx="2895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buClr>
                <a:schemeClr val="hlink"/>
              </a:buClr>
            </a:pPr>
            <a:r>
              <a:rPr lang="en-US" sz="2800" dirty="0">
                <a:latin typeface="Times New Roman" pitchFamily="18" charset="0"/>
                <a:cs typeface="Times New Roman" pitchFamily="18" charset="0"/>
              </a:rPr>
              <a:t> : Lực pháp tuyến </a:t>
            </a:r>
          </a:p>
        </p:txBody>
      </p:sp>
      <p:graphicFrame>
        <p:nvGraphicFramePr>
          <p:cNvPr id="10" name="Object 31"/>
          <p:cNvGraphicFramePr>
            <a:graphicFrameLocks noChangeAspect="1"/>
          </p:cNvGraphicFramePr>
          <p:nvPr/>
        </p:nvGraphicFramePr>
        <p:xfrm>
          <a:off x="533400" y="5257800"/>
          <a:ext cx="430213" cy="685800"/>
        </p:xfrm>
        <a:graphic>
          <a:graphicData uri="http://schemas.openxmlformats.org/presentationml/2006/ole">
            <mc:AlternateContent xmlns:mc="http://schemas.openxmlformats.org/markup-compatibility/2006">
              <mc:Choice xmlns:v="urn:schemas-microsoft-com:vml" Requires="v">
                <p:oleObj name="Equation" r:id="rId9" imgW="0" imgH="95385" progId="Equation.DSMT4">
                  <p:embed/>
                </p:oleObj>
              </mc:Choice>
              <mc:Fallback>
                <p:oleObj name="Equation" r:id="rId9" imgW="0" imgH="95385"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 y="5257800"/>
                        <a:ext cx="4302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32"/>
          <p:cNvGraphicFramePr>
            <a:graphicFrameLocks noChangeAspect="1"/>
          </p:cNvGraphicFramePr>
          <p:nvPr>
            <p:extLst>
              <p:ext uri="{D42A27DB-BD31-4B8C-83A1-F6EECF244321}">
                <p14:modId xmlns:p14="http://schemas.microsoft.com/office/powerpoint/2010/main" val="319067380"/>
              </p:ext>
            </p:extLst>
          </p:nvPr>
        </p:nvGraphicFramePr>
        <p:xfrm>
          <a:off x="503115" y="3805238"/>
          <a:ext cx="3824287" cy="1038225"/>
        </p:xfrm>
        <a:graphic>
          <a:graphicData uri="http://schemas.openxmlformats.org/presentationml/2006/ole">
            <mc:AlternateContent xmlns:mc="http://schemas.openxmlformats.org/markup-compatibility/2006">
              <mc:Choice xmlns:v="urn:schemas-microsoft-com:vml" Requires="v">
                <p:oleObj name="Equation" r:id="rId11" imgW="1371600" imgH="419100" progId="Equation.DSMT4">
                  <p:embed/>
                </p:oleObj>
              </mc:Choice>
              <mc:Fallback>
                <p:oleObj name="Equation" r:id="rId11" imgW="1371600" imgH="4191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3115" y="3805238"/>
                        <a:ext cx="3824287" cy="1038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 name="Rounded Rectangle 37"/>
          <p:cNvSpPr>
            <a:spLocks noChangeArrowheads="1"/>
          </p:cNvSpPr>
          <p:nvPr/>
        </p:nvSpPr>
        <p:spPr bwMode="auto">
          <a:xfrm>
            <a:off x="381000" y="3808367"/>
            <a:ext cx="4267200" cy="1143000"/>
          </a:xfrm>
          <a:prstGeom prst="roundRect">
            <a:avLst>
              <a:gd name="adj" fmla="val 16667"/>
            </a:avLst>
          </a:prstGeom>
          <a:noFill/>
          <a:ln w="38100" algn="ctr">
            <a:solidFill>
              <a:srgbClr val="FF0000"/>
            </a:solidFill>
            <a:round/>
            <a:headEnd/>
            <a:tailEnd/>
          </a:ln>
          <a:effectLst>
            <a:glow rad="139700">
              <a:schemeClr val="accent2">
                <a:satMod val="175000"/>
                <a:alpha val="40000"/>
              </a:schemeClr>
            </a:glow>
            <a:outerShdw dist="38100" algn="l" rotWithShape="0">
              <a:srgbClr val="000000">
                <a:alpha val="39999"/>
              </a:srgbClr>
            </a:outerShdw>
          </a:effectLst>
        </p:spPr>
        <p:txBody>
          <a:bodyPr anchor="ctr"/>
          <a:lstStyle/>
          <a:p>
            <a:pPr algn="ctr">
              <a:defRPr/>
            </a:pPr>
            <a:endParaRPr lang="vi-VN" sz="2400">
              <a:solidFill>
                <a:schemeClr val="lt1"/>
              </a:solidFill>
              <a:latin typeface="Times New Roman" pitchFamily="18" charset="0"/>
              <a:cs typeface="Times New Roman" pitchFamily="18" charset="0"/>
            </a:endParaRPr>
          </a:p>
        </p:txBody>
      </p:sp>
      <p:graphicFrame>
        <p:nvGraphicFramePr>
          <p:cNvPr id="20" name="Object 52"/>
          <p:cNvGraphicFramePr>
            <a:graphicFrameLocks noChangeAspect="1"/>
          </p:cNvGraphicFramePr>
          <p:nvPr/>
        </p:nvGraphicFramePr>
        <p:xfrm>
          <a:off x="7861300" y="3441700"/>
          <a:ext cx="347663" cy="531813"/>
        </p:xfrm>
        <a:graphic>
          <a:graphicData uri="http://schemas.openxmlformats.org/presentationml/2006/ole">
            <mc:AlternateContent xmlns:mc="http://schemas.openxmlformats.org/markup-compatibility/2006">
              <mc:Choice xmlns:v="urn:schemas-microsoft-com:vml" Requires="v">
                <p:oleObj name="Equation" r:id="rId13" imgW="164957" imgH="253780" progId="Equation.DSMT4">
                  <p:embed/>
                </p:oleObj>
              </mc:Choice>
              <mc:Fallback>
                <p:oleObj name="Equation" r:id="rId13" imgW="164957" imgH="25378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861300" y="3441700"/>
                        <a:ext cx="347663"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53"/>
          <p:cNvGraphicFramePr>
            <a:graphicFrameLocks noChangeAspect="1"/>
          </p:cNvGraphicFramePr>
          <p:nvPr/>
        </p:nvGraphicFramePr>
        <p:xfrm>
          <a:off x="5738813" y="4357688"/>
          <a:ext cx="352425" cy="579437"/>
        </p:xfrm>
        <a:graphic>
          <a:graphicData uri="http://schemas.openxmlformats.org/presentationml/2006/ole">
            <mc:AlternateContent xmlns:mc="http://schemas.openxmlformats.org/markup-compatibility/2006">
              <mc:Choice xmlns:v="urn:schemas-microsoft-com:vml" Requires="v">
                <p:oleObj name="Equation" r:id="rId15" imgW="177569" imgH="253670" progId="Equation.DSMT4">
                  <p:embed/>
                </p:oleObj>
              </mc:Choice>
              <mc:Fallback>
                <p:oleObj name="Equation" r:id="rId15" imgW="177569" imgH="25367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38813" y="4357688"/>
                        <a:ext cx="3524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54"/>
          <p:cNvGraphicFramePr>
            <a:graphicFrameLocks noChangeAspect="1"/>
          </p:cNvGraphicFramePr>
          <p:nvPr/>
        </p:nvGraphicFramePr>
        <p:xfrm>
          <a:off x="7507288" y="5081588"/>
          <a:ext cx="268287" cy="425450"/>
        </p:xfrm>
        <a:graphic>
          <a:graphicData uri="http://schemas.openxmlformats.org/presentationml/2006/ole">
            <mc:AlternateContent xmlns:mc="http://schemas.openxmlformats.org/markup-compatibility/2006">
              <mc:Choice xmlns:v="urn:schemas-microsoft-com:vml" Requires="v">
                <p:oleObj name="Equation" r:id="rId17" imgW="126835" imgH="202936" progId="Equation.DSMT4">
                  <p:embed/>
                </p:oleObj>
              </mc:Choice>
              <mc:Fallback>
                <p:oleObj name="Equation" r:id="rId17" imgW="126835" imgH="202936"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507288" y="5081588"/>
                        <a:ext cx="268287"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Rectangle 23"/>
          <p:cNvSpPr>
            <a:spLocks noRot="1" noChangeAspect="1" noMove="1" noResize="1" noEditPoints="1" noAdjustHandles="1" noChangeArrowheads="1" noChangeShapeType="1" noTextEdit="1"/>
          </p:cNvSpPr>
          <p:nvPr/>
        </p:nvSpPr>
        <p:spPr>
          <a:xfrm>
            <a:off x="455442" y="5425952"/>
            <a:ext cx="381000" cy="542925"/>
          </a:xfrm>
          <a:prstGeom prst="rect">
            <a:avLst/>
          </a:prstGeom>
          <a:blipFill rotWithShape="1">
            <a:blip r:embed="rId19"/>
            <a:stretch>
              <a:fillRect l="-16129"/>
            </a:stretch>
          </a:blipFill>
          <a:ln>
            <a:noFill/>
          </a:ln>
        </p:spPr>
        <p:txBody>
          <a:bodyPr/>
          <a:lstStyle/>
          <a:p>
            <a:pPr>
              <a:defRPr/>
            </a:pPr>
            <a:r>
              <a:rPr lang="en-US">
                <a:noFill/>
              </a:rPr>
              <a:t> </a:t>
            </a:r>
          </a:p>
        </p:txBody>
      </p:sp>
      <p:sp>
        <p:nvSpPr>
          <p:cNvPr id="51" name="Rectangle 50"/>
          <p:cNvSpPr>
            <a:spLocks noRot="1" noChangeAspect="1" noMove="1" noResize="1" noEditPoints="1" noAdjustHandles="1" noChangeArrowheads="1" noChangeShapeType="1" noTextEdit="1"/>
          </p:cNvSpPr>
          <p:nvPr/>
        </p:nvSpPr>
        <p:spPr>
          <a:xfrm>
            <a:off x="423203" y="6029325"/>
            <a:ext cx="381000" cy="542925"/>
          </a:xfrm>
          <a:prstGeom prst="rect">
            <a:avLst/>
          </a:prstGeom>
          <a:blipFill rotWithShape="1">
            <a:blip r:embed="rId20"/>
            <a:stretch>
              <a:fillRect l="-15873"/>
            </a:stretch>
          </a:blipFill>
          <a:ln>
            <a:noFill/>
          </a:ln>
        </p:spPr>
        <p:txBody>
          <a:bodyPr/>
          <a:lstStyle/>
          <a:p>
            <a:pPr>
              <a:defRPr/>
            </a:pPr>
            <a:r>
              <a:rPr lang="en-US">
                <a:noFill/>
              </a:rPr>
              <a:t> </a:t>
            </a:r>
          </a:p>
        </p:txBody>
      </p:sp>
      <mc:AlternateContent xmlns:mc="http://schemas.openxmlformats.org/markup-compatibility/2006" xmlns:a14="http://schemas.microsoft.com/office/drawing/2010/main">
        <mc:Choice Requires="a14">
          <p:sp>
            <p:nvSpPr>
              <p:cNvPr id="50" name="Text Box 12"/>
              <p:cNvSpPr txBox="1">
                <a:spLocks noChangeArrowheads="1"/>
              </p:cNvSpPr>
              <p:nvPr/>
            </p:nvSpPr>
            <p:spPr bwMode="auto">
              <a:xfrm>
                <a:off x="607842" y="2057400"/>
                <a:ext cx="3354558" cy="55393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buClr>
                    <a:schemeClr val="hlink"/>
                  </a:buClr>
                </a:pPr>
                <a14:m>
                  <m:oMath xmlns:m="http://schemas.openxmlformats.org/officeDocument/2006/math">
                    <m:acc>
                      <m:accPr>
                        <m:chr m:val="⃗"/>
                        <m:ctrlPr>
                          <a:rPr lang="en-US" sz="2800" b="1" i="1" smtClean="0">
                            <a:latin typeface="Cambria Math" panose="02040503050406030204" pitchFamily="18" charset="0"/>
                            <a:cs typeface="Times New Roman" pitchFamily="18" charset="0"/>
                          </a:rPr>
                        </m:ctrlPr>
                      </m:accPr>
                      <m:e>
                        <m:r>
                          <a:rPr lang="en-US" sz="2800" b="1" i="1" smtClean="0">
                            <a:latin typeface="Cambria Math"/>
                            <a:cs typeface="Times New Roman" pitchFamily="18" charset="0"/>
                          </a:rPr>
                          <m:t>𝒂</m:t>
                        </m:r>
                      </m:e>
                    </m:acc>
                  </m:oMath>
                </a14:m>
                <a:r>
                  <a:rPr lang="en-US" sz="2800" b="1" dirty="0">
                    <a:latin typeface="Times New Roman" pitchFamily="18" charset="0"/>
                    <a:cs typeface="Times New Roman" pitchFamily="18" charset="0"/>
                  </a:rPr>
                  <a:t> </a:t>
                </a:r>
                <a:r>
                  <a:rPr lang="en-US" sz="2800" b="1">
                    <a:latin typeface="Times New Roman" pitchFamily="18" charset="0"/>
                    <a:cs typeface="Times New Roman" pitchFamily="18" charset="0"/>
                  </a:rPr>
                  <a:t>= </a:t>
                </a:r>
                <a14:m>
                  <m:oMath xmlns:m="http://schemas.openxmlformats.org/officeDocument/2006/math">
                    <m:acc>
                      <m:accPr>
                        <m:chr m:val="⃗"/>
                        <m:ctrlPr>
                          <a:rPr lang="en-US" sz="2800" b="1" i="1" smtClean="0">
                            <a:latin typeface="Cambria Math" panose="02040503050406030204" pitchFamily="18" charset="0"/>
                            <a:cs typeface="Times New Roman" pitchFamily="18" charset="0"/>
                          </a:rPr>
                        </m:ctrlPr>
                      </m:accPr>
                      <m:e>
                        <m:r>
                          <a:rPr lang="en-US" sz="2800" b="1" i="1" smtClean="0">
                            <a:latin typeface="Cambria Math"/>
                            <a:cs typeface="Times New Roman" pitchFamily="18" charset="0"/>
                          </a:rPr>
                          <m:t>𝒂𝒕</m:t>
                        </m:r>
                      </m:e>
                    </m:acc>
                  </m:oMath>
                </a14:m>
                <a:r>
                  <a:rPr lang="en-US" sz="2800" b="1" dirty="0">
                    <a:latin typeface="Times New Roman" pitchFamily="18" charset="0"/>
                    <a:cs typeface="Times New Roman" pitchFamily="18" charset="0"/>
                  </a:rPr>
                  <a:t> </a:t>
                </a:r>
                <a:r>
                  <a:rPr lang="en-US" sz="2800" b="1">
                    <a:latin typeface="Times New Roman" pitchFamily="18" charset="0"/>
                    <a:cs typeface="Times New Roman" pitchFamily="18" charset="0"/>
                  </a:rPr>
                  <a:t>+ </a:t>
                </a:r>
                <a14:m>
                  <m:oMath xmlns:m="http://schemas.openxmlformats.org/officeDocument/2006/math">
                    <m:acc>
                      <m:accPr>
                        <m:chr m:val="⃗"/>
                        <m:ctrlPr>
                          <a:rPr lang="en-US" sz="2800" b="1" i="1" smtClean="0">
                            <a:latin typeface="Cambria Math" panose="02040503050406030204" pitchFamily="18" charset="0"/>
                            <a:cs typeface="Times New Roman" pitchFamily="18" charset="0"/>
                          </a:rPr>
                        </m:ctrlPr>
                      </m:accPr>
                      <m:e>
                        <m:r>
                          <a:rPr lang="en-US" sz="2800" b="1" i="1" smtClean="0">
                            <a:latin typeface="Cambria Math"/>
                            <a:cs typeface="Times New Roman" pitchFamily="18" charset="0"/>
                          </a:rPr>
                          <m:t>𝒂𝒏</m:t>
                        </m:r>
                      </m:e>
                    </m:acc>
                  </m:oMath>
                </a14:m>
                <a:endParaRPr lang="en-US" sz="2800" b="1" dirty="0">
                  <a:latin typeface="Times New Roman" pitchFamily="18" charset="0"/>
                  <a:cs typeface="Times New Roman" pitchFamily="18" charset="0"/>
                </a:endParaRPr>
              </a:p>
            </p:txBody>
          </p:sp>
        </mc:Choice>
        <mc:Fallback xmlns="">
          <p:sp>
            <p:nvSpPr>
              <p:cNvPr id="50" name="Text Box 12"/>
              <p:cNvSpPr txBox="1">
                <a:spLocks noRot="1" noChangeAspect="1" noMove="1" noResize="1" noEditPoints="1" noAdjustHandles="1" noChangeArrowheads="1" noChangeShapeType="1" noTextEdit="1"/>
              </p:cNvSpPr>
              <p:nvPr/>
            </p:nvSpPr>
            <p:spPr bwMode="auto">
              <a:xfrm>
                <a:off x="607842" y="2057400"/>
                <a:ext cx="3354558" cy="553934"/>
              </a:xfrm>
              <a:prstGeom prst="rect">
                <a:avLst/>
              </a:prstGeom>
              <a:blipFill rotWithShape="1">
                <a:blip r:embed="rId22"/>
                <a:stretch>
                  <a:fillRect t="-5556" b="-30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12"/>
              <p:cNvSpPr txBox="1">
                <a:spLocks noChangeArrowheads="1"/>
              </p:cNvSpPr>
              <p:nvPr/>
            </p:nvSpPr>
            <p:spPr bwMode="auto">
              <a:xfrm>
                <a:off x="737980" y="2930629"/>
                <a:ext cx="3354558" cy="57547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buClr>
                    <a:schemeClr val="hlink"/>
                  </a:buClr>
                </a:pPr>
                <a14:m>
                  <m:oMath xmlns:m="http://schemas.openxmlformats.org/officeDocument/2006/math">
                    <m:acc>
                      <m:accPr>
                        <m:chr m:val="⃗"/>
                        <m:ctrlPr>
                          <a:rPr lang="en-US" sz="2800" b="1" i="1" smtClean="0">
                            <a:latin typeface="Cambria Math" panose="02040503050406030204" pitchFamily="18" charset="0"/>
                            <a:cs typeface="Times New Roman" pitchFamily="18" charset="0"/>
                          </a:rPr>
                        </m:ctrlPr>
                      </m:accPr>
                      <m:e>
                        <m:r>
                          <a:rPr lang="en-US" sz="2800" b="1" i="1" smtClean="0">
                            <a:latin typeface="Cambria Math"/>
                            <a:cs typeface="Times New Roman" pitchFamily="18" charset="0"/>
                          </a:rPr>
                          <m:t>𝑭</m:t>
                        </m:r>
                      </m:e>
                    </m:acc>
                  </m:oMath>
                </a14:m>
                <a:r>
                  <a:rPr lang="en-US" sz="2800" b="1" dirty="0">
                    <a:latin typeface="Times New Roman" pitchFamily="18" charset="0"/>
                    <a:cs typeface="Times New Roman" pitchFamily="18" charset="0"/>
                  </a:rPr>
                  <a:t> </a:t>
                </a:r>
                <a:r>
                  <a:rPr lang="en-US" sz="2800" b="1">
                    <a:latin typeface="Times New Roman" pitchFamily="18" charset="0"/>
                    <a:cs typeface="Times New Roman" pitchFamily="18" charset="0"/>
                  </a:rPr>
                  <a:t>= </a:t>
                </a:r>
                <a14:m>
                  <m:oMath xmlns:m="http://schemas.openxmlformats.org/officeDocument/2006/math">
                    <m:acc>
                      <m:accPr>
                        <m:chr m:val="⃗"/>
                        <m:ctrlPr>
                          <a:rPr lang="en-US" sz="2800" b="1" i="1" smtClean="0">
                            <a:latin typeface="Cambria Math" panose="02040503050406030204" pitchFamily="18" charset="0"/>
                            <a:cs typeface="Times New Roman" pitchFamily="18" charset="0"/>
                          </a:rPr>
                        </m:ctrlPr>
                      </m:accPr>
                      <m:e>
                        <m:r>
                          <a:rPr lang="en-US" sz="2800" b="1" i="1" smtClean="0">
                            <a:latin typeface="Cambria Math"/>
                            <a:cs typeface="Times New Roman" pitchFamily="18" charset="0"/>
                          </a:rPr>
                          <m:t>𝑭𝒕</m:t>
                        </m:r>
                      </m:e>
                    </m:acc>
                  </m:oMath>
                </a14:m>
                <a:r>
                  <a:rPr lang="en-US" sz="2800" b="1" dirty="0">
                    <a:latin typeface="Times New Roman" pitchFamily="18" charset="0"/>
                    <a:cs typeface="Times New Roman" pitchFamily="18" charset="0"/>
                  </a:rPr>
                  <a:t> </a:t>
                </a:r>
                <a:r>
                  <a:rPr lang="en-US" sz="2800" b="1">
                    <a:latin typeface="Times New Roman" pitchFamily="18" charset="0"/>
                    <a:cs typeface="Times New Roman" pitchFamily="18" charset="0"/>
                  </a:rPr>
                  <a:t>+ </a:t>
                </a:r>
                <a14:m>
                  <m:oMath xmlns:m="http://schemas.openxmlformats.org/officeDocument/2006/math">
                    <m:acc>
                      <m:accPr>
                        <m:chr m:val="⃗"/>
                        <m:ctrlPr>
                          <a:rPr lang="en-US" sz="2800" b="1" i="1" smtClean="0">
                            <a:latin typeface="Cambria Math" panose="02040503050406030204" pitchFamily="18" charset="0"/>
                            <a:cs typeface="Times New Roman" pitchFamily="18" charset="0"/>
                          </a:rPr>
                        </m:ctrlPr>
                      </m:accPr>
                      <m:e>
                        <m:r>
                          <a:rPr lang="en-US" sz="2800" b="1" i="1" smtClean="0">
                            <a:latin typeface="Cambria Math"/>
                            <a:cs typeface="Times New Roman" pitchFamily="18" charset="0"/>
                          </a:rPr>
                          <m:t>𝑭𝒏</m:t>
                        </m:r>
                      </m:e>
                    </m:acc>
                  </m:oMath>
                </a14:m>
                <a:endParaRPr lang="en-US" sz="2800" b="1" dirty="0">
                  <a:latin typeface="Times New Roman" pitchFamily="18" charset="0"/>
                  <a:cs typeface="Times New Roman" pitchFamily="18" charset="0"/>
                </a:endParaRPr>
              </a:p>
            </p:txBody>
          </p:sp>
        </mc:Choice>
        <mc:Fallback xmlns="">
          <p:sp>
            <p:nvSpPr>
              <p:cNvPr id="52" name="Text Box 12"/>
              <p:cNvSpPr txBox="1">
                <a:spLocks noRot="1" noChangeAspect="1" noMove="1" noResize="1" noEditPoints="1" noAdjustHandles="1" noChangeArrowheads="1" noChangeShapeType="1" noTextEdit="1"/>
              </p:cNvSpPr>
              <p:nvPr/>
            </p:nvSpPr>
            <p:spPr bwMode="auto">
              <a:xfrm>
                <a:off x="737980" y="2930629"/>
                <a:ext cx="3354558" cy="575479"/>
              </a:xfrm>
              <a:prstGeom prst="rect">
                <a:avLst/>
              </a:prstGeom>
              <a:blipFill rotWithShape="1">
                <a:blip r:embed="rId23"/>
                <a:stretch>
                  <a:fillRect t="-1064" b="-2978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762731C3-59EF-E3F6-3476-A303205C2E48}"/>
              </a:ext>
            </a:extLst>
          </p:cNvPr>
          <p:cNvSpPr>
            <a:spLocks noGrp="1"/>
          </p:cNvSpPr>
          <p:nvPr>
            <p:ph type="ftr" sz="quarter" idx="11"/>
          </p:nvPr>
        </p:nvSpPr>
        <p:spPr/>
        <p:txBody>
          <a:bodyPr/>
          <a:lstStyle/>
          <a:p>
            <a:r>
              <a:rPr lang="en-US"/>
              <a:t>Bùi Quốc Trung - VLDC</a:t>
            </a:r>
          </a:p>
        </p:txBody>
      </p:sp>
      <p:sp>
        <p:nvSpPr>
          <p:cNvPr id="3" name="Slide Number Placeholder 2">
            <a:extLst>
              <a:ext uri="{FF2B5EF4-FFF2-40B4-BE49-F238E27FC236}">
                <a16:creationId xmlns:a16="http://schemas.microsoft.com/office/drawing/2014/main" id="{A6C77344-026D-CBA7-D8C1-E5C4CF0C384D}"/>
              </a:ext>
            </a:extLst>
          </p:cNvPr>
          <p:cNvSpPr>
            <a:spLocks noGrp="1"/>
          </p:cNvSpPr>
          <p:nvPr>
            <p:ph type="sldNum" sz="quarter" idx="12"/>
          </p:nvPr>
        </p:nvSpPr>
        <p:spPr/>
        <p:txBody>
          <a:bodyPr/>
          <a:lstStyle/>
          <a:p>
            <a:fld id="{C4A94DE9-7404-4CC4-BDD8-EA2E97866C70}" type="slidenum">
              <a:rPr lang="en-US" smtClean="0"/>
              <a:t>12</a:t>
            </a:fld>
            <a:endParaRPr lang="en-US"/>
          </a:p>
        </p:txBody>
      </p:sp>
    </p:spTree>
    <p:extLst>
      <p:ext uri="{BB962C8B-B14F-4D97-AF65-F5344CB8AC3E}">
        <p14:creationId xmlns:p14="http://schemas.microsoft.com/office/powerpoint/2010/main" val="13121015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heckerboard(across)">
                                      <p:cBhvr>
                                        <p:cTn id="7" dur="500"/>
                                        <p:tgtEl>
                                          <p:spTgt spid="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amond(in)">
                                      <p:cBhvr>
                                        <p:cTn id="12" dur="1000"/>
                                        <p:tgtEl>
                                          <p:spTgt spid="19"/>
                                        </p:tgtEl>
                                      </p:cBhvr>
                                    </p:animEffect>
                                  </p:childTnLst>
                                </p:cTn>
                              </p:par>
                              <p:par>
                                <p:cTn id="13" presetID="8" presetClass="entr" presetSubtype="16"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amond(in)">
                                      <p:cBhvr>
                                        <p:cTn id="15" dur="1000"/>
                                        <p:tgtEl>
                                          <p:spTgt spid="5"/>
                                        </p:tgtEl>
                                      </p:cBhvr>
                                    </p:animEffect>
                                  </p:childTnLst>
                                </p:cTn>
                              </p:par>
                            </p:childTnLst>
                          </p:cTn>
                        </p:par>
                        <p:par>
                          <p:cTn id="16" fill="hold" nodeType="afterGroup">
                            <p:stCondLst>
                              <p:cond delay="1000"/>
                            </p:stCondLst>
                            <p:childTnLst>
                              <p:par>
                                <p:cTn id="17" presetID="8" presetClass="entr" presetSubtype="16"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amond(in)">
                                      <p:cBhvr>
                                        <p:cTn id="19" dur="1000"/>
                                        <p:tgtEl>
                                          <p:spTgt spid="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diamond(in)">
                                      <p:cBhvr>
                                        <p:cTn id="24" dur="1000"/>
                                        <p:tgtEl>
                                          <p:spTgt spid="8"/>
                                        </p:tgtEl>
                                      </p:cBhvr>
                                    </p:animEffect>
                                  </p:childTnLst>
                                </p:cTn>
                              </p:par>
                              <p:par>
                                <p:cTn id="25" presetID="8" presetClass="entr" presetSubtype="16"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diamond(in)">
                                      <p:cBhvr>
                                        <p:cTn id="27" dur="1000"/>
                                        <p:tgtEl>
                                          <p:spTgt spid="9"/>
                                        </p:tgtEl>
                                      </p:cBhvr>
                                    </p:animEffect>
                                  </p:childTnLst>
                                </p:cTn>
                              </p:par>
                              <p:par>
                                <p:cTn id="28" presetID="8" presetClass="entr" presetSubtype="16"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diamond(in)">
                                      <p:cBhvr>
                                        <p:cTn id="30" dur="1000"/>
                                        <p:tgtEl>
                                          <p:spTgt spid="12"/>
                                        </p:tgtEl>
                                      </p:cBhvr>
                                    </p:animEffect>
                                  </p:childTnLst>
                                </p:cTn>
                              </p:par>
                              <p:par>
                                <p:cTn id="31" presetID="8" presetClass="entr" presetSubtype="16"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diamond(in)">
                                      <p:cBhvr>
                                        <p:cTn id="33" dur="1000"/>
                                        <p:tgtEl>
                                          <p:spTgt spid="16"/>
                                        </p:tgtEl>
                                      </p:cBhvr>
                                    </p:animEffect>
                                  </p:childTnLst>
                                </p:cTn>
                              </p:par>
                              <p:par>
                                <p:cTn id="34" presetID="8" presetClass="entr" presetSubtype="16"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diamond(in)">
                                      <p:cBhvr>
                                        <p:cTn id="36" dur="1000"/>
                                        <p:tgtEl>
                                          <p:spTgt spid="17"/>
                                        </p:tgtEl>
                                      </p:cBhvr>
                                    </p:animEffect>
                                  </p:childTnLst>
                                </p:cTn>
                              </p:par>
                            </p:childTnLst>
                          </p:cTn>
                        </p:par>
                        <p:par>
                          <p:cTn id="37" fill="hold" nodeType="afterGroup">
                            <p:stCondLst>
                              <p:cond delay="1000"/>
                            </p:stCondLst>
                            <p:childTnLst>
                              <p:par>
                                <p:cTn id="38" presetID="8" presetClass="entr" presetSubtype="16" fill="hold" grpId="0" nodeType="after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diamond(in)">
                                      <p:cBhvr>
                                        <p:cTn id="40" dur="1000"/>
                                        <p:tgtEl>
                                          <p:spTgt spid="7"/>
                                        </p:tgtEl>
                                      </p:cBhvr>
                                    </p:animEffect>
                                  </p:childTnLst>
                                </p:cTn>
                              </p:par>
                              <p:par>
                                <p:cTn id="41" presetID="8" presetClass="entr" presetSubtype="16"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diamond(in)">
                                      <p:cBhvr>
                                        <p:cTn id="43" dur="1000"/>
                                        <p:tgtEl>
                                          <p:spTgt spid="13"/>
                                        </p:tgtEl>
                                      </p:cBhvr>
                                    </p:animEffect>
                                  </p:childTnLst>
                                </p:cTn>
                              </p:par>
                            </p:childTnLst>
                          </p:cTn>
                        </p:par>
                        <p:par>
                          <p:cTn id="44" fill="hold" nodeType="afterGroup">
                            <p:stCondLst>
                              <p:cond delay="2000"/>
                            </p:stCondLst>
                            <p:childTnLst>
                              <p:par>
                                <p:cTn id="45" presetID="8" presetClass="entr" presetSubtype="16"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diamond(in)">
                                      <p:cBhvr>
                                        <p:cTn id="47" dur="1000"/>
                                        <p:tgtEl>
                                          <p:spTgt spid="14"/>
                                        </p:tgtEl>
                                      </p:cBhvr>
                                    </p:animEffect>
                                  </p:childTnLst>
                                </p:cTn>
                              </p:par>
                              <p:par>
                                <p:cTn id="48" presetID="8" presetClass="entr" presetSubtype="16"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diamond(in)">
                                      <p:cBhvr>
                                        <p:cTn id="50" dur="1000"/>
                                        <p:tgtEl>
                                          <p:spTgt spid="1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checkerboard(across)">
                                      <p:cBhvr>
                                        <p:cTn id="55" dur="500"/>
                                        <p:tgtEl>
                                          <p:spTgt spid="25"/>
                                        </p:tgtEl>
                                      </p:cBhvr>
                                    </p:animEffect>
                                  </p:childTnLst>
                                </p:cTn>
                              </p:par>
                              <p:par>
                                <p:cTn id="56" presetID="5" presetClass="entr" presetSubtype="10"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checkerboard(across)">
                                      <p:cBhvr>
                                        <p:cTn id="58" dur="500"/>
                                        <p:tgtEl>
                                          <p:spTgt spid="20"/>
                                        </p:tgtEl>
                                      </p:cBhvr>
                                    </p:animEffect>
                                  </p:childTnLst>
                                </p:cTn>
                              </p:par>
                              <p:par>
                                <p:cTn id="59" presetID="5" presetClass="entr" presetSubtype="1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checkerboard(across)">
                                      <p:cBhvr>
                                        <p:cTn id="61" dur="500"/>
                                        <p:tgtEl>
                                          <p:spTgt spid="27"/>
                                        </p:tgtEl>
                                      </p:cBhvr>
                                    </p:animEffect>
                                  </p:childTnLst>
                                </p:cTn>
                              </p:par>
                              <p:par>
                                <p:cTn id="62" presetID="5" presetClass="entr" presetSubtype="10"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checkerboard(across)">
                                      <p:cBhvr>
                                        <p:cTn id="64" dur="500"/>
                                        <p:tgtEl>
                                          <p:spTgt spid="2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5" presetClass="entr" presetSubtype="10" fill="hold" nodeType="click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checkerboard(across)">
                                      <p:cBhvr>
                                        <p:cTn id="69" dur="500"/>
                                        <p:tgtEl>
                                          <p:spTgt spid="29"/>
                                        </p:tgtEl>
                                      </p:cBhvr>
                                    </p:animEffect>
                                  </p:childTnLst>
                                </p:cTn>
                              </p:par>
                              <p:par>
                                <p:cTn id="70" presetID="5" presetClass="entr" presetSubtype="10" fill="hold" nodeType="with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checkerboard(across)">
                                      <p:cBhvr>
                                        <p:cTn id="72" dur="500"/>
                                        <p:tgtEl>
                                          <p:spTgt spid="31"/>
                                        </p:tgtEl>
                                      </p:cBhvr>
                                    </p:animEffect>
                                  </p:childTnLst>
                                </p:cTn>
                              </p:par>
                              <p:par>
                                <p:cTn id="73" presetID="5" presetClass="entr" presetSubtype="10" fill="hold" nodeType="with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checkerboard(across)">
                                      <p:cBhvr>
                                        <p:cTn id="75" dur="500"/>
                                        <p:tgtEl>
                                          <p:spTgt spid="23"/>
                                        </p:tgtEl>
                                      </p:cBhvr>
                                    </p:animEffect>
                                  </p:childTnLst>
                                </p:cTn>
                              </p:par>
                              <p:par>
                                <p:cTn id="76" presetID="5" presetClass="entr" presetSubtype="10" fill="hold" grpId="0"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checkerboard(across)">
                                      <p:cBhvr>
                                        <p:cTn id="78" dur="500"/>
                                        <p:tgtEl>
                                          <p:spTgt spid="32"/>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50"/>
                                        </p:tgtEl>
                                        <p:attrNameLst>
                                          <p:attrName>style.visibility</p:attrName>
                                        </p:attrNameLst>
                                      </p:cBhvr>
                                      <p:to>
                                        <p:strVal val="visible"/>
                                      </p:to>
                                    </p:set>
                                    <p:anim calcmode="lin" valueType="num">
                                      <p:cBhvr additive="base">
                                        <p:cTn id="83" dur="500" fill="hold"/>
                                        <p:tgtEl>
                                          <p:spTgt spid="50"/>
                                        </p:tgtEl>
                                        <p:attrNameLst>
                                          <p:attrName>ppt_x</p:attrName>
                                        </p:attrNameLst>
                                      </p:cBhvr>
                                      <p:tavLst>
                                        <p:tav tm="0">
                                          <p:val>
                                            <p:strVal val="#ppt_x"/>
                                          </p:val>
                                        </p:tav>
                                        <p:tav tm="100000">
                                          <p:val>
                                            <p:strVal val="#ppt_x"/>
                                          </p:val>
                                        </p:tav>
                                      </p:tavLst>
                                    </p:anim>
                                    <p:anim calcmode="lin" valueType="num">
                                      <p:cBhvr additive="base">
                                        <p:cTn id="84"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52"/>
                                        </p:tgtEl>
                                        <p:attrNameLst>
                                          <p:attrName>style.visibility</p:attrName>
                                        </p:attrNameLst>
                                      </p:cBhvr>
                                      <p:to>
                                        <p:strVal val="visible"/>
                                      </p:to>
                                    </p:set>
                                    <p:anim calcmode="lin" valueType="num">
                                      <p:cBhvr additive="base">
                                        <p:cTn id="89" dur="500" fill="hold"/>
                                        <p:tgtEl>
                                          <p:spTgt spid="52"/>
                                        </p:tgtEl>
                                        <p:attrNameLst>
                                          <p:attrName>ppt_x</p:attrName>
                                        </p:attrNameLst>
                                      </p:cBhvr>
                                      <p:tavLst>
                                        <p:tav tm="0">
                                          <p:val>
                                            <p:strVal val="#ppt_x"/>
                                          </p:val>
                                        </p:tav>
                                        <p:tav tm="100000">
                                          <p:val>
                                            <p:strVal val="#ppt_x"/>
                                          </p:val>
                                        </p:tav>
                                      </p:tavLst>
                                    </p:anim>
                                    <p:anim calcmode="lin" valueType="num">
                                      <p:cBhvr additive="base">
                                        <p:cTn id="90"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16" presetClass="entr" presetSubtype="21" fill="hold" grpId="0" nodeType="clickEffect">
                                  <p:stCondLst>
                                    <p:cond delay="0"/>
                                  </p:stCondLst>
                                  <p:childTnLst>
                                    <p:set>
                                      <p:cBhvr>
                                        <p:cTn id="94" dur="1" fill="hold">
                                          <p:stCondLst>
                                            <p:cond delay="0"/>
                                          </p:stCondLst>
                                        </p:cTn>
                                        <p:tgtEl>
                                          <p:spTgt spid="24"/>
                                        </p:tgtEl>
                                        <p:attrNameLst>
                                          <p:attrName>style.visibility</p:attrName>
                                        </p:attrNameLst>
                                      </p:cBhvr>
                                      <p:to>
                                        <p:strVal val="visible"/>
                                      </p:to>
                                    </p:set>
                                    <p:animEffect transition="in" filter="barn(inVertical)">
                                      <p:cBhvr>
                                        <p:cTn id="95" dur="500"/>
                                        <p:tgtEl>
                                          <p:spTgt spid="24"/>
                                        </p:tgtEl>
                                      </p:cBhvr>
                                    </p:animEffect>
                                  </p:childTnLst>
                                </p:cTn>
                              </p:par>
                              <p:par>
                                <p:cTn id="96" presetID="16" presetClass="entr" presetSubtype="21" fill="hold" grpId="0" nodeType="with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barn(inVertical)">
                                      <p:cBhvr>
                                        <p:cTn id="98" dur="500"/>
                                        <p:tgtEl>
                                          <p:spTgt spid="35"/>
                                        </p:tgtEl>
                                      </p:cBhvr>
                                    </p:animEffect>
                                  </p:childTnLst>
                                </p:cTn>
                              </p:par>
                              <p:par>
                                <p:cTn id="99" presetID="16" presetClass="entr" presetSubtype="21" fill="hold" grpId="0"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barn(inVertical)">
                                      <p:cBhvr>
                                        <p:cTn id="101" dur="500"/>
                                        <p:tgtEl>
                                          <p:spTgt spid="51"/>
                                        </p:tgtEl>
                                      </p:cBhvr>
                                    </p:animEffect>
                                  </p:childTnLst>
                                </p:cTn>
                              </p:par>
                              <p:par>
                                <p:cTn id="102" presetID="16" presetClass="entr" presetSubtype="21"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barn(inVertical)">
                                      <p:cBhvr>
                                        <p:cTn id="104" dur="500"/>
                                        <p:tgtEl>
                                          <p:spTgt spid="36"/>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4" fill="hold" grpId="0" nodeType="click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wipe(down)">
                                      <p:cBhvr>
                                        <p:cTn id="109" dur="500"/>
                                        <p:tgtEl>
                                          <p:spTgt spid="38"/>
                                        </p:tgtEl>
                                      </p:cBhvr>
                                    </p:animEffect>
                                  </p:childTnLst>
                                </p:cTn>
                              </p:par>
                              <p:par>
                                <p:cTn id="110" presetID="22" presetClass="entr" presetSubtype="4" fill="hold" nodeType="withEffect">
                                  <p:stCondLst>
                                    <p:cond delay="0"/>
                                  </p:stCondLst>
                                  <p:childTnLst>
                                    <p:set>
                                      <p:cBhvr>
                                        <p:cTn id="111" dur="1" fill="hold">
                                          <p:stCondLst>
                                            <p:cond delay="0"/>
                                          </p:stCondLst>
                                        </p:cTn>
                                        <p:tgtEl>
                                          <p:spTgt spid="11"/>
                                        </p:tgtEl>
                                        <p:attrNameLst>
                                          <p:attrName>style.visibility</p:attrName>
                                        </p:attrNameLst>
                                      </p:cBhvr>
                                      <p:to>
                                        <p:strVal val="visible"/>
                                      </p:to>
                                    </p:set>
                                    <p:animEffect transition="in" filter="wipe(down)">
                                      <p:cBhvr>
                                        <p:cTn id="1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p:bldP spid="12" grpId="0" animBg="1"/>
      <p:bldP spid="13" grpId="0" animBg="1"/>
      <p:bldP spid="14" grpId="0" animBg="1"/>
      <p:bldP spid="21" grpId="0"/>
      <p:bldP spid="25" grpId="0" animBg="1"/>
      <p:bldP spid="27" grpId="0" animBg="1"/>
      <p:bldP spid="32" grpId="0" animBg="1"/>
      <p:bldP spid="35" grpId="0"/>
      <p:bldP spid="36" grpId="0"/>
      <p:bldP spid="38" grpId="0" animBg="1"/>
      <p:bldP spid="24" grpId="0" animBg="1"/>
      <p:bldP spid="51" grpId="0" animBg="1"/>
      <p:bldP spid="50" grpId="0"/>
      <p:bldP spid="5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90B85F-C2ED-08F2-4BAD-B61B60583956}"/>
              </a:ext>
            </a:extLst>
          </p:cNvPr>
          <p:cNvSpPr>
            <a:spLocks noGrp="1"/>
          </p:cNvSpPr>
          <p:nvPr>
            <p:ph idx="1"/>
          </p:nvPr>
        </p:nvSpPr>
        <p:spPr>
          <a:xfrm>
            <a:off x="457200" y="685800"/>
            <a:ext cx="8229600" cy="5440363"/>
          </a:xfrm>
        </p:spPr>
        <p:txBody>
          <a:bodyPr/>
          <a:lstStyle/>
          <a:p>
            <a:pPr marL="0" indent="0">
              <a:buNone/>
            </a:pPr>
            <a:r>
              <a:rPr lang="en-US" dirty="0" err="1"/>
              <a:t>Trong</a:t>
            </a:r>
            <a:r>
              <a:rPr lang="en-US" dirty="0"/>
              <a:t> </a:t>
            </a:r>
            <a:r>
              <a:rPr lang="en-US" dirty="0" err="1"/>
              <a:t>các</a:t>
            </a:r>
            <a:r>
              <a:rPr lang="en-US" dirty="0"/>
              <a:t> </a:t>
            </a:r>
            <a:r>
              <a:rPr lang="en-US" dirty="0" err="1"/>
              <a:t>lực</a:t>
            </a:r>
            <a:r>
              <a:rPr lang="en-US" dirty="0"/>
              <a:t> </a:t>
            </a:r>
            <a:r>
              <a:rPr lang="en-US" dirty="0" err="1"/>
              <a:t>sau</a:t>
            </a:r>
            <a:r>
              <a:rPr lang="en-US" dirty="0"/>
              <a:t> </a:t>
            </a:r>
            <a:r>
              <a:rPr lang="en-US" dirty="0" err="1"/>
              <a:t>đây</a:t>
            </a:r>
            <a:r>
              <a:rPr lang="en-US" dirty="0"/>
              <a:t>, </a:t>
            </a:r>
            <a:r>
              <a:rPr lang="en-US" dirty="0" err="1"/>
              <a:t>lực</a:t>
            </a:r>
            <a:r>
              <a:rPr lang="en-US" dirty="0"/>
              <a:t> </a:t>
            </a:r>
            <a:r>
              <a:rPr lang="en-US" dirty="0" err="1"/>
              <a:t>nào</a:t>
            </a:r>
            <a:r>
              <a:rPr lang="en-US" dirty="0"/>
              <a:t> </a:t>
            </a:r>
            <a:r>
              <a:rPr lang="en-US" dirty="0" err="1"/>
              <a:t>không</a:t>
            </a:r>
            <a:r>
              <a:rPr lang="en-US" dirty="0"/>
              <a:t> </a:t>
            </a:r>
            <a:r>
              <a:rPr lang="en-US" dirty="0" err="1"/>
              <a:t>phải</a:t>
            </a:r>
            <a:r>
              <a:rPr lang="en-US" dirty="0"/>
              <a:t> </a:t>
            </a:r>
            <a:r>
              <a:rPr lang="en-US" dirty="0" err="1"/>
              <a:t>lực</a:t>
            </a:r>
            <a:r>
              <a:rPr lang="en-US" dirty="0"/>
              <a:t> </a:t>
            </a:r>
            <a:r>
              <a:rPr lang="en-US" dirty="0" err="1"/>
              <a:t>điện</a:t>
            </a:r>
            <a:r>
              <a:rPr lang="en-US" dirty="0"/>
              <a:t> </a:t>
            </a:r>
            <a:r>
              <a:rPr lang="en-US" dirty="0" err="1"/>
              <a:t>từ</a:t>
            </a:r>
            <a:r>
              <a:rPr lang="en-US" dirty="0"/>
              <a:t>:</a:t>
            </a:r>
          </a:p>
          <a:p>
            <a:pPr marL="514350" indent="-514350">
              <a:buAutoNum type="alphaLcPeriod"/>
            </a:pPr>
            <a:r>
              <a:rPr lang="en-US" dirty="0" err="1"/>
              <a:t>Lực</a:t>
            </a:r>
            <a:r>
              <a:rPr lang="en-US" dirty="0"/>
              <a:t> </a:t>
            </a:r>
            <a:r>
              <a:rPr lang="en-US" dirty="0" err="1"/>
              <a:t>đàn</a:t>
            </a:r>
            <a:r>
              <a:rPr lang="en-US" dirty="0"/>
              <a:t> </a:t>
            </a:r>
            <a:r>
              <a:rPr lang="en-US" dirty="0" err="1"/>
              <a:t>hồi</a:t>
            </a:r>
            <a:endParaRPr lang="en-US" dirty="0"/>
          </a:p>
          <a:p>
            <a:pPr marL="514350" indent="-514350">
              <a:buAutoNum type="alphaLcPeriod"/>
            </a:pPr>
            <a:r>
              <a:rPr lang="en-US" dirty="0" err="1"/>
              <a:t>Trọng</a:t>
            </a:r>
            <a:r>
              <a:rPr lang="en-US" dirty="0"/>
              <a:t> </a:t>
            </a:r>
            <a:r>
              <a:rPr lang="en-US" dirty="0" err="1"/>
              <a:t>lực</a:t>
            </a:r>
            <a:endParaRPr lang="en-US" dirty="0"/>
          </a:p>
          <a:p>
            <a:pPr marL="514350" indent="-514350">
              <a:buAutoNum type="alphaLcPeriod"/>
            </a:pPr>
            <a:r>
              <a:rPr lang="en-US" dirty="0" err="1"/>
              <a:t>Lực</a:t>
            </a:r>
            <a:r>
              <a:rPr lang="en-US" dirty="0"/>
              <a:t> </a:t>
            </a:r>
            <a:r>
              <a:rPr lang="en-US" dirty="0" err="1"/>
              <a:t>căng</a:t>
            </a:r>
            <a:r>
              <a:rPr lang="en-US" dirty="0"/>
              <a:t> </a:t>
            </a:r>
            <a:r>
              <a:rPr lang="en-US" dirty="0" err="1"/>
              <a:t>dây</a:t>
            </a:r>
            <a:endParaRPr lang="en-US" dirty="0"/>
          </a:p>
          <a:p>
            <a:pPr marL="514350" indent="-514350">
              <a:buAutoNum type="alphaLcPeriod"/>
            </a:pPr>
            <a:r>
              <a:rPr lang="en-US" dirty="0" err="1"/>
              <a:t>Phản</a:t>
            </a:r>
            <a:r>
              <a:rPr lang="en-US" dirty="0"/>
              <a:t> </a:t>
            </a:r>
            <a:r>
              <a:rPr lang="en-US" dirty="0" err="1"/>
              <a:t>lực</a:t>
            </a:r>
            <a:r>
              <a:rPr lang="en-US" dirty="0"/>
              <a:t> </a:t>
            </a:r>
            <a:r>
              <a:rPr lang="en-US" dirty="0" err="1"/>
              <a:t>pháp</a:t>
            </a:r>
            <a:r>
              <a:rPr lang="en-US" dirty="0"/>
              <a:t> </a:t>
            </a:r>
            <a:r>
              <a:rPr lang="en-US" dirty="0" err="1"/>
              <a:t>tuyến</a:t>
            </a:r>
            <a:endParaRPr lang="en-US" dirty="0"/>
          </a:p>
        </p:txBody>
      </p:sp>
      <p:sp>
        <p:nvSpPr>
          <p:cNvPr id="4" name="Footer Placeholder 3">
            <a:extLst>
              <a:ext uri="{FF2B5EF4-FFF2-40B4-BE49-F238E27FC236}">
                <a16:creationId xmlns:a16="http://schemas.microsoft.com/office/drawing/2014/main" id="{60CD016D-BE7F-E15F-25A0-33FC35E8F28E}"/>
              </a:ext>
            </a:extLst>
          </p:cNvPr>
          <p:cNvSpPr>
            <a:spLocks noGrp="1"/>
          </p:cNvSpPr>
          <p:nvPr>
            <p:ph type="ftr" sz="quarter" idx="11"/>
          </p:nvPr>
        </p:nvSpPr>
        <p:spPr/>
        <p:txBody>
          <a:bodyPr/>
          <a:lstStyle/>
          <a:p>
            <a:r>
              <a:rPr lang="en-US"/>
              <a:t>Bùi Quốc Trung - VLDC</a:t>
            </a:r>
          </a:p>
        </p:txBody>
      </p:sp>
      <p:sp>
        <p:nvSpPr>
          <p:cNvPr id="5" name="Slide Number Placeholder 4">
            <a:extLst>
              <a:ext uri="{FF2B5EF4-FFF2-40B4-BE49-F238E27FC236}">
                <a16:creationId xmlns:a16="http://schemas.microsoft.com/office/drawing/2014/main" id="{61DE960F-9B6B-D9D8-CFD8-6C5028604DEF}"/>
              </a:ext>
            </a:extLst>
          </p:cNvPr>
          <p:cNvSpPr>
            <a:spLocks noGrp="1"/>
          </p:cNvSpPr>
          <p:nvPr>
            <p:ph type="sldNum" sz="quarter" idx="12"/>
          </p:nvPr>
        </p:nvSpPr>
        <p:spPr/>
        <p:txBody>
          <a:bodyPr/>
          <a:lstStyle/>
          <a:p>
            <a:fld id="{C4A94DE9-7404-4CC4-BDD8-EA2E97866C70}" type="slidenum">
              <a:rPr lang="en-US" smtClean="0"/>
              <a:t>13</a:t>
            </a:fld>
            <a:endParaRPr lang="en-US"/>
          </a:p>
        </p:txBody>
      </p:sp>
    </p:spTree>
    <p:extLst>
      <p:ext uri="{BB962C8B-B14F-4D97-AF65-F5344CB8AC3E}">
        <p14:creationId xmlns:p14="http://schemas.microsoft.com/office/powerpoint/2010/main" val="3582026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p:cNvSpPr>
          <p:nvPr>
            <p:ph/>
          </p:nvPr>
        </p:nvSpPr>
        <p:spPr>
          <a:solidFill>
            <a:schemeClr val="accent1">
              <a:lumMod val="20000"/>
              <a:lumOff val="80000"/>
            </a:schemeClr>
          </a:solidFill>
        </p:spPr>
        <p:txBody>
          <a:bodyPr/>
          <a:lstStyle/>
          <a:p>
            <a:pPr marL="609600" indent="-609600" eaLnBrk="1" hangingPunct="1">
              <a:buFont typeface="Arial" charset="0"/>
              <a:buNone/>
              <a:defRPr/>
            </a:pPr>
            <a:r>
              <a:rPr lang="en-US" sz="3600"/>
              <a:t>Trả lời các câu hỏi lý thuyết ( có thi)</a:t>
            </a:r>
          </a:p>
          <a:p>
            <a:pPr marL="609600" indent="-609600" eaLnBrk="1" hangingPunct="1">
              <a:buFont typeface="Arial" charset="0"/>
              <a:buNone/>
              <a:defRPr/>
            </a:pPr>
            <a:r>
              <a:rPr lang="en-US" sz="3600"/>
              <a:t>1. K</a:t>
            </a:r>
            <a:r>
              <a:rPr lang="en-US"/>
              <a:t>hi có lực tác dụng lên một vật thì:</a:t>
            </a:r>
          </a:p>
          <a:p>
            <a:pPr marL="609600" indent="-609600" eaLnBrk="1" hangingPunct="1">
              <a:buFont typeface="Arial" charset="0"/>
              <a:buAutoNum type="alphaLcParenR"/>
              <a:defRPr/>
            </a:pPr>
            <a:r>
              <a:rPr lang="en-US"/>
              <a:t>Độ lớn vận tốc của vật luôn luôn tăng</a:t>
            </a:r>
          </a:p>
          <a:p>
            <a:pPr marL="609600" indent="-609600" eaLnBrk="1" hangingPunct="1">
              <a:buFont typeface="Arial" charset="0"/>
              <a:buAutoNum type="alphaLcParenR"/>
              <a:defRPr/>
            </a:pPr>
            <a:r>
              <a:rPr lang="en-US"/>
              <a:t>Độ lớn vận tốc của vật luôn luôn giảm</a:t>
            </a:r>
          </a:p>
          <a:p>
            <a:pPr marL="609600" indent="-609600" eaLnBrk="1" hangingPunct="1">
              <a:buFont typeface="Arial" charset="0"/>
              <a:buAutoNum type="alphaLcParenR"/>
              <a:defRPr/>
            </a:pPr>
            <a:r>
              <a:rPr lang="en-US"/>
              <a:t>Độ lớn vận tốc của vật luôn luôn không đổi</a:t>
            </a:r>
          </a:p>
          <a:p>
            <a:pPr marL="609600" indent="-609600" eaLnBrk="1" hangingPunct="1">
              <a:buFont typeface="Arial" charset="0"/>
              <a:buAutoNum type="alphaLcParenR"/>
              <a:defRPr/>
            </a:pPr>
            <a:r>
              <a:rPr lang="en-US"/>
              <a:t>Độ lớn vận tốc của vật có thể tăng, giảm hoặc không đổi</a:t>
            </a:r>
          </a:p>
          <a:p>
            <a:pPr marL="609600" indent="-609600" eaLnBrk="1" hangingPunct="1">
              <a:buFont typeface="Arial" charset="0"/>
              <a:buAutoNum type="alphaLcParenR"/>
              <a:defRPr/>
            </a:pPr>
            <a:endParaRPr lang="en-US"/>
          </a:p>
          <a:p>
            <a:pPr marL="609600" indent="-609600" eaLnBrk="1" hangingPunct="1">
              <a:buFont typeface="Arial" charset="0"/>
              <a:buAutoNum type="alphaLcParenR"/>
              <a:defRPr/>
            </a:pPr>
            <a:endParaRPr lang="en-US"/>
          </a:p>
          <a:p>
            <a:pPr marL="609600" indent="-609600" eaLnBrk="1" hangingPunct="1">
              <a:buFont typeface="Arial" charset="0"/>
              <a:buAutoNum type="alphaLcParenR"/>
              <a:defRPr/>
            </a:pPr>
            <a:endParaRPr lang="en-US"/>
          </a:p>
        </p:txBody>
      </p:sp>
      <p:sp>
        <p:nvSpPr>
          <p:cNvPr id="2" name="Footer Placeholder 1">
            <a:extLst>
              <a:ext uri="{FF2B5EF4-FFF2-40B4-BE49-F238E27FC236}">
                <a16:creationId xmlns:a16="http://schemas.microsoft.com/office/drawing/2014/main" id="{F3AC3796-DE5E-729B-808C-54C5493B1334}"/>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754E3B5D-4086-A8B8-D728-CB607F4D1D45}"/>
              </a:ext>
            </a:extLst>
          </p:cNvPr>
          <p:cNvSpPr>
            <a:spLocks noGrp="1"/>
          </p:cNvSpPr>
          <p:nvPr>
            <p:ph type="sldNum" sz="quarter" idx="12"/>
          </p:nvPr>
        </p:nvSpPr>
        <p:spPr/>
        <p:txBody>
          <a:bodyPr/>
          <a:lstStyle/>
          <a:p>
            <a:pPr>
              <a:defRPr/>
            </a:pPr>
            <a:fld id="{76921531-3DE4-4FE6-8586-93C8C3054BFB}" type="slidenum">
              <a:rPr lang="en-US" smtClean="0"/>
              <a:pPr>
                <a:defRPr/>
              </a:pPr>
              <a:t>14</a:t>
            </a:fld>
            <a:endParaRPr lang="en-US"/>
          </a:p>
        </p:txBody>
      </p:sp>
    </p:spTree>
    <p:extLst>
      <p:ext uri="{BB962C8B-B14F-4D97-AF65-F5344CB8AC3E}">
        <p14:creationId xmlns:p14="http://schemas.microsoft.com/office/powerpoint/2010/main" val="16993286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11266">
                                            <p:txEl>
                                              <p:pRg st="5" end="5"/>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p:cNvSpPr>
          <p:nvPr>
            <p:ph/>
          </p:nvPr>
        </p:nvSpPr>
        <p:spPr>
          <a:solidFill>
            <a:schemeClr val="accent1">
              <a:lumMod val="20000"/>
              <a:lumOff val="80000"/>
            </a:schemeClr>
          </a:solidFill>
        </p:spPr>
        <p:txBody>
          <a:bodyPr/>
          <a:lstStyle/>
          <a:p>
            <a:pPr eaLnBrk="1" hangingPunct="1">
              <a:buFont typeface="Arial" charset="0"/>
              <a:buNone/>
              <a:defRPr/>
            </a:pPr>
            <a:r>
              <a:rPr lang="en-US" dirty="0"/>
              <a:t>	</a:t>
            </a:r>
            <a:r>
              <a:rPr lang="en-US" dirty="0" err="1"/>
              <a:t>Khi</a:t>
            </a:r>
            <a:r>
              <a:rPr lang="en-US" dirty="0"/>
              <a:t> </a:t>
            </a:r>
            <a:r>
              <a:rPr lang="en-US" dirty="0" err="1"/>
              <a:t>nói</a:t>
            </a:r>
            <a:r>
              <a:rPr lang="en-US" dirty="0"/>
              <a:t> </a:t>
            </a:r>
            <a:r>
              <a:rPr lang="en-US" dirty="0" err="1"/>
              <a:t>về</a:t>
            </a:r>
            <a:r>
              <a:rPr lang="en-US" dirty="0"/>
              <a:t> </a:t>
            </a:r>
            <a:r>
              <a:rPr lang="en-US" dirty="0" err="1"/>
              <a:t>gia</a:t>
            </a:r>
            <a:r>
              <a:rPr lang="en-US" dirty="0"/>
              <a:t> </a:t>
            </a:r>
            <a:r>
              <a:rPr lang="en-US" dirty="0" err="1"/>
              <a:t>tốc</a:t>
            </a:r>
            <a:r>
              <a:rPr lang="en-US" dirty="0"/>
              <a:t> </a:t>
            </a:r>
            <a:r>
              <a:rPr lang="en-US" dirty="0" err="1"/>
              <a:t>rơi</a:t>
            </a:r>
            <a:r>
              <a:rPr lang="en-US" dirty="0"/>
              <a:t> </a:t>
            </a:r>
            <a:r>
              <a:rPr lang="en-US" dirty="0" err="1"/>
              <a:t>tự</a:t>
            </a:r>
            <a:r>
              <a:rPr lang="en-US" dirty="0"/>
              <a:t> do, </a:t>
            </a:r>
            <a:r>
              <a:rPr lang="en-US" dirty="0" err="1"/>
              <a:t>phát</a:t>
            </a:r>
            <a:r>
              <a:rPr lang="en-US" dirty="0"/>
              <a:t> </a:t>
            </a:r>
            <a:r>
              <a:rPr lang="en-US" dirty="0" err="1"/>
              <a:t>biểu</a:t>
            </a:r>
            <a:r>
              <a:rPr lang="en-US" dirty="0"/>
              <a:t> </a:t>
            </a:r>
            <a:r>
              <a:rPr lang="en-US" dirty="0" err="1"/>
              <a:t>nào</a:t>
            </a:r>
            <a:r>
              <a:rPr lang="en-US" dirty="0"/>
              <a:t> </a:t>
            </a:r>
            <a:r>
              <a:rPr lang="en-US" dirty="0" err="1"/>
              <a:t>sau</a:t>
            </a:r>
            <a:r>
              <a:rPr lang="en-US" dirty="0"/>
              <a:t> </a:t>
            </a:r>
            <a:r>
              <a:rPr lang="en-US" dirty="0" err="1"/>
              <a:t>đây</a:t>
            </a:r>
            <a:r>
              <a:rPr lang="en-US" dirty="0"/>
              <a:t> </a:t>
            </a:r>
            <a:r>
              <a:rPr lang="en-US" dirty="0" err="1"/>
              <a:t>là</a:t>
            </a:r>
            <a:r>
              <a:rPr lang="en-US" dirty="0"/>
              <a:t> </a:t>
            </a:r>
            <a:r>
              <a:rPr lang="en-US" b="1" u="sng" dirty="0" err="1"/>
              <a:t>sai</a:t>
            </a:r>
            <a:r>
              <a:rPr lang="en-US" dirty="0"/>
              <a:t>:</a:t>
            </a:r>
          </a:p>
          <a:p>
            <a:pPr marL="0" indent="0" eaLnBrk="1" hangingPunct="1">
              <a:buNone/>
              <a:defRPr/>
            </a:pPr>
            <a:r>
              <a:rPr lang="en-US" dirty="0"/>
              <a:t>A. </a:t>
            </a:r>
            <a:r>
              <a:rPr lang="en-US" dirty="0" err="1"/>
              <a:t>Có</a:t>
            </a:r>
            <a:r>
              <a:rPr lang="en-US" dirty="0"/>
              <a:t> </a:t>
            </a:r>
            <a:r>
              <a:rPr lang="en-US" dirty="0" err="1"/>
              <a:t>giá</a:t>
            </a:r>
            <a:r>
              <a:rPr lang="en-US" dirty="0"/>
              <a:t> </a:t>
            </a:r>
            <a:r>
              <a:rPr lang="en-US" dirty="0" err="1"/>
              <a:t>trị</a:t>
            </a:r>
            <a:r>
              <a:rPr lang="en-US" dirty="0"/>
              <a:t> </a:t>
            </a:r>
            <a:r>
              <a:rPr lang="en-US" dirty="0" err="1"/>
              <a:t>tăng</a:t>
            </a:r>
            <a:r>
              <a:rPr lang="en-US" dirty="0"/>
              <a:t> </a:t>
            </a:r>
            <a:r>
              <a:rPr lang="en-US" dirty="0" err="1"/>
              <a:t>dần</a:t>
            </a:r>
            <a:r>
              <a:rPr lang="en-US" dirty="0"/>
              <a:t> </a:t>
            </a:r>
            <a:r>
              <a:rPr lang="en-US" dirty="0" err="1"/>
              <a:t>khi</a:t>
            </a:r>
            <a:r>
              <a:rPr lang="en-US" dirty="0"/>
              <a:t> </a:t>
            </a:r>
            <a:r>
              <a:rPr lang="en-US" dirty="0" err="1"/>
              <a:t>đi</a:t>
            </a:r>
            <a:r>
              <a:rPr lang="en-US" dirty="0"/>
              <a:t> </a:t>
            </a:r>
            <a:r>
              <a:rPr lang="en-US" dirty="0" err="1"/>
              <a:t>về</a:t>
            </a:r>
            <a:r>
              <a:rPr lang="en-US" dirty="0"/>
              <a:t> </a:t>
            </a:r>
            <a:r>
              <a:rPr lang="en-US" dirty="0" err="1"/>
              <a:t>phía</a:t>
            </a:r>
            <a:r>
              <a:rPr lang="en-US" dirty="0"/>
              <a:t> 2 </a:t>
            </a:r>
            <a:r>
              <a:rPr lang="en-US" dirty="0" err="1"/>
              <a:t>cực</a:t>
            </a:r>
            <a:r>
              <a:rPr lang="en-US" dirty="0"/>
              <a:t> </a:t>
            </a:r>
            <a:r>
              <a:rPr lang="en-US" dirty="0" err="1"/>
              <a:t>của</a:t>
            </a:r>
            <a:r>
              <a:rPr lang="en-US" dirty="0"/>
              <a:t> </a:t>
            </a:r>
            <a:r>
              <a:rPr lang="en-US" dirty="0" err="1"/>
              <a:t>trái</a:t>
            </a:r>
            <a:r>
              <a:rPr lang="en-US" dirty="0"/>
              <a:t> </a:t>
            </a:r>
            <a:r>
              <a:rPr lang="en-US" dirty="0" err="1"/>
              <a:t>đất</a:t>
            </a:r>
            <a:endParaRPr lang="en-US" dirty="0"/>
          </a:p>
          <a:p>
            <a:pPr marL="0" indent="0" eaLnBrk="1" hangingPunct="1">
              <a:buNone/>
              <a:defRPr/>
            </a:pPr>
            <a:r>
              <a:rPr lang="en-US" dirty="0"/>
              <a:t>B. </a:t>
            </a:r>
            <a:r>
              <a:rPr lang="en-US" dirty="0" err="1"/>
              <a:t>Có</a:t>
            </a:r>
            <a:r>
              <a:rPr lang="en-US" dirty="0"/>
              <a:t> </a:t>
            </a:r>
            <a:r>
              <a:rPr lang="en-US" dirty="0" err="1"/>
              <a:t>giá</a:t>
            </a:r>
            <a:r>
              <a:rPr lang="en-US" dirty="0"/>
              <a:t> </a:t>
            </a:r>
            <a:r>
              <a:rPr lang="en-US" dirty="0" err="1"/>
              <a:t>trị</a:t>
            </a:r>
            <a:r>
              <a:rPr lang="en-US" dirty="0"/>
              <a:t> </a:t>
            </a:r>
            <a:r>
              <a:rPr lang="en-US" dirty="0" err="1"/>
              <a:t>giảm</a:t>
            </a:r>
            <a:r>
              <a:rPr lang="en-US" dirty="0"/>
              <a:t> </a:t>
            </a:r>
            <a:r>
              <a:rPr lang="en-US" dirty="0" err="1"/>
              <a:t>dần</a:t>
            </a:r>
            <a:r>
              <a:rPr lang="en-US" dirty="0"/>
              <a:t> </a:t>
            </a:r>
            <a:r>
              <a:rPr lang="en-US" dirty="0" err="1"/>
              <a:t>khi</a:t>
            </a:r>
            <a:r>
              <a:rPr lang="en-US" dirty="0"/>
              <a:t> </a:t>
            </a:r>
            <a:r>
              <a:rPr lang="en-US" dirty="0" err="1"/>
              <a:t>lên</a:t>
            </a:r>
            <a:r>
              <a:rPr lang="en-US" dirty="0"/>
              <a:t> </a:t>
            </a:r>
            <a:r>
              <a:rPr lang="en-US" dirty="0" err="1"/>
              <a:t>cao</a:t>
            </a:r>
            <a:endParaRPr lang="en-US" dirty="0"/>
          </a:p>
          <a:p>
            <a:pPr marL="0" indent="0" eaLnBrk="1" hangingPunct="1">
              <a:buNone/>
              <a:defRPr/>
            </a:pPr>
            <a:r>
              <a:rPr lang="en-US" dirty="0"/>
              <a:t>C. </a:t>
            </a:r>
            <a:r>
              <a:rPr lang="en-US" dirty="0" err="1"/>
              <a:t>Có</a:t>
            </a:r>
            <a:r>
              <a:rPr lang="en-US" dirty="0"/>
              <a:t> </a:t>
            </a:r>
            <a:r>
              <a:rPr lang="en-US" dirty="0" err="1"/>
              <a:t>giá</a:t>
            </a:r>
            <a:r>
              <a:rPr lang="en-US" dirty="0"/>
              <a:t> </a:t>
            </a:r>
            <a:r>
              <a:rPr lang="en-US" dirty="0" err="1"/>
              <a:t>trị</a:t>
            </a:r>
            <a:r>
              <a:rPr lang="en-US" dirty="0"/>
              <a:t> </a:t>
            </a:r>
            <a:r>
              <a:rPr lang="en-US" dirty="0" err="1"/>
              <a:t>tăng</a:t>
            </a:r>
            <a:r>
              <a:rPr lang="en-US" dirty="0"/>
              <a:t> </a:t>
            </a:r>
            <a:r>
              <a:rPr lang="en-US" dirty="0" err="1"/>
              <a:t>dần</a:t>
            </a:r>
            <a:r>
              <a:rPr lang="en-US" dirty="0"/>
              <a:t> </a:t>
            </a:r>
            <a:r>
              <a:rPr lang="en-US" dirty="0" err="1"/>
              <a:t>khi</a:t>
            </a:r>
            <a:r>
              <a:rPr lang="en-US" dirty="0"/>
              <a:t> </a:t>
            </a:r>
            <a:r>
              <a:rPr lang="en-US" dirty="0" err="1"/>
              <a:t>xuống</a:t>
            </a:r>
            <a:r>
              <a:rPr lang="en-US" dirty="0"/>
              <a:t> </a:t>
            </a:r>
            <a:r>
              <a:rPr lang="en-US" dirty="0" err="1"/>
              <a:t>sâu</a:t>
            </a:r>
            <a:r>
              <a:rPr lang="en-US" dirty="0"/>
              <a:t> </a:t>
            </a:r>
            <a:r>
              <a:rPr lang="en-US" dirty="0" err="1"/>
              <a:t>trong</a:t>
            </a:r>
            <a:r>
              <a:rPr lang="en-US" dirty="0"/>
              <a:t> </a:t>
            </a:r>
            <a:r>
              <a:rPr lang="en-US" dirty="0" err="1"/>
              <a:t>lòng</a:t>
            </a:r>
            <a:r>
              <a:rPr lang="en-US" dirty="0"/>
              <a:t> </a:t>
            </a:r>
            <a:r>
              <a:rPr lang="en-US" dirty="0" err="1"/>
              <a:t>đất</a:t>
            </a:r>
            <a:endParaRPr lang="en-US" dirty="0"/>
          </a:p>
          <a:p>
            <a:pPr marL="0" indent="0" eaLnBrk="1" hangingPunct="1">
              <a:buNone/>
              <a:defRPr/>
            </a:pPr>
            <a:r>
              <a:rPr lang="en-US" dirty="0"/>
              <a:t>D. </a:t>
            </a:r>
            <a:r>
              <a:rPr lang="en-US" dirty="0" err="1"/>
              <a:t>Là</a:t>
            </a:r>
            <a:r>
              <a:rPr lang="en-US" dirty="0"/>
              <a:t> </a:t>
            </a:r>
            <a:r>
              <a:rPr lang="en-US" dirty="0" err="1"/>
              <a:t>gia</a:t>
            </a:r>
            <a:r>
              <a:rPr lang="en-US" dirty="0"/>
              <a:t> </a:t>
            </a:r>
            <a:r>
              <a:rPr lang="en-US" dirty="0" err="1"/>
              <a:t>tốc</a:t>
            </a:r>
            <a:r>
              <a:rPr lang="en-US" dirty="0"/>
              <a:t> </a:t>
            </a:r>
            <a:r>
              <a:rPr lang="en-US" dirty="0" err="1"/>
              <a:t>rơi</a:t>
            </a:r>
            <a:r>
              <a:rPr lang="en-US" dirty="0"/>
              <a:t> </a:t>
            </a:r>
            <a:r>
              <a:rPr lang="en-US" dirty="0" err="1"/>
              <a:t>của</a:t>
            </a:r>
            <a:r>
              <a:rPr lang="en-US" dirty="0"/>
              <a:t> </a:t>
            </a:r>
            <a:r>
              <a:rPr lang="en-US" dirty="0" err="1"/>
              <a:t>tất</a:t>
            </a:r>
            <a:r>
              <a:rPr lang="en-US" dirty="0"/>
              <a:t> </a:t>
            </a:r>
            <a:r>
              <a:rPr lang="en-US" dirty="0" err="1"/>
              <a:t>cả</a:t>
            </a:r>
            <a:r>
              <a:rPr lang="en-US" dirty="0"/>
              <a:t> </a:t>
            </a:r>
            <a:r>
              <a:rPr lang="en-US" dirty="0" err="1"/>
              <a:t>mọi</a:t>
            </a:r>
            <a:r>
              <a:rPr lang="en-US" dirty="0"/>
              <a:t> </a:t>
            </a:r>
            <a:r>
              <a:rPr lang="en-US" dirty="0" err="1"/>
              <a:t>vật</a:t>
            </a:r>
            <a:r>
              <a:rPr lang="en-US" dirty="0"/>
              <a:t> </a:t>
            </a:r>
            <a:r>
              <a:rPr lang="en-US" dirty="0" err="1"/>
              <a:t>khi</a:t>
            </a:r>
            <a:r>
              <a:rPr lang="en-US" dirty="0"/>
              <a:t> </a:t>
            </a:r>
            <a:r>
              <a:rPr lang="en-US" dirty="0" err="1"/>
              <a:t>bỏ</a:t>
            </a:r>
            <a:r>
              <a:rPr lang="en-US" dirty="0"/>
              <a:t> qua </a:t>
            </a:r>
            <a:r>
              <a:rPr lang="en-US" dirty="0" err="1"/>
              <a:t>sức</a:t>
            </a:r>
            <a:r>
              <a:rPr lang="en-US" dirty="0"/>
              <a:t> </a:t>
            </a:r>
            <a:r>
              <a:rPr lang="en-US" dirty="0" err="1"/>
              <a:t>cản</a:t>
            </a:r>
            <a:r>
              <a:rPr lang="en-US" dirty="0"/>
              <a:t> </a:t>
            </a:r>
            <a:r>
              <a:rPr lang="en-US" dirty="0" err="1"/>
              <a:t>của</a:t>
            </a:r>
            <a:r>
              <a:rPr lang="en-US" dirty="0"/>
              <a:t> </a:t>
            </a:r>
            <a:r>
              <a:rPr lang="en-US" dirty="0" err="1"/>
              <a:t>không</a:t>
            </a:r>
            <a:r>
              <a:rPr lang="en-US" dirty="0"/>
              <a:t> </a:t>
            </a:r>
            <a:r>
              <a:rPr lang="en-US" dirty="0" err="1"/>
              <a:t>khí</a:t>
            </a:r>
            <a:endParaRPr lang="en-US" dirty="0"/>
          </a:p>
        </p:txBody>
      </p:sp>
      <p:sp>
        <p:nvSpPr>
          <p:cNvPr id="2" name="Footer Placeholder 1">
            <a:extLst>
              <a:ext uri="{FF2B5EF4-FFF2-40B4-BE49-F238E27FC236}">
                <a16:creationId xmlns:a16="http://schemas.microsoft.com/office/drawing/2014/main" id="{E1E53B4B-D2AD-E37B-450C-02EFB8F92876}"/>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8FC25056-4C51-16D9-0E5F-B6BB5117E16B}"/>
              </a:ext>
            </a:extLst>
          </p:cNvPr>
          <p:cNvSpPr>
            <a:spLocks noGrp="1"/>
          </p:cNvSpPr>
          <p:nvPr>
            <p:ph type="sldNum" sz="quarter" idx="12"/>
          </p:nvPr>
        </p:nvSpPr>
        <p:spPr/>
        <p:txBody>
          <a:bodyPr/>
          <a:lstStyle/>
          <a:p>
            <a:pPr>
              <a:defRPr/>
            </a:pPr>
            <a:fld id="{76921531-3DE4-4FE6-8586-93C8C3054BFB}" type="slidenum">
              <a:rPr lang="en-US" smtClean="0"/>
              <a:pPr>
                <a:defRPr/>
              </a:pPr>
              <a:t>15</a:t>
            </a:fld>
            <a:endParaRPr lang="en-US"/>
          </a:p>
        </p:txBody>
      </p:sp>
    </p:spTree>
    <p:extLst>
      <p:ext uri="{BB962C8B-B14F-4D97-AF65-F5344CB8AC3E}">
        <p14:creationId xmlns:p14="http://schemas.microsoft.com/office/powerpoint/2010/main" val="3730813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12290">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p:cNvSpPr>
          <p:nvPr>
            <p:ph/>
          </p:nvPr>
        </p:nvSpPr>
        <p:spPr>
          <a:solidFill>
            <a:schemeClr val="accent1">
              <a:lumMod val="20000"/>
              <a:lumOff val="80000"/>
            </a:schemeClr>
          </a:solidFill>
        </p:spPr>
        <p:txBody>
          <a:bodyPr/>
          <a:lstStyle/>
          <a:p>
            <a:pPr eaLnBrk="1" hangingPunct="1">
              <a:buFont typeface="Arial" charset="0"/>
              <a:buNone/>
              <a:defRPr/>
            </a:pPr>
            <a:r>
              <a:rPr lang="en-US" dirty="0"/>
              <a:t>	</a:t>
            </a:r>
            <a:r>
              <a:rPr lang="en-US" dirty="0" err="1"/>
              <a:t>Trường</a:t>
            </a:r>
            <a:r>
              <a:rPr lang="en-US" dirty="0"/>
              <a:t> </a:t>
            </a:r>
            <a:r>
              <a:rPr lang="en-US" dirty="0" err="1"/>
              <a:t>hợp</a:t>
            </a:r>
            <a:r>
              <a:rPr lang="en-US" dirty="0"/>
              <a:t> </a:t>
            </a:r>
            <a:r>
              <a:rPr lang="en-US" dirty="0" err="1"/>
              <a:t>nào</a:t>
            </a:r>
            <a:r>
              <a:rPr lang="en-US" dirty="0"/>
              <a:t> </a:t>
            </a:r>
            <a:r>
              <a:rPr lang="en-US" dirty="0" err="1"/>
              <a:t>sau</a:t>
            </a:r>
            <a:r>
              <a:rPr lang="en-US" dirty="0"/>
              <a:t> </a:t>
            </a:r>
            <a:r>
              <a:rPr lang="en-US" dirty="0" err="1"/>
              <a:t>đây</a:t>
            </a:r>
            <a:r>
              <a:rPr lang="en-US" dirty="0"/>
              <a:t> </a:t>
            </a:r>
            <a:r>
              <a:rPr lang="en-US" dirty="0" err="1"/>
              <a:t>vật</a:t>
            </a:r>
            <a:r>
              <a:rPr lang="en-US" dirty="0"/>
              <a:t> </a:t>
            </a:r>
            <a:r>
              <a:rPr lang="en-US" dirty="0" err="1"/>
              <a:t>chịu</a:t>
            </a:r>
            <a:r>
              <a:rPr lang="en-US" dirty="0"/>
              <a:t> </a:t>
            </a:r>
            <a:r>
              <a:rPr lang="en-US" dirty="0" err="1"/>
              <a:t>tác</a:t>
            </a:r>
            <a:r>
              <a:rPr lang="en-US" dirty="0"/>
              <a:t> </a:t>
            </a:r>
            <a:r>
              <a:rPr lang="en-US" dirty="0" err="1"/>
              <a:t>dụng</a:t>
            </a:r>
            <a:r>
              <a:rPr lang="en-US" dirty="0"/>
              <a:t> </a:t>
            </a:r>
            <a:r>
              <a:rPr lang="en-US" dirty="0" err="1"/>
              <a:t>của</a:t>
            </a:r>
            <a:r>
              <a:rPr lang="en-US" dirty="0"/>
              <a:t> </a:t>
            </a:r>
            <a:r>
              <a:rPr lang="en-US" dirty="0" err="1"/>
              <a:t>lực</a:t>
            </a:r>
            <a:r>
              <a:rPr lang="en-US" dirty="0"/>
              <a:t> ma </a:t>
            </a:r>
            <a:r>
              <a:rPr lang="en-US" dirty="0" err="1"/>
              <a:t>sát</a:t>
            </a:r>
            <a:r>
              <a:rPr lang="en-US" dirty="0"/>
              <a:t> </a:t>
            </a:r>
            <a:r>
              <a:rPr lang="en-US" dirty="0" err="1"/>
              <a:t>nghỉ</a:t>
            </a:r>
            <a:r>
              <a:rPr lang="en-US" dirty="0"/>
              <a:t>:</a:t>
            </a:r>
          </a:p>
          <a:p>
            <a:pPr marL="0" indent="0" eaLnBrk="1" hangingPunct="1">
              <a:buNone/>
              <a:defRPr/>
            </a:pPr>
            <a:r>
              <a:rPr lang="en-US" dirty="0"/>
              <a:t>A. </a:t>
            </a:r>
            <a:r>
              <a:rPr lang="en-US" dirty="0" err="1"/>
              <a:t>Vật</a:t>
            </a:r>
            <a:r>
              <a:rPr lang="en-US" dirty="0"/>
              <a:t> </a:t>
            </a:r>
            <a:r>
              <a:rPr lang="en-US" dirty="0" err="1"/>
              <a:t>đứng</a:t>
            </a:r>
            <a:r>
              <a:rPr lang="en-US" dirty="0"/>
              <a:t> </a:t>
            </a:r>
            <a:r>
              <a:rPr lang="en-US" dirty="0" err="1"/>
              <a:t>yên</a:t>
            </a:r>
            <a:r>
              <a:rPr lang="en-US" dirty="0"/>
              <a:t> </a:t>
            </a:r>
            <a:r>
              <a:rPr lang="en-US" dirty="0" err="1"/>
              <a:t>trên</a:t>
            </a:r>
            <a:r>
              <a:rPr lang="en-US" dirty="0"/>
              <a:t> </a:t>
            </a:r>
            <a:r>
              <a:rPr lang="en-US" dirty="0" err="1"/>
              <a:t>mặt</a:t>
            </a:r>
            <a:r>
              <a:rPr lang="en-US" dirty="0"/>
              <a:t> </a:t>
            </a:r>
            <a:r>
              <a:rPr lang="en-US" dirty="0" err="1"/>
              <a:t>đường</a:t>
            </a:r>
            <a:r>
              <a:rPr lang="en-US" dirty="0"/>
              <a:t>, </a:t>
            </a:r>
            <a:r>
              <a:rPr lang="en-US" dirty="0" err="1"/>
              <a:t>không</a:t>
            </a:r>
            <a:r>
              <a:rPr lang="en-US" dirty="0"/>
              <a:t> </a:t>
            </a:r>
            <a:r>
              <a:rPr lang="en-US" dirty="0" err="1"/>
              <a:t>có</a:t>
            </a:r>
            <a:r>
              <a:rPr lang="en-US" dirty="0"/>
              <a:t> </a:t>
            </a:r>
            <a:r>
              <a:rPr lang="en-US" dirty="0" err="1"/>
              <a:t>xu</a:t>
            </a:r>
            <a:r>
              <a:rPr lang="en-US" dirty="0"/>
              <a:t> </a:t>
            </a:r>
            <a:r>
              <a:rPr lang="en-US" dirty="0" err="1"/>
              <a:t>hướng</a:t>
            </a:r>
            <a:r>
              <a:rPr lang="en-US" dirty="0"/>
              <a:t> </a:t>
            </a:r>
            <a:r>
              <a:rPr lang="en-US" dirty="0" err="1"/>
              <a:t>chuyển</a:t>
            </a:r>
            <a:r>
              <a:rPr lang="en-US" dirty="0"/>
              <a:t> </a:t>
            </a:r>
            <a:r>
              <a:rPr lang="en-US" dirty="0" err="1"/>
              <a:t>động</a:t>
            </a:r>
            <a:endParaRPr lang="en-US" dirty="0"/>
          </a:p>
          <a:p>
            <a:pPr marL="0" indent="0" eaLnBrk="1" hangingPunct="1">
              <a:buNone/>
              <a:defRPr/>
            </a:pPr>
            <a:r>
              <a:rPr lang="en-US" dirty="0"/>
              <a:t>B. </a:t>
            </a:r>
            <a:r>
              <a:rPr lang="en-US" dirty="0" err="1"/>
              <a:t>Vật</a:t>
            </a:r>
            <a:r>
              <a:rPr lang="en-US" dirty="0"/>
              <a:t> </a:t>
            </a:r>
            <a:r>
              <a:rPr lang="en-US" dirty="0" err="1"/>
              <a:t>đứng</a:t>
            </a:r>
            <a:r>
              <a:rPr lang="en-US" dirty="0"/>
              <a:t> </a:t>
            </a:r>
            <a:r>
              <a:rPr lang="en-US" dirty="0" err="1"/>
              <a:t>yên</a:t>
            </a:r>
            <a:r>
              <a:rPr lang="en-US" dirty="0"/>
              <a:t> </a:t>
            </a:r>
            <a:r>
              <a:rPr lang="en-US" dirty="0" err="1"/>
              <a:t>trên</a:t>
            </a:r>
            <a:r>
              <a:rPr lang="en-US" dirty="0"/>
              <a:t> </a:t>
            </a:r>
            <a:r>
              <a:rPr lang="en-US" dirty="0" err="1"/>
              <a:t>mặt</a:t>
            </a:r>
            <a:r>
              <a:rPr lang="en-US" dirty="0"/>
              <a:t> </a:t>
            </a:r>
            <a:r>
              <a:rPr lang="en-US" dirty="0" err="1"/>
              <a:t>đường</a:t>
            </a:r>
            <a:r>
              <a:rPr lang="en-US" dirty="0"/>
              <a:t>, </a:t>
            </a:r>
            <a:r>
              <a:rPr lang="en-US" dirty="0" err="1"/>
              <a:t>có</a:t>
            </a:r>
            <a:r>
              <a:rPr lang="en-US" dirty="0"/>
              <a:t> </a:t>
            </a:r>
            <a:r>
              <a:rPr lang="en-US" dirty="0" err="1"/>
              <a:t>xu</a:t>
            </a:r>
            <a:r>
              <a:rPr lang="en-US" dirty="0"/>
              <a:t> </a:t>
            </a:r>
            <a:r>
              <a:rPr lang="en-US" dirty="0" err="1"/>
              <a:t>hướng</a:t>
            </a:r>
            <a:r>
              <a:rPr lang="en-US" dirty="0"/>
              <a:t> </a:t>
            </a:r>
            <a:r>
              <a:rPr lang="en-US" dirty="0" err="1"/>
              <a:t>chuyển</a:t>
            </a:r>
            <a:r>
              <a:rPr lang="en-US" dirty="0"/>
              <a:t> </a:t>
            </a:r>
            <a:r>
              <a:rPr lang="en-US" dirty="0" err="1"/>
              <a:t>động</a:t>
            </a:r>
            <a:endParaRPr lang="en-US" dirty="0"/>
          </a:p>
          <a:p>
            <a:pPr marL="0" indent="0" eaLnBrk="1" hangingPunct="1">
              <a:buNone/>
              <a:defRPr/>
            </a:pPr>
            <a:r>
              <a:rPr lang="en-US" dirty="0"/>
              <a:t>C. </a:t>
            </a:r>
            <a:r>
              <a:rPr lang="en-US" dirty="0" err="1"/>
              <a:t>Vật</a:t>
            </a:r>
            <a:r>
              <a:rPr lang="en-US" dirty="0"/>
              <a:t> </a:t>
            </a:r>
            <a:r>
              <a:rPr lang="en-US" dirty="0" err="1"/>
              <a:t>chuyển</a:t>
            </a:r>
            <a:r>
              <a:rPr lang="en-US" dirty="0"/>
              <a:t> </a:t>
            </a:r>
            <a:r>
              <a:rPr lang="en-US" dirty="0" err="1"/>
              <a:t>động</a:t>
            </a:r>
            <a:r>
              <a:rPr lang="en-US" dirty="0"/>
              <a:t> </a:t>
            </a:r>
            <a:r>
              <a:rPr lang="en-US" dirty="0" err="1"/>
              <a:t>đều</a:t>
            </a:r>
            <a:r>
              <a:rPr lang="en-US" dirty="0"/>
              <a:t> </a:t>
            </a:r>
            <a:r>
              <a:rPr lang="en-US" dirty="0" err="1"/>
              <a:t>trên</a:t>
            </a:r>
            <a:r>
              <a:rPr lang="en-US" dirty="0"/>
              <a:t> </a:t>
            </a:r>
            <a:r>
              <a:rPr lang="en-US" dirty="0" err="1"/>
              <a:t>mặt</a:t>
            </a:r>
            <a:r>
              <a:rPr lang="en-US" dirty="0"/>
              <a:t> </a:t>
            </a:r>
            <a:r>
              <a:rPr lang="en-US" dirty="0" err="1"/>
              <a:t>đường</a:t>
            </a:r>
            <a:endParaRPr lang="en-US" dirty="0"/>
          </a:p>
          <a:p>
            <a:pPr marL="0" indent="0" eaLnBrk="1" hangingPunct="1">
              <a:buNone/>
              <a:defRPr/>
            </a:pPr>
            <a:r>
              <a:rPr lang="en-US" dirty="0"/>
              <a:t>D. </a:t>
            </a:r>
            <a:r>
              <a:rPr lang="en-US" dirty="0" err="1"/>
              <a:t>Cả</a:t>
            </a:r>
            <a:r>
              <a:rPr lang="en-US" dirty="0"/>
              <a:t> 3 </a:t>
            </a:r>
            <a:r>
              <a:rPr lang="en-US" dirty="0" err="1"/>
              <a:t>trường</a:t>
            </a:r>
            <a:r>
              <a:rPr lang="en-US" dirty="0"/>
              <a:t> </a:t>
            </a:r>
            <a:r>
              <a:rPr lang="en-US" dirty="0" err="1"/>
              <a:t>hợp</a:t>
            </a:r>
            <a:r>
              <a:rPr lang="en-US" dirty="0"/>
              <a:t> </a:t>
            </a:r>
            <a:r>
              <a:rPr lang="en-US" dirty="0" err="1"/>
              <a:t>đều</a:t>
            </a:r>
            <a:r>
              <a:rPr lang="en-US" dirty="0"/>
              <a:t> </a:t>
            </a:r>
            <a:r>
              <a:rPr lang="en-US" dirty="0" err="1"/>
              <a:t>xuất</a:t>
            </a:r>
            <a:r>
              <a:rPr lang="en-US" dirty="0"/>
              <a:t> </a:t>
            </a:r>
            <a:r>
              <a:rPr lang="en-US" dirty="0" err="1"/>
              <a:t>hiện</a:t>
            </a:r>
            <a:r>
              <a:rPr lang="en-US" dirty="0"/>
              <a:t> ma </a:t>
            </a:r>
            <a:r>
              <a:rPr lang="en-US" dirty="0" err="1"/>
              <a:t>sát</a:t>
            </a:r>
            <a:r>
              <a:rPr lang="en-US" dirty="0"/>
              <a:t> </a:t>
            </a:r>
            <a:r>
              <a:rPr lang="en-US" dirty="0" err="1"/>
              <a:t>nghỉ</a:t>
            </a:r>
            <a:endParaRPr lang="en-US" dirty="0"/>
          </a:p>
          <a:p>
            <a:pPr eaLnBrk="1" hangingPunct="1">
              <a:defRPr/>
            </a:pPr>
            <a:endParaRPr lang="en-US" dirty="0"/>
          </a:p>
          <a:p>
            <a:pPr eaLnBrk="1" hangingPunct="1">
              <a:buFont typeface="Wingdings" pitchFamily="2" charset="2"/>
              <a:buChar char="Ø"/>
              <a:defRPr/>
            </a:pPr>
            <a:r>
              <a:rPr lang="en-US" u="sng" dirty="0" err="1"/>
              <a:t>C</a:t>
            </a:r>
            <a:r>
              <a:rPr lang="en-US" b="1" i="1" u="sng" dirty="0" err="1">
                <a:latin typeface="Times New Roman" pitchFamily="18" charset="0"/>
                <a:cs typeface="Times New Roman" pitchFamily="18" charset="0"/>
              </a:rPr>
              <a:t>hú</a:t>
            </a:r>
            <a:r>
              <a:rPr lang="en-US" b="1" i="1" u="sng" dirty="0">
                <a:latin typeface="Times New Roman" pitchFamily="18" charset="0"/>
                <a:cs typeface="Times New Roman" pitchFamily="18" charset="0"/>
              </a:rPr>
              <a:t> ý: </a:t>
            </a:r>
            <a:r>
              <a:rPr lang="en-US" i="1" dirty="0" err="1">
                <a:latin typeface="Times New Roman" pitchFamily="18" charset="0"/>
                <a:cs typeface="Times New Roman" pitchFamily="18" charset="0"/>
              </a:rPr>
              <a:t>đọc</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kỹ</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phần</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lực</a:t>
            </a:r>
            <a:r>
              <a:rPr lang="en-US" i="1" dirty="0">
                <a:latin typeface="Times New Roman" pitchFamily="18" charset="0"/>
                <a:cs typeface="Times New Roman" pitchFamily="18" charset="0"/>
              </a:rPr>
              <a:t> ma </a:t>
            </a:r>
            <a:r>
              <a:rPr lang="en-US" i="1" dirty="0" err="1">
                <a:latin typeface="Times New Roman" pitchFamily="18" charset="0"/>
                <a:cs typeface="Times New Roman" pitchFamily="18" charset="0"/>
              </a:rPr>
              <a:t>sát</a:t>
            </a:r>
            <a:endParaRPr lang="en-US" i="1" dirty="0">
              <a:latin typeface="Times New Roman" pitchFamily="18" charset="0"/>
              <a:cs typeface="Times New Roman" pitchFamily="18" charset="0"/>
            </a:endParaRPr>
          </a:p>
        </p:txBody>
      </p:sp>
      <p:sp>
        <p:nvSpPr>
          <p:cNvPr id="2" name="Footer Placeholder 1">
            <a:extLst>
              <a:ext uri="{FF2B5EF4-FFF2-40B4-BE49-F238E27FC236}">
                <a16:creationId xmlns:a16="http://schemas.microsoft.com/office/drawing/2014/main" id="{318A7791-94B6-0937-B1EB-A01C21BA0AE4}"/>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EC916726-689F-B111-A49D-83160D8A2FB5}"/>
              </a:ext>
            </a:extLst>
          </p:cNvPr>
          <p:cNvSpPr>
            <a:spLocks noGrp="1"/>
          </p:cNvSpPr>
          <p:nvPr>
            <p:ph type="sldNum" sz="quarter" idx="12"/>
          </p:nvPr>
        </p:nvSpPr>
        <p:spPr/>
        <p:txBody>
          <a:bodyPr/>
          <a:lstStyle/>
          <a:p>
            <a:pPr>
              <a:defRPr/>
            </a:pPr>
            <a:fld id="{76921531-3DE4-4FE6-8586-93C8C3054BFB}" type="slidenum">
              <a:rPr lang="en-US" smtClean="0"/>
              <a:pPr>
                <a:defRPr/>
              </a:pPr>
              <a:t>16</a:t>
            </a:fld>
            <a:endParaRPr lang="en-US"/>
          </a:p>
        </p:txBody>
      </p:sp>
    </p:spTree>
    <p:extLst>
      <p:ext uri="{BB962C8B-B14F-4D97-AF65-F5344CB8AC3E}">
        <p14:creationId xmlns:p14="http://schemas.microsoft.com/office/powerpoint/2010/main" val="15311114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15362">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marL="0" indent="0">
              <a:buFont typeface="Arial" charset="0"/>
              <a:buNone/>
              <a:defRPr/>
            </a:pPr>
            <a:r>
              <a:rPr lang="en-US" dirty="0" err="1"/>
              <a:t>Một</a:t>
            </a:r>
            <a:r>
              <a:rPr lang="en-US" dirty="0"/>
              <a:t> ô </a:t>
            </a:r>
            <a:r>
              <a:rPr lang="en-US" dirty="0" err="1"/>
              <a:t>tô</a:t>
            </a:r>
            <a:r>
              <a:rPr lang="en-US" dirty="0"/>
              <a:t> </a:t>
            </a:r>
            <a:r>
              <a:rPr lang="en-US" dirty="0" err="1"/>
              <a:t>chuyển</a:t>
            </a:r>
            <a:r>
              <a:rPr lang="en-US" dirty="0"/>
              <a:t> </a:t>
            </a:r>
            <a:r>
              <a:rPr lang="en-US" dirty="0" err="1"/>
              <a:t>động</a:t>
            </a:r>
            <a:r>
              <a:rPr lang="en-US" dirty="0"/>
              <a:t> </a:t>
            </a:r>
            <a:r>
              <a:rPr lang="en-US" dirty="0" err="1"/>
              <a:t>chậm</a:t>
            </a:r>
            <a:r>
              <a:rPr lang="en-US" dirty="0"/>
              <a:t> </a:t>
            </a:r>
            <a:r>
              <a:rPr lang="en-US" dirty="0" err="1"/>
              <a:t>dần</a:t>
            </a:r>
            <a:r>
              <a:rPr lang="en-US" dirty="0"/>
              <a:t> </a:t>
            </a:r>
            <a:r>
              <a:rPr lang="en-US" dirty="0" err="1"/>
              <a:t>đều</a:t>
            </a:r>
            <a:r>
              <a:rPr lang="en-US" dirty="0"/>
              <a:t> </a:t>
            </a:r>
            <a:r>
              <a:rPr lang="en-US" dirty="0" err="1"/>
              <a:t>trên</a:t>
            </a:r>
            <a:r>
              <a:rPr lang="en-US" dirty="0"/>
              <a:t> </a:t>
            </a:r>
            <a:r>
              <a:rPr lang="en-US" dirty="0" err="1"/>
              <a:t>mặt</a:t>
            </a:r>
            <a:r>
              <a:rPr lang="en-US" dirty="0"/>
              <a:t> </a:t>
            </a:r>
            <a:r>
              <a:rPr lang="en-US" dirty="0" err="1"/>
              <a:t>phẳng</a:t>
            </a:r>
            <a:r>
              <a:rPr lang="en-US" dirty="0"/>
              <a:t> </a:t>
            </a:r>
            <a:r>
              <a:rPr lang="en-US" dirty="0" err="1"/>
              <a:t>nằm</a:t>
            </a:r>
            <a:r>
              <a:rPr lang="en-US" dirty="0"/>
              <a:t> </a:t>
            </a:r>
            <a:r>
              <a:rPr lang="en-US" dirty="0" err="1"/>
              <a:t>ngang</a:t>
            </a:r>
            <a:r>
              <a:rPr lang="en-US" dirty="0"/>
              <a:t>. </a:t>
            </a:r>
            <a:r>
              <a:rPr lang="en-US" dirty="0" err="1"/>
              <a:t>Khi</a:t>
            </a:r>
            <a:r>
              <a:rPr lang="en-US" dirty="0"/>
              <a:t> </a:t>
            </a:r>
            <a:r>
              <a:rPr lang="en-US" dirty="0" err="1"/>
              <a:t>đó</a:t>
            </a:r>
            <a:r>
              <a:rPr lang="en-US" dirty="0"/>
              <a:t>, </a:t>
            </a:r>
            <a:r>
              <a:rPr lang="en-US" dirty="0" err="1"/>
              <a:t>lực</a:t>
            </a:r>
            <a:r>
              <a:rPr lang="en-US" dirty="0"/>
              <a:t> ma </a:t>
            </a:r>
            <a:r>
              <a:rPr lang="en-US" dirty="0" err="1"/>
              <a:t>sát</a:t>
            </a:r>
            <a:r>
              <a:rPr lang="en-US" dirty="0"/>
              <a:t> </a:t>
            </a:r>
            <a:r>
              <a:rPr lang="en-US" dirty="0" err="1"/>
              <a:t>xuất</a:t>
            </a:r>
            <a:r>
              <a:rPr lang="en-US" dirty="0"/>
              <a:t> </a:t>
            </a:r>
            <a:r>
              <a:rPr lang="en-US" dirty="0" err="1"/>
              <a:t>hiện</a:t>
            </a:r>
            <a:r>
              <a:rPr lang="en-US" dirty="0"/>
              <a:t> </a:t>
            </a:r>
            <a:r>
              <a:rPr lang="en-US" dirty="0" err="1"/>
              <a:t>giữa</a:t>
            </a:r>
            <a:r>
              <a:rPr lang="en-US" dirty="0"/>
              <a:t> </a:t>
            </a:r>
            <a:r>
              <a:rPr lang="en-US" dirty="0" err="1"/>
              <a:t>bánh</a:t>
            </a:r>
            <a:r>
              <a:rPr lang="en-US" dirty="0"/>
              <a:t> </a:t>
            </a:r>
            <a:r>
              <a:rPr lang="en-US" dirty="0" err="1"/>
              <a:t>xe</a:t>
            </a:r>
            <a:r>
              <a:rPr lang="en-US" dirty="0"/>
              <a:t> </a:t>
            </a:r>
            <a:r>
              <a:rPr lang="en-US" dirty="0" err="1"/>
              <a:t>và</a:t>
            </a:r>
            <a:r>
              <a:rPr lang="en-US" dirty="0"/>
              <a:t> </a:t>
            </a:r>
            <a:r>
              <a:rPr lang="en-US" dirty="0" err="1"/>
              <a:t>mặt</a:t>
            </a:r>
            <a:r>
              <a:rPr lang="en-US" dirty="0"/>
              <a:t> </a:t>
            </a:r>
            <a:r>
              <a:rPr lang="en-US" dirty="0" err="1"/>
              <a:t>đường</a:t>
            </a:r>
            <a:r>
              <a:rPr lang="en-US" dirty="0"/>
              <a:t> </a:t>
            </a:r>
            <a:r>
              <a:rPr lang="en-US" dirty="0" err="1"/>
              <a:t>là</a:t>
            </a:r>
            <a:r>
              <a:rPr lang="en-US" dirty="0"/>
              <a:t> :</a:t>
            </a:r>
          </a:p>
          <a:p>
            <a:pPr marL="0" indent="0">
              <a:buNone/>
              <a:defRPr/>
            </a:pPr>
            <a:r>
              <a:rPr lang="en-US" dirty="0"/>
              <a:t>A. </a:t>
            </a:r>
            <a:r>
              <a:rPr lang="en-US" dirty="0" err="1"/>
              <a:t>Cùng</a:t>
            </a:r>
            <a:r>
              <a:rPr lang="en-US" dirty="0"/>
              <a:t> </a:t>
            </a:r>
            <a:r>
              <a:rPr lang="en-US" dirty="0" err="1"/>
              <a:t>phương</a:t>
            </a:r>
            <a:r>
              <a:rPr lang="en-US" dirty="0"/>
              <a:t>, </a:t>
            </a:r>
            <a:r>
              <a:rPr lang="en-US" dirty="0" err="1"/>
              <a:t>cùng</a:t>
            </a:r>
            <a:r>
              <a:rPr lang="en-US" dirty="0"/>
              <a:t> </a:t>
            </a:r>
            <a:r>
              <a:rPr lang="en-US" dirty="0" err="1"/>
              <a:t>chiều</a:t>
            </a:r>
            <a:r>
              <a:rPr lang="en-US" dirty="0"/>
              <a:t> </a:t>
            </a:r>
            <a:r>
              <a:rPr lang="en-US" dirty="0" err="1"/>
              <a:t>với</a:t>
            </a:r>
            <a:r>
              <a:rPr lang="en-US" dirty="0"/>
              <a:t> </a:t>
            </a:r>
            <a:r>
              <a:rPr lang="en-US" dirty="0" err="1"/>
              <a:t>vectơ</a:t>
            </a:r>
            <a:r>
              <a:rPr lang="en-US" dirty="0"/>
              <a:t> </a:t>
            </a:r>
            <a:r>
              <a:rPr lang="en-US" dirty="0" err="1"/>
              <a:t>vận</a:t>
            </a:r>
            <a:r>
              <a:rPr lang="en-US" dirty="0"/>
              <a:t> </a:t>
            </a:r>
            <a:r>
              <a:rPr lang="en-US" dirty="0" err="1"/>
              <a:t>tốc</a:t>
            </a:r>
            <a:r>
              <a:rPr lang="en-US" dirty="0"/>
              <a:t>.</a:t>
            </a:r>
          </a:p>
          <a:p>
            <a:pPr marL="0" indent="0">
              <a:buNone/>
              <a:defRPr/>
            </a:pPr>
            <a:r>
              <a:rPr lang="en-US" dirty="0"/>
              <a:t>B. </a:t>
            </a:r>
            <a:r>
              <a:rPr lang="en-US" dirty="0" err="1"/>
              <a:t>Cùng</a:t>
            </a:r>
            <a:r>
              <a:rPr lang="en-US" dirty="0"/>
              <a:t> </a:t>
            </a:r>
            <a:r>
              <a:rPr lang="en-US" dirty="0" err="1"/>
              <a:t>phương</a:t>
            </a:r>
            <a:r>
              <a:rPr lang="en-US" dirty="0"/>
              <a:t>, </a:t>
            </a:r>
            <a:r>
              <a:rPr lang="en-US" dirty="0" err="1"/>
              <a:t>cùng</a:t>
            </a:r>
            <a:r>
              <a:rPr lang="en-US" dirty="0"/>
              <a:t> </a:t>
            </a:r>
            <a:r>
              <a:rPr lang="en-US" dirty="0" err="1"/>
              <a:t>chiều</a:t>
            </a:r>
            <a:r>
              <a:rPr lang="en-US" dirty="0"/>
              <a:t> </a:t>
            </a:r>
            <a:r>
              <a:rPr lang="en-US" dirty="0" err="1"/>
              <a:t>với</a:t>
            </a:r>
            <a:r>
              <a:rPr lang="en-US" dirty="0"/>
              <a:t> </a:t>
            </a:r>
            <a:r>
              <a:rPr lang="en-US" dirty="0" err="1"/>
              <a:t>vectơ</a:t>
            </a:r>
            <a:r>
              <a:rPr lang="en-US" dirty="0"/>
              <a:t> </a:t>
            </a:r>
            <a:r>
              <a:rPr lang="en-US" dirty="0" err="1"/>
              <a:t>gia</a:t>
            </a:r>
            <a:r>
              <a:rPr lang="en-US" dirty="0"/>
              <a:t> </a:t>
            </a:r>
            <a:r>
              <a:rPr lang="en-US" dirty="0" err="1"/>
              <a:t>tốc</a:t>
            </a:r>
            <a:r>
              <a:rPr lang="en-US" dirty="0"/>
              <a:t>.</a:t>
            </a:r>
          </a:p>
          <a:p>
            <a:pPr marL="0" indent="0">
              <a:buNone/>
              <a:defRPr/>
            </a:pPr>
            <a:r>
              <a:rPr lang="en-US" dirty="0"/>
              <a:t>C. </a:t>
            </a:r>
            <a:r>
              <a:rPr lang="en-US" dirty="0" err="1"/>
              <a:t>Không</a:t>
            </a:r>
            <a:r>
              <a:rPr lang="en-US" dirty="0"/>
              <a:t> </a:t>
            </a:r>
            <a:r>
              <a:rPr lang="en-US" dirty="0" err="1"/>
              <a:t>xác</a:t>
            </a:r>
            <a:r>
              <a:rPr lang="en-US" dirty="0"/>
              <a:t> </a:t>
            </a:r>
            <a:r>
              <a:rPr lang="en-US" dirty="0" err="1"/>
              <a:t>định</a:t>
            </a:r>
            <a:r>
              <a:rPr lang="en-US" dirty="0"/>
              <a:t> </a:t>
            </a:r>
            <a:r>
              <a:rPr lang="en-US" dirty="0" err="1"/>
              <a:t>được</a:t>
            </a:r>
            <a:r>
              <a:rPr lang="en-US" dirty="0"/>
              <a:t> </a:t>
            </a:r>
            <a:r>
              <a:rPr lang="en-US" dirty="0" err="1"/>
              <a:t>phương</a:t>
            </a:r>
            <a:r>
              <a:rPr lang="en-US" dirty="0"/>
              <a:t> </a:t>
            </a:r>
            <a:r>
              <a:rPr lang="en-US" dirty="0" err="1"/>
              <a:t>chiều</a:t>
            </a:r>
            <a:r>
              <a:rPr lang="en-US" dirty="0"/>
              <a:t>.</a:t>
            </a:r>
          </a:p>
          <a:p>
            <a:pPr marL="0" indent="0">
              <a:buNone/>
              <a:defRPr/>
            </a:pPr>
            <a:r>
              <a:rPr lang="en-US" dirty="0"/>
              <a:t>D. </a:t>
            </a:r>
            <a:r>
              <a:rPr lang="en-US" dirty="0" err="1"/>
              <a:t>Cùng</a:t>
            </a:r>
            <a:r>
              <a:rPr lang="en-US" dirty="0"/>
              <a:t> </a:t>
            </a:r>
            <a:r>
              <a:rPr lang="en-US" dirty="0" err="1"/>
              <a:t>phương</a:t>
            </a:r>
            <a:r>
              <a:rPr lang="en-US" dirty="0"/>
              <a:t>, </a:t>
            </a:r>
            <a:r>
              <a:rPr lang="en-US" dirty="0" err="1"/>
              <a:t>ngược</a:t>
            </a:r>
            <a:r>
              <a:rPr lang="en-US" dirty="0"/>
              <a:t> </a:t>
            </a:r>
            <a:r>
              <a:rPr lang="en-US" dirty="0" err="1"/>
              <a:t>chiều</a:t>
            </a:r>
            <a:r>
              <a:rPr lang="en-US" dirty="0"/>
              <a:t> </a:t>
            </a:r>
            <a:r>
              <a:rPr lang="en-US" dirty="0" err="1"/>
              <a:t>với</a:t>
            </a:r>
            <a:r>
              <a:rPr lang="en-US" dirty="0"/>
              <a:t> </a:t>
            </a:r>
            <a:r>
              <a:rPr lang="en-US" dirty="0" err="1"/>
              <a:t>vectơ</a:t>
            </a:r>
            <a:r>
              <a:rPr lang="en-US" dirty="0"/>
              <a:t> </a:t>
            </a:r>
            <a:r>
              <a:rPr lang="en-US" dirty="0" err="1"/>
              <a:t>gia</a:t>
            </a:r>
            <a:r>
              <a:rPr lang="en-US" dirty="0"/>
              <a:t> </a:t>
            </a:r>
            <a:r>
              <a:rPr lang="en-US" dirty="0" err="1"/>
              <a:t>tốc</a:t>
            </a:r>
            <a:r>
              <a:rPr lang="en-US" dirty="0"/>
              <a:t>.</a:t>
            </a:r>
          </a:p>
          <a:p>
            <a:pPr>
              <a:defRPr/>
            </a:pPr>
            <a:endParaRPr lang="en-US" dirty="0"/>
          </a:p>
        </p:txBody>
      </p:sp>
      <p:sp>
        <p:nvSpPr>
          <p:cNvPr id="3" name="Footer Placeholder 2">
            <a:extLst>
              <a:ext uri="{FF2B5EF4-FFF2-40B4-BE49-F238E27FC236}">
                <a16:creationId xmlns:a16="http://schemas.microsoft.com/office/drawing/2014/main" id="{38FADB87-8A04-7471-1636-81985F74CC6A}"/>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98530EEC-5B98-F807-17C1-279FA2466413}"/>
              </a:ext>
            </a:extLst>
          </p:cNvPr>
          <p:cNvSpPr>
            <a:spLocks noGrp="1"/>
          </p:cNvSpPr>
          <p:nvPr>
            <p:ph type="sldNum" sz="quarter" idx="12"/>
          </p:nvPr>
        </p:nvSpPr>
        <p:spPr/>
        <p:txBody>
          <a:bodyPr/>
          <a:lstStyle/>
          <a:p>
            <a:pPr>
              <a:defRPr/>
            </a:pPr>
            <a:fld id="{76921531-3DE4-4FE6-8586-93C8C3054BFB}" type="slidenum">
              <a:rPr lang="en-US" smtClean="0"/>
              <a:pPr>
                <a:defRPr/>
              </a:pPr>
              <a:t>17</a:t>
            </a:fld>
            <a:endParaRPr lang="en-US"/>
          </a:p>
        </p:txBody>
      </p:sp>
    </p:spTree>
    <p:extLst>
      <p:ext uri="{BB962C8B-B14F-4D97-AF65-F5344CB8AC3E}">
        <p14:creationId xmlns:p14="http://schemas.microsoft.com/office/powerpoint/2010/main" val="42766090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2">
                                            <p:txEl>
                                              <p:pRg st="2" end="2"/>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marL="0" indent="0">
              <a:buFont typeface="Arial" charset="0"/>
              <a:buNone/>
              <a:defRPr/>
            </a:pPr>
            <a:r>
              <a:rPr lang="en-US" dirty="0" err="1"/>
              <a:t>Đặc</a:t>
            </a:r>
            <a:r>
              <a:rPr lang="en-US" dirty="0"/>
              <a:t> </a:t>
            </a:r>
            <a:r>
              <a:rPr lang="en-US" dirty="0" err="1"/>
              <a:t>điểm</a:t>
            </a:r>
            <a:r>
              <a:rPr lang="en-US" dirty="0"/>
              <a:t> </a:t>
            </a:r>
            <a:r>
              <a:rPr lang="en-US" dirty="0" err="1"/>
              <a:t>nào</a:t>
            </a:r>
            <a:r>
              <a:rPr lang="en-US" dirty="0"/>
              <a:t> </a:t>
            </a:r>
            <a:r>
              <a:rPr lang="en-US" dirty="0" err="1"/>
              <a:t>sau</a:t>
            </a:r>
            <a:r>
              <a:rPr lang="en-US" dirty="0"/>
              <a:t> </a:t>
            </a:r>
            <a:r>
              <a:rPr lang="en-US" dirty="0" err="1"/>
              <a:t>đây</a:t>
            </a:r>
            <a:r>
              <a:rPr lang="en-US" dirty="0"/>
              <a:t> </a:t>
            </a:r>
            <a:r>
              <a:rPr lang="en-US" u="sng" dirty="0" err="1"/>
              <a:t>không</a:t>
            </a:r>
            <a:r>
              <a:rPr lang="en-US" u="sng" dirty="0"/>
              <a:t> </a:t>
            </a:r>
            <a:r>
              <a:rPr lang="en-US" u="sng" dirty="0" err="1"/>
              <a:t>phải</a:t>
            </a:r>
            <a:r>
              <a:rPr lang="en-US" u="sng" dirty="0"/>
              <a:t> </a:t>
            </a:r>
            <a:r>
              <a:rPr lang="en-US" dirty="0" err="1"/>
              <a:t>của</a:t>
            </a:r>
            <a:r>
              <a:rPr lang="en-US" dirty="0"/>
              <a:t> </a:t>
            </a:r>
            <a:r>
              <a:rPr lang="en-US" dirty="0" err="1"/>
              <a:t>lực</a:t>
            </a:r>
            <a:r>
              <a:rPr lang="en-US" dirty="0"/>
              <a:t> ma </a:t>
            </a:r>
            <a:r>
              <a:rPr lang="en-US" dirty="0" err="1"/>
              <a:t>sát</a:t>
            </a:r>
            <a:r>
              <a:rPr lang="en-US" dirty="0"/>
              <a:t> </a:t>
            </a:r>
            <a:r>
              <a:rPr lang="en-US" dirty="0" err="1"/>
              <a:t>trượt</a:t>
            </a:r>
            <a:r>
              <a:rPr lang="en-US" dirty="0"/>
              <a:t>?</a:t>
            </a:r>
          </a:p>
          <a:p>
            <a:pPr marL="514350" indent="-514350">
              <a:buFont typeface="Arial" charset="0"/>
              <a:buAutoNum type="alphaLcParenR"/>
              <a:defRPr/>
            </a:pPr>
            <a:r>
              <a:rPr lang="en-US" dirty="0" err="1"/>
              <a:t>Xuất</a:t>
            </a:r>
            <a:r>
              <a:rPr lang="en-US" dirty="0"/>
              <a:t> </a:t>
            </a:r>
            <a:r>
              <a:rPr lang="en-US" dirty="0" err="1"/>
              <a:t>hiện</a:t>
            </a:r>
            <a:r>
              <a:rPr lang="en-US" dirty="0"/>
              <a:t> </a:t>
            </a:r>
            <a:r>
              <a:rPr lang="en-US" dirty="0" err="1"/>
              <a:t>khi</a:t>
            </a:r>
            <a:r>
              <a:rPr lang="en-US" dirty="0"/>
              <a:t> </a:t>
            </a:r>
            <a:r>
              <a:rPr lang="en-US" dirty="0" err="1"/>
              <a:t>vật</a:t>
            </a:r>
            <a:r>
              <a:rPr lang="en-US" dirty="0"/>
              <a:t> </a:t>
            </a:r>
            <a:r>
              <a:rPr lang="en-US" dirty="0" err="1"/>
              <a:t>trượt</a:t>
            </a:r>
            <a:r>
              <a:rPr lang="en-US" dirty="0"/>
              <a:t> </a:t>
            </a:r>
            <a:r>
              <a:rPr lang="en-US" dirty="0" err="1"/>
              <a:t>trên</a:t>
            </a:r>
            <a:r>
              <a:rPr lang="en-US" dirty="0"/>
              <a:t> </a:t>
            </a:r>
            <a:r>
              <a:rPr lang="en-US" dirty="0" err="1"/>
              <a:t>bề</a:t>
            </a:r>
            <a:r>
              <a:rPr lang="en-US" dirty="0"/>
              <a:t> </a:t>
            </a:r>
            <a:r>
              <a:rPr lang="en-US" dirty="0" err="1"/>
              <a:t>mặt</a:t>
            </a:r>
            <a:r>
              <a:rPr lang="en-US" dirty="0"/>
              <a:t> </a:t>
            </a:r>
            <a:r>
              <a:rPr lang="en-US" dirty="0" err="1"/>
              <a:t>vật</a:t>
            </a:r>
            <a:r>
              <a:rPr lang="en-US" dirty="0"/>
              <a:t> </a:t>
            </a:r>
            <a:r>
              <a:rPr lang="en-US" dirty="0" err="1"/>
              <a:t>khác</a:t>
            </a:r>
            <a:r>
              <a:rPr lang="en-US" dirty="0"/>
              <a:t>.</a:t>
            </a:r>
          </a:p>
          <a:p>
            <a:pPr marL="514350" indent="-514350">
              <a:buFont typeface="Arial" charset="0"/>
              <a:buAutoNum type="alphaLcParenR"/>
              <a:defRPr/>
            </a:pPr>
            <a:r>
              <a:rPr lang="en-US" dirty="0" err="1"/>
              <a:t>Luôn</a:t>
            </a:r>
            <a:r>
              <a:rPr lang="en-US" dirty="0"/>
              <a:t> </a:t>
            </a:r>
            <a:r>
              <a:rPr lang="en-US" dirty="0" err="1"/>
              <a:t>ngược</a:t>
            </a:r>
            <a:r>
              <a:rPr lang="en-US" dirty="0"/>
              <a:t> </a:t>
            </a:r>
            <a:r>
              <a:rPr lang="en-US" dirty="0" err="1"/>
              <a:t>chiều</a:t>
            </a:r>
            <a:r>
              <a:rPr lang="en-US" dirty="0"/>
              <a:t> </a:t>
            </a:r>
            <a:r>
              <a:rPr lang="en-US" dirty="0" err="1"/>
              <a:t>với</a:t>
            </a:r>
            <a:r>
              <a:rPr lang="en-US" dirty="0"/>
              <a:t> </a:t>
            </a:r>
            <a:r>
              <a:rPr lang="en-US" dirty="0" err="1"/>
              <a:t>chiều</a:t>
            </a:r>
            <a:r>
              <a:rPr lang="en-US" dirty="0"/>
              <a:t> </a:t>
            </a:r>
            <a:r>
              <a:rPr lang="en-US" dirty="0" err="1"/>
              <a:t>chuyển</a:t>
            </a:r>
            <a:r>
              <a:rPr lang="en-US" dirty="0"/>
              <a:t> </a:t>
            </a:r>
            <a:r>
              <a:rPr lang="en-US" dirty="0" err="1"/>
              <a:t>động</a:t>
            </a:r>
            <a:endParaRPr lang="en-US" dirty="0"/>
          </a:p>
          <a:p>
            <a:pPr marL="514350" indent="-514350">
              <a:buFont typeface="Arial" charset="0"/>
              <a:buAutoNum type="alphaLcParenR"/>
              <a:defRPr/>
            </a:pPr>
            <a:r>
              <a:rPr lang="en-US" dirty="0" err="1"/>
              <a:t>Tỉ</a:t>
            </a:r>
            <a:r>
              <a:rPr lang="en-US" dirty="0"/>
              <a:t> </a:t>
            </a:r>
            <a:r>
              <a:rPr lang="en-US" dirty="0" err="1"/>
              <a:t>lệ</a:t>
            </a:r>
            <a:r>
              <a:rPr lang="en-US" dirty="0"/>
              <a:t> </a:t>
            </a:r>
            <a:r>
              <a:rPr lang="en-US" dirty="0" err="1"/>
              <a:t>với</a:t>
            </a:r>
            <a:r>
              <a:rPr lang="en-US" dirty="0"/>
              <a:t> </a:t>
            </a:r>
            <a:r>
              <a:rPr lang="en-US" dirty="0" err="1"/>
              <a:t>áp</a:t>
            </a:r>
            <a:r>
              <a:rPr lang="en-US" dirty="0"/>
              <a:t> </a:t>
            </a:r>
            <a:r>
              <a:rPr lang="en-US" dirty="0" err="1"/>
              <a:t>lực</a:t>
            </a:r>
            <a:r>
              <a:rPr lang="en-US" dirty="0"/>
              <a:t> </a:t>
            </a:r>
            <a:r>
              <a:rPr lang="en-US" dirty="0" err="1"/>
              <a:t>vuông</a:t>
            </a:r>
            <a:r>
              <a:rPr lang="en-US" dirty="0"/>
              <a:t> </a:t>
            </a:r>
            <a:r>
              <a:rPr lang="en-US" dirty="0" err="1"/>
              <a:t>góc</a:t>
            </a:r>
            <a:r>
              <a:rPr lang="en-US" dirty="0"/>
              <a:t> </a:t>
            </a:r>
            <a:r>
              <a:rPr lang="en-US" dirty="0" err="1"/>
              <a:t>với</a:t>
            </a:r>
            <a:r>
              <a:rPr lang="en-US" dirty="0"/>
              <a:t> </a:t>
            </a:r>
            <a:r>
              <a:rPr lang="en-US" dirty="0" err="1"/>
              <a:t>mặt</a:t>
            </a:r>
            <a:r>
              <a:rPr lang="en-US" dirty="0"/>
              <a:t> </a:t>
            </a:r>
            <a:r>
              <a:rPr lang="en-US" dirty="0" err="1"/>
              <a:t>tiếp</a:t>
            </a:r>
            <a:r>
              <a:rPr lang="en-US" dirty="0"/>
              <a:t> </a:t>
            </a:r>
            <a:r>
              <a:rPr lang="en-US" dirty="0" err="1"/>
              <a:t>xúc</a:t>
            </a:r>
            <a:endParaRPr lang="en-US" dirty="0"/>
          </a:p>
          <a:p>
            <a:pPr marL="514350" indent="-514350">
              <a:buFont typeface="Arial" charset="0"/>
              <a:buAutoNum type="alphaLcParenR"/>
              <a:defRPr/>
            </a:pPr>
            <a:r>
              <a:rPr lang="en-US" dirty="0" err="1"/>
              <a:t>Luôn</a:t>
            </a:r>
            <a:r>
              <a:rPr lang="en-US" dirty="0"/>
              <a:t> </a:t>
            </a:r>
            <a:r>
              <a:rPr lang="en-US" dirty="0" err="1"/>
              <a:t>cân</a:t>
            </a:r>
            <a:r>
              <a:rPr lang="en-US" dirty="0"/>
              <a:t> </a:t>
            </a:r>
            <a:r>
              <a:rPr lang="en-US" dirty="0" err="1"/>
              <a:t>bằng</a:t>
            </a:r>
            <a:r>
              <a:rPr lang="en-US" dirty="0"/>
              <a:t> </a:t>
            </a:r>
            <a:r>
              <a:rPr lang="en-US" dirty="0" err="1"/>
              <a:t>với</a:t>
            </a:r>
            <a:r>
              <a:rPr lang="en-US" dirty="0"/>
              <a:t> </a:t>
            </a:r>
            <a:r>
              <a:rPr lang="en-US" dirty="0" err="1"/>
              <a:t>ngoại</a:t>
            </a:r>
            <a:r>
              <a:rPr lang="en-US" dirty="0"/>
              <a:t> </a:t>
            </a:r>
            <a:r>
              <a:rPr lang="en-US" dirty="0" err="1"/>
              <a:t>lực</a:t>
            </a:r>
            <a:r>
              <a:rPr lang="en-US" dirty="0"/>
              <a:t> </a:t>
            </a:r>
            <a:r>
              <a:rPr lang="en-US" dirty="0" err="1"/>
              <a:t>tác</a:t>
            </a:r>
            <a:r>
              <a:rPr lang="en-US" dirty="0"/>
              <a:t> </a:t>
            </a:r>
            <a:r>
              <a:rPr lang="en-US" dirty="0" err="1"/>
              <a:t>dụng</a:t>
            </a:r>
            <a:r>
              <a:rPr lang="en-US" dirty="0"/>
              <a:t> </a:t>
            </a:r>
            <a:r>
              <a:rPr lang="en-US" dirty="0" err="1"/>
              <a:t>lên</a:t>
            </a:r>
            <a:r>
              <a:rPr lang="en-US" dirty="0"/>
              <a:t> </a:t>
            </a:r>
            <a:r>
              <a:rPr lang="en-US" dirty="0" err="1"/>
              <a:t>vật</a:t>
            </a:r>
            <a:endParaRPr lang="en-US" dirty="0"/>
          </a:p>
        </p:txBody>
      </p:sp>
      <p:sp>
        <p:nvSpPr>
          <p:cNvPr id="3" name="Footer Placeholder 2">
            <a:extLst>
              <a:ext uri="{FF2B5EF4-FFF2-40B4-BE49-F238E27FC236}">
                <a16:creationId xmlns:a16="http://schemas.microsoft.com/office/drawing/2014/main" id="{5436497B-64B7-055D-2174-64F4AD865D66}"/>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7783E65B-9DD7-2764-3078-5B8D147EB69B}"/>
              </a:ext>
            </a:extLst>
          </p:cNvPr>
          <p:cNvSpPr>
            <a:spLocks noGrp="1"/>
          </p:cNvSpPr>
          <p:nvPr>
            <p:ph type="sldNum" sz="quarter" idx="12"/>
          </p:nvPr>
        </p:nvSpPr>
        <p:spPr/>
        <p:txBody>
          <a:bodyPr/>
          <a:lstStyle/>
          <a:p>
            <a:pPr>
              <a:defRPr/>
            </a:pPr>
            <a:fld id="{76921531-3DE4-4FE6-8586-93C8C3054BFB}" type="slidenum">
              <a:rPr lang="en-US" smtClean="0"/>
              <a:pPr>
                <a:defRPr/>
              </a:pPr>
              <a:t>18</a:t>
            </a:fld>
            <a:endParaRPr lang="en-US"/>
          </a:p>
        </p:txBody>
      </p:sp>
    </p:spTree>
    <p:extLst>
      <p:ext uri="{BB962C8B-B14F-4D97-AF65-F5344CB8AC3E}">
        <p14:creationId xmlns:p14="http://schemas.microsoft.com/office/powerpoint/2010/main" val="2808116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mph" presetSubtype="0" fill="hold" nodeType="clickEffect">
                                  <p:stCondLst>
                                    <p:cond delay="0"/>
                                  </p:stCondLst>
                                  <p:iterate type="lt">
                                    <p:tmPct val="4000"/>
                                  </p:iterate>
                                  <p:childTnLst>
                                    <p:set>
                                      <p:cBhvr override="childStyle">
                                        <p:cTn id="11" dur="500" fill="hold"/>
                                        <p:tgtEl>
                                          <p:spTgt spid="2">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p:cNvSpPr>
          <p:nvPr>
            <p:ph/>
          </p:nvPr>
        </p:nvSpPr>
        <p:spPr>
          <a:solidFill>
            <a:schemeClr val="accent1">
              <a:lumMod val="20000"/>
              <a:lumOff val="80000"/>
            </a:schemeClr>
          </a:solidFill>
        </p:spPr>
        <p:txBody>
          <a:bodyPr/>
          <a:lstStyle/>
          <a:p>
            <a:pPr eaLnBrk="1" hangingPunct="1">
              <a:buFont typeface="Arial" charset="0"/>
              <a:buNone/>
              <a:defRPr/>
            </a:pPr>
            <a:r>
              <a:rPr lang="en-US"/>
              <a:t>	</a:t>
            </a:r>
            <a:r>
              <a:rPr lang="en-US" b="1" u="sng"/>
              <a:t>Bài tập</a:t>
            </a:r>
          </a:p>
          <a:p>
            <a:pPr eaLnBrk="1" hangingPunct="1">
              <a:buFont typeface="Arial" charset="0"/>
              <a:buNone/>
              <a:defRPr/>
            </a:pPr>
            <a:endParaRPr lang="en-US"/>
          </a:p>
          <a:p>
            <a:pPr eaLnBrk="1" hangingPunct="1">
              <a:buFont typeface="Arial" charset="0"/>
              <a:buNone/>
              <a:defRPr/>
            </a:pPr>
            <a:r>
              <a:rPr lang="en-US"/>
              <a:t>	Một con lắc lò xo treo thẳng đứng, dao động điều hoà quanh vị trí cân bằng O. Biết độ cứng lò xo là k = 100N/m, khối lượng vật là m = 500g. Tính lực đàn hồi của lò xo khi vật ở dưới/trên vị trí cân bằng 3cm? g = 10 m/s²</a:t>
            </a:r>
          </a:p>
        </p:txBody>
      </p:sp>
      <mc:AlternateContent xmlns:mc="http://schemas.openxmlformats.org/markup-compatibility/2006" xmlns:a14="http://schemas.microsoft.com/office/drawing/2010/main">
        <mc:Choice Requires="a14">
          <p:sp>
            <p:nvSpPr>
              <p:cNvPr id="4" name="Notes Placeholder 4"/>
              <p:cNvSpPr txBox="1">
                <a:spLocks/>
              </p:cNvSpPr>
              <p:nvPr/>
            </p:nvSpPr>
            <p:spPr>
              <a:xfrm>
                <a:off x="685800" y="4343400"/>
                <a:ext cx="7696200" cy="2133600"/>
              </a:xfrm>
              <a:prstGeom prst="ellipse">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defRPr/>
                </a:pPr>
                <a:r>
                  <a:rPr lang="en-US" sz="2400" b="1" dirty="0">
                    <a:solidFill>
                      <a:schemeClr val="tx1"/>
                    </a:solidFill>
                  </a:rPr>
                  <a:t>F = k</a:t>
                </a:r>
                <a14:m>
                  <m:oMath xmlns:m="http://schemas.openxmlformats.org/officeDocument/2006/math">
                    <m:r>
                      <a:rPr lang="en-US" sz="2400" b="1" i="1" smtClean="0">
                        <a:solidFill>
                          <a:schemeClr val="tx1"/>
                        </a:solidFill>
                        <a:latin typeface="Cambria Math"/>
                        <a:ea typeface="Cambria Math"/>
                      </a:rPr>
                      <m:t>∆</m:t>
                    </m:r>
                    <m:r>
                      <a:rPr lang="en-US" sz="2400" b="1" i="1" smtClean="0">
                        <a:solidFill>
                          <a:schemeClr val="tx1"/>
                        </a:solidFill>
                        <a:latin typeface="Cambria Math"/>
                        <a:ea typeface="Cambria Math"/>
                      </a:rPr>
                      <m:t>𝒍</m:t>
                    </m:r>
                    <m:r>
                      <a:rPr lang="en-US" sz="2400" b="1" i="1" smtClean="0">
                        <a:solidFill>
                          <a:schemeClr val="tx1"/>
                        </a:solidFill>
                        <a:latin typeface="Cambria Math"/>
                        <a:ea typeface="Cambria Math"/>
                      </a:rPr>
                      <m:t>=</m:t>
                    </m:r>
                    <m:r>
                      <a:rPr lang="en-US" sz="2400" b="1" i="1" smtClean="0">
                        <a:solidFill>
                          <a:schemeClr val="tx1"/>
                        </a:solidFill>
                        <a:latin typeface="Cambria Math"/>
                        <a:ea typeface="Cambria Math"/>
                      </a:rPr>
                      <m:t>𝑷</m:t>
                    </m:r>
                    <m:r>
                      <a:rPr lang="en-US" sz="2400" b="1" i="1" smtClean="0">
                        <a:solidFill>
                          <a:schemeClr val="tx1"/>
                        </a:solidFill>
                        <a:latin typeface="Cambria Math"/>
                        <a:ea typeface="Cambria Math"/>
                      </a:rPr>
                      <m:t>=</m:t>
                    </m:r>
                    <m:r>
                      <a:rPr lang="en-US" sz="2400" b="1" i="1" smtClean="0">
                        <a:solidFill>
                          <a:schemeClr val="tx1"/>
                        </a:solidFill>
                        <a:latin typeface="Cambria Math"/>
                        <a:ea typeface="Cambria Math"/>
                      </a:rPr>
                      <m:t>𝒎𝒈</m:t>
                    </m:r>
                    <m:r>
                      <a:rPr lang="en-US" sz="2400" b="1" i="1" smtClean="0">
                        <a:solidFill>
                          <a:schemeClr val="tx1"/>
                        </a:solidFill>
                        <a:latin typeface="Cambria Math"/>
                        <a:ea typeface="Cambria Math"/>
                      </a:rPr>
                      <m:t> → ∆</m:t>
                    </m:r>
                    <m:r>
                      <a:rPr lang="en-US" sz="2400" b="1" i="1">
                        <a:solidFill>
                          <a:schemeClr val="tx1"/>
                        </a:solidFill>
                        <a:latin typeface="Cambria Math"/>
                        <a:ea typeface="Cambria Math"/>
                      </a:rPr>
                      <m:t>𝒍</m:t>
                    </m:r>
                  </m:oMath>
                </a14:m>
                <a:r>
                  <a:rPr lang="en-US" sz="2400" b="1" dirty="0">
                    <a:solidFill>
                      <a:schemeClr val="tx1"/>
                    </a:solidFill>
                  </a:rPr>
                  <a:t> = 0,05 m = 5cm</a:t>
                </a:r>
              </a:p>
              <a:p>
                <a:pPr>
                  <a:defRPr/>
                </a:pPr>
                <a:r>
                  <a:rPr lang="en-US" sz="2400" b="1" dirty="0">
                    <a:solidFill>
                      <a:schemeClr val="tx1"/>
                    </a:solidFill>
                  </a:rPr>
                  <a:t>X =  8cm/ 2cm</a:t>
                </a:r>
              </a:p>
              <a:p>
                <a:pPr>
                  <a:defRPr/>
                </a:pPr>
                <a:r>
                  <a:rPr lang="en-US" sz="2400" b="1" dirty="0" err="1">
                    <a:solidFill>
                      <a:schemeClr val="tx1"/>
                    </a:solidFill>
                  </a:rPr>
                  <a:t>F</a:t>
                </a:r>
                <a:r>
                  <a:rPr lang="en-US" sz="2400" b="1" i="1" dirty="0" err="1">
                    <a:solidFill>
                      <a:schemeClr val="tx1"/>
                    </a:solidFill>
                  </a:rPr>
                  <a:t>đh</a:t>
                </a:r>
                <a:r>
                  <a:rPr lang="en-US" sz="2400" b="1" dirty="0">
                    <a:solidFill>
                      <a:schemeClr val="tx1"/>
                    </a:solidFill>
                  </a:rPr>
                  <a:t> = 8N / 2N</a:t>
                </a:r>
              </a:p>
            </p:txBody>
          </p:sp>
        </mc:Choice>
        <mc:Fallback xmlns="">
          <p:sp>
            <p:nvSpPr>
              <p:cNvPr id="4" name="Notes Placeholder 4"/>
              <p:cNvSpPr txBox="1">
                <a:spLocks noRot="1" noChangeAspect="1" noMove="1" noResize="1" noEditPoints="1" noAdjustHandles="1" noChangeArrowheads="1" noChangeShapeType="1" noTextEdit="1"/>
              </p:cNvSpPr>
              <p:nvPr/>
            </p:nvSpPr>
            <p:spPr>
              <a:xfrm>
                <a:off x="685800" y="4343400"/>
                <a:ext cx="7696200" cy="2133600"/>
              </a:xfrm>
              <a:prstGeom prst="ellipse">
                <a:avLst/>
              </a:prstGeom>
              <a:blipFill rotWithShape="1">
                <a:blip r:embed="rId3"/>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91C27FC3-4302-CE30-C5B9-A8CE86C6E745}"/>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6C695C97-AECD-CF35-2C81-4FA762ECB6D1}"/>
              </a:ext>
            </a:extLst>
          </p:cNvPr>
          <p:cNvSpPr>
            <a:spLocks noGrp="1"/>
          </p:cNvSpPr>
          <p:nvPr>
            <p:ph type="sldNum" sz="quarter" idx="12"/>
          </p:nvPr>
        </p:nvSpPr>
        <p:spPr/>
        <p:txBody>
          <a:bodyPr/>
          <a:lstStyle/>
          <a:p>
            <a:pPr>
              <a:defRPr/>
            </a:pPr>
            <a:fld id="{76921531-3DE4-4FE6-8586-93C8C3054BFB}" type="slidenum">
              <a:rPr lang="en-US" smtClean="0"/>
              <a:pPr>
                <a:defRPr/>
              </a:pPr>
              <a:t>19</a:t>
            </a:fld>
            <a:endParaRPr lang="en-US"/>
          </a:p>
        </p:txBody>
      </p:sp>
    </p:spTree>
    <p:extLst>
      <p:ext uri="{BB962C8B-B14F-4D97-AF65-F5344CB8AC3E}">
        <p14:creationId xmlns:p14="http://schemas.microsoft.com/office/powerpoint/2010/main" val="34360069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mph" presetSubtype="0" grpId="0" nodeType="clickEffect">
                                  <p:stCondLst>
                                    <p:cond delay="0"/>
                                  </p:stCondLst>
                                  <p:iterate type="lt">
                                    <p:tmAbs val="25"/>
                                  </p:iterate>
                                  <p:childTnLst>
                                    <p:set>
                                      <p:cBhvr override="childStyle">
                                        <p:cTn id="6" dur="indefinite"/>
                                        <p:tgtEl>
                                          <p:spTgt spid="14338">
                                            <p:txEl>
                                              <p:pRg st="0" end="0"/>
                                            </p:txEl>
                                          </p:spTgt>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uild="p"/>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a:spLocks noGrp="1"/>
          </p:cNvSpPr>
          <p:nvPr>
            <p:ph/>
          </p:nvPr>
        </p:nvSpPr>
        <p:spPr>
          <a:solidFill>
            <a:schemeClr val="accent1">
              <a:lumMod val="20000"/>
              <a:lumOff val="80000"/>
            </a:schemeClr>
          </a:solidFill>
        </p:spPr>
        <p:txBody>
          <a:bodyPr/>
          <a:lstStyle/>
          <a:p>
            <a:pPr eaLnBrk="1" hangingPunct="1">
              <a:buFont typeface="Arial" charset="0"/>
              <a:buNone/>
              <a:defRPr/>
            </a:pPr>
            <a:r>
              <a:rPr lang="en-US" dirty="0"/>
              <a:t>	</a:t>
            </a:r>
            <a:r>
              <a:rPr lang="en-US" dirty="0" err="1"/>
              <a:t>Trái</a:t>
            </a:r>
            <a:r>
              <a:rPr lang="en-US" dirty="0"/>
              <a:t> </a:t>
            </a:r>
            <a:r>
              <a:rPr lang="en-US" dirty="0" err="1"/>
              <a:t>Đất</a:t>
            </a:r>
            <a:r>
              <a:rPr lang="en-US" dirty="0"/>
              <a:t> </a:t>
            </a:r>
            <a:r>
              <a:rPr lang="en-US" dirty="0" err="1"/>
              <a:t>hút</a:t>
            </a:r>
            <a:r>
              <a:rPr lang="en-US" dirty="0"/>
              <a:t> </a:t>
            </a:r>
            <a:r>
              <a:rPr lang="en-US" dirty="0" err="1"/>
              <a:t>Mặt</a:t>
            </a:r>
            <a:r>
              <a:rPr lang="en-US" dirty="0"/>
              <a:t> </a:t>
            </a:r>
            <a:r>
              <a:rPr lang="en-US" dirty="0" err="1"/>
              <a:t>trăng</a:t>
            </a:r>
            <a:r>
              <a:rPr lang="en-US" dirty="0"/>
              <a:t> </a:t>
            </a:r>
            <a:r>
              <a:rPr lang="en-US" dirty="0" err="1"/>
              <a:t>một</a:t>
            </a:r>
            <a:r>
              <a:rPr lang="en-US" dirty="0"/>
              <a:t> </a:t>
            </a:r>
            <a:r>
              <a:rPr lang="en-US" dirty="0" err="1"/>
              <a:t>lực</a:t>
            </a:r>
            <a:r>
              <a:rPr lang="en-US" dirty="0"/>
              <a:t> </a:t>
            </a:r>
            <a:r>
              <a:rPr lang="en-US" dirty="0" err="1"/>
              <a:t>có</a:t>
            </a:r>
            <a:r>
              <a:rPr lang="en-US" dirty="0"/>
              <a:t> </a:t>
            </a:r>
            <a:r>
              <a:rPr lang="en-US" dirty="0" err="1"/>
              <a:t>giá</a:t>
            </a:r>
            <a:r>
              <a:rPr lang="en-US" dirty="0"/>
              <a:t> </a:t>
            </a:r>
            <a:r>
              <a:rPr lang="en-US" dirty="0" err="1"/>
              <a:t>trị</a:t>
            </a:r>
            <a:r>
              <a:rPr lang="en-US" dirty="0"/>
              <a:t> </a:t>
            </a:r>
            <a:r>
              <a:rPr lang="en-US" dirty="0" err="1"/>
              <a:t>bao</a:t>
            </a:r>
            <a:r>
              <a:rPr lang="en-US" dirty="0"/>
              <a:t> </a:t>
            </a:r>
            <a:r>
              <a:rPr lang="en-US" dirty="0" err="1"/>
              <a:t>nhiêu</a:t>
            </a:r>
            <a:r>
              <a:rPr lang="en-US" dirty="0"/>
              <a:t>? Cho </a:t>
            </a:r>
            <a:r>
              <a:rPr lang="en-US" dirty="0" err="1"/>
              <a:t>biết</a:t>
            </a:r>
            <a:r>
              <a:rPr lang="en-US" dirty="0"/>
              <a:t> </a:t>
            </a:r>
            <a:r>
              <a:rPr lang="en-US" dirty="0" err="1"/>
              <a:t>Trái</a:t>
            </a:r>
            <a:r>
              <a:rPr lang="en-US" dirty="0"/>
              <a:t> </a:t>
            </a:r>
            <a:r>
              <a:rPr lang="en-US" dirty="0" err="1"/>
              <a:t>Đất</a:t>
            </a:r>
            <a:r>
              <a:rPr lang="en-US" dirty="0"/>
              <a:t> </a:t>
            </a:r>
            <a:r>
              <a:rPr lang="en-US" dirty="0" err="1"/>
              <a:t>cách</a:t>
            </a:r>
            <a:r>
              <a:rPr lang="en-US" dirty="0"/>
              <a:t> </a:t>
            </a:r>
            <a:r>
              <a:rPr lang="en-US" dirty="0" err="1"/>
              <a:t>xa</a:t>
            </a:r>
            <a:r>
              <a:rPr lang="en-US" dirty="0"/>
              <a:t> </a:t>
            </a:r>
            <a:r>
              <a:rPr lang="en-US" dirty="0" err="1"/>
              <a:t>Mặt</a:t>
            </a:r>
            <a:r>
              <a:rPr lang="en-US" dirty="0"/>
              <a:t> </a:t>
            </a:r>
            <a:r>
              <a:rPr lang="en-US" dirty="0" err="1"/>
              <a:t>trăng</a:t>
            </a:r>
            <a:r>
              <a:rPr lang="en-US" dirty="0"/>
              <a:t> 38.10</a:t>
            </a:r>
            <a:r>
              <a:rPr lang="en-US" baseline="30000" dirty="0"/>
              <a:t>7</a:t>
            </a:r>
            <a:r>
              <a:rPr lang="en-US" dirty="0"/>
              <a:t>m, </a:t>
            </a:r>
            <a:r>
              <a:rPr lang="en-US" dirty="0" err="1"/>
              <a:t>khối</a:t>
            </a:r>
            <a:r>
              <a:rPr lang="en-US" dirty="0"/>
              <a:t> </a:t>
            </a:r>
            <a:r>
              <a:rPr lang="en-US" dirty="0" err="1"/>
              <a:t>lượng</a:t>
            </a:r>
            <a:r>
              <a:rPr lang="en-US" dirty="0"/>
              <a:t> </a:t>
            </a:r>
            <a:r>
              <a:rPr lang="en-US" dirty="0" err="1"/>
              <a:t>Trái</a:t>
            </a:r>
            <a:r>
              <a:rPr lang="en-US" dirty="0"/>
              <a:t> </a:t>
            </a:r>
            <a:r>
              <a:rPr lang="en-US" dirty="0" err="1"/>
              <a:t>Đất</a:t>
            </a:r>
            <a:r>
              <a:rPr lang="en-US" dirty="0"/>
              <a:t> </a:t>
            </a:r>
            <a:r>
              <a:rPr lang="en-US" dirty="0" err="1"/>
              <a:t>là</a:t>
            </a:r>
            <a:r>
              <a:rPr lang="en-US" dirty="0"/>
              <a:t> 6.10</a:t>
            </a:r>
            <a:r>
              <a:rPr lang="en-US" baseline="30000" dirty="0"/>
              <a:t>24</a:t>
            </a:r>
            <a:r>
              <a:rPr lang="en-US" dirty="0"/>
              <a:t> kg, </a:t>
            </a:r>
            <a:r>
              <a:rPr lang="en-US" dirty="0" err="1"/>
              <a:t>khối</a:t>
            </a:r>
            <a:r>
              <a:rPr lang="en-US" dirty="0"/>
              <a:t> </a:t>
            </a:r>
            <a:r>
              <a:rPr lang="en-US" dirty="0" err="1"/>
              <a:t>lượng</a:t>
            </a:r>
            <a:r>
              <a:rPr lang="en-US" dirty="0"/>
              <a:t> </a:t>
            </a:r>
            <a:r>
              <a:rPr lang="en-US" dirty="0" err="1"/>
              <a:t>Mặt</a:t>
            </a:r>
            <a:r>
              <a:rPr lang="en-US" dirty="0"/>
              <a:t> </a:t>
            </a:r>
            <a:r>
              <a:rPr lang="en-US" dirty="0" err="1"/>
              <a:t>trăng</a:t>
            </a:r>
            <a:r>
              <a:rPr lang="en-US" dirty="0"/>
              <a:t> </a:t>
            </a:r>
            <a:r>
              <a:rPr lang="en-US" dirty="0" err="1"/>
              <a:t>là</a:t>
            </a:r>
            <a:r>
              <a:rPr lang="en-US" dirty="0"/>
              <a:t> 7,37.10</a:t>
            </a:r>
            <a:r>
              <a:rPr lang="en-US" baseline="30000" dirty="0"/>
              <a:t>22</a:t>
            </a:r>
            <a:r>
              <a:rPr lang="en-US" dirty="0"/>
              <a:t> kg.</a:t>
            </a:r>
            <a:endParaRPr lang="en-US" u="sng" dirty="0"/>
          </a:p>
          <a:p>
            <a:pPr marL="0" indent="0" eaLnBrk="1" hangingPunct="1">
              <a:buNone/>
              <a:defRPr/>
            </a:pPr>
            <a:r>
              <a:rPr lang="en-US" dirty="0"/>
              <a:t>A. 2,04.10</a:t>
            </a:r>
            <a:r>
              <a:rPr lang="en-US" baseline="30000" dirty="0"/>
              <a:t>20</a:t>
            </a:r>
            <a:r>
              <a:rPr lang="en-US" dirty="0"/>
              <a:t> N</a:t>
            </a:r>
          </a:p>
          <a:p>
            <a:pPr marL="0" indent="0" eaLnBrk="1" hangingPunct="1">
              <a:buNone/>
              <a:defRPr/>
            </a:pPr>
            <a:r>
              <a:rPr lang="en-US" dirty="0"/>
              <a:t>B. 77,73.10</a:t>
            </a:r>
            <a:r>
              <a:rPr lang="en-US" baseline="30000" dirty="0"/>
              <a:t>20</a:t>
            </a:r>
            <a:r>
              <a:rPr lang="en-US" dirty="0"/>
              <a:t> N</a:t>
            </a:r>
          </a:p>
          <a:p>
            <a:pPr marL="0" indent="0" eaLnBrk="1" hangingPunct="1">
              <a:buNone/>
              <a:defRPr/>
            </a:pPr>
            <a:r>
              <a:rPr lang="en-US" dirty="0"/>
              <a:t>C. 2,04.10</a:t>
            </a:r>
            <a:r>
              <a:rPr lang="en-US" baseline="30000" dirty="0"/>
              <a:t>27</a:t>
            </a:r>
            <a:r>
              <a:rPr lang="en-US" dirty="0"/>
              <a:t> N</a:t>
            </a:r>
          </a:p>
          <a:p>
            <a:pPr marL="0" indent="0" eaLnBrk="1" hangingPunct="1">
              <a:buNone/>
              <a:defRPr/>
            </a:pPr>
            <a:r>
              <a:rPr lang="en-US" dirty="0"/>
              <a:t>D. 77,73.10</a:t>
            </a:r>
            <a:r>
              <a:rPr lang="en-US" baseline="30000" dirty="0"/>
              <a:t>27</a:t>
            </a:r>
            <a:r>
              <a:rPr lang="en-US" dirty="0"/>
              <a:t> N</a:t>
            </a:r>
          </a:p>
          <a:p>
            <a:pPr eaLnBrk="1" hangingPunct="1">
              <a:defRPr/>
            </a:pPr>
            <a:endParaRPr lang="en-US" dirty="0"/>
          </a:p>
        </p:txBody>
      </p:sp>
      <p:sp>
        <p:nvSpPr>
          <p:cNvPr id="2" name="Footer Placeholder 1">
            <a:extLst>
              <a:ext uri="{FF2B5EF4-FFF2-40B4-BE49-F238E27FC236}">
                <a16:creationId xmlns:a16="http://schemas.microsoft.com/office/drawing/2014/main" id="{A7944F08-FA15-4B1A-952E-C123736D54F2}"/>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1EC08BB8-B59F-0FCD-5313-F61515CE166A}"/>
              </a:ext>
            </a:extLst>
          </p:cNvPr>
          <p:cNvSpPr>
            <a:spLocks noGrp="1"/>
          </p:cNvSpPr>
          <p:nvPr>
            <p:ph type="sldNum" sz="quarter" idx="12"/>
          </p:nvPr>
        </p:nvSpPr>
        <p:spPr/>
        <p:txBody>
          <a:bodyPr/>
          <a:lstStyle/>
          <a:p>
            <a:pPr>
              <a:defRPr/>
            </a:pPr>
            <a:fld id="{76921531-3DE4-4FE6-8586-93C8C3054BFB}" type="slidenum">
              <a:rPr lang="en-US" smtClean="0"/>
              <a:pPr>
                <a:defRPr/>
              </a:pPr>
              <a:t>20</a:t>
            </a:fld>
            <a:endParaRPr lang="en-US"/>
          </a:p>
        </p:txBody>
      </p:sp>
    </p:spTree>
    <p:extLst>
      <p:ext uri="{BB962C8B-B14F-4D97-AF65-F5344CB8AC3E}">
        <p14:creationId xmlns:p14="http://schemas.microsoft.com/office/powerpoint/2010/main" val="13149944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16386">
                                            <p:txEl>
                                              <p:pRg st="1" end="1"/>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p:cNvSpPr>
          <p:nvPr>
            <p:ph/>
          </p:nvPr>
        </p:nvSpPr>
        <p:spPr>
          <a:solidFill>
            <a:schemeClr val="accent1">
              <a:lumMod val="20000"/>
              <a:lumOff val="80000"/>
            </a:schemeClr>
          </a:solidFill>
        </p:spPr>
        <p:txBody>
          <a:bodyPr/>
          <a:lstStyle/>
          <a:p>
            <a:pPr eaLnBrk="1" hangingPunct="1">
              <a:buFont typeface="Arial" charset="0"/>
              <a:buNone/>
              <a:defRPr/>
            </a:pPr>
            <a:r>
              <a:rPr lang="en-US" dirty="0"/>
              <a:t>	4. </a:t>
            </a:r>
            <a:r>
              <a:rPr lang="en-US" dirty="0" err="1"/>
              <a:t>Một</a:t>
            </a:r>
            <a:r>
              <a:rPr lang="en-US" dirty="0"/>
              <a:t> </a:t>
            </a:r>
            <a:r>
              <a:rPr lang="en-US" dirty="0" err="1"/>
              <a:t>vật</a:t>
            </a:r>
            <a:r>
              <a:rPr lang="en-US" dirty="0"/>
              <a:t> </a:t>
            </a:r>
            <a:r>
              <a:rPr lang="en-US" dirty="0" err="1"/>
              <a:t>khối</a:t>
            </a:r>
            <a:r>
              <a:rPr lang="en-US" dirty="0"/>
              <a:t> </a:t>
            </a:r>
            <a:r>
              <a:rPr lang="en-US" dirty="0" err="1"/>
              <a:t>lượng</a:t>
            </a:r>
            <a:r>
              <a:rPr lang="en-US" dirty="0"/>
              <a:t> 25kg </a:t>
            </a:r>
            <a:r>
              <a:rPr lang="en-US" dirty="0" err="1"/>
              <a:t>chuyển</a:t>
            </a:r>
            <a:r>
              <a:rPr lang="en-US" dirty="0"/>
              <a:t> </a:t>
            </a:r>
            <a:r>
              <a:rPr lang="en-US" dirty="0" err="1"/>
              <a:t>động</a:t>
            </a:r>
            <a:r>
              <a:rPr lang="en-US" dirty="0"/>
              <a:t> </a:t>
            </a:r>
            <a:r>
              <a:rPr lang="en-US" dirty="0" err="1"/>
              <a:t>thẳng</a:t>
            </a:r>
            <a:r>
              <a:rPr lang="en-US" dirty="0"/>
              <a:t> </a:t>
            </a:r>
            <a:r>
              <a:rPr lang="en-US" dirty="0" err="1"/>
              <a:t>đều</a:t>
            </a:r>
            <a:r>
              <a:rPr lang="en-US" dirty="0"/>
              <a:t> </a:t>
            </a:r>
            <a:r>
              <a:rPr lang="en-US" dirty="0" err="1"/>
              <a:t>trên</a:t>
            </a:r>
            <a:r>
              <a:rPr lang="en-US" dirty="0"/>
              <a:t> </a:t>
            </a:r>
            <a:r>
              <a:rPr lang="en-US" dirty="0" err="1"/>
              <a:t>sàn</a:t>
            </a:r>
            <a:r>
              <a:rPr lang="en-US" dirty="0"/>
              <a:t> </a:t>
            </a:r>
            <a:r>
              <a:rPr lang="en-US" dirty="0" err="1"/>
              <a:t>nhà</a:t>
            </a:r>
            <a:r>
              <a:rPr lang="en-US" dirty="0"/>
              <a:t> </a:t>
            </a:r>
            <a:r>
              <a:rPr lang="en-US" dirty="0" err="1"/>
              <a:t>nhờ</a:t>
            </a:r>
            <a:r>
              <a:rPr lang="en-US" dirty="0"/>
              <a:t> </a:t>
            </a:r>
            <a:r>
              <a:rPr lang="en-US" dirty="0" err="1"/>
              <a:t>một</a:t>
            </a:r>
            <a:r>
              <a:rPr lang="en-US" dirty="0"/>
              <a:t> </a:t>
            </a:r>
            <a:r>
              <a:rPr lang="en-US" dirty="0" err="1"/>
              <a:t>lực</a:t>
            </a:r>
            <a:r>
              <a:rPr lang="en-US" dirty="0"/>
              <a:t> </a:t>
            </a:r>
            <a:r>
              <a:rPr lang="en-US" dirty="0" err="1"/>
              <a:t>đẩy</a:t>
            </a:r>
            <a:r>
              <a:rPr lang="en-US" dirty="0"/>
              <a:t> </a:t>
            </a:r>
            <a:r>
              <a:rPr lang="en-US" dirty="0" err="1"/>
              <a:t>theo</a:t>
            </a:r>
            <a:r>
              <a:rPr lang="en-US" dirty="0"/>
              <a:t> </a:t>
            </a:r>
            <a:r>
              <a:rPr lang="en-US" dirty="0" err="1"/>
              <a:t>phương</a:t>
            </a:r>
            <a:r>
              <a:rPr lang="en-US" dirty="0"/>
              <a:t> </a:t>
            </a:r>
            <a:r>
              <a:rPr lang="en-US" dirty="0" err="1"/>
              <a:t>ngang</a:t>
            </a:r>
            <a:r>
              <a:rPr lang="en-US" dirty="0"/>
              <a:t> </a:t>
            </a:r>
            <a:r>
              <a:rPr lang="en-US" dirty="0" err="1"/>
              <a:t>có</a:t>
            </a:r>
            <a:r>
              <a:rPr lang="en-US" dirty="0"/>
              <a:t> </a:t>
            </a:r>
            <a:r>
              <a:rPr lang="en-US" dirty="0" err="1"/>
              <a:t>độ</a:t>
            </a:r>
            <a:r>
              <a:rPr lang="en-US" dirty="0"/>
              <a:t> </a:t>
            </a:r>
            <a:r>
              <a:rPr lang="en-US" dirty="0" err="1"/>
              <a:t>lớn</a:t>
            </a:r>
            <a:r>
              <a:rPr lang="en-US" dirty="0"/>
              <a:t> 53,9N. </a:t>
            </a:r>
            <a:r>
              <a:rPr lang="en-US" dirty="0" err="1"/>
              <a:t>Tìm</a:t>
            </a:r>
            <a:r>
              <a:rPr lang="en-US" dirty="0"/>
              <a:t> </a:t>
            </a:r>
            <a:r>
              <a:rPr lang="en-US" dirty="0" err="1"/>
              <a:t>hệ</a:t>
            </a:r>
            <a:r>
              <a:rPr lang="en-US" dirty="0"/>
              <a:t> </a:t>
            </a:r>
            <a:r>
              <a:rPr lang="en-US" dirty="0" err="1"/>
              <a:t>số</a:t>
            </a:r>
            <a:r>
              <a:rPr lang="en-US" dirty="0"/>
              <a:t> ma </a:t>
            </a:r>
            <a:r>
              <a:rPr lang="en-US" dirty="0" err="1"/>
              <a:t>sát</a:t>
            </a:r>
            <a:r>
              <a:rPr lang="en-US" dirty="0"/>
              <a:t> </a:t>
            </a:r>
            <a:r>
              <a:rPr lang="en-US" dirty="0" err="1"/>
              <a:t>trượt</a:t>
            </a:r>
            <a:r>
              <a:rPr lang="en-US" dirty="0"/>
              <a:t> </a:t>
            </a:r>
            <a:r>
              <a:rPr lang="en-US" dirty="0" err="1"/>
              <a:t>giữa</a:t>
            </a:r>
            <a:r>
              <a:rPr lang="en-US" dirty="0"/>
              <a:t> </a:t>
            </a:r>
            <a:r>
              <a:rPr lang="en-US" dirty="0" err="1"/>
              <a:t>vật</a:t>
            </a:r>
            <a:r>
              <a:rPr lang="en-US" dirty="0"/>
              <a:t> </a:t>
            </a:r>
            <a:r>
              <a:rPr lang="en-US" dirty="0" err="1"/>
              <a:t>và</a:t>
            </a:r>
            <a:r>
              <a:rPr lang="en-US" dirty="0"/>
              <a:t> </a:t>
            </a:r>
            <a:r>
              <a:rPr lang="en-US" dirty="0" err="1"/>
              <a:t>sàn</a:t>
            </a:r>
            <a:r>
              <a:rPr lang="en-US" dirty="0"/>
              <a:t> </a:t>
            </a:r>
            <a:r>
              <a:rPr lang="en-US" dirty="0" err="1"/>
              <a:t>nhà</a:t>
            </a:r>
            <a:r>
              <a:rPr lang="en-US" dirty="0"/>
              <a:t>?</a:t>
            </a:r>
          </a:p>
          <a:p>
            <a:pPr marL="0" indent="0" eaLnBrk="1" hangingPunct="1">
              <a:buFont typeface="Arial" charset="0"/>
              <a:buNone/>
              <a:defRPr/>
            </a:pPr>
            <a:r>
              <a:rPr lang="en-US" dirty="0"/>
              <a:t>A. 0,1</a:t>
            </a:r>
            <a:endParaRPr lang="en-US" u="sng" dirty="0"/>
          </a:p>
          <a:p>
            <a:pPr marL="0" indent="0" eaLnBrk="1" hangingPunct="1">
              <a:buFont typeface="Arial" charset="0"/>
              <a:buNone/>
              <a:defRPr/>
            </a:pPr>
            <a:r>
              <a:rPr lang="en-US" dirty="0"/>
              <a:t>B. 0,22</a:t>
            </a:r>
          </a:p>
          <a:p>
            <a:pPr marL="0" indent="0" eaLnBrk="1" hangingPunct="1">
              <a:buFont typeface="Arial" charset="0"/>
              <a:buNone/>
              <a:defRPr/>
            </a:pPr>
            <a:r>
              <a:rPr lang="en-US" dirty="0"/>
              <a:t>C. 0,3</a:t>
            </a:r>
          </a:p>
          <a:p>
            <a:pPr marL="0" indent="0" eaLnBrk="1" hangingPunct="1">
              <a:buFont typeface="Arial" charset="0"/>
              <a:buNone/>
              <a:defRPr/>
            </a:pPr>
            <a:r>
              <a:rPr lang="en-US" dirty="0"/>
              <a:t>D. 0,15</a:t>
            </a:r>
          </a:p>
        </p:txBody>
      </p:sp>
      <p:sp>
        <p:nvSpPr>
          <p:cNvPr id="2" name="Footer Placeholder 1">
            <a:extLst>
              <a:ext uri="{FF2B5EF4-FFF2-40B4-BE49-F238E27FC236}">
                <a16:creationId xmlns:a16="http://schemas.microsoft.com/office/drawing/2014/main" id="{E5F162ED-57EE-EA97-A174-FB27EBF12423}"/>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D01815A8-4FD2-E080-BF04-8B0B893CE8EC}"/>
              </a:ext>
            </a:extLst>
          </p:cNvPr>
          <p:cNvSpPr>
            <a:spLocks noGrp="1"/>
          </p:cNvSpPr>
          <p:nvPr>
            <p:ph type="sldNum" sz="quarter" idx="12"/>
          </p:nvPr>
        </p:nvSpPr>
        <p:spPr/>
        <p:txBody>
          <a:bodyPr/>
          <a:lstStyle/>
          <a:p>
            <a:pPr>
              <a:defRPr/>
            </a:pPr>
            <a:fld id="{76921531-3DE4-4FE6-8586-93C8C3054BFB}" type="slidenum">
              <a:rPr lang="en-US" smtClean="0"/>
              <a:pPr>
                <a:defRPr/>
              </a:pPr>
              <a:t>21</a:t>
            </a:fld>
            <a:endParaRPr lang="en-US"/>
          </a:p>
        </p:txBody>
      </p:sp>
    </p:spTree>
    <p:extLst>
      <p:ext uri="{BB962C8B-B14F-4D97-AF65-F5344CB8AC3E}">
        <p14:creationId xmlns:p14="http://schemas.microsoft.com/office/powerpoint/2010/main" val="5279865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17410">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marL="0" indent="0">
              <a:buFont typeface="Arial" charset="0"/>
              <a:buNone/>
              <a:defRPr/>
            </a:pPr>
            <a:r>
              <a:rPr lang="en-US" dirty="0" err="1"/>
              <a:t>Một</a:t>
            </a:r>
            <a:r>
              <a:rPr lang="en-US" dirty="0"/>
              <a:t> </a:t>
            </a:r>
            <a:r>
              <a:rPr lang="en-US" dirty="0" err="1"/>
              <a:t>lò</a:t>
            </a:r>
            <a:r>
              <a:rPr lang="en-US" dirty="0"/>
              <a:t> xo </a:t>
            </a:r>
            <a:r>
              <a:rPr lang="en-US" dirty="0" err="1"/>
              <a:t>chịu</a:t>
            </a:r>
            <a:r>
              <a:rPr lang="en-US" dirty="0"/>
              <a:t> </a:t>
            </a:r>
            <a:r>
              <a:rPr lang="en-US" dirty="0" err="1"/>
              <a:t>tác</a:t>
            </a:r>
            <a:r>
              <a:rPr lang="en-US" dirty="0"/>
              <a:t> </a:t>
            </a:r>
            <a:r>
              <a:rPr lang="en-US" dirty="0" err="1"/>
              <a:t>dụng</a:t>
            </a:r>
            <a:r>
              <a:rPr lang="en-US" dirty="0"/>
              <a:t> </a:t>
            </a:r>
            <a:r>
              <a:rPr lang="en-US" dirty="0" err="1"/>
              <a:t>bởi</a:t>
            </a:r>
            <a:r>
              <a:rPr lang="en-US" dirty="0"/>
              <a:t> </a:t>
            </a:r>
            <a:r>
              <a:rPr lang="en-US" dirty="0" err="1"/>
              <a:t>lực</a:t>
            </a:r>
            <a:r>
              <a:rPr lang="en-US" dirty="0"/>
              <a:t> </a:t>
            </a:r>
            <a:r>
              <a:rPr lang="en-US" dirty="0" err="1"/>
              <a:t>kéo</a:t>
            </a:r>
            <a:r>
              <a:rPr lang="en-US" dirty="0"/>
              <a:t> 5N </a:t>
            </a:r>
            <a:r>
              <a:rPr lang="en-US" dirty="0" err="1"/>
              <a:t>thì</a:t>
            </a:r>
            <a:r>
              <a:rPr lang="en-US" dirty="0"/>
              <a:t> </a:t>
            </a:r>
            <a:r>
              <a:rPr lang="en-US" dirty="0" err="1"/>
              <a:t>giãn</a:t>
            </a:r>
            <a:r>
              <a:rPr lang="en-US" dirty="0"/>
              <a:t> </a:t>
            </a:r>
            <a:r>
              <a:rPr lang="en-US" dirty="0" err="1"/>
              <a:t>ra</a:t>
            </a:r>
            <a:r>
              <a:rPr lang="en-US" dirty="0"/>
              <a:t> 4cm. </a:t>
            </a:r>
            <a:r>
              <a:rPr lang="en-US" dirty="0" err="1"/>
              <a:t>Hệ</a:t>
            </a:r>
            <a:r>
              <a:rPr lang="en-US" dirty="0"/>
              <a:t> </a:t>
            </a:r>
            <a:r>
              <a:rPr lang="en-US" dirty="0" err="1"/>
              <a:t>số</a:t>
            </a:r>
            <a:r>
              <a:rPr lang="en-US" dirty="0"/>
              <a:t> </a:t>
            </a:r>
            <a:r>
              <a:rPr lang="en-US" dirty="0" err="1"/>
              <a:t>đàn</a:t>
            </a:r>
            <a:r>
              <a:rPr lang="en-US" dirty="0"/>
              <a:t> </a:t>
            </a:r>
            <a:r>
              <a:rPr lang="en-US" dirty="0" err="1"/>
              <a:t>hồi</a:t>
            </a:r>
            <a:r>
              <a:rPr lang="en-US" dirty="0"/>
              <a:t> </a:t>
            </a:r>
            <a:r>
              <a:rPr lang="en-US" dirty="0" err="1"/>
              <a:t>của</a:t>
            </a:r>
            <a:r>
              <a:rPr lang="en-US" dirty="0"/>
              <a:t> </a:t>
            </a:r>
            <a:r>
              <a:rPr lang="en-US" dirty="0" err="1"/>
              <a:t>lò</a:t>
            </a:r>
            <a:r>
              <a:rPr lang="en-US" dirty="0"/>
              <a:t> xo </a:t>
            </a:r>
            <a:r>
              <a:rPr lang="en-US" dirty="0" err="1"/>
              <a:t>có</a:t>
            </a:r>
            <a:r>
              <a:rPr lang="en-US" dirty="0"/>
              <a:t> </a:t>
            </a:r>
            <a:r>
              <a:rPr lang="en-US" dirty="0" err="1"/>
              <a:t>giá</a:t>
            </a:r>
            <a:r>
              <a:rPr lang="en-US" dirty="0"/>
              <a:t> </a:t>
            </a:r>
            <a:r>
              <a:rPr lang="en-US" dirty="0" err="1"/>
              <a:t>trị</a:t>
            </a:r>
            <a:r>
              <a:rPr lang="en-US" dirty="0"/>
              <a:t>:</a:t>
            </a:r>
          </a:p>
          <a:p>
            <a:pPr marL="0" indent="0">
              <a:buFont typeface="Arial" charset="0"/>
              <a:buNone/>
              <a:defRPr/>
            </a:pPr>
            <a:r>
              <a:rPr lang="en-US" dirty="0"/>
              <a:t>A. 1,25 N/m</a:t>
            </a:r>
          </a:p>
          <a:p>
            <a:pPr marL="0" indent="0">
              <a:buFont typeface="Arial" charset="0"/>
              <a:buNone/>
              <a:defRPr/>
            </a:pPr>
            <a:r>
              <a:rPr lang="en-US" dirty="0"/>
              <a:t>B. 12,5 N/m</a:t>
            </a:r>
          </a:p>
          <a:p>
            <a:pPr marL="0" indent="0">
              <a:buFont typeface="Arial" charset="0"/>
              <a:buNone/>
              <a:defRPr/>
            </a:pPr>
            <a:r>
              <a:rPr lang="en-US" dirty="0"/>
              <a:t>C. 125 N/m</a:t>
            </a:r>
          </a:p>
          <a:p>
            <a:pPr marL="0" indent="0">
              <a:buFont typeface="Arial" charset="0"/>
              <a:buNone/>
              <a:defRPr/>
            </a:pPr>
            <a:r>
              <a:rPr lang="en-US" dirty="0"/>
              <a:t>D. 0,8 N/m</a:t>
            </a:r>
          </a:p>
          <a:p>
            <a:pPr>
              <a:defRPr/>
            </a:pPr>
            <a:endParaRPr lang="en-US" dirty="0"/>
          </a:p>
        </p:txBody>
      </p:sp>
      <p:sp>
        <p:nvSpPr>
          <p:cNvPr id="3" name="Footer Placeholder 2">
            <a:extLst>
              <a:ext uri="{FF2B5EF4-FFF2-40B4-BE49-F238E27FC236}">
                <a16:creationId xmlns:a16="http://schemas.microsoft.com/office/drawing/2014/main" id="{5CE371E8-C2BA-CFE7-DC3E-6A8B8BC64CDF}"/>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0D2E41B9-7750-DB57-258A-E3C4DBC7E71E}"/>
              </a:ext>
            </a:extLst>
          </p:cNvPr>
          <p:cNvSpPr>
            <a:spLocks noGrp="1"/>
          </p:cNvSpPr>
          <p:nvPr>
            <p:ph type="sldNum" sz="quarter" idx="12"/>
          </p:nvPr>
        </p:nvSpPr>
        <p:spPr/>
        <p:txBody>
          <a:bodyPr/>
          <a:lstStyle/>
          <a:p>
            <a:pPr>
              <a:defRPr/>
            </a:pPr>
            <a:fld id="{76921531-3DE4-4FE6-8586-93C8C3054BFB}" type="slidenum">
              <a:rPr lang="en-US" smtClean="0"/>
              <a:pPr>
                <a:defRPr/>
              </a:pPr>
              <a:t>22</a:t>
            </a:fld>
            <a:endParaRPr lang="en-US"/>
          </a:p>
        </p:txBody>
      </p:sp>
    </p:spTree>
    <p:extLst>
      <p:ext uri="{BB962C8B-B14F-4D97-AF65-F5344CB8AC3E}">
        <p14:creationId xmlns:p14="http://schemas.microsoft.com/office/powerpoint/2010/main" val="31166727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
          <p:cNvGrpSpPr>
            <a:grpSpLocks/>
          </p:cNvGrpSpPr>
          <p:nvPr/>
        </p:nvGrpSpPr>
        <p:grpSpPr bwMode="auto">
          <a:xfrm>
            <a:off x="1676400" y="0"/>
            <a:ext cx="6019800" cy="685800"/>
            <a:chOff x="1310" y="1392"/>
            <a:chExt cx="4157" cy="432"/>
          </a:xfrm>
        </p:grpSpPr>
        <p:pic>
          <p:nvPicPr>
            <p:cNvPr id="22543"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415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2057" y="1449"/>
              <a:ext cx="2620"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wrap="none">
              <a:spAutoFit/>
            </a:bodyPr>
            <a:lstStyle/>
            <a:p>
              <a:pPr algn="just"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vi-VN" sz="2400" b="1">
                  <a:solidFill>
                    <a:srgbClr val="FF0000"/>
                  </a:solidFill>
                  <a:latin typeface="Times New Roman" pitchFamily="18" charset="0"/>
                  <a:cs typeface="Times New Roman" pitchFamily="18" charset="0"/>
                </a:rPr>
                <a:t>Ph</a:t>
              </a:r>
              <a:r>
                <a:rPr lang="en-US" sz="2400" b="1">
                  <a:solidFill>
                    <a:srgbClr val="FF0000"/>
                  </a:solidFill>
                  <a:latin typeface="Times New Roman" pitchFamily="18" charset="0"/>
                  <a:cs typeface="Times New Roman" pitchFamily="18" charset="0"/>
                </a:rPr>
                <a:t>ư</a:t>
              </a:r>
              <a:r>
                <a:rPr lang="vi-VN" sz="2400" b="1">
                  <a:solidFill>
                    <a:srgbClr val="FF0000"/>
                  </a:solidFill>
                  <a:latin typeface="Times New Roman" pitchFamily="18" charset="0"/>
                  <a:cs typeface="Times New Roman" pitchFamily="18" charset="0"/>
                </a:rPr>
                <a:t>ơng pháp động lực học</a:t>
              </a:r>
              <a:endParaRPr lang="en-US" sz="2400" b="1">
                <a:solidFill>
                  <a:srgbClr val="FF0000"/>
                </a:solidFill>
                <a:latin typeface="Times New Roman" pitchFamily="18" charset="0"/>
                <a:cs typeface="Times New Roman" pitchFamily="18" charset="0"/>
              </a:endParaRPr>
            </a:p>
          </p:txBody>
        </p:sp>
      </p:grpSp>
      <p:sp>
        <p:nvSpPr>
          <p:cNvPr id="5" name="Text Box 9"/>
          <p:cNvSpPr txBox="1">
            <a:spLocks noChangeArrowheads="1"/>
          </p:cNvSpPr>
          <p:nvPr/>
        </p:nvSpPr>
        <p:spPr bwMode="auto">
          <a:xfrm>
            <a:off x="304800" y="838200"/>
            <a:ext cx="6781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pPr>
            <a:r>
              <a:rPr lang="en-US" sz="2800" b="1">
                <a:solidFill>
                  <a:srgbClr val="002060"/>
                </a:solidFill>
                <a:latin typeface="Times New Roman" pitchFamily="18" charset="0"/>
                <a:cs typeface="Times New Roman" pitchFamily="18" charset="0"/>
              </a:rPr>
              <a:t>Phương pháp giải bài toán động lực học</a:t>
            </a:r>
          </a:p>
        </p:txBody>
      </p:sp>
      <p:sp>
        <p:nvSpPr>
          <p:cNvPr id="6" name="Rectangle 19"/>
          <p:cNvSpPr>
            <a:spLocks noChangeArrowheads="1"/>
          </p:cNvSpPr>
          <p:nvPr/>
        </p:nvSpPr>
        <p:spPr bwMode="auto">
          <a:xfrm>
            <a:off x="762000" y="2478088"/>
            <a:ext cx="7924800"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gn="just">
              <a:spcBef>
                <a:spcPct val="20000"/>
              </a:spcBef>
            </a:pPr>
            <a:r>
              <a:rPr lang="en-US" sz="2800" b="1" dirty="0" err="1">
                <a:latin typeface="Times New Roman" pitchFamily="18" charset="0"/>
              </a:rPr>
              <a:t>Bước</a:t>
            </a:r>
            <a:r>
              <a:rPr lang="en-US" sz="2800" b="1" dirty="0">
                <a:latin typeface="Times New Roman" pitchFamily="18" charset="0"/>
              </a:rPr>
              <a:t> 2: </a:t>
            </a:r>
            <a:r>
              <a:rPr lang="en-US" sz="2800" dirty="0" err="1">
                <a:latin typeface="Times New Roman" pitchFamily="18" charset="0"/>
              </a:rPr>
              <a:t>Áp</a:t>
            </a:r>
            <a:r>
              <a:rPr lang="en-US" sz="2800" dirty="0">
                <a:latin typeface="Times New Roman" pitchFamily="18" charset="0"/>
              </a:rPr>
              <a:t> </a:t>
            </a:r>
            <a:r>
              <a:rPr lang="en-US" sz="2800" dirty="0" err="1">
                <a:latin typeface="Times New Roman" pitchFamily="18" charset="0"/>
              </a:rPr>
              <a:t>dụng</a:t>
            </a:r>
            <a:r>
              <a:rPr lang="en-US" sz="2800" dirty="0">
                <a:latin typeface="Times New Roman" pitchFamily="18" charset="0"/>
              </a:rPr>
              <a:t> </a:t>
            </a:r>
            <a:r>
              <a:rPr lang="en-US" sz="2800" dirty="0" err="1">
                <a:latin typeface="Times New Roman" pitchFamily="18" charset="0"/>
              </a:rPr>
              <a:t>phương</a:t>
            </a:r>
            <a:r>
              <a:rPr lang="en-US" sz="2800" dirty="0">
                <a:latin typeface="Times New Roman" pitchFamily="18" charset="0"/>
              </a:rPr>
              <a:t> </a:t>
            </a:r>
            <a:r>
              <a:rPr lang="en-US" sz="2800" dirty="0" err="1">
                <a:latin typeface="Times New Roman" pitchFamily="18" charset="0"/>
              </a:rPr>
              <a:t>trình</a:t>
            </a:r>
            <a:r>
              <a:rPr lang="en-US" sz="2800" dirty="0">
                <a:latin typeface="Times New Roman" pitchFamily="18" charset="0"/>
              </a:rPr>
              <a:t> </a:t>
            </a:r>
            <a:r>
              <a:rPr lang="en-US" sz="2800" dirty="0" err="1">
                <a:latin typeface="Times New Roman" pitchFamily="18" charset="0"/>
              </a:rPr>
              <a:t>định</a:t>
            </a:r>
            <a:r>
              <a:rPr lang="en-US" sz="2800" dirty="0">
                <a:latin typeface="Times New Roman" pitchFamily="18" charset="0"/>
              </a:rPr>
              <a:t> </a:t>
            </a:r>
            <a:r>
              <a:rPr lang="en-US" sz="2800" dirty="0" err="1">
                <a:latin typeface="Times New Roman" pitchFamily="18" charset="0"/>
              </a:rPr>
              <a:t>luật</a:t>
            </a:r>
            <a:r>
              <a:rPr lang="en-US" sz="2800" dirty="0">
                <a:latin typeface="Times New Roman" pitchFamily="18" charset="0"/>
              </a:rPr>
              <a:t> II Newton </a:t>
            </a:r>
          </a:p>
          <a:p>
            <a:pPr marL="342900" indent="-342900" algn="just">
              <a:spcBef>
                <a:spcPct val="20000"/>
              </a:spcBef>
            </a:pPr>
            <a:r>
              <a:rPr lang="en-US" sz="2800" dirty="0">
                <a:latin typeface="Times New Roman" pitchFamily="18" charset="0"/>
              </a:rPr>
              <a:t>              </a:t>
            </a:r>
            <a:r>
              <a:rPr lang="en-US" sz="2800" dirty="0" err="1">
                <a:latin typeface="Times New Roman" pitchFamily="18" charset="0"/>
              </a:rPr>
              <a:t>cho</a:t>
            </a:r>
            <a:r>
              <a:rPr lang="en-US" sz="2800" dirty="0">
                <a:latin typeface="Times New Roman" pitchFamily="18" charset="0"/>
              </a:rPr>
              <a:t> </a:t>
            </a:r>
            <a:r>
              <a:rPr lang="en-US" sz="2800" dirty="0" err="1">
                <a:latin typeface="Times New Roman" pitchFamily="18" charset="0"/>
              </a:rPr>
              <a:t>từng</a:t>
            </a:r>
            <a:r>
              <a:rPr lang="en-US" sz="2800" dirty="0">
                <a:latin typeface="Times New Roman" pitchFamily="18" charset="0"/>
              </a:rPr>
              <a:t> </a:t>
            </a:r>
            <a:r>
              <a:rPr lang="en-US" sz="2800" dirty="0" err="1">
                <a:latin typeface="Times New Roman" pitchFamily="18" charset="0"/>
              </a:rPr>
              <a:t>vật</a:t>
            </a:r>
            <a:r>
              <a:rPr lang="en-US" sz="2800" dirty="0">
                <a:latin typeface="Times New Roman" pitchFamily="18" charset="0"/>
              </a:rPr>
              <a:t> </a:t>
            </a:r>
            <a:r>
              <a:rPr lang="en-US" sz="2800" dirty="0" err="1">
                <a:latin typeface="Times New Roman" pitchFamily="18" charset="0"/>
              </a:rPr>
              <a:t>và</a:t>
            </a:r>
            <a:r>
              <a:rPr lang="en-US" sz="2800" dirty="0">
                <a:latin typeface="Times New Roman" pitchFamily="18" charset="0"/>
              </a:rPr>
              <a:t> </a:t>
            </a:r>
            <a:r>
              <a:rPr lang="en-US" sz="2800" dirty="0" err="1">
                <a:latin typeface="Times New Roman" pitchFamily="18" charset="0"/>
              </a:rPr>
              <a:t>cho</a:t>
            </a:r>
            <a:r>
              <a:rPr lang="en-US" sz="2800" dirty="0">
                <a:latin typeface="Times New Roman" pitchFamily="18" charset="0"/>
              </a:rPr>
              <a:t> </a:t>
            </a:r>
            <a:r>
              <a:rPr lang="en-US" sz="2800" dirty="0" err="1">
                <a:latin typeface="Times New Roman" pitchFamily="18" charset="0"/>
              </a:rPr>
              <a:t>cả</a:t>
            </a:r>
            <a:r>
              <a:rPr lang="en-US" sz="2800" dirty="0">
                <a:latin typeface="Times New Roman" pitchFamily="18" charset="0"/>
              </a:rPr>
              <a:t> </a:t>
            </a:r>
            <a:r>
              <a:rPr lang="en-US" sz="2800" dirty="0" err="1">
                <a:latin typeface="Times New Roman" pitchFamily="18" charset="0"/>
              </a:rPr>
              <a:t>hệ</a:t>
            </a:r>
            <a:r>
              <a:rPr lang="en-US" sz="2800" dirty="0">
                <a:latin typeface="Times New Roman" pitchFamily="18" charset="0"/>
              </a:rPr>
              <a:t>.</a:t>
            </a:r>
          </a:p>
        </p:txBody>
      </p:sp>
      <p:sp>
        <p:nvSpPr>
          <p:cNvPr id="7" name="Rectangle 20"/>
          <p:cNvSpPr>
            <a:spLocks noChangeArrowheads="1"/>
          </p:cNvSpPr>
          <p:nvPr/>
        </p:nvSpPr>
        <p:spPr bwMode="auto">
          <a:xfrm>
            <a:off x="762000" y="1676400"/>
            <a:ext cx="7848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gn="just">
              <a:spcBef>
                <a:spcPct val="20000"/>
              </a:spcBef>
            </a:pPr>
            <a:r>
              <a:rPr lang="en-US" sz="2800" b="1">
                <a:solidFill>
                  <a:srgbClr val="C00000"/>
                </a:solidFill>
                <a:latin typeface="Times New Roman" pitchFamily="18" charset="0"/>
              </a:rPr>
              <a:t>Bước 1: </a:t>
            </a:r>
            <a:r>
              <a:rPr lang="en-US" sz="2800">
                <a:solidFill>
                  <a:srgbClr val="FF0000"/>
                </a:solidFill>
                <a:latin typeface="Times New Roman" pitchFamily="18" charset="0"/>
              </a:rPr>
              <a:t>Vẽ hình và xác định các lực tác dụng</a:t>
            </a:r>
          </a:p>
        </p:txBody>
      </p:sp>
      <p:sp>
        <p:nvSpPr>
          <p:cNvPr id="8" name="Rectangle 21"/>
          <p:cNvSpPr>
            <a:spLocks noChangeArrowheads="1"/>
          </p:cNvSpPr>
          <p:nvPr/>
        </p:nvSpPr>
        <p:spPr bwMode="auto">
          <a:xfrm>
            <a:off x="762000" y="4191000"/>
            <a:ext cx="838200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gn="just">
              <a:spcBef>
                <a:spcPct val="20000"/>
              </a:spcBef>
            </a:pPr>
            <a:r>
              <a:rPr lang="en-US" sz="2800" b="1" dirty="0" err="1">
                <a:latin typeface="Times New Roman" pitchFamily="18" charset="0"/>
              </a:rPr>
              <a:t>Bước</a:t>
            </a:r>
            <a:r>
              <a:rPr lang="en-US" sz="2800" b="1" dirty="0">
                <a:latin typeface="Times New Roman" pitchFamily="18" charset="0"/>
              </a:rPr>
              <a:t> 3: </a:t>
            </a:r>
            <a:r>
              <a:rPr lang="en-US" sz="2800" dirty="0" err="1">
                <a:latin typeface="Times New Roman" pitchFamily="18" charset="0"/>
              </a:rPr>
              <a:t>Chiếu</a:t>
            </a:r>
            <a:r>
              <a:rPr lang="en-US" sz="2800" dirty="0">
                <a:latin typeface="Times New Roman" pitchFamily="18" charset="0"/>
              </a:rPr>
              <a:t> </a:t>
            </a:r>
            <a:r>
              <a:rPr lang="en-US" sz="2800" dirty="0" err="1">
                <a:latin typeface="Times New Roman" pitchFamily="18" charset="0"/>
              </a:rPr>
              <a:t>từng</a:t>
            </a:r>
            <a:r>
              <a:rPr lang="en-US" sz="2800" dirty="0">
                <a:latin typeface="Times New Roman" pitchFamily="18" charset="0"/>
              </a:rPr>
              <a:t> </a:t>
            </a:r>
            <a:r>
              <a:rPr lang="en-US" sz="2800" dirty="0" err="1">
                <a:latin typeface="Times New Roman" pitchFamily="18" charset="0"/>
              </a:rPr>
              <a:t>phương</a:t>
            </a:r>
            <a:r>
              <a:rPr lang="en-US" sz="2800" dirty="0">
                <a:latin typeface="Times New Roman" pitchFamily="18" charset="0"/>
              </a:rPr>
              <a:t> </a:t>
            </a:r>
            <a:r>
              <a:rPr lang="en-US" sz="2800" dirty="0" err="1">
                <a:latin typeface="Times New Roman" pitchFamily="18" charset="0"/>
              </a:rPr>
              <a:t>trình</a:t>
            </a:r>
            <a:r>
              <a:rPr lang="en-US" sz="2800" dirty="0">
                <a:latin typeface="Times New Roman" pitchFamily="18" charset="0"/>
              </a:rPr>
              <a:t> </a:t>
            </a:r>
            <a:r>
              <a:rPr lang="en-US" sz="2800" dirty="0" err="1">
                <a:latin typeface="Times New Roman" pitchFamily="18" charset="0"/>
              </a:rPr>
              <a:t>lên</a:t>
            </a:r>
            <a:r>
              <a:rPr lang="en-US" sz="2800" dirty="0">
                <a:latin typeface="Times New Roman" pitchFamily="18" charset="0"/>
              </a:rPr>
              <a:t> </a:t>
            </a:r>
            <a:r>
              <a:rPr lang="en-US" sz="2800" dirty="0" err="1">
                <a:latin typeface="Times New Roman" pitchFamily="18" charset="0"/>
              </a:rPr>
              <a:t>hướng</a:t>
            </a:r>
            <a:r>
              <a:rPr lang="en-US" sz="2800" dirty="0">
                <a:latin typeface="Times New Roman" pitchFamily="18" charset="0"/>
              </a:rPr>
              <a:t> </a:t>
            </a:r>
            <a:r>
              <a:rPr lang="en-US" sz="2800" dirty="0" err="1">
                <a:latin typeface="Times New Roman" pitchFamily="18" charset="0"/>
              </a:rPr>
              <a:t>chuyển</a:t>
            </a:r>
            <a:r>
              <a:rPr lang="en-US" sz="2800" dirty="0">
                <a:latin typeface="Times New Roman" pitchFamily="18" charset="0"/>
              </a:rPr>
              <a:t> </a:t>
            </a:r>
          </a:p>
          <a:p>
            <a:pPr marL="342900" indent="-342900" algn="just">
              <a:spcBef>
                <a:spcPct val="20000"/>
              </a:spcBef>
            </a:pPr>
            <a:r>
              <a:rPr lang="en-US" sz="2800" dirty="0">
                <a:latin typeface="Times New Roman" pitchFamily="18" charset="0"/>
              </a:rPr>
              <a:t>              </a:t>
            </a:r>
            <a:r>
              <a:rPr lang="en-US" sz="2800" dirty="0" err="1">
                <a:latin typeface="Times New Roman" pitchFamily="18" charset="0"/>
              </a:rPr>
              <a:t>động</a:t>
            </a:r>
            <a:r>
              <a:rPr lang="en-US" sz="2800" dirty="0">
                <a:latin typeface="Times New Roman" pitchFamily="18" charset="0"/>
              </a:rPr>
              <a:t> </a:t>
            </a:r>
            <a:r>
              <a:rPr lang="en-US" sz="2800" dirty="0" err="1">
                <a:latin typeface="Times New Roman" pitchFamily="18" charset="0"/>
              </a:rPr>
              <a:t>của</a:t>
            </a:r>
            <a:r>
              <a:rPr lang="en-US" sz="2800" dirty="0">
                <a:latin typeface="Times New Roman" pitchFamily="18" charset="0"/>
              </a:rPr>
              <a:t> </a:t>
            </a:r>
            <a:r>
              <a:rPr lang="en-US" sz="2800" dirty="0" err="1">
                <a:latin typeface="Times New Roman" pitchFamily="18" charset="0"/>
              </a:rPr>
              <a:t>từng</a:t>
            </a:r>
            <a:r>
              <a:rPr lang="en-US" sz="2800" dirty="0">
                <a:latin typeface="Times New Roman" pitchFamily="18" charset="0"/>
              </a:rPr>
              <a:t> </a:t>
            </a:r>
            <a:r>
              <a:rPr lang="en-US" sz="2800" dirty="0" err="1">
                <a:latin typeface="Times New Roman" pitchFamily="18" charset="0"/>
              </a:rPr>
              <a:t>vật</a:t>
            </a:r>
            <a:r>
              <a:rPr lang="en-US" sz="2800" dirty="0">
                <a:latin typeface="Times New Roman" pitchFamily="18" charset="0"/>
              </a:rPr>
              <a:t> </a:t>
            </a:r>
            <a:r>
              <a:rPr lang="en-US" sz="2800" dirty="0" err="1">
                <a:latin typeface="Times New Roman" pitchFamily="18" charset="0"/>
              </a:rPr>
              <a:t>và</a:t>
            </a:r>
            <a:r>
              <a:rPr lang="en-US" sz="2800" dirty="0">
                <a:latin typeface="Times New Roman" pitchFamily="18" charset="0"/>
              </a:rPr>
              <a:t> </a:t>
            </a:r>
            <a:r>
              <a:rPr lang="en-US" sz="2800" dirty="0" err="1">
                <a:latin typeface="Times New Roman" pitchFamily="18" charset="0"/>
              </a:rPr>
              <a:t>của</a:t>
            </a:r>
            <a:r>
              <a:rPr lang="en-US" sz="2800" dirty="0">
                <a:latin typeface="Times New Roman" pitchFamily="18" charset="0"/>
              </a:rPr>
              <a:t> </a:t>
            </a:r>
            <a:r>
              <a:rPr lang="en-US" sz="2800" dirty="0" err="1">
                <a:latin typeface="Times New Roman" pitchFamily="18" charset="0"/>
              </a:rPr>
              <a:t>cả</a:t>
            </a:r>
            <a:r>
              <a:rPr lang="en-US" sz="2800" dirty="0">
                <a:latin typeface="Times New Roman" pitchFamily="18" charset="0"/>
              </a:rPr>
              <a:t> </a:t>
            </a:r>
            <a:r>
              <a:rPr lang="en-US" sz="2800" dirty="0" err="1">
                <a:latin typeface="Times New Roman" pitchFamily="18" charset="0"/>
              </a:rPr>
              <a:t>hệ</a:t>
            </a:r>
            <a:r>
              <a:rPr lang="en-US" sz="2800" dirty="0">
                <a:latin typeface="Times New Roman" pitchFamily="18" charset="0"/>
              </a:rPr>
              <a:t>.</a:t>
            </a:r>
          </a:p>
        </p:txBody>
      </p:sp>
      <p:sp>
        <p:nvSpPr>
          <p:cNvPr id="9" name="Rectangle 23"/>
          <p:cNvSpPr>
            <a:spLocks noChangeArrowheads="1"/>
          </p:cNvSpPr>
          <p:nvPr/>
        </p:nvSpPr>
        <p:spPr bwMode="auto">
          <a:xfrm>
            <a:off x="228600" y="1589088"/>
            <a:ext cx="5095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3200">
                <a:solidFill>
                  <a:srgbClr val="002060"/>
                </a:solidFill>
                <a:latin typeface="Times New Roman" pitchFamily="18" charset="0"/>
                <a:sym typeface="Wingdings" pitchFamily="2" charset="2"/>
              </a:rPr>
              <a:t></a:t>
            </a:r>
            <a:endParaRPr lang="en-US" sz="3200">
              <a:solidFill>
                <a:srgbClr val="002060"/>
              </a:solidFill>
            </a:endParaRPr>
          </a:p>
        </p:txBody>
      </p:sp>
      <p:sp>
        <p:nvSpPr>
          <p:cNvPr id="10" name="Rectangle 24"/>
          <p:cNvSpPr>
            <a:spLocks noChangeArrowheads="1"/>
          </p:cNvSpPr>
          <p:nvPr/>
        </p:nvSpPr>
        <p:spPr bwMode="auto">
          <a:xfrm>
            <a:off x="228600" y="2427288"/>
            <a:ext cx="5095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3200">
                <a:solidFill>
                  <a:srgbClr val="002060"/>
                </a:solidFill>
                <a:latin typeface="Times New Roman" pitchFamily="18" charset="0"/>
                <a:sym typeface="Wingdings" pitchFamily="2" charset="2"/>
              </a:rPr>
              <a:t></a:t>
            </a:r>
            <a:endParaRPr lang="en-US" sz="3200">
              <a:solidFill>
                <a:srgbClr val="002060"/>
              </a:solidFill>
            </a:endParaRPr>
          </a:p>
        </p:txBody>
      </p:sp>
      <p:sp>
        <p:nvSpPr>
          <p:cNvPr id="11" name="Rectangle 25"/>
          <p:cNvSpPr>
            <a:spLocks noChangeArrowheads="1"/>
          </p:cNvSpPr>
          <p:nvPr/>
        </p:nvSpPr>
        <p:spPr bwMode="auto">
          <a:xfrm>
            <a:off x="228600" y="4191000"/>
            <a:ext cx="5095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3200">
                <a:solidFill>
                  <a:srgbClr val="002060"/>
                </a:solidFill>
                <a:latin typeface="Times New Roman" pitchFamily="18" charset="0"/>
                <a:sym typeface="Wingdings" pitchFamily="2" charset="2"/>
              </a:rPr>
              <a:t></a:t>
            </a:r>
            <a:endParaRPr lang="en-US" sz="3200">
              <a:solidFill>
                <a:srgbClr val="002060"/>
              </a:solidFill>
            </a:endParaRPr>
          </a:p>
        </p:txBody>
      </p:sp>
      <p:graphicFrame>
        <p:nvGraphicFramePr>
          <p:cNvPr id="26630" name="Object 6"/>
          <p:cNvGraphicFramePr>
            <a:graphicFrameLocks noChangeAspect="1"/>
          </p:cNvGraphicFramePr>
          <p:nvPr/>
        </p:nvGraphicFramePr>
        <p:xfrm>
          <a:off x="5191125" y="3352800"/>
          <a:ext cx="2200275" cy="762000"/>
        </p:xfrm>
        <a:graphic>
          <a:graphicData uri="http://schemas.openxmlformats.org/presentationml/2006/ole">
            <mc:AlternateContent xmlns:mc="http://schemas.openxmlformats.org/markup-compatibility/2006">
              <mc:Choice xmlns:v="urn:schemas-microsoft-com:vml" Requires="v">
                <p:oleObj name="Equation" r:id="rId3" imgW="799753" imgH="253890" progId="Equation.DSMT4">
                  <p:embed/>
                </p:oleObj>
              </mc:Choice>
              <mc:Fallback>
                <p:oleObj name="Equation" r:id="rId3" imgW="799753" imgH="25389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1125" y="3352800"/>
                        <a:ext cx="2200275"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Rectangle 16"/>
          <p:cNvSpPr>
            <a:spLocks noChangeArrowheads="1"/>
          </p:cNvSpPr>
          <p:nvPr/>
        </p:nvSpPr>
        <p:spPr bwMode="auto">
          <a:xfrm>
            <a:off x="252413" y="5486400"/>
            <a:ext cx="5095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3200">
                <a:solidFill>
                  <a:srgbClr val="002060"/>
                </a:solidFill>
                <a:latin typeface="Times New Roman" pitchFamily="18" charset="0"/>
                <a:sym typeface="Wingdings" pitchFamily="2" charset="2"/>
              </a:rPr>
              <a:t></a:t>
            </a:r>
            <a:endParaRPr lang="en-US" sz="3200">
              <a:solidFill>
                <a:srgbClr val="002060"/>
              </a:solidFill>
            </a:endParaRPr>
          </a:p>
        </p:txBody>
      </p:sp>
      <p:sp>
        <p:nvSpPr>
          <p:cNvPr id="15" name="Rectangle 17"/>
          <p:cNvSpPr>
            <a:spLocks noChangeArrowheads="1"/>
          </p:cNvSpPr>
          <p:nvPr/>
        </p:nvSpPr>
        <p:spPr bwMode="auto">
          <a:xfrm>
            <a:off x="762000" y="5486400"/>
            <a:ext cx="777240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763" algn="just">
              <a:spcBef>
                <a:spcPct val="20000"/>
              </a:spcBef>
            </a:pPr>
            <a:r>
              <a:rPr lang="en-US" sz="2800" b="1" dirty="0" err="1">
                <a:latin typeface="Times New Roman" pitchFamily="18" charset="0"/>
              </a:rPr>
              <a:t>Bước</a:t>
            </a:r>
            <a:r>
              <a:rPr lang="en-US" sz="2800" b="1" dirty="0">
                <a:latin typeface="Times New Roman" pitchFamily="18" charset="0"/>
              </a:rPr>
              <a:t> 4: </a:t>
            </a:r>
            <a:r>
              <a:rPr lang="en-US" sz="2800" dirty="0" err="1">
                <a:latin typeface="Times New Roman" pitchFamily="18" charset="0"/>
              </a:rPr>
              <a:t>Giải</a:t>
            </a:r>
            <a:r>
              <a:rPr lang="en-US" sz="2800" dirty="0">
                <a:latin typeface="Times New Roman" pitchFamily="18" charset="0"/>
              </a:rPr>
              <a:t> </a:t>
            </a:r>
            <a:r>
              <a:rPr lang="en-US" sz="2800" dirty="0" err="1">
                <a:latin typeface="Times New Roman" pitchFamily="18" charset="0"/>
              </a:rPr>
              <a:t>phương</a:t>
            </a:r>
            <a:r>
              <a:rPr lang="en-US" sz="2800" dirty="0">
                <a:latin typeface="Times New Roman" pitchFamily="18" charset="0"/>
              </a:rPr>
              <a:t> </a:t>
            </a:r>
            <a:r>
              <a:rPr lang="en-US" sz="2800" dirty="0" err="1">
                <a:latin typeface="Times New Roman" pitchFamily="18" charset="0"/>
              </a:rPr>
              <a:t>trình</a:t>
            </a:r>
            <a:r>
              <a:rPr lang="en-US" sz="2800" dirty="0">
                <a:latin typeface="Times New Roman" pitchFamily="18" charset="0"/>
              </a:rPr>
              <a:t> </a:t>
            </a:r>
            <a:r>
              <a:rPr lang="en-US" sz="2800" dirty="0" err="1">
                <a:latin typeface="Times New Roman" pitchFamily="18" charset="0"/>
              </a:rPr>
              <a:t>hoặc</a:t>
            </a:r>
            <a:r>
              <a:rPr lang="en-US" sz="2800" dirty="0">
                <a:latin typeface="Times New Roman" pitchFamily="18" charset="0"/>
              </a:rPr>
              <a:t> </a:t>
            </a:r>
            <a:r>
              <a:rPr lang="en-US" sz="2800" dirty="0" err="1">
                <a:latin typeface="Times New Roman" pitchFamily="18" charset="0"/>
              </a:rPr>
              <a:t>hệ</a:t>
            </a:r>
            <a:r>
              <a:rPr lang="en-US" sz="2800" dirty="0">
                <a:latin typeface="Times New Roman" pitchFamily="18" charset="0"/>
              </a:rPr>
              <a:t> </a:t>
            </a:r>
            <a:r>
              <a:rPr lang="en-US" sz="2800" dirty="0" err="1">
                <a:latin typeface="Times New Roman" pitchFamily="18" charset="0"/>
              </a:rPr>
              <a:t>phương</a:t>
            </a:r>
            <a:r>
              <a:rPr lang="en-US" sz="2800" dirty="0">
                <a:latin typeface="Times New Roman" pitchFamily="18" charset="0"/>
              </a:rPr>
              <a:t> </a:t>
            </a:r>
            <a:r>
              <a:rPr lang="en-US" sz="2800" dirty="0" err="1">
                <a:latin typeface="Times New Roman" pitchFamily="18" charset="0"/>
              </a:rPr>
              <a:t>trình</a:t>
            </a:r>
            <a:r>
              <a:rPr lang="en-US" sz="2800" dirty="0">
                <a:latin typeface="Times New Roman" pitchFamily="18" charset="0"/>
              </a:rPr>
              <a:t> </a:t>
            </a:r>
            <a:r>
              <a:rPr lang="en-US" sz="2800" dirty="0" err="1">
                <a:latin typeface="Times New Roman" pitchFamily="18" charset="0"/>
              </a:rPr>
              <a:t>để</a:t>
            </a:r>
            <a:r>
              <a:rPr lang="en-US" sz="2800" dirty="0">
                <a:latin typeface="Times New Roman" pitchFamily="18" charset="0"/>
              </a:rPr>
              <a:t> </a:t>
            </a:r>
          </a:p>
          <a:p>
            <a:pPr indent="4763" algn="just">
              <a:spcBef>
                <a:spcPct val="20000"/>
              </a:spcBef>
            </a:pPr>
            <a:r>
              <a:rPr lang="en-US" sz="2800" dirty="0">
                <a:latin typeface="Times New Roman" pitchFamily="18" charset="0"/>
              </a:rPr>
              <a:t>              </a:t>
            </a:r>
            <a:r>
              <a:rPr lang="en-US" sz="2800" dirty="0" err="1">
                <a:latin typeface="Times New Roman" pitchFamily="18" charset="0"/>
              </a:rPr>
              <a:t>tính</a:t>
            </a:r>
            <a:r>
              <a:rPr lang="en-US" sz="2800" dirty="0">
                <a:latin typeface="Times New Roman" pitchFamily="18" charset="0"/>
              </a:rPr>
              <a:t> </a:t>
            </a:r>
            <a:r>
              <a:rPr lang="en-US" sz="2800" dirty="0" err="1">
                <a:latin typeface="Times New Roman" pitchFamily="18" charset="0"/>
              </a:rPr>
              <a:t>các</a:t>
            </a:r>
            <a:r>
              <a:rPr lang="en-US" sz="2800" dirty="0">
                <a:latin typeface="Times New Roman" pitchFamily="18" charset="0"/>
              </a:rPr>
              <a:t> </a:t>
            </a:r>
            <a:r>
              <a:rPr lang="en-US" sz="2800" dirty="0" err="1">
                <a:latin typeface="Times New Roman" pitchFamily="18" charset="0"/>
              </a:rPr>
              <a:t>đại</a:t>
            </a:r>
            <a:r>
              <a:rPr lang="en-US" sz="2800" dirty="0">
                <a:latin typeface="Times New Roman" pitchFamily="18" charset="0"/>
              </a:rPr>
              <a:t> </a:t>
            </a:r>
            <a:r>
              <a:rPr lang="en-US" sz="2800" dirty="0" err="1">
                <a:latin typeface="Times New Roman" pitchFamily="18" charset="0"/>
              </a:rPr>
              <a:t>lượng</a:t>
            </a:r>
            <a:r>
              <a:rPr lang="en-US" sz="2800" dirty="0">
                <a:latin typeface="Times New Roman" pitchFamily="18" charset="0"/>
              </a:rPr>
              <a:t> </a:t>
            </a:r>
            <a:r>
              <a:rPr lang="en-US" sz="2800" dirty="0" err="1">
                <a:latin typeface="Times New Roman" pitchFamily="18" charset="0"/>
              </a:rPr>
              <a:t>cần</a:t>
            </a:r>
            <a:r>
              <a:rPr lang="en-US" sz="2800" dirty="0">
                <a:latin typeface="Times New Roman" pitchFamily="18" charset="0"/>
              </a:rPr>
              <a:t> </a:t>
            </a:r>
            <a:r>
              <a:rPr lang="en-US" sz="2800" dirty="0" err="1">
                <a:latin typeface="Times New Roman" pitchFamily="18" charset="0"/>
              </a:rPr>
              <a:t>tìm</a:t>
            </a:r>
            <a:r>
              <a:rPr lang="en-US" sz="2800" dirty="0">
                <a:latin typeface="Times New Roman" pitchFamily="18" charset="0"/>
              </a:rPr>
              <a:t>.</a:t>
            </a:r>
          </a:p>
        </p:txBody>
      </p:sp>
      <p:sp>
        <p:nvSpPr>
          <p:cNvPr id="3" name="Rectangle 20"/>
          <p:cNvSpPr>
            <a:spLocks noChangeArrowheads="1"/>
          </p:cNvSpPr>
          <p:nvPr/>
        </p:nvSpPr>
        <p:spPr bwMode="auto">
          <a:xfrm>
            <a:off x="762000" y="1676400"/>
            <a:ext cx="7848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gn="just">
              <a:spcBef>
                <a:spcPct val="20000"/>
              </a:spcBef>
            </a:pPr>
            <a:r>
              <a:rPr lang="en-US" sz="2800" b="1">
                <a:latin typeface="Times New Roman" pitchFamily="18" charset="0"/>
              </a:rPr>
              <a:t>Bước 1: </a:t>
            </a:r>
            <a:r>
              <a:rPr lang="en-US" sz="2800">
                <a:latin typeface="Times New Roman" pitchFamily="18" charset="0"/>
              </a:rPr>
              <a:t>Vẽ hình và xác định các lực tác dụng</a:t>
            </a:r>
          </a:p>
        </p:txBody>
      </p:sp>
      <mc:AlternateContent xmlns:mc="http://schemas.openxmlformats.org/markup-compatibility/2006" xmlns:a14="http://schemas.microsoft.com/office/drawing/2010/main">
        <mc:Choice Requires="a14">
          <p:sp>
            <p:nvSpPr>
              <p:cNvPr id="17" name="Rectangle 16"/>
              <p:cNvSpPr/>
              <p:nvPr/>
            </p:nvSpPr>
            <p:spPr>
              <a:xfrm>
                <a:off x="2304506" y="3319453"/>
                <a:ext cx="2419894" cy="8715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acc>
                      <m:accPr>
                        <m:chr m:val="⃗"/>
                        <m:ctrlPr>
                          <a:rPr lang="en-US" sz="3600" b="1" i="1" smtClean="0">
                            <a:solidFill>
                              <a:srgbClr val="0070C0"/>
                            </a:solidFill>
                            <a:latin typeface="Cambria Math" panose="02040503050406030204" pitchFamily="18" charset="0"/>
                          </a:rPr>
                        </m:ctrlPr>
                      </m:accPr>
                      <m:e>
                        <m:r>
                          <a:rPr lang="en-US" sz="3600" b="1" i="1">
                            <a:solidFill>
                              <a:srgbClr val="0070C0"/>
                            </a:solidFill>
                            <a:latin typeface="Cambria Math"/>
                          </a:rPr>
                          <m:t>𝑭</m:t>
                        </m:r>
                      </m:e>
                    </m:acc>
                  </m:oMath>
                </a14:m>
                <a:r>
                  <a:rPr lang="en-US" sz="3600" b="1" i="1" dirty="0">
                    <a:solidFill>
                      <a:srgbClr val="0070C0"/>
                    </a:solidFill>
                  </a:rPr>
                  <a:t> = m</a:t>
                </a:r>
                <a14:m>
                  <m:oMath xmlns:m="http://schemas.openxmlformats.org/officeDocument/2006/math">
                    <m:acc>
                      <m:accPr>
                        <m:chr m:val="⃗"/>
                        <m:ctrlPr>
                          <a:rPr lang="en-US" sz="3600" b="1" i="1" smtClean="0">
                            <a:solidFill>
                              <a:srgbClr val="0070C0"/>
                            </a:solidFill>
                            <a:latin typeface="Cambria Math" panose="02040503050406030204" pitchFamily="18" charset="0"/>
                          </a:rPr>
                        </m:ctrlPr>
                      </m:accPr>
                      <m:e>
                        <m:r>
                          <a:rPr lang="en-US" sz="3600" b="1" i="1" smtClean="0">
                            <a:solidFill>
                              <a:srgbClr val="0070C0"/>
                            </a:solidFill>
                            <a:latin typeface="Cambria Math"/>
                          </a:rPr>
                          <m:t>𝒂</m:t>
                        </m:r>
                      </m:e>
                    </m:acc>
                  </m:oMath>
                </a14:m>
                <a:r>
                  <a:rPr lang="en-US" sz="3600" b="1" i="1" dirty="0">
                    <a:solidFill>
                      <a:srgbClr val="0070C0"/>
                    </a:solidFill>
                    <a:latin typeface="Times New Roman" pitchFamily="18" charset="0"/>
                    <a:cs typeface="Times New Roman" pitchFamily="18" charset="0"/>
                  </a:rPr>
                  <a:t> </a:t>
                </a:r>
              </a:p>
            </p:txBody>
          </p:sp>
        </mc:Choice>
        <mc:Fallback xmlns="">
          <p:sp>
            <p:nvSpPr>
              <p:cNvPr id="17" name="Rectangle 16"/>
              <p:cNvSpPr>
                <a:spLocks noRot="1" noChangeAspect="1" noMove="1" noResize="1" noEditPoints="1" noAdjustHandles="1" noChangeArrowheads="1" noChangeShapeType="1" noTextEdit="1"/>
              </p:cNvSpPr>
              <p:nvPr/>
            </p:nvSpPr>
            <p:spPr>
              <a:xfrm>
                <a:off x="2304506" y="3319453"/>
                <a:ext cx="2419894" cy="871547"/>
              </a:xfrm>
              <a:prstGeom prst="rect">
                <a:avLst/>
              </a:prstGeom>
              <a:blipFill rotWithShape="1">
                <a:blip r:embed="rId6"/>
                <a:stretch>
                  <a:fillRect b="-17483"/>
                </a:stretch>
              </a:blipFill>
              <a:ln>
                <a:noFill/>
              </a:ln>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1963673-4650-CA35-4C2F-3AC25FEFF9FF}"/>
              </a:ext>
            </a:extLst>
          </p:cNvPr>
          <p:cNvSpPr>
            <a:spLocks noGrp="1"/>
          </p:cNvSpPr>
          <p:nvPr>
            <p:ph type="ftr" sz="quarter" idx="11"/>
          </p:nvPr>
        </p:nvSpPr>
        <p:spPr/>
        <p:txBody>
          <a:bodyPr/>
          <a:lstStyle/>
          <a:p>
            <a:r>
              <a:rPr lang="en-US"/>
              <a:t>Bùi Quốc Trung - VLDC</a:t>
            </a:r>
          </a:p>
        </p:txBody>
      </p:sp>
      <p:sp>
        <p:nvSpPr>
          <p:cNvPr id="12" name="Slide Number Placeholder 11">
            <a:extLst>
              <a:ext uri="{FF2B5EF4-FFF2-40B4-BE49-F238E27FC236}">
                <a16:creationId xmlns:a16="http://schemas.microsoft.com/office/drawing/2014/main" id="{60E2E8BA-2CDC-BA2E-8F1D-6F930D7E2C18}"/>
              </a:ext>
            </a:extLst>
          </p:cNvPr>
          <p:cNvSpPr>
            <a:spLocks noGrp="1"/>
          </p:cNvSpPr>
          <p:nvPr>
            <p:ph type="sldNum" sz="quarter" idx="12"/>
          </p:nvPr>
        </p:nvSpPr>
        <p:spPr/>
        <p:txBody>
          <a:bodyPr/>
          <a:lstStyle/>
          <a:p>
            <a:fld id="{C4A94DE9-7404-4CC4-BDD8-EA2E97866C70}" type="slidenum">
              <a:rPr lang="en-US" smtClean="0"/>
              <a:t>23</a:t>
            </a:fld>
            <a:endParaRPr lang="en-US"/>
          </a:p>
        </p:txBody>
      </p:sp>
    </p:spTree>
    <p:extLst>
      <p:ext uri="{BB962C8B-B14F-4D97-AF65-F5344CB8AC3E}">
        <p14:creationId xmlns:p14="http://schemas.microsoft.com/office/powerpoint/2010/main" val="7710246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1000"/>
                                        <p:tgtEl>
                                          <p:spTgt spid="2"/>
                                        </p:tgtEl>
                                      </p:cBhvr>
                                    </p:animEffect>
                                  </p:childTnLst>
                                </p:cTn>
                              </p:par>
                            </p:childTnLst>
                          </p:cTn>
                        </p:par>
                        <p:par>
                          <p:cTn id="8" fill="hold" nodeType="afterGroup">
                            <p:stCondLst>
                              <p:cond delay="1000"/>
                            </p:stCondLst>
                            <p:childTnLst>
                              <p:par>
                                <p:cTn id="9" presetID="21"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8)">
                                      <p:cBhvr>
                                        <p:cTn id="11" dur="500"/>
                                        <p:tgtEl>
                                          <p:spTgt spid="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1" presetClass="entr" presetSubtype="8"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heel(8)">
                                      <p:cBhvr>
                                        <p:cTn id="16" dur="500"/>
                                        <p:tgtEl>
                                          <p:spTgt spid="9"/>
                                        </p:tgtEl>
                                      </p:cBhvr>
                                    </p:animEffect>
                                  </p:childTnLst>
                                </p:cTn>
                              </p:par>
                            </p:childTnLst>
                          </p:cTn>
                        </p:par>
                        <p:par>
                          <p:cTn id="17" fill="hold" nodeType="afterGroup">
                            <p:stCondLst>
                              <p:cond delay="500"/>
                            </p:stCondLst>
                            <p:childTnLst>
                              <p:par>
                                <p:cTn id="18" presetID="21" presetClass="entr" presetSubtype="8"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heel(8)">
                                      <p:cBhvr>
                                        <p:cTn id="20" dur="500"/>
                                        <p:tgtEl>
                                          <p:spTgt spid="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1" presetClass="entr" presetSubtype="8"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heel(8)">
                                      <p:cBhvr>
                                        <p:cTn id="25" dur="500"/>
                                        <p:tgtEl>
                                          <p:spTgt spid="10"/>
                                        </p:tgtEl>
                                      </p:cBhvr>
                                    </p:animEffect>
                                  </p:childTnLst>
                                </p:cTn>
                              </p:par>
                            </p:childTnLst>
                          </p:cTn>
                        </p:par>
                        <p:par>
                          <p:cTn id="26" fill="hold" nodeType="afterGroup">
                            <p:stCondLst>
                              <p:cond delay="500"/>
                            </p:stCondLst>
                            <p:childTnLst>
                              <p:par>
                                <p:cTn id="27" presetID="21" presetClass="entr" presetSubtype="8"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heel(8)">
                                      <p:cBhvr>
                                        <p:cTn id="29" dur="500"/>
                                        <p:tgtEl>
                                          <p:spTgt spid="6"/>
                                        </p:tgtEl>
                                      </p:cBhvr>
                                    </p:animEffect>
                                  </p:childTnLst>
                                </p:cTn>
                              </p:par>
                            </p:childTnLst>
                          </p:cTn>
                        </p:par>
                        <p:par>
                          <p:cTn id="30" fill="hold" nodeType="afterGroup">
                            <p:stCondLst>
                              <p:cond delay="1000"/>
                            </p:stCondLst>
                            <p:childTnLst>
                              <p:par>
                                <p:cTn id="31" presetID="21" presetClass="entr" presetSubtype="8" fill="hold" grpId="0" nodeType="after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heel(8)">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barn(inVertical)">
                                      <p:cBhvr>
                                        <p:cTn id="38" dur="500"/>
                                        <p:tgtEl>
                                          <p:spTgt spid="17"/>
                                        </p:tgtEl>
                                      </p:cBhvr>
                                    </p:animEffect>
                                  </p:childTnLst>
                                </p:cTn>
                              </p:par>
                              <p:par>
                                <p:cTn id="39" presetID="16" presetClass="entr" presetSubtype="21" fill="hold" nodeType="withEffect">
                                  <p:stCondLst>
                                    <p:cond delay="0"/>
                                  </p:stCondLst>
                                  <p:childTnLst>
                                    <p:set>
                                      <p:cBhvr>
                                        <p:cTn id="40" dur="1" fill="hold">
                                          <p:stCondLst>
                                            <p:cond delay="0"/>
                                          </p:stCondLst>
                                        </p:cTn>
                                        <p:tgtEl>
                                          <p:spTgt spid="26630"/>
                                        </p:tgtEl>
                                        <p:attrNameLst>
                                          <p:attrName>style.visibility</p:attrName>
                                        </p:attrNameLst>
                                      </p:cBhvr>
                                      <p:to>
                                        <p:strVal val="visible"/>
                                      </p:to>
                                    </p:set>
                                    <p:animEffect transition="in" filter="barn(inVertical)">
                                      <p:cBhvr>
                                        <p:cTn id="41" dur="500"/>
                                        <p:tgtEl>
                                          <p:spTgt spid="2663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down)">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down)">
                                      <p:cBhvr>
                                        <p:cTn id="5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5" grpId="0"/>
      <p:bldP spid="3" grpId="0"/>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Bùi Quốc Trung - VLDC</a:t>
            </a:r>
          </a:p>
        </p:txBody>
      </p:sp>
      <p:sp>
        <p:nvSpPr>
          <p:cNvPr id="5" name="Slide Number Placeholder 4"/>
          <p:cNvSpPr>
            <a:spLocks noGrp="1"/>
          </p:cNvSpPr>
          <p:nvPr>
            <p:ph type="sldNum" sz="quarter" idx="12"/>
          </p:nvPr>
        </p:nvSpPr>
        <p:spPr/>
        <p:txBody>
          <a:bodyPr/>
          <a:lstStyle/>
          <a:p>
            <a:fld id="{C4A94DE9-7404-4CC4-BDD8-EA2E97866C70}" type="slidenum">
              <a:rPr lang="en-US" smtClean="0"/>
              <a:t>24</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3048000"/>
            <a:ext cx="4115958" cy="2914650"/>
          </a:xfrm>
          <a:prstGeom prst="rect">
            <a:avLst/>
          </a:prstGeom>
        </p:spPr>
      </p:pic>
      <p:sp>
        <p:nvSpPr>
          <p:cNvPr id="7" name="Rectangle 6"/>
          <p:cNvSpPr/>
          <p:nvPr/>
        </p:nvSpPr>
        <p:spPr>
          <a:xfrm>
            <a:off x="4558146" y="4433455"/>
            <a:ext cx="4572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p>
        </p:txBody>
      </p:sp>
      <p:sp>
        <p:nvSpPr>
          <p:cNvPr id="8" name="Right Triangle 7"/>
          <p:cNvSpPr/>
          <p:nvPr/>
        </p:nvSpPr>
        <p:spPr>
          <a:xfrm>
            <a:off x="1066800" y="914400"/>
            <a:ext cx="4419600" cy="1600200"/>
          </a:xfrm>
          <a:prstGeom prst="rtTriangl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9" name="Rectangle 8"/>
          <p:cNvSpPr/>
          <p:nvPr/>
        </p:nvSpPr>
        <p:spPr>
          <a:xfrm>
            <a:off x="685800" y="1447800"/>
            <a:ext cx="4572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p>
        </p:txBody>
      </p:sp>
      <p:sp>
        <p:nvSpPr>
          <p:cNvPr id="10" name="Rectangle 9"/>
          <p:cNvSpPr/>
          <p:nvPr/>
        </p:nvSpPr>
        <p:spPr>
          <a:xfrm rot="6663144">
            <a:off x="2113869" y="923740"/>
            <a:ext cx="4572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a:stCxn id="10" idx="3"/>
          </p:cNvCxnSpPr>
          <p:nvPr/>
        </p:nvCxnSpPr>
        <p:spPr>
          <a:xfrm>
            <a:off x="2260351" y="1365681"/>
            <a:ext cx="0" cy="137751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2260350" y="1365680"/>
            <a:ext cx="559049" cy="23451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10" idx="3"/>
          </p:cNvCxnSpPr>
          <p:nvPr/>
        </p:nvCxnSpPr>
        <p:spPr>
          <a:xfrm flipH="1">
            <a:off x="1828800" y="1365681"/>
            <a:ext cx="431551" cy="130131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89168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r>
              <a:rPr lang="en-US"/>
              <a:t>Phân tích lực</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3048000"/>
            <a:ext cx="4115958" cy="291465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400" y="640123"/>
            <a:ext cx="3436112" cy="2551568"/>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1999" y="1898876"/>
            <a:ext cx="3369065" cy="4578124"/>
          </a:xfrm>
          <a:prstGeom prst="rect">
            <a:avLst/>
          </a:prstGeom>
        </p:spPr>
      </p:pic>
      <p:sp>
        <p:nvSpPr>
          <p:cNvPr id="2" name="Footer Placeholder 1">
            <a:extLst>
              <a:ext uri="{FF2B5EF4-FFF2-40B4-BE49-F238E27FC236}">
                <a16:creationId xmlns:a16="http://schemas.microsoft.com/office/drawing/2014/main" id="{30D826E9-5C73-91BA-A29D-C466A4DA0A74}"/>
              </a:ext>
            </a:extLst>
          </p:cNvPr>
          <p:cNvSpPr>
            <a:spLocks noGrp="1"/>
          </p:cNvSpPr>
          <p:nvPr>
            <p:ph type="ftr" sz="quarter" idx="11"/>
          </p:nvPr>
        </p:nvSpPr>
        <p:spPr/>
        <p:txBody>
          <a:bodyPr/>
          <a:lstStyle/>
          <a:p>
            <a:r>
              <a:rPr lang="en-US"/>
              <a:t>Bùi Quốc Trung - VLDC</a:t>
            </a:r>
          </a:p>
        </p:txBody>
      </p:sp>
      <p:sp>
        <p:nvSpPr>
          <p:cNvPr id="7" name="Slide Number Placeholder 6">
            <a:extLst>
              <a:ext uri="{FF2B5EF4-FFF2-40B4-BE49-F238E27FC236}">
                <a16:creationId xmlns:a16="http://schemas.microsoft.com/office/drawing/2014/main" id="{768DAD3E-9318-4B96-6787-DBD12A6958EF}"/>
              </a:ext>
            </a:extLst>
          </p:cNvPr>
          <p:cNvSpPr>
            <a:spLocks noGrp="1"/>
          </p:cNvSpPr>
          <p:nvPr>
            <p:ph type="sldNum" sz="quarter" idx="12"/>
          </p:nvPr>
        </p:nvSpPr>
        <p:spPr/>
        <p:txBody>
          <a:bodyPr/>
          <a:lstStyle/>
          <a:p>
            <a:fld id="{C4A94DE9-7404-4CC4-BDD8-EA2E97866C70}" type="slidenum">
              <a:rPr lang="en-US" smtClean="0"/>
              <a:t>25</a:t>
            </a:fld>
            <a:endParaRPr lang="en-US"/>
          </a:p>
        </p:txBody>
      </p:sp>
    </p:spTree>
    <p:extLst>
      <p:ext uri="{BB962C8B-B14F-4D97-AF65-F5344CB8AC3E}">
        <p14:creationId xmlns:p14="http://schemas.microsoft.com/office/powerpoint/2010/main" val="2412612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1000"/>
                                        <p:tgtEl>
                                          <p:spTgt spid="4"/>
                                        </p:tgtEl>
                                      </p:cBhvr>
                                    </p:animEffect>
                                    <p:anim calcmode="lin" valueType="num">
                                      <p:cBhvr>
                                        <p:cTn id="19" dur="1000" fill="hold"/>
                                        <p:tgtEl>
                                          <p:spTgt spid="4"/>
                                        </p:tgtEl>
                                        <p:attrNameLst>
                                          <p:attrName>ppt_x</p:attrName>
                                        </p:attrNameLst>
                                      </p:cBhvr>
                                      <p:tavLst>
                                        <p:tav tm="0">
                                          <p:val>
                                            <p:strVal val="#ppt_x"/>
                                          </p:val>
                                        </p:tav>
                                        <p:tav tm="100000">
                                          <p:val>
                                            <p:strVal val="#ppt_x"/>
                                          </p:val>
                                        </p:tav>
                                      </p:tavLst>
                                    </p:anim>
                                    <p:anim calcmode="lin" valueType="num">
                                      <p:cBhvr>
                                        <p:cTn id="2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609600"/>
                <a:ext cx="8229600" cy="5516563"/>
              </a:xfrm>
              <a:ln>
                <a:noFill/>
              </a:ln>
            </p:spPr>
            <p:txBody>
              <a:bodyPr>
                <a:normAutofit/>
              </a:bodyPr>
              <a:lstStyle/>
              <a:p>
                <a:endParaRPr lang="en-US" i="1" dirty="0">
                  <a:latin typeface="Cambria Math"/>
                </a:endParaRPr>
              </a:p>
              <a:p>
                <a:pPr>
                  <a:buFont typeface="Wingdings" pitchFamily="2" charset="2"/>
                  <a:buChar char="Ø"/>
                </a:pPr>
                <a:r>
                  <a:rPr lang="en-US" dirty="0" err="1">
                    <a:latin typeface="Times New Roman" pitchFamily="18" charset="0"/>
                    <a:cs typeface="Times New Roman" pitchFamily="18" charset="0"/>
                  </a:rPr>
                  <a:t>Vậtchuyển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động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trên</a:t>
                </a:r>
                <a:r>
                  <a:rPr lang="en-US" dirty="0">
                    <a:latin typeface="Times New Roman" pitchFamily="18" charset="0"/>
                    <a:cs typeface="Times New Roman" pitchFamily="18" charset="0"/>
                  </a:rPr>
                  <a:t> </a:t>
                </a:r>
              </a:p>
              <a:p>
                <a:pPr marL="0" indent="0">
                  <a:buNone/>
                </a:pPr>
                <a:r>
                  <a:rPr lang="en-US" dirty="0" err="1">
                    <a:latin typeface="Times New Roman" pitchFamily="18" charset="0"/>
                    <a:cs typeface="Times New Roman" pitchFamily="18" charset="0"/>
                  </a:rPr>
                  <a:t>mp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ngang</a:t>
                </a:r>
                <a:endParaRPr lang="en-US" dirty="0">
                  <a:latin typeface="Times New Roman" pitchFamily="18" charset="0"/>
                  <a:cs typeface="Times New Roman" pitchFamily="18" charset="0"/>
                </a:endParaRPr>
              </a:p>
              <a:p>
                <a:endParaRPr lang="en-US" i="1" dirty="0">
                  <a:latin typeface="Cambria Math"/>
                </a:endParaRPr>
              </a:p>
              <a:p>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a:rPr>
                          <m:t>𝑃</m:t>
                        </m:r>
                      </m:e>
                    </m:acc>
                  </m:oMath>
                </a14:m>
                <a:r>
                  <a:rPr lang="en-US" dirty="0">
                    <a:latin typeface="Times New Roman" pitchFamily="18" charset="0"/>
                    <a:cs typeface="Times New Roman" pitchFamily="18" charset="0"/>
                  </a:rPr>
                  <a:t> + </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a:rPr>
                          <m:t>𝑁</m:t>
                        </m:r>
                      </m:e>
                    </m:acc>
                  </m:oMath>
                </a14:m>
                <a:r>
                  <a:rPr lang="en-US" dirty="0">
                    <a:latin typeface="Times New Roman" pitchFamily="18" charset="0"/>
                    <a:cs typeface="Times New Roman" pitchFamily="18" charset="0"/>
                  </a:rPr>
                  <a:t> + </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a:rPr>
                          <m:t>𝐹𝑚𝑠</m:t>
                        </m:r>
                      </m:e>
                    </m:acc>
                  </m:oMath>
                </a14:m>
                <a:r>
                  <a:rPr lang="en-US" dirty="0">
                    <a:latin typeface="Times New Roman" pitchFamily="18" charset="0"/>
                    <a:cs typeface="Times New Roman" pitchFamily="18" charset="0"/>
                  </a:rPr>
                  <a:t> + </a:t>
                </a:r>
                <a14:m>
                  <m:oMath xmlns:m="http://schemas.openxmlformats.org/officeDocument/2006/math">
                    <m:acc>
                      <m:accPr>
                        <m:chr m:val="⃗"/>
                        <m:ctrlPr>
                          <a:rPr lang="en-US" i="1" smtClean="0">
                            <a:latin typeface="Cambria Math" panose="02040503050406030204" pitchFamily="18" charset="0"/>
                            <a:cs typeface="Times New Roman" pitchFamily="18" charset="0"/>
                          </a:rPr>
                        </m:ctrlPr>
                      </m:accPr>
                      <m:e>
                        <m:r>
                          <a:rPr lang="en-US" b="0" i="1" smtClean="0">
                            <a:latin typeface="Cambria Math"/>
                            <a:cs typeface="Times New Roman" pitchFamily="18" charset="0"/>
                          </a:rPr>
                          <m:t>𝐹</m:t>
                        </m:r>
                      </m:e>
                    </m:acc>
                  </m:oMath>
                </a14:m>
                <a:r>
                  <a:rPr lang="en-US" dirty="0">
                    <a:latin typeface="Times New Roman" pitchFamily="18" charset="0"/>
                    <a:cs typeface="Times New Roman" pitchFamily="18" charset="0"/>
                  </a:rPr>
                  <a:t> = </a:t>
                </a:r>
                <a:r>
                  <a:rPr lang="en-US" i="1" dirty="0">
                    <a:latin typeface="Times New Roman" pitchFamily="18" charset="0"/>
                    <a:cs typeface="Times New Roman" pitchFamily="18" charset="0"/>
                  </a:rPr>
                  <a:t>m</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a:rPr>
                          <m:t>𝑎</m:t>
                        </m:r>
                      </m:e>
                    </m:acc>
                  </m:oMath>
                </a14:m>
                <a:endParaRPr lang="en-US" dirty="0">
                  <a:latin typeface="Times New Roman" pitchFamily="18" charset="0"/>
                  <a:cs typeface="Times New Roman" pitchFamily="18" charset="0"/>
                </a:endParaRPr>
              </a:p>
              <a:p>
                <a:r>
                  <a:rPr lang="en-US" i="1" u="sng" dirty="0">
                    <a:latin typeface="Times New Roman" pitchFamily="18" charset="0"/>
                    <a:cs typeface="Times New Roman" pitchFamily="18" charset="0"/>
                  </a:rPr>
                  <a:t>Ox:</a:t>
                </a:r>
                <a:r>
                  <a:rPr lang="en-US" i="1" dirty="0">
                    <a:latin typeface="Times New Roman" pitchFamily="18" charset="0"/>
                    <a:cs typeface="Times New Roman" pitchFamily="18" charset="0"/>
                  </a:rPr>
                  <a:t>		F – </a:t>
                </a:r>
                <a:r>
                  <a:rPr lang="en-US" i="1" dirty="0" err="1">
                    <a:latin typeface="Times New Roman" pitchFamily="18" charset="0"/>
                    <a:cs typeface="Times New Roman" pitchFamily="18" charset="0"/>
                  </a:rPr>
                  <a:t>Fms</a:t>
                </a:r>
                <a:r>
                  <a:rPr lang="en-US" i="1" dirty="0">
                    <a:latin typeface="Times New Roman" pitchFamily="18" charset="0"/>
                    <a:cs typeface="Times New Roman" pitchFamily="18" charset="0"/>
                  </a:rPr>
                  <a:t> = ma, </a:t>
                </a:r>
                <a:r>
                  <a:rPr lang="en-US" i="1" dirty="0" err="1">
                    <a:latin typeface="Times New Roman" pitchFamily="18" charset="0"/>
                    <a:cs typeface="Times New Roman" pitchFamily="18" charset="0"/>
                  </a:rPr>
                  <a:t>Fms</a:t>
                </a:r>
                <a:r>
                  <a:rPr lang="en-US" i="1" dirty="0">
                    <a:latin typeface="Times New Roman" pitchFamily="18" charset="0"/>
                    <a:cs typeface="Times New Roman" pitchFamily="18" charset="0"/>
                  </a:rPr>
                  <a:t> = </a:t>
                </a:r>
                <a:r>
                  <a:rPr lang="el-GR" b="1" i="1" dirty="0">
                    <a:latin typeface="Times New Roman" pitchFamily="18" charset="0"/>
                    <a:cs typeface="Times New Roman" pitchFamily="18" charset="0"/>
                  </a:rPr>
                  <a:t>μ</a:t>
                </a:r>
                <a:r>
                  <a:rPr lang="en-US" b="1" i="1" dirty="0">
                    <a:latin typeface="Times New Roman" pitchFamily="18" charset="0"/>
                    <a:cs typeface="Times New Roman" pitchFamily="18" charset="0"/>
                  </a:rPr>
                  <a:t>N</a:t>
                </a:r>
                <a:r>
                  <a:rPr lang="en-US" i="1" dirty="0">
                    <a:latin typeface="Times New Roman" pitchFamily="18" charset="0"/>
                    <a:cs typeface="Times New Roman" pitchFamily="18" charset="0"/>
                  </a:rPr>
                  <a:t> </a:t>
                </a:r>
              </a:p>
              <a:p>
                <a:r>
                  <a:rPr lang="en-US" i="1" u="sng" dirty="0" err="1">
                    <a:latin typeface="Times New Roman" pitchFamily="18" charset="0"/>
                    <a:cs typeface="Times New Roman" pitchFamily="18" charset="0"/>
                  </a:rPr>
                  <a:t>Oy</a:t>
                </a:r>
                <a:r>
                  <a:rPr lang="en-US" i="1" u="sng" dirty="0">
                    <a:latin typeface="Times New Roman" pitchFamily="18" charset="0"/>
                    <a:cs typeface="Times New Roman" pitchFamily="18" charset="0"/>
                  </a:rPr>
                  <a:t>:</a:t>
                </a:r>
                <a:r>
                  <a:rPr lang="en-US" i="1" dirty="0">
                    <a:latin typeface="Times New Roman" pitchFamily="18" charset="0"/>
                    <a:cs typeface="Times New Roman" pitchFamily="18" charset="0"/>
                  </a:rPr>
                  <a:t> 	N - mg = 0 </a:t>
                </a:r>
                <a14:m>
                  <m:oMath xmlns:m="http://schemas.openxmlformats.org/officeDocument/2006/math">
                    <m:r>
                      <a:rPr lang="en-US" i="1" smtClean="0">
                        <a:latin typeface="Cambria Math"/>
                        <a:ea typeface="Cambria Math"/>
                      </a:rPr>
                      <m:t>→</m:t>
                    </m:r>
                  </m:oMath>
                </a14:m>
                <a:r>
                  <a:rPr lang="en-US" i="1" dirty="0">
                    <a:latin typeface="Times New Roman" pitchFamily="18" charset="0"/>
                    <a:cs typeface="Times New Roman" pitchFamily="18" charset="0"/>
                  </a:rPr>
                  <a:t> </a:t>
                </a:r>
                <a:r>
                  <a:rPr lang="en-US" b="1" i="1" dirty="0">
                    <a:latin typeface="Times New Roman" pitchFamily="18" charset="0"/>
                    <a:cs typeface="Times New Roman" pitchFamily="18" charset="0"/>
                  </a:rPr>
                  <a:t>N = mg</a:t>
                </a:r>
                <a:endParaRPr lang="en-US" b="1" i="1" dirty="0">
                  <a:latin typeface="Times New Roman" pitchFamily="18" charset="0"/>
                  <a:ea typeface="Cambria Math"/>
                  <a:cs typeface="Times New Roman" pitchFamily="18" charset="0"/>
                </a:endParaRPr>
              </a:p>
              <a:p>
                <a:r>
                  <a:rPr lang="en-US" b="1" i="1" dirty="0">
                    <a:latin typeface="Times New Roman" pitchFamily="18" charset="0"/>
                    <a:cs typeface="Times New Roman" pitchFamily="18" charset="0"/>
                  </a:rPr>
                  <a:t>F = ma + </a:t>
                </a:r>
                <a:r>
                  <a:rPr lang="el-GR" b="1" i="1" dirty="0">
                    <a:latin typeface="Times New Roman" pitchFamily="18" charset="0"/>
                    <a:cs typeface="Times New Roman" pitchFamily="18" charset="0"/>
                  </a:rPr>
                  <a:t>μ</a:t>
                </a:r>
                <a:r>
                  <a:rPr lang="en-US" b="1" i="1" dirty="0">
                    <a:latin typeface="Times New Roman" pitchFamily="18" charset="0"/>
                    <a:cs typeface="Times New Roman" pitchFamily="18" charset="0"/>
                  </a:rPr>
                  <a:t>mg</a:t>
                </a:r>
              </a:p>
              <a:p>
                <a14:m>
                  <m:oMath xmlns:m="http://schemas.openxmlformats.org/officeDocument/2006/math">
                    <m:acc>
                      <m:accPr>
                        <m:chr m:val="⃗"/>
                        <m:ctrlPr>
                          <a:rPr lang="en-US" b="1" i="1">
                            <a:latin typeface="Cambria Math" panose="02040503050406030204" pitchFamily="18" charset="0"/>
                            <a:cs typeface="Times New Roman" pitchFamily="18" charset="0"/>
                          </a:rPr>
                        </m:ctrlPr>
                      </m:accPr>
                      <m:e>
                        <m:r>
                          <a:rPr lang="en-US" b="1" i="1" smtClean="0">
                            <a:latin typeface="Cambria Math"/>
                            <a:cs typeface="Times New Roman" pitchFamily="18" charset="0"/>
                          </a:rPr>
                          <m:t>𝑭</m:t>
                        </m:r>
                      </m:e>
                    </m:acc>
                  </m:oMath>
                </a14:m>
                <a:r>
                  <a:rPr lang="en-US" b="1" i="1" dirty="0">
                    <a:latin typeface="Times New Roman" pitchFamily="18" charset="0"/>
                    <a:cs typeface="Times New Roman" pitchFamily="18" charset="0"/>
                  </a:rPr>
                  <a:t> = </a:t>
                </a:r>
                <a14:m>
                  <m:oMath xmlns:m="http://schemas.openxmlformats.org/officeDocument/2006/math">
                    <m:acc>
                      <m:accPr>
                        <m:chr m:val="⃗"/>
                        <m:ctrlPr>
                          <a:rPr lang="en-US" b="1" i="1">
                            <a:latin typeface="Cambria Math" panose="02040503050406030204" pitchFamily="18" charset="0"/>
                            <a:cs typeface="Times New Roman" pitchFamily="18" charset="0"/>
                          </a:rPr>
                        </m:ctrlPr>
                      </m:accPr>
                      <m:e>
                        <m:sSub>
                          <m:sSubPr>
                            <m:ctrlPr>
                              <a:rPr lang="en-US" b="1" i="1">
                                <a:latin typeface="Cambria Math" panose="02040503050406030204" pitchFamily="18" charset="0"/>
                                <a:cs typeface="Times New Roman" pitchFamily="18" charset="0"/>
                              </a:rPr>
                            </m:ctrlPr>
                          </m:sSubPr>
                          <m:e>
                            <m:r>
                              <a:rPr lang="en-US" b="1" i="1">
                                <a:latin typeface="Cambria Math"/>
                                <a:cs typeface="Times New Roman" pitchFamily="18" charset="0"/>
                              </a:rPr>
                              <m:t>𝑭</m:t>
                            </m:r>
                          </m:e>
                          <m:sub>
                            <m:r>
                              <a:rPr lang="en-US" b="1" i="1">
                                <a:latin typeface="Cambria Math"/>
                                <a:cs typeface="Times New Roman" pitchFamily="18" charset="0"/>
                              </a:rPr>
                              <m:t>𝟏</m:t>
                            </m:r>
                          </m:sub>
                        </m:sSub>
                      </m:e>
                    </m:acc>
                  </m:oMath>
                </a14:m>
                <a:r>
                  <a:rPr lang="en-US" b="1" i="1" dirty="0">
                    <a:latin typeface="Times New Roman" pitchFamily="18" charset="0"/>
                    <a:cs typeface="Times New Roman" pitchFamily="18" charset="0"/>
                  </a:rPr>
                  <a:t>+</a:t>
                </a:r>
                <a:r>
                  <a:rPr lang="en-US" b="1" dirty="0">
                    <a:cs typeface="Times New Roman" pitchFamily="18" charset="0"/>
                  </a:rPr>
                  <a:t> </a:t>
                </a:r>
                <a14:m>
                  <m:oMath xmlns:m="http://schemas.openxmlformats.org/officeDocument/2006/math">
                    <m:acc>
                      <m:accPr>
                        <m:chr m:val="⃗"/>
                        <m:ctrlPr>
                          <a:rPr lang="en-US" b="1" i="1">
                            <a:latin typeface="Cambria Math" panose="02040503050406030204" pitchFamily="18" charset="0"/>
                            <a:cs typeface="Times New Roman" pitchFamily="18" charset="0"/>
                          </a:rPr>
                        </m:ctrlPr>
                      </m:accPr>
                      <m:e>
                        <m:sSub>
                          <m:sSubPr>
                            <m:ctrlPr>
                              <a:rPr lang="en-US" b="1" i="1">
                                <a:latin typeface="Cambria Math" panose="02040503050406030204" pitchFamily="18" charset="0"/>
                                <a:cs typeface="Times New Roman" pitchFamily="18" charset="0"/>
                              </a:rPr>
                            </m:ctrlPr>
                          </m:sSubPr>
                          <m:e>
                            <m:r>
                              <a:rPr lang="en-US" b="1" i="1">
                                <a:latin typeface="Cambria Math"/>
                                <a:cs typeface="Times New Roman" pitchFamily="18" charset="0"/>
                              </a:rPr>
                              <m:t>𝑭</m:t>
                            </m:r>
                          </m:e>
                          <m:sub>
                            <m:r>
                              <a:rPr lang="en-US" b="1" i="1">
                                <a:latin typeface="Cambria Math"/>
                                <a:cs typeface="Times New Roman" pitchFamily="18" charset="0"/>
                              </a:rPr>
                              <m:t>𝟐</m:t>
                            </m:r>
                          </m:sub>
                        </m:sSub>
                      </m:e>
                    </m:acc>
                    <m:r>
                      <a:rPr lang="en-US" b="1" i="1">
                        <a:latin typeface="Cambria Math"/>
                        <a:cs typeface="Times New Roman" pitchFamily="18" charset="0"/>
                      </a:rPr>
                      <m:t> </m:t>
                    </m:r>
                  </m:oMath>
                </a14:m>
                <a:r>
                  <a:rPr lang="en-US" b="1" i="1" dirty="0">
                    <a:latin typeface="Times New Roman" pitchFamily="18" charset="0"/>
                    <a:cs typeface="Times New Roman" pitchFamily="18" charset="0"/>
                  </a:rPr>
                  <a:t>, </a:t>
                </a:r>
                <a14:m>
                  <m:oMath xmlns:m="http://schemas.openxmlformats.org/officeDocument/2006/math">
                    <m:sSub>
                      <m:sSubPr>
                        <m:ctrlPr>
                          <a:rPr lang="en-US" b="1" i="1">
                            <a:latin typeface="Cambria Math" panose="02040503050406030204" pitchFamily="18" charset="0"/>
                            <a:cs typeface="Times New Roman" pitchFamily="18" charset="0"/>
                          </a:rPr>
                        </m:ctrlPr>
                      </m:sSubPr>
                      <m:e>
                        <m:r>
                          <a:rPr lang="en-US" b="1" i="1">
                            <a:latin typeface="Cambria Math"/>
                            <a:cs typeface="Times New Roman" pitchFamily="18" charset="0"/>
                          </a:rPr>
                          <m:t>𝑭</m:t>
                        </m:r>
                      </m:e>
                      <m:sub>
                        <m:r>
                          <a:rPr lang="en-US" b="1" i="1">
                            <a:latin typeface="Cambria Math"/>
                            <a:cs typeface="Times New Roman" pitchFamily="18" charset="0"/>
                          </a:rPr>
                          <m:t>𝟏</m:t>
                        </m:r>
                      </m:sub>
                    </m:sSub>
                  </m:oMath>
                </a14:m>
                <a:r>
                  <a:rPr lang="en-US" b="1" i="1" dirty="0">
                    <a:latin typeface="Times New Roman" pitchFamily="18" charset="0"/>
                    <a:cs typeface="Times New Roman" pitchFamily="18" charset="0"/>
                  </a:rPr>
                  <a:t>=F</a:t>
                </a:r>
                <a:r>
                  <a:rPr lang="en-US" b="1" i="1" dirty="0" err="1">
                    <a:latin typeface="Times New Roman" pitchFamily="18" charset="0"/>
                    <a:cs typeface="Times New Roman" pitchFamily="18" charset="0"/>
                  </a:rPr>
                  <a:t>cos</a:t>
                </a:r>
                <a:r>
                  <a:rPr lang="el-GR" b="1" i="1" dirty="0">
                    <a:latin typeface="Times New Roman" pitchFamily="18" charset="0"/>
                    <a:cs typeface="Times New Roman" pitchFamily="18" charset="0"/>
                  </a:rPr>
                  <a:t>α</a:t>
                </a:r>
                <a:r>
                  <a:rPr lang="en-US" b="1" i="1" dirty="0">
                    <a:latin typeface="Times New Roman" pitchFamily="18" charset="0"/>
                    <a:cs typeface="Times New Roman" pitchFamily="18" charset="0"/>
                  </a:rPr>
                  <a:t> ,</a:t>
                </a:r>
                <a14:m>
                  <m:oMath xmlns:m="http://schemas.openxmlformats.org/officeDocument/2006/math">
                    <m:sSub>
                      <m:sSubPr>
                        <m:ctrlPr>
                          <a:rPr lang="en-US" b="1" i="1" smtClean="0">
                            <a:latin typeface="Cambria Math" panose="02040503050406030204" pitchFamily="18" charset="0"/>
                            <a:cs typeface="Times New Roman" pitchFamily="18" charset="0"/>
                          </a:rPr>
                        </m:ctrlPr>
                      </m:sSubPr>
                      <m:e>
                        <m:r>
                          <a:rPr lang="en-US" b="1" i="1">
                            <a:latin typeface="Cambria Math"/>
                            <a:cs typeface="Times New Roman" pitchFamily="18" charset="0"/>
                          </a:rPr>
                          <m:t>𝑭</m:t>
                        </m:r>
                      </m:e>
                      <m:sub>
                        <m:r>
                          <a:rPr lang="en-US" b="1" i="1">
                            <a:latin typeface="Cambria Math"/>
                            <a:cs typeface="Times New Roman" pitchFamily="18" charset="0"/>
                          </a:rPr>
                          <m:t>𝟐</m:t>
                        </m:r>
                      </m:sub>
                    </m:sSub>
                  </m:oMath>
                </a14:m>
                <a:r>
                  <a:rPr lang="en-US" b="1" i="1" dirty="0">
                    <a:latin typeface="Times New Roman" pitchFamily="18" charset="0"/>
                    <a:cs typeface="Times New Roman" pitchFamily="18" charset="0"/>
                  </a:rPr>
                  <a:t>=</a:t>
                </a:r>
                <a14:m>
                  <m:oMath xmlns:m="http://schemas.openxmlformats.org/officeDocument/2006/math">
                    <m:r>
                      <a:rPr lang="en-US" b="1" i="1" smtClean="0">
                        <a:latin typeface="Cambria Math"/>
                        <a:cs typeface="Times New Roman" pitchFamily="18" charset="0"/>
                      </a:rPr>
                      <m:t>𝑭</m:t>
                    </m:r>
                  </m:oMath>
                </a14:m>
                <a:r>
                  <a:rPr lang="en-US" b="1" i="1" dirty="0" err="1">
                    <a:latin typeface="Times New Roman" pitchFamily="18" charset="0"/>
                    <a:cs typeface="Times New Roman" pitchFamily="18" charset="0"/>
                  </a:rPr>
                  <a:t>sin</a:t>
                </a:r>
                <a:r>
                  <a:rPr lang="el-GR" b="1" i="1" dirty="0">
                    <a:latin typeface="Times New Roman" pitchFamily="18" charset="0"/>
                    <a:cs typeface="Times New Roman" pitchFamily="18" charset="0"/>
                  </a:rPr>
                  <a:t>α</a:t>
                </a:r>
                <a:endParaRPr lang="en-US" b="1" i="1" dirty="0">
                  <a:latin typeface="Times New Roman" pitchFamily="18" charset="0"/>
                  <a:cs typeface="Times New Roman" pitchFamily="18" charset="0"/>
                </a:endParaRPr>
              </a:p>
              <a:p>
                <a:endParaRPr lang="en-US" b="1" i="1"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609600"/>
                <a:ext cx="8229600" cy="5516563"/>
              </a:xfrm>
              <a:blipFill>
                <a:blip r:embed="rId2"/>
                <a:stretch>
                  <a:fillRect l="-1852" b="-1326"/>
                </a:stretch>
              </a:blipFill>
              <a:ln>
                <a:noFill/>
              </a:ln>
            </p:spPr>
            <p:txBody>
              <a:bodyPr/>
              <a:lstStyle/>
              <a:p>
                <a:r>
                  <a:rPr lang="en-US">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6800" y="533399"/>
            <a:ext cx="3429000" cy="2546287"/>
          </a:xfrm>
          <a:prstGeom prst="rect">
            <a:avLst/>
          </a:prstGeom>
        </p:spPr>
      </p:pic>
      <p:cxnSp>
        <p:nvCxnSpPr>
          <p:cNvPr id="5" name="Straight Arrow Connector 4"/>
          <p:cNvCxnSpPr/>
          <p:nvPr/>
        </p:nvCxnSpPr>
        <p:spPr>
          <a:xfrm flipV="1">
            <a:off x="6858000" y="636549"/>
            <a:ext cx="1143000" cy="8382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7" name="Rectangle 6"/>
              <p:cNvSpPr/>
              <p:nvPr/>
            </p:nvSpPr>
            <p:spPr>
              <a:xfrm>
                <a:off x="8351520" y="514350"/>
                <a:ext cx="457200" cy="4953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a:rPr>
                            <m:t>𝐹</m:t>
                          </m:r>
                        </m:e>
                      </m:acc>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8351520" y="514350"/>
                <a:ext cx="457200" cy="495300"/>
              </a:xfrm>
              <a:prstGeom prst="rect">
                <a:avLst/>
              </a:prstGeom>
              <a:blipFill rotWithShape="1">
                <a:blip r:embed="rId4"/>
                <a:stretch>
                  <a:fillRect t="-8537" r="-26667"/>
                </a:stretch>
              </a:blipFill>
              <a:ln>
                <a:noFill/>
              </a:ln>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A537DFE5-D201-BAF6-C2A7-881FEBB934F9}"/>
              </a:ext>
            </a:extLst>
          </p:cNvPr>
          <p:cNvSpPr>
            <a:spLocks noGrp="1"/>
          </p:cNvSpPr>
          <p:nvPr>
            <p:ph type="ftr" sz="quarter" idx="11"/>
          </p:nvPr>
        </p:nvSpPr>
        <p:spPr/>
        <p:txBody>
          <a:bodyPr/>
          <a:lstStyle/>
          <a:p>
            <a:r>
              <a:rPr lang="en-US"/>
              <a:t>Bùi Quốc Trung - VLDC</a:t>
            </a:r>
          </a:p>
        </p:txBody>
      </p:sp>
      <p:sp>
        <p:nvSpPr>
          <p:cNvPr id="6" name="Slide Number Placeholder 5">
            <a:extLst>
              <a:ext uri="{FF2B5EF4-FFF2-40B4-BE49-F238E27FC236}">
                <a16:creationId xmlns:a16="http://schemas.microsoft.com/office/drawing/2014/main" id="{73838E0B-4C34-A0AD-1BF3-478661F02144}"/>
              </a:ext>
            </a:extLst>
          </p:cNvPr>
          <p:cNvSpPr>
            <a:spLocks noGrp="1"/>
          </p:cNvSpPr>
          <p:nvPr>
            <p:ph type="sldNum" sz="quarter" idx="12"/>
          </p:nvPr>
        </p:nvSpPr>
        <p:spPr/>
        <p:txBody>
          <a:bodyPr/>
          <a:lstStyle/>
          <a:p>
            <a:fld id="{C4A94DE9-7404-4CC4-BDD8-EA2E97866C70}" type="slidenum">
              <a:rPr lang="en-US" smtClean="0"/>
              <a:t>26</a:t>
            </a:fld>
            <a:endParaRPr lang="en-US"/>
          </a:p>
        </p:txBody>
      </p:sp>
      <p:cxnSp>
        <p:nvCxnSpPr>
          <p:cNvPr id="9" name="Straight Arrow Connector 8">
            <a:extLst>
              <a:ext uri="{FF2B5EF4-FFF2-40B4-BE49-F238E27FC236}">
                <a16:creationId xmlns:a16="http://schemas.microsoft.com/office/drawing/2014/main" id="{5E54AD5C-9A03-3C1C-72EC-92C909ECDC4C}"/>
              </a:ext>
            </a:extLst>
          </p:cNvPr>
          <p:cNvCxnSpPr>
            <a:cxnSpLocks/>
          </p:cNvCxnSpPr>
          <p:nvPr/>
        </p:nvCxnSpPr>
        <p:spPr>
          <a:xfrm>
            <a:off x="6858000" y="1474749"/>
            <a:ext cx="1143000"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2" name="Straight Arrow Connector 11">
            <a:extLst>
              <a:ext uri="{FF2B5EF4-FFF2-40B4-BE49-F238E27FC236}">
                <a16:creationId xmlns:a16="http://schemas.microsoft.com/office/drawing/2014/main" id="{FB4E6695-4133-4830-ACA7-0601C2263ED2}"/>
              </a:ext>
            </a:extLst>
          </p:cNvPr>
          <p:cNvCxnSpPr>
            <a:cxnSpLocks/>
          </p:cNvCxnSpPr>
          <p:nvPr/>
        </p:nvCxnSpPr>
        <p:spPr>
          <a:xfrm flipV="1">
            <a:off x="6858000" y="609600"/>
            <a:ext cx="0" cy="865149"/>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274442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22189" y="381000"/>
                <a:ext cx="8229600" cy="6172200"/>
              </a:xfrm>
            </p:spPr>
            <p:txBody>
              <a:bodyPr>
                <a:normAutofit fontScale="92500" lnSpcReduction="20000"/>
              </a:bodyPr>
              <a:lstStyle/>
              <a:p>
                <a:endParaRPr lang="en-US" i="1" dirty="0">
                  <a:latin typeface="Cambria Math"/>
                </a:endParaRPr>
              </a:p>
              <a:p>
                <a:pPr>
                  <a:buFont typeface="Wingdings" pitchFamily="2" charset="2"/>
                  <a:buChar char="Ø"/>
                </a:pPr>
                <a:r>
                  <a:rPr lang="en-US" dirty="0" err="1">
                    <a:latin typeface="Times New Roman" pitchFamily="18" charset="0"/>
                    <a:cs typeface="Times New Roman" pitchFamily="18" charset="0"/>
                  </a:rPr>
                  <a:t>Vật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trượt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mp</a:t>
                </a:r>
                <a:r>
                  <a:rPr lang="en-US" dirty="0">
                    <a:latin typeface="Times New Roman" pitchFamily="18" charset="0"/>
                    <a:cs typeface="Times New Roman" pitchFamily="18" charset="0"/>
                  </a:rPr>
                  <a:t> </a:t>
                </a:r>
              </a:p>
              <a:p>
                <a:pPr marL="0" indent="0">
                  <a:buNone/>
                </a:pPr>
                <a:r>
                  <a:rPr lang="en-US" dirty="0" err="1">
                    <a:latin typeface="Times New Roman" pitchFamily="18" charset="0"/>
                    <a:cs typeface="Times New Roman" pitchFamily="18" charset="0"/>
                  </a:rPr>
                  <a:t>nghiêng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trượt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xuống</a:t>
                </a:r>
                <a:r>
                  <a:rPr lang="en-US" dirty="0">
                    <a:latin typeface="Times New Roman" pitchFamily="18" charset="0"/>
                    <a:cs typeface="Times New Roman" pitchFamily="18" charset="0"/>
                  </a:rPr>
                  <a:t>)</a:t>
                </a:r>
              </a:p>
              <a:p>
                <a:endParaRPr lang="en-US" i="1" dirty="0">
                  <a:latin typeface="Cambria Math"/>
                </a:endParaRPr>
              </a:p>
              <a:p>
                <a:endParaRPr lang="en-US" i="1" dirty="0">
                  <a:latin typeface="Cambria Math"/>
                </a:endParaRPr>
              </a:p>
              <a:p>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a:rPr>
                          <m:t>𝑃</m:t>
                        </m:r>
                      </m:e>
                    </m:acc>
                  </m:oMath>
                </a14:m>
                <a:r>
                  <a:rPr lang="en-US" dirty="0">
                    <a:latin typeface="Times New Roman" pitchFamily="18" charset="0"/>
                    <a:cs typeface="Times New Roman" pitchFamily="18" charset="0"/>
                  </a:rPr>
                  <a:t> + </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a:rPr>
                          <m:t>𝑁</m:t>
                        </m:r>
                      </m:e>
                    </m:acc>
                  </m:oMath>
                </a14:m>
                <a:r>
                  <a:rPr lang="en-US" dirty="0">
                    <a:latin typeface="Times New Roman" pitchFamily="18" charset="0"/>
                    <a:cs typeface="Times New Roman" pitchFamily="18" charset="0"/>
                  </a:rPr>
                  <a:t> + </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a:rPr>
                          <m:t>𝐹𝑚𝑠</m:t>
                        </m:r>
                      </m:e>
                    </m:acc>
                  </m:oMath>
                </a14:m>
                <a:r>
                  <a:rPr lang="en-US" dirty="0">
                    <a:latin typeface="Times New Roman" pitchFamily="18" charset="0"/>
                    <a:cs typeface="Times New Roman" pitchFamily="18" charset="0"/>
                  </a:rPr>
                  <a:t> = </a:t>
                </a:r>
                <a:r>
                  <a:rPr lang="en-US" i="1" dirty="0">
                    <a:latin typeface="Times New Roman" pitchFamily="18" charset="0"/>
                    <a:cs typeface="Times New Roman" pitchFamily="18" charset="0"/>
                  </a:rPr>
                  <a:t>m</a:t>
                </a:r>
                <a14:m>
                  <m:oMath xmlns:m="http://schemas.openxmlformats.org/officeDocument/2006/math">
                    <m:acc>
                      <m:accPr>
                        <m:chr m:val="⃗"/>
                        <m:ctrlPr>
                          <a:rPr lang="en-US" i="1">
                            <a:latin typeface="Cambria Math" panose="02040503050406030204" pitchFamily="18" charset="0"/>
                          </a:rPr>
                        </m:ctrlPr>
                      </m:accPr>
                      <m:e>
                        <m:r>
                          <a:rPr lang="en-US" b="0" i="1" smtClean="0">
                            <a:latin typeface="Cambria Math"/>
                          </a:rPr>
                          <m:t>𝑎</m:t>
                        </m:r>
                      </m:e>
                    </m:acc>
                  </m:oMath>
                </a14:m>
                <a:r>
                  <a:rPr lang="en-US" dirty="0">
                    <a:latin typeface="Times New Roman" pitchFamily="18" charset="0"/>
                    <a:cs typeface="Times New Roman" pitchFamily="18" charset="0"/>
                  </a:rPr>
                  <a:t> ,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𝑃</m:t>
                        </m:r>
                      </m:e>
                    </m:acc>
                  </m:oMath>
                </a14:m>
                <a:r>
                  <a:rPr lang="en-US" dirty="0">
                    <a:latin typeface="Times New Roman" pitchFamily="18" charset="0"/>
                    <a:cs typeface="Times New Roman" pitchFamily="18" charset="0"/>
                  </a:rPr>
                  <a:t> = </a:t>
                </a:r>
                <a14:m>
                  <m:oMath xmlns:m="http://schemas.openxmlformats.org/officeDocument/2006/math">
                    <m:acc>
                      <m:accPr>
                        <m:chr m:val="⃗"/>
                        <m:ctrlPr>
                          <a:rPr lang="en-US" i="1" smtClean="0">
                            <a:latin typeface="Cambria Math" panose="02040503050406030204" pitchFamily="18" charset="0"/>
                            <a:cs typeface="Times New Roman" pitchFamily="18" charset="0"/>
                          </a:rPr>
                        </m:ctrlPr>
                      </m:accPr>
                      <m:e>
                        <m:r>
                          <a:rPr lang="en-US" b="0" i="1" smtClean="0">
                            <a:latin typeface="Cambria Math"/>
                            <a:cs typeface="Times New Roman" pitchFamily="18" charset="0"/>
                          </a:rPr>
                          <m:t>𝑃</m:t>
                        </m:r>
                        <m:r>
                          <a:rPr lang="en-US" b="0" i="1" smtClean="0">
                            <a:latin typeface="Cambria Math"/>
                            <a:cs typeface="Times New Roman" pitchFamily="18" charset="0"/>
                          </a:rPr>
                          <m:t>1</m:t>
                        </m:r>
                      </m:e>
                    </m:acc>
                  </m:oMath>
                </a14:m>
                <a:r>
                  <a:rPr lang="en-US" dirty="0">
                    <a:latin typeface="Times New Roman" pitchFamily="18" charset="0"/>
                    <a:cs typeface="Times New Roman" pitchFamily="18" charset="0"/>
                  </a:rPr>
                  <a:t> +</a:t>
                </a:r>
                <a:r>
                  <a:rPr lang="en-US" dirty="0">
                    <a:cs typeface="Times New Roman" pitchFamily="18" charset="0"/>
                  </a:rPr>
                  <a:t> </a:t>
                </a:r>
                <a14:m>
                  <m:oMath xmlns:m="http://schemas.openxmlformats.org/officeDocument/2006/math">
                    <m:acc>
                      <m:accPr>
                        <m:chr m:val="⃗"/>
                        <m:ctrlPr>
                          <a:rPr lang="en-US" i="1">
                            <a:latin typeface="Cambria Math" panose="02040503050406030204" pitchFamily="18" charset="0"/>
                            <a:cs typeface="Times New Roman" pitchFamily="18" charset="0"/>
                          </a:rPr>
                        </m:ctrlPr>
                      </m:accPr>
                      <m:e>
                        <m:r>
                          <a:rPr lang="en-US" i="1">
                            <a:latin typeface="Cambria Math"/>
                            <a:cs typeface="Times New Roman" pitchFamily="18" charset="0"/>
                          </a:rPr>
                          <m:t>𝑃</m:t>
                        </m:r>
                        <m:r>
                          <a:rPr lang="en-US" b="0" i="1" smtClean="0">
                            <a:latin typeface="Cambria Math"/>
                            <a:cs typeface="Times New Roman" pitchFamily="18" charset="0"/>
                          </a:rPr>
                          <m:t>2</m:t>
                        </m:r>
                      </m:e>
                    </m:acc>
                  </m:oMath>
                </a14:m>
                <a:endParaRPr lang="en-US" dirty="0">
                  <a:latin typeface="Times New Roman" pitchFamily="18" charset="0"/>
                  <a:cs typeface="Times New Roman" pitchFamily="18" charset="0"/>
                </a:endParaRPr>
              </a:p>
              <a:p>
                <a14:m>
                  <m:oMath xmlns:m="http://schemas.openxmlformats.org/officeDocument/2006/math">
                    <m:acc>
                      <m:accPr>
                        <m:chr m:val="⃗"/>
                        <m:ctrlPr>
                          <a:rPr lang="en-US" b="1" i="1">
                            <a:latin typeface="Cambria Math" panose="02040503050406030204" pitchFamily="18" charset="0"/>
                            <a:cs typeface="Times New Roman" pitchFamily="18" charset="0"/>
                          </a:rPr>
                        </m:ctrlPr>
                      </m:accPr>
                      <m:e>
                        <m:r>
                          <a:rPr lang="en-US" b="1" i="1" smtClean="0">
                            <a:latin typeface="Cambria Math"/>
                            <a:cs typeface="Times New Roman" pitchFamily="18" charset="0"/>
                          </a:rPr>
                          <m:t>𝑷</m:t>
                        </m:r>
                      </m:e>
                    </m:acc>
                  </m:oMath>
                </a14:m>
                <a:r>
                  <a:rPr lang="en-US" b="1" i="1" dirty="0">
                    <a:latin typeface="Times New Roman" pitchFamily="18" charset="0"/>
                    <a:cs typeface="Times New Roman" pitchFamily="18" charset="0"/>
                  </a:rPr>
                  <a:t> = </a:t>
                </a:r>
                <a14:m>
                  <m:oMath xmlns:m="http://schemas.openxmlformats.org/officeDocument/2006/math">
                    <m:acc>
                      <m:accPr>
                        <m:chr m:val="⃗"/>
                        <m:ctrlPr>
                          <a:rPr lang="en-US" b="1" i="1">
                            <a:latin typeface="Cambria Math" panose="02040503050406030204" pitchFamily="18" charset="0"/>
                            <a:cs typeface="Times New Roman" pitchFamily="18" charset="0"/>
                          </a:rPr>
                        </m:ctrlPr>
                      </m:accPr>
                      <m:e>
                        <m:sSub>
                          <m:sSubPr>
                            <m:ctrlPr>
                              <a:rPr lang="en-US" b="1" i="1" smtClean="0">
                                <a:latin typeface="Cambria Math" panose="02040503050406030204" pitchFamily="18" charset="0"/>
                                <a:cs typeface="Times New Roman" pitchFamily="18" charset="0"/>
                              </a:rPr>
                            </m:ctrlPr>
                          </m:sSubPr>
                          <m:e>
                            <m:r>
                              <a:rPr lang="en-US" b="1" i="1" smtClean="0">
                                <a:latin typeface="Cambria Math"/>
                                <a:cs typeface="Times New Roman" pitchFamily="18" charset="0"/>
                              </a:rPr>
                              <m:t>𝑷</m:t>
                            </m:r>
                          </m:e>
                          <m:sub>
                            <m:r>
                              <a:rPr lang="en-US" b="1" i="1">
                                <a:latin typeface="Cambria Math"/>
                                <a:cs typeface="Times New Roman" pitchFamily="18" charset="0"/>
                              </a:rPr>
                              <m:t>𝟏</m:t>
                            </m:r>
                          </m:sub>
                        </m:sSub>
                      </m:e>
                    </m:acc>
                  </m:oMath>
                </a14:m>
                <a:r>
                  <a:rPr lang="en-US" b="1" i="1" dirty="0">
                    <a:latin typeface="Times New Roman" pitchFamily="18" charset="0"/>
                    <a:cs typeface="Times New Roman" pitchFamily="18" charset="0"/>
                  </a:rPr>
                  <a:t>+</a:t>
                </a:r>
                <a:r>
                  <a:rPr lang="en-US" b="1" dirty="0">
                    <a:cs typeface="Times New Roman" pitchFamily="18" charset="0"/>
                  </a:rPr>
                  <a:t> </a:t>
                </a:r>
                <a14:m>
                  <m:oMath xmlns:m="http://schemas.openxmlformats.org/officeDocument/2006/math">
                    <m:acc>
                      <m:accPr>
                        <m:chr m:val="⃗"/>
                        <m:ctrlPr>
                          <a:rPr lang="en-US" b="1" i="1">
                            <a:latin typeface="Cambria Math" panose="02040503050406030204" pitchFamily="18" charset="0"/>
                            <a:cs typeface="Times New Roman" pitchFamily="18" charset="0"/>
                          </a:rPr>
                        </m:ctrlPr>
                      </m:accPr>
                      <m:e>
                        <m:sSub>
                          <m:sSubPr>
                            <m:ctrlPr>
                              <a:rPr lang="en-US" b="1" i="1">
                                <a:latin typeface="Cambria Math" panose="02040503050406030204" pitchFamily="18" charset="0"/>
                                <a:cs typeface="Times New Roman" pitchFamily="18" charset="0"/>
                              </a:rPr>
                            </m:ctrlPr>
                          </m:sSubPr>
                          <m:e>
                            <m:r>
                              <a:rPr lang="en-US" b="1" i="1" smtClean="0">
                                <a:latin typeface="Cambria Math"/>
                                <a:cs typeface="Times New Roman" pitchFamily="18" charset="0"/>
                              </a:rPr>
                              <m:t>𝑷</m:t>
                            </m:r>
                          </m:e>
                          <m:sub>
                            <m:r>
                              <a:rPr lang="en-US" b="1" i="1">
                                <a:latin typeface="Cambria Math"/>
                                <a:cs typeface="Times New Roman" pitchFamily="18" charset="0"/>
                              </a:rPr>
                              <m:t>𝟐</m:t>
                            </m:r>
                          </m:sub>
                        </m:sSub>
                      </m:e>
                    </m:acc>
                    <m:r>
                      <a:rPr lang="en-US" b="1" i="1">
                        <a:latin typeface="Cambria Math"/>
                        <a:cs typeface="Times New Roman" pitchFamily="18" charset="0"/>
                      </a:rPr>
                      <m:t> </m:t>
                    </m:r>
                  </m:oMath>
                </a14:m>
                <a:r>
                  <a:rPr lang="en-US" b="1" i="1" dirty="0">
                    <a:latin typeface="Times New Roman" pitchFamily="18" charset="0"/>
                    <a:cs typeface="Times New Roman" pitchFamily="18" charset="0"/>
                  </a:rPr>
                  <a:t>, </a:t>
                </a:r>
                <a14:m>
                  <m:oMath xmlns:m="http://schemas.openxmlformats.org/officeDocument/2006/math">
                    <m:sSub>
                      <m:sSubPr>
                        <m:ctrlPr>
                          <a:rPr lang="en-US" b="1" i="1">
                            <a:latin typeface="Cambria Math" panose="02040503050406030204" pitchFamily="18" charset="0"/>
                            <a:cs typeface="Times New Roman" pitchFamily="18" charset="0"/>
                          </a:rPr>
                        </m:ctrlPr>
                      </m:sSubPr>
                      <m:e>
                        <m:r>
                          <a:rPr lang="en-US" b="1" i="1" smtClean="0">
                            <a:latin typeface="Cambria Math"/>
                            <a:cs typeface="Times New Roman" pitchFamily="18" charset="0"/>
                          </a:rPr>
                          <m:t>𝑷</m:t>
                        </m:r>
                      </m:e>
                      <m:sub>
                        <m:r>
                          <a:rPr lang="en-US" b="1" i="1">
                            <a:latin typeface="Cambria Math"/>
                            <a:cs typeface="Times New Roman" pitchFamily="18" charset="0"/>
                          </a:rPr>
                          <m:t>𝟏</m:t>
                        </m:r>
                      </m:sub>
                    </m:sSub>
                  </m:oMath>
                </a14:m>
                <a:r>
                  <a:rPr lang="en-US" b="1" i="1" dirty="0">
                    <a:latin typeface="Times New Roman" pitchFamily="18" charset="0"/>
                    <a:cs typeface="Times New Roman" pitchFamily="18" charset="0"/>
                  </a:rPr>
                  <a:t>=P</a:t>
                </a:r>
                <a:r>
                  <a:rPr lang="en-US" b="1" i="1" dirty="0" err="1">
                    <a:latin typeface="Times New Roman" pitchFamily="18" charset="0"/>
                    <a:cs typeface="Times New Roman" pitchFamily="18" charset="0"/>
                  </a:rPr>
                  <a:t>cos</a:t>
                </a:r>
                <a:r>
                  <a:rPr lang="el-GR" b="1" i="1" dirty="0">
                    <a:latin typeface="Times New Roman" pitchFamily="18" charset="0"/>
                    <a:cs typeface="Times New Roman" pitchFamily="18" charset="0"/>
                  </a:rPr>
                  <a:t>α</a:t>
                </a:r>
                <a:r>
                  <a:rPr lang="en-US" b="1" i="1" dirty="0">
                    <a:latin typeface="Times New Roman" pitchFamily="18" charset="0"/>
                    <a:cs typeface="Times New Roman" pitchFamily="18" charset="0"/>
                  </a:rPr>
                  <a:t> ,</a:t>
                </a:r>
                <a14:m>
                  <m:oMath xmlns:m="http://schemas.openxmlformats.org/officeDocument/2006/math">
                    <m:sSub>
                      <m:sSubPr>
                        <m:ctrlPr>
                          <a:rPr lang="en-US" b="1" i="1">
                            <a:latin typeface="Cambria Math" panose="02040503050406030204" pitchFamily="18" charset="0"/>
                            <a:cs typeface="Times New Roman" pitchFamily="18" charset="0"/>
                          </a:rPr>
                        </m:ctrlPr>
                      </m:sSubPr>
                      <m:e>
                        <m:r>
                          <a:rPr lang="en-US" b="1" i="1" smtClean="0">
                            <a:latin typeface="Cambria Math"/>
                            <a:cs typeface="Times New Roman" pitchFamily="18" charset="0"/>
                          </a:rPr>
                          <m:t>𝑷</m:t>
                        </m:r>
                      </m:e>
                      <m:sub>
                        <m:r>
                          <a:rPr lang="en-US" b="1" i="1" smtClean="0">
                            <a:latin typeface="Cambria Math"/>
                            <a:cs typeface="Times New Roman" pitchFamily="18" charset="0"/>
                          </a:rPr>
                          <m:t>𝟐</m:t>
                        </m:r>
                      </m:sub>
                    </m:sSub>
                  </m:oMath>
                </a14:m>
                <a:r>
                  <a:rPr lang="en-US" b="1" i="1" dirty="0">
                    <a:latin typeface="Times New Roman" pitchFamily="18" charset="0"/>
                    <a:cs typeface="Times New Roman" pitchFamily="18" charset="0"/>
                  </a:rPr>
                  <a:t>=Psin</a:t>
                </a:r>
                <a:r>
                  <a:rPr lang="el-GR" b="1" i="1" dirty="0">
                    <a:latin typeface="Times New Roman" pitchFamily="18" charset="0"/>
                    <a:cs typeface="Times New Roman" pitchFamily="18" charset="0"/>
                  </a:rPr>
                  <a:t>α</a:t>
                </a:r>
                <a:endParaRPr lang="en-US" dirty="0">
                  <a:latin typeface="Times New Roman" pitchFamily="18" charset="0"/>
                  <a:cs typeface="Times New Roman" pitchFamily="18" charset="0"/>
                </a:endParaRPr>
              </a:p>
              <a:p>
                <a:r>
                  <a:rPr lang="en-US" i="1" u="sng" dirty="0">
                    <a:latin typeface="Times New Roman" pitchFamily="18" charset="0"/>
                    <a:cs typeface="Times New Roman" pitchFamily="18" charset="0"/>
                  </a:rPr>
                  <a:t>Ox:</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mgsin</a:t>
                </a:r>
                <a14:m>
                  <m:oMath xmlns:m="http://schemas.openxmlformats.org/officeDocument/2006/math">
                    <m:r>
                      <a:rPr lang="en-US" i="1" smtClean="0">
                        <a:latin typeface="Cambria Math"/>
                        <a:ea typeface="Cambria Math"/>
                      </a:rPr>
                      <m:t>𝜃</m:t>
                    </m:r>
                  </m:oMath>
                </a14:m>
                <a:r>
                  <a:rPr lang="en-US" i="1" dirty="0">
                    <a:latin typeface="Times New Roman" pitchFamily="18" charset="0"/>
                    <a:cs typeface="Times New Roman" pitchFamily="18" charset="0"/>
                  </a:rPr>
                  <a:t> – </a:t>
                </a:r>
                <a:r>
                  <a:rPr lang="en-US" i="1" dirty="0" err="1">
                    <a:latin typeface="Times New Roman" pitchFamily="18" charset="0"/>
                    <a:cs typeface="Times New Roman" pitchFamily="18" charset="0"/>
                  </a:rPr>
                  <a:t>Fms</a:t>
                </a:r>
                <a:r>
                  <a:rPr lang="en-US" i="1" dirty="0">
                    <a:latin typeface="Times New Roman" pitchFamily="18" charset="0"/>
                    <a:cs typeface="Times New Roman" pitchFamily="18" charset="0"/>
                  </a:rPr>
                  <a:t> = ma</a:t>
                </a:r>
              </a:p>
              <a:p>
                <a:r>
                  <a:rPr lang="en-US" i="1" u="sng" dirty="0" err="1">
                    <a:latin typeface="Times New Roman" pitchFamily="18" charset="0"/>
                    <a:cs typeface="Times New Roman" pitchFamily="18" charset="0"/>
                  </a:rPr>
                  <a:t>Oy</a:t>
                </a:r>
                <a:r>
                  <a:rPr lang="en-US" i="1" u="sng" dirty="0">
                    <a:latin typeface="Times New Roman" pitchFamily="18" charset="0"/>
                    <a:cs typeface="Times New Roman" pitchFamily="18" charset="0"/>
                  </a:rPr>
                  <a:t>:</a:t>
                </a:r>
                <a:r>
                  <a:rPr lang="en-US" i="1" dirty="0">
                    <a:latin typeface="Times New Roman" pitchFamily="18" charset="0"/>
                    <a:cs typeface="Times New Roman" pitchFamily="18" charset="0"/>
                  </a:rPr>
                  <a:t> 	N - </a:t>
                </a:r>
                <a:r>
                  <a:rPr lang="en-US" i="1" dirty="0" err="1">
                    <a:latin typeface="Times New Roman" pitchFamily="18" charset="0"/>
                    <a:cs typeface="Times New Roman" pitchFamily="18" charset="0"/>
                  </a:rPr>
                  <a:t>mgcos</a:t>
                </a:r>
                <a14:m>
                  <m:oMath xmlns:m="http://schemas.openxmlformats.org/officeDocument/2006/math">
                    <m:r>
                      <a:rPr lang="en-US" i="1" smtClean="0">
                        <a:latin typeface="Cambria Math"/>
                        <a:ea typeface="Cambria Math"/>
                      </a:rPr>
                      <m:t>𝜃</m:t>
                    </m:r>
                  </m:oMath>
                </a14:m>
                <a:r>
                  <a:rPr lang="en-US" i="1" dirty="0">
                    <a:latin typeface="Times New Roman" pitchFamily="18" charset="0"/>
                    <a:cs typeface="Times New Roman" pitchFamily="18" charset="0"/>
                  </a:rPr>
                  <a:t> = 0 </a:t>
                </a:r>
                <a14:m>
                  <m:oMath xmlns:m="http://schemas.openxmlformats.org/officeDocument/2006/math">
                    <m:r>
                      <a:rPr lang="en-US" i="1" smtClean="0">
                        <a:latin typeface="Cambria Math"/>
                        <a:ea typeface="Cambria Math"/>
                      </a:rPr>
                      <m:t>→</m:t>
                    </m:r>
                  </m:oMath>
                </a14:m>
                <a:r>
                  <a:rPr lang="en-US" i="1" dirty="0">
                    <a:latin typeface="Times New Roman" pitchFamily="18" charset="0"/>
                    <a:cs typeface="Times New Roman" pitchFamily="18" charset="0"/>
                  </a:rPr>
                  <a:t> </a:t>
                </a:r>
                <a:r>
                  <a:rPr lang="en-US" b="1" i="1" dirty="0">
                    <a:latin typeface="Times New Roman" pitchFamily="18" charset="0"/>
                    <a:cs typeface="Times New Roman" pitchFamily="18" charset="0"/>
                  </a:rPr>
                  <a:t>N = </a:t>
                </a:r>
                <a:r>
                  <a:rPr lang="en-US" b="1" i="1" dirty="0" err="1">
                    <a:latin typeface="Times New Roman" pitchFamily="18" charset="0"/>
                    <a:cs typeface="Times New Roman" pitchFamily="18" charset="0"/>
                  </a:rPr>
                  <a:t>mgcos</a:t>
                </a:r>
                <a14:m>
                  <m:oMath xmlns:m="http://schemas.openxmlformats.org/officeDocument/2006/math">
                    <m:r>
                      <a:rPr lang="en-US" b="1" i="1">
                        <a:latin typeface="Cambria Math"/>
                        <a:ea typeface="Cambria Math"/>
                      </a:rPr>
                      <m:t>𝜽</m:t>
                    </m:r>
                  </m:oMath>
                </a14:m>
                <a:endParaRPr lang="en-US" b="1" i="1" dirty="0">
                  <a:latin typeface="Times New Roman" pitchFamily="18" charset="0"/>
                  <a:ea typeface="Cambria Math"/>
                </a:endParaRPr>
              </a:p>
              <a:p>
                <a:pPr algn="ctr"/>
                <a:r>
                  <a:rPr lang="en-US" b="1" i="1" dirty="0">
                    <a:latin typeface="Times New Roman" pitchFamily="18" charset="0"/>
                    <a:cs typeface="Times New Roman" pitchFamily="18" charset="0"/>
                  </a:rPr>
                  <a:t>a = g(sin</a:t>
                </a:r>
                <a14:m>
                  <m:oMath xmlns:m="http://schemas.openxmlformats.org/officeDocument/2006/math">
                    <m:r>
                      <a:rPr lang="en-US" b="1" i="1" smtClean="0">
                        <a:latin typeface="Cambria Math"/>
                        <a:ea typeface="Cambria Math"/>
                      </a:rPr>
                      <m:t>𝜽</m:t>
                    </m:r>
                  </m:oMath>
                </a14:m>
                <a:r>
                  <a:rPr lang="en-US" b="1" i="1" dirty="0">
                    <a:latin typeface="Times New Roman" pitchFamily="18" charset="0"/>
                    <a:cs typeface="Times New Roman" pitchFamily="18" charset="0"/>
                  </a:rPr>
                  <a:t> - </a:t>
                </a:r>
                <a14:m>
                  <m:oMath xmlns:m="http://schemas.openxmlformats.org/officeDocument/2006/math">
                    <m:r>
                      <a:rPr lang="en-US" b="1" i="1" smtClean="0">
                        <a:latin typeface="Cambria Math"/>
                        <a:ea typeface="Cambria Math"/>
                      </a:rPr>
                      <m:t>𝝁</m:t>
                    </m:r>
                    <m:r>
                      <a:rPr lang="en-US" b="1" i="1" smtClean="0">
                        <a:latin typeface="Cambria Math"/>
                        <a:ea typeface="Cambria Math"/>
                      </a:rPr>
                      <m:t>𝒄𝒐𝒔</m:t>
                    </m:r>
                    <m:r>
                      <a:rPr lang="en-US" b="1" i="1" smtClean="0">
                        <a:latin typeface="Cambria Math"/>
                        <a:ea typeface="Cambria Math"/>
                      </a:rPr>
                      <m:t>𝜽</m:t>
                    </m:r>
                  </m:oMath>
                </a14:m>
                <a:r>
                  <a:rPr lang="en-US" b="1" i="1" dirty="0">
                    <a:latin typeface="Times New Roman" pitchFamily="18" charset="0"/>
                    <a:cs typeface="Times New Roman" pitchFamily="18" charset="0"/>
                  </a:rPr>
                  <a:t>)</a:t>
                </a:r>
              </a:p>
              <a:p>
                <a:r>
                  <a:rPr lang="en-US" i="1" dirty="0" err="1">
                    <a:latin typeface="Times New Roman" pitchFamily="18" charset="0"/>
                    <a:cs typeface="Times New Roman" pitchFamily="18" charset="0"/>
                  </a:rPr>
                  <a:t>Nếu</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vật</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trượt</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không</a:t>
                </a:r>
                <a:r>
                  <a:rPr lang="en-US" i="1" dirty="0">
                    <a:latin typeface="Times New Roman" pitchFamily="18" charset="0"/>
                    <a:cs typeface="Times New Roman" pitchFamily="18" charset="0"/>
                  </a:rPr>
                  <a:t> ma </a:t>
                </a:r>
                <a:r>
                  <a:rPr lang="en-US" i="1" dirty="0" err="1">
                    <a:latin typeface="Times New Roman" pitchFamily="18" charset="0"/>
                    <a:cs typeface="Times New Roman" pitchFamily="18" charset="0"/>
                  </a:rPr>
                  <a:t>sát</a:t>
                </a:r>
                <a:r>
                  <a:rPr lang="en-US" i="1" dirty="0">
                    <a:latin typeface="Times New Roman" pitchFamily="18" charset="0"/>
                    <a:cs typeface="Times New Roman" pitchFamily="18" charset="0"/>
                  </a:rPr>
                  <a:t>: </a:t>
                </a:r>
                <a:r>
                  <a:rPr lang="en-US" b="1" i="1" dirty="0">
                    <a:latin typeface="Times New Roman" pitchFamily="18" charset="0"/>
                    <a:cs typeface="Times New Roman" pitchFamily="18" charset="0"/>
                  </a:rPr>
                  <a:t>a = </a:t>
                </a:r>
                <a:r>
                  <a:rPr lang="en-US" b="1" i="1" dirty="0" err="1">
                    <a:latin typeface="Times New Roman" pitchFamily="18" charset="0"/>
                    <a:cs typeface="Times New Roman" pitchFamily="18" charset="0"/>
                  </a:rPr>
                  <a:t>gsin</a:t>
                </a:r>
                <a14:m>
                  <m:oMath xmlns:m="http://schemas.openxmlformats.org/officeDocument/2006/math">
                    <m:r>
                      <a:rPr lang="en-US" b="1" i="1" smtClean="0">
                        <a:latin typeface="Cambria Math"/>
                        <a:ea typeface="Cambria Math"/>
                      </a:rPr>
                      <m:t>𝜽</m:t>
                    </m:r>
                  </m:oMath>
                </a14:m>
                <a:endParaRPr lang="en-US" b="1" i="1" dirty="0">
                  <a:latin typeface="Times New Roman" pitchFamily="18" charset="0"/>
                  <a:cs typeface="Times New Roman" pitchFamily="18" charset="0"/>
                </a:endParaRPr>
              </a:p>
              <a:p>
                <a14:m>
                  <m:oMath xmlns:m="http://schemas.openxmlformats.org/officeDocument/2006/math">
                    <m:acc>
                      <m:accPr>
                        <m:chr m:val="⃗"/>
                        <m:ctrlPr>
                          <a:rPr lang="en-US" i="1">
                            <a:latin typeface="Cambria Math" panose="02040503050406030204" pitchFamily="18" charset="0"/>
                          </a:rPr>
                        </m:ctrlPr>
                      </m:accPr>
                      <m:e>
                        <m:r>
                          <a:rPr lang="en-US" i="1">
                            <a:latin typeface="Cambria Math"/>
                          </a:rPr>
                          <m:t>𝑃</m:t>
                        </m:r>
                      </m:e>
                    </m:acc>
                  </m:oMath>
                </a14:m>
                <a:r>
                  <a:rPr lang="en-US" dirty="0">
                    <a:latin typeface="Times New Roman" pitchFamily="18" charset="0"/>
                    <a:cs typeface="Times New Roman" pitchFamily="18" charset="0"/>
                  </a:rPr>
                  <a:t> +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𝑁</m:t>
                        </m:r>
                      </m:e>
                    </m:acc>
                  </m:oMath>
                </a14:m>
                <a:r>
                  <a:rPr lang="en-US" dirty="0">
                    <a:latin typeface="Times New Roman" pitchFamily="18" charset="0"/>
                    <a:cs typeface="Times New Roman" pitchFamily="18" charset="0"/>
                  </a:rPr>
                  <a:t> +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𝐹𝑚𝑠</m:t>
                        </m:r>
                      </m:e>
                    </m:acc>
                  </m:oMath>
                </a14:m>
                <a:r>
                  <a:rPr lang="en-US" dirty="0">
                    <a:latin typeface="Times New Roman" pitchFamily="18" charset="0"/>
                    <a:cs typeface="Times New Roman" pitchFamily="18" charset="0"/>
                  </a:rPr>
                  <a:t> + </a:t>
                </a:r>
                <a14:m>
                  <m:oMath xmlns:m="http://schemas.openxmlformats.org/officeDocument/2006/math">
                    <m:acc>
                      <m:accPr>
                        <m:chr m:val="⃗"/>
                        <m:ctrlPr>
                          <a:rPr lang="en-US" i="1" smtClean="0">
                            <a:latin typeface="Cambria Math" panose="02040503050406030204" pitchFamily="18" charset="0"/>
                            <a:cs typeface="Times New Roman" pitchFamily="18" charset="0"/>
                          </a:rPr>
                        </m:ctrlPr>
                      </m:accPr>
                      <m:e>
                        <m:r>
                          <a:rPr lang="en-US" b="0" i="1" smtClean="0">
                            <a:latin typeface="Cambria Math"/>
                            <a:cs typeface="Times New Roman" pitchFamily="18" charset="0"/>
                          </a:rPr>
                          <m:t>𝐹</m:t>
                        </m:r>
                      </m:e>
                    </m:acc>
                  </m:oMath>
                </a14:m>
                <a:r>
                  <a:rPr lang="en-US" dirty="0">
                    <a:latin typeface="Times New Roman" pitchFamily="18" charset="0"/>
                    <a:cs typeface="Times New Roman" pitchFamily="18" charset="0"/>
                  </a:rPr>
                  <a:t> = </a:t>
                </a:r>
                <a:r>
                  <a:rPr lang="en-US" i="1" dirty="0">
                    <a:latin typeface="Times New Roman" pitchFamily="18" charset="0"/>
                    <a:cs typeface="Times New Roman" pitchFamily="18" charset="0"/>
                  </a:rPr>
                  <a:t>m</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𝑎</m:t>
                        </m:r>
                      </m:e>
                    </m:acc>
                  </m:oMath>
                </a14:m>
                <a:r>
                  <a:rPr lang="en-US" b="1" i="1" dirty="0">
                    <a:latin typeface="Times New Roman" pitchFamily="18" charset="0"/>
                    <a:cs typeface="Times New Roman" pitchFamily="18" charset="0"/>
                  </a:rPr>
                  <a:t> </a:t>
                </a:r>
                <a14:m>
                  <m:oMath xmlns:m="http://schemas.openxmlformats.org/officeDocument/2006/math">
                    <m:r>
                      <a:rPr lang="en-US" b="1" i="1" smtClean="0">
                        <a:latin typeface="Cambria Math"/>
                        <a:ea typeface="Cambria Math"/>
                        <a:cs typeface="Times New Roman" pitchFamily="18" charset="0"/>
                      </a:rPr>
                      <m:t>→</m:t>
                    </m:r>
                  </m:oMath>
                </a14:m>
                <a:r>
                  <a:rPr lang="en-US" b="1" i="1" dirty="0">
                    <a:latin typeface="Times New Roman" pitchFamily="18" charset="0"/>
                    <a:cs typeface="Times New Roman"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22189" y="381000"/>
                <a:ext cx="8229600" cy="6172200"/>
              </a:xfrm>
              <a:blipFill rotWithShape="1">
                <a:blip r:embed="rId3"/>
                <a:stretch>
                  <a:fillRect l="-1704"/>
                </a:stretch>
              </a:blipFill>
            </p:spPr>
            <p:txBody>
              <a:bodyPr/>
              <a:lstStyle/>
              <a:p>
                <a:r>
                  <a:rPr lang="en-US">
                    <a:noFill/>
                  </a:rPr>
                  <a:t> </a:t>
                </a:r>
              </a:p>
            </p:txBody>
          </p:sp>
        </mc:Fallback>
      </mc:AlternateContent>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8200" y="60522"/>
            <a:ext cx="4003589" cy="2835078"/>
          </a:xfrm>
          <a:prstGeom prst="rect">
            <a:avLst/>
          </a:prstGeom>
        </p:spPr>
      </p:pic>
      <p:cxnSp>
        <p:nvCxnSpPr>
          <p:cNvPr id="5" name="Straight Arrow Connector 4"/>
          <p:cNvCxnSpPr/>
          <p:nvPr/>
        </p:nvCxnSpPr>
        <p:spPr>
          <a:xfrm rot="10800000" flipH="1" flipV="1">
            <a:off x="7391400" y="914400"/>
            <a:ext cx="838200" cy="39667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 name="Footer Placeholder 3">
            <a:extLst>
              <a:ext uri="{FF2B5EF4-FFF2-40B4-BE49-F238E27FC236}">
                <a16:creationId xmlns:a16="http://schemas.microsoft.com/office/drawing/2014/main" id="{E6F1339E-A4B6-09A2-617B-0F47E4911716}"/>
              </a:ext>
            </a:extLst>
          </p:cNvPr>
          <p:cNvSpPr>
            <a:spLocks noGrp="1"/>
          </p:cNvSpPr>
          <p:nvPr>
            <p:ph type="ftr" sz="quarter" idx="11"/>
          </p:nvPr>
        </p:nvSpPr>
        <p:spPr/>
        <p:txBody>
          <a:bodyPr/>
          <a:lstStyle/>
          <a:p>
            <a:r>
              <a:rPr lang="en-US"/>
              <a:t>Bùi Quốc Trung - VLDC</a:t>
            </a:r>
          </a:p>
        </p:txBody>
      </p:sp>
      <p:sp>
        <p:nvSpPr>
          <p:cNvPr id="6" name="Slide Number Placeholder 5">
            <a:extLst>
              <a:ext uri="{FF2B5EF4-FFF2-40B4-BE49-F238E27FC236}">
                <a16:creationId xmlns:a16="http://schemas.microsoft.com/office/drawing/2014/main" id="{DB23032F-A255-5C8E-B15A-0E59B5115387}"/>
              </a:ext>
            </a:extLst>
          </p:cNvPr>
          <p:cNvSpPr>
            <a:spLocks noGrp="1"/>
          </p:cNvSpPr>
          <p:nvPr>
            <p:ph type="sldNum" sz="quarter" idx="12"/>
          </p:nvPr>
        </p:nvSpPr>
        <p:spPr/>
        <p:txBody>
          <a:bodyPr/>
          <a:lstStyle/>
          <a:p>
            <a:fld id="{C4A94DE9-7404-4CC4-BDD8-EA2E97866C70}" type="slidenum">
              <a:rPr lang="en-US" smtClean="0"/>
              <a:t>27</a:t>
            </a:fld>
            <a:endParaRPr lang="en-US"/>
          </a:p>
        </p:txBody>
      </p:sp>
    </p:spTree>
    <p:extLst>
      <p:ext uri="{BB962C8B-B14F-4D97-AF65-F5344CB8AC3E}">
        <p14:creationId xmlns:p14="http://schemas.microsoft.com/office/powerpoint/2010/main" val="24120864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marL="0" indent="0">
              <a:buFont typeface="Arial" charset="0"/>
              <a:buNone/>
              <a:defRPr/>
            </a:pPr>
            <a:r>
              <a:rPr lang="en-US" dirty="0" err="1"/>
              <a:t>Vật</a:t>
            </a:r>
            <a:r>
              <a:rPr lang="en-US" dirty="0"/>
              <a:t> </a:t>
            </a:r>
            <a:r>
              <a:rPr lang="en-US" dirty="0" err="1"/>
              <a:t>khối</a:t>
            </a:r>
            <a:r>
              <a:rPr lang="en-US" dirty="0"/>
              <a:t> </a:t>
            </a:r>
            <a:r>
              <a:rPr lang="en-US" dirty="0" err="1"/>
              <a:t>lượng</a:t>
            </a:r>
            <a:r>
              <a:rPr lang="en-US" dirty="0"/>
              <a:t> m, </a:t>
            </a:r>
            <a:r>
              <a:rPr lang="en-US" dirty="0" err="1"/>
              <a:t>chuyển</a:t>
            </a:r>
            <a:r>
              <a:rPr lang="en-US" dirty="0"/>
              <a:t> </a:t>
            </a:r>
            <a:r>
              <a:rPr lang="en-US" dirty="0" err="1"/>
              <a:t>động</a:t>
            </a:r>
            <a:r>
              <a:rPr lang="en-US" dirty="0"/>
              <a:t> </a:t>
            </a:r>
            <a:r>
              <a:rPr lang="en-US" dirty="0" err="1"/>
              <a:t>trên</a:t>
            </a:r>
            <a:r>
              <a:rPr lang="en-US" dirty="0"/>
              <a:t> </a:t>
            </a:r>
            <a:r>
              <a:rPr lang="en-US" dirty="0" err="1"/>
              <a:t>mặt</a:t>
            </a:r>
            <a:r>
              <a:rPr lang="en-US" dirty="0"/>
              <a:t> </a:t>
            </a:r>
            <a:r>
              <a:rPr lang="en-US" dirty="0" err="1"/>
              <a:t>phẳng</a:t>
            </a:r>
            <a:r>
              <a:rPr lang="en-US" dirty="0"/>
              <a:t> </a:t>
            </a:r>
            <a:r>
              <a:rPr lang="en-US" dirty="0" err="1"/>
              <a:t>nghiêng</a:t>
            </a:r>
            <a:r>
              <a:rPr lang="en-US" dirty="0"/>
              <a:t> </a:t>
            </a:r>
            <a:r>
              <a:rPr lang="en-US" dirty="0" err="1"/>
              <a:t>một</a:t>
            </a:r>
            <a:r>
              <a:rPr lang="en-US" dirty="0"/>
              <a:t> </a:t>
            </a:r>
            <a:r>
              <a:rPr lang="en-US" dirty="0" err="1"/>
              <a:t>góc</a:t>
            </a:r>
            <a:r>
              <a:rPr lang="en-US" dirty="0"/>
              <a:t> </a:t>
            </a:r>
            <a:r>
              <a:rPr lang="el-GR" dirty="0"/>
              <a:t>α</a:t>
            </a:r>
            <a:r>
              <a:rPr lang="fr-FR" dirty="0"/>
              <a:t> </a:t>
            </a:r>
            <a:r>
              <a:rPr lang="en-US" dirty="0"/>
              <a:t>so </a:t>
            </a:r>
            <a:r>
              <a:rPr lang="en-US" dirty="0" err="1"/>
              <a:t>với</a:t>
            </a:r>
            <a:r>
              <a:rPr lang="en-US" dirty="0"/>
              <a:t> </a:t>
            </a:r>
            <a:r>
              <a:rPr lang="en-US" dirty="0" err="1"/>
              <a:t>phương</a:t>
            </a:r>
            <a:r>
              <a:rPr lang="en-US" dirty="0"/>
              <a:t> </a:t>
            </a:r>
            <a:r>
              <a:rPr lang="en-US" dirty="0" err="1"/>
              <a:t>ngang</a:t>
            </a:r>
            <a:r>
              <a:rPr lang="en-US" dirty="0"/>
              <a:t>, </a:t>
            </a:r>
            <a:r>
              <a:rPr lang="en-US" dirty="0" err="1"/>
              <a:t>dưới</a:t>
            </a:r>
            <a:r>
              <a:rPr lang="en-US" dirty="0"/>
              <a:t> </a:t>
            </a:r>
            <a:r>
              <a:rPr lang="en-US" dirty="0" err="1"/>
              <a:t>tác</a:t>
            </a:r>
            <a:r>
              <a:rPr lang="en-US" dirty="0"/>
              <a:t> </a:t>
            </a:r>
            <a:r>
              <a:rPr lang="en-US" dirty="0" err="1"/>
              <a:t>dụng</a:t>
            </a:r>
            <a:r>
              <a:rPr lang="en-US" dirty="0"/>
              <a:t> </a:t>
            </a:r>
            <a:r>
              <a:rPr lang="en-US" dirty="0" err="1"/>
              <a:t>của</a:t>
            </a:r>
            <a:r>
              <a:rPr lang="en-US" dirty="0"/>
              <a:t> </a:t>
            </a:r>
            <a:r>
              <a:rPr lang="en-US" dirty="0" err="1"/>
              <a:t>trọng</a:t>
            </a:r>
            <a:r>
              <a:rPr lang="en-US" dirty="0"/>
              <a:t> </a:t>
            </a:r>
            <a:r>
              <a:rPr lang="en-US" dirty="0" err="1"/>
              <a:t>lực</a:t>
            </a:r>
            <a:r>
              <a:rPr lang="en-US" dirty="0"/>
              <a:t>. </a:t>
            </a:r>
            <a:r>
              <a:rPr lang="en-US" dirty="0" err="1"/>
              <a:t>Phản</a:t>
            </a:r>
            <a:r>
              <a:rPr lang="en-US" dirty="0"/>
              <a:t> </a:t>
            </a:r>
            <a:r>
              <a:rPr lang="en-US" dirty="0" err="1"/>
              <a:t>lực</a:t>
            </a:r>
            <a:r>
              <a:rPr lang="en-US" dirty="0"/>
              <a:t> </a:t>
            </a:r>
            <a:r>
              <a:rPr lang="en-US" dirty="0" err="1"/>
              <a:t>pháp</a:t>
            </a:r>
            <a:r>
              <a:rPr lang="en-US" dirty="0"/>
              <a:t> </a:t>
            </a:r>
            <a:r>
              <a:rPr lang="en-US" dirty="0" err="1"/>
              <a:t>tuyến</a:t>
            </a:r>
            <a:r>
              <a:rPr lang="en-US" dirty="0"/>
              <a:t> </a:t>
            </a:r>
            <a:r>
              <a:rPr lang="en-US" dirty="0" err="1"/>
              <a:t>của</a:t>
            </a:r>
            <a:r>
              <a:rPr lang="en-US" dirty="0"/>
              <a:t> </a:t>
            </a:r>
            <a:r>
              <a:rPr lang="en-US" dirty="0" err="1"/>
              <a:t>mặt</a:t>
            </a:r>
            <a:r>
              <a:rPr lang="en-US" dirty="0"/>
              <a:t> </a:t>
            </a:r>
            <a:r>
              <a:rPr lang="en-US" dirty="0" err="1"/>
              <a:t>phẳng</a:t>
            </a:r>
            <a:r>
              <a:rPr lang="en-US" dirty="0"/>
              <a:t> </a:t>
            </a:r>
            <a:r>
              <a:rPr lang="en-US" dirty="0" err="1"/>
              <a:t>nghiêng</a:t>
            </a:r>
            <a:r>
              <a:rPr lang="en-US" dirty="0"/>
              <a:t> </a:t>
            </a:r>
            <a:r>
              <a:rPr lang="en-US" dirty="0" err="1"/>
              <a:t>tác</a:t>
            </a:r>
            <a:r>
              <a:rPr lang="en-US" dirty="0"/>
              <a:t> </a:t>
            </a:r>
            <a:r>
              <a:rPr lang="en-US" dirty="0" err="1"/>
              <a:t>dụng</a:t>
            </a:r>
            <a:r>
              <a:rPr lang="en-US" dirty="0"/>
              <a:t> </a:t>
            </a:r>
            <a:r>
              <a:rPr lang="en-US" dirty="0" err="1"/>
              <a:t>lên</a:t>
            </a:r>
            <a:r>
              <a:rPr lang="en-US" dirty="0"/>
              <a:t> </a:t>
            </a:r>
            <a:r>
              <a:rPr lang="en-US" dirty="0" err="1"/>
              <a:t>vật</a:t>
            </a:r>
            <a:r>
              <a:rPr lang="en-US" dirty="0"/>
              <a:t> </a:t>
            </a:r>
            <a:r>
              <a:rPr lang="en-US" dirty="0" err="1"/>
              <a:t>có</a:t>
            </a:r>
            <a:r>
              <a:rPr lang="en-US" dirty="0"/>
              <a:t> </a:t>
            </a:r>
            <a:r>
              <a:rPr lang="en-US" dirty="0" err="1"/>
              <a:t>độ</a:t>
            </a:r>
            <a:r>
              <a:rPr lang="en-US" dirty="0"/>
              <a:t> </a:t>
            </a:r>
            <a:r>
              <a:rPr lang="en-US" dirty="0" err="1"/>
              <a:t>lớn</a:t>
            </a:r>
            <a:r>
              <a:rPr lang="en-US" dirty="0"/>
              <a:t>:</a:t>
            </a:r>
          </a:p>
          <a:p>
            <a:pPr marL="0" indent="0">
              <a:buFont typeface="Arial" charset="0"/>
              <a:buNone/>
              <a:defRPr/>
            </a:pPr>
            <a:r>
              <a:rPr lang="en-US" dirty="0"/>
              <a:t>A. </a:t>
            </a:r>
            <a:r>
              <a:rPr lang="en-US" i="1" dirty="0"/>
              <a:t>N = mg</a:t>
            </a:r>
          </a:p>
          <a:p>
            <a:pPr marL="0" indent="0">
              <a:buFont typeface="Arial" charset="0"/>
              <a:buNone/>
              <a:defRPr/>
            </a:pPr>
            <a:r>
              <a:rPr lang="en-US" dirty="0"/>
              <a:t>B. </a:t>
            </a:r>
            <a:r>
              <a:rPr lang="en-US" i="1" dirty="0"/>
              <a:t>N = </a:t>
            </a:r>
            <a:r>
              <a:rPr lang="en-US" i="1" dirty="0" err="1"/>
              <a:t>mg.sin</a:t>
            </a:r>
            <a:r>
              <a:rPr lang="el-GR" i="1" dirty="0"/>
              <a:t>α</a:t>
            </a:r>
            <a:r>
              <a:rPr lang="fr-FR" i="1" dirty="0"/>
              <a:t> </a:t>
            </a:r>
            <a:endParaRPr lang="en-US" i="1" dirty="0"/>
          </a:p>
          <a:p>
            <a:pPr marL="0" indent="0">
              <a:buFont typeface="Arial" charset="0"/>
              <a:buNone/>
              <a:defRPr/>
            </a:pPr>
            <a:r>
              <a:rPr lang="en-US" dirty="0"/>
              <a:t>C. </a:t>
            </a:r>
            <a:r>
              <a:rPr lang="en-US" i="1" dirty="0"/>
              <a:t>N = mg (1 + </a:t>
            </a:r>
            <a:r>
              <a:rPr lang="en-US" i="1" dirty="0" err="1"/>
              <a:t>cos</a:t>
            </a:r>
            <a:r>
              <a:rPr lang="el-GR" i="1" dirty="0"/>
              <a:t>α</a:t>
            </a:r>
            <a:r>
              <a:rPr lang="fr-FR" i="1" dirty="0"/>
              <a:t> </a:t>
            </a:r>
            <a:r>
              <a:rPr lang="en-US" i="1" dirty="0"/>
              <a:t>)</a:t>
            </a:r>
          </a:p>
          <a:p>
            <a:pPr marL="0" indent="0">
              <a:buFont typeface="Arial" charset="0"/>
              <a:buNone/>
              <a:defRPr/>
            </a:pPr>
            <a:r>
              <a:rPr lang="en-US" dirty="0"/>
              <a:t>D. </a:t>
            </a:r>
            <a:r>
              <a:rPr lang="en-US" i="1" dirty="0"/>
              <a:t>N = </a:t>
            </a:r>
            <a:r>
              <a:rPr lang="en-US" i="1" dirty="0" err="1"/>
              <a:t>mg.cos</a:t>
            </a:r>
            <a:r>
              <a:rPr lang="el-GR" i="1" dirty="0"/>
              <a:t>α</a:t>
            </a:r>
            <a:r>
              <a:rPr lang="fr-FR" i="1" dirty="0"/>
              <a:t>  </a:t>
            </a:r>
            <a:endParaRPr lang="en-US" i="1" dirty="0"/>
          </a:p>
          <a:p>
            <a:pPr>
              <a:defRPr/>
            </a:pPr>
            <a:endParaRPr lang="en-US" dirty="0"/>
          </a:p>
        </p:txBody>
      </p:sp>
      <p:sp>
        <p:nvSpPr>
          <p:cNvPr id="3" name="Footer Placeholder 2">
            <a:extLst>
              <a:ext uri="{FF2B5EF4-FFF2-40B4-BE49-F238E27FC236}">
                <a16:creationId xmlns:a16="http://schemas.microsoft.com/office/drawing/2014/main" id="{B82BEA3C-9167-B980-D0D2-56FC5CDC550F}"/>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CD04A0B8-AD83-0F70-8DB5-37B70D91FD2C}"/>
              </a:ext>
            </a:extLst>
          </p:cNvPr>
          <p:cNvSpPr>
            <a:spLocks noGrp="1"/>
          </p:cNvSpPr>
          <p:nvPr>
            <p:ph type="sldNum" sz="quarter" idx="12"/>
          </p:nvPr>
        </p:nvSpPr>
        <p:spPr/>
        <p:txBody>
          <a:bodyPr/>
          <a:lstStyle/>
          <a:p>
            <a:pPr>
              <a:defRPr/>
            </a:pPr>
            <a:fld id="{76921531-3DE4-4FE6-8586-93C8C3054BFB}" type="slidenum">
              <a:rPr lang="en-US" smtClean="0"/>
              <a:pPr>
                <a:defRPr/>
              </a:pPr>
              <a:t>28</a:t>
            </a:fld>
            <a:endParaRPr lang="en-US"/>
          </a:p>
        </p:txBody>
      </p:sp>
    </p:spTree>
    <p:extLst>
      <p:ext uri="{BB962C8B-B14F-4D97-AF65-F5344CB8AC3E}">
        <p14:creationId xmlns:p14="http://schemas.microsoft.com/office/powerpoint/2010/main" val="484187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marL="0" indent="0">
              <a:buNone/>
            </a:pPr>
            <a:r>
              <a:rPr lang="en-US" dirty="0" err="1"/>
              <a:t>Vật</a:t>
            </a:r>
            <a:r>
              <a:rPr lang="en-US" dirty="0"/>
              <a:t> </a:t>
            </a:r>
            <a:r>
              <a:rPr lang="en-US" dirty="0" err="1"/>
              <a:t>trượt</a:t>
            </a:r>
            <a:r>
              <a:rPr lang="en-US" dirty="0"/>
              <a:t> </a:t>
            </a:r>
            <a:r>
              <a:rPr lang="en-US" dirty="0" err="1"/>
              <a:t>xuống</a:t>
            </a:r>
            <a:r>
              <a:rPr lang="en-US" dirty="0"/>
              <a:t> </a:t>
            </a:r>
            <a:r>
              <a:rPr lang="en-US" dirty="0" err="1"/>
              <a:t>dốc</a:t>
            </a:r>
            <a:r>
              <a:rPr lang="en-US" dirty="0"/>
              <a:t> </a:t>
            </a:r>
            <a:r>
              <a:rPr lang="en-US" dirty="0" err="1"/>
              <a:t>nghiêng</a:t>
            </a:r>
            <a:r>
              <a:rPr lang="en-US" dirty="0"/>
              <a:t> </a:t>
            </a:r>
            <a:r>
              <a:rPr lang="en-US" dirty="0" err="1"/>
              <a:t>góc</a:t>
            </a:r>
            <a:r>
              <a:rPr lang="en-US" dirty="0"/>
              <a:t> </a:t>
            </a:r>
            <a:r>
              <a:rPr lang="el-GR" dirty="0"/>
              <a:t>α</a:t>
            </a:r>
            <a:r>
              <a:rPr lang="en-US" dirty="0"/>
              <a:t> so </a:t>
            </a:r>
            <a:r>
              <a:rPr lang="en-US" dirty="0" err="1"/>
              <a:t>với</a:t>
            </a:r>
            <a:r>
              <a:rPr lang="en-US" dirty="0"/>
              <a:t> </a:t>
            </a:r>
            <a:r>
              <a:rPr lang="en-US" dirty="0" err="1"/>
              <a:t>phương</a:t>
            </a:r>
            <a:r>
              <a:rPr lang="en-US" dirty="0"/>
              <a:t> </a:t>
            </a:r>
            <a:r>
              <a:rPr lang="en-US" dirty="0" err="1"/>
              <a:t>ngang</a:t>
            </a:r>
            <a:r>
              <a:rPr lang="en-US" dirty="0"/>
              <a:t>. </a:t>
            </a:r>
            <a:r>
              <a:rPr lang="en-US" dirty="0" err="1"/>
              <a:t>Muốn</a:t>
            </a:r>
            <a:r>
              <a:rPr lang="en-US" dirty="0"/>
              <a:t> </a:t>
            </a:r>
            <a:r>
              <a:rPr lang="en-US" dirty="0" err="1"/>
              <a:t>vật</a:t>
            </a:r>
            <a:r>
              <a:rPr lang="en-US" dirty="0"/>
              <a:t> </a:t>
            </a:r>
            <a:r>
              <a:rPr lang="en-US" dirty="0" err="1"/>
              <a:t>trượt</a:t>
            </a:r>
            <a:r>
              <a:rPr lang="en-US" dirty="0"/>
              <a:t> </a:t>
            </a:r>
            <a:r>
              <a:rPr lang="en-US" dirty="0" err="1"/>
              <a:t>thẳng</a:t>
            </a:r>
            <a:r>
              <a:rPr lang="en-US" dirty="0"/>
              <a:t> </a:t>
            </a:r>
            <a:r>
              <a:rPr lang="en-US" dirty="0" err="1"/>
              <a:t>đều</a:t>
            </a:r>
            <a:r>
              <a:rPr lang="en-US" dirty="0"/>
              <a:t> </a:t>
            </a:r>
            <a:r>
              <a:rPr lang="en-US" dirty="0" err="1"/>
              <a:t>thì</a:t>
            </a:r>
            <a:r>
              <a:rPr lang="en-US" dirty="0"/>
              <a:t> </a:t>
            </a:r>
            <a:r>
              <a:rPr lang="en-US" dirty="0" err="1"/>
              <a:t>hệ</a:t>
            </a:r>
            <a:r>
              <a:rPr lang="en-US" dirty="0"/>
              <a:t> </a:t>
            </a:r>
            <a:r>
              <a:rPr lang="en-US" dirty="0" err="1"/>
              <a:t>số</a:t>
            </a:r>
            <a:r>
              <a:rPr lang="en-US" dirty="0"/>
              <a:t> ma </a:t>
            </a:r>
            <a:r>
              <a:rPr lang="en-US" dirty="0" err="1"/>
              <a:t>sát</a:t>
            </a:r>
            <a:r>
              <a:rPr lang="en-US" dirty="0"/>
              <a:t> </a:t>
            </a:r>
            <a:r>
              <a:rPr lang="en-US" dirty="0" err="1"/>
              <a:t>phải</a:t>
            </a:r>
            <a:r>
              <a:rPr lang="en-US" dirty="0"/>
              <a:t> </a:t>
            </a:r>
            <a:r>
              <a:rPr lang="en-US" dirty="0" err="1"/>
              <a:t>có</a:t>
            </a:r>
            <a:r>
              <a:rPr lang="en-US" dirty="0"/>
              <a:t> </a:t>
            </a:r>
            <a:r>
              <a:rPr lang="en-US" dirty="0" err="1"/>
              <a:t>giá</a:t>
            </a:r>
            <a:r>
              <a:rPr lang="en-US" dirty="0"/>
              <a:t> </a:t>
            </a:r>
            <a:r>
              <a:rPr lang="en-US" dirty="0" err="1"/>
              <a:t>trị</a:t>
            </a:r>
            <a:r>
              <a:rPr lang="en-US" dirty="0"/>
              <a:t>:</a:t>
            </a:r>
          </a:p>
          <a:p>
            <a:pPr marL="0" indent="0">
              <a:buNone/>
            </a:pPr>
            <a:r>
              <a:rPr lang="en-US" dirty="0"/>
              <a:t>A.	</a:t>
            </a:r>
            <a:r>
              <a:rPr lang="el-GR" dirty="0"/>
              <a:t>μ</a:t>
            </a:r>
            <a:r>
              <a:rPr lang="en-US" dirty="0"/>
              <a:t> = sin</a:t>
            </a:r>
            <a:r>
              <a:rPr lang="el-GR" dirty="0"/>
              <a:t>α</a:t>
            </a:r>
            <a:r>
              <a:rPr lang="en-US" dirty="0"/>
              <a:t>   </a:t>
            </a:r>
          </a:p>
          <a:p>
            <a:pPr marL="0" indent="0">
              <a:buNone/>
            </a:pPr>
            <a:r>
              <a:rPr lang="en-US" dirty="0"/>
              <a:t>B.	</a:t>
            </a:r>
            <a:r>
              <a:rPr lang="el-GR" dirty="0"/>
              <a:t>μ</a:t>
            </a:r>
            <a:r>
              <a:rPr lang="en-US" dirty="0"/>
              <a:t> = tan</a:t>
            </a:r>
            <a:r>
              <a:rPr lang="el-GR" dirty="0"/>
              <a:t>α</a:t>
            </a:r>
            <a:r>
              <a:rPr lang="en-US" dirty="0"/>
              <a:t>  </a:t>
            </a:r>
          </a:p>
          <a:p>
            <a:pPr marL="0" indent="0">
              <a:buNone/>
            </a:pPr>
            <a:r>
              <a:rPr lang="en-US" dirty="0"/>
              <a:t>C.	</a:t>
            </a:r>
            <a:r>
              <a:rPr lang="el-GR" dirty="0"/>
              <a:t>μ</a:t>
            </a:r>
            <a:r>
              <a:rPr lang="en-US" dirty="0"/>
              <a:t> = </a:t>
            </a:r>
            <a:r>
              <a:rPr lang="en-US" dirty="0" err="1"/>
              <a:t>cotg</a:t>
            </a:r>
            <a:r>
              <a:rPr lang="el-GR" dirty="0"/>
              <a:t>α</a:t>
            </a:r>
            <a:r>
              <a:rPr lang="en-US" dirty="0"/>
              <a:t>  </a:t>
            </a:r>
          </a:p>
          <a:p>
            <a:pPr marL="0" indent="0">
              <a:buNone/>
            </a:pPr>
            <a:r>
              <a:rPr lang="en-US" dirty="0"/>
              <a:t>D.	</a:t>
            </a:r>
            <a:r>
              <a:rPr lang="el-GR" dirty="0"/>
              <a:t>μ</a:t>
            </a:r>
            <a:r>
              <a:rPr lang="en-US" dirty="0"/>
              <a:t> = </a:t>
            </a:r>
            <a:r>
              <a:rPr lang="en-US" dirty="0" err="1"/>
              <a:t>cos</a:t>
            </a:r>
            <a:r>
              <a:rPr lang="el-GR" dirty="0"/>
              <a:t>α</a:t>
            </a:r>
            <a:r>
              <a:rPr lang="en-US" dirty="0"/>
              <a:t>   </a:t>
            </a:r>
          </a:p>
          <a:p>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2790" y="1981200"/>
            <a:ext cx="4003589" cy="2835078"/>
          </a:xfrm>
          <a:prstGeom prst="rect">
            <a:avLst/>
          </a:prstGeom>
        </p:spPr>
      </p:pic>
      <mc:AlternateContent xmlns:mc="http://schemas.openxmlformats.org/markup-compatibility/2006" xmlns:a14="http://schemas.microsoft.com/office/drawing/2010/main">
        <mc:Choice Requires="a14">
          <p:sp>
            <p:nvSpPr>
              <p:cNvPr id="7" name="Notes Placeholder 4"/>
              <p:cNvSpPr txBox="1">
                <a:spLocks/>
              </p:cNvSpPr>
              <p:nvPr/>
            </p:nvSpPr>
            <p:spPr>
              <a:xfrm>
                <a:off x="533400" y="4648200"/>
                <a:ext cx="3124200" cy="1524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b="1" i="1" dirty="0">
                    <a:solidFill>
                      <a:srgbClr val="FF0000"/>
                    </a:solidFill>
                    <a:latin typeface="Times New Roman" pitchFamily="18" charset="0"/>
                    <a:cs typeface="Times New Roman" pitchFamily="18" charset="0"/>
                  </a:rPr>
                  <a:t>a = g(sin</a:t>
                </a:r>
                <a14:m>
                  <m:oMath xmlns:m="http://schemas.openxmlformats.org/officeDocument/2006/math">
                    <m:r>
                      <a:rPr lang="en-US" b="1" i="1">
                        <a:solidFill>
                          <a:srgbClr val="FF0000"/>
                        </a:solidFill>
                        <a:latin typeface="Cambria Math"/>
                        <a:ea typeface="Cambria Math"/>
                      </a:rPr>
                      <m:t>𝜽</m:t>
                    </m:r>
                  </m:oMath>
                </a14:m>
                <a:r>
                  <a:rPr lang="en-US" b="1" i="1" dirty="0">
                    <a:solidFill>
                      <a:srgbClr val="FF0000"/>
                    </a:solidFill>
                    <a:latin typeface="Times New Roman" pitchFamily="18" charset="0"/>
                    <a:cs typeface="Times New Roman" pitchFamily="18" charset="0"/>
                  </a:rPr>
                  <a:t> - </a:t>
                </a:r>
                <a14:m>
                  <m:oMath xmlns:m="http://schemas.openxmlformats.org/officeDocument/2006/math">
                    <m:r>
                      <a:rPr lang="en-US" b="1" i="1">
                        <a:solidFill>
                          <a:srgbClr val="FF0000"/>
                        </a:solidFill>
                        <a:latin typeface="Cambria Math"/>
                        <a:ea typeface="Cambria Math"/>
                      </a:rPr>
                      <m:t>𝝁</m:t>
                    </m:r>
                    <m:r>
                      <a:rPr lang="en-US" b="1" i="1">
                        <a:solidFill>
                          <a:srgbClr val="FF0000"/>
                        </a:solidFill>
                        <a:latin typeface="Cambria Math"/>
                        <a:ea typeface="Cambria Math"/>
                      </a:rPr>
                      <m:t>𝒄𝒐𝒔</m:t>
                    </m:r>
                    <m:r>
                      <a:rPr lang="en-US" b="1" i="1">
                        <a:solidFill>
                          <a:srgbClr val="FF0000"/>
                        </a:solidFill>
                        <a:latin typeface="Cambria Math"/>
                        <a:ea typeface="Cambria Math"/>
                      </a:rPr>
                      <m:t>𝜽</m:t>
                    </m:r>
                  </m:oMath>
                </a14:m>
                <a:r>
                  <a:rPr lang="en-US" b="1" i="1" dirty="0">
                    <a:solidFill>
                      <a:srgbClr val="FF0000"/>
                    </a:solidFill>
                    <a:latin typeface="Times New Roman" pitchFamily="18" charset="0"/>
                    <a:cs typeface="Times New Roman" pitchFamily="18" charset="0"/>
                  </a:rPr>
                  <a:t>) </a:t>
                </a:r>
                <a:r>
                  <a:rPr lang="en-US" b="1" i="1" dirty="0">
                    <a:latin typeface="Times New Roman" pitchFamily="18" charset="0"/>
                    <a:cs typeface="Times New Roman" pitchFamily="18" charset="0"/>
                  </a:rPr>
                  <a:t>= 0</a:t>
                </a:r>
              </a:p>
              <a:p>
                <a:pPr algn="ctr"/>
                <a:r>
                  <a:rPr lang="el-GR" b="1" i="1" dirty="0">
                    <a:latin typeface="Times New Roman" pitchFamily="18" charset="0"/>
                    <a:cs typeface="Times New Roman" pitchFamily="18" charset="0"/>
                  </a:rPr>
                  <a:t>μ</a:t>
                </a:r>
                <a:r>
                  <a:rPr lang="en-US" b="1" i="1" dirty="0">
                    <a:latin typeface="Times New Roman" pitchFamily="18" charset="0"/>
                    <a:cs typeface="Times New Roman" pitchFamily="18" charset="0"/>
                  </a:rPr>
                  <a:t> = </a:t>
                </a:r>
                <a:r>
                  <a:rPr lang="en-US" b="1" i="1" dirty="0" err="1">
                    <a:latin typeface="Times New Roman" pitchFamily="18" charset="0"/>
                    <a:cs typeface="Times New Roman" pitchFamily="18" charset="0"/>
                  </a:rPr>
                  <a:t>tg</a:t>
                </a:r>
                <a14:m>
                  <m:oMath xmlns:m="http://schemas.openxmlformats.org/officeDocument/2006/math">
                    <m:r>
                      <a:rPr lang="en-US" b="1" i="1" smtClean="0">
                        <a:latin typeface="Cambria Math"/>
                        <a:ea typeface="Cambria Math"/>
                        <a:cs typeface="Times New Roman" pitchFamily="18" charset="0"/>
                      </a:rPr>
                      <m:t>𝜽</m:t>
                    </m:r>
                  </m:oMath>
                </a14:m>
                <a:endParaRPr lang="en-US" b="1" i="1" dirty="0">
                  <a:latin typeface="Times New Roman" pitchFamily="18" charset="0"/>
                  <a:cs typeface="Times New Roman" pitchFamily="18" charset="0"/>
                </a:endParaRPr>
              </a:p>
              <a:p>
                <a:pPr algn="ctr"/>
                <a:r>
                  <a:rPr lang="en-US" b="1" i="1" dirty="0">
                    <a:solidFill>
                      <a:srgbClr val="FF0000"/>
                    </a:solidFill>
                    <a:latin typeface="Times New Roman" pitchFamily="18" charset="0"/>
                    <a:cs typeface="Times New Roman" pitchFamily="18" charset="0"/>
                  </a:rPr>
                  <a:t>a = </a:t>
                </a:r>
                <a:r>
                  <a:rPr lang="en-US" b="1" i="1" dirty="0" err="1">
                    <a:solidFill>
                      <a:srgbClr val="FF0000"/>
                    </a:solidFill>
                    <a:latin typeface="Times New Roman" pitchFamily="18" charset="0"/>
                    <a:cs typeface="Times New Roman" pitchFamily="18" charset="0"/>
                  </a:rPr>
                  <a:t>gsin</a:t>
                </a:r>
                <a:r>
                  <a:rPr lang="el-GR" b="1" i="1" dirty="0">
                    <a:solidFill>
                      <a:srgbClr val="FF0000"/>
                    </a:solidFill>
                    <a:latin typeface="Times New Roman" pitchFamily="18" charset="0"/>
                    <a:cs typeface="Times New Roman" pitchFamily="18" charset="0"/>
                  </a:rPr>
                  <a:t>θ </a:t>
                </a:r>
                <a:r>
                  <a:rPr lang="en-US" b="1" i="1" dirty="0">
                    <a:latin typeface="Times New Roman" pitchFamily="18" charset="0"/>
                    <a:cs typeface="Times New Roman" pitchFamily="18" charset="0"/>
                  </a:rPr>
                  <a:t>(</a:t>
                </a:r>
                <a:r>
                  <a:rPr lang="en-US" b="1" i="1" dirty="0" err="1">
                    <a:latin typeface="Times New Roman" pitchFamily="18" charset="0"/>
                    <a:cs typeface="Times New Roman" pitchFamily="18" charset="0"/>
                  </a:rPr>
                  <a:t>không</a:t>
                </a:r>
                <a:r>
                  <a:rPr lang="en-US" b="1" i="1" dirty="0">
                    <a:latin typeface="Times New Roman" pitchFamily="18" charset="0"/>
                    <a:cs typeface="Times New Roman" pitchFamily="18" charset="0"/>
                  </a:rPr>
                  <a:t> </a:t>
                </a:r>
                <a:r>
                  <a:rPr lang="en-US" b="1" i="1" dirty="0" err="1">
                    <a:latin typeface="Times New Roman" pitchFamily="18" charset="0"/>
                    <a:cs typeface="Times New Roman" pitchFamily="18" charset="0"/>
                  </a:rPr>
                  <a:t>ms</a:t>
                </a:r>
                <a:r>
                  <a:rPr lang="en-US" b="1" i="1" dirty="0">
                    <a:latin typeface="Times New Roman" pitchFamily="18" charset="0"/>
                    <a:cs typeface="Times New Roman" pitchFamily="18" charset="0"/>
                  </a:rPr>
                  <a:t>)</a:t>
                </a:r>
              </a:p>
            </p:txBody>
          </p:sp>
        </mc:Choice>
        <mc:Fallback xmlns="">
          <p:sp>
            <p:nvSpPr>
              <p:cNvPr id="7" name="Notes Placeholder 4"/>
              <p:cNvSpPr txBox="1">
                <a:spLocks noRot="1" noChangeAspect="1" noMove="1" noResize="1" noEditPoints="1" noAdjustHandles="1" noChangeArrowheads="1" noChangeShapeType="1" noTextEdit="1"/>
              </p:cNvSpPr>
              <p:nvPr/>
            </p:nvSpPr>
            <p:spPr>
              <a:xfrm>
                <a:off x="533400" y="4648200"/>
                <a:ext cx="3124200" cy="1524000"/>
              </a:xfrm>
              <a:prstGeom prst="rect">
                <a:avLst/>
              </a:prstGeom>
              <a:blipFill rotWithShape="1">
                <a:blip r:embed="rId4"/>
                <a:stretch>
                  <a:fillRect l="-13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4953000" y="5181600"/>
                <a:ext cx="3352800" cy="1219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a:rPr lang="en-US" b="0" i="1" smtClean="0">
                        <a:latin typeface="Cambria Math" panose="02040503050406030204" pitchFamily="18" charset="0"/>
                        <a:ea typeface="Cambria Math"/>
                      </a:rPr>
                      <m:t>(</m:t>
                    </m:r>
                    <m:r>
                      <a:rPr lang="en-US" i="1" smtClean="0">
                        <a:latin typeface="Cambria Math"/>
                        <a:ea typeface="Cambria Math"/>
                      </a:rPr>
                      <m:t>𝜇</m:t>
                    </m:r>
                    <m:r>
                      <a:rPr lang="en-US" b="0" i="1" smtClean="0">
                        <a:latin typeface="Cambria Math"/>
                        <a:ea typeface="Cambria Math"/>
                      </a:rPr>
                      <m:t>𝑚𝑔𝑐𝑜𝑠</m:t>
                    </m:r>
                    <m:r>
                      <a:rPr lang="en-US" b="0" i="1" smtClean="0">
                        <a:latin typeface="Cambria Math"/>
                        <a:ea typeface="Cambria Math"/>
                      </a:rPr>
                      <m:t>𝜃</m:t>
                    </m:r>
                    <m:sSub>
                      <m:sSubPr>
                        <m:ctrlPr>
                          <a:rPr lang="en-US" i="1" smtClean="0">
                            <a:latin typeface="Cambria Math" panose="02040503050406030204" pitchFamily="18" charset="0"/>
                          </a:rPr>
                        </m:ctrlPr>
                      </m:sSubPr>
                      <m:e>
                        <m:r>
                          <a:rPr lang="en-US" b="0" i="1" smtClean="0">
                            <a:latin typeface="Cambria Math"/>
                          </a:rPr>
                          <m:t>=</m:t>
                        </m:r>
                        <m:r>
                          <a:rPr lang="en-US" b="0" i="1" smtClean="0">
                            <a:latin typeface="Cambria Math" panose="02040503050406030204" pitchFamily="18" charset="0"/>
                          </a:rPr>
                          <m:t>)</m:t>
                        </m:r>
                        <m:r>
                          <a:rPr lang="en-US" b="0" i="1" smtClean="0">
                            <a:latin typeface="Cambria Math"/>
                          </a:rPr>
                          <m:t>𝐹</m:t>
                        </m:r>
                      </m:e>
                      <m:sub>
                        <m:r>
                          <a:rPr lang="en-US" b="0" i="1" smtClean="0">
                            <a:latin typeface="Cambria Math"/>
                          </a:rPr>
                          <m:t>𝑚𝑠</m:t>
                        </m:r>
                      </m:sub>
                    </m:sSub>
                  </m:oMath>
                </a14:m>
                <a:r>
                  <a:rPr lang="en-US" dirty="0"/>
                  <a:t> = </a:t>
                </a:r>
                <a:r>
                  <a:rPr lang="en-US" dirty="0" err="1"/>
                  <a:t>mgsin</a:t>
                </a:r>
                <a14:m>
                  <m:oMath xmlns:m="http://schemas.openxmlformats.org/officeDocument/2006/math">
                    <m:r>
                      <a:rPr lang="en-US" i="1" smtClean="0">
                        <a:latin typeface="Cambria Math"/>
                        <a:ea typeface="Cambria Math"/>
                      </a:rPr>
                      <m:t>𝜃</m:t>
                    </m:r>
                  </m:oMath>
                </a14:m>
                <a:endParaRPr lang="en-US" dirty="0">
                  <a:ea typeface="Cambria Math"/>
                </a:endParaRPr>
              </a:p>
              <a:p>
                <a:pPr algn="ctr"/>
                <a:r>
                  <a:rPr lang="el-GR" b="1" i="1" dirty="0">
                    <a:latin typeface="Times New Roman" pitchFamily="18" charset="0"/>
                    <a:cs typeface="Times New Roman" pitchFamily="18" charset="0"/>
                  </a:rPr>
                  <a:t>μ</a:t>
                </a:r>
                <a:r>
                  <a:rPr lang="en-US" b="1" i="1" dirty="0">
                    <a:latin typeface="Times New Roman" pitchFamily="18" charset="0"/>
                    <a:cs typeface="Times New Roman" pitchFamily="18" charset="0"/>
                  </a:rPr>
                  <a:t> = </a:t>
                </a:r>
                <a:r>
                  <a:rPr lang="en-US" b="1" i="1" dirty="0" err="1">
                    <a:latin typeface="Times New Roman" pitchFamily="18" charset="0"/>
                    <a:cs typeface="Times New Roman" pitchFamily="18" charset="0"/>
                  </a:rPr>
                  <a:t>tg</a:t>
                </a:r>
                <a14:m>
                  <m:oMath xmlns:m="http://schemas.openxmlformats.org/officeDocument/2006/math">
                    <m:r>
                      <a:rPr lang="en-US" b="1" i="1">
                        <a:latin typeface="Cambria Math"/>
                        <a:ea typeface="Cambria Math"/>
                        <a:cs typeface="Times New Roman" pitchFamily="18" charset="0"/>
                      </a:rPr>
                      <m:t>𝜽</m:t>
                    </m:r>
                  </m:oMath>
                </a14:m>
                <a:endParaRPr lang="en-US" b="1" i="1" dirty="0">
                  <a:latin typeface="Times New Roman" pitchFamily="18" charset="0"/>
                  <a:cs typeface="Times New Roman" pitchFamily="18" charset="0"/>
                </a:endParaRPr>
              </a:p>
              <a:p>
                <a:pPr algn="ctr"/>
                <a:r>
                  <a:rPr lang="en-US" dirty="0"/>
                  <a:t>(</a:t>
                </a:r>
                <a:r>
                  <a:rPr lang="en-US" dirty="0" err="1"/>
                  <a:t>vật</a:t>
                </a:r>
                <a:r>
                  <a:rPr lang="en-US" dirty="0"/>
                  <a:t> </a:t>
                </a:r>
                <a:r>
                  <a:rPr lang="en-US" dirty="0" err="1"/>
                  <a:t>đứng</a:t>
                </a:r>
                <a:r>
                  <a:rPr lang="en-US" dirty="0"/>
                  <a:t> </a:t>
                </a:r>
                <a:r>
                  <a:rPr lang="en-US" dirty="0" err="1"/>
                  <a:t>yên</a:t>
                </a:r>
                <a:r>
                  <a:rPr lang="en-US" dirty="0"/>
                  <a:t> </a:t>
                </a:r>
                <a:r>
                  <a:rPr lang="en-US" dirty="0" err="1"/>
                  <a:t>trên</a:t>
                </a:r>
                <a:r>
                  <a:rPr lang="en-US" dirty="0"/>
                  <a:t> </a:t>
                </a:r>
                <a:r>
                  <a:rPr lang="en-US" dirty="0" err="1"/>
                  <a:t>mp</a:t>
                </a:r>
                <a:r>
                  <a:rPr lang="en-US" dirty="0"/>
                  <a:t> </a:t>
                </a:r>
                <a:r>
                  <a:rPr lang="en-US" dirty="0" err="1"/>
                  <a:t>nghiêng</a:t>
                </a:r>
                <a:r>
                  <a:rPr lang="en-US" dirty="0"/>
                  <a:t>)</a:t>
                </a:r>
              </a:p>
            </p:txBody>
          </p:sp>
        </mc:Choice>
        <mc:Fallback xmlns="">
          <p:sp>
            <p:nvSpPr>
              <p:cNvPr id="8" name="Rectangle 7"/>
              <p:cNvSpPr>
                <a:spLocks noRot="1" noChangeAspect="1" noMove="1" noResize="1" noEditPoints="1" noAdjustHandles="1" noChangeArrowheads="1" noChangeShapeType="1" noTextEdit="1"/>
              </p:cNvSpPr>
              <p:nvPr/>
            </p:nvSpPr>
            <p:spPr>
              <a:xfrm>
                <a:off x="4953000" y="5181600"/>
                <a:ext cx="3352800" cy="1219200"/>
              </a:xfrm>
              <a:prstGeom prst="rect">
                <a:avLst/>
              </a:prstGeom>
              <a:blipFill>
                <a:blip r:embed="rId5"/>
                <a:stretch>
                  <a:fillRect/>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41908242-6F83-0486-5CBE-DCB36BDA0F08}"/>
              </a:ext>
            </a:extLst>
          </p:cNvPr>
          <p:cNvSpPr>
            <a:spLocks noGrp="1"/>
          </p:cNvSpPr>
          <p:nvPr>
            <p:ph type="ftr" sz="quarter" idx="11"/>
          </p:nvPr>
        </p:nvSpPr>
        <p:spPr/>
        <p:txBody>
          <a:bodyPr/>
          <a:lstStyle/>
          <a:p>
            <a:pPr>
              <a:defRPr/>
            </a:pPr>
            <a:r>
              <a:rPr lang="en-US"/>
              <a:t>Bùi Quốc Trung - VLDC</a:t>
            </a:r>
          </a:p>
        </p:txBody>
      </p:sp>
      <p:sp>
        <p:nvSpPr>
          <p:cNvPr id="5" name="Slide Number Placeholder 4">
            <a:extLst>
              <a:ext uri="{FF2B5EF4-FFF2-40B4-BE49-F238E27FC236}">
                <a16:creationId xmlns:a16="http://schemas.microsoft.com/office/drawing/2014/main" id="{859822FB-3755-5FD7-C352-23071A59C1A9}"/>
              </a:ext>
            </a:extLst>
          </p:cNvPr>
          <p:cNvSpPr>
            <a:spLocks noGrp="1"/>
          </p:cNvSpPr>
          <p:nvPr>
            <p:ph type="sldNum" sz="quarter" idx="12"/>
          </p:nvPr>
        </p:nvSpPr>
        <p:spPr/>
        <p:txBody>
          <a:bodyPr/>
          <a:lstStyle/>
          <a:p>
            <a:pPr>
              <a:defRPr/>
            </a:pPr>
            <a:fld id="{76921531-3DE4-4FE6-8586-93C8C3054BFB}" type="slidenum">
              <a:rPr lang="en-US" smtClean="0"/>
              <a:pPr>
                <a:defRPr/>
              </a:pPr>
              <a:t>29</a:t>
            </a:fld>
            <a:endParaRPr lang="en-US"/>
          </a:p>
        </p:txBody>
      </p:sp>
    </p:spTree>
    <p:extLst>
      <p:ext uri="{BB962C8B-B14F-4D97-AF65-F5344CB8AC3E}">
        <p14:creationId xmlns:p14="http://schemas.microsoft.com/office/powerpoint/2010/main" val="366878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2" end="2"/>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anim calcmode="lin" valueType="num">
                                      <p:cBhvr>
                                        <p:cTn id="12" dur="1000" fill="hold"/>
                                        <p:tgtEl>
                                          <p:spTgt spid="7"/>
                                        </p:tgtEl>
                                        <p:attrNameLst>
                                          <p:attrName>ppt_x</p:attrName>
                                        </p:attrNameLst>
                                      </p:cBhvr>
                                      <p:tavLst>
                                        <p:tav tm="0">
                                          <p:val>
                                            <p:strVal val="#ppt_x"/>
                                          </p:val>
                                        </p:tav>
                                        <p:tav tm="100000">
                                          <p:val>
                                            <p:strVal val="#ppt_x"/>
                                          </p:val>
                                        </p:tav>
                                      </p:tavLst>
                                    </p:anim>
                                    <p:anim calcmode="lin" valueType="num">
                                      <p:cBhvr>
                                        <p:cTn id="1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p:nvPr>
        </p:nvSpPr>
        <p:spPr>
          <a:xfrm>
            <a:off x="457200" y="274638"/>
            <a:ext cx="8229600" cy="6354762"/>
          </a:xfrm>
          <a:solidFill>
            <a:schemeClr val="accent5">
              <a:lumMod val="20000"/>
              <a:lumOff val="80000"/>
            </a:schemeClr>
          </a:solidFill>
          <a:ln>
            <a:solidFill>
              <a:srgbClr val="1109B7"/>
            </a:solidFill>
          </a:ln>
        </p:spPr>
        <p:txBody>
          <a:bodyPr>
            <a:normAutofit/>
          </a:bodyPr>
          <a:lstStyle/>
          <a:p>
            <a:pPr marL="0" indent="0">
              <a:buFont typeface="Arial" charset="0"/>
              <a:buNone/>
              <a:defRPr/>
            </a:pPr>
            <a:r>
              <a:rPr lang="en-US" dirty="0" err="1"/>
              <a:t>Một</a:t>
            </a:r>
            <a:r>
              <a:rPr lang="en-US" dirty="0"/>
              <a:t> </a:t>
            </a:r>
            <a:r>
              <a:rPr lang="en-US" dirty="0" err="1"/>
              <a:t>vật</a:t>
            </a:r>
            <a:r>
              <a:rPr lang="en-US" dirty="0"/>
              <a:t> 10kg </a:t>
            </a:r>
            <a:r>
              <a:rPr lang="en-US" dirty="0" err="1"/>
              <a:t>được</a:t>
            </a:r>
            <a:r>
              <a:rPr lang="en-US" dirty="0"/>
              <a:t> </a:t>
            </a:r>
            <a:r>
              <a:rPr lang="en-US" dirty="0" err="1"/>
              <a:t>kéo</a:t>
            </a:r>
            <a:r>
              <a:rPr lang="en-US" dirty="0"/>
              <a:t> </a:t>
            </a:r>
            <a:r>
              <a:rPr lang="en-US" dirty="0" err="1"/>
              <a:t>trượt</a:t>
            </a:r>
            <a:r>
              <a:rPr lang="en-US" dirty="0"/>
              <a:t> </a:t>
            </a:r>
            <a:r>
              <a:rPr lang="en-US" dirty="0" err="1"/>
              <a:t>trên</a:t>
            </a:r>
            <a:r>
              <a:rPr lang="en-US" dirty="0"/>
              <a:t> </a:t>
            </a:r>
            <a:r>
              <a:rPr lang="en-US" dirty="0" err="1"/>
              <a:t>mặt</a:t>
            </a:r>
            <a:r>
              <a:rPr lang="en-US" dirty="0"/>
              <a:t> </a:t>
            </a:r>
            <a:r>
              <a:rPr lang="en-US" dirty="0" err="1"/>
              <a:t>sàn</a:t>
            </a:r>
            <a:r>
              <a:rPr lang="en-US" dirty="0"/>
              <a:t> </a:t>
            </a:r>
            <a:r>
              <a:rPr lang="en-US" dirty="0" err="1"/>
              <a:t>ngang</a:t>
            </a:r>
            <a:r>
              <a:rPr lang="en-US" dirty="0"/>
              <a:t> </a:t>
            </a:r>
            <a:r>
              <a:rPr lang="en-US" dirty="0" err="1"/>
              <a:t>bằng</a:t>
            </a:r>
            <a:r>
              <a:rPr lang="en-US" dirty="0"/>
              <a:t> </a:t>
            </a:r>
            <a:r>
              <a:rPr lang="en-US" dirty="0" err="1"/>
              <a:t>lực</a:t>
            </a:r>
            <a:r>
              <a:rPr lang="en-US" dirty="0"/>
              <a:t> </a:t>
            </a:r>
            <a:r>
              <a:rPr lang="en-US" dirty="0" err="1"/>
              <a:t>kéo</a:t>
            </a:r>
            <a:r>
              <a:rPr lang="en-US" dirty="0"/>
              <a:t> F = 20N, </a:t>
            </a:r>
            <a:r>
              <a:rPr lang="en-US" dirty="0" err="1"/>
              <a:t>hợp</a:t>
            </a:r>
            <a:r>
              <a:rPr lang="en-US" dirty="0"/>
              <a:t> </a:t>
            </a:r>
            <a:r>
              <a:rPr lang="en-US" dirty="0" err="1"/>
              <a:t>với</a:t>
            </a:r>
            <a:r>
              <a:rPr lang="en-US" dirty="0"/>
              <a:t> </a:t>
            </a:r>
            <a:r>
              <a:rPr lang="en-US" dirty="0" err="1"/>
              <a:t>phương</a:t>
            </a:r>
            <a:r>
              <a:rPr lang="en-US" dirty="0"/>
              <a:t> </a:t>
            </a:r>
            <a:r>
              <a:rPr lang="en-US" dirty="0" err="1"/>
              <a:t>ngang</a:t>
            </a:r>
            <a:r>
              <a:rPr lang="en-US" dirty="0"/>
              <a:t> </a:t>
            </a:r>
            <a:r>
              <a:rPr lang="en-US" dirty="0" err="1"/>
              <a:t>một</a:t>
            </a:r>
            <a:r>
              <a:rPr lang="en-US" dirty="0"/>
              <a:t> </a:t>
            </a:r>
            <a:r>
              <a:rPr lang="en-US" dirty="0" err="1"/>
              <a:t>góc</a:t>
            </a:r>
            <a:r>
              <a:rPr lang="en-US" dirty="0"/>
              <a:t> 30</a:t>
            </a:r>
            <a:r>
              <a:rPr lang="en-US" baseline="30000" dirty="0"/>
              <a:t>0</a:t>
            </a:r>
            <a:r>
              <a:rPr lang="en-US" dirty="0"/>
              <a:t>. Cho g = 10m/s</a:t>
            </a:r>
            <a:r>
              <a:rPr lang="en-US" baseline="30000" dirty="0"/>
              <a:t>2</a:t>
            </a:r>
            <a:r>
              <a:rPr lang="en-US" dirty="0"/>
              <a:t>, </a:t>
            </a:r>
            <a:r>
              <a:rPr lang="en-US" dirty="0" err="1"/>
              <a:t>hệ</a:t>
            </a:r>
            <a:r>
              <a:rPr lang="en-US" dirty="0"/>
              <a:t> </a:t>
            </a:r>
            <a:r>
              <a:rPr lang="en-US" dirty="0" err="1"/>
              <a:t>số</a:t>
            </a:r>
            <a:r>
              <a:rPr lang="en-US" dirty="0"/>
              <a:t> ma </a:t>
            </a:r>
            <a:r>
              <a:rPr lang="en-US" dirty="0" err="1"/>
              <a:t>sát</a:t>
            </a:r>
            <a:r>
              <a:rPr lang="en-US" dirty="0"/>
              <a:t> </a:t>
            </a:r>
            <a:r>
              <a:rPr lang="en-US" dirty="0" err="1"/>
              <a:t>giữa</a:t>
            </a:r>
            <a:r>
              <a:rPr lang="en-US" dirty="0"/>
              <a:t> </a:t>
            </a:r>
            <a:r>
              <a:rPr lang="en-US" dirty="0" err="1"/>
              <a:t>vật</a:t>
            </a:r>
            <a:r>
              <a:rPr lang="en-US" dirty="0"/>
              <a:t> </a:t>
            </a:r>
            <a:r>
              <a:rPr lang="en-US" dirty="0" err="1"/>
              <a:t>và</a:t>
            </a:r>
            <a:r>
              <a:rPr lang="en-US" dirty="0"/>
              <a:t> </a:t>
            </a:r>
            <a:r>
              <a:rPr lang="en-US" dirty="0" err="1"/>
              <a:t>sàn</a:t>
            </a:r>
            <a:r>
              <a:rPr lang="en-US" dirty="0"/>
              <a:t> </a:t>
            </a:r>
            <a:r>
              <a:rPr lang="en-US" dirty="0" err="1"/>
              <a:t>là</a:t>
            </a:r>
            <a:r>
              <a:rPr lang="en-US" dirty="0"/>
              <a:t> 0,1. </a:t>
            </a:r>
            <a:r>
              <a:rPr lang="en-US" dirty="0" err="1"/>
              <a:t>Tính</a:t>
            </a:r>
            <a:r>
              <a:rPr lang="en-US" dirty="0"/>
              <a:t> </a:t>
            </a:r>
            <a:r>
              <a:rPr lang="en-US" dirty="0" err="1"/>
              <a:t>gia</a:t>
            </a:r>
            <a:r>
              <a:rPr lang="en-US" dirty="0"/>
              <a:t> </a:t>
            </a:r>
            <a:r>
              <a:rPr lang="en-US" dirty="0" err="1"/>
              <a:t>tốc</a:t>
            </a:r>
            <a:r>
              <a:rPr lang="en-US" dirty="0"/>
              <a:t> </a:t>
            </a:r>
            <a:r>
              <a:rPr lang="en-US" dirty="0" err="1"/>
              <a:t>của</a:t>
            </a:r>
            <a:r>
              <a:rPr lang="en-US" dirty="0"/>
              <a:t> </a:t>
            </a:r>
            <a:r>
              <a:rPr lang="en-US" dirty="0" err="1"/>
              <a:t>vật</a:t>
            </a:r>
            <a:r>
              <a:rPr lang="en-US" dirty="0"/>
              <a:t>.</a:t>
            </a:r>
          </a:p>
          <a:p>
            <a:pPr marL="0" indent="0">
              <a:buNone/>
              <a:defRPr/>
            </a:pPr>
            <a:r>
              <a:rPr lang="en-US" dirty="0"/>
              <a:t>A. 0,83 m/s</a:t>
            </a:r>
            <a:r>
              <a:rPr lang="en-US" baseline="30000" dirty="0"/>
              <a:t>2</a:t>
            </a:r>
            <a:endParaRPr lang="en-US" dirty="0"/>
          </a:p>
          <a:p>
            <a:pPr marL="0" indent="0">
              <a:buNone/>
              <a:defRPr/>
            </a:pPr>
            <a:r>
              <a:rPr lang="en-US" dirty="0"/>
              <a:t>B. 1 m/s</a:t>
            </a:r>
            <a:r>
              <a:rPr lang="en-US" baseline="30000" dirty="0"/>
              <a:t>2</a:t>
            </a:r>
            <a:endParaRPr lang="en-US" dirty="0"/>
          </a:p>
          <a:p>
            <a:pPr marL="0" indent="0">
              <a:buNone/>
              <a:defRPr/>
            </a:pPr>
            <a:r>
              <a:rPr lang="en-US" dirty="0"/>
              <a:t>C. 2 m/s</a:t>
            </a:r>
            <a:r>
              <a:rPr lang="en-US" baseline="30000" dirty="0"/>
              <a:t>2</a:t>
            </a:r>
            <a:endParaRPr lang="en-US" dirty="0"/>
          </a:p>
          <a:p>
            <a:pPr marL="0" indent="0">
              <a:buNone/>
              <a:defRPr/>
            </a:pPr>
            <a:r>
              <a:rPr lang="en-US" dirty="0"/>
              <a:t>D. 3 m/s</a:t>
            </a:r>
            <a:r>
              <a:rPr lang="en-US" baseline="30000" dirty="0"/>
              <a:t>2</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9200" y="3052715"/>
            <a:ext cx="3200400" cy="2376535"/>
          </a:xfrm>
          <a:prstGeom prst="rect">
            <a:avLst/>
          </a:prstGeom>
        </p:spPr>
      </p:pic>
      <p:cxnSp>
        <p:nvCxnSpPr>
          <p:cNvPr id="5" name="Straight Arrow Connector 4"/>
          <p:cNvCxnSpPr/>
          <p:nvPr/>
        </p:nvCxnSpPr>
        <p:spPr>
          <a:xfrm flipV="1">
            <a:off x="6934200" y="3352800"/>
            <a:ext cx="762000" cy="7620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7" name="Notes Placeholder 4"/>
              <p:cNvSpPr txBox="1">
                <a:spLocks/>
              </p:cNvSpPr>
              <p:nvPr/>
            </p:nvSpPr>
            <p:spPr>
              <a:xfrm>
                <a:off x="685800" y="4395835"/>
                <a:ext cx="5562600" cy="2209800"/>
              </a:xfrm>
              <a:prstGeom prst="wedgeEllipseCallout">
                <a:avLst/>
              </a:prstGeom>
            </p:spPr>
            <p:style>
              <a:lnRef idx="2">
                <a:schemeClr val="accent5"/>
              </a:lnRef>
              <a:fillRef idx="1">
                <a:schemeClr val="lt1"/>
              </a:fillRef>
              <a:effectRef idx="0">
                <a:schemeClr val="accent5"/>
              </a:effectRef>
              <a:fontRef idx="minor">
                <a:schemeClr val="dk1"/>
              </a:fontRef>
            </p:style>
            <p:txBody>
              <a:bodyPr rtlCol="0" anchor="ct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14:m>
                  <m:oMath xmlns:m="http://schemas.openxmlformats.org/officeDocument/2006/math">
                    <m:acc>
                      <m:accPr>
                        <m:chr m:val="⃗"/>
                        <m:ctrlPr>
                          <a:rPr lang="en-US" sz="2000" b="1" i="1" smtClean="0">
                            <a:latin typeface="Cambria Math" panose="02040503050406030204" pitchFamily="18" charset="0"/>
                            <a:cs typeface="Times New Roman" pitchFamily="18" charset="0"/>
                          </a:rPr>
                        </m:ctrlPr>
                      </m:accPr>
                      <m:e>
                        <m:r>
                          <a:rPr lang="en-US" sz="2000" b="1" i="1">
                            <a:latin typeface="Cambria Math"/>
                            <a:cs typeface="Times New Roman" pitchFamily="18" charset="0"/>
                          </a:rPr>
                          <m:t>𝑭</m:t>
                        </m:r>
                      </m:e>
                    </m:acc>
                  </m:oMath>
                </a14:m>
                <a:r>
                  <a:rPr lang="en-US" sz="2000" b="1" i="1" dirty="0">
                    <a:latin typeface="Times New Roman" pitchFamily="18" charset="0"/>
                    <a:cs typeface="Times New Roman" pitchFamily="18" charset="0"/>
                  </a:rPr>
                  <a:t> = </a:t>
                </a:r>
                <a14:m>
                  <m:oMath xmlns:m="http://schemas.openxmlformats.org/officeDocument/2006/math">
                    <m:acc>
                      <m:accPr>
                        <m:chr m:val="⃗"/>
                        <m:ctrlPr>
                          <a:rPr lang="en-US" sz="2000" b="1" i="1">
                            <a:latin typeface="Cambria Math" panose="02040503050406030204" pitchFamily="18" charset="0"/>
                            <a:cs typeface="Times New Roman" pitchFamily="18" charset="0"/>
                          </a:rPr>
                        </m:ctrlPr>
                      </m:accPr>
                      <m:e>
                        <m:sSub>
                          <m:sSubPr>
                            <m:ctrlPr>
                              <a:rPr lang="en-US" sz="2000" b="1" i="1">
                                <a:latin typeface="Cambria Math" panose="02040503050406030204" pitchFamily="18" charset="0"/>
                                <a:cs typeface="Times New Roman" pitchFamily="18" charset="0"/>
                              </a:rPr>
                            </m:ctrlPr>
                          </m:sSubPr>
                          <m:e>
                            <m:r>
                              <a:rPr lang="en-US" sz="2000" b="1" i="1">
                                <a:latin typeface="Cambria Math"/>
                                <a:cs typeface="Times New Roman" pitchFamily="18" charset="0"/>
                              </a:rPr>
                              <m:t>𝑭</m:t>
                            </m:r>
                          </m:e>
                          <m:sub>
                            <m:r>
                              <a:rPr lang="en-US" sz="2000" b="1" i="1">
                                <a:latin typeface="Cambria Math"/>
                                <a:cs typeface="Times New Roman" pitchFamily="18" charset="0"/>
                              </a:rPr>
                              <m:t>𝟏</m:t>
                            </m:r>
                          </m:sub>
                        </m:sSub>
                      </m:e>
                    </m:acc>
                  </m:oMath>
                </a14:m>
                <a:r>
                  <a:rPr lang="en-US" sz="2000" b="1" i="1" dirty="0">
                    <a:latin typeface="Times New Roman" pitchFamily="18" charset="0"/>
                    <a:cs typeface="Times New Roman" pitchFamily="18" charset="0"/>
                  </a:rPr>
                  <a:t>+</a:t>
                </a:r>
                <a:r>
                  <a:rPr lang="en-US" sz="2000" b="1" dirty="0">
                    <a:cs typeface="Times New Roman" pitchFamily="18" charset="0"/>
                  </a:rPr>
                  <a:t> </a:t>
                </a:r>
                <a14:m>
                  <m:oMath xmlns:m="http://schemas.openxmlformats.org/officeDocument/2006/math">
                    <m:acc>
                      <m:accPr>
                        <m:chr m:val="⃗"/>
                        <m:ctrlPr>
                          <a:rPr lang="en-US" sz="2000" b="1" i="1">
                            <a:latin typeface="Cambria Math" panose="02040503050406030204" pitchFamily="18" charset="0"/>
                            <a:cs typeface="Times New Roman" pitchFamily="18" charset="0"/>
                          </a:rPr>
                        </m:ctrlPr>
                      </m:accPr>
                      <m:e>
                        <m:sSub>
                          <m:sSubPr>
                            <m:ctrlPr>
                              <a:rPr lang="en-US" sz="2000" b="1" i="1">
                                <a:latin typeface="Cambria Math" panose="02040503050406030204" pitchFamily="18" charset="0"/>
                                <a:cs typeface="Times New Roman" pitchFamily="18" charset="0"/>
                              </a:rPr>
                            </m:ctrlPr>
                          </m:sSubPr>
                          <m:e>
                            <m:r>
                              <a:rPr lang="en-US" sz="2000" b="1" i="1">
                                <a:latin typeface="Cambria Math"/>
                                <a:cs typeface="Times New Roman" pitchFamily="18" charset="0"/>
                              </a:rPr>
                              <m:t>𝑭</m:t>
                            </m:r>
                          </m:e>
                          <m:sub>
                            <m:r>
                              <a:rPr lang="en-US" sz="2000" b="1" i="1">
                                <a:latin typeface="Cambria Math"/>
                                <a:cs typeface="Times New Roman" pitchFamily="18" charset="0"/>
                              </a:rPr>
                              <m:t>𝟐</m:t>
                            </m:r>
                          </m:sub>
                        </m:sSub>
                      </m:e>
                    </m:acc>
                    <m:r>
                      <a:rPr lang="en-US" sz="2000" b="1" i="1">
                        <a:latin typeface="Cambria Math"/>
                        <a:cs typeface="Times New Roman" pitchFamily="18" charset="0"/>
                      </a:rPr>
                      <m:t> </m:t>
                    </m:r>
                  </m:oMath>
                </a14:m>
                <a:r>
                  <a:rPr lang="en-US" sz="2000" b="1" i="1" dirty="0">
                    <a:latin typeface="Times New Roman" pitchFamily="18" charset="0"/>
                    <a:cs typeface="Times New Roman" pitchFamily="18" charset="0"/>
                  </a:rPr>
                  <a:t>, </a:t>
                </a:r>
                <a14:m>
                  <m:oMath xmlns:m="http://schemas.openxmlformats.org/officeDocument/2006/math">
                    <m:sSub>
                      <m:sSubPr>
                        <m:ctrlPr>
                          <a:rPr lang="en-US" sz="2000" b="1" i="1">
                            <a:latin typeface="Cambria Math" panose="02040503050406030204" pitchFamily="18" charset="0"/>
                            <a:cs typeface="Times New Roman" pitchFamily="18" charset="0"/>
                          </a:rPr>
                        </m:ctrlPr>
                      </m:sSubPr>
                      <m:e>
                        <m:r>
                          <a:rPr lang="en-US" sz="2000" b="1" i="1">
                            <a:latin typeface="Cambria Math"/>
                            <a:cs typeface="Times New Roman" pitchFamily="18" charset="0"/>
                          </a:rPr>
                          <m:t>𝑭</m:t>
                        </m:r>
                      </m:e>
                      <m:sub>
                        <m:r>
                          <a:rPr lang="en-US" sz="2000" b="1" i="1">
                            <a:latin typeface="Cambria Math"/>
                            <a:cs typeface="Times New Roman" pitchFamily="18" charset="0"/>
                          </a:rPr>
                          <m:t>𝟏</m:t>
                        </m:r>
                      </m:sub>
                    </m:sSub>
                  </m:oMath>
                </a14:m>
                <a:r>
                  <a:rPr lang="en-US" sz="2000" b="1" i="1" dirty="0">
                    <a:latin typeface="Times New Roman" pitchFamily="18" charset="0"/>
                    <a:cs typeface="Times New Roman" pitchFamily="18" charset="0"/>
                  </a:rPr>
                  <a:t>=</a:t>
                </a:r>
                <a:r>
                  <a:rPr lang="en-US" sz="2000" b="1" i="1" dirty="0" err="1">
                    <a:latin typeface="Times New Roman" pitchFamily="18" charset="0"/>
                    <a:cs typeface="Times New Roman" pitchFamily="18" charset="0"/>
                  </a:rPr>
                  <a:t>Fcos</a:t>
                </a:r>
                <a:r>
                  <a:rPr lang="el-GR" sz="2000" b="1" i="1" dirty="0">
                    <a:latin typeface="Times New Roman" pitchFamily="18" charset="0"/>
                    <a:cs typeface="Times New Roman" pitchFamily="18" charset="0"/>
                  </a:rPr>
                  <a:t>α</a:t>
                </a:r>
                <a:r>
                  <a:rPr lang="en-US" sz="2000" b="1" i="1" dirty="0">
                    <a:latin typeface="Times New Roman" pitchFamily="18" charset="0"/>
                    <a:cs typeface="Times New Roman" pitchFamily="18" charset="0"/>
                  </a:rPr>
                  <a:t> ,</a:t>
                </a:r>
                <a14:m>
                  <m:oMath xmlns:m="http://schemas.openxmlformats.org/officeDocument/2006/math">
                    <m:sSub>
                      <m:sSubPr>
                        <m:ctrlPr>
                          <a:rPr lang="en-US" sz="2000" b="1" i="1">
                            <a:latin typeface="Cambria Math" panose="02040503050406030204" pitchFamily="18" charset="0"/>
                            <a:cs typeface="Times New Roman" pitchFamily="18" charset="0"/>
                          </a:rPr>
                        </m:ctrlPr>
                      </m:sSubPr>
                      <m:e>
                        <m:r>
                          <a:rPr lang="en-US" sz="2000" b="1" i="1">
                            <a:latin typeface="Cambria Math"/>
                            <a:cs typeface="Times New Roman" pitchFamily="18" charset="0"/>
                          </a:rPr>
                          <m:t>𝑭</m:t>
                        </m:r>
                      </m:e>
                      <m:sub>
                        <m:r>
                          <a:rPr lang="en-US" sz="2000" b="1" i="1">
                            <a:latin typeface="Cambria Math"/>
                            <a:cs typeface="Times New Roman" pitchFamily="18" charset="0"/>
                          </a:rPr>
                          <m:t>𝟐</m:t>
                        </m:r>
                      </m:sub>
                    </m:sSub>
                  </m:oMath>
                </a14:m>
                <a:r>
                  <a:rPr lang="en-US" sz="2000" b="1" i="1" dirty="0">
                    <a:latin typeface="Times New Roman" pitchFamily="18" charset="0"/>
                    <a:cs typeface="Times New Roman" pitchFamily="18" charset="0"/>
                  </a:rPr>
                  <a:t>=</a:t>
                </a:r>
                <a:r>
                  <a:rPr lang="en-US" sz="2000" b="1" i="1" dirty="0" err="1">
                    <a:latin typeface="Times New Roman" pitchFamily="18" charset="0"/>
                    <a:cs typeface="Times New Roman" pitchFamily="18" charset="0"/>
                  </a:rPr>
                  <a:t>Fsin</a:t>
                </a:r>
                <a:r>
                  <a:rPr lang="el-GR" sz="2000" b="1" i="1" dirty="0">
                    <a:latin typeface="Times New Roman" pitchFamily="18" charset="0"/>
                    <a:cs typeface="Times New Roman" pitchFamily="18" charset="0"/>
                  </a:rPr>
                  <a:t>α</a:t>
                </a:r>
                <a:endParaRPr lang="en-US" sz="2000" b="1" i="1" dirty="0">
                  <a:latin typeface="Times New Roman" pitchFamily="18" charset="0"/>
                  <a:cs typeface="Times New Roman" pitchFamily="18" charset="0"/>
                </a:endParaRPr>
              </a:p>
              <a:p>
                <a:r>
                  <a:rPr lang="en-US" sz="2000" b="1" i="1" dirty="0" err="1">
                    <a:latin typeface="Times New Roman" pitchFamily="18" charset="0"/>
                    <a:cs typeface="Times New Roman" pitchFamily="18" charset="0"/>
                  </a:rPr>
                  <a:t>Fcos</a:t>
                </a:r>
                <a:r>
                  <a:rPr lang="el-GR" sz="2000" b="1" i="1" dirty="0">
                    <a:latin typeface="Times New Roman" pitchFamily="18" charset="0"/>
                    <a:cs typeface="Times New Roman" pitchFamily="18" charset="0"/>
                  </a:rPr>
                  <a:t>α</a:t>
                </a:r>
                <a:r>
                  <a:rPr lang="en-US" sz="2000" b="1" i="1" dirty="0">
                    <a:latin typeface="Times New Roman" pitchFamily="18" charset="0"/>
                    <a:cs typeface="Times New Roman" pitchFamily="18" charset="0"/>
                  </a:rPr>
                  <a:t> = ma + </a:t>
                </a:r>
                <a:r>
                  <a:rPr lang="el-GR" sz="2000" b="1" i="1" dirty="0">
                    <a:latin typeface="Times New Roman" pitchFamily="18" charset="0"/>
                    <a:cs typeface="Times New Roman" pitchFamily="18" charset="0"/>
                  </a:rPr>
                  <a:t>μ</a:t>
                </a:r>
                <a:r>
                  <a:rPr lang="en-US" sz="2000" b="1" i="1" dirty="0">
                    <a:latin typeface="Times New Roman" pitchFamily="18" charset="0"/>
                    <a:cs typeface="Times New Roman" pitchFamily="18" charset="0"/>
                  </a:rPr>
                  <a:t>N, N = mg - </a:t>
                </a:r>
                <a:r>
                  <a:rPr lang="en-US" sz="2000" b="1" i="1" dirty="0" err="1">
                    <a:latin typeface="Times New Roman" pitchFamily="18" charset="0"/>
                    <a:cs typeface="Times New Roman" pitchFamily="18" charset="0"/>
                  </a:rPr>
                  <a:t>Fsin</a:t>
                </a:r>
                <a:r>
                  <a:rPr lang="el-GR" sz="2000" b="1" i="1" dirty="0">
                    <a:latin typeface="Times New Roman" pitchFamily="18" charset="0"/>
                    <a:cs typeface="Times New Roman" pitchFamily="18" charset="0"/>
                  </a:rPr>
                  <a:t>α</a:t>
                </a:r>
                <a:r>
                  <a:rPr lang="en-US" sz="2000" b="1" i="1" dirty="0">
                    <a:latin typeface="Times New Roman" pitchFamily="18" charset="0"/>
                    <a:cs typeface="Times New Roman" pitchFamily="18" charset="0"/>
                  </a:rPr>
                  <a:t> </a:t>
                </a:r>
              </a:p>
              <a:p>
                <a:pPr>
                  <a:defRPr/>
                </a:pPr>
                <a:r>
                  <a:rPr lang="en-US" sz="2000" b="1" i="1" dirty="0" err="1">
                    <a:latin typeface="Times New Roman" pitchFamily="18" charset="0"/>
                    <a:cs typeface="Times New Roman" pitchFamily="18" charset="0"/>
                  </a:rPr>
                  <a:t>Fcos</a:t>
                </a:r>
                <a:r>
                  <a:rPr lang="el-GR" sz="2000" b="1" i="1" dirty="0">
                    <a:latin typeface="Times New Roman" pitchFamily="18" charset="0"/>
                    <a:cs typeface="Times New Roman" pitchFamily="18" charset="0"/>
                  </a:rPr>
                  <a:t>α</a:t>
                </a:r>
                <a:r>
                  <a:rPr lang="en-US" sz="2000" b="1" i="1" dirty="0">
                    <a:latin typeface="Times New Roman" pitchFamily="18" charset="0"/>
                    <a:cs typeface="Times New Roman" pitchFamily="18" charset="0"/>
                  </a:rPr>
                  <a:t> – </a:t>
                </a:r>
                <a:r>
                  <a:rPr lang="el-GR" sz="2000" b="1" i="1" dirty="0">
                    <a:latin typeface="Times New Roman" pitchFamily="18" charset="0"/>
                    <a:cs typeface="Times New Roman" pitchFamily="18" charset="0"/>
                  </a:rPr>
                  <a:t>μ</a:t>
                </a:r>
                <a:r>
                  <a:rPr lang="en-US" sz="2000" b="1" i="1" dirty="0">
                    <a:latin typeface="Times New Roman" pitchFamily="18" charset="0"/>
                    <a:cs typeface="Times New Roman" pitchFamily="18" charset="0"/>
                  </a:rPr>
                  <a:t>(mg - </a:t>
                </a:r>
                <a:r>
                  <a:rPr lang="en-US" sz="2000" b="1" i="1" dirty="0" err="1">
                    <a:latin typeface="Times New Roman" pitchFamily="18" charset="0"/>
                    <a:cs typeface="Times New Roman" pitchFamily="18" charset="0"/>
                  </a:rPr>
                  <a:t>Fsin</a:t>
                </a:r>
                <a:r>
                  <a:rPr lang="el-GR" sz="2000" b="1" i="1" dirty="0">
                    <a:latin typeface="Times New Roman" pitchFamily="18" charset="0"/>
                    <a:cs typeface="Times New Roman" pitchFamily="18" charset="0"/>
                  </a:rPr>
                  <a:t>α</a:t>
                </a:r>
                <a:r>
                  <a:rPr lang="en-US" sz="2000" b="1" i="1" dirty="0">
                    <a:latin typeface="Times New Roman" pitchFamily="18" charset="0"/>
                    <a:cs typeface="Times New Roman" pitchFamily="18" charset="0"/>
                  </a:rPr>
                  <a:t>) = ma </a:t>
                </a:r>
                <a14:m>
                  <m:oMath xmlns:m="http://schemas.openxmlformats.org/officeDocument/2006/math">
                    <m:r>
                      <a:rPr lang="en-US" sz="2000" b="1" i="1">
                        <a:latin typeface="Cambria Math"/>
                        <a:ea typeface="Cambria Math"/>
                        <a:cs typeface="Times New Roman" pitchFamily="18" charset="0"/>
                      </a:rPr>
                      <m:t>→</m:t>
                    </m:r>
                  </m:oMath>
                </a14:m>
                <a:r>
                  <a:rPr lang="en-US" sz="2000" b="1" dirty="0"/>
                  <a:t> </a:t>
                </a:r>
                <a:r>
                  <a:rPr lang="en-US" sz="2000" b="1" i="1" dirty="0"/>
                  <a:t>a </a:t>
                </a:r>
                <a:r>
                  <a:rPr lang="en-US" i="1" dirty="0"/>
                  <a:t>= </a:t>
                </a:r>
              </a:p>
            </p:txBody>
          </p:sp>
        </mc:Choice>
        <mc:Fallback xmlns="">
          <p:sp>
            <p:nvSpPr>
              <p:cNvPr id="7" name="Notes Placeholder 4"/>
              <p:cNvSpPr txBox="1">
                <a:spLocks noRot="1" noChangeAspect="1" noMove="1" noResize="1" noEditPoints="1" noAdjustHandles="1" noChangeArrowheads="1" noChangeShapeType="1" noTextEdit="1"/>
              </p:cNvSpPr>
              <p:nvPr/>
            </p:nvSpPr>
            <p:spPr>
              <a:xfrm>
                <a:off x="685800" y="4395835"/>
                <a:ext cx="5562600" cy="2209800"/>
              </a:xfrm>
              <a:prstGeom prst="wedgeEllipseCallout">
                <a:avLst/>
              </a:prstGeom>
              <a:blipFill rotWithShape="1">
                <a:blip r:embed="rId4"/>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05C84F86-F055-974F-A48D-6200128198ED}"/>
              </a:ext>
            </a:extLst>
          </p:cNvPr>
          <p:cNvSpPr>
            <a:spLocks noGrp="1"/>
          </p:cNvSpPr>
          <p:nvPr>
            <p:ph type="ftr" sz="quarter" idx="11"/>
          </p:nvPr>
        </p:nvSpPr>
        <p:spPr/>
        <p:txBody>
          <a:bodyPr/>
          <a:lstStyle/>
          <a:p>
            <a:pPr>
              <a:defRPr/>
            </a:pPr>
            <a:r>
              <a:rPr lang="en-US"/>
              <a:t>Bùi Quốc Trung - VLDC</a:t>
            </a:r>
          </a:p>
        </p:txBody>
      </p:sp>
      <p:sp>
        <p:nvSpPr>
          <p:cNvPr id="6" name="Slide Number Placeholder 5">
            <a:extLst>
              <a:ext uri="{FF2B5EF4-FFF2-40B4-BE49-F238E27FC236}">
                <a16:creationId xmlns:a16="http://schemas.microsoft.com/office/drawing/2014/main" id="{A57289A3-559A-4704-B91A-2ADEBE32515E}"/>
              </a:ext>
            </a:extLst>
          </p:cNvPr>
          <p:cNvSpPr>
            <a:spLocks noGrp="1"/>
          </p:cNvSpPr>
          <p:nvPr>
            <p:ph type="sldNum" sz="quarter" idx="12"/>
          </p:nvPr>
        </p:nvSpPr>
        <p:spPr/>
        <p:txBody>
          <a:bodyPr/>
          <a:lstStyle/>
          <a:p>
            <a:pPr>
              <a:defRPr/>
            </a:pPr>
            <a:fld id="{76921531-3DE4-4FE6-8586-93C8C3054BFB}" type="slidenum">
              <a:rPr lang="en-US" smtClean="0"/>
              <a:pPr>
                <a:defRPr/>
              </a:pPr>
              <a:t>30</a:t>
            </a:fld>
            <a:endParaRPr lang="en-US" dirty="0"/>
          </a:p>
        </p:txBody>
      </p:sp>
      <p:cxnSp>
        <p:nvCxnSpPr>
          <p:cNvPr id="9" name="Straight Arrow Connector 8">
            <a:extLst>
              <a:ext uri="{FF2B5EF4-FFF2-40B4-BE49-F238E27FC236}">
                <a16:creationId xmlns:a16="http://schemas.microsoft.com/office/drawing/2014/main" id="{CDE87AAF-5278-73B2-FECE-97829CFDDDC9}"/>
              </a:ext>
            </a:extLst>
          </p:cNvPr>
          <p:cNvCxnSpPr>
            <a:cxnSpLocks/>
          </p:cNvCxnSpPr>
          <p:nvPr/>
        </p:nvCxnSpPr>
        <p:spPr>
          <a:xfrm>
            <a:off x="7010400" y="4114800"/>
            <a:ext cx="685800"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12" name="Straight Arrow Connector 11">
            <a:extLst>
              <a:ext uri="{FF2B5EF4-FFF2-40B4-BE49-F238E27FC236}">
                <a16:creationId xmlns:a16="http://schemas.microsoft.com/office/drawing/2014/main" id="{81DE2F6F-B1CC-D385-1055-F0E463F0BD3B}"/>
              </a:ext>
            </a:extLst>
          </p:cNvPr>
          <p:cNvCxnSpPr>
            <a:cxnSpLocks/>
          </p:cNvCxnSpPr>
          <p:nvPr/>
        </p:nvCxnSpPr>
        <p:spPr>
          <a:xfrm flipV="1">
            <a:off x="6934200" y="3352800"/>
            <a:ext cx="0" cy="68580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E0C54AA9-BC8F-10FA-2A63-0A0737667CAC}"/>
                  </a:ext>
                </a:extLst>
              </p:cNvPr>
              <p:cNvSpPr/>
              <p:nvPr/>
            </p:nvSpPr>
            <p:spPr>
              <a:xfrm>
                <a:off x="7720361" y="3833019"/>
                <a:ext cx="381000" cy="563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i="1" smtClean="0">
                              <a:solidFill>
                                <a:schemeClr val="tx1"/>
                              </a:solidFill>
                              <a:latin typeface="Cambria Math" panose="02040503050406030204" pitchFamily="18" charset="0"/>
                            </a:rPr>
                          </m:ctrlPr>
                        </m:accPr>
                        <m:e>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𝑭</m:t>
                              </m:r>
                            </m:e>
                            <m:sub>
                              <m:r>
                                <a:rPr lang="en-US" b="1" i="1" smtClean="0">
                                  <a:solidFill>
                                    <a:schemeClr val="tx1"/>
                                  </a:solidFill>
                                  <a:latin typeface="Cambria Math" panose="02040503050406030204" pitchFamily="18" charset="0"/>
                                </a:rPr>
                                <m:t>𝟏</m:t>
                              </m:r>
                            </m:sub>
                          </m:sSub>
                        </m:e>
                      </m:acc>
                    </m:oMath>
                  </m:oMathPara>
                </a14:m>
                <a:endParaRPr lang="en-US" dirty="0"/>
              </a:p>
            </p:txBody>
          </p:sp>
        </mc:Choice>
        <mc:Fallback xmlns="">
          <p:sp>
            <p:nvSpPr>
              <p:cNvPr id="14" name="Rectangle 13">
                <a:extLst>
                  <a:ext uri="{FF2B5EF4-FFF2-40B4-BE49-F238E27FC236}">
                    <a16:creationId xmlns:a16="http://schemas.microsoft.com/office/drawing/2014/main" id="{E0C54AA9-BC8F-10FA-2A63-0A0737667CAC}"/>
                  </a:ext>
                </a:extLst>
              </p:cNvPr>
              <p:cNvSpPr>
                <a:spLocks noRot="1" noChangeAspect="1" noMove="1" noResize="1" noEditPoints="1" noAdjustHandles="1" noChangeArrowheads="1" noChangeShapeType="1" noTextEdit="1"/>
              </p:cNvSpPr>
              <p:nvPr/>
            </p:nvSpPr>
            <p:spPr>
              <a:xfrm>
                <a:off x="7720361" y="3833019"/>
                <a:ext cx="381000" cy="563562"/>
              </a:xfrm>
              <a:prstGeom prst="rect">
                <a:avLst/>
              </a:prstGeom>
              <a:blipFill>
                <a:blip r:embed="rId5"/>
                <a:stretch>
                  <a:fillRect l="-1111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51EB991D-5D3D-E029-119B-40DB69C7D216}"/>
                  </a:ext>
                </a:extLst>
              </p:cNvPr>
              <p:cNvSpPr/>
              <p:nvPr/>
            </p:nvSpPr>
            <p:spPr>
              <a:xfrm>
                <a:off x="6910039" y="2938415"/>
                <a:ext cx="381000" cy="563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i="1" smtClean="0">
                              <a:solidFill>
                                <a:schemeClr val="tx1"/>
                              </a:solidFill>
                              <a:latin typeface="Cambria Math" panose="02040503050406030204" pitchFamily="18" charset="0"/>
                            </a:rPr>
                          </m:ctrlPr>
                        </m:accPr>
                        <m:e>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𝑭</m:t>
                              </m:r>
                            </m:e>
                            <m:sub>
                              <m:r>
                                <a:rPr lang="en-US" b="1" i="1" smtClean="0">
                                  <a:solidFill>
                                    <a:schemeClr val="tx1"/>
                                  </a:solidFill>
                                  <a:latin typeface="Cambria Math" panose="02040503050406030204" pitchFamily="18" charset="0"/>
                                </a:rPr>
                                <m:t>𝟐</m:t>
                              </m:r>
                            </m:sub>
                          </m:sSub>
                        </m:e>
                      </m:acc>
                    </m:oMath>
                  </m:oMathPara>
                </a14:m>
                <a:endParaRPr lang="en-US" dirty="0"/>
              </a:p>
            </p:txBody>
          </p:sp>
        </mc:Choice>
        <mc:Fallback xmlns="">
          <p:sp>
            <p:nvSpPr>
              <p:cNvPr id="15" name="Rectangle 14">
                <a:extLst>
                  <a:ext uri="{FF2B5EF4-FFF2-40B4-BE49-F238E27FC236}">
                    <a16:creationId xmlns:a16="http://schemas.microsoft.com/office/drawing/2014/main" id="{51EB991D-5D3D-E029-119B-40DB69C7D216}"/>
                  </a:ext>
                </a:extLst>
              </p:cNvPr>
              <p:cNvSpPr>
                <a:spLocks noRot="1" noChangeAspect="1" noMove="1" noResize="1" noEditPoints="1" noAdjustHandles="1" noChangeArrowheads="1" noChangeShapeType="1" noTextEdit="1"/>
              </p:cNvSpPr>
              <p:nvPr/>
            </p:nvSpPr>
            <p:spPr>
              <a:xfrm>
                <a:off x="6910039" y="2938415"/>
                <a:ext cx="381000" cy="563562"/>
              </a:xfrm>
              <a:prstGeom prst="rect">
                <a:avLst/>
              </a:prstGeom>
              <a:blipFill>
                <a:blip r:embed="rId6"/>
                <a:stretch>
                  <a:fillRect l="-1290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994023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heel(1)">
                                      <p:cBhvr>
                                        <p:cTn id="10" dur="20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heel(1)">
                                      <p:cBhvr>
                                        <p:cTn id="15" dur="2000"/>
                                        <p:tgtEl>
                                          <p:spTgt spid="12"/>
                                        </p:tgtEl>
                                      </p:cBhvr>
                                    </p:animEffect>
                                  </p:childTnLst>
                                </p:cTn>
                              </p:par>
                              <p:par>
                                <p:cTn id="16" presetID="21" presetClass="entr" presetSubtype="1"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heel(1)">
                                      <p:cBhvr>
                                        <p:cTn id="18" dur="20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circle(in)">
                                      <p:cBhvr>
                                        <p:cTn id="23" dur="20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mph" presetSubtype="0" fill="hold" nodeType="clickEffect">
                                  <p:stCondLst>
                                    <p:cond delay="0"/>
                                  </p:stCondLst>
                                  <p:iterate type="lt">
                                    <p:tmPct val="4000"/>
                                  </p:iterate>
                                  <p:childTnLst>
                                    <p:set>
                                      <p:cBhvr override="childStyle">
                                        <p:cTn id="27" dur="500" fill="hold"/>
                                        <p:tgtEl>
                                          <p:spTgt spid="3">
                                            <p:txEl>
                                              <p:pRg st="1" end="1"/>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marL="0" indent="0">
              <a:buNone/>
            </a:pPr>
            <a:r>
              <a:rPr lang="en-US" dirty="0" err="1"/>
              <a:t>Một</a:t>
            </a:r>
            <a:r>
              <a:rPr lang="en-US" dirty="0"/>
              <a:t> </a:t>
            </a:r>
            <a:r>
              <a:rPr lang="en-US" dirty="0" err="1"/>
              <a:t>vật</a:t>
            </a:r>
            <a:r>
              <a:rPr lang="en-US" dirty="0"/>
              <a:t> </a:t>
            </a:r>
            <a:r>
              <a:rPr lang="en-US" dirty="0" err="1"/>
              <a:t>trọng</a:t>
            </a:r>
            <a:r>
              <a:rPr lang="en-US" dirty="0"/>
              <a:t> </a:t>
            </a:r>
            <a:r>
              <a:rPr lang="en-US" dirty="0" err="1"/>
              <a:t>lượng</a:t>
            </a:r>
            <a:r>
              <a:rPr lang="en-US" dirty="0"/>
              <a:t> 80N </a:t>
            </a:r>
            <a:r>
              <a:rPr lang="en-US" dirty="0" err="1"/>
              <a:t>nằm</a:t>
            </a:r>
            <a:r>
              <a:rPr lang="en-US" dirty="0"/>
              <a:t> </a:t>
            </a:r>
            <a:r>
              <a:rPr lang="en-US" dirty="0" err="1"/>
              <a:t>yên</a:t>
            </a:r>
            <a:r>
              <a:rPr lang="en-US" dirty="0"/>
              <a:t> </a:t>
            </a:r>
            <a:r>
              <a:rPr lang="en-US" dirty="0" err="1"/>
              <a:t>trên</a:t>
            </a:r>
            <a:r>
              <a:rPr lang="en-US" dirty="0"/>
              <a:t> </a:t>
            </a:r>
            <a:r>
              <a:rPr lang="en-US" dirty="0" err="1"/>
              <a:t>mặt</a:t>
            </a:r>
            <a:r>
              <a:rPr lang="en-US" dirty="0"/>
              <a:t> </a:t>
            </a:r>
            <a:r>
              <a:rPr lang="en-US" dirty="0" err="1"/>
              <a:t>phẳng</a:t>
            </a:r>
            <a:r>
              <a:rPr lang="en-US" dirty="0"/>
              <a:t> </a:t>
            </a:r>
            <a:r>
              <a:rPr lang="en-US" dirty="0" err="1"/>
              <a:t>nghiêng</a:t>
            </a:r>
            <a:r>
              <a:rPr lang="en-US" dirty="0"/>
              <a:t> 20° so </a:t>
            </a:r>
            <a:r>
              <a:rPr lang="en-US" dirty="0" err="1"/>
              <a:t>với</a:t>
            </a:r>
            <a:r>
              <a:rPr lang="en-US" dirty="0"/>
              <a:t> </a:t>
            </a:r>
            <a:r>
              <a:rPr lang="en-US" dirty="0" err="1"/>
              <a:t>mặt</a:t>
            </a:r>
            <a:r>
              <a:rPr lang="en-US" dirty="0"/>
              <a:t> </a:t>
            </a:r>
            <a:r>
              <a:rPr lang="en-US" dirty="0" err="1"/>
              <a:t>phẳng</a:t>
            </a:r>
            <a:r>
              <a:rPr lang="en-US" dirty="0"/>
              <a:t> </a:t>
            </a:r>
            <a:r>
              <a:rPr lang="en-US" dirty="0" err="1"/>
              <a:t>ngang</a:t>
            </a:r>
            <a:r>
              <a:rPr lang="en-US" dirty="0"/>
              <a:t>, </a:t>
            </a:r>
            <a:r>
              <a:rPr lang="en-US" dirty="0" err="1"/>
              <a:t>hệ</a:t>
            </a:r>
            <a:r>
              <a:rPr lang="en-US" dirty="0"/>
              <a:t> </a:t>
            </a:r>
            <a:r>
              <a:rPr lang="en-US" dirty="0" err="1"/>
              <a:t>số</a:t>
            </a:r>
            <a:r>
              <a:rPr lang="en-US" dirty="0"/>
              <a:t> ma </a:t>
            </a:r>
            <a:r>
              <a:rPr lang="en-US" dirty="0" err="1"/>
              <a:t>sát</a:t>
            </a:r>
            <a:r>
              <a:rPr lang="en-US" dirty="0"/>
              <a:t> </a:t>
            </a:r>
            <a:r>
              <a:rPr lang="en-US" dirty="0" err="1"/>
              <a:t>trượt</a:t>
            </a:r>
            <a:r>
              <a:rPr lang="en-US" dirty="0"/>
              <a:t> </a:t>
            </a:r>
            <a:r>
              <a:rPr lang="en-US" dirty="0" err="1"/>
              <a:t>là</a:t>
            </a:r>
            <a:r>
              <a:rPr lang="en-US" dirty="0"/>
              <a:t> 0,15. </a:t>
            </a:r>
            <a:r>
              <a:rPr lang="en-US" dirty="0" err="1"/>
              <a:t>Hỏi</a:t>
            </a:r>
            <a:r>
              <a:rPr lang="en-US" dirty="0"/>
              <a:t> </a:t>
            </a:r>
            <a:r>
              <a:rPr lang="en-US" dirty="0" err="1"/>
              <a:t>độ</a:t>
            </a:r>
            <a:r>
              <a:rPr lang="en-US" dirty="0"/>
              <a:t> </a:t>
            </a:r>
            <a:r>
              <a:rPr lang="en-US" dirty="0" err="1"/>
              <a:t>lớn</a:t>
            </a:r>
            <a:r>
              <a:rPr lang="en-US" dirty="0"/>
              <a:t> </a:t>
            </a:r>
            <a:r>
              <a:rPr lang="en-US" dirty="0" err="1"/>
              <a:t>tối</a:t>
            </a:r>
            <a:r>
              <a:rPr lang="en-US" dirty="0"/>
              <a:t> </a:t>
            </a:r>
            <a:r>
              <a:rPr lang="en-US" dirty="0" err="1"/>
              <a:t>thiểu</a:t>
            </a:r>
            <a:r>
              <a:rPr lang="en-US" dirty="0"/>
              <a:t> </a:t>
            </a:r>
            <a:r>
              <a:rPr lang="en-US" dirty="0" err="1"/>
              <a:t>lực</a:t>
            </a:r>
            <a:r>
              <a:rPr lang="en-US" dirty="0"/>
              <a:t> </a:t>
            </a:r>
            <a:r>
              <a:rPr lang="en-US" dirty="0" err="1"/>
              <a:t>kéo</a:t>
            </a:r>
            <a:r>
              <a:rPr lang="en-US" dirty="0"/>
              <a:t> </a:t>
            </a:r>
            <a:r>
              <a:rPr lang="en-US" dirty="0" err="1"/>
              <a:t>là</a:t>
            </a:r>
            <a:r>
              <a:rPr lang="en-US" dirty="0"/>
              <a:t> bao </a:t>
            </a:r>
            <a:r>
              <a:rPr lang="en-US" dirty="0" err="1"/>
              <a:t>nhiêu</a:t>
            </a:r>
            <a:r>
              <a:rPr lang="en-US" dirty="0"/>
              <a:t> </a:t>
            </a:r>
            <a:r>
              <a:rPr lang="en-US" dirty="0" err="1"/>
              <a:t>để</a:t>
            </a:r>
            <a:r>
              <a:rPr lang="en-US" dirty="0"/>
              <a:t> </a:t>
            </a:r>
            <a:r>
              <a:rPr lang="en-US" dirty="0" err="1"/>
              <a:t>vật</a:t>
            </a:r>
            <a:r>
              <a:rPr lang="en-US" dirty="0"/>
              <a:t> </a:t>
            </a:r>
            <a:r>
              <a:rPr lang="en-US" dirty="0" err="1"/>
              <a:t>bắt</a:t>
            </a:r>
            <a:r>
              <a:rPr lang="en-US" dirty="0"/>
              <a:t> </a:t>
            </a:r>
            <a:r>
              <a:rPr lang="en-US" dirty="0" err="1"/>
              <a:t>đầu</a:t>
            </a:r>
            <a:r>
              <a:rPr lang="en-US" dirty="0"/>
              <a:t> </a:t>
            </a:r>
            <a:r>
              <a:rPr lang="en-US" dirty="0" err="1"/>
              <a:t>chuyển</a:t>
            </a:r>
            <a:r>
              <a:rPr lang="en-US" dirty="0"/>
              <a:t> </a:t>
            </a:r>
            <a:r>
              <a:rPr lang="en-US" dirty="0" err="1"/>
              <a:t>động</a:t>
            </a:r>
            <a:r>
              <a:rPr lang="en-US" dirty="0"/>
              <a:t> </a:t>
            </a:r>
            <a:r>
              <a:rPr lang="en-US" dirty="0" err="1"/>
              <a:t>lên</a:t>
            </a:r>
            <a:r>
              <a:rPr lang="en-US" dirty="0"/>
              <a:t> </a:t>
            </a:r>
            <a:r>
              <a:rPr lang="en-US" dirty="0" err="1"/>
              <a:t>mặt</a:t>
            </a:r>
            <a:r>
              <a:rPr lang="en-US" dirty="0"/>
              <a:t> </a:t>
            </a:r>
            <a:r>
              <a:rPr lang="en-US" dirty="0" err="1"/>
              <a:t>phẳng</a:t>
            </a:r>
            <a:r>
              <a:rPr lang="en-US" dirty="0"/>
              <a:t> </a:t>
            </a:r>
            <a:r>
              <a:rPr lang="en-US" dirty="0" err="1"/>
              <a:t>nghiêng</a:t>
            </a:r>
            <a:r>
              <a:rPr lang="en-US" dirty="0"/>
              <a:t>?</a:t>
            </a:r>
          </a:p>
          <a:p>
            <a:pPr marL="0" indent="0">
              <a:buNone/>
            </a:pPr>
            <a:r>
              <a:rPr lang="en-US" dirty="0"/>
              <a:t>A. 20N</a:t>
            </a:r>
          </a:p>
          <a:p>
            <a:pPr marL="0" indent="0">
              <a:buNone/>
            </a:pPr>
            <a:r>
              <a:rPr lang="en-US" dirty="0"/>
              <a:t>B. 38,6N</a:t>
            </a:r>
          </a:p>
          <a:p>
            <a:pPr marL="0" indent="0">
              <a:buNone/>
            </a:pPr>
            <a:r>
              <a:rPr lang="en-US" dirty="0"/>
              <a:t>C. 40,37N</a:t>
            </a:r>
          </a:p>
          <a:p>
            <a:pPr marL="0" indent="0">
              <a:buNone/>
            </a:pPr>
            <a:r>
              <a:rPr lang="en-US" dirty="0"/>
              <a:t>D. 46,15N</a:t>
            </a:r>
          </a:p>
        </p:txBody>
      </p:sp>
      <mc:AlternateContent xmlns:mc="http://schemas.openxmlformats.org/markup-compatibility/2006" xmlns:a14="http://schemas.microsoft.com/office/drawing/2010/main">
        <mc:Choice Requires="a14">
          <p:sp>
            <p:nvSpPr>
              <p:cNvPr id="7" name="Notes Placeholder 4"/>
              <p:cNvSpPr txBox="1">
                <a:spLocks/>
              </p:cNvSpPr>
              <p:nvPr/>
            </p:nvSpPr>
            <p:spPr>
              <a:xfrm>
                <a:off x="2057400" y="5029200"/>
                <a:ext cx="5715000" cy="1676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14:m>
                  <m:oMath xmlns:m="http://schemas.openxmlformats.org/officeDocument/2006/math">
                    <m:acc>
                      <m:accPr>
                        <m:chr m:val="⃗"/>
                        <m:ctrlPr>
                          <a:rPr lang="en-US" i="1" smtClean="0">
                            <a:latin typeface="Cambria Math" panose="02040503050406030204" pitchFamily="18" charset="0"/>
                          </a:rPr>
                        </m:ctrlPr>
                      </m:accPr>
                      <m:e>
                        <m:r>
                          <a:rPr lang="en-US" i="1">
                            <a:latin typeface="Cambria Math"/>
                          </a:rPr>
                          <m:t>𝐹</m:t>
                        </m:r>
                      </m:e>
                    </m:acc>
                  </m:oMath>
                </a14:m>
                <a:r>
                  <a:rPr lang="en-US" dirty="0"/>
                  <a:t> +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𝑁</m:t>
                        </m:r>
                      </m:e>
                    </m:acc>
                    <m:r>
                      <a:rPr lang="en-US" i="1">
                        <a:latin typeface="Cambria Math"/>
                      </a:rPr>
                      <m:t>+ </m:t>
                    </m:r>
                    <m:acc>
                      <m:accPr>
                        <m:chr m:val="⃗"/>
                        <m:ctrlPr>
                          <a:rPr lang="en-US" i="1">
                            <a:latin typeface="Cambria Math" panose="02040503050406030204" pitchFamily="18" charset="0"/>
                          </a:rPr>
                        </m:ctrlPr>
                      </m:accPr>
                      <m:e>
                        <m:r>
                          <a:rPr lang="en-US" i="1">
                            <a:latin typeface="Cambria Math"/>
                          </a:rPr>
                          <m:t>𝐹𝑚𝑠</m:t>
                        </m:r>
                      </m:e>
                    </m:acc>
                  </m:oMath>
                </a14:m>
                <a:r>
                  <a:rPr lang="en-US" dirty="0"/>
                  <a:t>  +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𝑃</m:t>
                        </m:r>
                      </m:e>
                    </m:acc>
                  </m:oMath>
                </a14:m>
                <a:r>
                  <a:rPr lang="en-US" dirty="0"/>
                  <a:t> = m</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𝑎</m:t>
                        </m:r>
                      </m:e>
                    </m:acc>
                  </m:oMath>
                </a14:m>
                <a:endParaRPr lang="en-US" dirty="0"/>
              </a:p>
              <a:p>
                <a:r>
                  <a:rPr lang="en-US" dirty="0"/>
                  <a:t>Ox: F - </a:t>
                </a:r>
                <a:r>
                  <a:rPr lang="en-US" dirty="0" err="1"/>
                  <a:t>mgsin</a:t>
                </a:r>
                <a:r>
                  <a:rPr lang="el-GR" dirty="0"/>
                  <a:t>θ</a:t>
                </a:r>
                <a:r>
                  <a:rPr lang="en-US" dirty="0"/>
                  <a:t> - </a:t>
                </a:r>
                <a:r>
                  <a:rPr lang="en-US" dirty="0" err="1"/>
                  <a:t>Fms</a:t>
                </a:r>
                <a:r>
                  <a:rPr lang="en-US" dirty="0"/>
                  <a:t> = ma = 0; </a:t>
                </a:r>
                <a:r>
                  <a:rPr lang="en-US" dirty="0" err="1"/>
                  <a:t>Oy</a:t>
                </a:r>
                <a:r>
                  <a:rPr lang="en-US" dirty="0"/>
                  <a:t>: N = </a:t>
                </a:r>
                <a:r>
                  <a:rPr lang="en-US" dirty="0" err="1"/>
                  <a:t>mgcos</a:t>
                </a:r>
                <a14:m>
                  <m:oMath xmlns:m="http://schemas.openxmlformats.org/officeDocument/2006/math">
                    <m:r>
                      <a:rPr lang="en-US" i="1" smtClean="0">
                        <a:latin typeface="Cambria Math"/>
                        <a:ea typeface="Cambria Math"/>
                      </a:rPr>
                      <m:t>𝜃</m:t>
                    </m:r>
                  </m:oMath>
                </a14:m>
                <a:endParaRPr lang="en-US" dirty="0"/>
              </a:p>
              <a:p>
                <a:pPr marL="285750" indent="-285750">
                  <a:buFont typeface="Arial" pitchFamily="34" charset="0"/>
                  <a:buChar char="•"/>
                </a:pPr>
                <a:r>
                  <a:rPr lang="en-US" b="1" dirty="0"/>
                  <a:t>F =  </a:t>
                </a:r>
                <a:r>
                  <a:rPr lang="en-US" b="1" dirty="0" err="1"/>
                  <a:t>mgsin</a:t>
                </a:r>
                <a:r>
                  <a:rPr lang="el-GR" b="1" dirty="0"/>
                  <a:t>θ</a:t>
                </a:r>
                <a:r>
                  <a:rPr lang="en-US" b="1" dirty="0"/>
                  <a:t> + </a:t>
                </a:r>
                <a:r>
                  <a:rPr lang="el-GR" b="1" dirty="0"/>
                  <a:t>μ</a:t>
                </a:r>
                <a:r>
                  <a:rPr lang="en-US" b="1" dirty="0" err="1"/>
                  <a:t>mgcos</a:t>
                </a:r>
                <a:r>
                  <a:rPr lang="el-GR" b="1" dirty="0"/>
                  <a:t>θ</a:t>
                </a:r>
                <a:r>
                  <a:rPr lang="en-US" b="1" dirty="0"/>
                  <a:t> </a:t>
                </a:r>
                <a:r>
                  <a:rPr lang="en-US" dirty="0"/>
                  <a:t>= mg(sin</a:t>
                </a:r>
                <a:r>
                  <a:rPr lang="el-GR" dirty="0"/>
                  <a:t>θ</a:t>
                </a:r>
                <a:r>
                  <a:rPr lang="en-US" dirty="0"/>
                  <a:t> + </a:t>
                </a:r>
                <a:r>
                  <a:rPr lang="el-GR" dirty="0"/>
                  <a:t>μ</a:t>
                </a:r>
                <a:r>
                  <a:rPr lang="en-US" dirty="0" err="1"/>
                  <a:t>cos</a:t>
                </a:r>
                <a:r>
                  <a:rPr lang="el-GR" dirty="0"/>
                  <a:t>θ</a:t>
                </a:r>
                <a:r>
                  <a:rPr lang="en-US" dirty="0"/>
                  <a:t> )</a:t>
                </a:r>
              </a:p>
              <a:p>
                <a:pPr marL="285750" indent="-285750">
                  <a:buFont typeface="Arial" pitchFamily="34" charset="0"/>
                  <a:buChar char="•"/>
                </a:pPr>
                <a:r>
                  <a:rPr lang="en-US" b="1" dirty="0"/>
                  <a:t> </a:t>
                </a:r>
                <a:r>
                  <a:rPr lang="en-US" dirty="0" err="1"/>
                  <a:t>vật</a:t>
                </a:r>
                <a:r>
                  <a:rPr lang="en-US" dirty="0"/>
                  <a:t> </a:t>
                </a:r>
                <a:r>
                  <a:rPr lang="en-US" dirty="0" err="1"/>
                  <a:t>đứng</a:t>
                </a:r>
                <a:r>
                  <a:rPr lang="en-US" dirty="0"/>
                  <a:t> </a:t>
                </a:r>
                <a:r>
                  <a:rPr lang="en-US" dirty="0" err="1"/>
                  <a:t>yên</a:t>
                </a:r>
                <a:r>
                  <a:rPr lang="en-US" dirty="0"/>
                  <a:t> </a:t>
                </a:r>
                <a:r>
                  <a:rPr lang="en-US" dirty="0" err="1"/>
                  <a:t>trên</a:t>
                </a:r>
                <a:r>
                  <a:rPr lang="en-US" dirty="0"/>
                  <a:t> mf </a:t>
                </a:r>
                <a:r>
                  <a:rPr lang="en-US" dirty="0" err="1"/>
                  <a:t>nghiêng</a:t>
                </a:r>
                <a:r>
                  <a:rPr lang="en-US" dirty="0"/>
                  <a:t>: </a:t>
                </a:r>
                <a:r>
                  <a:rPr lang="en-US" b="1" dirty="0"/>
                  <a:t>F =  </a:t>
                </a:r>
                <a:r>
                  <a:rPr lang="en-US" b="1" dirty="0" err="1"/>
                  <a:t>mgsin</a:t>
                </a:r>
                <a:r>
                  <a:rPr lang="el-GR" b="1" dirty="0"/>
                  <a:t>θ</a:t>
                </a:r>
                <a:r>
                  <a:rPr lang="en-US" b="1" dirty="0"/>
                  <a:t> + </a:t>
                </a:r>
                <a:r>
                  <a:rPr lang="el-GR" b="1" dirty="0"/>
                  <a:t>μ</a:t>
                </a:r>
                <a:r>
                  <a:rPr lang="en-US" b="1" dirty="0" err="1"/>
                  <a:t>mgcos</a:t>
                </a:r>
                <a:r>
                  <a:rPr lang="el-GR" b="1" dirty="0"/>
                  <a:t>θ</a:t>
                </a:r>
                <a:r>
                  <a:rPr lang="en-US" b="1" dirty="0"/>
                  <a:t> </a:t>
                </a:r>
                <a:endParaRPr lang="en-US" dirty="0"/>
              </a:p>
            </p:txBody>
          </p:sp>
        </mc:Choice>
        <mc:Fallback xmlns="">
          <p:sp>
            <p:nvSpPr>
              <p:cNvPr id="7" name="Notes Placeholder 4"/>
              <p:cNvSpPr txBox="1">
                <a:spLocks noRot="1" noChangeAspect="1" noMove="1" noResize="1" noEditPoints="1" noAdjustHandles="1" noChangeArrowheads="1" noChangeShapeType="1" noTextEdit="1"/>
              </p:cNvSpPr>
              <p:nvPr/>
            </p:nvSpPr>
            <p:spPr>
              <a:xfrm>
                <a:off x="2057400" y="5029200"/>
                <a:ext cx="5715000" cy="1676400"/>
              </a:xfrm>
              <a:prstGeom prst="rect">
                <a:avLst/>
              </a:prstGeom>
              <a:blipFill rotWithShape="1">
                <a:blip r:embed="rId4"/>
                <a:stretch>
                  <a:fillRect l="-744"/>
                </a:stretch>
              </a:blipFill>
            </p:spPr>
            <p:txBody>
              <a:bodyPr/>
              <a:lstStyle/>
              <a:p>
                <a:r>
                  <a:rPr lang="en-US">
                    <a:noFill/>
                  </a:rPr>
                  <a:t> </a:t>
                </a:r>
              </a:p>
            </p:txBody>
          </p:sp>
        </mc:Fallback>
      </mc:AlternateContent>
      <p:cxnSp>
        <p:nvCxnSpPr>
          <p:cNvPr id="6" name="Straight Arrow Connector 5"/>
          <p:cNvCxnSpPr/>
          <p:nvPr/>
        </p:nvCxnSpPr>
        <p:spPr>
          <a:xfrm flipH="1" flipV="1">
            <a:off x="7467600" y="2743200"/>
            <a:ext cx="914400" cy="50313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0793" y="2296185"/>
            <a:ext cx="4003589" cy="2835078"/>
          </a:xfrm>
          <a:prstGeom prst="rect">
            <a:avLst/>
          </a:prstGeom>
        </p:spPr>
      </p:pic>
      <mc:AlternateContent xmlns:mc="http://schemas.openxmlformats.org/markup-compatibility/2006" xmlns:a14="http://schemas.microsoft.com/office/drawing/2010/main">
        <mc:Choice Requires="a14">
          <p:sp>
            <p:nvSpPr>
              <p:cNvPr id="10" name="Rectangle 9"/>
              <p:cNvSpPr/>
              <p:nvPr/>
            </p:nvSpPr>
            <p:spPr>
              <a:xfrm>
                <a:off x="7630296" y="3599902"/>
                <a:ext cx="539262" cy="51435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𝐹</m:t>
                          </m:r>
                        </m:e>
                        <m:sub>
                          <m:r>
                            <a:rPr lang="en-US" b="0" i="1" smtClean="0">
                              <a:latin typeface="Cambria Math"/>
                            </a:rPr>
                            <m:t>𝑚𝑠</m:t>
                          </m:r>
                        </m:sub>
                      </m:sSub>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7630296" y="3599902"/>
                <a:ext cx="539262" cy="514351"/>
              </a:xfrm>
              <a:prstGeom prst="rect">
                <a:avLst/>
              </a:prstGeom>
              <a:blipFill rotWithShape="1">
                <a:blip r:embed="rId6"/>
                <a:stretch>
                  <a:fillRect l="-2273"/>
                </a:stretch>
              </a:blipFill>
              <a:ln>
                <a:noFill/>
              </a:ln>
            </p:spPr>
            <p:txBody>
              <a:bodyPr/>
              <a:lstStyle/>
              <a:p>
                <a:r>
                  <a:rPr lang="en-US">
                    <a:noFill/>
                  </a:rPr>
                  <a:t> </a:t>
                </a:r>
              </a:p>
            </p:txBody>
          </p:sp>
        </mc:Fallback>
      </mc:AlternateContent>
      <p:cxnSp>
        <p:nvCxnSpPr>
          <p:cNvPr id="11" name="Straight Arrow Connector 10"/>
          <p:cNvCxnSpPr/>
          <p:nvPr/>
        </p:nvCxnSpPr>
        <p:spPr>
          <a:xfrm>
            <a:off x="6717619" y="3542274"/>
            <a:ext cx="689939" cy="3429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flipH="1" flipV="1">
            <a:off x="7407558" y="2795001"/>
            <a:ext cx="7620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Rectangle 14"/>
              <p:cNvSpPr/>
              <p:nvPr/>
            </p:nvSpPr>
            <p:spPr>
              <a:xfrm>
                <a:off x="6128237" y="3016035"/>
                <a:ext cx="380999" cy="31993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𝐹</m:t>
                          </m:r>
                        </m:e>
                        <m:sub>
                          <m:r>
                            <a:rPr lang="en-US" b="0" i="1" smtClean="0">
                              <a:latin typeface="Cambria Math"/>
                            </a:rPr>
                            <m:t>𝑘</m:t>
                          </m:r>
                        </m:sub>
                      </m:sSub>
                    </m:oMath>
                  </m:oMathPara>
                </a14:m>
                <a:endParaRPr lang="en-US" dirty="0"/>
              </a:p>
            </p:txBody>
          </p:sp>
        </mc:Choice>
        <mc:Fallback xmlns="">
          <p:sp>
            <p:nvSpPr>
              <p:cNvPr id="15" name="Rectangle 14"/>
              <p:cNvSpPr>
                <a:spLocks noRot="1" noChangeAspect="1" noMove="1" noResize="1" noEditPoints="1" noAdjustHandles="1" noChangeArrowheads="1" noChangeShapeType="1" noTextEdit="1"/>
              </p:cNvSpPr>
              <p:nvPr/>
            </p:nvSpPr>
            <p:spPr>
              <a:xfrm>
                <a:off x="6128237" y="3016035"/>
                <a:ext cx="380999" cy="319931"/>
              </a:xfrm>
              <a:prstGeom prst="rect">
                <a:avLst/>
              </a:prstGeom>
              <a:blipFill rotWithShape="1">
                <a:blip r:embed="rId7"/>
                <a:stretch>
                  <a:fillRect l="-7937" b="-7692"/>
                </a:stretch>
              </a:blipFill>
              <a:ln>
                <a:noFill/>
              </a:ln>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7240D723-5F2B-AC2E-F7EE-3FC2C6E0D0FD}"/>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E49F45E6-2141-08FC-D943-846B580B455D}"/>
              </a:ext>
            </a:extLst>
          </p:cNvPr>
          <p:cNvSpPr>
            <a:spLocks noGrp="1"/>
          </p:cNvSpPr>
          <p:nvPr>
            <p:ph type="sldNum" sz="quarter" idx="12"/>
          </p:nvPr>
        </p:nvSpPr>
        <p:spPr/>
        <p:txBody>
          <a:bodyPr/>
          <a:lstStyle/>
          <a:p>
            <a:pPr>
              <a:defRPr/>
            </a:pPr>
            <a:fld id="{76921531-3DE4-4FE6-8586-93C8C3054BFB}" type="slidenum">
              <a:rPr lang="en-US" smtClean="0"/>
              <a:pPr>
                <a:defRPr/>
              </a:pPr>
              <a:t>31</a:t>
            </a:fld>
            <a:endParaRPr lang="en-US"/>
          </a:p>
        </p:txBody>
      </p:sp>
    </p:spTree>
    <p:extLst>
      <p:ext uri="{BB962C8B-B14F-4D97-AF65-F5344CB8AC3E}">
        <p14:creationId xmlns:p14="http://schemas.microsoft.com/office/powerpoint/2010/main" val="1590666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2" end="2"/>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anim calcmode="lin" valueType="num">
                                      <p:cBhvr>
                                        <p:cTn id="12" dur="1000" fill="hold"/>
                                        <p:tgtEl>
                                          <p:spTgt spid="7"/>
                                        </p:tgtEl>
                                        <p:attrNameLst>
                                          <p:attrName>ppt_x</p:attrName>
                                        </p:attrNameLst>
                                      </p:cBhvr>
                                      <p:tavLst>
                                        <p:tav tm="0">
                                          <p:val>
                                            <p:strVal val="#ppt_x"/>
                                          </p:val>
                                        </p:tav>
                                        <p:tav tm="100000">
                                          <p:val>
                                            <p:strVal val="#ppt_x"/>
                                          </p:val>
                                        </p:tav>
                                      </p:tavLst>
                                    </p:anim>
                                    <p:anim calcmode="lin" valueType="num">
                                      <p:cBhvr>
                                        <p:cTn id="1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prstTxWarp prst="textWave1">
              <a:avLst/>
            </a:prstTxWarp>
          </a:bodyPr>
          <a:lstStyle/>
          <a:p>
            <a:r>
              <a:rPr lang="en-US" dirty="0">
                <a:solidFill>
                  <a:srgbClr val="66FF66"/>
                </a:solidFill>
              </a:rPr>
              <a:t>ĐỘNG LƯỢNG</a:t>
            </a:r>
          </a:p>
        </p:txBody>
      </p:sp>
      <p:sp>
        <p:nvSpPr>
          <p:cNvPr id="4" name="Footer Placeholder 3"/>
          <p:cNvSpPr>
            <a:spLocks noGrp="1"/>
          </p:cNvSpPr>
          <p:nvPr>
            <p:ph type="ftr" sz="quarter" idx="11"/>
          </p:nvPr>
        </p:nvSpPr>
        <p:spPr/>
        <p:txBody>
          <a:bodyPr/>
          <a:lstStyle/>
          <a:p>
            <a:r>
              <a:rPr lang="en-US"/>
              <a:t>Bùi Quốc Trung - VLDC</a:t>
            </a:r>
          </a:p>
        </p:txBody>
      </p:sp>
      <p:sp>
        <p:nvSpPr>
          <p:cNvPr id="5" name="Slide Number Placeholder 4"/>
          <p:cNvSpPr>
            <a:spLocks noGrp="1"/>
          </p:cNvSpPr>
          <p:nvPr>
            <p:ph type="sldNum" sz="quarter" idx="12"/>
          </p:nvPr>
        </p:nvSpPr>
        <p:spPr/>
        <p:txBody>
          <a:bodyPr/>
          <a:lstStyle/>
          <a:p>
            <a:fld id="{C4A94DE9-7404-4CC4-BDD8-EA2E97866C70}" type="slidenum">
              <a:rPr lang="en-US" smtClean="0"/>
              <a:t>32</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7600" y="4038599"/>
            <a:ext cx="3238500" cy="2709765"/>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7780" y="1869798"/>
            <a:ext cx="4097480" cy="1483002"/>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399" y="1924356"/>
            <a:ext cx="2270187" cy="2571444"/>
          </a:xfrm>
          <a:prstGeom prst="rect">
            <a:avLst/>
          </a:prstGeom>
        </p:spPr>
      </p:pic>
    </p:spTree>
    <p:extLst>
      <p:ext uri="{BB962C8B-B14F-4D97-AF65-F5344CB8AC3E}">
        <p14:creationId xmlns:p14="http://schemas.microsoft.com/office/powerpoint/2010/main" val="1670028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
          <p:cNvGrpSpPr>
            <a:grpSpLocks/>
          </p:cNvGrpSpPr>
          <p:nvPr/>
        </p:nvGrpSpPr>
        <p:grpSpPr bwMode="auto">
          <a:xfrm>
            <a:off x="1676400" y="0"/>
            <a:ext cx="6019800" cy="685800"/>
            <a:chOff x="1310" y="1392"/>
            <a:chExt cx="4157" cy="432"/>
          </a:xfrm>
        </p:grpSpPr>
        <p:pic>
          <p:nvPicPr>
            <p:cNvPr id="29716"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415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1833" y="1449"/>
              <a:ext cx="3078"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ctr"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2.3. </a:t>
              </a:r>
              <a:r>
                <a:rPr lang="vi-VN" sz="2400" b="1">
                  <a:solidFill>
                    <a:srgbClr val="FF0000"/>
                  </a:solidFill>
                  <a:latin typeface="Times New Roman" pitchFamily="18" charset="0"/>
                  <a:cs typeface="Times New Roman" pitchFamily="18" charset="0"/>
                </a:rPr>
                <a:t>Động l</a:t>
              </a:r>
              <a:r>
                <a:rPr lang="en-US" sz="2400" b="1">
                  <a:solidFill>
                    <a:srgbClr val="FF0000"/>
                  </a:solidFill>
                  <a:latin typeface="Times New Roman" pitchFamily="18" charset="0"/>
                  <a:cs typeface="Times New Roman" pitchFamily="18" charset="0"/>
                </a:rPr>
                <a:t>ư</a:t>
              </a:r>
              <a:r>
                <a:rPr lang="vi-VN" sz="2400" b="1">
                  <a:solidFill>
                    <a:srgbClr val="FF0000"/>
                  </a:solidFill>
                  <a:latin typeface="Times New Roman" pitchFamily="18" charset="0"/>
                  <a:cs typeface="Times New Roman" pitchFamily="18" charset="0"/>
                </a:rPr>
                <a:t>ợng </a:t>
              </a:r>
              <a:endParaRPr lang="en-US" sz="2400" b="1">
                <a:solidFill>
                  <a:srgbClr val="FF0000"/>
                </a:solidFill>
                <a:latin typeface="Times New Roman" pitchFamily="18" charset="0"/>
                <a:cs typeface="Times New Roman" pitchFamily="18" charset="0"/>
              </a:endParaRPr>
            </a:p>
          </p:txBody>
        </p:sp>
      </p:grpSp>
      <p:graphicFrame>
        <p:nvGraphicFramePr>
          <p:cNvPr id="29699" name="Object 5"/>
          <p:cNvGraphicFramePr>
            <a:graphicFrameLocks noChangeAspect="1"/>
          </p:cNvGraphicFramePr>
          <p:nvPr/>
        </p:nvGraphicFramePr>
        <p:xfrm>
          <a:off x="-1246188" y="3465513"/>
          <a:ext cx="114300" cy="219075"/>
        </p:xfrm>
        <a:graphic>
          <a:graphicData uri="http://schemas.openxmlformats.org/presentationml/2006/ole">
            <mc:AlternateContent xmlns:mc="http://schemas.openxmlformats.org/markup-compatibility/2006">
              <mc:Choice xmlns:v="urn:schemas-microsoft-com:vml" Requires="v">
                <p:oleObj name="Equation" r:id="rId3" imgW="114151" imgH="215619" progId="Equation.3">
                  <p:embed/>
                </p:oleObj>
              </mc:Choice>
              <mc:Fallback>
                <p:oleObj name="Equation" r:id="rId3" imgW="114151" imgH="215619" progId="Equation.3">
                  <p:embed/>
                  <p:pic>
                    <p:nvPicPr>
                      <p:cNvPr id="0" name=""/>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246188" y="3465513"/>
                        <a:ext cx="114300"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p:cNvSpPr>
            <a:spLocks noChangeArrowheads="1"/>
          </p:cNvSpPr>
          <p:nvPr/>
        </p:nvSpPr>
        <p:spPr bwMode="auto">
          <a:xfrm>
            <a:off x="381000" y="838200"/>
            <a:ext cx="5667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2800" b="1">
                <a:solidFill>
                  <a:srgbClr val="090563"/>
                </a:solidFill>
                <a:latin typeface="Times New Roman" pitchFamily="18" charset="0"/>
                <a:cs typeface="Times New Roman" pitchFamily="18" charset="0"/>
              </a:rPr>
              <a:t>Thiết lập các định lý về động lượng</a:t>
            </a:r>
            <a:r>
              <a:rPr lang="en-US" sz="2800">
                <a:solidFill>
                  <a:srgbClr val="090563"/>
                </a:solidFill>
                <a:latin typeface="Times New Roman" pitchFamily="18" charset="0"/>
                <a:cs typeface="Times New Roman" pitchFamily="18" charset="0"/>
              </a:rPr>
              <a:t> </a:t>
            </a:r>
          </a:p>
        </p:txBody>
      </p:sp>
      <p:sp>
        <p:nvSpPr>
          <p:cNvPr id="8" name="Rectangle 9"/>
          <p:cNvSpPr>
            <a:spLocks noChangeArrowheads="1"/>
          </p:cNvSpPr>
          <p:nvPr/>
        </p:nvSpPr>
        <p:spPr bwMode="auto">
          <a:xfrm>
            <a:off x="533400" y="1462088"/>
            <a:ext cx="4419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sz="2800" b="1" dirty="0" err="1">
                <a:solidFill>
                  <a:srgbClr val="2125D5"/>
                </a:solidFill>
                <a:latin typeface="Times New Roman" pitchFamily="18" charset="0"/>
                <a:cs typeface="Times New Roman" pitchFamily="18" charset="0"/>
              </a:rPr>
              <a:t>Động</a:t>
            </a:r>
            <a:r>
              <a:rPr lang="en-US" sz="2800" b="1" dirty="0">
                <a:solidFill>
                  <a:srgbClr val="2125D5"/>
                </a:solidFill>
                <a:latin typeface="Times New Roman" pitchFamily="18" charset="0"/>
                <a:cs typeface="Times New Roman" pitchFamily="18" charset="0"/>
              </a:rPr>
              <a:t> </a:t>
            </a:r>
            <a:r>
              <a:rPr lang="en-US" sz="2800" b="1" dirty="0" err="1">
                <a:solidFill>
                  <a:srgbClr val="2125D5"/>
                </a:solidFill>
                <a:latin typeface="Times New Roman" pitchFamily="18" charset="0"/>
                <a:cs typeface="Times New Roman" pitchFamily="18" charset="0"/>
              </a:rPr>
              <a:t>lượng</a:t>
            </a:r>
            <a:r>
              <a:rPr lang="en-US" sz="2800" b="1" dirty="0">
                <a:solidFill>
                  <a:srgbClr val="2125D5"/>
                </a:solidFill>
                <a:latin typeface="Times New Roman" pitchFamily="18" charset="0"/>
                <a:cs typeface="Times New Roman" pitchFamily="18" charset="0"/>
              </a:rPr>
              <a:t> </a:t>
            </a:r>
            <a:r>
              <a:rPr lang="en-US" sz="2800" b="1" dirty="0" err="1">
                <a:solidFill>
                  <a:srgbClr val="2125D5"/>
                </a:solidFill>
                <a:latin typeface="Times New Roman" pitchFamily="18" charset="0"/>
                <a:cs typeface="Times New Roman" pitchFamily="18" charset="0"/>
              </a:rPr>
              <a:t>của</a:t>
            </a:r>
            <a:r>
              <a:rPr lang="en-US" sz="2800" b="1" dirty="0">
                <a:solidFill>
                  <a:srgbClr val="2125D5"/>
                </a:solidFill>
                <a:latin typeface="Times New Roman" pitchFamily="18" charset="0"/>
                <a:cs typeface="Times New Roman" pitchFamily="18" charset="0"/>
              </a:rPr>
              <a:t> </a:t>
            </a:r>
            <a:r>
              <a:rPr lang="en-US" sz="2800" b="1" dirty="0" err="1">
                <a:solidFill>
                  <a:srgbClr val="2125D5"/>
                </a:solidFill>
                <a:latin typeface="Times New Roman" pitchFamily="18" charset="0"/>
                <a:cs typeface="Times New Roman" pitchFamily="18" charset="0"/>
              </a:rPr>
              <a:t>chất</a:t>
            </a:r>
            <a:r>
              <a:rPr lang="en-US" sz="2800" b="1" dirty="0">
                <a:solidFill>
                  <a:srgbClr val="2125D5"/>
                </a:solidFill>
                <a:latin typeface="Times New Roman" pitchFamily="18" charset="0"/>
                <a:cs typeface="Times New Roman" pitchFamily="18" charset="0"/>
              </a:rPr>
              <a:t> </a:t>
            </a:r>
            <a:r>
              <a:rPr lang="en-US" sz="2800" b="1" dirty="0" err="1">
                <a:solidFill>
                  <a:srgbClr val="2125D5"/>
                </a:solidFill>
                <a:latin typeface="Times New Roman" pitchFamily="18" charset="0"/>
                <a:cs typeface="Times New Roman" pitchFamily="18" charset="0"/>
              </a:rPr>
              <a:t>điểm</a:t>
            </a:r>
            <a:r>
              <a:rPr lang="en-US" sz="2800" b="1" dirty="0">
                <a:solidFill>
                  <a:srgbClr val="2125D5"/>
                </a:solidFill>
                <a:latin typeface="Times New Roman" pitchFamily="18" charset="0"/>
                <a:cs typeface="Times New Roman" pitchFamily="18" charset="0"/>
              </a:rPr>
              <a:t>:</a:t>
            </a:r>
          </a:p>
        </p:txBody>
      </p:sp>
      <p:sp>
        <p:nvSpPr>
          <p:cNvPr id="14" name="Rectangle 8"/>
          <p:cNvSpPr>
            <a:spLocks noChangeArrowheads="1"/>
          </p:cNvSpPr>
          <p:nvPr/>
        </p:nvSpPr>
        <p:spPr bwMode="auto">
          <a:xfrm>
            <a:off x="228600" y="2219325"/>
            <a:ext cx="2133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sz="2800">
                <a:solidFill>
                  <a:srgbClr val="FF0000"/>
                </a:solidFill>
                <a:latin typeface="Times New Roman" pitchFamily="18" charset="0"/>
                <a:cs typeface="Times New Roman" pitchFamily="18" charset="0"/>
              </a:rPr>
              <a:t>đặc trưng cho</a:t>
            </a:r>
          </a:p>
        </p:txBody>
      </p:sp>
      <p:sp>
        <p:nvSpPr>
          <p:cNvPr id="16" name="Rectangle 13"/>
          <p:cNvSpPr>
            <a:spLocks noChangeArrowheads="1"/>
          </p:cNvSpPr>
          <p:nvPr/>
        </p:nvSpPr>
        <p:spPr bwMode="auto">
          <a:xfrm>
            <a:off x="100013" y="1457325"/>
            <a:ext cx="469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2800" b="1">
                <a:solidFill>
                  <a:srgbClr val="C00000"/>
                </a:solidFill>
                <a:latin typeface="Times New Roman" pitchFamily="18" charset="0"/>
                <a:cs typeface="Times New Roman" pitchFamily="18" charset="0"/>
                <a:sym typeface="Wingdings" pitchFamily="2" charset="2"/>
              </a:rPr>
              <a:t></a:t>
            </a:r>
            <a:endParaRPr lang="en-US" sz="2800" b="1">
              <a:solidFill>
                <a:srgbClr val="C00000"/>
              </a:solidFill>
              <a:latin typeface="Times New Roman" pitchFamily="18" charset="0"/>
              <a:cs typeface="Times New Roman" pitchFamily="18" charset="0"/>
            </a:endParaRPr>
          </a:p>
        </p:txBody>
      </p:sp>
      <p:sp>
        <p:nvSpPr>
          <p:cNvPr id="18" name="Rectangle 8"/>
          <p:cNvSpPr>
            <a:spLocks noChangeArrowheads="1"/>
          </p:cNvSpPr>
          <p:nvPr/>
        </p:nvSpPr>
        <p:spPr bwMode="auto">
          <a:xfrm>
            <a:off x="2776538" y="1981200"/>
            <a:ext cx="5105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sz="2800">
                <a:solidFill>
                  <a:srgbClr val="990000"/>
                </a:solidFill>
                <a:latin typeface="Times New Roman" pitchFamily="18" charset="0"/>
                <a:cs typeface="Times New Roman" pitchFamily="18" charset="0"/>
              </a:rPr>
              <a:t>chuyển động về mặt động lực học</a:t>
            </a:r>
          </a:p>
        </p:txBody>
      </p:sp>
      <p:cxnSp>
        <p:nvCxnSpPr>
          <p:cNvPr id="20" name="Straight Arrow Connector 19"/>
          <p:cNvCxnSpPr>
            <a:endCxn id="18" idx="1"/>
          </p:cNvCxnSpPr>
          <p:nvPr/>
        </p:nvCxnSpPr>
        <p:spPr>
          <a:xfrm flipV="1">
            <a:off x="2362200" y="2243138"/>
            <a:ext cx="414338" cy="271462"/>
          </a:xfrm>
          <a:prstGeom prst="straightConnector1">
            <a:avLst/>
          </a:prstGeom>
          <a:ln w="25400">
            <a:solidFill>
              <a:srgbClr val="00A4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2377169" y="2514927"/>
            <a:ext cx="381000" cy="261938"/>
          </a:xfrm>
          <a:prstGeom prst="straightConnector1">
            <a:avLst/>
          </a:prstGeom>
          <a:ln w="25400">
            <a:solidFill>
              <a:srgbClr val="00A400"/>
            </a:solidFill>
            <a:tailEnd type="arrow"/>
          </a:ln>
        </p:spPr>
        <p:style>
          <a:lnRef idx="1">
            <a:schemeClr val="accent1"/>
          </a:lnRef>
          <a:fillRef idx="0">
            <a:schemeClr val="accent1"/>
          </a:fillRef>
          <a:effectRef idx="0">
            <a:schemeClr val="accent1"/>
          </a:effectRef>
          <a:fontRef idx="minor">
            <a:schemeClr val="tx1"/>
          </a:fontRef>
        </p:style>
      </p:cxnSp>
      <p:sp>
        <p:nvSpPr>
          <p:cNvPr id="27" name="Rectangle 9"/>
          <p:cNvSpPr>
            <a:spLocks noChangeArrowheads="1"/>
          </p:cNvSpPr>
          <p:nvPr/>
        </p:nvSpPr>
        <p:spPr bwMode="auto">
          <a:xfrm>
            <a:off x="6624638" y="1441450"/>
            <a:ext cx="1333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sz="2800">
                <a:solidFill>
                  <a:srgbClr val="2125D5"/>
                </a:solidFill>
                <a:latin typeface="Times New Roman" pitchFamily="18" charset="0"/>
                <a:cs typeface="Times New Roman" pitchFamily="18" charset="0"/>
              </a:rPr>
              <a:t>(kgm/s)</a:t>
            </a:r>
          </a:p>
        </p:txBody>
      </p:sp>
      <mc:AlternateContent xmlns:mc="http://schemas.openxmlformats.org/markup-compatibility/2006" xmlns:a14="http://schemas.microsoft.com/office/drawing/2010/main">
        <mc:Choice Requires="a14">
          <p:sp>
            <p:nvSpPr>
              <p:cNvPr id="3" name="Rectangle 2"/>
              <p:cNvSpPr/>
              <p:nvPr/>
            </p:nvSpPr>
            <p:spPr>
              <a:xfrm>
                <a:off x="4953000" y="1463222"/>
                <a:ext cx="1600200" cy="54213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𝒑</m:t>
                        </m:r>
                      </m:e>
                    </m:acc>
                  </m:oMath>
                </a14:m>
                <a:r>
                  <a:rPr lang="en-US" sz="2800" b="1"/>
                  <a:t> = m</a:t>
                </a:r>
                <a14:m>
                  <m:oMath xmlns:m="http://schemas.openxmlformats.org/officeDocument/2006/math">
                    <m:acc>
                      <m:accPr>
                        <m:chr m:val="⃗"/>
                        <m:ctrlPr>
                          <a:rPr lang="en-US" sz="2800" b="1" i="1" smtClean="0">
                            <a:latin typeface="Cambria Math" panose="02040503050406030204" pitchFamily="18" charset="0"/>
                          </a:rPr>
                        </m:ctrlPr>
                      </m:accPr>
                      <m:e>
                        <m:r>
                          <a:rPr lang="en-US" sz="2800" b="1" i="1" smtClean="0">
                            <a:latin typeface="Cambria Math"/>
                          </a:rPr>
                          <m:t>𝒗</m:t>
                        </m:r>
                      </m:e>
                    </m:acc>
                  </m:oMath>
                </a14:m>
                <a:endParaRPr lang="en-US" sz="2800" b="1"/>
              </a:p>
            </p:txBody>
          </p:sp>
        </mc:Choice>
        <mc:Fallback xmlns="">
          <p:sp>
            <p:nvSpPr>
              <p:cNvPr id="3" name="Rectangle 2"/>
              <p:cNvSpPr>
                <a:spLocks noRot="1" noChangeAspect="1" noMove="1" noResize="1" noEditPoints="1" noAdjustHandles="1" noChangeArrowheads="1" noChangeShapeType="1" noTextEdit="1"/>
              </p:cNvSpPr>
              <p:nvPr/>
            </p:nvSpPr>
            <p:spPr>
              <a:xfrm>
                <a:off x="4953000" y="1463222"/>
                <a:ext cx="1600200" cy="542131"/>
              </a:xfrm>
              <a:prstGeom prst="rect">
                <a:avLst/>
              </a:prstGeom>
              <a:blipFill rotWithShape="1">
                <a:blip r:embed="rId6"/>
                <a:stretch>
                  <a:fillRect/>
                </a:stretch>
              </a:blipFill>
            </p:spPr>
            <p:txBody>
              <a:bodyPr/>
              <a:lstStyle/>
              <a:p>
                <a:r>
                  <a:rPr lang="en-US">
                    <a:noFill/>
                  </a:rPr>
                  <a:t> </a:t>
                </a:r>
              </a:p>
            </p:txBody>
          </p:sp>
        </mc:Fallback>
      </mc:AlternateContent>
      <p:sp>
        <p:nvSpPr>
          <p:cNvPr id="29" name="Rectangle 8"/>
          <p:cNvSpPr>
            <a:spLocks noChangeArrowheads="1"/>
          </p:cNvSpPr>
          <p:nvPr/>
        </p:nvSpPr>
        <p:spPr bwMode="auto">
          <a:xfrm>
            <a:off x="2756263" y="2514927"/>
            <a:ext cx="6705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sz="2800">
                <a:solidFill>
                  <a:srgbClr val="990000"/>
                </a:solidFill>
                <a:latin typeface="Times New Roman" pitchFamily="18" charset="0"/>
                <a:cs typeface="Times New Roman" pitchFamily="18" charset="0"/>
              </a:rPr>
              <a:t>khả năng truyền chuyển động trong va chạm</a:t>
            </a:r>
          </a:p>
        </p:txBody>
      </p:sp>
      <p:sp>
        <p:nvSpPr>
          <p:cNvPr id="4" name="Footer Placeholder 3">
            <a:extLst>
              <a:ext uri="{FF2B5EF4-FFF2-40B4-BE49-F238E27FC236}">
                <a16:creationId xmlns:a16="http://schemas.microsoft.com/office/drawing/2014/main" id="{700B1D5F-7307-5FF6-11E7-596737DF3395}"/>
              </a:ext>
            </a:extLst>
          </p:cNvPr>
          <p:cNvSpPr>
            <a:spLocks noGrp="1"/>
          </p:cNvSpPr>
          <p:nvPr>
            <p:ph type="ftr" sz="quarter" idx="11"/>
          </p:nvPr>
        </p:nvSpPr>
        <p:spPr>
          <a:xfrm>
            <a:off x="2813114" y="6332537"/>
            <a:ext cx="2895600" cy="365125"/>
          </a:xfrm>
        </p:spPr>
        <p:txBody>
          <a:bodyPr/>
          <a:lstStyle/>
          <a:p>
            <a:r>
              <a:rPr lang="en-US" dirty="0" err="1">
                <a:solidFill>
                  <a:srgbClr val="0070C0"/>
                </a:solidFill>
                <a:latin typeface="Times New Roman" pitchFamily="18" charset="0"/>
                <a:cs typeface="Times New Roman" pitchFamily="18" charset="0"/>
              </a:rPr>
              <a:t>Bùi</a:t>
            </a:r>
            <a:r>
              <a:rPr lang="en-US" dirty="0">
                <a:solidFill>
                  <a:srgbClr val="0070C0"/>
                </a:solidFill>
                <a:latin typeface="Times New Roman" pitchFamily="18" charset="0"/>
                <a:cs typeface="Times New Roman" pitchFamily="18" charset="0"/>
              </a:rPr>
              <a:t> </a:t>
            </a:r>
            <a:r>
              <a:rPr lang="en-US" dirty="0" err="1">
                <a:solidFill>
                  <a:srgbClr val="0070C0"/>
                </a:solidFill>
                <a:latin typeface="Times New Roman" pitchFamily="18" charset="0"/>
                <a:cs typeface="Times New Roman" pitchFamily="18" charset="0"/>
              </a:rPr>
              <a:t>Quốc</a:t>
            </a:r>
            <a:r>
              <a:rPr lang="en-US" dirty="0">
                <a:solidFill>
                  <a:srgbClr val="0070C0"/>
                </a:solidFill>
                <a:latin typeface="Times New Roman" pitchFamily="18" charset="0"/>
                <a:cs typeface="Times New Roman" pitchFamily="18" charset="0"/>
              </a:rPr>
              <a:t> </a:t>
            </a:r>
            <a:r>
              <a:rPr lang="en-US" dirty="0" err="1">
                <a:solidFill>
                  <a:srgbClr val="0070C0"/>
                </a:solidFill>
                <a:latin typeface="Times New Roman" pitchFamily="18" charset="0"/>
                <a:cs typeface="Times New Roman" pitchFamily="18" charset="0"/>
              </a:rPr>
              <a:t>Trung</a:t>
            </a:r>
            <a:r>
              <a:rPr lang="en-US" dirty="0">
                <a:solidFill>
                  <a:srgbClr val="0070C0"/>
                </a:solidFill>
                <a:latin typeface="Times New Roman" pitchFamily="18" charset="0"/>
                <a:cs typeface="Times New Roman" pitchFamily="18" charset="0"/>
              </a:rPr>
              <a:t> - VLDC</a:t>
            </a:r>
          </a:p>
        </p:txBody>
      </p:sp>
      <p:sp>
        <p:nvSpPr>
          <p:cNvPr id="5" name="Slide Number Placeholder 4">
            <a:extLst>
              <a:ext uri="{FF2B5EF4-FFF2-40B4-BE49-F238E27FC236}">
                <a16:creationId xmlns:a16="http://schemas.microsoft.com/office/drawing/2014/main" id="{BFEF8823-5D28-E477-F919-36C7EF22D9E2}"/>
              </a:ext>
            </a:extLst>
          </p:cNvPr>
          <p:cNvSpPr>
            <a:spLocks noGrp="1"/>
          </p:cNvSpPr>
          <p:nvPr>
            <p:ph type="sldNum" sz="quarter" idx="12"/>
          </p:nvPr>
        </p:nvSpPr>
        <p:spPr/>
        <p:txBody>
          <a:bodyPr/>
          <a:lstStyle/>
          <a:p>
            <a:fld id="{C4A94DE9-7404-4CC4-BDD8-EA2E97866C70}" type="slidenum">
              <a:rPr lang="en-US" smtClean="0"/>
              <a:t>33</a:t>
            </a:fld>
            <a:endParaRPr lang="en-US"/>
          </a:p>
        </p:txBody>
      </p:sp>
      <p:sp>
        <p:nvSpPr>
          <p:cNvPr id="6" name="Right Arrow 5">
            <a:hlinkClick r:id="rId7"/>
          </p:cNvPr>
          <p:cNvSpPr/>
          <p:nvPr/>
        </p:nvSpPr>
        <p:spPr>
          <a:xfrm>
            <a:off x="7620000" y="5954268"/>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p:nvPr/>
        </p:nvGrpSpPr>
        <p:grpSpPr>
          <a:xfrm>
            <a:off x="310660" y="3276600"/>
            <a:ext cx="7989279" cy="2251075"/>
            <a:chOff x="151276" y="3962400"/>
            <a:chExt cx="7989279" cy="2251075"/>
          </a:xfrm>
        </p:grpSpPr>
        <p:pic>
          <p:nvPicPr>
            <p:cNvPr id="9" name="Picture 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70286" y="3962400"/>
              <a:ext cx="3870269" cy="2251075"/>
            </a:xfrm>
            <a:prstGeom prst="rect">
              <a:avLst/>
            </a:prstGeom>
          </p:spPr>
        </p:pic>
        <p:pic>
          <p:nvPicPr>
            <p:cNvPr id="10" name="Picture 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51276" y="3980688"/>
              <a:ext cx="3658724" cy="2200220"/>
            </a:xfrm>
            <a:prstGeom prst="rect">
              <a:avLst/>
            </a:prstGeom>
          </p:spPr>
        </p:pic>
      </p:grpSp>
      <p:sp>
        <p:nvSpPr>
          <p:cNvPr id="19" name="Rectangle 18"/>
          <p:cNvSpPr/>
          <p:nvPr/>
        </p:nvSpPr>
        <p:spPr>
          <a:xfrm>
            <a:off x="890016" y="5791200"/>
            <a:ext cx="67818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0070C0"/>
                </a:solidFill>
              </a:rPr>
              <a:t>Khủng</a:t>
            </a:r>
            <a:r>
              <a:rPr lang="en-US" dirty="0">
                <a:solidFill>
                  <a:srgbClr val="0070C0"/>
                </a:solidFill>
              </a:rPr>
              <a:t> </a:t>
            </a:r>
            <a:r>
              <a:rPr lang="en-US" dirty="0" err="1">
                <a:solidFill>
                  <a:srgbClr val="0070C0"/>
                </a:solidFill>
              </a:rPr>
              <a:t>bố</a:t>
            </a:r>
            <a:r>
              <a:rPr lang="en-US" dirty="0">
                <a:solidFill>
                  <a:srgbClr val="0070C0"/>
                </a:solidFill>
              </a:rPr>
              <a:t> 11/9/2001 </a:t>
            </a:r>
            <a:r>
              <a:rPr lang="en-US" dirty="0" err="1">
                <a:solidFill>
                  <a:srgbClr val="0070C0"/>
                </a:solidFill>
              </a:rPr>
              <a:t>tại</a:t>
            </a:r>
            <a:r>
              <a:rPr lang="en-US" dirty="0">
                <a:solidFill>
                  <a:srgbClr val="0070C0"/>
                </a:solidFill>
              </a:rPr>
              <a:t> </a:t>
            </a:r>
            <a:r>
              <a:rPr lang="en-US">
                <a:solidFill>
                  <a:srgbClr val="0070C0"/>
                </a:solidFill>
              </a:rPr>
              <a:t>Mỹ</a:t>
            </a:r>
            <a:endParaRPr lang="en-US" dirty="0">
              <a:solidFill>
                <a:srgbClr val="0070C0"/>
              </a:solidFill>
            </a:endParaRPr>
          </a:p>
        </p:txBody>
      </p:sp>
    </p:spTree>
    <p:extLst>
      <p:ext uri="{BB962C8B-B14F-4D97-AF65-F5344CB8AC3E}">
        <p14:creationId xmlns:p14="http://schemas.microsoft.com/office/powerpoint/2010/main" val="24385580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
          <p:cNvGrpSpPr>
            <a:grpSpLocks/>
          </p:cNvGrpSpPr>
          <p:nvPr/>
        </p:nvGrpSpPr>
        <p:grpSpPr bwMode="auto">
          <a:xfrm>
            <a:off x="1676400" y="0"/>
            <a:ext cx="6019800" cy="685800"/>
            <a:chOff x="1310" y="1392"/>
            <a:chExt cx="4157" cy="432"/>
          </a:xfrm>
        </p:grpSpPr>
        <p:pic>
          <p:nvPicPr>
            <p:cNvPr id="29716"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415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1833" y="1449"/>
              <a:ext cx="3078"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ctr"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2.3. </a:t>
              </a:r>
              <a:r>
                <a:rPr lang="vi-VN" sz="2400" b="1">
                  <a:solidFill>
                    <a:srgbClr val="FF0000"/>
                  </a:solidFill>
                  <a:latin typeface="Times New Roman" pitchFamily="18" charset="0"/>
                  <a:cs typeface="Times New Roman" pitchFamily="18" charset="0"/>
                </a:rPr>
                <a:t>Động l</a:t>
              </a:r>
              <a:r>
                <a:rPr lang="en-US" sz="2400" b="1">
                  <a:solidFill>
                    <a:srgbClr val="FF0000"/>
                  </a:solidFill>
                  <a:latin typeface="Times New Roman" pitchFamily="18" charset="0"/>
                  <a:cs typeface="Times New Roman" pitchFamily="18" charset="0"/>
                </a:rPr>
                <a:t>ư</a:t>
              </a:r>
              <a:r>
                <a:rPr lang="vi-VN" sz="2400" b="1">
                  <a:solidFill>
                    <a:srgbClr val="FF0000"/>
                  </a:solidFill>
                  <a:latin typeface="Times New Roman" pitchFamily="18" charset="0"/>
                  <a:cs typeface="Times New Roman" pitchFamily="18" charset="0"/>
                </a:rPr>
                <a:t>ợng </a:t>
              </a:r>
              <a:endParaRPr lang="en-US" sz="2400" b="1">
                <a:solidFill>
                  <a:srgbClr val="FF0000"/>
                </a:solidFill>
                <a:latin typeface="Times New Roman" pitchFamily="18" charset="0"/>
                <a:cs typeface="Times New Roman" pitchFamily="18" charset="0"/>
              </a:endParaRPr>
            </a:p>
          </p:txBody>
        </p:sp>
      </p:grpSp>
      <p:graphicFrame>
        <p:nvGraphicFramePr>
          <p:cNvPr id="29699" name="Object 5"/>
          <p:cNvGraphicFramePr>
            <a:graphicFrameLocks noChangeAspect="1"/>
          </p:cNvGraphicFramePr>
          <p:nvPr/>
        </p:nvGraphicFramePr>
        <p:xfrm>
          <a:off x="-1246188" y="3465513"/>
          <a:ext cx="114300" cy="219075"/>
        </p:xfrm>
        <a:graphic>
          <a:graphicData uri="http://schemas.openxmlformats.org/presentationml/2006/ole">
            <mc:AlternateContent xmlns:mc="http://schemas.openxmlformats.org/markup-compatibility/2006">
              <mc:Choice xmlns:v="urn:schemas-microsoft-com:vml" Requires="v">
                <p:oleObj name="Equation" r:id="rId3" imgW="114151" imgH="215619" progId="Equation.3">
                  <p:embed/>
                </p:oleObj>
              </mc:Choice>
              <mc:Fallback>
                <p:oleObj name="Equation" r:id="rId3" imgW="114151" imgH="215619" progId="Equation.3">
                  <p:embed/>
                  <p:pic>
                    <p:nvPicPr>
                      <p:cNvPr id="0" name=""/>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246188" y="3465513"/>
                        <a:ext cx="114300"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20"/>
          <p:cNvSpPr>
            <a:spLocks noChangeArrowheads="1"/>
          </p:cNvSpPr>
          <p:nvPr/>
        </p:nvSpPr>
        <p:spPr bwMode="auto">
          <a:xfrm>
            <a:off x="821485" y="1143000"/>
            <a:ext cx="3573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2800" b="1" dirty="0" err="1">
                <a:solidFill>
                  <a:srgbClr val="2125D5"/>
                </a:solidFill>
                <a:latin typeface="Times New Roman" pitchFamily="18" charset="0"/>
                <a:cs typeface="Times New Roman" pitchFamily="18" charset="0"/>
              </a:rPr>
              <a:t>Định</a:t>
            </a:r>
            <a:r>
              <a:rPr lang="en-US" sz="2800" b="1" dirty="0">
                <a:solidFill>
                  <a:srgbClr val="2125D5"/>
                </a:solidFill>
                <a:latin typeface="Times New Roman" pitchFamily="18" charset="0"/>
                <a:cs typeface="Times New Roman" pitchFamily="18" charset="0"/>
              </a:rPr>
              <a:t> </a:t>
            </a:r>
            <a:r>
              <a:rPr lang="en-US" sz="2800" b="1" dirty="0" err="1">
                <a:solidFill>
                  <a:srgbClr val="2125D5"/>
                </a:solidFill>
                <a:latin typeface="Times New Roman" pitchFamily="18" charset="0"/>
                <a:cs typeface="Times New Roman" pitchFamily="18" charset="0"/>
              </a:rPr>
              <a:t>lý</a:t>
            </a:r>
            <a:r>
              <a:rPr lang="en-US" sz="2800" b="1" dirty="0">
                <a:solidFill>
                  <a:srgbClr val="2125D5"/>
                </a:solidFill>
                <a:latin typeface="Times New Roman" pitchFamily="18" charset="0"/>
                <a:cs typeface="Times New Roman" pitchFamily="18" charset="0"/>
              </a:rPr>
              <a:t> </a:t>
            </a:r>
            <a:r>
              <a:rPr lang="en-US" sz="2800" b="1" dirty="0" err="1">
                <a:solidFill>
                  <a:srgbClr val="2125D5"/>
                </a:solidFill>
                <a:latin typeface="Times New Roman" pitchFamily="18" charset="0"/>
                <a:cs typeface="Times New Roman" pitchFamily="18" charset="0"/>
              </a:rPr>
              <a:t>về</a:t>
            </a:r>
            <a:r>
              <a:rPr lang="en-US" sz="2800" b="1" dirty="0">
                <a:solidFill>
                  <a:srgbClr val="2125D5"/>
                </a:solidFill>
                <a:latin typeface="Times New Roman" pitchFamily="18" charset="0"/>
                <a:cs typeface="Times New Roman" pitchFamily="18" charset="0"/>
              </a:rPr>
              <a:t> </a:t>
            </a:r>
            <a:r>
              <a:rPr lang="en-US" sz="2800" b="1" dirty="0" err="1">
                <a:solidFill>
                  <a:srgbClr val="2125D5"/>
                </a:solidFill>
                <a:latin typeface="Times New Roman" pitchFamily="18" charset="0"/>
                <a:cs typeface="Times New Roman" pitchFamily="18" charset="0"/>
              </a:rPr>
              <a:t>động</a:t>
            </a:r>
            <a:r>
              <a:rPr lang="en-US" sz="2800" b="1" dirty="0">
                <a:solidFill>
                  <a:srgbClr val="2125D5"/>
                </a:solidFill>
                <a:latin typeface="Times New Roman" pitchFamily="18" charset="0"/>
                <a:cs typeface="Times New Roman" pitchFamily="18" charset="0"/>
              </a:rPr>
              <a:t> </a:t>
            </a:r>
            <a:r>
              <a:rPr lang="en-US" sz="2800" b="1" dirty="0" err="1">
                <a:solidFill>
                  <a:srgbClr val="2125D5"/>
                </a:solidFill>
                <a:latin typeface="Times New Roman" pitchFamily="18" charset="0"/>
                <a:cs typeface="Times New Roman" pitchFamily="18" charset="0"/>
              </a:rPr>
              <a:t>lượng</a:t>
            </a:r>
            <a:endParaRPr lang="en-US" sz="2800" b="1" dirty="0">
              <a:solidFill>
                <a:srgbClr val="2125D5"/>
              </a:solidFill>
              <a:latin typeface="Times New Roman" pitchFamily="18" charset="0"/>
              <a:cs typeface="Times New Roman" pitchFamily="18" charset="0"/>
            </a:endParaRPr>
          </a:p>
        </p:txBody>
      </p:sp>
      <p:sp>
        <p:nvSpPr>
          <p:cNvPr id="13" name="Rectangle 12"/>
          <p:cNvSpPr>
            <a:spLocks noChangeArrowheads="1"/>
          </p:cNvSpPr>
          <p:nvPr/>
        </p:nvSpPr>
        <p:spPr bwMode="auto">
          <a:xfrm>
            <a:off x="304800" y="5486400"/>
            <a:ext cx="8686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800" b="1" i="1" dirty="0">
                <a:solidFill>
                  <a:srgbClr val="1109B7"/>
                </a:solidFill>
                <a:latin typeface="Times New Roman" pitchFamily="18" charset="0"/>
                <a:cs typeface="Times New Roman" pitchFamily="18" charset="0"/>
              </a:rPr>
              <a:t>“</a:t>
            </a:r>
            <a:r>
              <a:rPr lang="en-US" sz="2800" b="1" i="1" dirty="0" err="1">
                <a:solidFill>
                  <a:srgbClr val="007A00"/>
                </a:solidFill>
                <a:latin typeface="Times New Roman" pitchFamily="18" charset="0"/>
                <a:cs typeface="Times New Roman" pitchFamily="18" charset="0"/>
              </a:rPr>
              <a:t>Đạo</a:t>
            </a:r>
            <a:r>
              <a:rPr lang="en-US" sz="2800" b="1" i="1" dirty="0">
                <a:solidFill>
                  <a:srgbClr val="007A00"/>
                </a:solidFill>
                <a:latin typeface="Times New Roman" pitchFamily="18" charset="0"/>
                <a:cs typeface="Times New Roman" pitchFamily="18" charset="0"/>
              </a:rPr>
              <a:t> </a:t>
            </a:r>
            <a:r>
              <a:rPr lang="en-US" sz="2800" b="1" i="1" dirty="0" err="1">
                <a:solidFill>
                  <a:srgbClr val="007A00"/>
                </a:solidFill>
                <a:latin typeface="Times New Roman" pitchFamily="18" charset="0"/>
                <a:cs typeface="Times New Roman" pitchFamily="18" charset="0"/>
              </a:rPr>
              <a:t>hàm</a:t>
            </a:r>
            <a:r>
              <a:rPr lang="en-US" sz="2800" b="1" i="1" dirty="0">
                <a:solidFill>
                  <a:srgbClr val="007A00"/>
                </a:solidFill>
                <a:latin typeface="Times New Roman" pitchFamily="18" charset="0"/>
                <a:cs typeface="Times New Roman" pitchFamily="18" charset="0"/>
              </a:rPr>
              <a:t> </a:t>
            </a:r>
            <a:r>
              <a:rPr lang="en-US" sz="2800" b="1" i="1" dirty="0" err="1">
                <a:solidFill>
                  <a:srgbClr val="007A00"/>
                </a:solidFill>
                <a:latin typeface="Times New Roman" pitchFamily="18" charset="0"/>
                <a:cs typeface="Times New Roman" pitchFamily="18" charset="0"/>
              </a:rPr>
              <a:t>động</a:t>
            </a:r>
            <a:r>
              <a:rPr lang="en-US" sz="2800" b="1" i="1" dirty="0">
                <a:solidFill>
                  <a:srgbClr val="007A00"/>
                </a:solidFill>
                <a:latin typeface="Times New Roman" pitchFamily="18" charset="0"/>
                <a:cs typeface="Times New Roman" pitchFamily="18" charset="0"/>
              </a:rPr>
              <a:t> </a:t>
            </a:r>
            <a:r>
              <a:rPr lang="en-US" sz="2800" b="1" i="1" dirty="0" err="1">
                <a:solidFill>
                  <a:srgbClr val="007A00"/>
                </a:solidFill>
                <a:latin typeface="Times New Roman" pitchFamily="18" charset="0"/>
                <a:cs typeface="Times New Roman" pitchFamily="18" charset="0"/>
              </a:rPr>
              <a:t>lượng</a:t>
            </a:r>
            <a:r>
              <a:rPr lang="en-US" sz="2800" b="1" i="1" dirty="0">
                <a:solidFill>
                  <a:srgbClr val="007A0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của</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một</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chất</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điểm</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đối</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với</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thời</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gian</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có</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giá</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trị</a:t>
            </a:r>
            <a:r>
              <a:rPr lang="en-US" sz="2800"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bằng</a:t>
            </a:r>
            <a:r>
              <a:rPr lang="en-US" sz="2800" i="1" dirty="0">
                <a:solidFill>
                  <a:srgbClr val="002060"/>
                </a:solidFill>
                <a:latin typeface="Times New Roman" pitchFamily="18" charset="0"/>
                <a:cs typeface="Times New Roman" pitchFamily="18" charset="0"/>
              </a:rPr>
              <a:t> </a:t>
            </a:r>
            <a:r>
              <a:rPr lang="en-US" sz="2800" b="1" i="1" dirty="0" err="1">
                <a:solidFill>
                  <a:srgbClr val="007A00"/>
                </a:solidFill>
                <a:latin typeface="Times New Roman" pitchFamily="18" charset="0"/>
                <a:cs typeface="Times New Roman" pitchFamily="18" charset="0"/>
              </a:rPr>
              <a:t>lực</a:t>
            </a:r>
            <a:r>
              <a:rPr lang="en-US" sz="2800" b="1" i="1" dirty="0">
                <a:solidFill>
                  <a:srgbClr val="007A00"/>
                </a:solidFill>
                <a:latin typeface="Times New Roman" pitchFamily="18" charset="0"/>
                <a:cs typeface="Times New Roman" pitchFamily="18" charset="0"/>
              </a:rPr>
              <a:t> </a:t>
            </a:r>
            <a:r>
              <a:rPr lang="en-US" sz="2800" b="1" i="1" dirty="0" err="1">
                <a:solidFill>
                  <a:srgbClr val="007A00"/>
                </a:solidFill>
                <a:latin typeface="Times New Roman" pitchFamily="18" charset="0"/>
                <a:cs typeface="Times New Roman" pitchFamily="18" charset="0"/>
              </a:rPr>
              <a:t>tác</a:t>
            </a:r>
            <a:r>
              <a:rPr lang="en-US" sz="2800" b="1" i="1" dirty="0">
                <a:solidFill>
                  <a:srgbClr val="007A00"/>
                </a:solidFill>
                <a:latin typeface="Times New Roman" pitchFamily="18" charset="0"/>
                <a:cs typeface="Times New Roman" pitchFamily="18" charset="0"/>
              </a:rPr>
              <a:t> </a:t>
            </a:r>
            <a:r>
              <a:rPr lang="en-US" sz="2800" b="1" i="1" dirty="0" err="1">
                <a:solidFill>
                  <a:srgbClr val="007A00"/>
                </a:solidFill>
                <a:latin typeface="Times New Roman" pitchFamily="18" charset="0"/>
                <a:cs typeface="Times New Roman" pitchFamily="18" charset="0"/>
              </a:rPr>
              <a:t>dụng</a:t>
            </a:r>
            <a:r>
              <a:rPr lang="en-US" sz="2800" b="1" i="1" dirty="0">
                <a:solidFill>
                  <a:srgbClr val="007A0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lên</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chất</a:t>
            </a:r>
            <a:r>
              <a:rPr lang="en-US" sz="2800" i="1" dirty="0">
                <a:solidFill>
                  <a:srgbClr val="002060"/>
                </a:solidFill>
                <a:latin typeface="Times New Roman" pitchFamily="18" charset="0"/>
                <a:cs typeface="Times New Roman" pitchFamily="18" charset="0"/>
              </a:rPr>
              <a:t> </a:t>
            </a:r>
            <a:r>
              <a:rPr lang="en-US" sz="2800" i="1" dirty="0" err="1">
                <a:solidFill>
                  <a:srgbClr val="002060"/>
                </a:solidFill>
                <a:latin typeface="Times New Roman" pitchFamily="18" charset="0"/>
                <a:cs typeface="Times New Roman" pitchFamily="18" charset="0"/>
              </a:rPr>
              <a:t>điểm</a:t>
            </a:r>
            <a:r>
              <a:rPr lang="en-US" sz="2800" i="1" dirty="0">
                <a:solidFill>
                  <a:srgbClr val="002060"/>
                </a:solidFill>
                <a:latin typeface="Times New Roman" pitchFamily="18" charset="0"/>
                <a:cs typeface="Times New Roman" pitchFamily="18" charset="0"/>
              </a:rPr>
              <a:t>.</a:t>
            </a:r>
            <a:r>
              <a:rPr lang="en-US" sz="2800" b="1" i="1" dirty="0">
                <a:solidFill>
                  <a:srgbClr val="1109B7"/>
                </a:solidFill>
                <a:latin typeface="Times New Roman" pitchFamily="18" charset="0"/>
                <a:cs typeface="Times New Roman" pitchFamily="18" charset="0"/>
              </a:rPr>
              <a:t>”</a:t>
            </a:r>
          </a:p>
        </p:txBody>
      </p:sp>
      <p:sp>
        <p:nvSpPr>
          <p:cNvPr id="15" name="Rectangle 6"/>
          <p:cNvSpPr>
            <a:spLocks noChangeArrowheads="1"/>
          </p:cNvSpPr>
          <p:nvPr/>
        </p:nvSpPr>
        <p:spPr bwMode="auto">
          <a:xfrm>
            <a:off x="550863" y="4767263"/>
            <a:ext cx="15827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2800" b="1" u="sng">
                <a:solidFill>
                  <a:srgbClr val="FF0066"/>
                </a:solidFill>
                <a:latin typeface="Times New Roman" pitchFamily="18" charset="0"/>
                <a:cs typeface="Times New Roman" pitchFamily="18" charset="0"/>
              </a:rPr>
              <a:t>Định lý 1</a:t>
            </a:r>
          </a:p>
        </p:txBody>
      </p:sp>
      <p:sp>
        <p:nvSpPr>
          <p:cNvPr id="17" name="Rectangle 14"/>
          <p:cNvSpPr>
            <a:spLocks noChangeArrowheads="1"/>
          </p:cNvSpPr>
          <p:nvPr/>
        </p:nvSpPr>
        <p:spPr bwMode="auto">
          <a:xfrm>
            <a:off x="304800" y="1142999"/>
            <a:ext cx="469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2800" b="1" dirty="0">
                <a:solidFill>
                  <a:srgbClr val="C00000"/>
                </a:solidFill>
                <a:latin typeface="Times New Roman" pitchFamily="18" charset="0"/>
                <a:cs typeface="Times New Roman" pitchFamily="18" charset="0"/>
                <a:sym typeface="Wingdings" pitchFamily="2" charset="2"/>
              </a:rPr>
              <a:t></a:t>
            </a:r>
            <a:endParaRPr lang="en-US" sz="2800" b="1" dirty="0">
              <a:solidFill>
                <a:srgbClr val="C00000"/>
              </a:solidFill>
              <a:latin typeface="Times New Roman" pitchFamily="18" charset="0"/>
              <a:cs typeface="Times New Roman" pitchFamily="18" charset="0"/>
            </a:endParaRPr>
          </a:p>
        </p:txBody>
      </p:sp>
      <p:sp>
        <p:nvSpPr>
          <p:cNvPr id="25" name="Rectangle 9"/>
          <p:cNvSpPr>
            <a:spLocks noRot="1" noChangeAspect="1" noMove="1" noResize="1" noEditPoints="1" noAdjustHandles="1" noChangeArrowheads="1" noChangeShapeType="1" noTextEdit="1"/>
          </p:cNvSpPr>
          <p:nvPr/>
        </p:nvSpPr>
        <p:spPr bwMode="auto">
          <a:xfrm>
            <a:off x="1668174" y="3662363"/>
            <a:ext cx="5222876" cy="842218"/>
          </a:xfrm>
          <a:prstGeom prst="rect">
            <a:avLst/>
          </a:prstGeom>
          <a:blipFill rotWithShape="1">
            <a:blip r:embed="rId4"/>
            <a:stretch>
              <a:fillRect b="-9420"/>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mc:AlternateContent xmlns:mc="http://schemas.openxmlformats.org/markup-compatibility/2006" xmlns:a14="http://schemas.microsoft.com/office/drawing/2010/main">
        <mc:Choice Requires="a14">
          <p:sp>
            <p:nvSpPr>
              <p:cNvPr id="23" name="Rectangle 22"/>
              <p:cNvSpPr/>
              <p:nvPr/>
            </p:nvSpPr>
            <p:spPr>
              <a:xfrm>
                <a:off x="2608216" y="4648201"/>
                <a:ext cx="2192384" cy="838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 xmlns:m="http://schemas.openxmlformats.org/officeDocument/2006/math">
                    <m:acc>
                      <m:accPr>
                        <m:chr m:val="⃗"/>
                        <m:ctrlPr>
                          <a:rPr lang="en-US" sz="3200" b="1" i="1" smtClean="0">
                            <a:solidFill>
                              <a:schemeClr val="tx1"/>
                            </a:solidFill>
                            <a:latin typeface="Cambria Math" panose="02040503050406030204" pitchFamily="18" charset="0"/>
                          </a:rPr>
                        </m:ctrlPr>
                      </m:accPr>
                      <m:e>
                        <m:r>
                          <a:rPr lang="en-US" sz="3200" b="1" i="1" smtClean="0">
                            <a:solidFill>
                              <a:schemeClr val="tx1"/>
                            </a:solidFill>
                            <a:latin typeface="Cambria Math"/>
                          </a:rPr>
                          <m:t>𝑭</m:t>
                        </m:r>
                      </m:e>
                    </m:acc>
                  </m:oMath>
                </a14:m>
                <a:r>
                  <a:rPr lang="en-US" sz="3200" b="1" dirty="0">
                    <a:solidFill>
                      <a:schemeClr val="tx1"/>
                    </a:solidFill>
                  </a:rPr>
                  <a:t> = </a:t>
                </a:r>
                <a14:m>
                  <m:oMath xmlns:m="http://schemas.openxmlformats.org/officeDocument/2006/math">
                    <m:f>
                      <m:fPr>
                        <m:ctrlPr>
                          <a:rPr lang="en-US" sz="3200" b="1" i="1" smtClean="0">
                            <a:solidFill>
                              <a:schemeClr val="tx1"/>
                            </a:solidFill>
                            <a:latin typeface="Cambria Math" panose="02040503050406030204" pitchFamily="18" charset="0"/>
                          </a:rPr>
                        </m:ctrlPr>
                      </m:fPr>
                      <m:num>
                        <m:r>
                          <a:rPr lang="en-US" sz="3200" b="1" i="1" smtClean="0">
                            <a:solidFill>
                              <a:schemeClr val="tx1"/>
                            </a:solidFill>
                            <a:latin typeface="Cambria Math"/>
                          </a:rPr>
                          <m:t>𝒅</m:t>
                        </m:r>
                        <m:acc>
                          <m:accPr>
                            <m:chr m:val="⃗"/>
                            <m:ctrlPr>
                              <a:rPr lang="en-US" sz="3200" b="1" i="1" smtClean="0">
                                <a:solidFill>
                                  <a:schemeClr val="tx1"/>
                                </a:solidFill>
                                <a:latin typeface="Cambria Math" panose="02040503050406030204" pitchFamily="18" charset="0"/>
                              </a:rPr>
                            </m:ctrlPr>
                          </m:accPr>
                          <m:e>
                            <m:r>
                              <a:rPr lang="en-US" sz="3200" b="1" i="1" smtClean="0">
                                <a:solidFill>
                                  <a:schemeClr val="tx1"/>
                                </a:solidFill>
                                <a:latin typeface="Cambria Math"/>
                              </a:rPr>
                              <m:t>𝒑</m:t>
                            </m:r>
                          </m:e>
                        </m:acc>
                      </m:num>
                      <m:den>
                        <m:r>
                          <a:rPr lang="en-US" sz="3200" b="1" i="1" smtClean="0">
                            <a:solidFill>
                              <a:schemeClr val="tx1"/>
                            </a:solidFill>
                            <a:latin typeface="Cambria Math"/>
                          </a:rPr>
                          <m:t>𝒅𝒕</m:t>
                        </m:r>
                      </m:den>
                    </m:f>
                  </m:oMath>
                </a14:m>
                <a:endParaRPr lang="en-US" sz="3200" b="1" dirty="0"/>
              </a:p>
            </p:txBody>
          </p:sp>
        </mc:Choice>
        <mc:Fallback xmlns="">
          <p:sp>
            <p:nvSpPr>
              <p:cNvPr id="23" name="Rectangle 22"/>
              <p:cNvSpPr>
                <a:spLocks noRot="1" noChangeAspect="1" noMove="1" noResize="1" noEditPoints="1" noAdjustHandles="1" noChangeArrowheads="1" noChangeShapeType="1" noTextEdit="1"/>
              </p:cNvSpPr>
              <p:nvPr/>
            </p:nvSpPr>
            <p:spPr>
              <a:xfrm>
                <a:off x="2608216" y="4648201"/>
                <a:ext cx="2192384" cy="838200"/>
              </a:xfrm>
              <a:prstGeom prst="rect">
                <a:avLst/>
              </a:prstGeom>
              <a:blipFill rotWithShape="1">
                <a:blip r:embed="rId7"/>
                <a:stretch>
                  <a:fillRect/>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00B1D5F-7307-5FF6-11E7-596737DF3395}"/>
              </a:ext>
            </a:extLst>
          </p:cNvPr>
          <p:cNvSpPr>
            <a:spLocks noGrp="1"/>
          </p:cNvSpPr>
          <p:nvPr>
            <p:ph type="ftr" sz="quarter" idx="11"/>
          </p:nvPr>
        </p:nvSpPr>
        <p:spPr/>
        <p:txBody>
          <a:bodyPr/>
          <a:lstStyle/>
          <a:p>
            <a:r>
              <a:rPr lang="en-US"/>
              <a:t>Bùi Quốc Trung - VLDC</a:t>
            </a:r>
          </a:p>
        </p:txBody>
      </p:sp>
      <p:sp>
        <p:nvSpPr>
          <p:cNvPr id="5" name="Slide Number Placeholder 4">
            <a:extLst>
              <a:ext uri="{FF2B5EF4-FFF2-40B4-BE49-F238E27FC236}">
                <a16:creationId xmlns:a16="http://schemas.microsoft.com/office/drawing/2014/main" id="{BFEF8823-5D28-E477-F919-36C7EF22D9E2}"/>
              </a:ext>
            </a:extLst>
          </p:cNvPr>
          <p:cNvSpPr>
            <a:spLocks noGrp="1"/>
          </p:cNvSpPr>
          <p:nvPr>
            <p:ph type="sldNum" sz="quarter" idx="12"/>
          </p:nvPr>
        </p:nvSpPr>
        <p:spPr/>
        <p:txBody>
          <a:bodyPr/>
          <a:lstStyle/>
          <a:p>
            <a:fld id="{C4A94DE9-7404-4CC4-BDD8-EA2E97866C70}" type="slidenum">
              <a:rPr lang="en-US" smtClean="0"/>
              <a:t>34</a:t>
            </a:fld>
            <a:endParaRPr lang="en-US"/>
          </a:p>
        </p:txBody>
      </p:sp>
    </p:spTree>
    <p:extLst>
      <p:ext uri="{BB962C8B-B14F-4D97-AF65-F5344CB8AC3E}">
        <p14:creationId xmlns:p14="http://schemas.microsoft.com/office/powerpoint/2010/main" val="22752031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barn(inVertical)">
                                      <p:cBhvr>
                                        <p:cTn id="15" dur="500"/>
                                        <p:tgtEl>
                                          <p:spTgt spid="25"/>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ppt_x"/>
                                          </p:val>
                                        </p:tav>
                                        <p:tav tm="100000">
                                          <p:val>
                                            <p:strVal val="#ppt_x"/>
                                          </p:val>
                                        </p:tav>
                                      </p:tavLst>
                                    </p:anim>
                                    <p:anim calcmode="lin" valueType="num">
                                      <p:cBhvr additive="base">
                                        <p:cTn id="21" dur="500" fill="hold"/>
                                        <p:tgtEl>
                                          <p:spTgt spid="15"/>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 calcmode="lin" valueType="num">
                                      <p:cBhvr additive="base">
                                        <p:cTn id="24" dur="500" fill="hold"/>
                                        <p:tgtEl>
                                          <p:spTgt spid="23"/>
                                        </p:tgtEl>
                                        <p:attrNameLst>
                                          <p:attrName>ppt_x</p:attrName>
                                        </p:attrNameLst>
                                      </p:cBhvr>
                                      <p:tavLst>
                                        <p:tav tm="0">
                                          <p:val>
                                            <p:strVal val="#ppt_x"/>
                                          </p:val>
                                        </p:tav>
                                        <p:tav tm="100000">
                                          <p:val>
                                            <p:strVal val="#ppt_x"/>
                                          </p:val>
                                        </p:tav>
                                      </p:tavLst>
                                    </p:anim>
                                    <p:anim calcmode="lin" valueType="num">
                                      <p:cBhvr additive="base">
                                        <p:cTn id="25" dur="500" fill="hold"/>
                                        <p:tgtEl>
                                          <p:spTgt spid="23"/>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500" fill="hold"/>
                                        <p:tgtEl>
                                          <p:spTgt spid="13"/>
                                        </p:tgtEl>
                                        <p:attrNameLst>
                                          <p:attrName>ppt_x</p:attrName>
                                        </p:attrNameLst>
                                      </p:cBhvr>
                                      <p:tavLst>
                                        <p:tav tm="0">
                                          <p:val>
                                            <p:strVal val="#ppt_x"/>
                                          </p:val>
                                        </p:tav>
                                        <p:tav tm="100000">
                                          <p:val>
                                            <p:strVal val="#ppt_x"/>
                                          </p:val>
                                        </p:tav>
                                      </p:tavLst>
                                    </p:anim>
                                    <p:anim calcmode="lin" valueType="num">
                                      <p:cBhvr additive="base">
                                        <p:cTn id="2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P spid="25" grpId="0" animBg="1"/>
      <p:bldP spid="2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8"/>
          <p:cNvGrpSpPr>
            <a:grpSpLocks/>
          </p:cNvGrpSpPr>
          <p:nvPr/>
        </p:nvGrpSpPr>
        <p:grpSpPr bwMode="auto">
          <a:xfrm>
            <a:off x="1676400" y="0"/>
            <a:ext cx="6019800" cy="685800"/>
            <a:chOff x="1310" y="1392"/>
            <a:chExt cx="4157" cy="432"/>
          </a:xfrm>
        </p:grpSpPr>
        <p:pic>
          <p:nvPicPr>
            <p:cNvPr id="30729"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415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14"/>
            <p:cNvSpPr txBox="1">
              <a:spLocks noChangeArrowheads="1"/>
            </p:cNvSpPr>
            <p:nvPr/>
          </p:nvSpPr>
          <p:spPr bwMode="auto">
            <a:xfrm>
              <a:off x="1833" y="1449"/>
              <a:ext cx="3078"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ctr"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2.3. </a:t>
              </a:r>
              <a:r>
                <a:rPr lang="vi-VN" sz="2400" b="1">
                  <a:solidFill>
                    <a:srgbClr val="FF0000"/>
                  </a:solidFill>
                  <a:latin typeface="Times New Roman" pitchFamily="18" charset="0"/>
                  <a:cs typeface="Times New Roman" pitchFamily="18" charset="0"/>
                </a:rPr>
                <a:t>Động l</a:t>
              </a:r>
              <a:r>
                <a:rPr lang="en-US" sz="2400" b="1">
                  <a:solidFill>
                    <a:srgbClr val="FF0000"/>
                  </a:solidFill>
                  <a:latin typeface="Times New Roman" pitchFamily="18" charset="0"/>
                  <a:cs typeface="Times New Roman" pitchFamily="18" charset="0"/>
                </a:rPr>
                <a:t>ư</a:t>
              </a:r>
              <a:r>
                <a:rPr lang="vi-VN" sz="2400" b="1">
                  <a:solidFill>
                    <a:srgbClr val="FF0000"/>
                  </a:solidFill>
                  <a:latin typeface="Times New Roman" pitchFamily="18" charset="0"/>
                  <a:cs typeface="Times New Roman" pitchFamily="18" charset="0"/>
                </a:rPr>
                <a:t>ợng</a:t>
              </a:r>
              <a:endParaRPr lang="en-US" sz="2400" b="1">
                <a:solidFill>
                  <a:srgbClr val="FF0000"/>
                </a:solidFill>
                <a:latin typeface="Times New Roman" pitchFamily="18" charset="0"/>
                <a:cs typeface="Times New Roman" pitchFamily="18" charset="0"/>
              </a:endParaRPr>
            </a:p>
          </p:txBody>
        </p:sp>
      </p:grpSp>
      <p:sp>
        <p:nvSpPr>
          <p:cNvPr id="12" name="Rectangle 6"/>
          <p:cNvSpPr>
            <a:spLocks noChangeArrowheads="1"/>
          </p:cNvSpPr>
          <p:nvPr/>
        </p:nvSpPr>
        <p:spPr bwMode="auto">
          <a:xfrm>
            <a:off x="304800" y="914400"/>
            <a:ext cx="15827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2800" b="1" u="sng">
                <a:solidFill>
                  <a:srgbClr val="FF0066"/>
                </a:solidFill>
                <a:latin typeface="Times New Roman" pitchFamily="18" charset="0"/>
                <a:cs typeface="Times New Roman" pitchFamily="18" charset="0"/>
              </a:rPr>
              <a:t>Định lý 2</a:t>
            </a:r>
          </a:p>
        </p:txBody>
      </p:sp>
      <p:sp>
        <p:nvSpPr>
          <p:cNvPr id="14" name="Rectangle 9"/>
          <p:cNvSpPr>
            <a:spLocks noRot="1" noChangeAspect="1" noMove="1" noResize="1" noEditPoints="1" noAdjustHandles="1" noChangeArrowheads="1" noChangeShapeType="1" noTextEdit="1"/>
          </p:cNvSpPr>
          <p:nvPr/>
        </p:nvSpPr>
        <p:spPr bwMode="auto">
          <a:xfrm>
            <a:off x="2286000" y="970343"/>
            <a:ext cx="6553200" cy="740844"/>
          </a:xfrm>
          <a:prstGeom prst="rect">
            <a:avLst/>
          </a:prstGeom>
          <a:blipFill rotWithShape="1">
            <a:blip r:embed="rId3"/>
            <a:stretch>
              <a:fillRect l="-1860" b="-5738"/>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15" name="Rectangle 9"/>
          <p:cNvSpPr>
            <a:spLocks noRot="1" noChangeAspect="1" noMove="1" noResize="1" noEditPoints="1" noAdjustHandles="1" noChangeArrowheads="1" noChangeShapeType="1" noTextEdit="1"/>
          </p:cNvSpPr>
          <p:nvPr/>
        </p:nvSpPr>
        <p:spPr bwMode="auto">
          <a:xfrm>
            <a:off x="2433762" y="1981200"/>
            <a:ext cx="3662238" cy="687881"/>
          </a:xfrm>
          <a:prstGeom prst="rect">
            <a:avLst/>
          </a:prstGeom>
          <a:blipFill rotWithShape="1">
            <a:blip r:embed="rId4"/>
            <a:stretch>
              <a:fillRect l="-3328" b="-14159"/>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16" name="Rectangle 15"/>
          <p:cNvSpPr>
            <a:spLocks noRot="1" noChangeAspect="1" noMove="1" noResize="1" noEditPoints="1" noAdjustHandles="1" noChangeArrowheads="1" noChangeShapeType="1" noTextEdit="1"/>
          </p:cNvSpPr>
          <p:nvPr/>
        </p:nvSpPr>
        <p:spPr>
          <a:xfrm>
            <a:off x="5867758" y="1853600"/>
            <a:ext cx="3253968" cy="943079"/>
          </a:xfrm>
          <a:prstGeom prst="rect">
            <a:avLst/>
          </a:prstGeom>
          <a:blipFill rotWithShape="1">
            <a:blip r:embed="rId5"/>
            <a:stretch>
              <a:fillRect/>
            </a:stretch>
          </a:blipFill>
        </p:spPr>
        <p:txBody>
          <a:bodyPr/>
          <a:lstStyle/>
          <a:p>
            <a:pPr>
              <a:defRPr/>
            </a:pPr>
            <a:r>
              <a:rPr lang="en-US">
                <a:noFill/>
              </a:rPr>
              <a:t> </a:t>
            </a:r>
          </a:p>
        </p:txBody>
      </p:sp>
      <p:sp>
        <p:nvSpPr>
          <p:cNvPr id="17" name="Rectangle 16"/>
          <p:cNvSpPr>
            <a:spLocks noRot="1" noChangeAspect="1" noMove="1" noResize="1" noEditPoints="1" noAdjustHandles="1" noChangeArrowheads="1" noChangeShapeType="1" noTextEdit="1"/>
          </p:cNvSpPr>
          <p:nvPr/>
        </p:nvSpPr>
        <p:spPr>
          <a:xfrm>
            <a:off x="73881" y="3200400"/>
            <a:ext cx="8382000" cy="1384995"/>
          </a:xfrm>
          <a:prstGeom prst="rect">
            <a:avLst/>
          </a:prstGeom>
          <a:blipFill rotWithShape="1">
            <a:blip r:embed="rId6"/>
            <a:stretch>
              <a:fillRect b="-11454"/>
            </a:stretch>
          </a:blipFill>
        </p:spPr>
        <p:txBody>
          <a:bodyPr/>
          <a:lstStyle/>
          <a:p>
            <a:pPr>
              <a:defRPr/>
            </a:pPr>
            <a:r>
              <a:rPr lang="en-US">
                <a:noFill/>
              </a:rPr>
              <a:t> </a:t>
            </a:r>
          </a:p>
        </p:txBody>
      </p:sp>
      <p:sp>
        <p:nvSpPr>
          <p:cNvPr id="18" name="Rectangle 17"/>
          <p:cNvSpPr>
            <a:spLocks noRot="1" noChangeAspect="1" noMove="1" noResize="1" noEditPoints="1" noAdjustHandles="1" noChangeArrowheads="1" noChangeShapeType="1" noTextEdit="1"/>
          </p:cNvSpPr>
          <p:nvPr/>
        </p:nvSpPr>
        <p:spPr>
          <a:xfrm>
            <a:off x="212213" y="5043549"/>
            <a:ext cx="8382000" cy="1384995"/>
          </a:xfrm>
          <a:prstGeom prst="rect">
            <a:avLst/>
          </a:prstGeom>
          <a:blipFill rotWithShape="1">
            <a:blip r:embed="rId7"/>
            <a:stretch>
              <a:fillRect l="-1527" r="-1455" b="-10965"/>
            </a:stretch>
          </a:blipFill>
        </p:spPr>
        <p:txBody>
          <a:bodyPr/>
          <a:lstStyle/>
          <a:p>
            <a:pPr>
              <a:defRPr/>
            </a:pPr>
            <a:r>
              <a:rPr lang="en-US">
                <a:noFill/>
              </a:rPr>
              <a:t> </a:t>
            </a:r>
          </a:p>
        </p:txBody>
      </p:sp>
      <p:sp>
        <p:nvSpPr>
          <p:cNvPr id="2" name="Footer Placeholder 1">
            <a:extLst>
              <a:ext uri="{FF2B5EF4-FFF2-40B4-BE49-F238E27FC236}">
                <a16:creationId xmlns:a16="http://schemas.microsoft.com/office/drawing/2014/main" id="{651CFC67-0E38-2086-1FEF-CA8AB3C429C0}"/>
              </a:ext>
            </a:extLst>
          </p:cNvPr>
          <p:cNvSpPr>
            <a:spLocks noGrp="1"/>
          </p:cNvSpPr>
          <p:nvPr>
            <p:ph type="ftr" sz="quarter" idx="11"/>
          </p:nvPr>
        </p:nvSpPr>
        <p:spPr/>
        <p:txBody>
          <a:bodyPr/>
          <a:lstStyle/>
          <a:p>
            <a:r>
              <a:rPr lang="en-US"/>
              <a:t>Bùi Quốc Trung - VLDC</a:t>
            </a:r>
          </a:p>
        </p:txBody>
      </p:sp>
      <p:sp>
        <p:nvSpPr>
          <p:cNvPr id="3" name="Slide Number Placeholder 2">
            <a:extLst>
              <a:ext uri="{FF2B5EF4-FFF2-40B4-BE49-F238E27FC236}">
                <a16:creationId xmlns:a16="http://schemas.microsoft.com/office/drawing/2014/main" id="{1380F212-26E7-0A9D-05EC-554D33619C26}"/>
              </a:ext>
            </a:extLst>
          </p:cNvPr>
          <p:cNvSpPr>
            <a:spLocks noGrp="1"/>
          </p:cNvSpPr>
          <p:nvPr>
            <p:ph type="sldNum" sz="quarter" idx="12"/>
          </p:nvPr>
        </p:nvSpPr>
        <p:spPr/>
        <p:txBody>
          <a:bodyPr/>
          <a:lstStyle/>
          <a:p>
            <a:fld id="{C4A94DE9-7404-4CC4-BDD8-EA2E97866C70}" type="slidenum">
              <a:rPr lang="en-US" smtClean="0"/>
              <a:t>35</a:t>
            </a:fld>
            <a:endParaRPr lang="en-US"/>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C1C6869A-3D4E-3620-2419-6BC4135E387E}"/>
                  </a:ext>
                </a:extLst>
              </p:cNvPr>
              <p:cNvSpPr/>
              <p:nvPr/>
            </p:nvSpPr>
            <p:spPr>
              <a:xfrm>
                <a:off x="6248399" y="4419600"/>
                <a:ext cx="2683387" cy="18288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14:m>
                  <m:oMath xmlns:m="http://schemas.openxmlformats.org/officeDocument/2006/math">
                    <m:d>
                      <m:dPr>
                        <m:begChr m:val="|"/>
                        <m:endChr m:val="|"/>
                        <m:ctrlPr>
                          <a:rPr lang="en-US" sz="2400" b="1" i="1" smtClean="0">
                            <a:latin typeface="Cambria Math" panose="02040503050406030204" pitchFamily="18" charset="0"/>
                          </a:rPr>
                        </m:ctrlPr>
                      </m:dPr>
                      <m:e>
                        <m:r>
                          <a:rPr lang="en-US" sz="2400" b="1" i="1" smtClean="0">
                            <a:latin typeface="Cambria Math" panose="02040503050406030204" pitchFamily="18" charset="0"/>
                            <a:ea typeface="Cambria Math" panose="02040503050406030204" pitchFamily="18" charset="0"/>
                          </a:rPr>
                          <m:t>∆</m:t>
                        </m:r>
                        <m:acc>
                          <m:accPr>
                            <m:chr m:val="⃗"/>
                            <m:ctrlPr>
                              <a:rPr lang="en-US" sz="2400" b="1" i="1" smtClean="0">
                                <a:latin typeface="Cambria Math" panose="02040503050406030204" pitchFamily="18" charset="0"/>
                                <a:ea typeface="Cambria Math" panose="02040503050406030204" pitchFamily="18" charset="0"/>
                              </a:rPr>
                            </m:ctrlPr>
                          </m:accPr>
                          <m:e>
                            <m:r>
                              <a:rPr lang="en-US" sz="2400" b="1" i="1" smtClean="0">
                                <a:latin typeface="Cambria Math" panose="02040503050406030204" pitchFamily="18" charset="0"/>
                                <a:ea typeface="Cambria Math" panose="02040503050406030204" pitchFamily="18" charset="0"/>
                              </a:rPr>
                              <m:t>𝒑</m:t>
                            </m:r>
                          </m:e>
                        </m:acc>
                      </m:e>
                    </m:d>
                  </m:oMath>
                </a14:m>
                <a:r>
                  <a:rPr lang="en-US" sz="2400" b="1" dirty="0"/>
                  <a:t>=F.</a:t>
                </a:r>
                <a14:m>
                  <m:oMath xmlns:m="http://schemas.openxmlformats.org/officeDocument/2006/math">
                    <m:r>
                      <a:rPr lang="en-US" sz="2400" b="1"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𝒕</m:t>
                    </m:r>
                  </m:oMath>
                </a14:m>
                <a:endParaRPr lang="en-US" sz="2400" b="1" dirty="0"/>
              </a:p>
            </p:txBody>
          </p:sp>
        </mc:Choice>
        <mc:Fallback xmlns="">
          <p:sp>
            <p:nvSpPr>
              <p:cNvPr id="4" name="Oval 3">
                <a:extLst>
                  <a:ext uri="{FF2B5EF4-FFF2-40B4-BE49-F238E27FC236}">
                    <a16:creationId xmlns:a16="http://schemas.microsoft.com/office/drawing/2014/main" id="{C1C6869A-3D4E-3620-2419-6BC4135E387E}"/>
                  </a:ext>
                </a:extLst>
              </p:cNvPr>
              <p:cNvSpPr>
                <a:spLocks noRot="1" noChangeAspect="1" noMove="1" noResize="1" noEditPoints="1" noAdjustHandles="1" noChangeArrowheads="1" noChangeShapeType="1" noTextEdit="1"/>
              </p:cNvSpPr>
              <p:nvPr/>
            </p:nvSpPr>
            <p:spPr>
              <a:xfrm>
                <a:off x="6248399" y="4419600"/>
                <a:ext cx="2683387" cy="1828800"/>
              </a:xfrm>
              <a:prstGeom prst="ellipse">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93162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1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heel(8)">
                                      <p:cBhvr>
                                        <p:cTn id="12" dur="500"/>
                                        <p:tgtEl>
                                          <p:spTgt spid="12"/>
                                        </p:tgtEl>
                                      </p:cBhvr>
                                    </p:animEffect>
                                  </p:childTnLst>
                                </p:cTn>
                              </p:par>
                            </p:childTnLst>
                          </p:cTn>
                        </p:par>
                        <p:par>
                          <p:cTn id="13" fill="hold" nodeType="afterGroup">
                            <p:stCondLst>
                              <p:cond delay="500"/>
                            </p:stCondLst>
                            <p:childTnLst>
                              <p:par>
                                <p:cTn id="14" presetID="14" presetClass="entr" presetSubtype="10"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randombar(horizontal)">
                                      <p:cBhvr>
                                        <p:cTn id="16" dur="1000"/>
                                        <p:tgtEl>
                                          <p:spTgt spid="14"/>
                                        </p:tgtEl>
                                      </p:cBhvr>
                                    </p:animEffect>
                                  </p:childTnLst>
                                </p:cTn>
                              </p:par>
                            </p:childTnLst>
                          </p:cTn>
                        </p:par>
                        <p:par>
                          <p:cTn id="17" fill="hold" nodeType="afterGroup">
                            <p:stCondLst>
                              <p:cond delay="1500"/>
                            </p:stCondLst>
                            <p:childTnLst>
                              <p:par>
                                <p:cTn id="18" presetID="14" presetClass="entr" presetSubtype="10"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randombar(horizontal)">
                                      <p:cBhvr>
                                        <p:cTn id="20" dur="1000"/>
                                        <p:tgtEl>
                                          <p:spTgt spid="1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1000"/>
                                        <p:tgtEl>
                                          <p:spTgt spid="16"/>
                                        </p:tgtEl>
                                      </p:cBhvr>
                                    </p:animEffect>
                                    <p:anim calcmode="lin" valueType="num">
                                      <p:cBhvr>
                                        <p:cTn id="26" dur="1000" fill="hold"/>
                                        <p:tgtEl>
                                          <p:spTgt spid="16"/>
                                        </p:tgtEl>
                                        <p:attrNameLst>
                                          <p:attrName>ppt_x</p:attrName>
                                        </p:attrNameLst>
                                      </p:cBhvr>
                                      <p:tavLst>
                                        <p:tav tm="0">
                                          <p:val>
                                            <p:strVal val="#ppt_x"/>
                                          </p:val>
                                        </p:tav>
                                        <p:tav tm="100000">
                                          <p:val>
                                            <p:strVal val="#ppt_x"/>
                                          </p:val>
                                        </p:tav>
                                      </p:tavLst>
                                    </p:anim>
                                    <p:anim calcmode="lin" valueType="num">
                                      <p:cBhvr>
                                        <p:cTn id="2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9" name="Rectangle 11"/>
          <p:cNvSpPr>
            <a:spLocks noGrp="1"/>
          </p:cNvSpPr>
          <p:nvPr>
            <p:ph type="title" idx="4294967295"/>
          </p:nvPr>
        </p:nvSpPr>
        <p:spPr>
          <a:xfrm>
            <a:off x="0" y="1752600"/>
            <a:ext cx="8229600" cy="2133600"/>
          </a:xfrm>
          <a:solidFill>
            <a:schemeClr val="accent5">
              <a:lumMod val="20000"/>
              <a:lumOff val="80000"/>
            </a:schemeClr>
          </a:solidFill>
        </p:spPr>
        <p:txBody>
          <a:bodyPr rtlCol="0">
            <a:normAutofit fontScale="90000"/>
          </a:bodyPr>
          <a:lstStyle/>
          <a:p>
            <a:pPr marL="838200" indent="-838200" algn="l" eaLnBrk="1" fontAlgn="auto" hangingPunct="1">
              <a:spcAft>
                <a:spcPts val="0"/>
              </a:spcAft>
              <a:defRPr/>
            </a:pPr>
            <a:r>
              <a:rPr lang="en-US" sz="2800" dirty="0"/>
              <a:t>1) </a:t>
            </a:r>
            <a:r>
              <a:rPr lang="en-US" sz="2800" dirty="0" err="1"/>
              <a:t>Một</a:t>
            </a:r>
            <a:r>
              <a:rPr lang="en-US" sz="2800" dirty="0"/>
              <a:t> </a:t>
            </a:r>
            <a:r>
              <a:rPr lang="en-US" sz="2800" dirty="0" err="1"/>
              <a:t>chất</a:t>
            </a:r>
            <a:r>
              <a:rPr lang="en-US" sz="2800" dirty="0"/>
              <a:t> </a:t>
            </a:r>
            <a:r>
              <a:rPr lang="en-US" sz="2800" dirty="0" err="1"/>
              <a:t>điểm</a:t>
            </a:r>
            <a:r>
              <a:rPr lang="en-US" sz="2800" dirty="0"/>
              <a:t> m = 5kg </a:t>
            </a:r>
            <a:r>
              <a:rPr lang="en-US" sz="2800" dirty="0" err="1"/>
              <a:t>chuyển</a:t>
            </a:r>
            <a:r>
              <a:rPr lang="en-US" sz="2800" dirty="0"/>
              <a:t> </a:t>
            </a:r>
            <a:r>
              <a:rPr lang="en-US" sz="2800" dirty="0" err="1"/>
              <a:t>động</a:t>
            </a:r>
            <a:r>
              <a:rPr lang="en-US" sz="2800" dirty="0"/>
              <a:t> </a:t>
            </a:r>
            <a:r>
              <a:rPr lang="en-US" sz="2800" dirty="0" err="1"/>
              <a:t>trên</a:t>
            </a:r>
            <a:r>
              <a:rPr lang="en-US" sz="2800" dirty="0"/>
              <a:t> </a:t>
            </a:r>
            <a:r>
              <a:rPr lang="en-US" sz="2800" dirty="0" err="1">
                <a:latin typeface="+mn-lt"/>
              </a:rPr>
              <a:t>đường</a:t>
            </a:r>
            <a:r>
              <a:rPr lang="en-US" sz="2800" dirty="0">
                <a:latin typeface="+mn-lt"/>
              </a:rPr>
              <a:t> </a:t>
            </a:r>
            <a:r>
              <a:rPr lang="en-US" sz="2800" dirty="0" err="1">
                <a:latin typeface="+mn-lt"/>
              </a:rPr>
              <a:t>thẳng</a:t>
            </a:r>
            <a:r>
              <a:rPr lang="en-US" sz="2800" dirty="0"/>
              <a:t> </a:t>
            </a:r>
            <a:r>
              <a:rPr lang="en-US" sz="2800" dirty="0" err="1"/>
              <a:t>với</a:t>
            </a:r>
            <a:r>
              <a:rPr lang="en-US" sz="2800" dirty="0"/>
              <a:t> </a:t>
            </a:r>
            <a:r>
              <a:rPr lang="en-US" sz="2800" dirty="0" err="1"/>
              <a:t>vận</a:t>
            </a:r>
            <a:r>
              <a:rPr lang="en-US" sz="2800" dirty="0"/>
              <a:t> </a:t>
            </a:r>
            <a:r>
              <a:rPr lang="en-US" sz="2800" dirty="0" err="1"/>
              <a:t>tốc</a:t>
            </a:r>
            <a:r>
              <a:rPr lang="en-US" sz="2800" dirty="0"/>
              <a:t> </a:t>
            </a:r>
            <a:r>
              <a:rPr lang="en-US" sz="2800" dirty="0" err="1"/>
              <a:t>tăng</a:t>
            </a:r>
            <a:r>
              <a:rPr lang="en-US" sz="2800" dirty="0"/>
              <a:t> </a:t>
            </a:r>
            <a:r>
              <a:rPr lang="en-US" sz="2800" dirty="0" err="1"/>
              <a:t>dần</a:t>
            </a:r>
            <a:r>
              <a:rPr lang="en-US" sz="2800" dirty="0"/>
              <a:t> </a:t>
            </a:r>
            <a:r>
              <a:rPr lang="en-US" sz="2800" dirty="0" err="1"/>
              <a:t>từ</a:t>
            </a:r>
            <a:r>
              <a:rPr lang="en-US" sz="2800" dirty="0"/>
              <a:t> 2m/s </a:t>
            </a:r>
            <a:r>
              <a:rPr lang="en-US" sz="2800" dirty="0" err="1"/>
              <a:t>đến</a:t>
            </a:r>
            <a:r>
              <a:rPr lang="en-US" sz="2800" dirty="0"/>
              <a:t> 5m/s. </a:t>
            </a:r>
            <a:r>
              <a:rPr lang="en-US" sz="2800" dirty="0" err="1"/>
              <a:t>Tính</a:t>
            </a:r>
            <a:r>
              <a:rPr lang="en-US" sz="2800" dirty="0"/>
              <a:t> </a:t>
            </a:r>
            <a:r>
              <a:rPr lang="en-US" sz="2800" dirty="0" err="1">
                <a:solidFill>
                  <a:srgbClr val="FF0066"/>
                </a:solidFill>
              </a:rPr>
              <a:t>độ</a:t>
            </a:r>
            <a:r>
              <a:rPr lang="en-US" sz="2800" dirty="0">
                <a:solidFill>
                  <a:srgbClr val="FF0066"/>
                </a:solidFill>
              </a:rPr>
              <a:t> </a:t>
            </a:r>
            <a:r>
              <a:rPr lang="en-US" sz="2800" dirty="0" err="1">
                <a:solidFill>
                  <a:srgbClr val="FF0066"/>
                </a:solidFill>
              </a:rPr>
              <a:t>biến</a:t>
            </a:r>
            <a:r>
              <a:rPr lang="en-US" sz="2800" dirty="0">
                <a:solidFill>
                  <a:srgbClr val="FF0066"/>
                </a:solidFill>
              </a:rPr>
              <a:t> </a:t>
            </a:r>
            <a:r>
              <a:rPr lang="en-US" sz="2800" dirty="0" err="1">
                <a:solidFill>
                  <a:srgbClr val="FF0066"/>
                </a:solidFill>
              </a:rPr>
              <a:t>thiên</a:t>
            </a:r>
            <a:r>
              <a:rPr lang="en-US" sz="2800" dirty="0">
                <a:solidFill>
                  <a:srgbClr val="FF0066"/>
                </a:solidFill>
              </a:rPr>
              <a:t> </a:t>
            </a:r>
            <a:r>
              <a:rPr lang="en-US" sz="2800" dirty="0" err="1">
                <a:solidFill>
                  <a:srgbClr val="FF0066"/>
                </a:solidFill>
              </a:rPr>
              <a:t>động</a:t>
            </a:r>
            <a:r>
              <a:rPr lang="en-US" sz="2800" dirty="0">
                <a:solidFill>
                  <a:srgbClr val="FF0066"/>
                </a:solidFill>
              </a:rPr>
              <a:t> </a:t>
            </a:r>
            <a:r>
              <a:rPr lang="en-US" sz="2800" dirty="0" err="1">
                <a:solidFill>
                  <a:srgbClr val="FF0066"/>
                </a:solidFill>
              </a:rPr>
              <a:t>lượng</a:t>
            </a:r>
            <a:r>
              <a:rPr lang="en-US" sz="2800" dirty="0">
                <a:solidFill>
                  <a:srgbClr val="FF0066"/>
                </a:solidFill>
              </a:rPr>
              <a:t> (</a:t>
            </a:r>
            <a:r>
              <a:rPr lang="en-US" sz="2800" dirty="0" err="1">
                <a:solidFill>
                  <a:srgbClr val="FF0066"/>
                </a:solidFill>
              </a:rPr>
              <a:t>xung</a:t>
            </a:r>
            <a:r>
              <a:rPr lang="en-US" sz="2800" dirty="0">
                <a:solidFill>
                  <a:srgbClr val="FF0066"/>
                </a:solidFill>
              </a:rPr>
              <a:t> </a:t>
            </a:r>
            <a:r>
              <a:rPr lang="en-US" sz="2800" dirty="0" err="1">
                <a:solidFill>
                  <a:srgbClr val="FF0066"/>
                </a:solidFill>
              </a:rPr>
              <a:t>lượng</a:t>
            </a:r>
            <a:r>
              <a:rPr lang="en-US" sz="2800" dirty="0">
                <a:solidFill>
                  <a:srgbClr val="FF0066"/>
                </a:solidFill>
              </a:rPr>
              <a:t>)</a:t>
            </a:r>
            <a:r>
              <a:rPr lang="en-US" sz="2800" dirty="0"/>
              <a:t> </a:t>
            </a:r>
            <a:r>
              <a:rPr lang="en-US" sz="2800" dirty="0" err="1"/>
              <a:t>của</a:t>
            </a:r>
            <a:r>
              <a:rPr lang="en-US" sz="2800" dirty="0"/>
              <a:t> </a:t>
            </a:r>
            <a:r>
              <a:rPr lang="en-US" sz="2800" dirty="0" err="1"/>
              <a:t>chất</a:t>
            </a:r>
            <a:r>
              <a:rPr lang="en-US" sz="2800" dirty="0"/>
              <a:t> </a:t>
            </a:r>
            <a:r>
              <a:rPr lang="en-US" sz="2800" dirty="0" err="1"/>
              <a:t>điểm</a:t>
            </a:r>
            <a:r>
              <a:rPr lang="en-US" sz="2800" dirty="0"/>
              <a:t>.</a:t>
            </a:r>
            <a:br>
              <a:rPr lang="en-US" sz="2800" dirty="0"/>
            </a:br>
            <a:endParaRPr lang="en-US" sz="2800" dirty="0"/>
          </a:p>
        </p:txBody>
      </p:sp>
      <p:sp>
        <p:nvSpPr>
          <p:cNvPr id="24579" name="Rectangle 13"/>
          <p:cNvSpPr>
            <a:spLocks noGrp="1"/>
          </p:cNvSpPr>
          <p:nvPr>
            <p:ph idx="4294967295"/>
          </p:nvPr>
        </p:nvSpPr>
        <p:spPr>
          <a:xfrm>
            <a:off x="0" y="4114800"/>
            <a:ext cx="8229600" cy="2316163"/>
          </a:xfrm>
          <a:solidFill>
            <a:schemeClr val="accent5">
              <a:lumMod val="40000"/>
              <a:lumOff val="60000"/>
            </a:schemeClr>
          </a:solidFill>
        </p:spPr>
        <p:txBody>
          <a:bodyPr/>
          <a:lstStyle/>
          <a:p>
            <a:pPr eaLnBrk="1" hangingPunct="1">
              <a:buFont typeface="Arial" charset="0"/>
              <a:buNone/>
              <a:defRPr/>
            </a:pPr>
            <a:r>
              <a:rPr lang="en-US" sz="2800" dirty="0"/>
              <a:t>2) </a:t>
            </a:r>
            <a:r>
              <a:rPr lang="en-US" sz="2800" dirty="0" err="1"/>
              <a:t>Quả</a:t>
            </a:r>
            <a:r>
              <a:rPr lang="en-US" sz="2800" dirty="0"/>
              <a:t> </a:t>
            </a:r>
            <a:r>
              <a:rPr lang="en-US" sz="2800" dirty="0" err="1"/>
              <a:t>bóng</a:t>
            </a:r>
            <a:r>
              <a:rPr lang="en-US" sz="2800" dirty="0"/>
              <a:t> 300g </a:t>
            </a:r>
            <a:r>
              <a:rPr lang="en-US" sz="2800" dirty="0" err="1"/>
              <a:t>đập</a:t>
            </a:r>
            <a:r>
              <a:rPr lang="en-US" sz="2800" dirty="0"/>
              <a:t> </a:t>
            </a:r>
            <a:r>
              <a:rPr lang="en-US" sz="2800" dirty="0" err="1"/>
              <a:t>vào</a:t>
            </a:r>
            <a:r>
              <a:rPr lang="en-US" sz="2800" dirty="0"/>
              <a:t> </a:t>
            </a:r>
            <a:r>
              <a:rPr lang="en-US" sz="2800" dirty="0" err="1"/>
              <a:t>tường</a:t>
            </a:r>
            <a:r>
              <a:rPr lang="en-US" sz="2800" dirty="0"/>
              <a:t> </a:t>
            </a:r>
            <a:r>
              <a:rPr lang="en-US" sz="2800" dirty="0" err="1"/>
              <a:t>theo</a:t>
            </a:r>
            <a:r>
              <a:rPr lang="en-US" sz="2800" dirty="0"/>
              <a:t> </a:t>
            </a:r>
            <a:r>
              <a:rPr lang="en-US" sz="2800" dirty="0" err="1"/>
              <a:t>hướng</a:t>
            </a:r>
            <a:r>
              <a:rPr lang="en-US" sz="2800" dirty="0"/>
              <a:t> </a:t>
            </a:r>
            <a:r>
              <a:rPr lang="en-US" sz="2800" dirty="0" err="1"/>
              <a:t>hợp</a:t>
            </a:r>
            <a:r>
              <a:rPr lang="en-US" sz="2800" dirty="0"/>
              <a:t> </a:t>
            </a:r>
            <a:r>
              <a:rPr lang="en-US" sz="2800" dirty="0" err="1"/>
              <a:t>với</a:t>
            </a:r>
            <a:r>
              <a:rPr lang="en-US" sz="2800" dirty="0"/>
              <a:t> </a:t>
            </a:r>
            <a:r>
              <a:rPr lang="en-US" sz="2800" dirty="0" err="1"/>
              <a:t>tường</a:t>
            </a:r>
            <a:r>
              <a:rPr lang="en-US" sz="2800" dirty="0"/>
              <a:t> </a:t>
            </a:r>
            <a:r>
              <a:rPr lang="en-US" sz="2800" dirty="0" err="1"/>
              <a:t>một</a:t>
            </a:r>
            <a:r>
              <a:rPr lang="en-US" sz="2800" dirty="0"/>
              <a:t> </a:t>
            </a:r>
            <a:r>
              <a:rPr lang="en-US" sz="2800" dirty="0" err="1"/>
              <a:t>góc</a:t>
            </a:r>
            <a:r>
              <a:rPr lang="en-US" sz="2800" dirty="0"/>
              <a:t> 30° </a:t>
            </a:r>
            <a:r>
              <a:rPr lang="en-US" sz="2800" dirty="0" err="1"/>
              <a:t>với</a:t>
            </a:r>
            <a:r>
              <a:rPr lang="en-US" sz="2800" dirty="0"/>
              <a:t> </a:t>
            </a:r>
            <a:r>
              <a:rPr lang="en-US" sz="2800" dirty="0" err="1"/>
              <a:t>vận</a:t>
            </a:r>
            <a:r>
              <a:rPr lang="en-US" sz="2800" dirty="0"/>
              <a:t> </a:t>
            </a:r>
            <a:r>
              <a:rPr lang="en-US" sz="2800" dirty="0" err="1"/>
              <a:t>tốc</a:t>
            </a:r>
            <a:r>
              <a:rPr lang="en-US" sz="2800" dirty="0"/>
              <a:t> 10m/s </a:t>
            </a:r>
            <a:r>
              <a:rPr lang="en-US" sz="2800" dirty="0" err="1"/>
              <a:t>rồi</a:t>
            </a:r>
            <a:r>
              <a:rPr lang="en-US" sz="2800" dirty="0"/>
              <a:t> </a:t>
            </a:r>
            <a:r>
              <a:rPr lang="en-US" sz="2800" dirty="0" err="1"/>
              <a:t>nảy</a:t>
            </a:r>
            <a:r>
              <a:rPr lang="en-US" sz="2800" dirty="0"/>
              <a:t> </a:t>
            </a:r>
            <a:r>
              <a:rPr lang="en-US" sz="2800" dirty="0" err="1"/>
              <a:t>ra</a:t>
            </a:r>
            <a:r>
              <a:rPr lang="en-US" sz="2800" dirty="0"/>
              <a:t> </a:t>
            </a:r>
            <a:r>
              <a:rPr lang="en-US" sz="2800" dirty="0" err="1"/>
              <a:t>theo</a:t>
            </a:r>
            <a:r>
              <a:rPr lang="en-US" sz="2800" dirty="0"/>
              <a:t> </a:t>
            </a:r>
            <a:r>
              <a:rPr lang="en-US" sz="2800" dirty="0" err="1"/>
              <a:t>phương</a:t>
            </a:r>
            <a:r>
              <a:rPr lang="en-US" sz="2800" dirty="0"/>
              <a:t> </a:t>
            </a:r>
            <a:r>
              <a:rPr lang="en-US" sz="2800" dirty="0" err="1"/>
              <a:t>đối</a:t>
            </a:r>
            <a:r>
              <a:rPr lang="en-US" sz="2800" dirty="0"/>
              <a:t> </a:t>
            </a:r>
            <a:r>
              <a:rPr lang="en-US" sz="2800" dirty="0" err="1"/>
              <a:t>xứng</a:t>
            </a:r>
            <a:r>
              <a:rPr lang="en-US" sz="2800" dirty="0"/>
              <a:t> </a:t>
            </a:r>
            <a:r>
              <a:rPr lang="en-US" sz="2800" dirty="0" err="1"/>
              <a:t>với</a:t>
            </a:r>
            <a:r>
              <a:rPr lang="en-US" sz="2800" dirty="0"/>
              <a:t> </a:t>
            </a:r>
            <a:r>
              <a:rPr lang="en-US" sz="2800" dirty="0" err="1"/>
              <a:t>phương</a:t>
            </a:r>
            <a:r>
              <a:rPr lang="en-US" sz="2800" dirty="0"/>
              <a:t> </a:t>
            </a:r>
            <a:r>
              <a:rPr lang="en-US" sz="2800" dirty="0" err="1"/>
              <a:t>đập</a:t>
            </a:r>
            <a:r>
              <a:rPr lang="en-US" sz="2800" dirty="0"/>
              <a:t> </a:t>
            </a:r>
            <a:r>
              <a:rPr lang="en-US" sz="2800" dirty="0" err="1"/>
              <a:t>vào</a:t>
            </a:r>
            <a:r>
              <a:rPr lang="en-US" sz="2800" dirty="0"/>
              <a:t> </a:t>
            </a:r>
            <a:r>
              <a:rPr lang="en-US" sz="2800" dirty="0" err="1"/>
              <a:t>tường</a:t>
            </a:r>
            <a:r>
              <a:rPr lang="en-US" sz="2800" dirty="0"/>
              <a:t> qua </a:t>
            </a:r>
            <a:r>
              <a:rPr lang="en-US" sz="2800" dirty="0" err="1"/>
              <a:t>pháp</a:t>
            </a:r>
            <a:r>
              <a:rPr lang="en-US" sz="2800" dirty="0"/>
              <a:t> </a:t>
            </a:r>
            <a:r>
              <a:rPr lang="en-US" sz="2800" dirty="0" err="1"/>
              <a:t>tuyến</a:t>
            </a:r>
            <a:r>
              <a:rPr lang="en-US" sz="2800" dirty="0"/>
              <a:t> </a:t>
            </a:r>
            <a:r>
              <a:rPr lang="en-US" sz="2800" dirty="0" err="1"/>
              <a:t>của</a:t>
            </a:r>
            <a:r>
              <a:rPr lang="en-US" sz="2800" dirty="0"/>
              <a:t> </a:t>
            </a:r>
            <a:r>
              <a:rPr lang="en-US" sz="2800" dirty="0" err="1"/>
              <a:t>tường</a:t>
            </a:r>
            <a:r>
              <a:rPr lang="en-US" sz="2800" dirty="0"/>
              <a:t> </a:t>
            </a:r>
            <a:r>
              <a:rPr lang="en-US" sz="2800" dirty="0" err="1"/>
              <a:t>với</a:t>
            </a:r>
            <a:r>
              <a:rPr lang="en-US" sz="2800" dirty="0"/>
              <a:t> </a:t>
            </a:r>
            <a:r>
              <a:rPr lang="en-US" sz="2800" dirty="0" err="1"/>
              <a:t>vận</a:t>
            </a:r>
            <a:r>
              <a:rPr lang="en-US" sz="2800" dirty="0"/>
              <a:t> </a:t>
            </a:r>
            <a:r>
              <a:rPr lang="en-US" sz="2800" dirty="0" err="1"/>
              <a:t>tốc</a:t>
            </a:r>
            <a:r>
              <a:rPr lang="en-US" sz="2800" dirty="0"/>
              <a:t> </a:t>
            </a:r>
            <a:r>
              <a:rPr lang="en-US" sz="2800" dirty="0" err="1"/>
              <a:t>cũ</a:t>
            </a:r>
            <a:r>
              <a:rPr lang="en-US" sz="2800" dirty="0"/>
              <a:t>. </a:t>
            </a:r>
            <a:r>
              <a:rPr lang="en-US" sz="2800" dirty="0" err="1"/>
              <a:t>Tính</a:t>
            </a:r>
            <a:r>
              <a:rPr lang="en-US" sz="2800" dirty="0"/>
              <a:t> </a:t>
            </a:r>
            <a:r>
              <a:rPr lang="en-US" sz="2800" dirty="0" err="1">
                <a:solidFill>
                  <a:srgbClr val="FF0066"/>
                </a:solidFill>
              </a:rPr>
              <a:t>xung</a:t>
            </a:r>
            <a:r>
              <a:rPr lang="en-US" sz="2800" dirty="0">
                <a:solidFill>
                  <a:srgbClr val="FF0066"/>
                </a:solidFill>
              </a:rPr>
              <a:t> </a:t>
            </a:r>
            <a:r>
              <a:rPr lang="en-US" sz="2800" dirty="0" err="1">
                <a:solidFill>
                  <a:srgbClr val="FF0066"/>
                </a:solidFill>
              </a:rPr>
              <a:t>lượng</a:t>
            </a:r>
            <a:r>
              <a:rPr lang="en-US" sz="2800" dirty="0"/>
              <a:t> </a:t>
            </a:r>
            <a:r>
              <a:rPr lang="en-US" sz="2800" dirty="0" err="1"/>
              <a:t>mà</a:t>
            </a:r>
            <a:r>
              <a:rPr lang="en-US" sz="2800" dirty="0"/>
              <a:t> </a:t>
            </a:r>
            <a:r>
              <a:rPr lang="en-US" sz="2800" dirty="0" err="1"/>
              <a:t>tường</a:t>
            </a:r>
            <a:r>
              <a:rPr lang="en-US" sz="2800" dirty="0"/>
              <a:t> </a:t>
            </a:r>
            <a:r>
              <a:rPr lang="en-US" sz="2800" dirty="0" err="1"/>
              <a:t>tác</a:t>
            </a:r>
            <a:r>
              <a:rPr lang="en-US" sz="2800" dirty="0"/>
              <a:t> </a:t>
            </a:r>
            <a:r>
              <a:rPr lang="en-US" sz="2800" dirty="0" err="1"/>
              <a:t>dụng</a:t>
            </a:r>
            <a:r>
              <a:rPr lang="en-US" sz="2800" dirty="0"/>
              <a:t> </a:t>
            </a:r>
            <a:r>
              <a:rPr lang="en-US" sz="2800" dirty="0" err="1"/>
              <a:t>lên</a:t>
            </a:r>
            <a:r>
              <a:rPr lang="en-US" sz="2800" dirty="0"/>
              <a:t> </a:t>
            </a:r>
            <a:r>
              <a:rPr lang="en-US" sz="2800" dirty="0" err="1"/>
              <a:t>quả</a:t>
            </a:r>
            <a:r>
              <a:rPr lang="en-US" sz="2800" dirty="0"/>
              <a:t> </a:t>
            </a:r>
            <a:r>
              <a:rPr lang="en-US" sz="2800" dirty="0" err="1"/>
              <a:t>bóng</a:t>
            </a:r>
            <a:r>
              <a:rPr lang="en-US" sz="2800" dirty="0"/>
              <a:t>.</a:t>
            </a:r>
          </a:p>
        </p:txBody>
      </p:sp>
      <p:sp>
        <p:nvSpPr>
          <p:cNvPr id="2" name="Rectangle 1"/>
          <p:cNvSpPr/>
          <p:nvPr/>
        </p:nvSpPr>
        <p:spPr>
          <a:xfrm>
            <a:off x="457200" y="304800"/>
            <a:ext cx="8153400" cy="121920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2800" b="1">
                <a:solidFill>
                  <a:srgbClr val="FF0000"/>
                </a:solidFill>
              </a:rPr>
              <a:t>Các định lý về động lượng và xung lượng dùng để giải quyết các bài toán về va chạm</a:t>
            </a:r>
          </a:p>
        </p:txBody>
      </p:sp>
      <mc:AlternateContent xmlns:mc="http://schemas.openxmlformats.org/markup-compatibility/2006" xmlns:a14="http://schemas.microsoft.com/office/drawing/2010/main">
        <mc:Choice Requires="a14">
          <p:sp>
            <p:nvSpPr>
              <p:cNvPr id="3" name="Oval Callout 2"/>
              <p:cNvSpPr/>
              <p:nvPr/>
            </p:nvSpPr>
            <p:spPr>
              <a:xfrm>
                <a:off x="5867400" y="3048000"/>
                <a:ext cx="3505200" cy="1249680"/>
              </a:xfrm>
              <a:prstGeom prst="wedgeEllipseCallout">
                <a:avLst>
                  <a:gd name="adj1" fmla="val -53628"/>
                  <a:gd name="adj2" fmla="val -32194"/>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a:rPr lang="en-US" i="1" smtClean="0">
                        <a:latin typeface="Cambria Math"/>
                        <a:ea typeface="Cambria Math"/>
                      </a:rPr>
                      <m:t>∆</m:t>
                    </m:r>
                    <m:r>
                      <a:rPr lang="en-US" b="0" i="1" smtClean="0">
                        <a:latin typeface="Cambria Math"/>
                        <a:ea typeface="Cambria Math"/>
                      </a:rPr>
                      <m:t>𝑝</m:t>
                    </m:r>
                    <m:r>
                      <a:rPr lang="en-US" b="0" i="1" smtClean="0">
                        <a:latin typeface="Cambria Math"/>
                        <a:ea typeface="Cambria Math"/>
                      </a:rPr>
                      <m:t>= </m:t>
                    </m:r>
                  </m:oMath>
                </a14:m>
                <a:r>
                  <a:rPr lang="en-US" dirty="0"/>
                  <a:t>p2 – p1 = mv2 – mv1 = 5(5-2) = 15 </a:t>
                </a:r>
                <a:r>
                  <a:rPr lang="en-US" dirty="0" err="1"/>
                  <a:t>kgm</a:t>
                </a:r>
                <a:r>
                  <a:rPr lang="en-US" dirty="0"/>
                  <a:t>/s</a:t>
                </a:r>
              </a:p>
              <a:p>
                <a:pPr algn="ctr"/>
                <a14:m>
                  <m:oMath xmlns:m="http://schemas.openxmlformats.org/officeDocument/2006/math">
                    <m:r>
                      <a:rPr lang="en-US" i="1" smtClean="0">
                        <a:latin typeface="Cambria Math"/>
                        <a:ea typeface="Cambria Math"/>
                      </a:rPr>
                      <m:t>∆</m:t>
                    </m:r>
                    <m:r>
                      <a:rPr lang="en-US" b="0" i="1" smtClean="0">
                        <a:latin typeface="Cambria Math"/>
                        <a:ea typeface="Cambria Math"/>
                      </a:rPr>
                      <m:t>𝑝</m:t>
                    </m:r>
                    <m:r>
                      <a:rPr lang="en-US" b="0" i="1" smtClean="0">
                        <a:latin typeface="Cambria Math"/>
                        <a:ea typeface="Cambria Math"/>
                      </a:rPr>
                      <m:t> </m:t>
                    </m:r>
                  </m:oMath>
                </a14:m>
                <a:r>
                  <a:rPr lang="en-US" dirty="0"/>
                  <a:t>= F.</a:t>
                </a:r>
                <a14:m>
                  <m:oMath xmlns:m="http://schemas.openxmlformats.org/officeDocument/2006/math">
                    <m:r>
                      <a:rPr lang="en-US" i="1" smtClean="0">
                        <a:latin typeface="Cambria Math"/>
                        <a:ea typeface="Cambria Math"/>
                      </a:rPr>
                      <m:t>∆</m:t>
                    </m:r>
                    <m:r>
                      <a:rPr lang="en-US" b="0" i="1" smtClean="0">
                        <a:latin typeface="Cambria Math"/>
                        <a:ea typeface="Cambria Math"/>
                      </a:rPr>
                      <m:t>𝑡</m:t>
                    </m:r>
                  </m:oMath>
                </a14:m>
                <a:endParaRPr lang="en-US" dirty="0"/>
              </a:p>
            </p:txBody>
          </p:sp>
        </mc:Choice>
        <mc:Fallback xmlns="">
          <p:sp>
            <p:nvSpPr>
              <p:cNvPr id="3" name="Oval Callout 2"/>
              <p:cNvSpPr>
                <a:spLocks noRot="1" noChangeAspect="1" noMove="1" noResize="1" noEditPoints="1" noAdjustHandles="1" noChangeArrowheads="1" noChangeShapeType="1" noTextEdit="1"/>
              </p:cNvSpPr>
              <p:nvPr/>
            </p:nvSpPr>
            <p:spPr>
              <a:xfrm>
                <a:off x="5867400" y="3048000"/>
                <a:ext cx="3505200" cy="1249680"/>
              </a:xfrm>
              <a:prstGeom prst="wedgeEllipseCallout">
                <a:avLst>
                  <a:gd name="adj1" fmla="val -53628"/>
                  <a:gd name="adj2" fmla="val -32194"/>
                </a:avLst>
              </a:prstGeom>
              <a:blipFill rotWithShape="1">
                <a:blip r:embed="rId2"/>
                <a:stretch>
                  <a:fillRect/>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F76CA280-9649-5651-212C-B5F75E33F903}"/>
              </a:ext>
            </a:extLst>
          </p:cNvPr>
          <p:cNvSpPr>
            <a:spLocks noGrp="1"/>
          </p:cNvSpPr>
          <p:nvPr>
            <p:ph type="ftr" sz="quarter" idx="11"/>
          </p:nvPr>
        </p:nvSpPr>
        <p:spPr/>
        <p:txBody>
          <a:bodyPr/>
          <a:lstStyle/>
          <a:p>
            <a:r>
              <a:rPr lang="en-US"/>
              <a:t>Bùi Quốc Trung - VLDC</a:t>
            </a:r>
          </a:p>
        </p:txBody>
      </p:sp>
      <p:sp>
        <p:nvSpPr>
          <p:cNvPr id="6" name="Slide Number Placeholder 5">
            <a:extLst>
              <a:ext uri="{FF2B5EF4-FFF2-40B4-BE49-F238E27FC236}">
                <a16:creationId xmlns:a16="http://schemas.microsoft.com/office/drawing/2014/main" id="{1EB1D354-4336-89D9-97EC-6171859C3656}"/>
              </a:ext>
            </a:extLst>
          </p:cNvPr>
          <p:cNvSpPr>
            <a:spLocks noGrp="1"/>
          </p:cNvSpPr>
          <p:nvPr>
            <p:ph type="sldNum" sz="quarter" idx="12"/>
          </p:nvPr>
        </p:nvSpPr>
        <p:spPr/>
        <p:txBody>
          <a:bodyPr/>
          <a:lstStyle/>
          <a:p>
            <a:fld id="{C4A94DE9-7404-4CC4-BDD8-EA2E97866C70}" type="slidenum">
              <a:rPr lang="en-US" smtClean="0"/>
              <a:t>36</a:t>
            </a:fld>
            <a:endParaRPr lang="en-US"/>
          </a:p>
        </p:txBody>
      </p:sp>
    </p:spTree>
    <p:extLst>
      <p:ext uri="{BB962C8B-B14F-4D97-AF65-F5344CB8AC3E}">
        <p14:creationId xmlns:p14="http://schemas.microsoft.com/office/powerpoint/2010/main" val="19229541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3259"/>
                                        </p:tgtEl>
                                        <p:attrNameLst>
                                          <p:attrName>style.visibility</p:attrName>
                                        </p:attrNameLst>
                                      </p:cBhvr>
                                      <p:to>
                                        <p:strVal val="visible"/>
                                      </p:to>
                                    </p:set>
                                    <p:anim calcmode="lin" valueType="num">
                                      <p:cBhvr additive="base">
                                        <p:cTn id="13" dur="500" fill="hold"/>
                                        <p:tgtEl>
                                          <p:spTgt spid="53259"/>
                                        </p:tgtEl>
                                        <p:attrNameLst>
                                          <p:attrName>ppt_x</p:attrName>
                                        </p:attrNameLst>
                                      </p:cBhvr>
                                      <p:tavLst>
                                        <p:tav tm="0">
                                          <p:val>
                                            <p:strVal val="#ppt_x"/>
                                          </p:val>
                                        </p:tav>
                                        <p:tav tm="100000">
                                          <p:val>
                                            <p:strVal val="#ppt_x"/>
                                          </p:val>
                                        </p:tav>
                                      </p:tavLst>
                                    </p:anim>
                                    <p:anim calcmode="lin" valueType="num">
                                      <p:cBhvr additive="base">
                                        <p:cTn id="14" dur="500" fill="hold"/>
                                        <p:tgtEl>
                                          <p:spTgt spid="5325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579">
                                            <p:bg/>
                                          </p:spTgt>
                                        </p:tgtEl>
                                        <p:attrNameLst>
                                          <p:attrName>style.visibility</p:attrName>
                                        </p:attrNameLst>
                                      </p:cBhvr>
                                      <p:to>
                                        <p:strVal val="visible"/>
                                      </p:to>
                                    </p:set>
                                    <p:anim calcmode="lin" valueType="num">
                                      <p:cBhvr additive="base">
                                        <p:cTn id="19" dur="500" fill="hold"/>
                                        <p:tgtEl>
                                          <p:spTgt spid="24579">
                                            <p:bg/>
                                          </p:spTgt>
                                        </p:tgtEl>
                                        <p:attrNameLst>
                                          <p:attrName>ppt_x</p:attrName>
                                        </p:attrNameLst>
                                      </p:cBhvr>
                                      <p:tavLst>
                                        <p:tav tm="0">
                                          <p:val>
                                            <p:strVal val="#ppt_x"/>
                                          </p:val>
                                        </p:tav>
                                        <p:tav tm="100000">
                                          <p:val>
                                            <p:strVal val="#ppt_x"/>
                                          </p:val>
                                        </p:tav>
                                      </p:tavLst>
                                    </p:anim>
                                    <p:anim calcmode="lin" valueType="num">
                                      <p:cBhvr additive="base">
                                        <p:cTn id="20" dur="500" fill="hold"/>
                                        <p:tgtEl>
                                          <p:spTgt spid="24579">
                                            <p:bg/>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4579">
                                            <p:txEl>
                                              <p:pRg st="0" end="0"/>
                                            </p:txEl>
                                          </p:spTgt>
                                        </p:tgtEl>
                                        <p:attrNameLst>
                                          <p:attrName>style.visibility</p:attrName>
                                        </p:attrNameLst>
                                      </p:cBhvr>
                                      <p:to>
                                        <p:strVal val="visible"/>
                                      </p:to>
                                    </p:set>
                                    <p:anim calcmode="lin" valueType="num">
                                      <p:cBhvr additive="base">
                                        <p:cTn id="25"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5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arn(inVertical)">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9" grpId="0" animBg="1"/>
      <p:bldP spid="24579" grpId="0" build="p" animBg="1"/>
      <p:bldP spid="2" grpId="0" animBg="1"/>
      <p:bldP spid="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3733800" y="1981200"/>
            <a:ext cx="0" cy="2895600"/>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Arrow Connector 5"/>
          <p:cNvCxnSpPr/>
          <p:nvPr/>
        </p:nvCxnSpPr>
        <p:spPr>
          <a:xfrm flipH="1">
            <a:off x="3733800" y="1981200"/>
            <a:ext cx="1295400" cy="1295400"/>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p:nvCxnSpPr>
        <p:spPr>
          <a:xfrm flipH="1">
            <a:off x="1828800" y="3270095"/>
            <a:ext cx="4114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733800" y="3276600"/>
            <a:ext cx="1371600" cy="1371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ctangle 15"/>
              <p:cNvSpPr/>
              <p:nvPr/>
            </p:nvSpPr>
            <p:spPr>
              <a:xfrm>
                <a:off x="6096000" y="762000"/>
                <a:ext cx="2514589" cy="1143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a:rPr lang="en-US" i="1" smtClean="0">
                        <a:latin typeface="Cambria Math"/>
                        <a:ea typeface="Cambria Math"/>
                      </a:rPr>
                      <m:t>∆</m:t>
                    </m:r>
                    <m:acc>
                      <m:accPr>
                        <m:chr m:val="⃗"/>
                        <m:ctrlPr>
                          <a:rPr lang="en-US" i="1" smtClean="0">
                            <a:latin typeface="Cambria Math" panose="02040503050406030204" pitchFamily="18" charset="0"/>
                            <a:ea typeface="Cambria Math"/>
                          </a:rPr>
                        </m:ctrlPr>
                      </m:accPr>
                      <m:e>
                        <m:r>
                          <a:rPr lang="en-US" b="0" i="1" smtClean="0">
                            <a:latin typeface="Cambria Math"/>
                            <a:ea typeface="Cambria Math"/>
                          </a:rPr>
                          <m:t>𝑝</m:t>
                        </m:r>
                      </m:e>
                    </m:acc>
                  </m:oMath>
                </a14:m>
                <a:r>
                  <a:rPr lang="en-US" dirty="0"/>
                  <a:t> =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a:rPr>
                              <m:t>𝑝</m:t>
                            </m:r>
                          </m:e>
                          <m:sub>
                            <m:r>
                              <a:rPr lang="en-US" b="0" i="1" smtClean="0">
                                <a:latin typeface="Cambria Math"/>
                              </a:rPr>
                              <m:t>2</m:t>
                            </m:r>
                          </m:sub>
                        </m:sSub>
                      </m:e>
                    </m:acc>
                    <m:r>
                      <a:rPr lang="en-US" b="0" i="1" smtClean="0">
                        <a:latin typeface="Cambria Math"/>
                      </a:rPr>
                      <m:t> </m:t>
                    </m:r>
                  </m:oMath>
                </a14:m>
                <a:r>
                  <a:rPr lang="en-US" dirty="0"/>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a:rPr>
                              <m:t>𝑝</m:t>
                            </m:r>
                          </m:e>
                          <m:sub>
                            <m:r>
                              <a:rPr lang="en-US" b="0" i="1" smtClean="0">
                                <a:latin typeface="Cambria Math"/>
                              </a:rPr>
                              <m:t>1</m:t>
                            </m:r>
                          </m:sub>
                        </m:sSub>
                      </m:e>
                    </m:acc>
                  </m:oMath>
                </a14:m>
                <a:r>
                  <a:rPr lang="en-US" dirty="0"/>
                  <a:t> =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𝑝</m:t>
                            </m:r>
                          </m:e>
                          <m:sub>
                            <m:r>
                              <a:rPr lang="en-US" i="1">
                                <a:latin typeface="Cambria Math"/>
                              </a:rPr>
                              <m:t>2</m:t>
                            </m:r>
                          </m:sub>
                        </m:sSub>
                      </m:e>
                    </m:acc>
                    <m:r>
                      <a:rPr lang="en-US" i="1">
                        <a:latin typeface="Cambria Math"/>
                      </a:rPr>
                      <m:t> </m:t>
                    </m:r>
                  </m:oMath>
                </a14:m>
                <a:r>
                  <a:rPr lang="en-US" dirty="0"/>
                  <a:t> + (-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𝑝</m:t>
                            </m:r>
                          </m:e>
                          <m:sub>
                            <m:r>
                              <a:rPr lang="en-US" i="1">
                                <a:latin typeface="Cambria Math"/>
                              </a:rPr>
                              <m:t>1</m:t>
                            </m:r>
                          </m:sub>
                        </m:sSub>
                      </m:e>
                    </m:acc>
                  </m:oMath>
                </a14:m>
                <a:r>
                  <a:rPr lang="en-US" dirty="0"/>
                  <a:t>) </a:t>
                </a:r>
              </a:p>
              <a:p>
                <a:pPr algn="ctr"/>
                <a:r>
                  <a:rPr lang="en-US" dirty="0"/>
                  <a:t>P1 = m.v1 = p2 = p</a:t>
                </a:r>
              </a:p>
            </p:txBody>
          </p:sp>
        </mc:Choice>
        <mc:Fallback xmlns="">
          <p:sp>
            <p:nvSpPr>
              <p:cNvPr id="16" name="Rectangle 15"/>
              <p:cNvSpPr>
                <a:spLocks noRot="1" noChangeAspect="1" noMove="1" noResize="1" noEditPoints="1" noAdjustHandles="1" noChangeArrowheads="1" noChangeShapeType="1" noTextEdit="1"/>
              </p:cNvSpPr>
              <p:nvPr/>
            </p:nvSpPr>
            <p:spPr>
              <a:xfrm>
                <a:off x="6096000" y="762000"/>
                <a:ext cx="2514589" cy="1143000"/>
              </a:xfrm>
              <a:prstGeom prst="rect">
                <a:avLst/>
              </a:prstGeom>
              <a:blipFill>
                <a:blip r:embed="rId2"/>
                <a:stretch>
                  <a:fillRect r="-2885"/>
                </a:stretch>
              </a:blipFill>
            </p:spPr>
            <p:txBody>
              <a:bodyPr/>
              <a:lstStyle/>
              <a:p>
                <a:r>
                  <a:rPr lang="en-US">
                    <a:noFill/>
                  </a:rPr>
                  <a:t> </a:t>
                </a:r>
              </a:p>
            </p:txBody>
          </p:sp>
        </mc:Fallback>
      </mc:AlternateContent>
      <p:cxnSp>
        <p:nvCxnSpPr>
          <p:cNvPr id="22" name="Straight Arrow Connector 21"/>
          <p:cNvCxnSpPr/>
          <p:nvPr/>
        </p:nvCxnSpPr>
        <p:spPr>
          <a:xfrm flipV="1">
            <a:off x="2438400" y="3276600"/>
            <a:ext cx="1295400" cy="1219200"/>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26" name="Straight Arrow Connector 25"/>
          <p:cNvCxnSpPr/>
          <p:nvPr/>
        </p:nvCxnSpPr>
        <p:spPr>
          <a:xfrm>
            <a:off x="2438400" y="4648200"/>
            <a:ext cx="25146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 name="Footer Placeholder 1">
            <a:extLst>
              <a:ext uri="{FF2B5EF4-FFF2-40B4-BE49-F238E27FC236}">
                <a16:creationId xmlns:a16="http://schemas.microsoft.com/office/drawing/2014/main" id="{232293B3-28E6-9B19-66D2-C6288FBD5C67}"/>
              </a:ext>
            </a:extLst>
          </p:cNvPr>
          <p:cNvSpPr>
            <a:spLocks noGrp="1"/>
          </p:cNvSpPr>
          <p:nvPr>
            <p:ph type="ftr" sz="quarter" idx="11"/>
          </p:nvPr>
        </p:nvSpPr>
        <p:spPr/>
        <p:txBody>
          <a:bodyPr/>
          <a:lstStyle/>
          <a:p>
            <a:r>
              <a:rPr lang="en-US"/>
              <a:t>Bùi Quốc Trung - VLDC</a:t>
            </a:r>
          </a:p>
        </p:txBody>
      </p:sp>
      <p:sp>
        <p:nvSpPr>
          <p:cNvPr id="4" name="Slide Number Placeholder 3">
            <a:extLst>
              <a:ext uri="{FF2B5EF4-FFF2-40B4-BE49-F238E27FC236}">
                <a16:creationId xmlns:a16="http://schemas.microsoft.com/office/drawing/2014/main" id="{00F54C19-19C9-BB49-7ABE-DB327004B4B8}"/>
              </a:ext>
            </a:extLst>
          </p:cNvPr>
          <p:cNvSpPr>
            <a:spLocks noGrp="1"/>
          </p:cNvSpPr>
          <p:nvPr>
            <p:ph type="sldNum" sz="quarter" idx="12"/>
          </p:nvPr>
        </p:nvSpPr>
        <p:spPr/>
        <p:txBody>
          <a:bodyPr/>
          <a:lstStyle/>
          <a:p>
            <a:fld id="{C4A94DE9-7404-4CC4-BDD8-EA2E97866C70}" type="slidenum">
              <a:rPr lang="en-US" smtClean="0"/>
              <a:t>37</a:t>
            </a:fld>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FB9CF6A4-EB8C-F552-564F-5EBF7669022A}"/>
                  </a:ext>
                </a:extLst>
              </p:cNvPr>
              <p:cNvSpPr/>
              <p:nvPr/>
            </p:nvSpPr>
            <p:spPr>
              <a:xfrm>
                <a:off x="2057401" y="3998167"/>
                <a:ext cx="3048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m:t>
                      </m:r>
                      <m:acc>
                        <m:accPr>
                          <m:chr m:val="⃗"/>
                          <m:ctrlPr>
                            <a:rPr lang="en-US" i="1" smtClean="0">
                              <a:solidFill>
                                <a:schemeClr val="tx1"/>
                              </a:solidFill>
                              <a:latin typeface="Cambria Math" panose="02040503050406030204" pitchFamily="18" charset="0"/>
                            </a:rPr>
                          </m:ctrlPr>
                        </m:accPr>
                        <m:e>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𝑝</m:t>
                              </m:r>
                            </m:e>
                            <m:sub>
                              <m:r>
                                <a:rPr lang="en-US" b="0" i="1" smtClean="0">
                                  <a:solidFill>
                                    <a:schemeClr val="tx1"/>
                                  </a:solidFill>
                                  <a:latin typeface="Cambria Math" panose="02040503050406030204" pitchFamily="18" charset="0"/>
                                </a:rPr>
                                <m:t>1</m:t>
                              </m:r>
                            </m:sub>
                          </m:sSub>
                        </m:e>
                      </m:acc>
                    </m:oMath>
                  </m:oMathPara>
                </a14:m>
                <a:endParaRPr lang="en-US" dirty="0">
                  <a:solidFill>
                    <a:schemeClr val="tx1"/>
                  </a:solidFill>
                </a:endParaRPr>
              </a:p>
            </p:txBody>
          </p:sp>
        </mc:Choice>
        <mc:Fallback xmlns="">
          <p:sp>
            <p:nvSpPr>
              <p:cNvPr id="5" name="Rectangle 4">
                <a:extLst>
                  <a:ext uri="{FF2B5EF4-FFF2-40B4-BE49-F238E27FC236}">
                    <a16:creationId xmlns:a16="http://schemas.microsoft.com/office/drawing/2014/main" id="{FB9CF6A4-EB8C-F552-564F-5EBF7669022A}"/>
                  </a:ext>
                </a:extLst>
              </p:cNvPr>
              <p:cNvSpPr>
                <a:spLocks noRot="1" noChangeAspect="1" noMove="1" noResize="1" noEditPoints="1" noAdjustHandles="1" noChangeArrowheads="1" noChangeShapeType="1" noTextEdit="1"/>
              </p:cNvSpPr>
              <p:nvPr/>
            </p:nvSpPr>
            <p:spPr>
              <a:xfrm>
                <a:off x="2057401" y="3998167"/>
                <a:ext cx="304800" cy="533400"/>
              </a:xfrm>
              <a:prstGeom prst="rect">
                <a:avLst/>
              </a:prstGeom>
              <a:blipFill>
                <a:blip r:embed="rId3"/>
                <a:stretch>
                  <a:fillRect l="-36000" r="-2200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6B2E86F8-BEA4-7856-E75E-C87657B0C470}"/>
                  </a:ext>
                </a:extLst>
              </p:cNvPr>
              <p:cNvSpPr/>
              <p:nvPr/>
            </p:nvSpPr>
            <p:spPr>
              <a:xfrm>
                <a:off x="5110065" y="4054360"/>
                <a:ext cx="3048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i="1" smtClean="0">
                              <a:solidFill>
                                <a:schemeClr val="tx1"/>
                              </a:solidFill>
                              <a:latin typeface="Cambria Math" panose="02040503050406030204" pitchFamily="18" charset="0"/>
                            </a:rPr>
                          </m:ctrlPr>
                        </m:accPr>
                        <m:e>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𝑝</m:t>
                              </m:r>
                            </m:e>
                            <m:sub>
                              <m:r>
                                <a:rPr lang="en-US" b="0" i="1" smtClean="0">
                                  <a:solidFill>
                                    <a:schemeClr val="tx1"/>
                                  </a:solidFill>
                                  <a:latin typeface="Cambria Math" panose="02040503050406030204" pitchFamily="18" charset="0"/>
                                </a:rPr>
                                <m:t>2</m:t>
                              </m:r>
                            </m:sub>
                          </m:sSub>
                        </m:e>
                      </m:acc>
                    </m:oMath>
                  </m:oMathPara>
                </a14:m>
                <a:endParaRPr lang="en-US" dirty="0">
                  <a:solidFill>
                    <a:schemeClr val="tx1"/>
                  </a:solidFill>
                </a:endParaRPr>
              </a:p>
            </p:txBody>
          </p:sp>
        </mc:Choice>
        <mc:Fallback xmlns="">
          <p:sp>
            <p:nvSpPr>
              <p:cNvPr id="7" name="Rectangle 6">
                <a:extLst>
                  <a:ext uri="{FF2B5EF4-FFF2-40B4-BE49-F238E27FC236}">
                    <a16:creationId xmlns:a16="http://schemas.microsoft.com/office/drawing/2014/main" id="{6B2E86F8-BEA4-7856-E75E-C87657B0C470}"/>
                  </a:ext>
                </a:extLst>
              </p:cNvPr>
              <p:cNvSpPr>
                <a:spLocks noRot="1" noChangeAspect="1" noMove="1" noResize="1" noEditPoints="1" noAdjustHandles="1" noChangeArrowheads="1" noChangeShapeType="1" noTextEdit="1"/>
              </p:cNvSpPr>
              <p:nvPr/>
            </p:nvSpPr>
            <p:spPr>
              <a:xfrm>
                <a:off x="5110065" y="4054360"/>
                <a:ext cx="304800" cy="533400"/>
              </a:xfrm>
              <a:prstGeom prst="rect">
                <a:avLst/>
              </a:prstGeom>
              <a:blipFill>
                <a:blip r:embed="rId4"/>
                <a:stretch>
                  <a:fillRect l="-2400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159903F3-99A1-503A-FAAD-6385A8B27124}"/>
                  </a:ext>
                </a:extLst>
              </p:cNvPr>
              <p:cNvSpPr/>
              <p:nvPr/>
            </p:nvSpPr>
            <p:spPr>
              <a:xfrm>
                <a:off x="4803709" y="2080442"/>
                <a:ext cx="606492"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i="1" smtClean="0">
                              <a:solidFill>
                                <a:schemeClr val="tx1"/>
                              </a:solidFill>
                              <a:latin typeface="Cambria Math" panose="02040503050406030204" pitchFamily="18" charset="0"/>
                            </a:rPr>
                          </m:ctrlPr>
                        </m:accPr>
                        <m:e>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𝑝</m:t>
                              </m:r>
                            </m:e>
                            <m:sub>
                              <m:r>
                                <a:rPr lang="en-US" b="0" i="1" smtClean="0">
                                  <a:solidFill>
                                    <a:schemeClr val="tx1"/>
                                  </a:solidFill>
                                  <a:latin typeface="Cambria Math" panose="02040503050406030204" pitchFamily="18" charset="0"/>
                                </a:rPr>
                                <m:t>1</m:t>
                              </m:r>
                            </m:sub>
                          </m:sSub>
                        </m:e>
                      </m:acc>
                    </m:oMath>
                  </m:oMathPara>
                </a14:m>
                <a:endParaRPr lang="en-US" dirty="0">
                  <a:solidFill>
                    <a:schemeClr val="tx1"/>
                  </a:solidFill>
                </a:endParaRPr>
              </a:p>
            </p:txBody>
          </p:sp>
        </mc:Choice>
        <mc:Fallback xmlns="">
          <p:sp>
            <p:nvSpPr>
              <p:cNvPr id="8" name="Rectangle 7">
                <a:extLst>
                  <a:ext uri="{FF2B5EF4-FFF2-40B4-BE49-F238E27FC236}">
                    <a16:creationId xmlns:a16="http://schemas.microsoft.com/office/drawing/2014/main" id="{159903F3-99A1-503A-FAAD-6385A8B27124}"/>
                  </a:ext>
                </a:extLst>
              </p:cNvPr>
              <p:cNvSpPr>
                <a:spLocks noRot="1" noChangeAspect="1" noMove="1" noResize="1" noEditPoints="1" noAdjustHandles="1" noChangeArrowheads="1" noChangeShapeType="1" noTextEdit="1"/>
              </p:cNvSpPr>
              <p:nvPr/>
            </p:nvSpPr>
            <p:spPr>
              <a:xfrm>
                <a:off x="4803709" y="2080442"/>
                <a:ext cx="606492" cy="533400"/>
              </a:xfrm>
              <a:prstGeom prst="rect">
                <a:avLst/>
              </a:prstGeom>
              <a:blipFill>
                <a:blip r:embed="rId5"/>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24BAF34C-53FA-EC69-6F6D-36F41997C4A0}"/>
                  </a:ext>
                </a:extLst>
              </p:cNvPr>
              <p:cNvSpPr/>
              <p:nvPr/>
            </p:nvSpPr>
            <p:spPr>
              <a:xfrm>
                <a:off x="3276600" y="4645299"/>
                <a:ext cx="30480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US" i="1" smtClean="0">
                              <a:solidFill>
                                <a:schemeClr val="tx1"/>
                              </a:solidFill>
                              <a:latin typeface="Cambria Math" panose="02040503050406030204" pitchFamily="18" charset="0"/>
                            </a:rPr>
                          </m:ctrlPr>
                        </m:accPr>
                        <m:e>
                          <m:r>
                            <a:rPr lang="en-US" i="1" smtClean="0">
                              <a:solidFill>
                                <a:schemeClr val="tx1"/>
                              </a:solidFill>
                              <a:latin typeface="Cambria Math" panose="02040503050406030204" pitchFamily="18" charset="0"/>
                              <a:ea typeface="Cambria Math" panose="02040503050406030204" pitchFamily="18" charset="0"/>
                            </a:rPr>
                            <m:t>∆</m:t>
                          </m:r>
                          <m:r>
                            <a:rPr lang="en-US" i="1" smtClean="0">
                              <a:solidFill>
                                <a:schemeClr val="tx1"/>
                              </a:solidFill>
                              <a:latin typeface="Cambria Math" panose="02040503050406030204" pitchFamily="18" charset="0"/>
                            </a:rPr>
                            <m:t>𝑝</m:t>
                          </m:r>
                        </m:e>
                      </m:acc>
                    </m:oMath>
                  </m:oMathPara>
                </a14:m>
                <a:endParaRPr lang="en-US" dirty="0">
                  <a:solidFill>
                    <a:schemeClr val="tx1"/>
                  </a:solidFill>
                </a:endParaRPr>
              </a:p>
            </p:txBody>
          </p:sp>
        </mc:Choice>
        <mc:Fallback xmlns="">
          <p:sp>
            <p:nvSpPr>
              <p:cNvPr id="10" name="Rectangle 9">
                <a:extLst>
                  <a:ext uri="{FF2B5EF4-FFF2-40B4-BE49-F238E27FC236}">
                    <a16:creationId xmlns:a16="http://schemas.microsoft.com/office/drawing/2014/main" id="{24BAF34C-53FA-EC69-6F6D-36F41997C4A0}"/>
                  </a:ext>
                </a:extLst>
              </p:cNvPr>
              <p:cNvSpPr>
                <a:spLocks noRot="1" noChangeAspect="1" noMove="1" noResize="1" noEditPoints="1" noAdjustHandles="1" noChangeArrowheads="1" noChangeShapeType="1" noTextEdit="1"/>
              </p:cNvSpPr>
              <p:nvPr/>
            </p:nvSpPr>
            <p:spPr>
              <a:xfrm>
                <a:off x="3276600" y="4645299"/>
                <a:ext cx="304800" cy="533400"/>
              </a:xfrm>
              <a:prstGeom prst="rect">
                <a:avLst/>
              </a:prstGeom>
              <a:blipFill>
                <a:blip r:embed="rId6"/>
                <a:stretch>
                  <a:fillRect l="-30000" r="-1200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0FAB324C-9F06-7CF6-D197-6F014A3875C5}"/>
                  </a:ext>
                </a:extLst>
              </p:cNvPr>
              <p:cNvSpPr/>
              <p:nvPr/>
            </p:nvSpPr>
            <p:spPr>
              <a:xfrm>
                <a:off x="5638790" y="3693367"/>
                <a:ext cx="2895599" cy="838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d>
                      <m:dPr>
                        <m:begChr m:val="|"/>
                        <m:endChr m:val="|"/>
                        <m:ctrlPr>
                          <a:rPr lang="en-US" i="1" smtClean="0">
                            <a:latin typeface="Cambria Math" panose="02040503050406030204" pitchFamily="18" charset="0"/>
                            <a:ea typeface="Cambria Math"/>
                          </a:rPr>
                        </m:ctrlPr>
                      </m:dPr>
                      <m:e>
                        <m:r>
                          <a:rPr lang="en-US" i="1">
                            <a:latin typeface="Cambria Math"/>
                            <a:ea typeface="Cambria Math"/>
                          </a:rPr>
                          <m:t>∆</m:t>
                        </m:r>
                        <m:acc>
                          <m:accPr>
                            <m:chr m:val="⃗"/>
                            <m:ctrlPr>
                              <a:rPr lang="en-US" i="1">
                                <a:latin typeface="Cambria Math" panose="02040503050406030204" pitchFamily="18" charset="0"/>
                                <a:ea typeface="Cambria Math"/>
                              </a:rPr>
                            </m:ctrlPr>
                          </m:accPr>
                          <m:e>
                            <m:r>
                              <a:rPr lang="en-US" i="1">
                                <a:latin typeface="Cambria Math"/>
                                <a:ea typeface="Cambria Math"/>
                              </a:rPr>
                              <m:t>𝑝</m:t>
                            </m:r>
                          </m:e>
                        </m:acc>
                      </m:e>
                    </m:d>
                  </m:oMath>
                </a14:m>
                <a:r>
                  <a:rPr lang="en-US" dirty="0"/>
                  <a:t>= 2.p.sin30</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 3 </a:t>
                </a:r>
                <a:r>
                  <a:rPr lang="en-US" dirty="0" err="1"/>
                  <a:t>kgm</a:t>
                </a:r>
                <a:r>
                  <a:rPr lang="en-US" dirty="0"/>
                  <a:t>/s</a:t>
                </a:r>
              </a:p>
              <a:p>
                <a:pPr algn="ctr"/>
                <a:endParaRPr lang="en-US" dirty="0"/>
              </a:p>
            </p:txBody>
          </p:sp>
        </mc:Choice>
        <mc:Fallback xmlns="">
          <p:sp>
            <p:nvSpPr>
              <p:cNvPr id="11" name="Rectangle 10">
                <a:extLst>
                  <a:ext uri="{FF2B5EF4-FFF2-40B4-BE49-F238E27FC236}">
                    <a16:creationId xmlns:a16="http://schemas.microsoft.com/office/drawing/2014/main" id="{0FAB324C-9F06-7CF6-D197-6F014A3875C5}"/>
                  </a:ext>
                </a:extLst>
              </p:cNvPr>
              <p:cNvSpPr>
                <a:spLocks noRot="1" noChangeAspect="1" noMove="1" noResize="1" noEditPoints="1" noAdjustHandles="1" noChangeArrowheads="1" noChangeShapeType="1" noTextEdit="1"/>
              </p:cNvSpPr>
              <p:nvPr/>
            </p:nvSpPr>
            <p:spPr>
              <a:xfrm>
                <a:off x="5638790" y="3693367"/>
                <a:ext cx="2895599" cy="83820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80B8EF5C-255D-A14F-56F6-14EF43A3D339}"/>
                  </a:ext>
                </a:extLst>
              </p:cNvPr>
              <p:cNvSpPr/>
              <p:nvPr/>
            </p:nvSpPr>
            <p:spPr>
              <a:xfrm>
                <a:off x="3695700" y="2472897"/>
                <a:ext cx="538068"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30</a:t>
                </a:r>
                <a14:m>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oMath>
                </a14:m>
                <a:endParaRPr lang="en-US" dirty="0">
                  <a:solidFill>
                    <a:schemeClr val="tx1"/>
                  </a:solidFill>
                </a:endParaRPr>
              </a:p>
            </p:txBody>
          </p:sp>
        </mc:Choice>
        <mc:Fallback xmlns="">
          <p:sp>
            <p:nvSpPr>
              <p:cNvPr id="12" name="Rectangle 11">
                <a:extLst>
                  <a:ext uri="{FF2B5EF4-FFF2-40B4-BE49-F238E27FC236}">
                    <a16:creationId xmlns:a16="http://schemas.microsoft.com/office/drawing/2014/main" id="{80B8EF5C-255D-A14F-56F6-14EF43A3D339}"/>
                  </a:ext>
                </a:extLst>
              </p:cNvPr>
              <p:cNvSpPr>
                <a:spLocks noRot="1" noChangeAspect="1" noMove="1" noResize="1" noEditPoints="1" noAdjustHandles="1" noChangeArrowheads="1" noChangeShapeType="1" noTextEdit="1"/>
              </p:cNvSpPr>
              <p:nvPr/>
            </p:nvSpPr>
            <p:spPr>
              <a:xfrm>
                <a:off x="3695700" y="2472897"/>
                <a:ext cx="538068" cy="533400"/>
              </a:xfrm>
              <a:prstGeom prst="rect">
                <a:avLst/>
              </a:prstGeom>
              <a:blipFill>
                <a:blip r:embed="rId8"/>
                <a:stretch>
                  <a:fillRect l="-5618" b="-2299"/>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412576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heel(1)">
                                      <p:cBhvr>
                                        <p:cTn id="7" dur="2000"/>
                                        <p:tgtEl>
                                          <p:spTgt spid="14"/>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heel(1)">
                                      <p:cBhvr>
                                        <p:cTn id="10" dur="20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circle(in)">
                                      <p:cBhvr>
                                        <p:cTn id="15" dur="20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circle(in)">
                                      <p:cBhvr>
                                        <p:cTn id="20" dur="2000"/>
                                        <p:tgtEl>
                                          <p:spTgt spid="22"/>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circle(in)">
                                      <p:cBhvr>
                                        <p:cTn id="23" dur="20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circle(in)">
                                      <p:cBhvr>
                                        <p:cTn id="28" dur="2000"/>
                                        <p:tgtEl>
                                          <p:spTgt spid="26"/>
                                        </p:tgtEl>
                                      </p:cBhvr>
                                    </p:animEffect>
                                  </p:childTnLst>
                                </p:cTn>
                              </p:par>
                              <p:par>
                                <p:cTn id="29" presetID="6" presetClass="entr" presetSubtype="16"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circle(in)">
                                      <p:cBhvr>
                                        <p:cTn id="31" dur="2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circle(in)">
                                      <p:cBhvr>
                                        <p:cTn id="36" dur="2000"/>
                                        <p:tgtEl>
                                          <p:spTgt spid="11"/>
                                        </p:tgtEl>
                                      </p:cBhvr>
                                    </p:animEffect>
                                  </p:childTnLst>
                                </p:cTn>
                              </p:par>
                              <p:par>
                                <p:cTn id="37" presetID="21" presetClass="entr" presetSubtype="1"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heel(1)">
                                      <p:cBhvr>
                                        <p:cTn id="39"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5" grpId="0"/>
      <p:bldP spid="7" grpId="0"/>
      <p:bldP spid="10" grpId="0"/>
      <p:bldP spid="11" grpId="0" animBg="1"/>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solidFill>
            <a:schemeClr val="accent5">
              <a:lumMod val="20000"/>
              <a:lumOff val="80000"/>
            </a:schemeClr>
          </a:solidFill>
        </p:spPr>
        <p:txBody>
          <a:bodyPr/>
          <a:lstStyle/>
          <a:p>
            <a:pPr>
              <a:defRPr/>
            </a:pPr>
            <a:r>
              <a:rPr lang="en-US" b="1">
                <a:solidFill>
                  <a:srgbClr val="FF0000"/>
                </a:solidFill>
              </a:rPr>
              <a:t>Động lượng của một chất điểm:</a:t>
            </a:r>
          </a:p>
          <a:p>
            <a:pPr lvl="1">
              <a:defRPr/>
            </a:pPr>
            <a:r>
              <a:rPr lang="en-US" b="1"/>
              <a:t>Đơn vị đo: kgm/s (hoặc N.s)</a:t>
            </a:r>
          </a:p>
          <a:p>
            <a:pPr lvl="1">
              <a:defRPr/>
            </a:pPr>
            <a:r>
              <a:rPr lang="en-US" b="1"/>
              <a:t>Là một vector, tích khối lượng và vận tốc</a:t>
            </a:r>
          </a:p>
          <a:p>
            <a:pPr lvl="1">
              <a:defRPr/>
            </a:pPr>
            <a:r>
              <a:rPr lang="en-US" b="1"/>
              <a:t>Luôn tiếp tuyến với quỹ đạo và hướng theo chiều chuyển động</a:t>
            </a:r>
          </a:p>
          <a:p>
            <a:pPr>
              <a:defRPr/>
            </a:pPr>
            <a:r>
              <a:rPr lang="en-US" b="1">
                <a:solidFill>
                  <a:srgbClr val="FF0000"/>
                </a:solidFill>
              </a:rPr>
              <a:t>Động lượng của một hệ chất điểm:</a:t>
            </a:r>
          </a:p>
          <a:p>
            <a:pPr lvl="1">
              <a:defRPr/>
            </a:pPr>
            <a:r>
              <a:rPr lang="en-US" b="1"/>
              <a:t>Là tổng động lượng các chất điểm trong hệ</a:t>
            </a:r>
          </a:p>
          <a:p>
            <a:pPr lvl="1">
              <a:defRPr/>
            </a:pPr>
            <a:r>
              <a:rPr lang="en-US" b="1"/>
              <a:t>Không đổi theo thời gian (hệ kín)</a:t>
            </a:r>
          </a:p>
          <a:p>
            <a:pPr lvl="1">
              <a:defRPr/>
            </a:pPr>
            <a:r>
              <a:rPr lang="en-US" b="1"/>
              <a:t>Đạo hàm theo thời gian bằng tổng ngoại lực tác dụng lên hệ</a:t>
            </a:r>
          </a:p>
        </p:txBody>
      </p:sp>
      <p:sp>
        <p:nvSpPr>
          <p:cNvPr id="3" name="Footer Placeholder 2">
            <a:extLst>
              <a:ext uri="{FF2B5EF4-FFF2-40B4-BE49-F238E27FC236}">
                <a16:creationId xmlns:a16="http://schemas.microsoft.com/office/drawing/2014/main" id="{0ECAD268-818A-2557-295A-BC8888F5BEBA}"/>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552C69E3-F232-D8CE-2155-0BF389DB5FE8}"/>
              </a:ext>
            </a:extLst>
          </p:cNvPr>
          <p:cNvSpPr>
            <a:spLocks noGrp="1"/>
          </p:cNvSpPr>
          <p:nvPr>
            <p:ph type="sldNum" sz="quarter" idx="12"/>
          </p:nvPr>
        </p:nvSpPr>
        <p:spPr/>
        <p:txBody>
          <a:bodyPr/>
          <a:lstStyle/>
          <a:p>
            <a:pPr>
              <a:defRPr/>
            </a:pPr>
            <a:fld id="{76921531-3DE4-4FE6-8586-93C8C3054BFB}" type="slidenum">
              <a:rPr lang="en-US" smtClean="0"/>
              <a:pPr>
                <a:defRPr/>
              </a:pPr>
              <a:t>38</a:t>
            </a:fld>
            <a:endParaRPr lang="en-US"/>
          </a:p>
        </p:txBody>
      </p:sp>
    </p:spTree>
    <p:extLst>
      <p:ext uri="{BB962C8B-B14F-4D97-AF65-F5344CB8AC3E}">
        <p14:creationId xmlns:p14="http://schemas.microsoft.com/office/powerpoint/2010/main" val="19681396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marL="0" indent="0">
              <a:buFont typeface="Arial" charset="0"/>
              <a:buNone/>
              <a:defRPr/>
            </a:pPr>
            <a:r>
              <a:rPr lang="nl-NL" dirty="0"/>
              <a:t>Nếu tác dụng một lực vào một quả bóng đang đứng yên có khối lượng 0,5 kg thì sau khoảng thời gian va chạm 0,04 s quả bóng sẽ có vận tốc 4 m/s. Tính độ lớn của lực F. </a:t>
            </a:r>
            <a:endParaRPr lang="en-US" dirty="0"/>
          </a:p>
          <a:p>
            <a:pPr marL="0" indent="0">
              <a:buFont typeface="Arial" charset="0"/>
              <a:buNone/>
              <a:defRPr/>
            </a:pPr>
            <a:r>
              <a:rPr lang="pt-BR" dirty="0"/>
              <a:t>A. 150N</a:t>
            </a:r>
            <a:endParaRPr lang="en-US" dirty="0"/>
          </a:p>
          <a:p>
            <a:pPr marL="0" indent="0">
              <a:buFont typeface="Arial" charset="0"/>
              <a:buNone/>
              <a:defRPr/>
            </a:pPr>
            <a:r>
              <a:rPr lang="pt-BR" dirty="0"/>
              <a:t>B. 100N</a:t>
            </a:r>
            <a:endParaRPr lang="en-US" dirty="0"/>
          </a:p>
          <a:p>
            <a:pPr marL="0" indent="0">
              <a:buFont typeface="Arial" charset="0"/>
              <a:buNone/>
              <a:defRPr/>
            </a:pPr>
            <a:r>
              <a:rPr lang="pt-BR" dirty="0"/>
              <a:t>C. 75N</a:t>
            </a:r>
            <a:endParaRPr lang="en-US" dirty="0"/>
          </a:p>
          <a:p>
            <a:pPr marL="0" indent="0">
              <a:buFont typeface="Arial" charset="0"/>
              <a:buNone/>
              <a:defRPr/>
            </a:pPr>
            <a:r>
              <a:rPr lang="pt-BR" dirty="0"/>
              <a:t>D. 50N</a:t>
            </a:r>
            <a:endParaRPr lang="en-US" dirty="0"/>
          </a:p>
          <a:p>
            <a:pPr>
              <a:defRPr/>
            </a:pPr>
            <a:endParaRPr lang="en-US" dirty="0"/>
          </a:p>
        </p:txBody>
      </p:sp>
      <p:sp>
        <p:nvSpPr>
          <p:cNvPr id="3" name="Footer Placeholder 2">
            <a:extLst>
              <a:ext uri="{FF2B5EF4-FFF2-40B4-BE49-F238E27FC236}">
                <a16:creationId xmlns:a16="http://schemas.microsoft.com/office/drawing/2014/main" id="{32A0B5AF-11E8-00AF-2880-91C18BFF07F8}"/>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632081F2-2B73-322B-0B98-9D62520EA057}"/>
              </a:ext>
            </a:extLst>
          </p:cNvPr>
          <p:cNvSpPr>
            <a:spLocks noGrp="1"/>
          </p:cNvSpPr>
          <p:nvPr>
            <p:ph type="sldNum" sz="quarter" idx="12"/>
          </p:nvPr>
        </p:nvSpPr>
        <p:spPr/>
        <p:txBody>
          <a:bodyPr/>
          <a:lstStyle/>
          <a:p>
            <a:pPr>
              <a:defRPr/>
            </a:pPr>
            <a:fld id="{76921531-3DE4-4FE6-8586-93C8C3054BFB}" type="slidenum">
              <a:rPr lang="en-US" smtClean="0"/>
              <a:pPr>
                <a:defRPr/>
              </a:pPr>
              <a:t>39</a:t>
            </a:fld>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87EBBE46-C335-9ABF-CBEC-FBE50BA9D3F0}"/>
                  </a:ext>
                </a:extLst>
              </p:cNvPr>
              <p:cNvSpPr/>
              <p:nvPr/>
            </p:nvSpPr>
            <p:spPr>
              <a:xfrm>
                <a:off x="4343400" y="2971800"/>
                <a:ext cx="3962400" cy="1752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i="1" dirty="0" err="1">
                    <a:latin typeface="Cambria Math"/>
                    <a:ea typeface="Cambria Math"/>
                  </a:rPr>
                  <a:t>Xét</a:t>
                </a:r>
                <a:r>
                  <a:rPr lang="en-US" b="1" i="1" dirty="0">
                    <a:latin typeface="Cambria Math"/>
                    <a:ea typeface="Cambria Math"/>
                  </a:rPr>
                  <a:t> </a:t>
                </a:r>
                <a:r>
                  <a:rPr lang="en-US" b="1" i="1" dirty="0" err="1">
                    <a:latin typeface="Cambria Math"/>
                    <a:ea typeface="Cambria Math"/>
                  </a:rPr>
                  <a:t>tương</a:t>
                </a:r>
                <a:r>
                  <a:rPr lang="en-US" b="1" i="1" dirty="0">
                    <a:latin typeface="Cambria Math"/>
                    <a:ea typeface="Cambria Math"/>
                  </a:rPr>
                  <a:t> </a:t>
                </a:r>
                <a:r>
                  <a:rPr lang="en-US" b="1" i="1" dirty="0" err="1">
                    <a:latin typeface="Cambria Math"/>
                    <a:ea typeface="Cambria Math"/>
                  </a:rPr>
                  <a:t>tác</a:t>
                </a:r>
                <a:r>
                  <a:rPr lang="en-US" b="1" i="1" dirty="0">
                    <a:latin typeface="Cambria Math"/>
                    <a:ea typeface="Cambria Math"/>
                  </a:rPr>
                  <a:t> </a:t>
                </a:r>
                <a:r>
                  <a:rPr lang="en-US" b="1" i="1" dirty="0" err="1">
                    <a:latin typeface="Cambria Math"/>
                    <a:ea typeface="Cambria Math"/>
                  </a:rPr>
                  <a:t>trong</a:t>
                </a:r>
                <a:r>
                  <a:rPr lang="en-US" b="1" i="1" dirty="0">
                    <a:latin typeface="Cambria Math"/>
                    <a:ea typeface="Cambria Math"/>
                  </a:rPr>
                  <a:t> 1 </a:t>
                </a:r>
                <a:r>
                  <a:rPr lang="en-US" b="1" i="1" dirty="0" err="1">
                    <a:latin typeface="Cambria Math"/>
                    <a:ea typeface="Cambria Math"/>
                  </a:rPr>
                  <a:t>khoảng</a:t>
                </a:r>
                <a:r>
                  <a:rPr lang="en-US" b="1" i="1" dirty="0">
                    <a:latin typeface="Cambria Math"/>
                    <a:ea typeface="Cambria Math"/>
                  </a:rPr>
                  <a:t> </a:t>
                </a:r>
                <a:r>
                  <a:rPr lang="en-US" b="1" i="1" dirty="0" err="1">
                    <a:latin typeface="Cambria Math"/>
                    <a:ea typeface="Cambria Math"/>
                  </a:rPr>
                  <a:t>thời</a:t>
                </a:r>
                <a:r>
                  <a:rPr lang="en-US" b="1" i="1" dirty="0">
                    <a:latin typeface="Cambria Math"/>
                    <a:ea typeface="Cambria Math"/>
                  </a:rPr>
                  <a:t> </a:t>
                </a:r>
                <a:r>
                  <a:rPr lang="en-US" b="1" i="1" dirty="0" err="1">
                    <a:latin typeface="Cambria Math"/>
                    <a:ea typeface="Cambria Math"/>
                  </a:rPr>
                  <a:t>gian</a:t>
                </a:r>
                <a:r>
                  <a:rPr lang="en-US" b="1" i="1" dirty="0">
                    <a:latin typeface="Cambria Math"/>
                    <a:ea typeface="Cambria Math"/>
                  </a:rPr>
                  <a:t> </a:t>
                </a:r>
                <a:r>
                  <a:rPr lang="en-US" b="1" i="1" dirty="0" err="1">
                    <a:latin typeface="Cambria Math"/>
                    <a:ea typeface="Cambria Math"/>
                  </a:rPr>
                  <a:t>xác</a:t>
                </a:r>
                <a:r>
                  <a:rPr lang="en-US" b="1" i="1" dirty="0">
                    <a:latin typeface="Cambria Math"/>
                    <a:ea typeface="Cambria Math"/>
                  </a:rPr>
                  <a:t> </a:t>
                </a:r>
                <a:r>
                  <a:rPr lang="en-US" b="1" i="1" dirty="0" err="1">
                    <a:latin typeface="Cambria Math"/>
                    <a:ea typeface="Cambria Math"/>
                  </a:rPr>
                  <a:t>định</a:t>
                </a:r>
                <a:r>
                  <a:rPr lang="en-US" b="1" i="1" dirty="0">
                    <a:latin typeface="Cambria Math"/>
                    <a:ea typeface="Cambria Math"/>
                  </a:rPr>
                  <a:t>:</a:t>
                </a:r>
              </a:p>
              <a:p>
                <a:pPr algn="ctr"/>
                <a14:m>
                  <m:oMath xmlns:m="http://schemas.openxmlformats.org/officeDocument/2006/math">
                    <m:r>
                      <a:rPr lang="en-US" b="1" i="1">
                        <a:latin typeface="Cambria Math"/>
                        <a:ea typeface="Cambria Math"/>
                      </a:rPr>
                      <m:t>∆</m:t>
                    </m:r>
                    <m:r>
                      <a:rPr lang="en-US" b="1" i="1">
                        <a:latin typeface="Cambria Math"/>
                        <a:ea typeface="Cambria Math"/>
                      </a:rPr>
                      <m:t>𝒑</m:t>
                    </m:r>
                    <m:r>
                      <a:rPr lang="en-US" b="1" i="1">
                        <a:latin typeface="Cambria Math"/>
                        <a:ea typeface="Cambria Math"/>
                      </a:rPr>
                      <m:t>= </m:t>
                    </m:r>
                  </m:oMath>
                </a14:m>
                <a:r>
                  <a:rPr lang="en-US" b="1" dirty="0"/>
                  <a:t>p2 – p1 = mv2 – mv1 = F.</a:t>
                </a:r>
                <a14:m>
                  <m:oMath xmlns:m="http://schemas.openxmlformats.org/officeDocument/2006/math">
                    <m:r>
                      <a:rPr lang="en-US" b="1" i="1">
                        <a:latin typeface="Cambria Math"/>
                        <a:ea typeface="Cambria Math"/>
                      </a:rPr>
                      <m:t>∆</m:t>
                    </m:r>
                    <m:r>
                      <a:rPr lang="en-US" b="1" i="1">
                        <a:latin typeface="Cambria Math"/>
                        <a:ea typeface="Cambria Math"/>
                      </a:rPr>
                      <m:t>𝒕</m:t>
                    </m:r>
                  </m:oMath>
                </a14:m>
                <a:endParaRPr lang="en-US" b="1" dirty="0"/>
              </a:p>
            </p:txBody>
          </p:sp>
        </mc:Choice>
        <mc:Fallback xmlns="">
          <p:sp>
            <p:nvSpPr>
              <p:cNvPr id="5" name="Rectangle 4">
                <a:extLst>
                  <a:ext uri="{FF2B5EF4-FFF2-40B4-BE49-F238E27FC236}">
                    <a16:creationId xmlns:a16="http://schemas.microsoft.com/office/drawing/2014/main" id="{87EBBE46-C335-9ABF-CBEC-FBE50BA9D3F0}"/>
                  </a:ext>
                </a:extLst>
              </p:cNvPr>
              <p:cNvSpPr>
                <a:spLocks noRot="1" noChangeAspect="1" noMove="1" noResize="1" noEditPoints="1" noAdjustHandles="1" noChangeArrowheads="1" noChangeShapeType="1" noTextEdit="1"/>
              </p:cNvSpPr>
              <p:nvPr/>
            </p:nvSpPr>
            <p:spPr>
              <a:xfrm>
                <a:off x="4343400" y="2971800"/>
                <a:ext cx="3962400" cy="1752600"/>
              </a:xfrm>
              <a:prstGeom prst="rect">
                <a:avLst/>
              </a:prstGeom>
              <a:blipFill>
                <a:blip r:embed="rId3"/>
                <a:stretch>
                  <a:fillRect l="-153"/>
                </a:stretch>
              </a:blipFill>
            </p:spPr>
            <p:txBody>
              <a:bodyPr/>
              <a:lstStyle/>
              <a:p>
                <a:r>
                  <a:rPr lang="en-US">
                    <a:noFill/>
                  </a:rPr>
                  <a:t> </a:t>
                </a:r>
              </a:p>
            </p:txBody>
          </p:sp>
        </mc:Fallback>
      </mc:AlternateContent>
    </p:spTree>
    <p:extLst>
      <p:ext uri="{BB962C8B-B14F-4D97-AF65-F5344CB8AC3E}">
        <p14:creationId xmlns:p14="http://schemas.microsoft.com/office/powerpoint/2010/main" val="582071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4" end="4"/>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circle(in)">
                                      <p:cBhvr>
                                        <p:cTn id="11"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marL="0" indent="0">
              <a:buFont typeface="Arial" charset="0"/>
              <a:buNone/>
              <a:defRPr/>
            </a:pPr>
            <a:r>
              <a:rPr lang="en-US"/>
              <a:t>Một hòn đá khối lượng 2,5 kg rơi từ trên cao xuống đất. Sau 4 giây, động lượng của nó là (cho g = 9,8 m/s</a:t>
            </a:r>
            <a:r>
              <a:rPr lang="en-US" baseline="30000"/>
              <a:t>2</a:t>
            </a:r>
            <a:r>
              <a:rPr lang="en-US"/>
              <a:t>)</a:t>
            </a:r>
          </a:p>
          <a:p>
            <a:pPr marL="0" indent="0">
              <a:buFont typeface="Arial" charset="0"/>
              <a:buNone/>
              <a:defRPr/>
            </a:pPr>
            <a:r>
              <a:rPr lang="en-US"/>
              <a:t>A.  24 kg.m/s</a:t>
            </a:r>
          </a:p>
          <a:p>
            <a:pPr marL="0" indent="0">
              <a:buFont typeface="Arial" charset="0"/>
              <a:buNone/>
              <a:defRPr/>
            </a:pPr>
            <a:r>
              <a:rPr lang="en-US"/>
              <a:t>B.  39 kg.m/s</a:t>
            </a:r>
          </a:p>
          <a:p>
            <a:pPr marL="0" indent="0">
              <a:buFont typeface="Arial" charset="0"/>
              <a:buNone/>
              <a:defRPr/>
            </a:pPr>
            <a:r>
              <a:rPr lang="en-US"/>
              <a:t>C.  78 kg.m/s</a:t>
            </a:r>
          </a:p>
          <a:p>
            <a:pPr marL="0" indent="0">
              <a:buFont typeface="Arial" charset="0"/>
              <a:buNone/>
              <a:defRPr/>
            </a:pPr>
            <a:r>
              <a:rPr lang="en-US"/>
              <a:t>D.  98 kg.m/s</a:t>
            </a:r>
          </a:p>
          <a:p>
            <a:pPr>
              <a:defRPr/>
            </a:pPr>
            <a:endParaRPr lang="en-US"/>
          </a:p>
        </p:txBody>
      </p:sp>
      <mc:AlternateContent xmlns:mc="http://schemas.openxmlformats.org/markup-compatibility/2006" xmlns:a14="http://schemas.microsoft.com/office/drawing/2010/main">
        <mc:Choice Requires="a14">
          <p:sp>
            <p:nvSpPr>
              <p:cNvPr id="4" name="Notes Placeholder 4"/>
              <p:cNvSpPr txBox="1">
                <a:spLocks/>
              </p:cNvSpPr>
              <p:nvPr/>
            </p:nvSpPr>
            <p:spPr>
              <a:xfrm>
                <a:off x="685800" y="4343400"/>
                <a:ext cx="5334000" cy="1752600"/>
              </a:xfrm>
              <a:prstGeom prst="wedgeEllipseCallout">
                <a:avLst/>
              </a:prstGeom>
            </p:spPr>
            <p:style>
              <a:lnRef idx="2">
                <a:schemeClr val="accent6"/>
              </a:lnRef>
              <a:fillRef idx="1">
                <a:schemeClr val="lt1"/>
              </a:fillRef>
              <a:effectRef idx="0">
                <a:schemeClr val="accent6"/>
              </a:effectRef>
              <a:fontRef idx="minor">
                <a:schemeClr val="dk1"/>
              </a:fontRef>
            </p:style>
            <p:txBody>
              <a:bodyPr rtlCol="0" anchor="ct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14:m>
                  <m:oMath xmlns:m="http://schemas.openxmlformats.org/officeDocument/2006/math">
                    <m:r>
                      <a:rPr lang="en-US" sz="2400" b="1" i="1" smtClean="0">
                        <a:latin typeface="Cambria Math"/>
                        <a:ea typeface="Cambria Math"/>
                      </a:rPr>
                      <m:t>∆</m:t>
                    </m:r>
                    <m:r>
                      <a:rPr lang="en-US" sz="2400" b="1" i="1" smtClean="0">
                        <a:latin typeface="Cambria Math"/>
                        <a:ea typeface="Cambria Math"/>
                      </a:rPr>
                      <m:t>𝒑</m:t>
                    </m:r>
                    <m:r>
                      <a:rPr lang="en-US" sz="2400" b="1" i="1" smtClean="0">
                        <a:latin typeface="Cambria Math"/>
                        <a:ea typeface="Cambria Math"/>
                      </a:rPr>
                      <m:t>= </m:t>
                    </m:r>
                  </m:oMath>
                </a14:m>
                <a:r>
                  <a:rPr lang="en-US" sz="2400" b="1" dirty="0"/>
                  <a:t>p2 – p1 = mg.</a:t>
                </a:r>
                <a14:m>
                  <m:oMath xmlns:m="http://schemas.openxmlformats.org/officeDocument/2006/math">
                    <m:r>
                      <a:rPr lang="en-US" sz="2400" b="1" i="1">
                        <a:latin typeface="Cambria Math"/>
                        <a:ea typeface="Cambria Math"/>
                      </a:rPr>
                      <m:t>∆</m:t>
                    </m:r>
                    <m:r>
                      <a:rPr lang="en-US" sz="2400" b="1" i="1">
                        <a:latin typeface="Cambria Math"/>
                        <a:ea typeface="Cambria Math"/>
                      </a:rPr>
                      <m:t>𝒕</m:t>
                    </m:r>
                  </m:oMath>
                </a14:m>
                <a:endParaRPr lang="en-US" sz="2400" b="1" dirty="0"/>
              </a:p>
            </p:txBody>
          </p:sp>
        </mc:Choice>
        <mc:Fallback xmlns="">
          <p:sp>
            <p:nvSpPr>
              <p:cNvPr id="4" name="Notes Placeholder 4"/>
              <p:cNvSpPr txBox="1">
                <a:spLocks noRot="1" noChangeAspect="1" noMove="1" noResize="1" noEditPoints="1" noAdjustHandles="1" noChangeArrowheads="1" noChangeShapeType="1" noTextEdit="1"/>
              </p:cNvSpPr>
              <p:nvPr/>
            </p:nvSpPr>
            <p:spPr>
              <a:xfrm>
                <a:off x="685800" y="4343400"/>
                <a:ext cx="5334000" cy="1752600"/>
              </a:xfrm>
              <a:prstGeom prst="wedgeEllipseCallout">
                <a:avLst/>
              </a:prstGeom>
              <a:blipFill rotWithShape="1">
                <a:blip r:embed="rId3"/>
                <a:stretch>
                  <a:fillRect/>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705E2C29-F727-D413-EBE6-E31B37CE8325}"/>
              </a:ext>
            </a:extLst>
          </p:cNvPr>
          <p:cNvSpPr>
            <a:spLocks noGrp="1"/>
          </p:cNvSpPr>
          <p:nvPr>
            <p:ph type="ftr" sz="quarter" idx="11"/>
          </p:nvPr>
        </p:nvSpPr>
        <p:spPr/>
        <p:txBody>
          <a:bodyPr/>
          <a:lstStyle/>
          <a:p>
            <a:pPr>
              <a:defRPr/>
            </a:pPr>
            <a:r>
              <a:rPr lang="en-US"/>
              <a:t>Bùi Quốc Trung - VLDC</a:t>
            </a:r>
          </a:p>
        </p:txBody>
      </p:sp>
      <p:sp>
        <p:nvSpPr>
          <p:cNvPr id="5" name="Slide Number Placeholder 4">
            <a:extLst>
              <a:ext uri="{FF2B5EF4-FFF2-40B4-BE49-F238E27FC236}">
                <a16:creationId xmlns:a16="http://schemas.microsoft.com/office/drawing/2014/main" id="{A0E5A96E-7D85-2CA3-A459-076DDAE69D7F}"/>
              </a:ext>
            </a:extLst>
          </p:cNvPr>
          <p:cNvSpPr>
            <a:spLocks noGrp="1"/>
          </p:cNvSpPr>
          <p:nvPr>
            <p:ph type="sldNum" sz="quarter" idx="12"/>
          </p:nvPr>
        </p:nvSpPr>
        <p:spPr/>
        <p:txBody>
          <a:bodyPr/>
          <a:lstStyle/>
          <a:p>
            <a:pPr>
              <a:defRPr/>
            </a:pPr>
            <a:fld id="{76921531-3DE4-4FE6-8586-93C8C3054BFB}" type="slidenum">
              <a:rPr lang="en-US" smtClean="0"/>
              <a:pPr>
                <a:defRPr/>
              </a:pPr>
              <a:t>40</a:t>
            </a:fld>
            <a:endParaRPr lang="en-US"/>
          </a:p>
        </p:txBody>
      </p:sp>
    </p:spTree>
    <p:extLst>
      <p:ext uri="{BB962C8B-B14F-4D97-AF65-F5344CB8AC3E}">
        <p14:creationId xmlns:p14="http://schemas.microsoft.com/office/powerpoint/2010/main" val="16979575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4" end="4"/>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marL="0" indent="0">
              <a:buNone/>
            </a:pPr>
            <a:r>
              <a:rPr lang="en-US" dirty="0" err="1"/>
              <a:t>Một</a:t>
            </a:r>
            <a:r>
              <a:rPr lang="en-US" dirty="0"/>
              <a:t> </a:t>
            </a:r>
            <a:r>
              <a:rPr lang="en-US" dirty="0" err="1"/>
              <a:t>xe</a:t>
            </a:r>
            <a:r>
              <a:rPr lang="en-US" dirty="0"/>
              <a:t> </a:t>
            </a:r>
            <a:r>
              <a:rPr lang="en-US" dirty="0" err="1"/>
              <a:t>khối</a:t>
            </a:r>
            <a:r>
              <a:rPr lang="en-US" dirty="0"/>
              <a:t> </a:t>
            </a:r>
            <a:r>
              <a:rPr lang="en-US" dirty="0" err="1"/>
              <a:t>lượng</a:t>
            </a:r>
            <a:r>
              <a:rPr lang="en-US" dirty="0"/>
              <a:t> m = 2 </a:t>
            </a:r>
            <a:r>
              <a:rPr lang="en-US" dirty="0" err="1"/>
              <a:t>tấn</a:t>
            </a:r>
            <a:r>
              <a:rPr lang="en-US" dirty="0"/>
              <a:t>, </a:t>
            </a:r>
            <a:r>
              <a:rPr lang="en-US" dirty="0" err="1"/>
              <a:t>tăng</a:t>
            </a:r>
            <a:r>
              <a:rPr lang="en-US" dirty="0"/>
              <a:t> </a:t>
            </a:r>
            <a:r>
              <a:rPr lang="en-US" dirty="0" err="1"/>
              <a:t>tốc</a:t>
            </a:r>
            <a:r>
              <a:rPr lang="en-US" dirty="0"/>
              <a:t> </a:t>
            </a:r>
            <a:r>
              <a:rPr lang="en-US" dirty="0" err="1"/>
              <a:t>trên</a:t>
            </a:r>
            <a:r>
              <a:rPr lang="en-US" dirty="0"/>
              <a:t> </a:t>
            </a:r>
            <a:r>
              <a:rPr lang="en-US" dirty="0" err="1"/>
              <a:t>đoạn</a:t>
            </a:r>
            <a:r>
              <a:rPr lang="en-US" dirty="0"/>
              <a:t> </a:t>
            </a:r>
            <a:r>
              <a:rPr lang="en-US" dirty="0" err="1"/>
              <a:t>đường</a:t>
            </a:r>
            <a:r>
              <a:rPr lang="en-US" dirty="0"/>
              <a:t> </a:t>
            </a:r>
            <a:r>
              <a:rPr lang="en-US" dirty="0" err="1"/>
              <a:t>dài</a:t>
            </a:r>
            <a:r>
              <a:rPr lang="en-US" dirty="0"/>
              <a:t> 100 m, </a:t>
            </a:r>
            <a:r>
              <a:rPr lang="en-US" dirty="0" err="1"/>
              <a:t>vận</a:t>
            </a:r>
            <a:r>
              <a:rPr lang="en-US" dirty="0"/>
              <a:t> </a:t>
            </a:r>
            <a:r>
              <a:rPr lang="en-US" dirty="0" err="1"/>
              <a:t>tốc</a:t>
            </a:r>
            <a:r>
              <a:rPr lang="en-US" dirty="0"/>
              <a:t> </a:t>
            </a:r>
            <a:r>
              <a:rPr lang="en-US" dirty="0" err="1"/>
              <a:t>của</a:t>
            </a:r>
            <a:r>
              <a:rPr lang="en-US" dirty="0"/>
              <a:t> </a:t>
            </a:r>
            <a:r>
              <a:rPr lang="en-US" dirty="0" err="1"/>
              <a:t>xe</a:t>
            </a:r>
            <a:r>
              <a:rPr lang="en-US" dirty="0"/>
              <a:t> </a:t>
            </a:r>
            <a:r>
              <a:rPr lang="en-US" dirty="0" err="1"/>
              <a:t>tăng</a:t>
            </a:r>
            <a:r>
              <a:rPr lang="en-US" dirty="0"/>
              <a:t> </a:t>
            </a:r>
            <a:r>
              <a:rPr lang="en-US" dirty="0" err="1"/>
              <a:t>từ</a:t>
            </a:r>
            <a:r>
              <a:rPr lang="en-US" dirty="0"/>
              <a:t> 10 m/s </a:t>
            </a:r>
            <a:r>
              <a:rPr lang="en-US" dirty="0" err="1"/>
              <a:t>đến</a:t>
            </a:r>
            <a:r>
              <a:rPr lang="en-US" dirty="0"/>
              <a:t> 20 m/s. </a:t>
            </a:r>
            <a:r>
              <a:rPr lang="en-US" dirty="0" err="1"/>
              <a:t>Tính</a:t>
            </a:r>
            <a:r>
              <a:rPr lang="en-US" dirty="0"/>
              <a:t> </a:t>
            </a:r>
            <a:r>
              <a:rPr lang="en-US" dirty="0" err="1"/>
              <a:t>lực</a:t>
            </a:r>
            <a:r>
              <a:rPr lang="en-US" dirty="0"/>
              <a:t> </a:t>
            </a:r>
            <a:r>
              <a:rPr lang="en-US" dirty="0" err="1"/>
              <a:t>phát</a:t>
            </a:r>
            <a:r>
              <a:rPr lang="en-US" dirty="0"/>
              <a:t> </a:t>
            </a:r>
            <a:r>
              <a:rPr lang="en-US" dirty="0" err="1"/>
              <a:t>động</a:t>
            </a:r>
            <a:r>
              <a:rPr lang="en-US" dirty="0"/>
              <a:t> </a:t>
            </a:r>
            <a:r>
              <a:rPr lang="en-US" dirty="0" err="1"/>
              <a:t>của</a:t>
            </a:r>
            <a:r>
              <a:rPr lang="en-US" dirty="0"/>
              <a:t> </a:t>
            </a:r>
            <a:r>
              <a:rPr lang="en-US" dirty="0" err="1"/>
              <a:t>xe</a:t>
            </a:r>
            <a:r>
              <a:rPr lang="en-US" dirty="0"/>
              <a:t>, </a:t>
            </a:r>
            <a:r>
              <a:rPr lang="en-US" dirty="0" err="1"/>
              <a:t>biết</a:t>
            </a:r>
            <a:r>
              <a:rPr lang="en-US" dirty="0"/>
              <a:t> </a:t>
            </a:r>
            <a:r>
              <a:rPr lang="en-US" dirty="0" err="1"/>
              <a:t>lực</a:t>
            </a:r>
            <a:r>
              <a:rPr lang="en-US" dirty="0"/>
              <a:t> </a:t>
            </a:r>
            <a:r>
              <a:rPr lang="en-US" dirty="0" err="1"/>
              <a:t>cản</a:t>
            </a:r>
            <a:r>
              <a:rPr lang="en-US" dirty="0"/>
              <a:t> F</a:t>
            </a:r>
            <a:r>
              <a:rPr lang="en-US" baseline="-25000" dirty="0"/>
              <a:t>c</a:t>
            </a:r>
            <a:r>
              <a:rPr lang="en-US" dirty="0"/>
              <a:t> = 200 N.</a:t>
            </a:r>
          </a:p>
          <a:p>
            <a:pPr marL="0" indent="0">
              <a:buNone/>
            </a:pPr>
            <a:r>
              <a:rPr lang="en-US" dirty="0"/>
              <a:t>A. 3200 N</a:t>
            </a:r>
          </a:p>
          <a:p>
            <a:pPr marL="0" indent="0">
              <a:buNone/>
            </a:pPr>
            <a:r>
              <a:rPr lang="en-US" dirty="0"/>
              <a:t>B. 3000 N</a:t>
            </a:r>
          </a:p>
          <a:p>
            <a:pPr marL="0" indent="0">
              <a:buNone/>
            </a:pPr>
            <a:r>
              <a:rPr lang="en-US" dirty="0"/>
              <a:t>C. 2800 N</a:t>
            </a:r>
          </a:p>
          <a:p>
            <a:pPr marL="0" indent="0">
              <a:buNone/>
            </a:pPr>
            <a:r>
              <a:rPr lang="en-US" dirty="0"/>
              <a:t>D. 2000 N</a:t>
            </a:r>
          </a:p>
          <a:p>
            <a:endParaRPr lang="en-US" dirty="0"/>
          </a:p>
        </p:txBody>
      </p:sp>
      <mc:AlternateContent xmlns:mc="http://schemas.openxmlformats.org/markup-compatibility/2006" xmlns:a14="http://schemas.microsoft.com/office/drawing/2010/main">
        <mc:Choice Requires="a14">
          <p:sp>
            <p:nvSpPr>
              <p:cNvPr id="4" name="Rectangle 3"/>
              <p:cNvSpPr/>
              <p:nvPr/>
            </p:nvSpPr>
            <p:spPr>
              <a:xfrm>
                <a:off x="4419600" y="2514600"/>
                <a:ext cx="3962400" cy="3048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t>a = </a:t>
                </a:r>
                <a14:m>
                  <m:oMath xmlns:m="http://schemas.openxmlformats.org/officeDocument/2006/math">
                    <m:f>
                      <m:fPr>
                        <m:ctrlPr>
                          <a:rPr lang="en-US" sz="2400" b="1" i="1">
                            <a:latin typeface="Cambria Math" panose="02040503050406030204" pitchFamily="18" charset="0"/>
                          </a:rPr>
                        </m:ctrlPr>
                      </m:fPr>
                      <m:num>
                        <m:r>
                          <a:rPr lang="en-US" sz="2400" b="1" i="1">
                            <a:latin typeface="Cambria Math"/>
                          </a:rPr>
                          <m:t>𝒗</m:t>
                        </m:r>
                        <m:r>
                          <a:rPr lang="en-US" sz="2400" b="1" i="1">
                            <a:latin typeface="Cambria Math"/>
                          </a:rPr>
                          <m:t>𝟐</m:t>
                        </m:r>
                        <m:r>
                          <a:rPr lang="en-US" sz="2400" b="1" i="1">
                            <a:latin typeface="Cambria Math"/>
                          </a:rPr>
                          <m:t>² −</m:t>
                        </m:r>
                        <m:r>
                          <a:rPr lang="en-US" sz="2400" b="1" i="1">
                            <a:latin typeface="Cambria Math"/>
                          </a:rPr>
                          <m:t>𝒗</m:t>
                        </m:r>
                        <m:r>
                          <a:rPr lang="en-US" sz="2400" b="1" i="1">
                            <a:latin typeface="Cambria Math"/>
                          </a:rPr>
                          <m:t>𝟏</m:t>
                        </m:r>
                        <m:r>
                          <a:rPr lang="en-US" sz="2400" b="1" i="1">
                            <a:latin typeface="Cambria Math"/>
                          </a:rPr>
                          <m:t>²</m:t>
                        </m:r>
                      </m:num>
                      <m:den>
                        <m:r>
                          <a:rPr lang="en-US" sz="2400" b="1" i="1">
                            <a:latin typeface="Cambria Math"/>
                          </a:rPr>
                          <m:t>𝟐</m:t>
                        </m:r>
                        <m:r>
                          <a:rPr lang="en-US" sz="2400" b="1" i="1">
                            <a:latin typeface="Cambria Math"/>
                          </a:rPr>
                          <m:t>𝒔</m:t>
                        </m:r>
                      </m:den>
                    </m:f>
                  </m:oMath>
                </a14:m>
                <a:r>
                  <a:rPr lang="en-US" sz="2400" b="1" dirty="0"/>
                  <a:t> = 1,5 m/s²</a:t>
                </a:r>
              </a:p>
              <a:p>
                <a:pPr algn="ctr"/>
                <a14:m>
                  <m:oMath xmlns:m="http://schemas.openxmlformats.org/officeDocument/2006/math">
                    <m:r>
                      <a:rPr lang="en-US" sz="2400" b="1" i="1">
                        <a:latin typeface="Cambria Math"/>
                        <a:ea typeface="Cambria Math"/>
                      </a:rPr>
                      <m:t>∆</m:t>
                    </m:r>
                    <m:r>
                      <a:rPr lang="en-US" sz="2400" b="1" i="1">
                        <a:latin typeface="Cambria Math"/>
                        <a:ea typeface="Cambria Math"/>
                      </a:rPr>
                      <m:t>𝒕</m:t>
                    </m:r>
                    <m:r>
                      <a:rPr lang="en-US" sz="2400" b="1" i="1">
                        <a:latin typeface="Cambria Math"/>
                        <a:ea typeface="Cambria Math"/>
                      </a:rPr>
                      <m:t> </m:t>
                    </m:r>
                  </m:oMath>
                </a14:m>
                <a:r>
                  <a:rPr lang="en-US" sz="2400" b="1" dirty="0"/>
                  <a:t>= </a:t>
                </a:r>
                <a14:m>
                  <m:oMath xmlns:m="http://schemas.openxmlformats.org/officeDocument/2006/math">
                    <m:f>
                      <m:fPr>
                        <m:ctrlPr>
                          <a:rPr lang="en-US" sz="2400" b="1" i="1">
                            <a:latin typeface="Cambria Math" panose="02040503050406030204" pitchFamily="18" charset="0"/>
                          </a:rPr>
                        </m:ctrlPr>
                      </m:fPr>
                      <m:num>
                        <m:r>
                          <a:rPr lang="en-US" sz="2400" b="1" i="1">
                            <a:latin typeface="Cambria Math"/>
                          </a:rPr>
                          <m:t>𝒗</m:t>
                        </m:r>
                        <m:r>
                          <a:rPr lang="en-US" sz="2400" b="1" i="1">
                            <a:latin typeface="Cambria Math"/>
                          </a:rPr>
                          <m:t>𝟐</m:t>
                        </m:r>
                        <m:r>
                          <a:rPr lang="en-US" sz="2400" b="1" i="1">
                            <a:latin typeface="Cambria Math"/>
                          </a:rPr>
                          <m:t> −</m:t>
                        </m:r>
                        <m:r>
                          <a:rPr lang="en-US" sz="2400" b="1" i="1">
                            <a:latin typeface="Cambria Math"/>
                          </a:rPr>
                          <m:t>𝒗</m:t>
                        </m:r>
                        <m:r>
                          <a:rPr lang="en-US" sz="2400" b="1" i="1">
                            <a:latin typeface="Cambria Math"/>
                          </a:rPr>
                          <m:t>𝟏</m:t>
                        </m:r>
                      </m:num>
                      <m:den>
                        <m:r>
                          <a:rPr lang="en-US" sz="2400" b="1" i="1">
                            <a:latin typeface="Cambria Math"/>
                          </a:rPr>
                          <m:t>𝒂</m:t>
                        </m:r>
                      </m:den>
                    </m:f>
                  </m:oMath>
                </a14:m>
                <a:endParaRPr lang="en-US" sz="2400" b="1" dirty="0"/>
              </a:p>
              <a:p>
                <a:pPr algn="ctr"/>
                <a:r>
                  <a:rPr lang="en-US" sz="2400" b="1" dirty="0"/>
                  <a:t>mv2 – mv1 =  (F - Fc).</a:t>
                </a:r>
                <a:r>
                  <a:rPr lang="en-US" sz="2400" b="1" dirty="0">
                    <a:ea typeface="Cambria Math"/>
                  </a:rPr>
                  <a:t> </a:t>
                </a:r>
                <a14:m>
                  <m:oMath xmlns:m="http://schemas.openxmlformats.org/officeDocument/2006/math">
                    <m:r>
                      <a:rPr lang="en-US" sz="2400" b="1" i="1">
                        <a:latin typeface="Cambria Math"/>
                        <a:ea typeface="Cambria Math"/>
                      </a:rPr>
                      <m:t>∆</m:t>
                    </m:r>
                    <m:r>
                      <a:rPr lang="en-US" sz="2400" b="1" i="1">
                        <a:latin typeface="Cambria Math"/>
                        <a:ea typeface="Cambria Math"/>
                      </a:rPr>
                      <m:t>𝒕</m:t>
                    </m:r>
                    <m:r>
                      <a:rPr lang="en-US" sz="2400" b="1" i="1">
                        <a:latin typeface="Cambria Math"/>
                        <a:ea typeface="Cambria Math"/>
                      </a:rPr>
                      <m:t> </m:t>
                    </m:r>
                  </m:oMath>
                </a14:m>
                <a:endParaRPr lang="en-US" sz="2400" b="1" dirty="0"/>
              </a:p>
              <a:p>
                <a:pPr algn="ctr"/>
                <a14:m>
                  <m:oMath xmlns:m="http://schemas.openxmlformats.org/officeDocument/2006/math">
                    <m:r>
                      <a:rPr lang="en-US" sz="2400" b="1" i="1">
                        <a:latin typeface="Cambria Math"/>
                        <a:ea typeface="Cambria Math"/>
                      </a:rPr>
                      <m:t>→</m:t>
                    </m:r>
                    <m:r>
                      <a:rPr lang="en-US" sz="2400" b="1" i="1">
                        <a:latin typeface="Cambria Math"/>
                        <a:ea typeface="Cambria Math"/>
                      </a:rPr>
                      <m:t>𝑭</m:t>
                    </m:r>
                  </m:oMath>
                </a14:m>
                <a:r>
                  <a:rPr lang="en-US" sz="2400" b="1" dirty="0"/>
                  <a:t> = ...</a:t>
                </a:r>
              </a:p>
            </p:txBody>
          </p:sp>
        </mc:Choice>
        <mc:Fallback xmlns="">
          <p:sp>
            <p:nvSpPr>
              <p:cNvPr id="4" name="Rectangle 3"/>
              <p:cNvSpPr>
                <a:spLocks noRot="1" noChangeAspect="1" noMove="1" noResize="1" noEditPoints="1" noAdjustHandles="1" noChangeArrowheads="1" noChangeShapeType="1" noTextEdit="1"/>
              </p:cNvSpPr>
              <p:nvPr/>
            </p:nvSpPr>
            <p:spPr>
              <a:xfrm>
                <a:off x="4419600" y="2514600"/>
                <a:ext cx="3962400" cy="3048000"/>
              </a:xfrm>
              <a:prstGeom prst="rect">
                <a:avLst/>
              </a:prstGeom>
              <a:blipFill rotWithShape="1">
                <a:blip r:embed="rId3"/>
                <a:stretch>
                  <a:fillRect/>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916403D9-D4C3-4344-11C3-96F41CFFA81E}"/>
              </a:ext>
            </a:extLst>
          </p:cNvPr>
          <p:cNvSpPr>
            <a:spLocks noGrp="1"/>
          </p:cNvSpPr>
          <p:nvPr>
            <p:ph type="ftr" sz="quarter" idx="11"/>
          </p:nvPr>
        </p:nvSpPr>
        <p:spPr/>
        <p:txBody>
          <a:bodyPr/>
          <a:lstStyle/>
          <a:p>
            <a:pPr>
              <a:defRPr/>
            </a:pPr>
            <a:r>
              <a:rPr lang="en-US"/>
              <a:t>Bùi Quốc Trung - VLDC</a:t>
            </a:r>
          </a:p>
        </p:txBody>
      </p:sp>
      <p:sp>
        <p:nvSpPr>
          <p:cNvPr id="5" name="Slide Number Placeholder 4">
            <a:extLst>
              <a:ext uri="{FF2B5EF4-FFF2-40B4-BE49-F238E27FC236}">
                <a16:creationId xmlns:a16="http://schemas.microsoft.com/office/drawing/2014/main" id="{190BD46E-7C61-597A-C8B5-32F96A78B0DF}"/>
              </a:ext>
            </a:extLst>
          </p:cNvPr>
          <p:cNvSpPr>
            <a:spLocks noGrp="1"/>
          </p:cNvSpPr>
          <p:nvPr>
            <p:ph type="sldNum" sz="quarter" idx="12"/>
          </p:nvPr>
        </p:nvSpPr>
        <p:spPr/>
        <p:txBody>
          <a:bodyPr/>
          <a:lstStyle/>
          <a:p>
            <a:pPr>
              <a:defRPr/>
            </a:pPr>
            <a:fld id="{76921531-3DE4-4FE6-8586-93C8C3054BFB}" type="slidenum">
              <a:rPr lang="en-US" smtClean="0"/>
              <a:pPr>
                <a:defRPr/>
              </a:pPr>
              <a:t>41</a:t>
            </a:fld>
            <a:endParaRPr lang="en-US"/>
          </a:p>
        </p:txBody>
      </p:sp>
    </p:spTree>
    <p:extLst>
      <p:ext uri="{BB962C8B-B14F-4D97-AF65-F5344CB8AC3E}">
        <p14:creationId xmlns:p14="http://schemas.microsoft.com/office/powerpoint/2010/main" val="100111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1" end="1"/>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18"/>
          <p:cNvGrpSpPr>
            <a:grpSpLocks/>
          </p:cNvGrpSpPr>
          <p:nvPr/>
        </p:nvGrpSpPr>
        <p:grpSpPr bwMode="auto">
          <a:xfrm>
            <a:off x="1676400" y="0"/>
            <a:ext cx="6019800" cy="685800"/>
            <a:chOff x="1310" y="1392"/>
            <a:chExt cx="4157" cy="432"/>
          </a:xfrm>
        </p:grpSpPr>
        <p:pic>
          <p:nvPicPr>
            <p:cNvPr id="32778"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415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1833" y="1449"/>
              <a:ext cx="3078"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ctr"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2.3. </a:t>
              </a:r>
              <a:r>
                <a:rPr lang="vi-VN" sz="2400" b="1">
                  <a:solidFill>
                    <a:srgbClr val="FF0000"/>
                  </a:solidFill>
                  <a:latin typeface="Times New Roman" pitchFamily="18" charset="0"/>
                  <a:cs typeface="Times New Roman" pitchFamily="18" charset="0"/>
                </a:rPr>
                <a:t>Động l</a:t>
              </a:r>
              <a:r>
                <a:rPr lang="en-US" sz="2400" b="1">
                  <a:solidFill>
                    <a:srgbClr val="FF0000"/>
                  </a:solidFill>
                  <a:latin typeface="Times New Roman" pitchFamily="18" charset="0"/>
                  <a:cs typeface="Times New Roman" pitchFamily="18" charset="0"/>
                </a:rPr>
                <a:t>ư</a:t>
              </a:r>
              <a:r>
                <a:rPr lang="vi-VN" sz="2400" b="1">
                  <a:solidFill>
                    <a:srgbClr val="FF0000"/>
                  </a:solidFill>
                  <a:latin typeface="Times New Roman" pitchFamily="18" charset="0"/>
                  <a:cs typeface="Times New Roman" pitchFamily="18" charset="0"/>
                </a:rPr>
                <a:t>ợng</a:t>
              </a:r>
              <a:endParaRPr lang="en-US" sz="2400" b="1">
                <a:solidFill>
                  <a:srgbClr val="FF0000"/>
                </a:solidFill>
                <a:latin typeface="Times New Roman" pitchFamily="18" charset="0"/>
                <a:cs typeface="Times New Roman" pitchFamily="18" charset="0"/>
              </a:endParaRPr>
            </a:p>
          </p:txBody>
        </p:sp>
      </p:grpSp>
      <p:sp>
        <p:nvSpPr>
          <p:cNvPr id="6" name="Rectangle 5"/>
          <p:cNvSpPr>
            <a:spLocks noChangeArrowheads="1"/>
          </p:cNvSpPr>
          <p:nvPr/>
        </p:nvSpPr>
        <p:spPr bwMode="auto">
          <a:xfrm>
            <a:off x="381000" y="612775"/>
            <a:ext cx="4975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2800" b="1">
                <a:solidFill>
                  <a:srgbClr val="090563"/>
                </a:solidFill>
                <a:latin typeface="Times New Roman" pitchFamily="18" charset="0"/>
                <a:cs typeface="Times New Roman" pitchFamily="18" charset="0"/>
              </a:rPr>
              <a:t>Định luật bảo toàn động lượng</a:t>
            </a:r>
            <a:r>
              <a:rPr lang="en-US" sz="2800">
                <a:solidFill>
                  <a:srgbClr val="090563"/>
                </a:solidFill>
                <a:latin typeface="Times New Roman" pitchFamily="18" charset="0"/>
                <a:cs typeface="Times New Roman" pitchFamily="18" charset="0"/>
              </a:rPr>
              <a:t> </a:t>
            </a:r>
          </a:p>
        </p:txBody>
      </p:sp>
      <p:sp>
        <p:nvSpPr>
          <p:cNvPr id="7" name="Rectangle 6"/>
          <p:cNvSpPr>
            <a:spLocks noChangeArrowheads="1"/>
          </p:cNvSpPr>
          <p:nvPr/>
        </p:nvSpPr>
        <p:spPr bwMode="auto">
          <a:xfrm>
            <a:off x="76200" y="1938338"/>
            <a:ext cx="8991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800" b="1">
                <a:solidFill>
                  <a:srgbClr val="1109B7"/>
                </a:solidFill>
                <a:latin typeface="Times New Roman" pitchFamily="18" charset="0"/>
                <a:cs typeface="Times New Roman" pitchFamily="18" charset="0"/>
              </a:rPr>
              <a:t>“Tổng động lượng của một hệ cô lập luôn được bảo toàn”</a:t>
            </a:r>
          </a:p>
        </p:txBody>
      </p:sp>
      <p:sp>
        <p:nvSpPr>
          <p:cNvPr id="14" name="4-Point Star 13"/>
          <p:cNvSpPr/>
          <p:nvPr/>
        </p:nvSpPr>
        <p:spPr>
          <a:xfrm>
            <a:off x="76200" y="717550"/>
            <a:ext cx="304800" cy="304800"/>
          </a:xfrm>
          <a:prstGeom prst="star4">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sz="1800"/>
          </a:p>
        </p:txBody>
      </p:sp>
      <p:sp>
        <p:nvSpPr>
          <p:cNvPr id="27" name="Action Button: Forward or Next 26">
            <a:hlinkClick r:id="rId3" action="ppaction://hlinkfile" highlightClick="1"/>
          </p:cNvPr>
          <p:cNvSpPr/>
          <p:nvPr/>
        </p:nvSpPr>
        <p:spPr>
          <a:xfrm>
            <a:off x="8839200" y="76200"/>
            <a:ext cx="228600" cy="228600"/>
          </a:xfrm>
          <a:prstGeom prst="actionButtonForwardNext">
            <a:avLst/>
          </a:prstGeom>
          <a:solidFill>
            <a:srgbClr val="00B0F0"/>
          </a:solid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30733" name="Rectangle 3"/>
          <p:cNvSpPr>
            <a:spLocks noChangeArrowheads="1"/>
          </p:cNvSpPr>
          <p:nvPr/>
        </p:nvSpPr>
        <p:spPr bwMode="auto">
          <a:xfrm>
            <a:off x="387350" y="3733800"/>
            <a:ext cx="82296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800" b="1">
                <a:solidFill>
                  <a:srgbClr val="FF0000"/>
                </a:solidFill>
                <a:latin typeface="Times New Roman" pitchFamily="18" charset="0"/>
                <a:cs typeface="Times New Roman" pitchFamily="18" charset="0"/>
              </a:rPr>
              <a:t>Hệ kín (hệ cô lập) </a:t>
            </a:r>
            <a:r>
              <a:rPr lang="en-US" sz="2800">
                <a:solidFill>
                  <a:srgbClr val="1109B7"/>
                </a:solidFill>
                <a:latin typeface="Times New Roman" pitchFamily="18" charset="0"/>
                <a:cs typeface="Times New Roman" pitchFamily="18" charset="0"/>
              </a:rPr>
              <a:t>là hệ không có ngoại lực tác dụng hoặc:</a:t>
            </a:r>
          </a:p>
          <a:p>
            <a:pPr lvl="1"/>
            <a:r>
              <a:rPr lang="en-US" sz="2800">
                <a:solidFill>
                  <a:srgbClr val="1109B7"/>
                </a:solidFill>
                <a:latin typeface="Times New Roman" pitchFamily="18" charset="0"/>
                <a:cs typeface="Times New Roman" pitchFamily="18" charset="0"/>
              </a:rPr>
              <a:t>Vẫn có ngoại lực tác dụng nhưng tổng hợp lực triệt tiêu</a:t>
            </a:r>
          </a:p>
          <a:p>
            <a:pPr lvl="1"/>
            <a:r>
              <a:rPr lang="en-US" sz="2800">
                <a:solidFill>
                  <a:srgbClr val="1109B7"/>
                </a:solidFill>
                <a:latin typeface="Times New Roman" pitchFamily="18" charset="0"/>
                <a:cs typeface="Times New Roman" pitchFamily="18" charset="0"/>
              </a:rPr>
              <a:t>Các bài toán va chạm (hệ có nội lực rất lớn so với ngoại lực</a:t>
            </a:r>
            <a:r>
              <a:rPr lang="en-US" sz="2800">
                <a:solidFill>
                  <a:srgbClr val="0070C0"/>
                </a:solidFill>
                <a:latin typeface="Times New Roman" pitchFamily="18" charset="0"/>
                <a:cs typeface="Times New Roman" pitchFamily="18" charset="0"/>
              </a:rPr>
              <a:t>)</a:t>
            </a:r>
          </a:p>
        </p:txBody>
      </p:sp>
      <p:sp>
        <p:nvSpPr>
          <p:cNvPr id="15" name="Rectangle 14"/>
          <p:cNvSpPr>
            <a:spLocks noRot="1" noChangeAspect="1" noMove="1" noResize="1" noEditPoints="1" noAdjustHandles="1" noChangeArrowheads="1" noChangeShapeType="1" noTextEdit="1"/>
          </p:cNvSpPr>
          <p:nvPr/>
        </p:nvSpPr>
        <p:spPr>
          <a:xfrm>
            <a:off x="214696" y="1187811"/>
            <a:ext cx="8895420" cy="750526"/>
          </a:xfrm>
          <a:prstGeom prst="rect">
            <a:avLst/>
          </a:prstGeom>
          <a:blipFill rotWithShape="1">
            <a:blip r:embed="rId4"/>
            <a:stretch>
              <a:fillRect b="-8943"/>
            </a:stretch>
          </a:blipFill>
        </p:spPr>
        <p:txBody>
          <a:bodyPr/>
          <a:lstStyle/>
          <a:p>
            <a:pPr>
              <a:defRPr/>
            </a:pPr>
            <a:r>
              <a:rPr lang="en-US">
                <a:noFill/>
              </a:rPr>
              <a:t> </a:t>
            </a:r>
          </a:p>
        </p:txBody>
      </p:sp>
      <p:sp>
        <p:nvSpPr>
          <p:cNvPr id="4" name="Rectangle 3"/>
          <p:cNvSpPr>
            <a:spLocks noRot="1" noChangeAspect="1" noMove="1" noResize="1" noEditPoints="1" noAdjustHandles="1" noChangeArrowheads="1" noChangeShapeType="1" noTextEdit="1"/>
          </p:cNvSpPr>
          <p:nvPr/>
        </p:nvSpPr>
        <p:spPr>
          <a:xfrm>
            <a:off x="914400" y="2667000"/>
            <a:ext cx="6477000" cy="914400"/>
          </a:xfrm>
          <a:prstGeom prst="rect">
            <a:avLst/>
          </a:prstGeom>
          <a:blipFill rotWithShape="1">
            <a:blip r:embed="rId5"/>
            <a:stretch>
              <a:fillRect/>
            </a:stretch>
          </a:blipFill>
        </p:spPr>
        <p:txBody>
          <a:bodyPr/>
          <a:lstStyle/>
          <a:p>
            <a:pPr>
              <a:defRPr/>
            </a:pPr>
            <a:r>
              <a:rPr lang="en-US">
                <a:noFill/>
              </a:rPr>
              <a:t> </a:t>
            </a:r>
          </a:p>
        </p:txBody>
      </p:sp>
      <p:sp>
        <p:nvSpPr>
          <p:cNvPr id="2" name="Footer Placeholder 1">
            <a:extLst>
              <a:ext uri="{FF2B5EF4-FFF2-40B4-BE49-F238E27FC236}">
                <a16:creationId xmlns:a16="http://schemas.microsoft.com/office/drawing/2014/main" id="{23EC17A6-E310-7388-8B9C-9475393E0B4B}"/>
              </a:ext>
            </a:extLst>
          </p:cNvPr>
          <p:cNvSpPr>
            <a:spLocks noGrp="1"/>
          </p:cNvSpPr>
          <p:nvPr>
            <p:ph type="ftr" sz="quarter" idx="11"/>
          </p:nvPr>
        </p:nvSpPr>
        <p:spPr/>
        <p:txBody>
          <a:bodyPr/>
          <a:lstStyle/>
          <a:p>
            <a:r>
              <a:rPr lang="en-US"/>
              <a:t>Bùi Quốc Trung - VLDC</a:t>
            </a:r>
          </a:p>
        </p:txBody>
      </p:sp>
      <p:sp>
        <p:nvSpPr>
          <p:cNvPr id="3" name="Slide Number Placeholder 2">
            <a:extLst>
              <a:ext uri="{FF2B5EF4-FFF2-40B4-BE49-F238E27FC236}">
                <a16:creationId xmlns:a16="http://schemas.microsoft.com/office/drawing/2014/main" id="{CF541ACC-7C96-C3F0-A27F-9897255EF17C}"/>
              </a:ext>
            </a:extLst>
          </p:cNvPr>
          <p:cNvSpPr>
            <a:spLocks noGrp="1"/>
          </p:cNvSpPr>
          <p:nvPr>
            <p:ph type="sldNum" sz="quarter" idx="12"/>
          </p:nvPr>
        </p:nvSpPr>
        <p:spPr/>
        <p:txBody>
          <a:bodyPr/>
          <a:lstStyle/>
          <a:p>
            <a:fld id="{C4A94DE9-7404-4CC4-BDD8-EA2E97866C70}" type="slidenum">
              <a:rPr lang="en-US" smtClean="0"/>
              <a:t>42</a:t>
            </a:fld>
            <a:endParaRPr lang="en-US"/>
          </a:p>
        </p:txBody>
      </p:sp>
    </p:spTree>
    <p:extLst>
      <p:ext uri="{BB962C8B-B14F-4D97-AF65-F5344CB8AC3E}">
        <p14:creationId xmlns:p14="http://schemas.microsoft.com/office/powerpoint/2010/main" val="24596871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heel(8)">
                                      <p:cBhvr>
                                        <p:cTn id="7" dur="500"/>
                                        <p:tgtEl>
                                          <p:spTgt spid="14"/>
                                        </p:tgtEl>
                                      </p:cBhvr>
                                    </p:animEffect>
                                  </p:childTnLst>
                                </p:cTn>
                              </p:par>
                            </p:childTnLst>
                          </p:cTn>
                        </p:par>
                        <p:par>
                          <p:cTn id="8" fill="hold" nodeType="afterGroup">
                            <p:stCondLst>
                              <p:cond delay="500"/>
                            </p:stCondLst>
                            <p:childTnLst>
                              <p:par>
                                <p:cTn id="9" presetID="21"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heel(8)">
                                      <p:cBhvr>
                                        <p:cTn id="11" dur="5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2" presetClass="entr" presetSubtype="0"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1000"/>
                                        <p:tgtEl>
                                          <p:spTgt spid="15"/>
                                        </p:tgtEl>
                                      </p:cBhvr>
                                    </p:animEffect>
                                    <p:anim calcmode="lin" valueType="num">
                                      <p:cBhvr>
                                        <p:cTn id="17" dur="1000" fill="hold"/>
                                        <p:tgtEl>
                                          <p:spTgt spid="15"/>
                                        </p:tgtEl>
                                        <p:attrNameLst>
                                          <p:attrName>ppt_x</p:attrName>
                                        </p:attrNameLst>
                                      </p:cBhvr>
                                      <p:tavLst>
                                        <p:tav tm="0">
                                          <p:val>
                                            <p:strVal val="#ppt_x"/>
                                          </p:val>
                                        </p:tav>
                                        <p:tav tm="100000">
                                          <p:val>
                                            <p:strVal val="#ppt_x"/>
                                          </p:val>
                                        </p:tav>
                                      </p:tavLst>
                                    </p:anim>
                                    <p:anim calcmode="lin" valueType="num">
                                      <p:cBhvr>
                                        <p:cTn id="1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1" presetClass="entr" presetSubtype="8"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heel(8)">
                                      <p:cBhvr>
                                        <p:cTn id="23" dur="500"/>
                                        <p:tgtEl>
                                          <p:spTgt spid="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0733"/>
                                        </p:tgtEl>
                                        <p:attrNameLst>
                                          <p:attrName>style.visibility</p:attrName>
                                        </p:attrNameLst>
                                      </p:cBhvr>
                                      <p:to>
                                        <p:strVal val="visible"/>
                                      </p:to>
                                    </p:set>
                                    <p:animEffect transition="in" filter="fade">
                                      <p:cBhvr>
                                        <p:cTn id="35" dur="500"/>
                                        <p:tgtEl>
                                          <p:spTgt spid="30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4" grpId="0" animBg="1"/>
      <p:bldP spid="3073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roup 18"/>
          <p:cNvGrpSpPr>
            <a:grpSpLocks/>
          </p:cNvGrpSpPr>
          <p:nvPr/>
        </p:nvGrpSpPr>
        <p:grpSpPr bwMode="auto">
          <a:xfrm>
            <a:off x="1676400" y="0"/>
            <a:ext cx="6019800" cy="685800"/>
            <a:chOff x="1310" y="1392"/>
            <a:chExt cx="4157" cy="432"/>
          </a:xfrm>
        </p:grpSpPr>
        <p:pic>
          <p:nvPicPr>
            <p:cNvPr id="35854"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415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1833" y="1449"/>
              <a:ext cx="3078"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ctr"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2.3. </a:t>
              </a:r>
              <a:r>
                <a:rPr lang="vi-VN" sz="2400" b="1">
                  <a:solidFill>
                    <a:srgbClr val="FF0000"/>
                  </a:solidFill>
                  <a:latin typeface="Times New Roman" pitchFamily="18" charset="0"/>
                  <a:cs typeface="Times New Roman" pitchFamily="18" charset="0"/>
                </a:rPr>
                <a:t>Động l</a:t>
              </a:r>
              <a:r>
                <a:rPr lang="en-US" sz="2400" b="1">
                  <a:solidFill>
                    <a:srgbClr val="FF0000"/>
                  </a:solidFill>
                  <a:latin typeface="Times New Roman" pitchFamily="18" charset="0"/>
                  <a:cs typeface="Times New Roman" pitchFamily="18" charset="0"/>
                </a:rPr>
                <a:t>ư</a:t>
              </a:r>
              <a:r>
                <a:rPr lang="vi-VN" sz="2400" b="1">
                  <a:solidFill>
                    <a:srgbClr val="FF0000"/>
                  </a:solidFill>
                  <a:latin typeface="Times New Roman" pitchFamily="18" charset="0"/>
                  <a:cs typeface="Times New Roman" pitchFamily="18" charset="0"/>
                </a:rPr>
                <a:t>ợng</a:t>
              </a:r>
              <a:endParaRPr lang="en-US" sz="2400" b="1">
                <a:solidFill>
                  <a:srgbClr val="FF0000"/>
                </a:solidFill>
                <a:latin typeface="Times New Roman" pitchFamily="18" charset="0"/>
                <a:cs typeface="Times New Roman" pitchFamily="18" charset="0"/>
              </a:endParaRPr>
            </a:p>
          </p:txBody>
        </p:sp>
      </p:grpSp>
      <p:sp>
        <p:nvSpPr>
          <p:cNvPr id="13" name="Text Box 9"/>
          <p:cNvSpPr txBox="1">
            <a:spLocks noChangeArrowheads="1"/>
          </p:cNvSpPr>
          <p:nvPr/>
        </p:nvSpPr>
        <p:spPr bwMode="auto">
          <a:xfrm>
            <a:off x="582613" y="1033463"/>
            <a:ext cx="5029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eaLnBrk="1" hangingPunct="1">
              <a:spcBef>
                <a:spcPct val="50000"/>
              </a:spcBef>
            </a:pPr>
            <a:r>
              <a:rPr lang="en-US" sz="2800" b="1" dirty="0" err="1">
                <a:solidFill>
                  <a:srgbClr val="090563"/>
                </a:solidFill>
                <a:latin typeface="Times New Roman" pitchFamily="18" charset="0"/>
                <a:cs typeface="Times New Roman" pitchFamily="18" charset="0"/>
              </a:rPr>
              <a:t>Áp</a:t>
            </a:r>
            <a:r>
              <a:rPr lang="en-US" sz="2800" b="1" dirty="0">
                <a:solidFill>
                  <a:srgbClr val="090563"/>
                </a:solidFill>
                <a:latin typeface="Times New Roman" pitchFamily="18" charset="0"/>
                <a:cs typeface="Times New Roman" pitchFamily="18" charset="0"/>
              </a:rPr>
              <a:t> </a:t>
            </a:r>
            <a:r>
              <a:rPr lang="en-US" sz="2800" b="1" dirty="0" err="1">
                <a:solidFill>
                  <a:srgbClr val="090563"/>
                </a:solidFill>
                <a:latin typeface="Times New Roman" pitchFamily="18" charset="0"/>
                <a:cs typeface="Times New Roman" pitchFamily="18" charset="0"/>
              </a:rPr>
              <a:t>dụng</a:t>
            </a:r>
            <a:r>
              <a:rPr lang="en-US" sz="2800" b="1" dirty="0">
                <a:solidFill>
                  <a:srgbClr val="090563"/>
                </a:solidFill>
                <a:latin typeface="Times New Roman" pitchFamily="18" charset="0"/>
                <a:cs typeface="Times New Roman" pitchFamily="18" charset="0"/>
              </a:rPr>
              <a:t> (ĐLBTĐL)</a:t>
            </a:r>
          </a:p>
        </p:txBody>
      </p:sp>
      <p:sp>
        <p:nvSpPr>
          <p:cNvPr id="15" name="4-Point Star 14"/>
          <p:cNvSpPr/>
          <p:nvPr/>
        </p:nvSpPr>
        <p:spPr>
          <a:xfrm>
            <a:off x="180975" y="1143000"/>
            <a:ext cx="304800" cy="304800"/>
          </a:xfrm>
          <a:prstGeom prst="star4">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sz="1800"/>
          </a:p>
        </p:txBody>
      </p:sp>
      <p:pic>
        <p:nvPicPr>
          <p:cNvPr id="16"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2138" y="1797050"/>
            <a:ext cx="2952750"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16"/>
          <p:cNvSpPr>
            <a:spLocks noChangeArrowheads="1"/>
          </p:cNvSpPr>
          <p:nvPr/>
        </p:nvSpPr>
        <p:spPr bwMode="auto">
          <a:xfrm>
            <a:off x="644525" y="1795463"/>
            <a:ext cx="49530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Wingdings" pitchFamily="2" charset="2"/>
              <a:buNone/>
            </a:pPr>
            <a:r>
              <a:rPr lang="en-US" sz="2800" b="1">
                <a:solidFill>
                  <a:srgbClr val="FF0066"/>
                </a:solidFill>
                <a:latin typeface="Times New Roman" pitchFamily="18" charset="0"/>
                <a:cs typeface="Times New Roman" pitchFamily="18" charset="0"/>
              </a:rPr>
              <a:t>Giải thích hiện tượng súng giật lùi khi bắn</a:t>
            </a:r>
          </a:p>
        </p:txBody>
      </p:sp>
      <p:sp>
        <p:nvSpPr>
          <p:cNvPr id="19" name="Rectangle 18"/>
          <p:cNvSpPr>
            <a:spLocks noChangeArrowheads="1"/>
          </p:cNvSpPr>
          <p:nvPr/>
        </p:nvSpPr>
        <p:spPr bwMode="auto">
          <a:xfrm>
            <a:off x="668338" y="4741863"/>
            <a:ext cx="527526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Wingdings" pitchFamily="2" charset="2"/>
              <a:buNone/>
            </a:pPr>
            <a:r>
              <a:rPr lang="en-US" sz="2800" b="1">
                <a:solidFill>
                  <a:srgbClr val="C00000"/>
                </a:solidFill>
                <a:latin typeface="Times New Roman" pitchFamily="18" charset="0"/>
                <a:cs typeface="Times New Roman" pitchFamily="18" charset="0"/>
              </a:rPr>
              <a:t>Xét chuyển động của các vật sau va chạm ( bài toán va chạm )</a:t>
            </a:r>
          </a:p>
        </p:txBody>
      </p:sp>
      <p:sp>
        <p:nvSpPr>
          <p:cNvPr id="20" name="Rectangle 25"/>
          <p:cNvSpPr>
            <a:spLocks noChangeArrowheads="1"/>
          </p:cNvSpPr>
          <p:nvPr/>
        </p:nvSpPr>
        <p:spPr bwMode="auto">
          <a:xfrm>
            <a:off x="158750" y="1981200"/>
            <a:ext cx="5095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3200">
                <a:solidFill>
                  <a:srgbClr val="002060"/>
                </a:solidFill>
                <a:latin typeface="Times New Roman" pitchFamily="18" charset="0"/>
                <a:sym typeface="Wingdings" pitchFamily="2" charset="2"/>
              </a:rPr>
              <a:t></a:t>
            </a:r>
            <a:endParaRPr lang="en-US" sz="3200">
              <a:solidFill>
                <a:srgbClr val="002060"/>
              </a:solidFill>
            </a:endParaRPr>
          </a:p>
        </p:txBody>
      </p:sp>
      <p:sp>
        <p:nvSpPr>
          <p:cNvPr id="21" name="Rectangle 16"/>
          <p:cNvSpPr>
            <a:spLocks noChangeArrowheads="1"/>
          </p:cNvSpPr>
          <p:nvPr/>
        </p:nvSpPr>
        <p:spPr bwMode="auto">
          <a:xfrm>
            <a:off x="173038" y="4927600"/>
            <a:ext cx="5095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3200">
                <a:solidFill>
                  <a:srgbClr val="002060"/>
                </a:solidFill>
                <a:latin typeface="Times New Roman" pitchFamily="18" charset="0"/>
                <a:sym typeface="Wingdings" pitchFamily="2" charset="2"/>
              </a:rPr>
              <a:t></a:t>
            </a:r>
            <a:endParaRPr lang="en-US" sz="3200">
              <a:solidFill>
                <a:srgbClr val="002060"/>
              </a:solidFill>
            </a:endParaRPr>
          </a:p>
        </p:txBody>
      </p:sp>
      <p:sp>
        <p:nvSpPr>
          <p:cNvPr id="24" name="Rectangle 23"/>
          <p:cNvSpPr>
            <a:spLocks noChangeArrowheads="1"/>
          </p:cNvSpPr>
          <p:nvPr/>
        </p:nvSpPr>
        <p:spPr bwMode="auto">
          <a:xfrm>
            <a:off x="658813" y="3314700"/>
            <a:ext cx="4953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Wingdings" pitchFamily="2" charset="2"/>
              <a:buNone/>
            </a:pPr>
            <a:r>
              <a:rPr lang="en-US" sz="2800" b="1">
                <a:solidFill>
                  <a:srgbClr val="7030A0"/>
                </a:solidFill>
                <a:latin typeface="Times New Roman" pitchFamily="18" charset="0"/>
                <a:cs typeface="Times New Roman" pitchFamily="18" charset="0"/>
              </a:rPr>
              <a:t>Xét chuyển động của các vật nhờ phản lực</a:t>
            </a:r>
          </a:p>
        </p:txBody>
      </p:sp>
      <p:sp>
        <p:nvSpPr>
          <p:cNvPr id="25" name="Rectangle 16"/>
          <p:cNvSpPr>
            <a:spLocks noChangeArrowheads="1"/>
          </p:cNvSpPr>
          <p:nvPr/>
        </p:nvSpPr>
        <p:spPr bwMode="auto">
          <a:xfrm>
            <a:off x="134938" y="3500438"/>
            <a:ext cx="5095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3200">
                <a:solidFill>
                  <a:srgbClr val="002060"/>
                </a:solidFill>
                <a:latin typeface="Times New Roman" pitchFamily="18" charset="0"/>
                <a:sym typeface="Wingdings" pitchFamily="2" charset="2"/>
              </a:rPr>
              <a:t></a:t>
            </a:r>
            <a:endParaRPr lang="en-US" sz="3200">
              <a:solidFill>
                <a:srgbClr val="002060"/>
              </a:solidFill>
            </a:endParaRPr>
          </a:p>
        </p:txBody>
      </p:sp>
      <p:pic>
        <p:nvPicPr>
          <p:cNvPr id="12302"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4938" y="3003550"/>
            <a:ext cx="3929062"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Action Button: Forward or Next 26">
            <a:hlinkClick r:id="rId5" action="ppaction://hlinkfile" highlightClick="1"/>
          </p:cNvPr>
          <p:cNvSpPr/>
          <p:nvPr/>
        </p:nvSpPr>
        <p:spPr>
          <a:xfrm>
            <a:off x="8839200" y="76200"/>
            <a:ext cx="228600" cy="228600"/>
          </a:xfrm>
          <a:prstGeom prst="actionButtonForwardNext">
            <a:avLst/>
          </a:prstGeom>
          <a:solidFill>
            <a:srgbClr val="00B0F0"/>
          </a:solid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2" name="Footer Placeholder 1">
            <a:extLst>
              <a:ext uri="{FF2B5EF4-FFF2-40B4-BE49-F238E27FC236}">
                <a16:creationId xmlns:a16="http://schemas.microsoft.com/office/drawing/2014/main" id="{9C751031-0C20-8B6F-165E-E0A20F796F7C}"/>
              </a:ext>
            </a:extLst>
          </p:cNvPr>
          <p:cNvSpPr>
            <a:spLocks noGrp="1"/>
          </p:cNvSpPr>
          <p:nvPr>
            <p:ph type="ftr" sz="quarter" idx="11"/>
          </p:nvPr>
        </p:nvSpPr>
        <p:spPr/>
        <p:txBody>
          <a:bodyPr/>
          <a:lstStyle/>
          <a:p>
            <a:r>
              <a:rPr lang="en-US"/>
              <a:t>Bùi Quốc Trung - VLDC</a:t>
            </a:r>
          </a:p>
        </p:txBody>
      </p:sp>
      <p:sp>
        <p:nvSpPr>
          <p:cNvPr id="3" name="Slide Number Placeholder 2">
            <a:extLst>
              <a:ext uri="{FF2B5EF4-FFF2-40B4-BE49-F238E27FC236}">
                <a16:creationId xmlns:a16="http://schemas.microsoft.com/office/drawing/2014/main" id="{A9D85A37-9A82-9E8D-F3F6-16FD7771138C}"/>
              </a:ext>
            </a:extLst>
          </p:cNvPr>
          <p:cNvSpPr>
            <a:spLocks noGrp="1"/>
          </p:cNvSpPr>
          <p:nvPr>
            <p:ph type="sldNum" sz="quarter" idx="12"/>
          </p:nvPr>
        </p:nvSpPr>
        <p:spPr/>
        <p:txBody>
          <a:bodyPr/>
          <a:lstStyle/>
          <a:p>
            <a:fld id="{C4A94DE9-7404-4CC4-BDD8-EA2E97866C70}" type="slidenum">
              <a:rPr lang="en-US" smtClean="0"/>
              <a:t>43</a:t>
            </a:fld>
            <a:endParaRPr lang="en-US"/>
          </a:p>
        </p:txBody>
      </p:sp>
    </p:spTree>
    <p:extLst>
      <p:ext uri="{BB962C8B-B14F-4D97-AF65-F5344CB8AC3E}">
        <p14:creationId xmlns:p14="http://schemas.microsoft.com/office/powerpoint/2010/main" val="22374422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8)">
                                      <p:cBhvr>
                                        <p:cTn id="7" dur="500"/>
                                        <p:tgtEl>
                                          <p:spTgt spid="15"/>
                                        </p:tgtEl>
                                      </p:cBhvr>
                                    </p:animEffect>
                                  </p:childTnLst>
                                </p:cTn>
                              </p:par>
                            </p:childTnLst>
                          </p:cTn>
                        </p:par>
                        <p:par>
                          <p:cTn id="8" fill="hold" nodeType="afterGroup">
                            <p:stCondLst>
                              <p:cond delay="500"/>
                            </p:stCondLst>
                            <p:childTnLst>
                              <p:par>
                                <p:cTn id="9" presetID="21"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heel(8)">
                                      <p:cBhvr>
                                        <p:cTn id="11" dur="500"/>
                                        <p:tgtEl>
                                          <p:spTgt spid="1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1" presetClass="entr" presetSubtype="8"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heel(8)">
                                      <p:cBhvr>
                                        <p:cTn id="16" dur="500"/>
                                        <p:tgtEl>
                                          <p:spTgt spid="20"/>
                                        </p:tgtEl>
                                      </p:cBhvr>
                                    </p:animEffect>
                                  </p:childTnLst>
                                </p:cTn>
                              </p:par>
                            </p:childTnLst>
                          </p:cTn>
                        </p:par>
                        <p:par>
                          <p:cTn id="17" fill="hold" nodeType="afterGroup">
                            <p:stCondLst>
                              <p:cond delay="500"/>
                            </p:stCondLst>
                            <p:childTnLst>
                              <p:par>
                                <p:cTn id="18" presetID="21" presetClass="entr" presetSubtype="8"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heel(8)">
                                      <p:cBhvr>
                                        <p:cTn id="20" dur="500"/>
                                        <p:tgtEl>
                                          <p:spTgt spid="17"/>
                                        </p:tgtEl>
                                      </p:cBhvr>
                                    </p:animEffect>
                                  </p:childTnLst>
                                </p:cTn>
                              </p:par>
                            </p:childTnLst>
                          </p:cTn>
                        </p:par>
                        <p:par>
                          <p:cTn id="21" fill="hold" nodeType="afterGroup">
                            <p:stCondLst>
                              <p:cond delay="1000"/>
                            </p:stCondLst>
                            <p:childTnLst>
                              <p:par>
                                <p:cTn id="22" presetID="21" presetClass="entr" presetSubtype="8" fill="hold"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heel(8)">
                                      <p:cBhvr>
                                        <p:cTn id="24" dur="500"/>
                                        <p:tgtEl>
                                          <p:spTgt spid="1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1" presetClass="entr" presetSubtype="8"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wheel(8)">
                                      <p:cBhvr>
                                        <p:cTn id="29" dur="500"/>
                                        <p:tgtEl>
                                          <p:spTgt spid="25"/>
                                        </p:tgtEl>
                                      </p:cBhvr>
                                    </p:animEffect>
                                  </p:childTnLst>
                                </p:cTn>
                              </p:par>
                            </p:childTnLst>
                          </p:cTn>
                        </p:par>
                        <p:par>
                          <p:cTn id="30" fill="hold" nodeType="afterGroup">
                            <p:stCondLst>
                              <p:cond delay="500"/>
                            </p:stCondLst>
                            <p:childTnLst>
                              <p:par>
                                <p:cTn id="31" presetID="21" presetClass="entr" presetSubtype="8" fill="hold" grpId="0" nodeType="after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wheel(8)">
                                      <p:cBhvr>
                                        <p:cTn id="33" dur="500"/>
                                        <p:tgtEl>
                                          <p:spTgt spid="24"/>
                                        </p:tgtEl>
                                      </p:cBhvr>
                                    </p:animEffect>
                                  </p:childTnLst>
                                </p:cTn>
                              </p:par>
                            </p:childTnLst>
                          </p:cTn>
                        </p:par>
                        <p:par>
                          <p:cTn id="34" fill="hold" nodeType="afterGroup">
                            <p:stCondLst>
                              <p:cond delay="1000"/>
                            </p:stCondLst>
                            <p:childTnLst>
                              <p:par>
                                <p:cTn id="35" presetID="29" presetClass="entr" presetSubtype="0" fill="hold" nodeType="afterEffect">
                                  <p:stCondLst>
                                    <p:cond delay="0"/>
                                  </p:stCondLst>
                                  <p:childTnLst>
                                    <p:set>
                                      <p:cBhvr>
                                        <p:cTn id="36" dur="1" fill="hold">
                                          <p:stCondLst>
                                            <p:cond delay="0"/>
                                          </p:stCondLst>
                                        </p:cTn>
                                        <p:tgtEl>
                                          <p:spTgt spid="12302"/>
                                        </p:tgtEl>
                                        <p:attrNameLst>
                                          <p:attrName>style.visibility</p:attrName>
                                        </p:attrNameLst>
                                      </p:cBhvr>
                                      <p:to>
                                        <p:strVal val="visible"/>
                                      </p:to>
                                    </p:set>
                                    <p:anim calcmode="lin" valueType="num">
                                      <p:cBhvr>
                                        <p:cTn id="37" dur="1000" fill="hold"/>
                                        <p:tgtEl>
                                          <p:spTgt spid="12302"/>
                                        </p:tgtEl>
                                        <p:attrNameLst>
                                          <p:attrName>ppt_x</p:attrName>
                                        </p:attrNameLst>
                                      </p:cBhvr>
                                      <p:tavLst>
                                        <p:tav tm="0">
                                          <p:val>
                                            <p:strVal val="#ppt_x-.2"/>
                                          </p:val>
                                        </p:tav>
                                        <p:tav tm="100000">
                                          <p:val>
                                            <p:strVal val="#ppt_x"/>
                                          </p:val>
                                        </p:tav>
                                      </p:tavLst>
                                    </p:anim>
                                    <p:anim calcmode="lin" valueType="num">
                                      <p:cBhvr>
                                        <p:cTn id="38" dur="1000" fill="hold"/>
                                        <p:tgtEl>
                                          <p:spTgt spid="12302"/>
                                        </p:tgtEl>
                                        <p:attrNameLst>
                                          <p:attrName>ppt_y</p:attrName>
                                        </p:attrNameLst>
                                      </p:cBhvr>
                                      <p:tavLst>
                                        <p:tav tm="0">
                                          <p:val>
                                            <p:strVal val="#ppt_y"/>
                                          </p:val>
                                        </p:tav>
                                        <p:tav tm="100000">
                                          <p:val>
                                            <p:strVal val="#ppt_y"/>
                                          </p:val>
                                        </p:tav>
                                      </p:tavLst>
                                    </p:anim>
                                    <p:animEffect transition="in" filter="wipe(right)" prLst="gradientSize: 0.1">
                                      <p:cBhvr>
                                        <p:cTn id="39" dur="1000"/>
                                        <p:tgtEl>
                                          <p:spTgt spid="1230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1" presetClass="entr" presetSubtype="8"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wheel(8)">
                                      <p:cBhvr>
                                        <p:cTn id="44" dur="500"/>
                                        <p:tgtEl>
                                          <p:spTgt spid="21"/>
                                        </p:tgtEl>
                                      </p:cBhvr>
                                    </p:animEffect>
                                  </p:childTnLst>
                                </p:cTn>
                              </p:par>
                            </p:childTnLst>
                          </p:cTn>
                        </p:par>
                        <p:par>
                          <p:cTn id="45" fill="hold" nodeType="afterGroup">
                            <p:stCondLst>
                              <p:cond delay="500"/>
                            </p:stCondLst>
                            <p:childTnLst>
                              <p:par>
                                <p:cTn id="46" presetID="21" presetClass="entr" presetSubtype="8" fill="hold" grpId="0" nodeType="after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heel(8)">
                                      <p:cBhvr>
                                        <p:cTn id="4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animBg="1"/>
      <p:bldP spid="17" grpId="0"/>
      <p:bldP spid="19" grpId="0"/>
      <p:bldP spid="20" grpId="0"/>
      <p:bldP spid="21" grpId="0"/>
      <p:bldP spid="24" grpId="0"/>
      <p:bldP spid="2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6" name="Group 18"/>
          <p:cNvGrpSpPr>
            <a:grpSpLocks/>
          </p:cNvGrpSpPr>
          <p:nvPr/>
        </p:nvGrpSpPr>
        <p:grpSpPr bwMode="auto">
          <a:xfrm>
            <a:off x="1676400" y="0"/>
            <a:ext cx="6019800" cy="685800"/>
            <a:chOff x="1310" y="1392"/>
            <a:chExt cx="4157" cy="432"/>
          </a:xfrm>
        </p:grpSpPr>
        <p:pic>
          <p:nvPicPr>
            <p:cNvPr id="36881"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415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1833" y="1449"/>
              <a:ext cx="3078"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ctr"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2.3. </a:t>
              </a:r>
              <a:r>
                <a:rPr lang="vi-VN" sz="2400" b="1">
                  <a:solidFill>
                    <a:srgbClr val="FF0000"/>
                  </a:solidFill>
                  <a:latin typeface="Times New Roman" pitchFamily="18" charset="0"/>
                  <a:cs typeface="Times New Roman" pitchFamily="18" charset="0"/>
                </a:rPr>
                <a:t>Động l</a:t>
              </a:r>
              <a:r>
                <a:rPr lang="en-US" sz="2400" b="1">
                  <a:solidFill>
                    <a:srgbClr val="FF0000"/>
                  </a:solidFill>
                  <a:latin typeface="Times New Roman" pitchFamily="18" charset="0"/>
                  <a:cs typeface="Times New Roman" pitchFamily="18" charset="0"/>
                </a:rPr>
                <a:t>ư</a:t>
              </a:r>
              <a:r>
                <a:rPr lang="vi-VN" sz="2400" b="1">
                  <a:solidFill>
                    <a:srgbClr val="FF0000"/>
                  </a:solidFill>
                  <a:latin typeface="Times New Roman" pitchFamily="18" charset="0"/>
                  <a:cs typeface="Times New Roman" pitchFamily="18" charset="0"/>
                </a:rPr>
                <a:t>ợng</a:t>
              </a:r>
              <a:endParaRPr lang="en-US" sz="2400" b="1">
                <a:solidFill>
                  <a:srgbClr val="FF0000"/>
                </a:solidFill>
                <a:latin typeface="Times New Roman" pitchFamily="18" charset="0"/>
                <a:cs typeface="Times New Roman" pitchFamily="18" charset="0"/>
              </a:endParaRPr>
            </a:p>
          </p:txBody>
        </p:sp>
      </p:grpSp>
      <p:pic>
        <p:nvPicPr>
          <p:cNvPr id="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1371600"/>
            <a:ext cx="3200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a:spLocks noChangeArrowheads="1"/>
          </p:cNvSpPr>
          <p:nvPr/>
        </p:nvSpPr>
        <p:spPr bwMode="auto">
          <a:xfrm>
            <a:off x="609600" y="685800"/>
            <a:ext cx="6858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Wingdings" pitchFamily="2" charset="2"/>
              <a:buNone/>
            </a:pPr>
            <a:r>
              <a:rPr lang="en-US" sz="2800" b="1">
                <a:solidFill>
                  <a:srgbClr val="FF0066"/>
                </a:solidFill>
                <a:latin typeface="Times New Roman" pitchFamily="18" charset="0"/>
                <a:cs typeface="Times New Roman" pitchFamily="18" charset="0"/>
              </a:rPr>
              <a:t>Giải thích hiện tượng súng giật lùi khi bắn</a:t>
            </a:r>
          </a:p>
        </p:txBody>
      </p:sp>
      <p:sp>
        <p:nvSpPr>
          <p:cNvPr id="9" name="Rectangle 25"/>
          <p:cNvSpPr>
            <a:spLocks noChangeArrowheads="1"/>
          </p:cNvSpPr>
          <p:nvPr/>
        </p:nvSpPr>
        <p:spPr bwMode="auto">
          <a:xfrm>
            <a:off x="152400" y="711200"/>
            <a:ext cx="5095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3200">
                <a:solidFill>
                  <a:srgbClr val="002060"/>
                </a:solidFill>
                <a:latin typeface="Times New Roman" pitchFamily="18" charset="0"/>
                <a:sym typeface="Wingdings" pitchFamily="2" charset="2"/>
              </a:rPr>
              <a:t></a:t>
            </a:r>
            <a:endParaRPr lang="en-US" sz="3200">
              <a:solidFill>
                <a:srgbClr val="002060"/>
              </a:solidFill>
            </a:endParaRPr>
          </a:p>
        </p:txBody>
      </p:sp>
      <p:sp>
        <p:nvSpPr>
          <p:cNvPr id="11" name="Rectangle 10"/>
          <p:cNvSpPr>
            <a:spLocks noChangeArrowheads="1"/>
          </p:cNvSpPr>
          <p:nvPr/>
        </p:nvSpPr>
        <p:spPr bwMode="auto">
          <a:xfrm>
            <a:off x="76200" y="1219200"/>
            <a:ext cx="58674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buFont typeface="Wingdings" pitchFamily="2" charset="2"/>
              <a:buNone/>
            </a:pPr>
            <a:r>
              <a:rPr lang="en-US" sz="2800">
                <a:solidFill>
                  <a:srgbClr val="090563"/>
                </a:solidFill>
                <a:latin typeface="Times New Roman" pitchFamily="18" charset="0"/>
                <a:cs typeface="Times New Roman" pitchFamily="18" charset="0"/>
              </a:rPr>
              <a:t>_ Nếu bỏ qua ma sát thì tổng hợp các ngoại lực tác dụng lên hệ (gồm súng và đạn) theo phương ngang bằng không. </a:t>
            </a:r>
          </a:p>
        </p:txBody>
      </p:sp>
      <p:sp>
        <p:nvSpPr>
          <p:cNvPr id="12" name="Rectangle 11"/>
          <p:cNvSpPr>
            <a:spLocks noChangeArrowheads="1"/>
          </p:cNvSpPr>
          <p:nvPr/>
        </p:nvSpPr>
        <p:spPr bwMode="auto">
          <a:xfrm>
            <a:off x="762000" y="2438400"/>
            <a:ext cx="4572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Wingdings" pitchFamily="2" charset="2"/>
              <a:buNone/>
            </a:pPr>
            <a:r>
              <a:rPr lang="en-US" sz="2800" i="1">
                <a:solidFill>
                  <a:srgbClr val="007A00"/>
                </a:solidFill>
                <a:latin typeface="Times New Roman" pitchFamily="18" charset="0"/>
                <a:cs typeface="Times New Roman" pitchFamily="18" charset="0"/>
              </a:rPr>
              <a:t>Tổng động lượng của hệ theo phương ngang được </a:t>
            </a:r>
            <a:r>
              <a:rPr lang="en-US" sz="2800" b="1" i="1">
                <a:solidFill>
                  <a:srgbClr val="007A00"/>
                </a:solidFill>
                <a:latin typeface="Times New Roman" pitchFamily="18" charset="0"/>
                <a:cs typeface="Times New Roman" pitchFamily="18" charset="0"/>
              </a:rPr>
              <a:t>bảo toàn</a:t>
            </a:r>
            <a:r>
              <a:rPr lang="en-US" sz="2800" i="1">
                <a:solidFill>
                  <a:srgbClr val="007A00"/>
                </a:solidFill>
                <a:latin typeface="Times New Roman" pitchFamily="18" charset="0"/>
                <a:cs typeface="Times New Roman" pitchFamily="18" charset="0"/>
              </a:rPr>
              <a:t>.</a:t>
            </a:r>
            <a:endParaRPr lang="en-US" sz="2800">
              <a:solidFill>
                <a:srgbClr val="007A00"/>
              </a:solidFill>
              <a:latin typeface="Times New Roman" pitchFamily="18" charset="0"/>
              <a:cs typeface="Times New Roman" pitchFamily="18" charset="0"/>
            </a:endParaRPr>
          </a:p>
        </p:txBody>
      </p:sp>
      <p:graphicFrame>
        <p:nvGraphicFramePr>
          <p:cNvPr id="34821" name="Object 5"/>
          <p:cNvGraphicFramePr>
            <a:graphicFrameLocks noChangeAspect="1"/>
          </p:cNvGraphicFramePr>
          <p:nvPr/>
        </p:nvGraphicFramePr>
        <p:xfrm>
          <a:off x="3271838" y="4510088"/>
          <a:ext cx="2063750" cy="428625"/>
        </p:xfrm>
        <a:graphic>
          <a:graphicData uri="http://schemas.openxmlformats.org/presentationml/2006/ole">
            <mc:AlternateContent xmlns:mc="http://schemas.openxmlformats.org/markup-compatibility/2006">
              <mc:Choice xmlns:v="urn:schemas-microsoft-com:vml" Requires="v">
                <p:oleObj name="Equation" r:id="rId4" imgW="1790700" imgH="368300" progId="Equation.DSMT4">
                  <p:embed/>
                </p:oleObj>
              </mc:Choice>
              <mc:Fallback>
                <p:oleObj name="Equation" r:id="rId4" imgW="1790700" imgH="3683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1838" y="4510088"/>
                        <a:ext cx="20637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7"/>
          <p:cNvGraphicFramePr>
            <a:graphicFrameLocks noChangeAspect="1"/>
          </p:cNvGraphicFramePr>
          <p:nvPr/>
        </p:nvGraphicFramePr>
        <p:xfrm>
          <a:off x="1830388" y="3567113"/>
          <a:ext cx="3586162" cy="638175"/>
        </p:xfrm>
        <a:graphic>
          <a:graphicData uri="http://schemas.openxmlformats.org/presentationml/2006/ole">
            <mc:AlternateContent xmlns:mc="http://schemas.openxmlformats.org/markup-compatibility/2006">
              <mc:Choice xmlns:v="urn:schemas-microsoft-com:vml" Requires="v">
                <p:oleObj name="Equation" r:id="rId6" imgW="1511300" imgH="241300" progId="Equation.DSMT4">
                  <p:embed/>
                </p:oleObj>
              </mc:Choice>
              <mc:Fallback>
                <p:oleObj name="Equation" r:id="rId6" imgW="1511300" imgH="2413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30388" y="3567113"/>
                        <a:ext cx="3586162"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Right Arrow 14"/>
          <p:cNvSpPr/>
          <p:nvPr/>
        </p:nvSpPr>
        <p:spPr>
          <a:xfrm>
            <a:off x="304800" y="2590800"/>
            <a:ext cx="187325" cy="685800"/>
          </a:xfrm>
          <a:prstGeom prst="right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800">
              <a:solidFill>
                <a:srgbClr val="0070C0"/>
              </a:solidFill>
              <a:latin typeface="Times New Roman" pitchFamily="18" charset="0"/>
              <a:cs typeface="Times New Roman" pitchFamily="18" charset="0"/>
            </a:endParaRPr>
          </a:p>
        </p:txBody>
      </p:sp>
      <p:sp>
        <p:nvSpPr>
          <p:cNvPr id="16" name="Rounded Rectangle 15"/>
          <p:cNvSpPr>
            <a:spLocks noChangeArrowheads="1"/>
          </p:cNvSpPr>
          <p:nvPr/>
        </p:nvSpPr>
        <p:spPr bwMode="auto">
          <a:xfrm>
            <a:off x="2896924" y="5243512"/>
            <a:ext cx="2133600" cy="1219200"/>
          </a:xfrm>
          <a:prstGeom prst="roundRect">
            <a:avLst>
              <a:gd name="adj" fmla="val 16667"/>
            </a:avLst>
          </a:prstGeom>
          <a:noFill/>
          <a:ln w="38100" algn="ctr">
            <a:solidFill>
              <a:srgbClr val="FF0000"/>
            </a:solidFill>
            <a:round/>
            <a:headEnd/>
            <a:tailEnd/>
          </a:ln>
          <a:effectLst>
            <a:glow rad="139700">
              <a:schemeClr val="accent2">
                <a:satMod val="175000"/>
                <a:alpha val="40000"/>
              </a:schemeClr>
            </a:glow>
            <a:outerShdw dist="38100" sx="101000" sy="101000" algn="l" rotWithShape="0">
              <a:srgbClr val="000000">
                <a:alpha val="0"/>
              </a:srgbClr>
            </a:outerShdw>
          </a:effectLst>
        </p:spPr>
        <p:txBody>
          <a:bodyPr anchor="ctr"/>
          <a:lstStyle/>
          <a:p>
            <a:pPr algn="ctr">
              <a:defRPr/>
            </a:pPr>
            <a:endParaRPr lang="vi-VN" sz="2400">
              <a:solidFill>
                <a:schemeClr val="lt1"/>
              </a:solidFill>
              <a:latin typeface="Times New Roman" pitchFamily="18" charset="0"/>
              <a:cs typeface="Times New Roman" pitchFamily="18" charset="0"/>
            </a:endParaRPr>
          </a:p>
        </p:txBody>
      </p:sp>
      <p:graphicFrame>
        <p:nvGraphicFramePr>
          <p:cNvPr id="2" name="Object 19"/>
          <p:cNvGraphicFramePr>
            <a:graphicFrameLocks noChangeAspect="1"/>
          </p:cNvGraphicFramePr>
          <p:nvPr/>
        </p:nvGraphicFramePr>
        <p:xfrm>
          <a:off x="3201988" y="5395913"/>
          <a:ext cx="1506537" cy="915987"/>
        </p:xfrm>
        <a:graphic>
          <a:graphicData uri="http://schemas.openxmlformats.org/presentationml/2006/ole">
            <mc:AlternateContent xmlns:mc="http://schemas.openxmlformats.org/markup-compatibility/2006">
              <mc:Choice xmlns:v="urn:schemas-microsoft-com:vml" Requires="v">
                <p:oleObj name="Equation" r:id="rId8" imgW="1308100" imgH="787400" progId="Equation.DSMT4">
                  <p:embed/>
                </p:oleObj>
              </mc:Choice>
              <mc:Fallback>
                <p:oleObj name="Equation" r:id="rId8" imgW="1308100" imgH="7874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1988" y="5395913"/>
                        <a:ext cx="1506537"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Left-Right Arrow 17"/>
          <p:cNvSpPr/>
          <p:nvPr/>
        </p:nvSpPr>
        <p:spPr>
          <a:xfrm>
            <a:off x="2211388" y="4710113"/>
            <a:ext cx="304800" cy="160337"/>
          </a:xfrm>
          <a:prstGeom prst="leftRightArrow">
            <a:avLst/>
          </a:prstGeom>
          <a:solidFill>
            <a:srgbClr val="43CE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19" name="Left-Right Arrow 18"/>
          <p:cNvSpPr/>
          <p:nvPr/>
        </p:nvSpPr>
        <p:spPr>
          <a:xfrm>
            <a:off x="2211388" y="5726113"/>
            <a:ext cx="304800" cy="160337"/>
          </a:xfrm>
          <a:prstGeom prst="leftRightArrow">
            <a:avLst/>
          </a:prstGeom>
          <a:solidFill>
            <a:srgbClr val="43CE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4" name="Footer Placeholder 3">
            <a:extLst>
              <a:ext uri="{FF2B5EF4-FFF2-40B4-BE49-F238E27FC236}">
                <a16:creationId xmlns:a16="http://schemas.microsoft.com/office/drawing/2014/main" id="{3EF35CB6-08EB-586E-0984-F53ABD61E909}"/>
              </a:ext>
            </a:extLst>
          </p:cNvPr>
          <p:cNvSpPr>
            <a:spLocks noGrp="1"/>
          </p:cNvSpPr>
          <p:nvPr>
            <p:ph type="ftr" sz="quarter" idx="11"/>
          </p:nvPr>
        </p:nvSpPr>
        <p:spPr/>
        <p:txBody>
          <a:bodyPr/>
          <a:lstStyle/>
          <a:p>
            <a:r>
              <a:rPr lang="en-US"/>
              <a:t>Bùi Quốc Trung - VLDC</a:t>
            </a:r>
          </a:p>
        </p:txBody>
      </p:sp>
      <p:sp>
        <p:nvSpPr>
          <p:cNvPr id="5" name="Slide Number Placeholder 4">
            <a:extLst>
              <a:ext uri="{FF2B5EF4-FFF2-40B4-BE49-F238E27FC236}">
                <a16:creationId xmlns:a16="http://schemas.microsoft.com/office/drawing/2014/main" id="{39E62D0B-42C7-058C-6D12-0765E4F94A11}"/>
              </a:ext>
            </a:extLst>
          </p:cNvPr>
          <p:cNvSpPr>
            <a:spLocks noGrp="1"/>
          </p:cNvSpPr>
          <p:nvPr>
            <p:ph type="sldNum" sz="quarter" idx="12"/>
          </p:nvPr>
        </p:nvSpPr>
        <p:spPr/>
        <p:txBody>
          <a:bodyPr/>
          <a:lstStyle/>
          <a:p>
            <a:fld id="{C4A94DE9-7404-4CC4-BDD8-EA2E97866C70}" type="slidenum">
              <a:rPr lang="en-US" smtClean="0"/>
              <a:t>44</a:t>
            </a:fld>
            <a:endParaRPr lang="en-US"/>
          </a:p>
        </p:txBody>
      </p:sp>
    </p:spTree>
    <p:extLst>
      <p:ext uri="{BB962C8B-B14F-4D97-AF65-F5344CB8AC3E}">
        <p14:creationId xmlns:p14="http://schemas.microsoft.com/office/powerpoint/2010/main" val="42120352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par>
                          <p:cTn id="8" fill="hold" nodeType="afterGroup">
                            <p:stCondLst>
                              <p:cond delay="500"/>
                            </p:stCondLst>
                            <p:childTnLst>
                              <p:par>
                                <p:cTn id="9" presetID="5" presetClass="entr" presetSubtype="1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checkerboard(across)">
                                      <p:cBhvr>
                                        <p:cTn id="11" dur="500"/>
                                        <p:tgtEl>
                                          <p:spTgt spid="8"/>
                                        </p:tgtEl>
                                      </p:cBhvr>
                                    </p:animEffect>
                                  </p:childTnLst>
                                </p:cTn>
                              </p:par>
                            </p:childTnLst>
                          </p:cTn>
                        </p:par>
                        <p:par>
                          <p:cTn id="12" fill="hold" nodeType="afterGroup">
                            <p:stCondLst>
                              <p:cond delay="1000"/>
                            </p:stCondLst>
                            <p:childTnLst>
                              <p:par>
                                <p:cTn id="13" presetID="5" presetClass="entr" presetSubtype="1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checkerboard(across)">
                                      <p:cBhvr>
                                        <p:cTn id="15" dur="500"/>
                                        <p:tgtEl>
                                          <p:spTgt spid="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ntr" presetSubtype="1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checkerboard(across)">
                                      <p:cBhvr>
                                        <p:cTn id="20" dur="500"/>
                                        <p:tgtEl>
                                          <p:spTgt spid="1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checkerboard(across)">
                                      <p:cBhvr>
                                        <p:cTn id="25" dur="500"/>
                                        <p:tgtEl>
                                          <p:spTgt spid="15"/>
                                        </p:tgtEl>
                                      </p:cBhvr>
                                    </p:animEffect>
                                  </p:childTnLst>
                                </p:cTn>
                              </p:par>
                            </p:childTnLst>
                          </p:cTn>
                        </p:par>
                        <p:par>
                          <p:cTn id="26" fill="hold" nodeType="afterGroup">
                            <p:stCondLst>
                              <p:cond delay="500"/>
                            </p:stCondLst>
                            <p:childTnLst>
                              <p:par>
                                <p:cTn id="27" presetID="5" presetClass="entr" presetSubtype="10" fill="hold"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checkerboard(across)">
                                      <p:cBhvr>
                                        <p:cTn id="29" dur="500"/>
                                        <p:tgtEl>
                                          <p:spTgt spid="1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checkerboard(across)">
                                      <p:cBhvr>
                                        <p:cTn id="34" dur="500"/>
                                        <p:tgtEl>
                                          <p:spTgt spid="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8" presetClass="entr" presetSubtype="32"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diamond(out)">
                                      <p:cBhvr>
                                        <p:cTn id="39" dur="500"/>
                                        <p:tgtEl>
                                          <p:spTgt spid="18"/>
                                        </p:tgtEl>
                                      </p:cBhvr>
                                    </p:animEffect>
                                  </p:childTnLst>
                                </p:cTn>
                              </p:par>
                            </p:childTnLst>
                          </p:cTn>
                        </p:par>
                        <p:par>
                          <p:cTn id="40" fill="hold" nodeType="afterGroup">
                            <p:stCondLst>
                              <p:cond delay="500"/>
                            </p:stCondLst>
                            <p:childTnLst>
                              <p:par>
                                <p:cTn id="41" presetID="5" presetClass="entr" presetSubtype="10" fill="hold" nodeType="afterEffect">
                                  <p:stCondLst>
                                    <p:cond delay="0"/>
                                  </p:stCondLst>
                                  <p:childTnLst>
                                    <p:set>
                                      <p:cBhvr>
                                        <p:cTn id="42" dur="1" fill="hold">
                                          <p:stCondLst>
                                            <p:cond delay="0"/>
                                          </p:stCondLst>
                                        </p:cTn>
                                        <p:tgtEl>
                                          <p:spTgt spid="34821"/>
                                        </p:tgtEl>
                                        <p:attrNameLst>
                                          <p:attrName>style.visibility</p:attrName>
                                        </p:attrNameLst>
                                      </p:cBhvr>
                                      <p:to>
                                        <p:strVal val="visible"/>
                                      </p:to>
                                    </p:set>
                                    <p:animEffect transition="in" filter="checkerboard(across)">
                                      <p:cBhvr>
                                        <p:cTn id="43" dur="500"/>
                                        <p:tgtEl>
                                          <p:spTgt spid="3482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8" presetClass="entr" presetSubtype="32"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diamond(out)">
                                      <p:cBhvr>
                                        <p:cTn id="48" dur="500"/>
                                        <p:tgtEl>
                                          <p:spTgt spid="19"/>
                                        </p:tgtEl>
                                      </p:cBhvr>
                                    </p:animEffect>
                                  </p:childTnLst>
                                </p:cTn>
                              </p:par>
                            </p:childTnLst>
                          </p:cTn>
                        </p:par>
                        <p:par>
                          <p:cTn id="49" fill="hold" nodeType="afterGroup">
                            <p:stCondLst>
                              <p:cond delay="500"/>
                            </p:stCondLst>
                            <p:childTnLst>
                              <p:par>
                                <p:cTn id="50" presetID="5" presetClass="entr" presetSubtype="10" fill="hold" nodeType="after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checkerboard(across)">
                                      <p:cBhvr>
                                        <p:cTn id="52" dur="500"/>
                                        <p:tgtEl>
                                          <p:spTgt spid="2"/>
                                        </p:tgtEl>
                                      </p:cBhvr>
                                    </p:animEffect>
                                  </p:childTnLst>
                                </p:cTn>
                              </p:par>
                            </p:childTnLst>
                          </p:cTn>
                        </p:par>
                        <p:par>
                          <p:cTn id="53" fill="hold" nodeType="afterGroup">
                            <p:stCondLst>
                              <p:cond delay="1000"/>
                            </p:stCondLst>
                            <p:childTnLst>
                              <p:par>
                                <p:cTn id="54" presetID="29" presetClass="entr" presetSubtype="0" fill="hold" nodeType="afterEffect">
                                  <p:stCondLst>
                                    <p:cond delay="0"/>
                                  </p:stCondLst>
                                  <p:childTnLst>
                                    <p:set>
                                      <p:cBhvr>
                                        <p:cTn id="55" dur="1" fill="hold">
                                          <p:stCondLst>
                                            <p:cond delay="0"/>
                                          </p:stCondLst>
                                        </p:cTn>
                                        <p:tgtEl>
                                          <p:spTgt spid="16"/>
                                        </p:tgtEl>
                                        <p:attrNameLst>
                                          <p:attrName>style.visibility</p:attrName>
                                        </p:attrNameLst>
                                      </p:cBhvr>
                                      <p:to>
                                        <p:strVal val="visible"/>
                                      </p:to>
                                    </p:set>
                                    <p:anim calcmode="lin" valueType="num">
                                      <p:cBhvr>
                                        <p:cTn id="56" dur="1000" fill="hold"/>
                                        <p:tgtEl>
                                          <p:spTgt spid="16"/>
                                        </p:tgtEl>
                                        <p:attrNameLst>
                                          <p:attrName>ppt_x</p:attrName>
                                        </p:attrNameLst>
                                      </p:cBhvr>
                                      <p:tavLst>
                                        <p:tav tm="0">
                                          <p:val>
                                            <p:strVal val="#ppt_x-.2"/>
                                          </p:val>
                                        </p:tav>
                                        <p:tav tm="100000">
                                          <p:val>
                                            <p:strVal val="#ppt_x"/>
                                          </p:val>
                                        </p:tav>
                                      </p:tavLst>
                                    </p:anim>
                                    <p:anim calcmode="lin" valueType="num">
                                      <p:cBhvr>
                                        <p:cTn id="57" dur="1000" fill="hold"/>
                                        <p:tgtEl>
                                          <p:spTgt spid="16"/>
                                        </p:tgtEl>
                                        <p:attrNameLst>
                                          <p:attrName>ppt_y</p:attrName>
                                        </p:attrNameLst>
                                      </p:cBhvr>
                                      <p:tavLst>
                                        <p:tav tm="0">
                                          <p:val>
                                            <p:strVal val="#ppt_y"/>
                                          </p:val>
                                        </p:tav>
                                        <p:tav tm="100000">
                                          <p:val>
                                            <p:strVal val="#ppt_y"/>
                                          </p:val>
                                        </p:tav>
                                      </p:tavLst>
                                    </p:anim>
                                    <p:animEffect transition="in" filter="wipe(right)" prLst="gradientSize: 0.1">
                                      <p:cBhvr>
                                        <p:cTn id="58"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8" grpId="0" animBg="1"/>
      <p:bldP spid="1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roup 18"/>
          <p:cNvGrpSpPr>
            <a:grpSpLocks/>
          </p:cNvGrpSpPr>
          <p:nvPr/>
        </p:nvGrpSpPr>
        <p:grpSpPr bwMode="auto">
          <a:xfrm>
            <a:off x="2971800" y="0"/>
            <a:ext cx="3352800" cy="685800"/>
            <a:chOff x="1310" y="1392"/>
            <a:chExt cx="4157" cy="432"/>
          </a:xfrm>
        </p:grpSpPr>
        <p:pic>
          <p:nvPicPr>
            <p:cNvPr id="33812"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415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1834" y="1449"/>
              <a:ext cx="3078"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ctr" fontAlgn="auto">
                <a:spcBef>
                  <a:spcPts val="1800"/>
                </a:spcBef>
                <a:spcAft>
                  <a:spcPts val="2400"/>
                </a:spcAft>
                <a:defRPr/>
              </a:pP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2.3. </a:t>
              </a:r>
              <a:r>
                <a:rPr lang="vi-VN" sz="2400" b="1">
                  <a:solidFill>
                    <a:srgbClr val="FF0000"/>
                  </a:solidFill>
                  <a:latin typeface="Times New Roman" pitchFamily="18" charset="0"/>
                  <a:cs typeface="Times New Roman" pitchFamily="18" charset="0"/>
                </a:rPr>
                <a:t>Động l</a:t>
              </a:r>
              <a:r>
                <a:rPr lang="en-US" sz="2400" b="1">
                  <a:solidFill>
                    <a:srgbClr val="FF0000"/>
                  </a:solidFill>
                  <a:latin typeface="Times New Roman" pitchFamily="18" charset="0"/>
                  <a:cs typeface="Times New Roman" pitchFamily="18" charset="0"/>
                </a:rPr>
                <a:t>ư</a:t>
              </a:r>
              <a:r>
                <a:rPr lang="vi-VN" sz="2400" b="1">
                  <a:solidFill>
                    <a:srgbClr val="FF0000"/>
                  </a:solidFill>
                  <a:latin typeface="Times New Roman" pitchFamily="18" charset="0"/>
                  <a:cs typeface="Times New Roman" pitchFamily="18" charset="0"/>
                </a:rPr>
                <a:t>ợng</a:t>
              </a:r>
              <a:endParaRPr lang="en-US" sz="2400" b="1">
                <a:solidFill>
                  <a:srgbClr val="FF0000"/>
                </a:solidFill>
                <a:latin typeface="Times New Roman" pitchFamily="18" charset="0"/>
                <a:cs typeface="Times New Roman" pitchFamily="18" charset="0"/>
              </a:endParaRPr>
            </a:p>
          </p:txBody>
        </p:sp>
      </p:grpSp>
      <p:sp>
        <p:nvSpPr>
          <p:cNvPr id="6" name="Rectangle 5"/>
          <p:cNvSpPr>
            <a:spLocks noChangeArrowheads="1"/>
          </p:cNvSpPr>
          <p:nvPr/>
        </p:nvSpPr>
        <p:spPr bwMode="auto">
          <a:xfrm>
            <a:off x="381000" y="609600"/>
            <a:ext cx="2971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Wingdings" pitchFamily="2" charset="2"/>
              <a:buNone/>
            </a:pPr>
            <a:r>
              <a:rPr lang="en-US" sz="2800" b="1">
                <a:solidFill>
                  <a:srgbClr val="C00000"/>
                </a:solidFill>
                <a:latin typeface="Times New Roman" pitchFamily="18" charset="0"/>
                <a:cs typeface="Times New Roman" pitchFamily="18" charset="0"/>
              </a:rPr>
              <a:t>Bài toán va chạm</a:t>
            </a:r>
          </a:p>
        </p:txBody>
      </p:sp>
      <p:pic>
        <p:nvPicPr>
          <p:cNvPr id="14345"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762000"/>
            <a:ext cx="2209800" cy="1104900"/>
          </a:xfrm>
          <a:prstGeom prst="rect">
            <a:avLst/>
          </a:prstGeom>
          <a:noFill/>
          <a:ln w="22225">
            <a:solidFill>
              <a:srgbClr val="090563"/>
            </a:solidFill>
            <a:miter lim="800000"/>
            <a:headEnd/>
            <a:tailEnd/>
          </a:ln>
          <a:extLst>
            <a:ext uri="{909E8E84-426E-40DD-AFC4-6F175D3DCCD1}">
              <a14:hiddenFill xmlns:a14="http://schemas.microsoft.com/office/drawing/2010/main">
                <a:solidFill>
                  <a:srgbClr val="FFFFFF"/>
                </a:solidFill>
              </a14:hiddenFill>
            </a:ext>
          </a:extLst>
        </p:spPr>
      </p:pic>
      <p:pic>
        <p:nvPicPr>
          <p:cNvPr id="14346"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7375" y="2514600"/>
            <a:ext cx="2209800" cy="981075"/>
          </a:xfrm>
          <a:prstGeom prst="rect">
            <a:avLst/>
          </a:prstGeom>
          <a:noFill/>
          <a:ln w="22225">
            <a:solidFill>
              <a:srgbClr val="090563"/>
            </a:solidFill>
            <a:miter lim="800000"/>
            <a:headEnd/>
            <a:tailEnd/>
          </a:ln>
          <a:extLst>
            <a:ext uri="{909E8E84-426E-40DD-AFC4-6F175D3DCCD1}">
              <a14:hiddenFill xmlns:a14="http://schemas.microsoft.com/office/drawing/2010/main">
                <a:solidFill>
                  <a:srgbClr val="FFFFFF"/>
                </a:solidFill>
              </a14:hiddenFill>
            </a:ext>
          </a:extLst>
        </p:spPr>
      </p:pic>
      <p:pic>
        <p:nvPicPr>
          <p:cNvPr id="14347"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5400" y="2486025"/>
            <a:ext cx="2209800" cy="1066800"/>
          </a:xfrm>
          <a:prstGeom prst="rect">
            <a:avLst/>
          </a:prstGeom>
          <a:noFill/>
          <a:ln w="22225">
            <a:solidFill>
              <a:srgbClr val="090563"/>
            </a:solidFill>
            <a:miter lim="800000"/>
            <a:headEnd/>
            <a:tailEnd/>
          </a:ln>
          <a:extLst>
            <a:ext uri="{909E8E84-426E-40DD-AFC4-6F175D3DCCD1}">
              <a14:hiddenFill xmlns:a14="http://schemas.microsoft.com/office/drawing/2010/main">
                <a:solidFill>
                  <a:srgbClr val="FFFFFF"/>
                </a:solidFill>
              </a14:hiddenFill>
            </a:ext>
          </a:extLst>
        </p:spPr>
      </p:pic>
      <p:cxnSp>
        <p:nvCxnSpPr>
          <p:cNvPr id="19" name="Straight Arrow Connector 18"/>
          <p:cNvCxnSpPr>
            <a:stCxn id="14345" idx="2"/>
            <a:endCxn id="14347" idx="0"/>
          </p:cNvCxnSpPr>
          <p:nvPr/>
        </p:nvCxnSpPr>
        <p:spPr>
          <a:xfrm rot="16200000" flipH="1">
            <a:off x="5138737" y="1414463"/>
            <a:ext cx="619125" cy="15240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4345" idx="2"/>
            <a:endCxn id="14346" idx="0"/>
          </p:cNvCxnSpPr>
          <p:nvPr/>
        </p:nvCxnSpPr>
        <p:spPr>
          <a:xfrm rot="5400000">
            <a:off x="3500438" y="1328737"/>
            <a:ext cx="647700" cy="1724025"/>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3" name="Text Box 9"/>
          <p:cNvSpPr txBox="1">
            <a:spLocks noChangeArrowheads="1"/>
          </p:cNvSpPr>
          <p:nvPr/>
        </p:nvSpPr>
        <p:spPr bwMode="auto">
          <a:xfrm>
            <a:off x="152400" y="2514600"/>
            <a:ext cx="16002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spcBef>
                <a:spcPct val="0"/>
              </a:spcBef>
              <a:spcAft>
                <a:spcPct val="0"/>
              </a:spcAft>
              <a:defRPr sz="2800">
                <a:solidFill>
                  <a:schemeClr val="tx1"/>
                </a:solidFill>
                <a:latin typeface="Arial" charset="0"/>
                <a:cs typeface="Arial" charset="0"/>
              </a:defRPr>
            </a:lvl6pPr>
            <a:lvl7pPr marL="2971800" indent="-228600" eaLnBrk="0" fontAlgn="base" hangingPunct="0">
              <a:spcBef>
                <a:spcPct val="0"/>
              </a:spcBef>
              <a:spcAft>
                <a:spcPct val="0"/>
              </a:spcAft>
              <a:defRPr sz="2800">
                <a:solidFill>
                  <a:schemeClr val="tx1"/>
                </a:solidFill>
                <a:latin typeface="Arial" charset="0"/>
                <a:cs typeface="Arial" charset="0"/>
              </a:defRPr>
            </a:lvl7pPr>
            <a:lvl8pPr marL="3429000" indent="-228600" eaLnBrk="0" fontAlgn="base" hangingPunct="0">
              <a:spcBef>
                <a:spcPct val="0"/>
              </a:spcBef>
              <a:spcAft>
                <a:spcPct val="0"/>
              </a:spcAft>
              <a:defRPr sz="2800">
                <a:solidFill>
                  <a:schemeClr val="tx1"/>
                </a:solidFill>
                <a:latin typeface="Arial" charset="0"/>
                <a:cs typeface="Arial" charset="0"/>
              </a:defRPr>
            </a:lvl8pPr>
            <a:lvl9pPr marL="3886200" indent="-228600" eaLnBrk="0" fontAlgn="base" hangingPunct="0">
              <a:spcBef>
                <a:spcPct val="0"/>
              </a:spcBef>
              <a:spcAft>
                <a:spcPct val="0"/>
              </a:spcAft>
              <a:defRPr sz="2800">
                <a:solidFill>
                  <a:schemeClr val="tx1"/>
                </a:solidFill>
                <a:latin typeface="Arial" charset="0"/>
                <a:cs typeface="Arial" charset="0"/>
              </a:defRPr>
            </a:lvl9pPr>
          </a:lstStyle>
          <a:p>
            <a:pPr algn="ctr" eaLnBrk="1" hangingPunct="1">
              <a:spcBef>
                <a:spcPct val="50000"/>
              </a:spcBef>
            </a:pPr>
            <a:r>
              <a:rPr lang="en-US" b="1">
                <a:solidFill>
                  <a:srgbClr val="090563"/>
                </a:solidFill>
                <a:latin typeface="Times New Roman" pitchFamily="18" charset="0"/>
                <a:cs typeface="Times New Roman" pitchFamily="18" charset="0"/>
              </a:rPr>
              <a:t>Va chạm đàn hồi</a:t>
            </a:r>
          </a:p>
        </p:txBody>
      </p:sp>
      <p:sp>
        <p:nvSpPr>
          <p:cNvPr id="34" name="Text Box 9"/>
          <p:cNvSpPr txBox="1">
            <a:spLocks noChangeArrowheads="1"/>
          </p:cNvSpPr>
          <p:nvPr/>
        </p:nvSpPr>
        <p:spPr bwMode="auto">
          <a:xfrm>
            <a:off x="7391400" y="2514600"/>
            <a:ext cx="1524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spcBef>
                <a:spcPct val="0"/>
              </a:spcBef>
              <a:spcAft>
                <a:spcPct val="0"/>
              </a:spcAft>
              <a:defRPr sz="2800">
                <a:solidFill>
                  <a:schemeClr val="tx1"/>
                </a:solidFill>
                <a:latin typeface="Arial" charset="0"/>
                <a:cs typeface="Arial" charset="0"/>
              </a:defRPr>
            </a:lvl6pPr>
            <a:lvl7pPr marL="2971800" indent="-228600" eaLnBrk="0" fontAlgn="base" hangingPunct="0">
              <a:spcBef>
                <a:spcPct val="0"/>
              </a:spcBef>
              <a:spcAft>
                <a:spcPct val="0"/>
              </a:spcAft>
              <a:defRPr sz="2800">
                <a:solidFill>
                  <a:schemeClr val="tx1"/>
                </a:solidFill>
                <a:latin typeface="Arial" charset="0"/>
                <a:cs typeface="Arial" charset="0"/>
              </a:defRPr>
            </a:lvl7pPr>
            <a:lvl8pPr marL="3429000" indent="-228600" eaLnBrk="0" fontAlgn="base" hangingPunct="0">
              <a:spcBef>
                <a:spcPct val="0"/>
              </a:spcBef>
              <a:spcAft>
                <a:spcPct val="0"/>
              </a:spcAft>
              <a:defRPr sz="2800">
                <a:solidFill>
                  <a:schemeClr val="tx1"/>
                </a:solidFill>
                <a:latin typeface="Arial" charset="0"/>
                <a:cs typeface="Arial" charset="0"/>
              </a:defRPr>
            </a:lvl8pPr>
            <a:lvl9pPr marL="3886200" indent="-228600" eaLnBrk="0" fontAlgn="base" hangingPunct="0">
              <a:spcBef>
                <a:spcPct val="0"/>
              </a:spcBef>
              <a:spcAft>
                <a:spcPct val="0"/>
              </a:spcAft>
              <a:defRPr sz="2800">
                <a:solidFill>
                  <a:schemeClr val="tx1"/>
                </a:solidFill>
                <a:latin typeface="Arial" charset="0"/>
                <a:cs typeface="Arial" charset="0"/>
              </a:defRPr>
            </a:lvl9pPr>
          </a:lstStyle>
          <a:p>
            <a:pPr algn="ctr" eaLnBrk="1" hangingPunct="1">
              <a:spcBef>
                <a:spcPct val="50000"/>
              </a:spcBef>
            </a:pPr>
            <a:r>
              <a:rPr lang="en-US" b="1">
                <a:solidFill>
                  <a:srgbClr val="090563"/>
                </a:solidFill>
                <a:latin typeface="Times New Roman" pitchFamily="18" charset="0"/>
                <a:cs typeface="Times New Roman" pitchFamily="18" charset="0"/>
              </a:rPr>
              <a:t>Va chạm mềm</a:t>
            </a:r>
          </a:p>
        </p:txBody>
      </p:sp>
      <p:sp>
        <p:nvSpPr>
          <p:cNvPr id="37" name="Rectangle 9"/>
          <p:cNvSpPr>
            <a:spLocks noChangeArrowheads="1"/>
          </p:cNvSpPr>
          <p:nvPr/>
        </p:nvSpPr>
        <p:spPr bwMode="auto">
          <a:xfrm>
            <a:off x="228600" y="3581400"/>
            <a:ext cx="44196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en-US" b="1" i="1" dirty="0" err="1">
                <a:solidFill>
                  <a:srgbClr val="FF0066"/>
                </a:solidFill>
                <a:latin typeface="Times New Roman" pitchFamily="18" charset="0"/>
                <a:cs typeface="Times New Roman" pitchFamily="18" charset="0"/>
              </a:rPr>
              <a:t>Động</a:t>
            </a:r>
            <a:r>
              <a:rPr lang="en-US" b="1" i="1" dirty="0">
                <a:solidFill>
                  <a:srgbClr val="FF0066"/>
                </a:solidFill>
                <a:latin typeface="Times New Roman" pitchFamily="18" charset="0"/>
                <a:cs typeface="Times New Roman" pitchFamily="18" charset="0"/>
              </a:rPr>
              <a:t> </a:t>
            </a:r>
            <a:r>
              <a:rPr lang="en-US" b="1" i="1" dirty="0" err="1">
                <a:solidFill>
                  <a:srgbClr val="FF0066"/>
                </a:solidFill>
                <a:latin typeface="Times New Roman" pitchFamily="18" charset="0"/>
                <a:cs typeface="Times New Roman" pitchFamily="18" charset="0"/>
              </a:rPr>
              <a:t>lượng</a:t>
            </a:r>
            <a:r>
              <a:rPr lang="en-US" b="1" i="1" dirty="0">
                <a:solidFill>
                  <a:srgbClr val="FF0066"/>
                </a:solidFill>
                <a:latin typeface="Times New Roman" pitchFamily="18" charset="0"/>
                <a:cs typeface="Times New Roman" pitchFamily="18" charset="0"/>
              </a:rPr>
              <a:t> </a:t>
            </a:r>
            <a:r>
              <a:rPr lang="en-US" i="1" dirty="0" err="1">
                <a:solidFill>
                  <a:srgbClr val="2125D5"/>
                </a:solidFill>
                <a:latin typeface="Times New Roman" pitchFamily="18" charset="0"/>
                <a:cs typeface="Times New Roman" pitchFamily="18" charset="0"/>
              </a:rPr>
              <a:t>và</a:t>
            </a:r>
            <a:r>
              <a:rPr lang="en-US" i="1" dirty="0">
                <a:solidFill>
                  <a:srgbClr val="2125D5"/>
                </a:solidFill>
                <a:latin typeface="Times New Roman" pitchFamily="18" charset="0"/>
                <a:cs typeface="Times New Roman" pitchFamily="18" charset="0"/>
              </a:rPr>
              <a:t> </a:t>
            </a:r>
            <a:r>
              <a:rPr lang="en-US" b="1" i="1" dirty="0" err="1">
                <a:solidFill>
                  <a:srgbClr val="FF0066"/>
                </a:solidFill>
                <a:latin typeface="Times New Roman" pitchFamily="18" charset="0"/>
                <a:cs typeface="Times New Roman" pitchFamily="18" charset="0"/>
              </a:rPr>
              <a:t>cơ</a:t>
            </a:r>
            <a:r>
              <a:rPr lang="en-US" b="1" i="1" dirty="0">
                <a:solidFill>
                  <a:srgbClr val="FF0066"/>
                </a:solidFill>
                <a:latin typeface="Times New Roman" pitchFamily="18" charset="0"/>
                <a:cs typeface="Times New Roman" pitchFamily="18" charset="0"/>
              </a:rPr>
              <a:t> </a:t>
            </a:r>
            <a:r>
              <a:rPr lang="en-US" b="1" i="1" dirty="0" err="1">
                <a:solidFill>
                  <a:srgbClr val="FF0066"/>
                </a:solidFill>
                <a:latin typeface="Times New Roman" pitchFamily="18" charset="0"/>
                <a:cs typeface="Times New Roman" pitchFamily="18" charset="0"/>
              </a:rPr>
              <a:t>năng</a:t>
            </a:r>
            <a:r>
              <a:rPr lang="en-US" b="1" i="1" dirty="0">
                <a:solidFill>
                  <a:srgbClr val="FF0066"/>
                </a:solidFill>
                <a:latin typeface="Times New Roman" pitchFamily="18" charset="0"/>
                <a:cs typeface="Times New Roman" pitchFamily="18" charset="0"/>
              </a:rPr>
              <a:t> </a:t>
            </a:r>
            <a:r>
              <a:rPr lang="en-US" i="1" dirty="0" err="1">
                <a:solidFill>
                  <a:srgbClr val="2125D5"/>
                </a:solidFill>
                <a:latin typeface="Times New Roman" pitchFamily="18" charset="0"/>
                <a:cs typeface="Times New Roman" pitchFamily="18" charset="0"/>
              </a:rPr>
              <a:t>của</a:t>
            </a:r>
            <a:r>
              <a:rPr lang="en-US" i="1" dirty="0">
                <a:solidFill>
                  <a:srgbClr val="2125D5"/>
                </a:solidFill>
                <a:latin typeface="Times New Roman" pitchFamily="18" charset="0"/>
                <a:cs typeface="Times New Roman" pitchFamily="18" charset="0"/>
              </a:rPr>
              <a:t> </a:t>
            </a:r>
            <a:r>
              <a:rPr lang="en-US" i="1" dirty="0" err="1">
                <a:solidFill>
                  <a:srgbClr val="2125D5"/>
                </a:solidFill>
                <a:latin typeface="Times New Roman" pitchFamily="18" charset="0"/>
                <a:cs typeface="Times New Roman" pitchFamily="18" charset="0"/>
              </a:rPr>
              <a:t>hệ</a:t>
            </a:r>
            <a:r>
              <a:rPr lang="en-US" i="1" dirty="0">
                <a:solidFill>
                  <a:srgbClr val="2125D5"/>
                </a:solidFill>
                <a:latin typeface="Times New Roman" pitchFamily="18" charset="0"/>
                <a:cs typeface="Times New Roman" pitchFamily="18" charset="0"/>
              </a:rPr>
              <a:t> </a:t>
            </a:r>
            <a:r>
              <a:rPr lang="en-US" i="1" dirty="0" err="1">
                <a:solidFill>
                  <a:srgbClr val="2125D5"/>
                </a:solidFill>
                <a:latin typeface="Times New Roman" pitchFamily="18" charset="0"/>
                <a:cs typeface="Times New Roman" pitchFamily="18" charset="0"/>
              </a:rPr>
              <a:t>được</a:t>
            </a:r>
            <a:r>
              <a:rPr lang="en-US" i="1" dirty="0">
                <a:solidFill>
                  <a:srgbClr val="2125D5"/>
                </a:solidFill>
                <a:latin typeface="Times New Roman" pitchFamily="18" charset="0"/>
                <a:cs typeface="Times New Roman" pitchFamily="18" charset="0"/>
              </a:rPr>
              <a:t> </a:t>
            </a:r>
            <a:r>
              <a:rPr lang="en-US" i="1" dirty="0" err="1">
                <a:solidFill>
                  <a:srgbClr val="FF0000"/>
                </a:solidFill>
                <a:latin typeface="Times New Roman" pitchFamily="18" charset="0"/>
                <a:cs typeface="Times New Roman" pitchFamily="18" charset="0"/>
              </a:rPr>
              <a:t>bảo</a:t>
            </a:r>
            <a:r>
              <a:rPr lang="en-US" i="1" dirty="0">
                <a:solidFill>
                  <a:srgbClr val="FF0000"/>
                </a:solidFill>
                <a:latin typeface="Times New Roman" pitchFamily="18" charset="0"/>
                <a:cs typeface="Times New Roman" pitchFamily="18" charset="0"/>
              </a:rPr>
              <a:t> </a:t>
            </a:r>
            <a:r>
              <a:rPr lang="en-US" i="1" dirty="0" err="1">
                <a:solidFill>
                  <a:srgbClr val="FF0000"/>
                </a:solidFill>
                <a:latin typeface="Times New Roman" pitchFamily="18" charset="0"/>
                <a:cs typeface="Times New Roman" pitchFamily="18" charset="0"/>
              </a:rPr>
              <a:t>toàn</a:t>
            </a:r>
            <a:endParaRPr lang="en-US" i="1" dirty="0">
              <a:solidFill>
                <a:srgbClr val="FF0000"/>
              </a:solidFill>
              <a:latin typeface="Times New Roman" pitchFamily="18" charset="0"/>
              <a:cs typeface="Times New Roman" pitchFamily="18" charset="0"/>
            </a:endParaRPr>
          </a:p>
        </p:txBody>
      </p:sp>
      <p:sp>
        <p:nvSpPr>
          <p:cNvPr id="38" name="Rectangle 9"/>
          <p:cNvSpPr>
            <a:spLocks noChangeArrowheads="1"/>
          </p:cNvSpPr>
          <p:nvPr/>
        </p:nvSpPr>
        <p:spPr bwMode="auto">
          <a:xfrm>
            <a:off x="4876800" y="3603625"/>
            <a:ext cx="38862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en-US" i="1">
                <a:solidFill>
                  <a:srgbClr val="2125D5"/>
                </a:solidFill>
                <a:latin typeface="Times New Roman" pitchFamily="18" charset="0"/>
                <a:cs typeface="Times New Roman" pitchFamily="18" charset="0"/>
              </a:rPr>
              <a:t>Chỉ có </a:t>
            </a:r>
            <a:r>
              <a:rPr lang="en-US" b="1" i="1">
                <a:solidFill>
                  <a:srgbClr val="FF0066"/>
                </a:solidFill>
                <a:latin typeface="Times New Roman" pitchFamily="18" charset="0"/>
                <a:cs typeface="Times New Roman" pitchFamily="18" charset="0"/>
              </a:rPr>
              <a:t>động lượng </a:t>
            </a:r>
            <a:r>
              <a:rPr lang="en-US" i="1">
                <a:solidFill>
                  <a:srgbClr val="2125D5"/>
                </a:solidFill>
                <a:latin typeface="Times New Roman" pitchFamily="18" charset="0"/>
                <a:cs typeface="Times New Roman" pitchFamily="18" charset="0"/>
              </a:rPr>
              <a:t>của hệ được </a:t>
            </a:r>
            <a:r>
              <a:rPr lang="en-US" i="1">
                <a:solidFill>
                  <a:srgbClr val="FF0000"/>
                </a:solidFill>
                <a:latin typeface="Times New Roman" pitchFamily="18" charset="0"/>
                <a:cs typeface="Times New Roman" pitchFamily="18" charset="0"/>
              </a:rPr>
              <a:t>bảo toàn</a:t>
            </a:r>
          </a:p>
        </p:txBody>
      </p:sp>
      <p:sp>
        <p:nvSpPr>
          <p:cNvPr id="33805"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sz="1800"/>
          </a:p>
        </p:txBody>
      </p:sp>
      <p:graphicFrame>
        <p:nvGraphicFramePr>
          <p:cNvPr id="14348" name="Object 12"/>
          <p:cNvGraphicFramePr>
            <a:graphicFrameLocks noChangeAspect="1"/>
          </p:cNvGraphicFramePr>
          <p:nvPr/>
        </p:nvGraphicFramePr>
        <p:xfrm>
          <a:off x="506413" y="4586288"/>
          <a:ext cx="3562350" cy="962025"/>
        </p:xfrm>
        <a:graphic>
          <a:graphicData uri="http://schemas.openxmlformats.org/presentationml/2006/ole">
            <mc:AlternateContent xmlns:mc="http://schemas.openxmlformats.org/markup-compatibility/2006">
              <mc:Choice xmlns:v="urn:schemas-microsoft-com:vml" Requires="v">
                <p:oleObj name="Equation" r:id="rId6" imgW="1612900" imgH="431800" progId="Equation.DSMT4">
                  <p:embed/>
                </p:oleObj>
              </mc:Choice>
              <mc:Fallback>
                <p:oleObj name="Equation" r:id="rId6" imgW="1612900" imgH="4318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6413" y="4586288"/>
                        <a:ext cx="356235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07" name="Rectangle 1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sz="1800"/>
          </a:p>
        </p:txBody>
      </p:sp>
      <p:graphicFrame>
        <p:nvGraphicFramePr>
          <p:cNvPr id="14350" name="Object 14"/>
          <p:cNvGraphicFramePr>
            <a:graphicFrameLocks noChangeAspect="1"/>
          </p:cNvGraphicFramePr>
          <p:nvPr/>
        </p:nvGraphicFramePr>
        <p:xfrm>
          <a:off x="473075" y="5729288"/>
          <a:ext cx="3576638" cy="962025"/>
        </p:xfrm>
        <a:graphic>
          <a:graphicData uri="http://schemas.openxmlformats.org/presentationml/2006/ole">
            <mc:AlternateContent xmlns:mc="http://schemas.openxmlformats.org/markup-compatibility/2006">
              <mc:Choice xmlns:v="urn:schemas-microsoft-com:vml" Requires="v">
                <p:oleObj name="Equation" r:id="rId8" imgW="1612900" imgH="431800" progId="Equation.DSMT4">
                  <p:embed/>
                </p:oleObj>
              </mc:Choice>
              <mc:Fallback>
                <p:oleObj name="Equation" r:id="rId8" imgW="1612900" imgH="4318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3075" y="5729288"/>
                        <a:ext cx="3576638"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09" name="Rectangle 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sz="1800"/>
          </a:p>
        </p:txBody>
      </p:sp>
      <p:graphicFrame>
        <p:nvGraphicFramePr>
          <p:cNvPr id="14352" name="Object 16"/>
          <p:cNvGraphicFramePr>
            <a:graphicFrameLocks noChangeAspect="1"/>
          </p:cNvGraphicFramePr>
          <p:nvPr>
            <p:extLst>
              <p:ext uri="{D42A27DB-BD31-4B8C-83A1-F6EECF244321}">
                <p14:modId xmlns:p14="http://schemas.microsoft.com/office/powerpoint/2010/main" val="3998733533"/>
              </p:ext>
            </p:extLst>
          </p:nvPr>
        </p:nvGraphicFramePr>
        <p:xfrm>
          <a:off x="5433059" y="4953000"/>
          <a:ext cx="2557463" cy="1052512"/>
        </p:xfrm>
        <a:graphic>
          <a:graphicData uri="http://schemas.openxmlformats.org/presentationml/2006/ole">
            <mc:AlternateContent xmlns:mc="http://schemas.openxmlformats.org/markup-compatibility/2006">
              <mc:Choice xmlns:v="urn:schemas-microsoft-com:vml" Requires="v">
                <p:oleObj name="Equation" r:id="rId10" imgW="1054100" imgH="431800" progId="Equation.DSMT4">
                  <p:embed/>
                </p:oleObj>
              </mc:Choice>
              <mc:Fallback>
                <p:oleObj name="Equation" r:id="rId10" imgW="1054100" imgH="4318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33059" y="4953000"/>
                        <a:ext cx="2557463"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5" name="Straight Connector 44"/>
          <p:cNvCxnSpPr/>
          <p:nvPr/>
        </p:nvCxnSpPr>
        <p:spPr>
          <a:xfrm rot="5400000">
            <a:off x="3124201" y="5180012"/>
            <a:ext cx="3048000" cy="3175"/>
          </a:xfrm>
          <a:prstGeom prst="line">
            <a:avLst/>
          </a:prstGeom>
          <a:ln w="41275" cmpd="dbl">
            <a:solidFill>
              <a:srgbClr val="007A00"/>
            </a:solidFill>
            <a:prstDash val="solid"/>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7662306A-A6A3-7109-5C9B-7B06B457341E}"/>
              </a:ext>
            </a:extLst>
          </p:cNvPr>
          <p:cNvSpPr>
            <a:spLocks noGrp="1"/>
          </p:cNvSpPr>
          <p:nvPr>
            <p:ph type="ftr" sz="quarter" idx="11"/>
          </p:nvPr>
        </p:nvSpPr>
        <p:spPr/>
        <p:txBody>
          <a:bodyPr/>
          <a:lstStyle/>
          <a:p>
            <a:r>
              <a:rPr lang="en-US"/>
              <a:t>Bùi Quốc Trung - VLDC</a:t>
            </a:r>
          </a:p>
        </p:txBody>
      </p:sp>
      <p:sp>
        <p:nvSpPr>
          <p:cNvPr id="3" name="Slide Number Placeholder 2">
            <a:extLst>
              <a:ext uri="{FF2B5EF4-FFF2-40B4-BE49-F238E27FC236}">
                <a16:creationId xmlns:a16="http://schemas.microsoft.com/office/drawing/2014/main" id="{F59B17D4-4FE9-C53C-42CD-8F2B1F297CBD}"/>
              </a:ext>
            </a:extLst>
          </p:cNvPr>
          <p:cNvSpPr>
            <a:spLocks noGrp="1"/>
          </p:cNvSpPr>
          <p:nvPr>
            <p:ph type="sldNum" sz="quarter" idx="12"/>
          </p:nvPr>
        </p:nvSpPr>
        <p:spPr/>
        <p:txBody>
          <a:bodyPr/>
          <a:lstStyle/>
          <a:p>
            <a:fld id="{C4A94DE9-7404-4CC4-BDD8-EA2E97866C70}" type="slidenum">
              <a:rPr lang="en-US" smtClean="0"/>
              <a:t>45</a:t>
            </a:fld>
            <a:endParaRPr lang="en-US"/>
          </a:p>
        </p:txBody>
      </p:sp>
    </p:spTree>
    <p:extLst>
      <p:ext uri="{BB962C8B-B14F-4D97-AF65-F5344CB8AC3E}">
        <p14:creationId xmlns:p14="http://schemas.microsoft.com/office/powerpoint/2010/main" val="26615486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8)">
                                      <p:cBhvr>
                                        <p:cTn id="7" dur="500"/>
                                        <p:tgtEl>
                                          <p:spTgt spid="6"/>
                                        </p:tgtEl>
                                      </p:cBhvr>
                                    </p:animEffect>
                                  </p:childTnLst>
                                </p:cTn>
                              </p:par>
                            </p:childTnLst>
                          </p:cTn>
                        </p:par>
                        <p:par>
                          <p:cTn id="8" fill="hold" nodeType="afterGroup">
                            <p:stCondLst>
                              <p:cond delay="500"/>
                            </p:stCondLst>
                            <p:childTnLst>
                              <p:par>
                                <p:cTn id="9" presetID="21" presetClass="entr" presetSubtype="8" fill="hold" nodeType="afterEffect">
                                  <p:stCondLst>
                                    <p:cond delay="0"/>
                                  </p:stCondLst>
                                  <p:childTnLst>
                                    <p:set>
                                      <p:cBhvr>
                                        <p:cTn id="10" dur="1" fill="hold">
                                          <p:stCondLst>
                                            <p:cond delay="0"/>
                                          </p:stCondLst>
                                        </p:cTn>
                                        <p:tgtEl>
                                          <p:spTgt spid="14345"/>
                                        </p:tgtEl>
                                        <p:attrNameLst>
                                          <p:attrName>style.visibility</p:attrName>
                                        </p:attrNameLst>
                                      </p:cBhvr>
                                      <p:to>
                                        <p:strVal val="visible"/>
                                      </p:to>
                                    </p:set>
                                    <p:animEffect transition="in" filter="wheel(8)">
                                      <p:cBhvr>
                                        <p:cTn id="11" dur="500"/>
                                        <p:tgtEl>
                                          <p:spTgt spid="14345"/>
                                        </p:tgtEl>
                                      </p:cBhvr>
                                    </p:animEffect>
                                  </p:childTnLst>
                                </p:cTn>
                              </p:par>
                            </p:childTnLst>
                          </p:cTn>
                        </p:par>
                        <p:par>
                          <p:cTn id="12" fill="hold" nodeType="afterGroup">
                            <p:stCondLst>
                              <p:cond delay="1000"/>
                            </p:stCondLst>
                            <p:childTnLst>
                              <p:par>
                                <p:cTn id="13" presetID="21" presetClass="entr" presetSubtype="8" fill="hold" nodeType="afterEffect">
                                  <p:stCondLst>
                                    <p:cond delay="500"/>
                                  </p:stCondLst>
                                  <p:childTnLst>
                                    <p:set>
                                      <p:cBhvr>
                                        <p:cTn id="14" dur="1" fill="hold">
                                          <p:stCondLst>
                                            <p:cond delay="0"/>
                                          </p:stCondLst>
                                        </p:cTn>
                                        <p:tgtEl>
                                          <p:spTgt spid="20"/>
                                        </p:tgtEl>
                                        <p:attrNameLst>
                                          <p:attrName>style.visibility</p:attrName>
                                        </p:attrNameLst>
                                      </p:cBhvr>
                                      <p:to>
                                        <p:strVal val="visible"/>
                                      </p:to>
                                    </p:set>
                                    <p:animEffect transition="in" filter="wheel(8)">
                                      <p:cBhvr>
                                        <p:cTn id="15" dur="500"/>
                                        <p:tgtEl>
                                          <p:spTgt spid="20"/>
                                        </p:tgtEl>
                                      </p:cBhvr>
                                    </p:animEffect>
                                  </p:childTnLst>
                                </p:cTn>
                              </p:par>
                            </p:childTnLst>
                          </p:cTn>
                        </p:par>
                        <p:par>
                          <p:cTn id="16" fill="hold" nodeType="afterGroup">
                            <p:stCondLst>
                              <p:cond delay="2000"/>
                            </p:stCondLst>
                            <p:childTnLst>
                              <p:par>
                                <p:cTn id="17" presetID="21" presetClass="entr" presetSubtype="8" fill="hold" nodeType="afterEffect">
                                  <p:stCondLst>
                                    <p:cond delay="500"/>
                                  </p:stCondLst>
                                  <p:childTnLst>
                                    <p:set>
                                      <p:cBhvr>
                                        <p:cTn id="18" dur="1" fill="hold">
                                          <p:stCondLst>
                                            <p:cond delay="0"/>
                                          </p:stCondLst>
                                        </p:cTn>
                                        <p:tgtEl>
                                          <p:spTgt spid="14346"/>
                                        </p:tgtEl>
                                        <p:attrNameLst>
                                          <p:attrName>style.visibility</p:attrName>
                                        </p:attrNameLst>
                                      </p:cBhvr>
                                      <p:to>
                                        <p:strVal val="visible"/>
                                      </p:to>
                                    </p:set>
                                    <p:animEffect transition="in" filter="wheel(8)">
                                      <p:cBhvr>
                                        <p:cTn id="19" dur="500"/>
                                        <p:tgtEl>
                                          <p:spTgt spid="14346"/>
                                        </p:tgtEl>
                                      </p:cBhvr>
                                    </p:animEffect>
                                  </p:childTnLst>
                                </p:cTn>
                              </p:par>
                            </p:childTnLst>
                          </p:cTn>
                        </p:par>
                        <p:par>
                          <p:cTn id="20" fill="hold" nodeType="afterGroup">
                            <p:stCondLst>
                              <p:cond delay="3000"/>
                            </p:stCondLst>
                            <p:childTnLst>
                              <p:par>
                                <p:cTn id="21" presetID="21" presetClass="entr" presetSubtype="8" fill="hold" grpId="0" nodeType="afterEffect">
                                  <p:stCondLst>
                                    <p:cond delay="500"/>
                                  </p:stCondLst>
                                  <p:childTnLst>
                                    <p:set>
                                      <p:cBhvr>
                                        <p:cTn id="22" dur="1" fill="hold">
                                          <p:stCondLst>
                                            <p:cond delay="0"/>
                                          </p:stCondLst>
                                        </p:cTn>
                                        <p:tgtEl>
                                          <p:spTgt spid="33"/>
                                        </p:tgtEl>
                                        <p:attrNameLst>
                                          <p:attrName>style.visibility</p:attrName>
                                        </p:attrNameLst>
                                      </p:cBhvr>
                                      <p:to>
                                        <p:strVal val="visible"/>
                                      </p:to>
                                    </p:set>
                                    <p:animEffect transition="in" filter="wheel(8)">
                                      <p:cBhvr>
                                        <p:cTn id="23" dur="500"/>
                                        <p:tgtEl>
                                          <p:spTgt spid="33"/>
                                        </p:tgtEl>
                                      </p:cBhvr>
                                    </p:animEffect>
                                  </p:childTnLst>
                                </p:cTn>
                              </p:par>
                            </p:childTnLst>
                          </p:cTn>
                        </p:par>
                        <p:par>
                          <p:cTn id="24" fill="hold" nodeType="afterGroup">
                            <p:stCondLst>
                              <p:cond delay="4000"/>
                            </p:stCondLst>
                            <p:childTnLst>
                              <p:par>
                                <p:cTn id="25" presetID="21" presetClass="entr" presetSubtype="8" fill="hold" nodeType="afterEffect">
                                  <p:stCondLst>
                                    <p:cond delay="1500"/>
                                  </p:stCondLst>
                                  <p:childTnLst>
                                    <p:set>
                                      <p:cBhvr>
                                        <p:cTn id="26" dur="1" fill="hold">
                                          <p:stCondLst>
                                            <p:cond delay="0"/>
                                          </p:stCondLst>
                                        </p:cTn>
                                        <p:tgtEl>
                                          <p:spTgt spid="19"/>
                                        </p:tgtEl>
                                        <p:attrNameLst>
                                          <p:attrName>style.visibility</p:attrName>
                                        </p:attrNameLst>
                                      </p:cBhvr>
                                      <p:to>
                                        <p:strVal val="visible"/>
                                      </p:to>
                                    </p:set>
                                    <p:animEffect transition="in" filter="wheel(8)">
                                      <p:cBhvr>
                                        <p:cTn id="27" dur="500"/>
                                        <p:tgtEl>
                                          <p:spTgt spid="19"/>
                                        </p:tgtEl>
                                      </p:cBhvr>
                                    </p:animEffect>
                                  </p:childTnLst>
                                </p:cTn>
                              </p:par>
                            </p:childTnLst>
                          </p:cTn>
                        </p:par>
                        <p:par>
                          <p:cTn id="28" fill="hold" nodeType="afterGroup">
                            <p:stCondLst>
                              <p:cond delay="6000"/>
                            </p:stCondLst>
                            <p:childTnLst>
                              <p:par>
                                <p:cTn id="29" presetID="21" presetClass="entr" presetSubtype="8" fill="hold" nodeType="afterEffect">
                                  <p:stCondLst>
                                    <p:cond delay="500"/>
                                  </p:stCondLst>
                                  <p:childTnLst>
                                    <p:set>
                                      <p:cBhvr>
                                        <p:cTn id="30" dur="1" fill="hold">
                                          <p:stCondLst>
                                            <p:cond delay="0"/>
                                          </p:stCondLst>
                                        </p:cTn>
                                        <p:tgtEl>
                                          <p:spTgt spid="14347"/>
                                        </p:tgtEl>
                                        <p:attrNameLst>
                                          <p:attrName>style.visibility</p:attrName>
                                        </p:attrNameLst>
                                      </p:cBhvr>
                                      <p:to>
                                        <p:strVal val="visible"/>
                                      </p:to>
                                    </p:set>
                                    <p:animEffect transition="in" filter="wheel(8)">
                                      <p:cBhvr>
                                        <p:cTn id="31" dur="500"/>
                                        <p:tgtEl>
                                          <p:spTgt spid="14347"/>
                                        </p:tgtEl>
                                      </p:cBhvr>
                                    </p:animEffect>
                                  </p:childTnLst>
                                </p:cTn>
                              </p:par>
                            </p:childTnLst>
                          </p:cTn>
                        </p:par>
                        <p:par>
                          <p:cTn id="32" fill="hold" nodeType="afterGroup">
                            <p:stCondLst>
                              <p:cond delay="7000"/>
                            </p:stCondLst>
                            <p:childTnLst>
                              <p:par>
                                <p:cTn id="33" presetID="21" presetClass="entr" presetSubtype="8" fill="hold" grpId="0" nodeType="afterEffect">
                                  <p:stCondLst>
                                    <p:cond delay="500"/>
                                  </p:stCondLst>
                                  <p:childTnLst>
                                    <p:set>
                                      <p:cBhvr>
                                        <p:cTn id="34" dur="1" fill="hold">
                                          <p:stCondLst>
                                            <p:cond delay="0"/>
                                          </p:stCondLst>
                                        </p:cTn>
                                        <p:tgtEl>
                                          <p:spTgt spid="34"/>
                                        </p:tgtEl>
                                        <p:attrNameLst>
                                          <p:attrName>style.visibility</p:attrName>
                                        </p:attrNameLst>
                                      </p:cBhvr>
                                      <p:to>
                                        <p:strVal val="visible"/>
                                      </p:to>
                                    </p:set>
                                    <p:animEffect transition="in" filter="wheel(8)">
                                      <p:cBhvr>
                                        <p:cTn id="35" dur="500"/>
                                        <p:tgtEl>
                                          <p:spTgt spid="3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1" presetClass="entr" presetSubtype="8" fill="hold" grpId="0" nodeType="click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wheel(8)">
                                      <p:cBhvr>
                                        <p:cTn id="40" dur="500"/>
                                        <p:tgtEl>
                                          <p:spTgt spid="3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1" presetClass="entr" presetSubtype="8" fill="hold" nodeType="click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wheel(8)">
                                      <p:cBhvr>
                                        <p:cTn id="45" dur="500"/>
                                        <p:tgtEl>
                                          <p:spTgt spid="45"/>
                                        </p:tgtEl>
                                      </p:cBhvr>
                                    </p:animEffect>
                                  </p:childTnLst>
                                </p:cTn>
                              </p:par>
                            </p:childTnLst>
                          </p:cTn>
                        </p:par>
                        <p:par>
                          <p:cTn id="46" fill="hold" nodeType="afterGroup">
                            <p:stCondLst>
                              <p:cond delay="500"/>
                            </p:stCondLst>
                            <p:childTnLst>
                              <p:par>
                                <p:cTn id="47" presetID="21" presetClass="entr" presetSubtype="8" fill="hold" grpId="0" nodeType="after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wheel(8)">
                                      <p:cBhvr>
                                        <p:cTn id="49" dur="500"/>
                                        <p:tgtEl>
                                          <p:spTgt spid="3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1" presetClass="entr" presetSubtype="8" fill="hold" nodeType="clickEffect">
                                  <p:stCondLst>
                                    <p:cond delay="0"/>
                                  </p:stCondLst>
                                  <p:childTnLst>
                                    <p:set>
                                      <p:cBhvr>
                                        <p:cTn id="53" dur="1" fill="hold">
                                          <p:stCondLst>
                                            <p:cond delay="0"/>
                                          </p:stCondLst>
                                        </p:cTn>
                                        <p:tgtEl>
                                          <p:spTgt spid="14348"/>
                                        </p:tgtEl>
                                        <p:attrNameLst>
                                          <p:attrName>style.visibility</p:attrName>
                                        </p:attrNameLst>
                                      </p:cBhvr>
                                      <p:to>
                                        <p:strVal val="visible"/>
                                      </p:to>
                                    </p:set>
                                    <p:animEffect transition="in" filter="wheel(8)">
                                      <p:cBhvr>
                                        <p:cTn id="54" dur="500"/>
                                        <p:tgtEl>
                                          <p:spTgt spid="14348"/>
                                        </p:tgtEl>
                                      </p:cBhvr>
                                    </p:animEffect>
                                  </p:childTnLst>
                                </p:cTn>
                              </p:par>
                            </p:childTnLst>
                          </p:cTn>
                        </p:par>
                        <p:par>
                          <p:cTn id="55" fill="hold" nodeType="afterGroup">
                            <p:stCondLst>
                              <p:cond delay="500"/>
                            </p:stCondLst>
                            <p:childTnLst>
                              <p:par>
                                <p:cTn id="56" presetID="21" presetClass="entr" presetSubtype="8" fill="hold" nodeType="afterEffect">
                                  <p:stCondLst>
                                    <p:cond delay="0"/>
                                  </p:stCondLst>
                                  <p:childTnLst>
                                    <p:set>
                                      <p:cBhvr>
                                        <p:cTn id="57" dur="1" fill="hold">
                                          <p:stCondLst>
                                            <p:cond delay="0"/>
                                          </p:stCondLst>
                                        </p:cTn>
                                        <p:tgtEl>
                                          <p:spTgt spid="14350"/>
                                        </p:tgtEl>
                                        <p:attrNameLst>
                                          <p:attrName>style.visibility</p:attrName>
                                        </p:attrNameLst>
                                      </p:cBhvr>
                                      <p:to>
                                        <p:strVal val="visible"/>
                                      </p:to>
                                    </p:set>
                                    <p:animEffect transition="in" filter="wheel(8)">
                                      <p:cBhvr>
                                        <p:cTn id="58" dur="500"/>
                                        <p:tgtEl>
                                          <p:spTgt spid="1435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1" presetClass="entr" presetSubtype="8" fill="hold" nodeType="clickEffect">
                                  <p:stCondLst>
                                    <p:cond delay="0"/>
                                  </p:stCondLst>
                                  <p:childTnLst>
                                    <p:set>
                                      <p:cBhvr>
                                        <p:cTn id="62" dur="1" fill="hold">
                                          <p:stCondLst>
                                            <p:cond delay="0"/>
                                          </p:stCondLst>
                                        </p:cTn>
                                        <p:tgtEl>
                                          <p:spTgt spid="14352"/>
                                        </p:tgtEl>
                                        <p:attrNameLst>
                                          <p:attrName>style.visibility</p:attrName>
                                        </p:attrNameLst>
                                      </p:cBhvr>
                                      <p:to>
                                        <p:strVal val="visible"/>
                                      </p:to>
                                    </p:set>
                                    <p:animEffect transition="in" filter="wheel(8)">
                                      <p:cBhvr>
                                        <p:cTn id="63" dur="500"/>
                                        <p:tgtEl>
                                          <p:spTgt spid="14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3" grpId="0"/>
      <p:bldP spid="34" grpId="0"/>
      <p:bldP spid="37" grpId="0"/>
      <p:bldP spid="3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p:txBody>
          <a:bodyPr>
            <a:normAutofit/>
          </a:bodyPr>
          <a:lstStyle/>
          <a:p>
            <a:pPr eaLnBrk="1" hangingPunct="1"/>
            <a:r>
              <a:rPr lang="en-US" sz="3200">
                <a:solidFill>
                  <a:srgbClr val="FF0066"/>
                </a:solidFill>
                <a:latin typeface="Times New Roman" pitchFamily="18" charset="0"/>
                <a:cs typeface="Times New Roman" pitchFamily="18" charset="0"/>
              </a:rPr>
              <a:t>Bài toán va chạm</a:t>
            </a:r>
          </a:p>
        </p:txBody>
      </p:sp>
      <p:sp>
        <p:nvSpPr>
          <p:cNvPr id="27651" name="Rectangle 3"/>
          <p:cNvSpPr>
            <a:spLocks noGrp="1"/>
          </p:cNvSpPr>
          <p:nvPr>
            <p:ph idx="1"/>
          </p:nvPr>
        </p:nvSpPr>
        <p:spPr>
          <a:solidFill>
            <a:schemeClr val="accent6">
              <a:lumMod val="20000"/>
              <a:lumOff val="80000"/>
            </a:schemeClr>
          </a:solidFill>
        </p:spPr>
        <p:txBody>
          <a:bodyPr/>
          <a:lstStyle/>
          <a:p>
            <a:pPr eaLnBrk="1" hangingPunct="1">
              <a:lnSpc>
                <a:spcPct val="90000"/>
              </a:lnSpc>
              <a:defRPr/>
            </a:pPr>
            <a:r>
              <a:rPr lang="en-US" dirty="0" err="1">
                <a:solidFill>
                  <a:schemeClr val="hlink"/>
                </a:solidFill>
                <a:latin typeface="Times New Roman" pitchFamily="18" charset="0"/>
                <a:cs typeface="Times New Roman" pitchFamily="18" charset="0"/>
              </a:rPr>
              <a:t>Va</a:t>
            </a:r>
            <a:r>
              <a:rPr lang="en-US" dirty="0">
                <a:solidFill>
                  <a:schemeClr val="hlink"/>
                </a:solidFill>
                <a:latin typeface="Times New Roman" pitchFamily="18" charset="0"/>
                <a:cs typeface="Times New Roman" pitchFamily="18" charset="0"/>
              </a:rPr>
              <a:t> </a:t>
            </a:r>
            <a:r>
              <a:rPr lang="en-US" dirty="0" err="1">
                <a:solidFill>
                  <a:schemeClr val="hlink"/>
                </a:solidFill>
                <a:latin typeface="Times New Roman" pitchFamily="18" charset="0"/>
                <a:cs typeface="Times New Roman" pitchFamily="18" charset="0"/>
              </a:rPr>
              <a:t>chạm</a:t>
            </a:r>
            <a:r>
              <a:rPr lang="en-US" dirty="0">
                <a:solidFill>
                  <a:schemeClr val="hlink"/>
                </a:solidFill>
                <a:latin typeface="Times New Roman" pitchFamily="18" charset="0"/>
                <a:cs typeface="Times New Roman" pitchFamily="18" charset="0"/>
              </a:rPr>
              <a:t> </a:t>
            </a:r>
            <a:r>
              <a:rPr lang="en-US" dirty="0" err="1">
                <a:solidFill>
                  <a:schemeClr val="hlink"/>
                </a:solidFill>
                <a:latin typeface="Times New Roman" pitchFamily="18" charset="0"/>
                <a:cs typeface="Times New Roman" pitchFamily="18" charset="0"/>
              </a:rPr>
              <a:t>đàn</a:t>
            </a:r>
            <a:r>
              <a:rPr lang="en-US" dirty="0">
                <a:solidFill>
                  <a:schemeClr val="hlink"/>
                </a:solidFill>
                <a:latin typeface="Times New Roman" pitchFamily="18" charset="0"/>
                <a:cs typeface="Times New Roman" pitchFamily="18" charset="0"/>
              </a:rPr>
              <a:t> </a:t>
            </a:r>
            <a:r>
              <a:rPr lang="en-US" dirty="0" err="1">
                <a:solidFill>
                  <a:schemeClr val="hlink"/>
                </a:solidFill>
                <a:latin typeface="Times New Roman" pitchFamily="18" charset="0"/>
                <a:cs typeface="Times New Roman" pitchFamily="18" charset="0"/>
              </a:rPr>
              <a:t>hồi</a:t>
            </a:r>
            <a:endParaRPr lang="en-US" dirty="0">
              <a:solidFill>
                <a:schemeClr val="hlink"/>
              </a:solidFill>
              <a:latin typeface="Times New Roman" pitchFamily="18" charset="0"/>
              <a:cs typeface="Times New Roman" pitchFamily="18" charset="0"/>
            </a:endParaRPr>
          </a:p>
          <a:p>
            <a:pPr eaLnBrk="1" hangingPunct="1">
              <a:lnSpc>
                <a:spcPct val="90000"/>
              </a:lnSpc>
              <a:defRPr/>
            </a:pPr>
            <a:r>
              <a:rPr lang="en-US" dirty="0" err="1">
                <a:solidFill>
                  <a:schemeClr val="hlink"/>
                </a:solidFill>
                <a:latin typeface="Times New Roman" pitchFamily="18" charset="0"/>
                <a:cs typeface="Times New Roman" pitchFamily="18" charset="0"/>
              </a:rPr>
              <a:t>Va</a:t>
            </a:r>
            <a:r>
              <a:rPr lang="en-US" dirty="0">
                <a:solidFill>
                  <a:schemeClr val="hlink"/>
                </a:solidFill>
                <a:latin typeface="Times New Roman" pitchFamily="18" charset="0"/>
                <a:cs typeface="Times New Roman" pitchFamily="18" charset="0"/>
              </a:rPr>
              <a:t> </a:t>
            </a:r>
            <a:r>
              <a:rPr lang="en-US" dirty="0" err="1">
                <a:solidFill>
                  <a:schemeClr val="hlink"/>
                </a:solidFill>
                <a:latin typeface="Times New Roman" pitchFamily="18" charset="0"/>
                <a:cs typeface="Times New Roman" pitchFamily="18" charset="0"/>
              </a:rPr>
              <a:t>chạm</a:t>
            </a:r>
            <a:r>
              <a:rPr lang="en-US" dirty="0">
                <a:solidFill>
                  <a:schemeClr val="hlink"/>
                </a:solidFill>
                <a:latin typeface="Times New Roman" pitchFamily="18" charset="0"/>
                <a:cs typeface="Times New Roman" pitchFamily="18" charset="0"/>
              </a:rPr>
              <a:t> </a:t>
            </a:r>
            <a:r>
              <a:rPr lang="en-US" dirty="0" err="1">
                <a:solidFill>
                  <a:schemeClr val="hlink"/>
                </a:solidFill>
                <a:latin typeface="Times New Roman" pitchFamily="18" charset="0"/>
                <a:cs typeface="Times New Roman" pitchFamily="18" charset="0"/>
              </a:rPr>
              <a:t>mềm</a:t>
            </a:r>
            <a:endParaRPr lang="en-US" dirty="0">
              <a:solidFill>
                <a:schemeClr val="hlink"/>
              </a:solidFill>
              <a:latin typeface="Times New Roman" pitchFamily="18" charset="0"/>
              <a:cs typeface="Times New Roman" pitchFamily="18" charset="0"/>
            </a:endParaRPr>
          </a:p>
          <a:p>
            <a:pPr eaLnBrk="1" hangingPunct="1">
              <a:lnSpc>
                <a:spcPct val="90000"/>
              </a:lnSpc>
              <a:defRPr/>
            </a:pPr>
            <a:endParaRPr lang="en-US" dirty="0">
              <a:solidFill>
                <a:schemeClr val="hlink"/>
              </a:solidFill>
              <a:latin typeface="Times New Roman" pitchFamily="18" charset="0"/>
              <a:cs typeface="Times New Roman" pitchFamily="18" charset="0"/>
            </a:endParaRPr>
          </a:p>
          <a:p>
            <a:pPr eaLnBrk="1" hangingPunct="1">
              <a:lnSpc>
                <a:spcPct val="90000"/>
              </a:lnSpc>
              <a:defRPr/>
            </a:pPr>
            <a:r>
              <a:rPr lang="en-US" dirty="0" err="1">
                <a:latin typeface="Times New Roman" pitchFamily="18" charset="0"/>
                <a:cs typeface="Times New Roman" pitchFamily="18" charset="0"/>
              </a:rPr>
              <a:t>Ví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dụ</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Bắn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lượng</a:t>
            </a:r>
            <a:r>
              <a:rPr lang="en-US" dirty="0">
                <a:latin typeface="Times New Roman" pitchFamily="18" charset="0"/>
                <a:cs typeface="Times New Roman" pitchFamily="18" charset="0"/>
              </a:rPr>
              <a:t> m=100g </a:t>
            </a:r>
            <a:r>
              <a:rPr lang="en-US" dirty="0" err="1">
                <a:latin typeface="Times New Roman" pitchFamily="18" charset="0"/>
                <a:cs typeface="Times New Roman" pitchFamily="18" charset="0"/>
              </a:rPr>
              <a:t>theo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phương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ngang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đến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cắm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khúc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gỗ</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lượng</a:t>
            </a:r>
            <a:r>
              <a:rPr lang="en-US" dirty="0">
                <a:latin typeface="Times New Roman" pitchFamily="18" charset="0"/>
                <a:cs typeface="Times New Roman" pitchFamily="18" charset="0"/>
              </a:rPr>
              <a:t> M=1kg </a:t>
            </a:r>
            <a:r>
              <a:rPr lang="en-US" dirty="0" err="1">
                <a:latin typeface="Times New Roman" pitchFamily="18" charset="0"/>
                <a:cs typeface="Times New Roman" pitchFamily="18" charset="0"/>
              </a:rPr>
              <a:t>đang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đứng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yên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mặt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phẳng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ngang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Bỏ</a:t>
            </a:r>
            <a:r>
              <a:rPr lang="en-US" dirty="0">
                <a:latin typeface="Times New Roman" pitchFamily="18" charset="0"/>
                <a:cs typeface="Times New Roman" pitchFamily="18" charset="0"/>
              </a:rPr>
              <a:t> qua ma </a:t>
            </a:r>
            <a:r>
              <a:rPr lang="en-US" dirty="0" err="1">
                <a:latin typeface="Times New Roman" pitchFamily="18" charset="0"/>
                <a:cs typeface="Times New Roman" pitchFamily="18" charset="0"/>
              </a:rPr>
              <a:t>sát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chạm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khúc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gỗ</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chuyển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động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với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vận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tốc</a:t>
            </a:r>
            <a:r>
              <a:rPr lang="en-US" dirty="0">
                <a:latin typeface="Times New Roman" pitchFamily="18" charset="0"/>
                <a:cs typeface="Times New Roman" pitchFamily="18" charset="0"/>
              </a:rPr>
              <a:t> 25cm/s. </a:t>
            </a:r>
            <a:r>
              <a:rPr lang="en-US" dirty="0" err="1">
                <a:latin typeface="Times New Roman" pitchFamily="18" charset="0"/>
                <a:cs typeface="Times New Roman" pitchFamily="18" charset="0"/>
              </a:rPr>
              <a:t>Tính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vận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tốc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đạn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trước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chạm</a:t>
            </a:r>
            <a:r>
              <a:rPr lang="en-US" dirty="0">
                <a:latin typeface="Times New Roman" pitchFamily="18" charset="0"/>
                <a:cs typeface="Times New Roman" pitchFamily="18" charset="0"/>
              </a:rPr>
              <a:t>.</a:t>
            </a:r>
          </a:p>
        </p:txBody>
      </p:sp>
      <mc:AlternateContent xmlns:mc="http://schemas.openxmlformats.org/markup-compatibility/2006" xmlns:a14="http://schemas.microsoft.com/office/drawing/2010/main">
        <mc:Choice Requires="a14">
          <p:sp>
            <p:nvSpPr>
              <p:cNvPr id="5" name="Notes Placeholder 4"/>
              <p:cNvSpPr txBox="1">
                <a:spLocks/>
              </p:cNvSpPr>
              <p:nvPr/>
            </p:nvSpPr>
            <p:spPr>
              <a:xfrm>
                <a:off x="5257800" y="5486400"/>
                <a:ext cx="3581400" cy="1219200"/>
              </a:xfrm>
              <a:prstGeom prst="wedgeEllipseCallou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fontScale="77500" lnSpcReduction="20000"/>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a:buNone/>
                </a:pPr>
                <a:r>
                  <a:rPr lang="en-US" i="1" dirty="0">
                    <a:latin typeface="Cambria Math"/>
                  </a:rPr>
                  <a:t>m.</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𝑣</m:t>
                        </m:r>
                      </m:e>
                      <m:sub>
                        <m:r>
                          <a:rPr lang="en-US" i="1">
                            <a:latin typeface="Cambria Math"/>
                          </a:rPr>
                          <m:t>1</m:t>
                        </m:r>
                      </m:sub>
                    </m:sSub>
                  </m:oMath>
                </a14:m>
                <a:r>
                  <a:rPr lang="en-US" i="1" dirty="0">
                    <a:latin typeface="Cambria Math"/>
                  </a:rPr>
                  <a:t>= (</a:t>
                </a:r>
                <a:r>
                  <a:rPr lang="en-US" i="1" dirty="0" err="1">
                    <a:latin typeface="Cambria Math"/>
                  </a:rPr>
                  <a:t>m+M</a:t>
                </a:r>
                <a:r>
                  <a:rPr lang="en-US" i="1" dirty="0">
                    <a:latin typeface="Cambria Math"/>
                  </a:rPr>
                  <a:t>)V</a:t>
                </a:r>
              </a:p>
              <a:p>
                <a:pPr marL="0" indent="0" algn="ctr">
                  <a:buNone/>
                </a:pP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a:rPr>
                          <m:t>𝑣</m:t>
                        </m:r>
                      </m:e>
                      <m:sub>
                        <m:r>
                          <a:rPr lang="en-US" i="1" smtClean="0">
                            <a:latin typeface="Cambria Math"/>
                          </a:rPr>
                          <m:t>1</m:t>
                        </m:r>
                      </m:sub>
                    </m:sSub>
                  </m:oMath>
                </a14:m>
                <a:r>
                  <a:rPr lang="en-US" dirty="0"/>
                  <a:t> = 275 cm/s</a:t>
                </a:r>
              </a:p>
            </p:txBody>
          </p:sp>
        </mc:Choice>
        <mc:Fallback xmlns="">
          <p:sp>
            <p:nvSpPr>
              <p:cNvPr id="5" name="Notes Placeholder 4"/>
              <p:cNvSpPr txBox="1">
                <a:spLocks noRot="1" noChangeAspect="1" noMove="1" noResize="1" noEditPoints="1" noAdjustHandles="1" noChangeArrowheads="1" noChangeShapeType="1" noTextEdit="1"/>
              </p:cNvSpPr>
              <p:nvPr/>
            </p:nvSpPr>
            <p:spPr>
              <a:xfrm>
                <a:off x="5257800" y="5486400"/>
                <a:ext cx="3581400" cy="1219200"/>
              </a:xfrm>
              <a:prstGeom prst="wedgeEllipseCallout">
                <a:avLst/>
              </a:prstGeom>
              <a:blipFill rotWithShape="1">
                <a:blip r:embed="rId3"/>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67E0F54E-E281-1DEB-1C04-213AC61C1FB2}"/>
              </a:ext>
            </a:extLst>
          </p:cNvPr>
          <p:cNvSpPr>
            <a:spLocks noGrp="1"/>
          </p:cNvSpPr>
          <p:nvPr>
            <p:ph type="ftr" sz="quarter" idx="11"/>
          </p:nvPr>
        </p:nvSpPr>
        <p:spPr/>
        <p:txBody>
          <a:bodyPr/>
          <a:lstStyle/>
          <a:p>
            <a:r>
              <a:rPr lang="en-US"/>
              <a:t>Bùi Quốc Trung - VLDC</a:t>
            </a:r>
          </a:p>
        </p:txBody>
      </p:sp>
      <p:sp>
        <p:nvSpPr>
          <p:cNvPr id="3" name="Slide Number Placeholder 2">
            <a:extLst>
              <a:ext uri="{FF2B5EF4-FFF2-40B4-BE49-F238E27FC236}">
                <a16:creationId xmlns:a16="http://schemas.microsoft.com/office/drawing/2014/main" id="{A228BD25-D2E5-CAD3-F03A-12C023E27C49}"/>
              </a:ext>
            </a:extLst>
          </p:cNvPr>
          <p:cNvSpPr>
            <a:spLocks noGrp="1"/>
          </p:cNvSpPr>
          <p:nvPr>
            <p:ph type="sldNum" sz="quarter" idx="12"/>
          </p:nvPr>
        </p:nvSpPr>
        <p:spPr/>
        <p:txBody>
          <a:bodyPr/>
          <a:lstStyle/>
          <a:p>
            <a:fld id="{C4A94DE9-7404-4CC4-BDD8-EA2E97866C70}" type="slidenum">
              <a:rPr lang="en-US" smtClean="0"/>
              <a:t>46</a:t>
            </a:fld>
            <a:endParaRPr lang="en-US"/>
          </a:p>
        </p:txBody>
      </p:sp>
    </p:spTree>
    <p:extLst>
      <p:ext uri="{BB962C8B-B14F-4D97-AF65-F5344CB8AC3E}">
        <p14:creationId xmlns:p14="http://schemas.microsoft.com/office/powerpoint/2010/main" val="39348190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7651">
                                            <p:bg/>
                                          </p:spTgt>
                                        </p:tgtEl>
                                        <p:attrNameLst>
                                          <p:attrName>style.visibility</p:attrName>
                                        </p:attrNameLst>
                                      </p:cBhvr>
                                      <p:to>
                                        <p:strVal val="visible"/>
                                      </p:to>
                                    </p:set>
                                    <p:animEffect transition="in" filter="circle(in)">
                                      <p:cBhvr>
                                        <p:cTn id="7" dur="2000"/>
                                        <p:tgtEl>
                                          <p:spTgt spid="27651">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7651">
                                            <p:txEl>
                                              <p:pRg st="0" end="0"/>
                                            </p:txEl>
                                          </p:spTgt>
                                        </p:tgtEl>
                                        <p:attrNameLst>
                                          <p:attrName>style.visibility</p:attrName>
                                        </p:attrNameLst>
                                      </p:cBhvr>
                                      <p:to>
                                        <p:strVal val="visible"/>
                                      </p:to>
                                    </p:set>
                                    <p:animEffect transition="in" filter="circle(in)">
                                      <p:cBhvr>
                                        <p:cTn id="12" dur="2000"/>
                                        <p:tgtEl>
                                          <p:spTgt spid="2765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27651">
                                            <p:txEl>
                                              <p:pRg st="1" end="1"/>
                                            </p:txEl>
                                          </p:spTgt>
                                        </p:tgtEl>
                                        <p:attrNameLst>
                                          <p:attrName>style.visibility</p:attrName>
                                        </p:attrNameLst>
                                      </p:cBhvr>
                                      <p:to>
                                        <p:strVal val="visible"/>
                                      </p:to>
                                    </p:set>
                                    <p:animEffect transition="in" filter="circle(in)">
                                      <p:cBhvr>
                                        <p:cTn id="17" dur="2000"/>
                                        <p:tgtEl>
                                          <p:spTgt spid="2765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27651">
                                            <p:txEl>
                                              <p:pRg st="3" end="3"/>
                                            </p:txEl>
                                          </p:spTgt>
                                        </p:tgtEl>
                                        <p:attrNameLst>
                                          <p:attrName>style.visibility</p:attrName>
                                        </p:attrNameLst>
                                      </p:cBhvr>
                                      <p:to>
                                        <p:strVal val="visible"/>
                                      </p:to>
                                    </p:set>
                                    <p:animEffect transition="in" filter="circle(in)">
                                      <p:cBhvr>
                                        <p:cTn id="22" dur="2000"/>
                                        <p:tgtEl>
                                          <p:spTgt spid="2765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animBg="1"/>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lnSpcReduction="10000"/>
          </a:bodyPr>
          <a:lstStyle/>
          <a:p>
            <a:pPr marL="0" indent="0" algn="ctr">
              <a:buNone/>
            </a:pPr>
            <a:r>
              <a:rPr lang="en-US" dirty="0"/>
              <a:t>	</a:t>
            </a:r>
            <a:r>
              <a:rPr lang="en-US" i="1" dirty="0" err="1"/>
              <a:t>Năng</a:t>
            </a:r>
            <a:r>
              <a:rPr lang="en-US" i="1" dirty="0"/>
              <a:t> </a:t>
            </a:r>
            <a:r>
              <a:rPr lang="en-US" i="1" dirty="0" err="1"/>
              <a:t>lượng</a:t>
            </a:r>
            <a:r>
              <a:rPr lang="en-US" i="1" dirty="0"/>
              <a:t> </a:t>
            </a:r>
            <a:r>
              <a:rPr lang="en-US" i="1" dirty="0" err="1"/>
              <a:t>mất</a:t>
            </a:r>
            <a:r>
              <a:rPr lang="en-US" i="1" dirty="0"/>
              <a:t> </a:t>
            </a:r>
            <a:r>
              <a:rPr lang="en-US" i="1" dirty="0" err="1"/>
              <a:t>mát</a:t>
            </a:r>
            <a:r>
              <a:rPr lang="en-US" i="1" dirty="0"/>
              <a:t> </a:t>
            </a:r>
            <a:r>
              <a:rPr lang="en-US" i="1" dirty="0" err="1"/>
              <a:t>sau</a:t>
            </a:r>
            <a:r>
              <a:rPr lang="en-US" i="1" dirty="0"/>
              <a:t> </a:t>
            </a:r>
            <a:r>
              <a:rPr lang="en-US" i="1" dirty="0" err="1"/>
              <a:t>va</a:t>
            </a:r>
            <a:r>
              <a:rPr lang="en-US" i="1" dirty="0"/>
              <a:t> </a:t>
            </a:r>
            <a:r>
              <a:rPr lang="en-US" i="1" dirty="0" err="1"/>
              <a:t>chạm</a:t>
            </a:r>
            <a:r>
              <a:rPr lang="en-US" i="1" dirty="0"/>
              <a:t>:</a:t>
            </a:r>
          </a:p>
          <a:p>
            <a:pPr marL="0" indent="0" algn="ctr">
              <a:buNone/>
            </a:pPr>
            <a:r>
              <a:rPr lang="en-US" i="1" dirty="0"/>
              <a:t>	</a:t>
            </a:r>
          </a:p>
          <a:p>
            <a:pPr marL="0" indent="0" algn="ctr">
              <a:buNone/>
            </a:pPr>
            <a:endParaRPr lang="en-US" dirty="0"/>
          </a:p>
          <a:p>
            <a:pPr marL="0" indent="0">
              <a:buNone/>
            </a:pPr>
            <a:endParaRPr lang="en-US" dirty="0"/>
          </a:p>
          <a:p>
            <a:pPr marL="0" indent="0">
              <a:buNone/>
            </a:pPr>
            <a:r>
              <a:rPr lang="en-US" dirty="0" err="1"/>
              <a:t>Ví</a:t>
            </a:r>
            <a:r>
              <a:rPr lang="en-US" dirty="0"/>
              <a:t> </a:t>
            </a:r>
            <a:r>
              <a:rPr lang="en-US" dirty="0" err="1"/>
              <a:t>dụ</a:t>
            </a:r>
            <a:r>
              <a:rPr lang="en-US" dirty="0"/>
              <a:t>: </a:t>
            </a:r>
          </a:p>
          <a:p>
            <a:pPr marL="0" indent="0">
              <a:buNone/>
            </a:pPr>
            <a:r>
              <a:rPr lang="en-US" dirty="0" err="1"/>
              <a:t>Một</a:t>
            </a:r>
            <a:r>
              <a:rPr lang="en-US" dirty="0"/>
              <a:t> </a:t>
            </a:r>
            <a:r>
              <a:rPr lang="en-US" dirty="0" err="1"/>
              <a:t>quả</a:t>
            </a:r>
            <a:r>
              <a:rPr lang="en-US" dirty="0"/>
              <a:t> </a:t>
            </a:r>
            <a:r>
              <a:rPr lang="en-US" dirty="0" err="1"/>
              <a:t>cầu</a:t>
            </a:r>
            <a:r>
              <a:rPr lang="en-US" dirty="0"/>
              <a:t> </a:t>
            </a:r>
            <a:r>
              <a:rPr lang="en-US" dirty="0" err="1"/>
              <a:t>chuyển</a:t>
            </a:r>
            <a:r>
              <a:rPr lang="en-US" dirty="0"/>
              <a:t> </a:t>
            </a:r>
            <a:r>
              <a:rPr lang="en-US" dirty="0" err="1"/>
              <a:t>động</a:t>
            </a:r>
            <a:r>
              <a:rPr lang="en-US" dirty="0"/>
              <a:t> </a:t>
            </a:r>
            <a:r>
              <a:rPr lang="en-US" dirty="0" err="1"/>
              <a:t>với</a:t>
            </a:r>
            <a:r>
              <a:rPr lang="en-US" dirty="0"/>
              <a:t> </a:t>
            </a:r>
            <a:r>
              <a:rPr lang="en-US" dirty="0" err="1"/>
              <a:t>vận</a:t>
            </a:r>
            <a:r>
              <a:rPr lang="en-US" dirty="0"/>
              <a:t> </a:t>
            </a:r>
            <a:r>
              <a:rPr lang="en-US" dirty="0" err="1"/>
              <a:t>tốc</a:t>
            </a:r>
            <a:r>
              <a:rPr lang="en-US" dirty="0"/>
              <a:t> 4 m/s </a:t>
            </a:r>
            <a:r>
              <a:rPr lang="en-US" dirty="0" err="1"/>
              <a:t>va</a:t>
            </a:r>
            <a:r>
              <a:rPr lang="en-US" dirty="0"/>
              <a:t> </a:t>
            </a:r>
            <a:r>
              <a:rPr lang="en-US" dirty="0" err="1"/>
              <a:t>chạm</a:t>
            </a:r>
            <a:r>
              <a:rPr lang="en-US" dirty="0"/>
              <a:t> </a:t>
            </a:r>
            <a:r>
              <a:rPr lang="en-US" dirty="0" err="1"/>
              <a:t>xuyên</a:t>
            </a:r>
            <a:r>
              <a:rPr lang="en-US" dirty="0"/>
              <a:t> </a:t>
            </a:r>
            <a:r>
              <a:rPr lang="en-US" dirty="0" err="1"/>
              <a:t>tâm</a:t>
            </a:r>
            <a:r>
              <a:rPr lang="en-US" dirty="0"/>
              <a:t> </a:t>
            </a:r>
            <a:r>
              <a:rPr lang="en-US" dirty="0" err="1"/>
              <a:t>với</a:t>
            </a:r>
            <a:r>
              <a:rPr lang="en-US" dirty="0"/>
              <a:t> </a:t>
            </a:r>
            <a:r>
              <a:rPr lang="en-US" dirty="0" err="1"/>
              <a:t>một</a:t>
            </a:r>
            <a:r>
              <a:rPr lang="en-US" dirty="0"/>
              <a:t> </a:t>
            </a:r>
            <a:r>
              <a:rPr lang="en-US" dirty="0" err="1"/>
              <a:t>quả</a:t>
            </a:r>
            <a:r>
              <a:rPr lang="en-US" dirty="0"/>
              <a:t> </a:t>
            </a:r>
            <a:r>
              <a:rPr lang="en-US" dirty="0" err="1"/>
              <a:t>cầu</a:t>
            </a:r>
            <a:r>
              <a:rPr lang="en-US" dirty="0"/>
              <a:t> </a:t>
            </a:r>
            <a:r>
              <a:rPr lang="en-US" dirty="0" err="1"/>
              <a:t>khác</a:t>
            </a:r>
            <a:r>
              <a:rPr lang="en-US" dirty="0"/>
              <a:t> </a:t>
            </a:r>
            <a:r>
              <a:rPr lang="en-US" dirty="0" err="1"/>
              <a:t>cùng</a:t>
            </a:r>
            <a:r>
              <a:rPr lang="en-US" dirty="0"/>
              <a:t> </a:t>
            </a:r>
            <a:r>
              <a:rPr lang="en-US" dirty="0" err="1"/>
              <a:t>khối</a:t>
            </a:r>
            <a:r>
              <a:rPr lang="en-US" dirty="0"/>
              <a:t> </a:t>
            </a:r>
            <a:r>
              <a:rPr lang="en-US" dirty="0" err="1"/>
              <a:t>lượng</a:t>
            </a:r>
            <a:r>
              <a:rPr lang="en-US" dirty="0"/>
              <a:t> </a:t>
            </a:r>
            <a:r>
              <a:rPr lang="en-US" dirty="0" err="1"/>
              <a:t>đang</a:t>
            </a:r>
            <a:r>
              <a:rPr lang="en-US" dirty="0"/>
              <a:t> </a:t>
            </a:r>
            <a:r>
              <a:rPr lang="en-US" dirty="0" err="1"/>
              <a:t>đứng</a:t>
            </a:r>
            <a:r>
              <a:rPr lang="en-US" dirty="0"/>
              <a:t> </a:t>
            </a:r>
            <a:r>
              <a:rPr lang="en-US" dirty="0" err="1"/>
              <a:t>yên</a:t>
            </a:r>
            <a:r>
              <a:rPr lang="en-US" dirty="0"/>
              <a:t>. </a:t>
            </a:r>
            <a:r>
              <a:rPr lang="en-US" dirty="0" err="1"/>
              <a:t>Sau</a:t>
            </a:r>
            <a:r>
              <a:rPr lang="en-US" dirty="0"/>
              <a:t> </a:t>
            </a:r>
            <a:r>
              <a:rPr lang="en-US" dirty="0" err="1"/>
              <a:t>va</a:t>
            </a:r>
            <a:r>
              <a:rPr lang="en-US" dirty="0"/>
              <a:t> </a:t>
            </a:r>
            <a:r>
              <a:rPr lang="en-US" dirty="0" err="1"/>
              <a:t>chạm</a:t>
            </a:r>
            <a:r>
              <a:rPr lang="en-US" dirty="0"/>
              <a:t> 2 </a:t>
            </a:r>
            <a:r>
              <a:rPr lang="en-US" dirty="0" err="1"/>
              <a:t>quả</a:t>
            </a:r>
            <a:r>
              <a:rPr lang="en-US" dirty="0"/>
              <a:t> </a:t>
            </a:r>
            <a:r>
              <a:rPr lang="en-US" dirty="0" err="1"/>
              <a:t>cầu</a:t>
            </a:r>
            <a:r>
              <a:rPr lang="en-US" dirty="0"/>
              <a:t> </a:t>
            </a:r>
            <a:r>
              <a:rPr lang="en-US" dirty="0" err="1"/>
              <a:t>dính</a:t>
            </a:r>
            <a:r>
              <a:rPr lang="en-US" dirty="0"/>
              <a:t> </a:t>
            </a:r>
            <a:r>
              <a:rPr lang="en-US" dirty="0" err="1"/>
              <a:t>vào</a:t>
            </a:r>
            <a:r>
              <a:rPr lang="en-US" dirty="0"/>
              <a:t> </a:t>
            </a:r>
            <a:r>
              <a:rPr lang="en-US" dirty="0" err="1"/>
              <a:t>nhau</a:t>
            </a:r>
            <a:r>
              <a:rPr lang="en-US" dirty="0"/>
              <a:t> </a:t>
            </a:r>
            <a:r>
              <a:rPr lang="en-US" dirty="0" err="1"/>
              <a:t>và</a:t>
            </a:r>
            <a:r>
              <a:rPr lang="en-US" dirty="0"/>
              <a:t> </a:t>
            </a:r>
            <a:r>
              <a:rPr lang="en-US" dirty="0" err="1"/>
              <a:t>phần</a:t>
            </a:r>
            <a:r>
              <a:rPr lang="en-US" dirty="0"/>
              <a:t> </a:t>
            </a:r>
            <a:r>
              <a:rPr lang="en-US" dirty="0" err="1"/>
              <a:t>năng</a:t>
            </a:r>
            <a:r>
              <a:rPr lang="en-US" dirty="0"/>
              <a:t> </a:t>
            </a:r>
            <a:r>
              <a:rPr lang="en-US" dirty="0" err="1"/>
              <a:t>lượng</a:t>
            </a:r>
            <a:r>
              <a:rPr lang="en-US" dirty="0"/>
              <a:t> </a:t>
            </a:r>
            <a:r>
              <a:rPr lang="en-US" dirty="0" err="1"/>
              <a:t>bị</a:t>
            </a:r>
            <a:r>
              <a:rPr lang="en-US" dirty="0"/>
              <a:t> </a:t>
            </a:r>
            <a:r>
              <a:rPr lang="en-US" dirty="0" err="1"/>
              <a:t>mất</a:t>
            </a:r>
            <a:r>
              <a:rPr lang="en-US" dirty="0"/>
              <a:t> </a:t>
            </a:r>
            <a:r>
              <a:rPr lang="en-US" dirty="0" err="1"/>
              <a:t>mát</a:t>
            </a:r>
            <a:r>
              <a:rPr lang="en-US" dirty="0"/>
              <a:t> </a:t>
            </a:r>
            <a:r>
              <a:rPr lang="en-US" dirty="0" err="1"/>
              <a:t>là</a:t>
            </a:r>
            <a:r>
              <a:rPr lang="en-US" dirty="0"/>
              <a:t> </a:t>
            </a:r>
            <a:r>
              <a:rPr lang="en-US" i="1" dirty="0"/>
              <a:t>12J</a:t>
            </a:r>
            <a:r>
              <a:rPr lang="en-US" dirty="0"/>
              <a:t>. </a:t>
            </a:r>
            <a:r>
              <a:rPr lang="en-US" dirty="0" err="1"/>
              <a:t>Tìm</a:t>
            </a:r>
            <a:r>
              <a:rPr lang="en-US" dirty="0"/>
              <a:t> </a:t>
            </a:r>
            <a:r>
              <a:rPr lang="en-US" dirty="0" err="1"/>
              <a:t>khối</a:t>
            </a:r>
            <a:r>
              <a:rPr lang="en-US" dirty="0"/>
              <a:t> </a:t>
            </a:r>
            <a:r>
              <a:rPr lang="en-US" dirty="0" err="1"/>
              <a:t>lượng</a:t>
            </a:r>
            <a:r>
              <a:rPr lang="en-US" dirty="0"/>
              <a:t> </a:t>
            </a:r>
            <a:r>
              <a:rPr lang="en-US" dirty="0" err="1"/>
              <a:t>các</a:t>
            </a:r>
            <a:r>
              <a:rPr lang="en-US" dirty="0"/>
              <a:t> </a:t>
            </a:r>
            <a:r>
              <a:rPr lang="en-US" dirty="0" err="1"/>
              <a:t>quả</a:t>
            </a:r>
            <a:r>
              <a:rPr lang="en-US" dirty="0"/>
              <a:t> </a:t>
            </a:r>
            <a:r>
              <a:rPr lang="en-US" dirty="0" err="1"/>
              <a:t>cầu</a:t>
            </a:r>
            <a:r>
              <a:rPr lang="en-US" dirty="0"/>
              <a:t>?</a:t>
            </a:r>
          </a:p>
        </p:txBody>
      </p:sp>
      <mc:AlternateContent xmlns:mc="http://schemas.openxmlformats.org/markup-compatibility/2006" xmlns:a14="http://schemas.microsoft.com/office/drawing/2010/main">
        <mc:Choice Requires="a14">
          <p:sp>
            <p:nvSpPr>
              <p:cNvPr id="4" name="Rectangle 3"/>
              <p:cNvSpPr/>
              <p:nvPr/>
            </p:nvSpPr>
            <p:spPr>
              <a:xfrm>
                <a:off x="3048000" y="1295400"/>
                <a:ext cx="3124200" cy="1219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800" i="1" dirty="0"/>
                  <a:t>Q = </a:t>
                </a:r>
                <a14:m>
                  <m:oMath xmlns:m="http://schemas.openxmlformats.org/officeDocument/2006/math">
                    <m:f>
                      <m:fPr>
                        <m:ctrlPr>
                          <a:rPr lang="en-US" sz="2800" i="1">
                            <a:latin typeface="Cambria Math" panose="02040503050406030204" pitchFamily="18" charset="0"/>
                          </a:rPr>
                        </m:ctrlPr>
                      </m:fPr>
                      <m:num>
                        <m:r>
                          <m:rPr>
                            <m:nor/>
                          </m:rPr>
                          <a:rPr lang="en-US" sz="2800" i="1"/>
                          <m:t>m</m:t>
                        </m:r>
                        <m:r>
                          <m:rPr>
                            <m:nor/>
                          </m:rPr>
                          <a:rPr lang="en-US" sz="2800" i="1" baseline="-25000"/>
                          <m:t>1</m:t>
                        </m:r>
                        <m:r>
                          <m:rPr>
                            <m:nor/>
                          </m:rPr>
                          <a:rPr lang="en-US" sz="2800" i="1"/>
                          <m:t>m</m:t>
                        </m:r>
                        <m:r>
                          <m:rPr>
                            <m:nor/>
                          </m:rPr>
                          <a:rPr lang="en-US" sz="2800" i="1" baseline="-25000"/>
                          <m:t>2</m:t>
                        </m:r>
                        <m:r>
                          <m:rPr>
                            <m:nor/>
                          </m:rPr>
                          <a:rPr lang="en-US" sz="2800" i="1"/>
                          <m:t>v</m:t>
                        </m:r>
                        <m:r>
                          <m:rPr>
                            <m:nor/>
                          </m:rPr>
                          <a:rPr lang="en-US" sz="2800" i="1"/>
                          <m:t>² </m:t>
                        </m:r>
                      </m:num>
                      <m:den>
                        <m:r>
                          <m:rPr>
                            <m:nor/>
                          </m:rPr>
                          <a:rPr lang="en-US" sz="2800" i="1"/>
                          <m:t>2(</m:t>
                        </m:r>
                        <m:r>
                          <m:rPr>
                            <m:nor/>
                          </m:rPr>
                          <a:rPr lang="en-US" sz="2800" i="1"/>
                          <m:t>m</m:t>
                        </m:r>
                        <m:r>
                          <m:rPr>
                            <m:nor/>
                          </m:rPr>
                          <a:rPr lang="en-US" sz="2800" i="1" baseline="-25000"/>
                          <m:t>1 </m:t>
                        </m:r>
                        <m:r>
                          <m:rPr>
                            <m:nor/>
                          </m:rPr>
                          <a:rPr lang="en-US" sz="2800" i="1"/>
                          <m:t>+</m:t>
                        </m:r>
                        <m:r>
                          <m:rPr>
                            <m:nor/>
                          </m:rPr>
                          <a:rPr lang="en-US" sz="2800" i="1" baseline="-25000"/>
                          <m:t> </m:t>
                        </m:r>
                        <m:r>
                          <m:rPr>
                            <m:nor/>
                          </m:rPr>
                          <a:rPr lang="en-US" sz="2800" i="1"/>
                          <m:t>m</m:t>
                        </m:r>
                        <m:r>
                          <m:rPr>
                            <m:nor/>
                          </m:rPr>
                          <a:rPr lang="en-US" sz="2800" i="1" baseline="-25000"/>
                          <m:t>2</m:t>
                        </m:r>
                        <m:r>
                          <m:rPr>
                            <m:nor/>
                          </m:rPr>
                          <a:rPr lang="en-US" sz="2800" i="1"/>
                          <m:t>) </m:t>
                        </m:r>
                      </m:den>
                    </m:f>
                  </m:oMath>
                </a14:m>
                <a:endParaRPr lang="en-US" sz="2800" dirty="0"/>
              </a:p>
            </p:txBody>
          </p:sp>
        </mc:Choice>
        <mc:Fallback xmlns="">
          <p:sp>
            <p:nvSpPr>
              <p:cNvPr id="4" name="Rectangle 3"/>
              <p:cNvSpPr>
                <a:spLocks noRot="1" noChangeAspect="1" noMove="1" noResize="1" noEditPoints="1" noAdjustHandles="1" noChangeArrowheads="1" noChangeShapeType="1" noTextEdit="1"/>
              </p:cNvSpPr>
              <p:nvPr/>
            </p:nvSpPr>
            <p:spPr>
              <a:xfrm>
                <a:off x="3048000" y="1295400"/>
                <a:ext cx="3124200" cy="1219200"/>
              </a:xfrm>
              <a:prstGeom prst="rect">
                <a:avLst/>
              </a:prstGeom>
              <a:blipFill rotWithShape="1">
                <a:blip r:embed="rId3"/>
                <a:stretch>
                  <a:fillRect/>
                </a:stretch>
              </a:blipFill>
            </p:spPr>
            <p:txBody>
              <a:bodyPr/>
              <a:lstStyle/>
              <a:p>
                <a:r>
                  <a:rPr lang="en-US">
                    <a:noFill/>
                  </a:rPr>
                  <a:t> </a:t>
                </a:r>
              </a:p>
            </p:txBody>
          </p:sp>
        </mc:Fallback>
      </mc:AlternateContent>
      <p:sp>
        <p:nvSpPr>
          <p:cNvPr id="5" name="Notes Placeholder 4"/>
          <p:cNvSpPr txBox="1">
            <a:spLocks/>
          </p:cNvSpPr>
          <p:nvPr/>
        </p:nvSpPr>
        <p:spPr>
          <a:xfrm>
            <a:off x="6172200" y="5562600"/>
            <a:ext cx="2362200" cy="1219200"/>
          </a:xfrm>
          <a:prstGeom prst="ellipse">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gn="ctr">
              <a:buNone/>
            </a:pPr>
            <a:r>
              <a:rPr lang="en-US" dirty="0"/>
              <a:t>M = 3 kg</a:t>
            </a:r>
          </a:p>
        </p:txBody>
      </p:sp>
      <p:sp>
        <p:nvSpPr>
          <p:cNvPr id="2" name="Footer Placeholder 1">
            <a:extLst>
              <a:ext uri="{FF2B5EF4-FFF2-40B4-BE49-F238E27FC236}">
                <a16:creationId xmlns:a16="http://schemas.microsoft.com/office/drawing/2014/main" id="{423C4571-1DCD-8AA8-E51E-AA28C6313700}"/>
              </a:ext>
            </a:extLst>
          </p:cNvPr>
          <p:cNvSpPr>
            <a:spLocks noGrp="1"/>
          </p:cNvSpPr>
          <p:nvPr>
            <p:ph type="ftr" sz="quarter" idx="11"/>
          </p:nvPr>
        </p:nvSpPr>
        <p:spPr/>
        <p:txBody>
          <a:bodyPr/>
          <a:lstStyle/>
          <a:p>
            <a:r>
              <a:rPr lang="en-US"/>
              <a:t>Bùi Quốc Trung - VLDC</a:t>
            </a:r>
          </a:p>
        </p:txBody>
      </p:sp>
      <p:sp>
        <p:nvSpPr>
          <p:cNvPr id="6" name="Slide Number Placeholder 5">
            <a:extLst>
              <a:ext uri="{FF2B5EF4-FFF2-40B4-BE49-F238E27FC236}">
                <a16:creationId xmlns:a16="http://schemas.microsoft.com/office/drawing/2014/main" id="{4DA7940D-FFFA-7312-1AD5-CA735A2F77AE}"/>
              </a:ext>
            </a:extLst>
          </p:cNvPr>
          <p:cNvSpPr>
            <a:spLocks noGrp="1"/>
          </p:cNvSpPr>
          <p:nvPr>
            <p:ph type="sldNum" sz="quarter" idx="12"/>
          </p:nvPr>
        </p:nvSpPr>
        <p:spPr/>
        <p:txBody>
          <a:bodyPr/>
          <a:lstStyle/>
          <a:p>
            <a:fld id="{C4A94DE9-7404-4CC4-BDD8-EA2E97866C70}" type="slidenum">
              <a:rPr lang="en-US" smtClean="0"/>
              <a:t>47</a:t>
            </a:fld>
            <a:endParaRPr lang="en-US"/>
          </a:p>
        </p:txBody>
      </p:sp>
    </p:spTree>
    <p:extLst>
      <p:ext uri="{BB962C8B-B14F-4D97-AF65-F5344CB8AC3E}">
        <p14:creationId xmlns:p14="http://schemas.microsoft.com/office/powerpoint/2010/main" val="1490004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4"/>
          <p:cNvSpPr>
            <a:spLocks noGrp="1"/>
          </p:cNvSpPr>
          <p:nvPr>
            <p:ph/>
          </p:nvPr>
        </p:nvSpPr>
        <p:spPr>
          <a:xfrm>
            <a:off x="457200" y="762000"/>
            <a:ext cx="8229600" cy="5851525"/>
          </a:xfrm>
        </p:spPr>
        <p:txBody>
          <a:bodyPr>
            <a:normAutofit lnSpcReduction="10000"/>
          </a:bodyPr>
          <a:lstStyle/>
          <a:p>
            <a:pPr>
              <a:buFont typeface="Arial" charset="0"/>
              <a:buNone/>
              <a:defRPr/>
            </a:pPr>
            <a:r>
              <a:rPr lang="en-US" dirty="0"/>
              <a:t>	</a:t>
            </a:r>
            <a:r>
              <a:rPr lang="en-US" sz="2800" dirty="0" err="1"/>
              <a:t>Trong</a:t>
            </a:r>
            <a:r>
              <a:rPr lang="en-US" sz="2800" dirty="0"/>
              <a:t> </a:t>
            </a:r>
            <a:r>
              <a:rPr lang="en-US" sz="2800" dirty="0" err="1"/>
              <a:t>va</a:t>
            </a:r>
            <a:r>
              <a:rPr lang="en-US" sz="2800" dirty="0"/>
              <a:t> </a:t>
            </a:r>
            <a:r>
              <a:rPr lang="en-US" sz="2800" dirty="0" err="1"/>
              <a:t>chạm</a:t>
            </a:r>
            <a:r>
              <a:rPr lang="en-US" sz="2800" dirty="0"/>
              <a:t> </a:t>
            </a:r>
            <a:r>
              <a:rPr lang="en-US" sz="2800" dirty="0" err="1"/>
              <a:t>giữa</a:t>
            </a:r>
            <a:r>
              <a:rPr lang="en-US" sz="2800" dirty="0"/>
              <a:t> </a:t>
            </a:r>
            <a:r>
              <a:rPr lang="en-US" sz="2800" dirty="0" err="1"/>
              <a:t>hai</a:t>
            </a:r>
            <a:r>
              <a:rPr lang="en-US" sz="2800" dirty="0"/>
              <a:t> </a:t>
            </a:r>
            <a:r>
              <a:rPr lang="en-US" sz="2800" dirty="0" err="1"/>
              <a:t>quả</a:t>
            </a:r>
            <a:r>
              <a:rPr lang="en-US" sz="2800" dirty="0"/>
              <a:t> </a:t>
            </a:r>
            <a:r>
              <a:rPr lang="en-US" sz="2800" dirty="0" err="1"/>
              <a:t>cầu</a:t>
            </a:r>
            <a:r>
              <a:rPr lang="en-US" sz="2800" dirty="0"/>
              <a:t>, </a:t>
            </a:r>
            <a:r>
              <a:rPr lang="en-US" sz="2800" dirty="0" err="1"/>
              <a:t>đại</a:t>
            </a:r>
            <a:r>
              <a:rPr lang="en-US" sz="2800" dirty="0"/>
              <a:t> </a:t>
            </a:r>
            <a:r>
              <a:rPr lang="en-US" sz="2800" dirty="0" err="1"/>
              <a:t>lượng</a:t>
            </a:r>
            <a:r>
              <a:rPr lang="en-US" sz="2800" dirty="0"/>
              <a:t> </a:t>
            </a:r>
            <a:r>
              <a:rPr lang="en-US" sz="2800" dirty="0" err="1"/>
              <a:t>nào</a:t>
            </a:r>
            <a:r>
              <a:rPr lang="en-US" sz="2800" dirty="0"/>
              <a:t> </a:t>
            </a:r>
            <a:r>
              <a:rPr lang="en-US" sz="2800" dirty="0" err="1"/>
              <a:t>của</a:t>
            </a:r>
            <a:r>
              <a:rPr lang="en-US" sz="2800" dirty="0"/>
              <a:t> </a:t>
            </a:r>
            <a:r>
              <a:rPr lang="en-US" sz="2800" dirty="0" err="1"/>
              <a:t>hệ</a:t>
            </a:r>
            <a:r>
              <a:rPr lang="en-US" sz="2800" dirty="0"/>
              <a:t> </a:t>
            </a:r>
            <a:r>
              <a:rPr lang="en-US" sz="2800" dirty="0" err="1"/>
              <a:t>được</a:t>
            </a:r>
            <a:r>
              <a:rPr lang="en-US" sz="2800" dirty="0"/>
              <a:t> </a:t>
            </a:r>
            <a:r>
              <a:rPr lang="en-US" sz="2800" dirty="0" err="1"/>
              <a:t>bảo</a:t>
            </a:r>
            <a:r>
              <a:rPr lang="en-US" sz="2800" dirty="0"/>
              <a:t> </a:t>
            </a:r>
            <a:r>
              <a:rPr lang="en-US" sz="2800" dirty="0" err="1"/>
              <a:t>toàn</a:t>
            </a:r>
            <a:r>
              <a:rPr lang="en-US" sz="2800" dirty="0"/>
              <a:t>?</a:t>
            </a:r>
          </a:p>
          <a:p>
            <a:pPr>
              <a:defRPr/>
            </a:pPr>
            <a:r>
              <a:rPr lang="en-US" sz="2800" dirty="0"/>
              <a:t>A.	</a:t>
            </a:r>
            <a:r>
              <a:rPr lang="en-US" sz="2800" dirty="0" err="1"/>
              <a:t>Động</a:t>
            </a:r>
            <a:r>
              <a:rPr lang="en-US" sz="2800" dirty="0"/>
              <a:t> </a:t>
            </a:r>
            <a:r>
              <a:rPr lang="en-US" sz="2800" dirty="0" err="1"/>
              <a:t>năng</a:t>
            </a:r>
            <a:endParaRPr lang="en-US" sz="2800" u="sng" dirty="0"/>
          </a:p>
          <a:p>
            <a:pPr>
              <a:defRPr/>
            </a:pPr>
            <a:r>
              <a:rPr lang="en-US" sz="2800" dirty="0"/>
              <a:t>B.	</a:t>
            </a:r>
            <a:r>
              <a:rPr lang="en-US" sz="2800" dirty="0" err="1"/>
              <a:t>Động</a:t>
            </a:r>
            <a:r>
              <a:rPr lang="en-US" sz="2800" dirty="0"/>
              <a:t> </a:t>
            </a:r>
            <a:r>
              <a:rPr lang="en-US" sz="2800" dirty="0" err="1"/>
              <a:t>lượng</a:t>
            </a:r>
            <a:endParaRPr lang="en-US" sz="2800" dirty="0"/>
          </a:p>
          <a:p>
            <a:pPr>
              <a:defRPr/>
            </a:pPr>
            <a:r>
              <a:rPr lang="en-US" sz="2800" dirty="0"/>
              <a:t>C.	</a:t>
            </a:r>
            <a:r>
              <a:rPr lang="en-US" sz="2800" dirty="0" err="1"/>
              <a:t>Cơ</a:t>
            </a:r>
            <a:r>
              <a:rPr lang="en-US" sz="2800" dirty="0"/>
              <a:t> </a:t>
            </a:r>
            <a:r>
              <a:rPr lang="en-US" sz="2800" dirty="0" err="1"/>
              <a:t>năng</a:t>
            </a:r>
            <a:endParaRPr lang="en-US" sz="2800" dirty="0"/>
          </a:p>
          <a:p>
            <a:pPr>
              <a:defRPr/>
            </a:pPr>
            <a:r>
              <a:rPr lang="en-US" sz="2800" dirty="0"/>
              <a:t>D.	</a:t>
            </a:r>
            <a:r>
              <a:rPr lang="en-US" sz="2800" dirty="0" err="1"/>
              <a:t>Vận</a:t>
            </a:r>
            <a:r>
              <a:rPr lang="en-US" sz="2800" dirty="0"/>
              <a:t> </a:t>
            </a:r>
            <a:r>
              <a:rPr lang="en-US" sz="2800" dirty="0" err="1"/>
              <a:t>tốc</a:t>
            </a:r>
            <a:endParaRPr lang="en-US" sz="2800" dirty="0"/>
          </a:p>
          <a:p>
            <a:pPr marL="0" indent="0">
              <a:buFont typeface="Arial" charset="0"/>
              <a:buNone/>
              <a:defRPr/>
            </a:pPr>
            <a:r>
              <a:rPr lang="en-US" sz="2800" dirty="0" err="1"/>
              <a:t>Trong</a:t>
            </a:r>
            <a:r>
              <a:rPr lang="en-US" sz="2800" dirty="0"/>
              <a:t> </a:t>
            </a:r>
            <a:r>
              <a:rPr lang="en-US" sz="2800" dirty="0" err="1"/>
              <a:t>va</a:t>
            </a:r>
            <a:r>
              <a:rPr lang="en-US" sz="2800" dirty="0"/>
              <a:t> </a:t>
            </a:r>
            <a:r>
              <a:rPr lang="en-US" sz="2800" dirty="0" err="1"/>
              <a:t>chạm</a:t>
            </a:r>
            <a:r>
              <a:rPr lang="en-US" sz="2800" dirty="0"/>
              <a:t> </a:t>
            </a:r>
            <a:r>
              <a:rPr lang="en-US" sz="2800" dirty="0" err="1"/>
              <a:t>đàn</a:t>
            </a:r>
            <a:r>
              <a:rPr lang="en-US" sz="2800" dirty="0"/>
              <a:t> </a:t>
            </a:r>
            <a:r>
              <a:rPr lang="en-US" sz="2800" dirty="0" err="1"/>
              <a:t>hồi</a:t>
            </a:r>
            <a:r>
              <a:rPr lang="en-US" sz="2800" dirty="0"/>
              <a:t> </a:t>
            </a:r>
            <a:r>
              <a:rPr lang="en-US" sz="2800" dirty="0" err="1"/>
              <a:t>giữa</a:t>
            </a:r>
            <a:r>
              <a:rPr lang="en-US" sz="2800" dirty="0"/>
              <a:t> </a:t>
            </a:r>
            <a:r>
              <a:rPr lang="en-US" sz="2800" dirty="0" err="1"/>
              <a:t>hai</a:t>
            </a:r>
            <a:r>
              <a:rPr lang="en-US" sz="2800" dirty="0"/>
              <a:t> </a:t>
            </a:r>
            <a:r>
              <a:rPr lang="en-US" sz="2800" dirty="0" err="1"/>
              <a:t>quả</a:t>
            </a:r>
            <a:r>
              <a:rPr lang="en-US" sz="2800" dirty="0"/>
              <a:t> </a:t>
            </a:r>
            <a:r>
              <a:rPr lang="en-US" sz="2800" dirty="0" err="1"/>
              <a:t>cầu</a:t>
            </a:r>
            <a:r>
              <a:rPr lang="en-US" sz="2800" dirty="0"/>
              <a:t>, </a:t>
            </a:r>
            <a:r>
              <a:rPr lang="en-US" sz="2800" dirty="0" err="1"/>
              <a:t>đại</a:t>
            </a:r>
            <a:r>
              <a:rPr lang="en-US" sz="2800" dirty="0"/>
              <a:t> </a:t>
            </a:r>
            <a:r>
              <a:rPr lang="en-US" sz="2800" dirty="0" err="1"/>
              <a:t>lượng</a:t>
            </a:r>
            <a:r>
              <a:rPr lang="en-US" sz="2800" dirty="0"/>
              <a:t> </a:t>
            </a:r>
            <a:r>
              <a:rPr lang="en-US" sz="2800" dirty="0" err="1"/>
              <a:t>nào</a:t>
            </a:r>
            <a:r>
              <a:rPr lang="en-US" sz="2800" dirty="0"/>
              <a:t> </a:t>
            </a:r>
            <a:r>
              <a:rPr lang="en-US" sz="2800" dirty="0" err="1"/>
              <a:t>của</a:t>
            </a:r>
            <a:r>
              <a:rPr lang="en-US" sz="2800" dirty="0"/>
              <a:t> </a:t>
            </a:r>
            <a:r>
              <a:rPr lang="en-US" sz="2800" dirty="0" err="1"/>
              <a:t>hệ</a:t>
            </a:r>
            <a:r>
              <a:rPr lang="en-US" sz="2800" dirty="0"/>
              <a:t> </a:t>
            </a:r>
            <a:r>
              <a:rPr lang="en-US" sz="2800" dirty="0" err="1"/>
              <a:t>được</a:t>
            </a:r>
            <a:r>
              <a:rPr lang="en-US" sz="2800" dirty="0"/>
              <a:t> </a:t>
            </a:r>
            <a:r>
              <a:rPr lang="en-US" sz="2800" dirty="0" err="1"/>
              <a:t>bảo</a:t>
            </a:r>
            <a:r>
              <a:rPr lang="en-US" sz="2800" dirty="0"/>
              <a:t> </a:t>
            </a:r>
            <a:r>
              <a:rPr lang="en-US" sz="2800" dirty="0" err="1"/>
              <a:t>toàn</a:t>
            </a:r>
            <a:r>
              <a:rPr lang="en-US" sz="2800" dirty="0"/>
              <a:t>?</a:t>
            </a:r>
          </a:p>
          <a:p>
            <a:pPr>
              <a:defRPr/>
            </a:pPr>
            <a:r>
              <a:rPr lang="en-US" sz="2800" dirty="0"/>
              <a:t>A.	</a:t>
            </a:r>
            <a:r>
              <a:rPr lang="en-US" sz="2800" dirty="0" err="1"/>
              <a:t>Động</a:t>
            </a:r>
            <a:r>
              <a:rPr lang="en-US" sz="2800" dirty="0"/>
              <a:t> </a:t>
            </a:r>
            <a:r>
              <a:rPr lang="en-US" sz="2800" dirty="0" err="1"/>
              <a:t>năng</a:t>
            </a:r>
            <a:r>
              <a:rPr lang="en-US" sz="2800" dirty="0"/>
              <a:t>, </a:t>
            </a:r>
            <a:r>
              <a:rPr lang="en-US" sz="2800" dirty="0" err="1"/>
              <a:t>Thế</a:t>
            </a:r>
            <a:r>
              <a:rPr lang="en-US" sz="2800" dirty="0"/>
              <a:t> </a:t>
            </a:r>
            <a:r>
              <a:rPr lang="en-US" sz="2800" dirty="0" err="1"/>
              <a:t>năng</a:t>
            </a:r>
            <a:endParaRPr lang="en-US" sz="2800" dirty="0"/>
          </a:p>
          <a:p>
            <a:pPr>
              <a:defRPr/>
            </a:pPr>
            <a:r>
              <a:rPr lang="en-US" sz="2800" dirty="0"/>
              <a:t>B.	</a:t>
            </a:r>
            <a:r>
              <a:rPr lang="en-US" sz="2800" dirty="0" err="1"/>
              <a:t>Động</a:t>
            </a:r>
            <a:r>
              <a:rPr lang="en-US" sz="2800" dirty="0"/>
              <a:t> </a:t>
            </a:r>
            <a:r>
              <a:rPr lang="en-US" sz="2800" dirty="0" err="1"/>
              <a:t>lượng</a:t>
            </a:r>
            <a:r>
              <a:rPr lang="en-US" sz="2800" dirty="0"/>
              <a:t>, </a:t>
            </a:r>
            <a:r>
              <a:rPr lang="en-US" sz="2800" dirty="0" err="1"/>
              <a:t>Động</a:t>
            </a:r>
            <a:r>
              <a:rPr lang="en-US" sz="2800" dirty="0"/>
              <a:t> </a:t>
            </a:r>
            <a:r>
              <a:rPr lang="en-US" sz="2800" dirty="0" err="1"/>
              <a:t>năng</a:t>
            </a:r>
            <a:endParaRPr lang="en-US" sz="2800" dirty="0"/>
          </a:p>
          <a:p>
            <a:pPr>
              <a:defRPr/>
            </a:pPr>
            <a:r>
              <a:rPr lang="en-US" sz="2800" dirty="0"/>
              <a:t>C.	</a:t>
            </a:r>
            <a:r>
              <a:rPr lang="en-US" sz="2800" dirty="0" err="1"/>
              <a:t>Cơ</a:t>
            </a:r>
            <a:r>
              <a:rPr lang="en-US" sz="2800" dirty="0"/>
              <a:t> </a:t>
            </a:r>
            <a:r>
              <a:rPr lang="en-US" sz="2800" dirty="0" err="1"/>
              <a:t>năng</a:t>
            </a:r>
            <a:r>
              <a:rPr lang="en-US" sz="2800" dirty="0"/>
              <a:t>, </a:t>
            </a:r>
            <a:r>
              <a:rPr lang="en-US" sz="2800" dirty="0" err="1"/>
              <a:t>Động</a:t>
            </a:r>
            <a:r>
              <a:rPr lang="en-US" sz="2800" dirty="0"/>
              <a:t> </a:t>
            </a:r>
            <a:r>
              <a:rPr lang="en-US" sz="2800" dirty="0" err="1"/>
              <a:t>lượng</a:t>
            </a:r>
            <a:endParaRPr lang="en-US" sz="2800" dirty="0"/>
          </a:p>
          <a:p>
            <a:pPr>
              <a:defRPr/>
            </a:pPr>
            <a:r>
              <a:rPr lang="pt-BR" sz="2800" i="1" dirty="0"/>
              <a:t>D.</a:t>
            </a:r>
            <a:r>
              <a:rPr lang="pt-BR" sz="2800" dirty="0"/>
              <a:t>	a, b, c đều đúng</a:t>
            </a:r>
            <a:endParaRPr lang="en-US" sz="2800" dirty="0"/>
          </a:p>
        </p:txBody>
      </p:sp>
      <p:grpSp>
        <p:nvGrpSpPr>
          <p:cNvPr id="2" name="Group 18"/>
          <p:cNvGrpSpPr>
            <a:grpSpLocks/>
          </p:cNvGrpSpPr>
          <p:nvPr/>
        </p:nvGrpSpPr>
        <p:grpSpPr bwMode="auto">
          <a:xfrm>
            <a:off x="2971800" y="0"/>
            <a:ext cx="3352800" cy="685800"/>
            <a:chOff x="1310" y="1392"/>
            <a:chExt cx="4157" cy="432"/>
          </a:xfrm>
        </p:grpSpPr>
        <p:pic>
          <p:nvPicPr>
            <p:cNvPr id="36868"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415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1834" y="1449"/>
              <a:ext cx="3078"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ctr"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2.3. </a:t>
              </a:r>
              <a:r>
                <a:rPr lang="vi-VN" sz="2400" b="1">
                  <a:solidFill>
                    <a:srgbClr val="FF0000"/>
                  </a:solidFill>
                  <a:latin typeface="Times New Roman" pitchFamily="18" charset="0"/>
                  <a:cs typeface="Times New Roman" pitchFamily="18" charset="0"/>
                </a:rPr>
                <a:t>Động l</a:t>
              </a:r>
              <a:r>
                <a:rPr lang="en-US" sz="2400" b="1">
                  <a:solidFill>
                    <a:srgbClr val="FF0000"/>
                  </a:solidFill>
                  <a:latin typeface="Times New Roman" pitchFamily="18" charset="0"/>
                  <a:cs typeface="Times New Roman" pitchFamily="18" charset="0"/>
                </a:rPr>
                <a:t>ư</a:t>
              </a:r>
              <a:r>
                <a:rPr lang="vi-VN" sz="2400" b="1">
                  <a:solidFill>
                    <a:srgbClr val="FF0000"/>
                  </a:solidFill>
                  <a:latin typeface="Times New Roman" pitchFamily="18" charset="0"/>
                  <a:cs typeface="Times New Roman" pitchFamily="18" charset="0"/>
                </a:rPr>
                <a:t>ợng</a:t>
              </a:r>
              <a:endParaRPr lang="en-US" sz="2400" b="1">
                <a:solidFill>
                  <a:srgbClr val="FF0000"/>
                </a:solidFill>
                <a:latin typeface="Times New Roman" pitchFamily="18" charset="0"/>
                <a:cs typeface="Times New Roman" pitchFamily="18" charset="0"/>
              </a:endParaRPr>
            </a:p>
          </p:txBody>
        </p:sp>
      </p:grpSp>
      <p:sp>
        <p:nvSpPr>
          <p:cNvPr id="3" name="Footer Placeholder 2">
            <a:extLst>
              <a:ext uri="{FF2B5EF4-FFF2-40B4-BE49-F238E27FC236}">
                <a16:creationId xmlns:a16="http://schemas.microsoft.com/office/drawing/2014/main" id="{482FE62C-DD78-75F1-2345-DD83CC3967DE}"/>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D4037130-24A8-688E-741D-816F095BC114}"/>
              </a:ext>
            </a:extLst>
          </p:cNvPr>
          <p:cNvSpPr>
            <a:spLocks noGrp="1"/>
          </p:cNvSpPr>
          <p:nvPr>
            <p:ph type="sldNum" sz="quarter" idx="12"/>
          </p:nvPr>
        </p:nvSpPr>
        <p:spPr/>
        <p:txBody>
          <a:bodyPr/>
          <a:lstStyle/>
          <a:p>
            <a:pPr>
              <a:defRPr/>
            </a:pPr>
            <a:fld id="{76921531-3DE4-4FE6-8586-93C8C3054BFB}" type="slidenum">
              <a:rPr lang="en-US" smtClean="0"/>
              <a:pPr>
                <a:defRPr/>
              </a:pPr>
              <a:t>48</a:t>
            </a:fld>
            <a:endParaRPr lang="en-US"/>
          </a:p>
        </p:txBody>
      </p:sp>
    </p:spTree>
    <p:extLst>
      <p:ext uri="{BB962C8B-B14F-4D97-AF65-F5344CB8AC3E}">
        <p14:creationId xmlns:p14="http://schemas.microsoft.com/office/powerpoint/2010/main" val="22402380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upRight)">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mph" presetSubtype="0" fill="hold" nodeType="clickEffect">
                                  <p:stCondLst>
                                    <p:cond delay="0"/>
                                  </p:stCondLst>
                                  <p:iterate type="lt">
                                    <p:tmPct val="4000"/>
                                  </p:iterate>
                                  <p:childTnLst>
                                    <p:set>
                                      <p:cBhvr override="childStyle">
                                        <p:cTn id="11" dur="500" fill="hold"/>
                                        <p:tgtEl>
                                          <p:spTgt spid="61444">
                                            <p:txEl>
                                              <p:pRg st="2" end="2"/>
                                            </p:txEl>
                                          </p:spTgt>
                                        </p:tgtEl>
                                        <p:attrNameLst>
                                          <p:attrName>style.textDecorationUnderline</p:attrName>
                                        </p:attrNameLst>
                                      </p:cBhvr>
                                      <p:to>
                                        <p:strVal val="tru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mph" presetSubtype="0" fill="hold" nodeType="clickEffect">
                                  <p:stCondLst>
                                    <p:cond delay="0"/>
                                  </p:stCondLst>
                                  <p:iterate type="lt">
                                    <p:tmPct val="4000"/>
                                  </p:iterate>
                                  <p:childTnLst>
                                    <p:set>
                                      <p:cBhvr override="childStyle">
                                        <p:cTn id="15" dur="500" fill="hold"/>
                                        <p:tgtEl>
                                          <p:spTgt spid="61444">
                                            <p:txEl>
                                              <p:pRg st="8" end="8"/>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p:nvPr>
        </p:nvSpPr>
        <p:spPr/>
        <p:txBody>
          <a:bodyPr/>
          <a:lstStyle/>
          <a:p>
            <a:pPr marL="0" indent="0">
              <a:buFont typeface="Arial" charset="0"/>
              <a:buNone/>
              <a:defRPr/>
            </a:pPr>
            <a:endParaRPr lang="en-US" dirty="0"/>
          </a:p>
          <a:p>
            <a:pPr marL="0" indent="0">
              <a:buFont typeface="Arial" charset="0"/>
              <a:buNone/>
              <a:defRPr/>
            </a:pPr>
            <a:r>
              <a:rPr lang="en-US" dirty="0" err="1"/>
              <a:t>Động</a:t>
            </a:r>
            <a:r>
              <a:rPr lang="en-US" dirty="0"/>
              <a:t> </a:t>
            </a:r>
            <a:r>
              <a:rPr lang="en-US" dirty="0" err="1"/>
              <a:t>lượng</a:t>
            </a:r>
            <a:r>
              <a:rPr lang="en-US" dirty="0"/>
              <a:t> </a:t>
            </a:r>
            <a:r>
              <a:rPr lang="en-US" dirty="0" err="1"/>
              <a:t>của</a:t>
            </a:r>
            <a:r>
              <a:rPr lang="en-US" dirty="0"/>
              <a:t> </a:t>
            </a:r>
            <a:r>
              <a:rPr lang="en-US" dirty="0" err="1"/>
              <a:t>một</a:t>
            </a:r>
            <a:r>
              <a:rPr lang="en-US" dirty="0"/>
              <a:t> </a:t>
            </a:r>
            <a:r>
              <a:rPr lang="en-US" dirty="0" err="1"/>
              <a:t>vật</a:t>
            </a:r>
            <a:r>
              <a:rPr lang="en-US" dirty="0"/>
              <a:t> </a:t>
            </a:r>
            <a:r>
              <a:rPr lang="en-US" dirty="0" err="1"/>
              <a:t>tại</a:t>
            </a:r>
            <a:r>
              <a:rPr lang="en-US" dirty="0"/>
              <a:t> </a:t>
            </a:r>
            <a:r>
              <a:rPr lang="en-US" dirty="0" err="1"/>
              <a:t>mỗi</a:t>
            </a:r>
            <a:r>
              <a:rPr lang="en-US" dirty="0"/>
              <a:t> </a:t>
            </a:r>
            <a:r>
              <a:rPr lang="en-US" dirty="0" err="1"/>
              <a:t>thời</a:t>
            </a:r>
            <a:r>
              <a:rPr lang="en-US" dirty="0"/>
              <a:t> </a:t>
            </a:r>
            <a:r>
              <a:rPr lang="en-US" dirty="0" err="1"/>
              <a:t>điểm</a:t>
            </a:r>
            <a:r>
              <a:rPr lang="en-US" dirty="0"/>
              <a:t> </a:t>
            </a:r>
            <a:r>
              <a:rPr lang="en-US" dirty="0" err="1"/>
              <a:t>độc</a:t>
            </a:r>
            <a:r>
              <a:rPr lang="en-US" dirty="0"/>
              <a:t> </a:t>
            </a:r>
            <a:r>
              <a:rPr lang="en-US" dirty="0" err="1"/>
              <a:t>lập</a:t>
            </a:r>
            <a:r>
              <a:rPr lang="en-US" dirty="0"/>
              <a:t> </a:t>
            </a:r>
            <a:r>
              <a:rPr lang="en-US" dirty="0" err="1"/>
              <a:t>với</a:t>
            </a:r>
            <a:r>
              <a:rPr lang="en-US" dirty="0"/>
              <a:t>:</a:t>
            </a:r>
          </a:p>
          <a:p>
            <a:pPr marL="0" indent="0">
              <a:buFont typeface="Arial" charset="0"/>
              <a:buNone/>
              <a:defRPr/>
            </a:pPr>
            <a:r>
              <a:rPr lang="en-US" dirty="0"/>
              <a:t>A. </a:t>
            </a:r>
            <a:r>
              <a:rPr lang="en-US" dirty="0" err="1"/>
              <a:t>Quán</a:t>
            </a:r>
            <a:r>
              <a:rPr lang="en-US" dirty="0"/>
              <a:t> </a:t>
            </a:r>
            <a:r>
              <a:rPr lang="en-US" dirty="0" err="1"/>
              <a:t>tính</a:t>
            </a:r>
            <a:endParaRPr lang="en-US" dirty="0"/>
          </a:p>
          <a:p>
            <a:pPr marL="0" indent="0">
              <a:buFont typeface="Arial" charset="0"/>
              <a:buNone/>
              <a:defRPr/>
            </a:pPr>
            <a:r>
              <a:rPr lang="en-US" dirty="0"/>
              <a:t>B. </a:t>
            </a:r>
            <a:r>
              <a:rPr lang="en-US" dirty="0" err="1"/>
              <a:t>Khối</a:t>
            </a:r>
            <a:r>
              <a:rPr lang="en-US" dirty="0"/>
              <a:t> </a:t>
            </a:r>
            <a:r>
              <a:rPr lang="en-US" dirty="0" err="1"/>
              <a:t>lượng</a:t>
            </a:r>
            <a:endParaRPr lang="en-US" dirty="0"/>
          </a:p>
          <a:p>
            <a:pPr marL="0" indent="0">
              <a:buFont typeface="Arial" charset="0"/>
              <a:buNone/>
              <a:defRPr/>
            </a:pPr>
            <a:r>
              <a:rPr lang="en-US" dirty="0"/>
              <a:t>C. </a:t>
            </a:r>
            <a:r>
              <a:rPr lang="en-US" dirty="0" err="1"/>
              <a:t>Vận</a:t>
            </a:r>
            <a:r>
              <a:rPr lang="en-US" dirty="0"/>
              <a:t> </a:t>
            </a:r>
            <a:r>
              <a:rPr lang="en-US" dirty="0" err="1"/>
              <a:t>tốc</a:t>
            </a:r>
            <a:endParaRPr lang="en-US" dirty="0"/>
          </a:p>
          <a:p>
            <a:pPr marL="0" indent="0">
              <a:buFont typeface="Arial" charset="0"/>
              <a:buNone/>
              <a:defRPr/>
            </a:pPr>
            <a:r>
              <a:rPr lang="en-US" dirty="0"/>
              <a:t>D. </a:t>
            </a:r>
            <a:r>
              <a:rPr lang="en-US" dirty="0" err="1"/>
              <a:t>Gia</a:t>
            </a:r>
            <a:r>
              <a:rPr lang="en-US" dirty="0"/>
              <a:t> </a:t>
            </a:r>
            <a:r>
              <a:rPr lang="en-US" dirty="0" err="1"/>
              <a:t>tốc</a:t>
            </a:r>
            <a:endParaRPr lang="en-US" dirty="0"/>
          </a:p>
          <a:p>
            <a:pPr>
              <a:defRPr/>
            </a:pPr>
            <a:endParaRPr lang="en-US" dirty="0"/>
          </a:p>
        </p:txBody>
      </p:sp>
      <p:sp>
        <p:nvSpPr>
          <p:cNvPr id="2" name="Footer Placeholder 1">
            <a:extLst>
              <a:ext uri="{FF2B5EF4-FFF2-40B4-BE49-F238E27FC236}">
                <a16:creationId xmlns:a16="http://schemas.microsoft.com/office/drawing/2014/main" id="{34741210-E540-3A27-B5DE-4C944A849DAE}"/>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BC4660BB-2B58-241F-B93F-28548F801BDB}"/>
              </a:ext>
            </a:extLst>
          </p:cNvPr>
          <p:cNvSpPr>
            <a:spLocks noGrp="1"/>
          </p:cNvSpPr>
          <p:nvPr>
            <p:ph type="sldNum" sz="quarter" idx="12"/>
          </p:nvPr>
        </p:nvSpPr>
        <p:spPr/>
        <p:txBody>
          <a:bodyPr/>
          <a:lstStyle/>
          <a:p>
            <a:pPr>
              <a:defRPr/>
            </a:pPr>
            <a:fld id="{76921531-3DE4-4FE6-8586-93C8C3054BFB}" type="slidenum">
              <a:rPr lang="en-US" smtClean="0"/>
              <a:pPr>
                <a:defRPr/>
              </a:pPr>
              <a:t>49</a:t>
            </a:fld>
            <a:endParaRPr lang="en-US"/>
          </a:p>
        </p:txBody>
      </p:sp>
    </p:spTree>
    <p:extLst>
      <p:ext uri="{BB962C8B-B14F-4D97-AF65-F5344CB8AC3E}">
        <p14:creationId xmlns:p14="http://schemas.microsoft.com/office/powerpoint/2010/main" val="281415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4">
                                            <p:txEl>
                                              <p:pRg st="5" end="5"/>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990600"/>
            <a:ext cx="8229600" cy="5135563"/>
          </a:xfrm>
        </p:spPr>
        <p:txBody>
          <a:bodyPr/>
          <a:lstStyle/>
          <a:p>
            <a:r>
              <a:rPr lang="en-US" dirty="0" err="1"/>
              <a:t>Đòn</a:t>
            </a:r>
            <a:r>
              <a:rPr lang="en-US" dirty="0"/>
              <a:t> </a:t>
            </a:r>
            <a:r>
              <a:rPr lang="en-US" dirty="0" err="1"/>
              <a:t>bẩy</a:t>
            </a:r>
            <a:endParaRPr lang="en-US" dirty="0"/>
          </a:p>
          <a:p>
            <a:r>
              <a:rPr lang="en-US" dirty="0" err="1"/>
              <a:t>Ròng</a:t>
            </a:r>
            <a:r>
              <a:rPr lang="en-US" dirty="0"/>
              <a:t> </a:t>
            </a:r>
            <a:r>
              <a:rPr lang="en-US" dirty="0" err="1"/>
              <a:t>rọc</a:t>
            </a:r>
            <a:endParaRPr lang="en-US" dirty="0"/>
          </a:p>
          <a:p>
            <a:r>
              <a:rPr lang="en-US" dirty="0" err="1"/>
              <a:t>Mặt</a:t>
            </a:r>
            <a:r>
              <a:rPr lang="en-US" dirty="0"/>
              <a:t> </a:t>
            </a:r>
            <a:r>
              <a:rPr lang="en-US" dirty="0" err="1"/>
              <a:t>phẳng</a:t>
            </a:r>
            <a:r>
              <a:rPr lang="en-US" dirty="0"/>
              <a:t> </a:t>
            </a:r>
            <a:r>
              <a:rPr lang="en-US" dirty="0" err="1"/>
              <a:t>nghiêng</a:t>
            </a:r>
            <a:endParaRPr lang="en-US" dirty="0"/>
          </a:p>
        </p:txBody>
      </p:sp>
      <p:grpSp>
        <p:nvGrpSpPr>
          <p:cNvPr id="3" name="Group 18"/>
          <p:cNvGrpSpPr>
            <a:grpSpLocks/>
          </p:cNvGrpSpPr>
          <p:nvPr/>
        </p:nvGrpSpPr>
        <p:grpSpPr bwMode="auto">
          <a:xfrm>
            <a:off x="609600" y="0"/>
            <a:ext cx="8001000" cy="528539"/>
            <a:chOff x="1310" y="1392"/>
            <a:chExt cx="4157" cy="447"/>
          </a:xfrm>
        </p:grpSpPr>
        <p:pic>
          <p:nvPicPr>
            <p:cNvPr id="4"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415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4"/>
            <p:cNvSpPr txBox="1">
              <a:spLocks noChangeArrowheads="1"/>
            </p:cNvSpPr>
            <p:nvPr/>
          </p:nvSpPr>
          <p:spPr bwMode="auto">
            <a:xfrm>
              <a:off x="1834" y="1449"/>
              <a:ext cx="3078" cy="390"/>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ctr"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2.4. Ứng dụng lực trong máy cơ đơn giản </a:t>
              </a:r>
              <a:endParaRPr lang="en-US" sz="2400" b="1">
                <a:solidFill>
                  <a:srgbClr val="FF0000"/>
                </a:solidFill>
                <a:latin typeface="Times New Roman" pitchFamily="18" charset="0"/>
                <a:cs typeface="Times New Roman" pitchFamily="18" charset="0"/>
              </a:endParaRPr>
            </a:p>
          </p:txBody>
        </p:sp>
      </p:grpSp>
      <p:sp>
        <p:nvSpPr>
          <p:cNvPr id="6" name="Footer Placeholder 5">
            <a:extLst>
              <a:ext uri="{FF2B5EF4-FFF2-40B4-BE49-F238E27FC236}">
                <a16:creationId xmlns:a16="http://schemas.microsoft.com/office/drawing/2014/main" id="{DFDFBF2B-9417-2516-86B2-2240CD5A27C2}"/>
              </a:ext>
            </a:extLst>
          </p:cNvPr>
          <p:cNvSpPr>
            <a:spLocks noGrp="1"/>
          </p:cNvSpPr>
          <p:nvPr>
            <p:ph type="ftr" sz="quarter" idx="11"/>
          </p:nvPr>
        </p:nvSpPr>
        <p:spPr/>
        <p:txBody>
          <a:bodyPr/>
          <a:lstStyle/>
          <a:p>
            <a:pPr>
              <a:defRPr/>
            </a:pPr>
            <a:r>
              <a:rPr lang="en-US"/>
              <a:t>Bùi Quốc Trung - VLDC</a:t>
            </a:r>
          </a:p>
        </p:txBody>
      </p:sp>
      <p:sp>
        <p:nvSpPr>
          <p:cNvPr id="7" name="Slide Number Placeholder 6">
            <a:extLst>
              <a:ext uri="{FF2B5EF4-FFF2-40B4-BE49-F238E27FC236}">
                <a16:creationId xmlns:a16="http://schemas.microsoft.com/office/drawing/2014/main" id="{2625CCA0-3F4B-14AA-2F79-6C7E98F5182B}"/>
              </a:ext>
            </a:extLst>
          </p:cNvPr>
          <p:cNvSpPr>
            <a:spLocks noGrp="1"/>
          </p:cNvSpPr>
          <p:nvPr>
            <p:ph type="sldNum" sz="quarter" idx="12"/>
          </p:nvPr>
        </p:nvSpPr>
        <p:spPr/>
        <p:txBody>
          <a:bodyPr/>
          <a:lstStyle/>
          <a:p>
            <a:pPr>
              <a:defRPr/>
            </a:pPr>
            <a:fld id="{76921531-3DE4-4FE6-8586-93C8C3054BFB}" type="slidenum">
              <a:rPr lang="en-US" smtClean="0"/>
              <a:pPr>
                <a:defRPr/>
              </a:pPr>
              <a:t>50</a:t>
            </a:fld>
            <a:endParaRPr lang="en-US"/>
          </a:p>
        </p:txBody>
      </p:sp>
    </p:spTree>
    <p:extLst>
      <p:ext uri="{BB962C8B-B14F-4D97-AF65-F5344CB8AC3E}">
        <p14:creationId xmlns:p14="http://schemas.microsoft.com/office/powerpoint/2010/main" val="1794073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upRigh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1"/>
          <p:cNvSpPr>
            <a:spLocks noGrp="1"/>
          </p:cNvSpPr>
          <p:nvPr>
            <p:ph/>
          </p:nvPr>
        </p:nvSpPr>
        <p:spPr>
          <a:xfrm>
            <a:off x="457200" y="990600"/>
            <a:ext cx="8229600" cy="5135563"/>
          </a:xfrm>
        </p:spPr>
        <p:txBody>
          <a:bodyPr/>
          <a:lstStyle/>
          <a:p>
            <a:pPr marL="0" indent="0">
              <a:buFont typeface="Arial" charset="0"/>
              <a:buNone/>
            </a:pPr>
            <a:r>
              <a:rPr lang="en-US" sz="2800" b="1" i="1">
                <a:solidFill>
                  <a:srgbClr val="FF0000"/>
                </a:solidFill>
                <a:latin typeface="Times New Roman" pitchFamily="18" charset="0"/>
                <a:cs typeface="Times New Roman" pitchFamily="18" charset="0"/>
              </a:rPr>
              <a:t>Chuyển động tròn</a:t>
            </a:r>
          </a:p>
        </p:txBody>
      </p:sp>
      <p:pic>
        <p:nvPicPr>
          <p:cNvPr id="31748"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057400"/>
            <a:ext cx="3452813" cy="290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2057400"/>
            <a:ext cx="3048000"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p:cNvGrpSpPr>
            <a:grpSpLocks/>
          </p:cNvGrpSpPr>
          <p:nvPr/>
        </p:nvGrpSpPr>
        <p:grpSpPr bwMode="auto">
          <a:xfrm>
            <a:off x="609600" y="0"/>
            <a:ext cx="8001000" cy="528539"/>
            <a:chOff x="1310" y="1392"/>
            <a:chExt cx="4157" cy="447"/>
          </a:xfrm>
        </p:grpSpPr>
        <p:pic>
          <p:nvPicPr>
            <p:cNvPr id="10" name="Picture 24" descr="PPP_CSHAP_CLP_Sleek_Silver">
              <a:hlinkClick r:id="" action="ppaction://hlinkshowjump?jump=nextslide" highlightClick="1"/>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0" y="1392"/>
              <a:ext cx="415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14"/>
            <p:cNvSpPr txBox="1">
              <a:spLocks noChangeArrowheads="1"/>
            </p:cNvSpPr>
            <p:nvPr/>
          </p:nvSpPr>
          <p:spPr bwMode="auto">
            <a:xfrm>
              <a:off x="1834" y="1449"/>
              <a:ext cx="3078" cy="390"/>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ctr"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2.5. Chuyển động quay</a:t>
              </a:r>
              <a:endParaRPr lang="en-US" sz="2400" b="1">
                <a:solidFill>
                  <a:srgbClr val="FF0000"/>
                </a:solidFill>
                <a:latin typeface="Times New Roman" pitchFamily="18" charset="0"/>
                <a:cs typeface="Times New Roman" pitchFamily="18" charset="0"/>
              </a:endParaRPr>
            </a:p>
          </p:txBody>
        </p:sp>
      </p:grpSp>
      <p:sp>
        <p:nvSpPr>
          <p:cNvPr id="2" name="Footer Placeholder 1">
            <a:extLst>
              <a:ext uri="{FF2B5EF4-FFF2-40B4-BE49-F238E27FC236}">
                <a16:creationId xmlns:a16="http://schemas.microsoft.com/office/drawing/2014/main" id="{49E2962C-520D-13D7-34E6-E87B9275A86F}"/>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351273BF-4EC0-CF4C-3A3B-575626EFA862}"/>
              </a:ext>
            </a:extLst>
          </p:cNvPr>
          <p:cNvSpPr>
            <a:spLocks noGrp="1"/>
          </p:cNvSpPr>
          <p:nvPr>
            <p:ph type="sldNum" sz="quarter" idx="12"/>
          </p:nvPr>
        </p:nvSpPr>
        <p:spPr/>
        <p:txBody>
          <a:bodyPr/>
          <a:lstStyle/>
          <a:p>
            <a:pPr>
              <a:defRPr/>
            </a:pPr>
            <a:fld id="{76921531-3DE4-4FE6-8586-93C8C3054BFB}" type="slidenum">
              <a:rPr lang="en-US" smtClean="0"/>
              <a:pPr>
                <a:defRPr/>
              </a:pPr>
              <a:t>51</a:t>
            </a:fld>
            <a:endParaRPr lang="en-US"/>
          </a:p>
        </p:txBody>
      </p:sp>
    </p:spTree>
    <p:extLst>
      <p:ext uri="{BB962C8B-B14F-4D97-AF65-F5344CB8AC3E}">
        <p14:creationId xmlns:p14="http://schemas.microsoft.com/office/powerpoint/2010/main" val="399630964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upRight)">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ChangeArrowheads="1"/>
          </p:cNvSpPr>
          <p:nvPr/>
        </p:nvSpPr>
        <p:spPr bwMode="auto">
          <a:xfrm>
            <a:off x="0" y="2601913"/>
            <a:ext cx="0" cy="0"/>
          </a:xfrm>
          <a:prstGeom prst="rect">
            <a:avLst/>
          </a:prstGeom>
          <a:solidFill>
            <a:schemeClr val="accent1"/>
          </a:solidFill>
          <a:ln w="9525">
            <a:solidFill>
              <a:schemeClr val="tx1"/>
            </a:solidFill>
            <a:miter lim="800000"/>
            <a:headEnd/>
            <a:tailEnd/>
          </a:ln>
        </p:spPr>
        <p:txBody>
          <a:bodyPr/>
          <a:lstStyle/>
          <a:p>
            <a:endParaRPr lang="en-US" sz="1800"/>
          </a:p>
        </p:txBody>
      </p:sp>
      <p:sp>
        <p:nvSpPr>
          <p:cNvPr id="32771" name="Rectangle 4"/>
          <p:cNvSpPr>
            <a:spLocks noChangeArrowheads="1"/>
          </p:cNvSpPr>
          <p:nvPr/>
        </p:nvSpPr>
        <p:spPr bwMode="auto">
          <a:xfrm>
            <a:off x="0" y="285908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sz="1800"/>
          </a:p>
        </p:txBody>
      </p:sp>
      <p:sp>
        <p:nvSpPr>
          <p:cNvPr id="44" name="Rectangle 5"/>
          <p:cNvSpPr>
            <a:spLocks noChangeArrowheads="1"/>
          </p:cNvSpPr>
          <p:nvPr/>
        </p:nvSpPr>
        <p:spPr bwMode="auto">
          <a:xfrm>
            <a:off x="457200" y="500390"/>
            <a:ext cx="193835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tabLst>
                <a:tab pos="457200" algn="l"/>
                <a:tab pos="914400" algn="l"/>
                <a:tab pos="1371600" algn="l"/>
                <a:tab pos="1677988" algn="l"/>
              </a:tabLst>
            </a:pPr>
            <a:r>
              <a:rPr lang="en-US" sz="2800" b="1" i="1">
                <a:solidFill>
                  <a:srgbClr val="FF0000"/>
                </a:solidFill>
                <a:latin typeface="Times New Roman" pitchFamily="18" charset="0"/>
                <a:cs typeface="Times New Roman" pitchFamily="18" charset="0"/>
              </a:rPr>
              <a:t>Vận tốc góc</a:t>
            </a:r>
            <a:endParaRPr lang="en-US" sz="3600" b="1" i="1">
              <a:solidFill>
                <a:srgbClr val="FF0000"/>
              </a:solidFill>
              <a:latin typeface="Times New Roman" pitchFamily="18" charset="0"/>
              <a:cs typeface="Times New Roman" pitchFamily="18" charset="0"/>
            </a:endParaRPr>
          </a:p>
        </p:txBody>
      </p:sp>
      <p:sp>
        <p:nvSpPr>
          <p:cNvPr id="65" name="Rectangle 7"/>
          <p:cNvSpPr>
            <a:spLocks noChangeArrowheads="1"/>
          </p:cNvSpPr>
          <p:nvPr/>
        </p:nvSpPr>
        <p:spPr bwMode="auto">
          <a:xfrm>
            <a:off x="609600" y="1608138"/>
            <a:ext cx="3810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gn="just">
              <a:spcBef>
                <a:spcPct val="20000"/>
              </a:spcBef>
            </a:pPr>
            <a:r>
              <a:rPr lang="en-US" sz="2800" b="1">
                <a:solidFill>
                  <a:srgbClr val="002060"/>
                </a:solidFill>
                <a:latin typeface="Times New Roman" pitchFamily="18" charset="0"/>
                <a:cs typeface="Times New Roman" pitchFamily="18" charset="0"/>
              </a:rPr>
              <a:t>Vận tốc góc trung bình</a:t>
            </a:r>
          </a:p>
        </p:txBody>
      </p:sp>
      <p:sp>
        <p:nvSpPr>
          <p:cNvPr id="66" name="Rectangle 7"/>
          <p:cNvSpPr>
            <a:spLocks noChangeArrowheads="1"/>
          </p:cNvSpPr>
          <p:nvPr/>
        </p:nvSpPr>
        <p:spPr bwMode="auto">
          <a:xfrm>
            <a:off x="609600" y="3962400"/>
            <a:ext cx="4495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gn="just">
              <a:spcBef>
                <a:spcPct val="20000"/>
              </a:spcBef>
            </a:pPr>
            <a:r>
              <a:rPr lang="en-US" sz="2800" b="1">
                <a:solidFill>
                  <a:srgbClr val="002060"/>
                </a:solidFill>
                <a:latin typeface="Times New Roman" pitchFamily="18" charset="0"/>
                <a:cs typeface="Times New Roman" pitchFamily="18" charset="0"/>
              </a:rPr>
              <a:t> Vận tốc gốc tức thời</a:t>
            </a:r>
          </a:p>
        </p:txBody>
      </p:sp>
      <p:sp>
        <p:nvSpPr>
          <p:cNvPr id="67" name="4-Point Star 66"/>
          <p:cNvSpPr/>
          <p:nvPr/>
        </p:nvSpPr>
        <p:spPr>
          <a:xfrm>
            <a:off x="246063" y="4038600"/>
            <a:ext cx="304800" cy="304800"/>
          </a:xfrm>
          <a:prstGeom prst="star4">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sz="1800"/>
          </a:p>
        </p:txBody>
      </p:sp>
      <p:sp>
        <p:nvSpPr>
          <p:cNvPr id="68" name="4-Point Star 67"/>
          <p:cNvSpPr/>
          <p:nvPr/>
        </p:nvSpPr>
        <p:spPr>
          <a:xfrm>
            <a:off x="261938" y="1725613"/>
            <a:ext cx="304800" cy="304800"/>
          </a:xfrm>
          <a:prstGeom prst="star4">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sz="1800"/>
          </a:p>
        </p:txBody>
      </p:sp>
      <p:sp>
        <p:nvSpPr>
          <p:cNvPr id="70" name="Rectangle 69"/>
          <p:cNvSpPr>
            <a:spLocks noChangeArrowheads="1"/>
          </p:cNvSpPr>
          <p:nvPr/>
        </p:nvSpPr>
        <p:spPr bwMode="auto">
          <a:xfrm>
            <a:off x="4743450" y="5138738"/>
            <a:ext cx="11223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a:solidFill>
                  <a:srgbClr val="1109B7"/>
                </a:solidFill>
                <a:latin typeface="Times New Roman" pitchFamily="18" charset="0"/>
                <a:cs typeface="Times New Roman" pitchFamily="18" charset="0"/>
              </a:rPr>
              <a:t>(rad/s)</a:t>
            </a:r>
          </a:p>
        </p:txBody>
      </p:sp>
      <p:sp>
        <p:nvSpPr>
          <p:cNvPr id="11300" name="Oval 19"/>
          <p:cNvSpPr>
            <a:spLocks noChangeArrowheads="1"/>
          </p:cNvSpPr>
          <p:nvPr/>
        </p:nvSpPr>
        <p:spPr bwMode="auto">
          <a:xfrm>
            <a:off x="6096000" y="5230813"/>
            <a:ext cx="2243138" cy="866775"/>
          </a:xfrm>
          <a:prstGeom prst="ellipse">
            <a:avLst/>
          </a:prstGeom>
          <a:solidFill>
            <a:srgbClr val="00FF00"/>
          </a:solidFill>
          <a:ln w="22225">
            <a:solidFill>
              <a:srgbClr val="002060"/>
            </a:solidFill>
            <a:round/>
            <a:headEnd/>
            <a:tailEnd/>
          </a:ln>
        </p:spPr>
        <p:txBody>
          <a:bodyPr/>
          <a:lstStyle/>
          <a:p>
            <a:endParaRPr lang="en-US" sz="2800">
              <a:latin typeface="Times New Roman" pitchFamily="18" charset="0"/>
              <a:cs typeface="Times New Roman" pitchFamily="18" charset="0"/>
            </a:endParaRPr>
          </a:p>
        </p:txBody>
      </p:sp>
      <p:sp>
        <p:nvSpPr>
          <p:cNvPr id="11301" name="Line 20"/>
          <p:cNvSpPr>
            <a:spLocks noChangeShapeType="1"/>
          </p:cNvSpPr>
          <p:nvPr/>
        </p:nvSpPr>
        <p:spPr bwMode="auto">
          <a:xfrm flipV="1">
            <a:off x="7251700" y="4610100"/>
            <a:ext cx="1588" cy="1041400"/>
          </a:xfrm>
          <a:prstGeom prst="line">
            <a:avLst/>
          </a:prstGeom>
          <a:noFill/>
          <a:ln w="22225">
            <a:solidFill>
              <a:srgbClr val="000000"/>
            </a:solidFill>
            <a:round/>
            <a:headEnd type="oval" w="med" len="med"/>
            <a:tailEnd type="arrow" w="lg" len="lg"/>
          </a:ln>
          <a:extLst>
            <a:ext uri="{909E8E84-426E-40DD-AFC4-6F175D3DCCD1}">
              <a14:hiddenFill xmlns:a14="http://schemas.microsoft.com/office/drawing/2010/main">
                <a:noFill/>
              </a14:hiddenFill>
            </a:ext>
          </a:extLst>
        </p:spPr>
        <p:txBody>
          <a:bodyPr/>
          <a:lstStyle/>
          <a:p>
            <a:endParaRPr lang="en-US"/>
          </a:p>
        </p:txBody>
      </p:sp>
      <p:sp>
        <p:nvSpPr>
          <p:cNvPr id="32780" name="Text Box 24"/>
          <p:cNvSpPr txBox="1">
            <a:spLocks noChangeArrowheads="1"/>
          </p:cNvSpPr>
          <p:nvPr/>
        </p:nvSpPr>
        <p:spPr bwMode="auto">
          <a:xfrm>
            <a:off x="8339138" y="5621338"/>
            <a:ext cx="184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endParaRPr lang="en-US" sz="2800">
              <a:latin typeface="Times New Roman" pitchFamily="18" charset="0"/>
              <a:cs typeface="Times New Roman" pitchFamily="18" charset="0"/>
            </a:endParaRPr>
          </a:p>
        </p:txBody>
      </p:sp>
      <p:sp>
        <p:nvSpPr>
          <p:cNvPr id="32781" name="Text Box 25"/>
          <p:cNvSpPr txBox="1">
            <a:spLocks noChangeArrowheads="1"/>
          </p:cNvSpPr>
          <p:nvPr/>
        </p:nvSpPr>
        <p:spPr bwMode="auto">
          <a:xfrm>
            <a:off x="7477125" y="5400675"/>
            <a:ext cx="184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endParaRPr lang="en-US" sz="2800">
              <a:latin typeface="Times New Roman" pitchFamily="18" charset="0"/>
              <a:cs typeface="Times New Roman" pitchFamily="18" charset="0"/>
            </a:endParaRPr>
          </a:p>
        </p:txBody>
      </p:sp>
      <p:sp>
        <p:nvSpPr>
          <p:cNvPr id="11307" name="Text Box 26"/>
          <p:cNvSpPr txBox="1">
            <a:spLocks noChangeArrowheads="1"/>
          </p:cNvSpPr>
          <p:nvPr/>
        </p:nvSpPr>
        <p:spPr bwMode="auto">
          <a:xfrm>
            <a:off x="6786563" y="5449888"/>
            <a:ext cx="862012"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r>
              <a:rPr lang="en-US" sz="2800">
                <a:latin typeface="Times New Roman" pitchFamily="18" charset="0"/>
                <a:cs typeface="Times New Roman" pitchFamily="18" charset="0"/>
              </a:rPr>
              <a:t>O</a:t>
            </a:r>
          </a:p>
        </p:txBody>
      </p:sp>
      <p:sp>
        <p:nvSpPr>
          <p:cNvPr id="32783" name="Text Box 27"/>
          <p:cNvSpPr txBox="1">
            <a:spLocks noChangeArrowheads="1"/>
          </p:cNvSpPr>
          <p:nvPr/>
        </p:nvSpPr>
        <p:spPr bwMode="auto">
          <a:xfrm>
            <a:off x="7132638" y="4419600"/>
            <a:ext cx="184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endParaRPr lang="en-US" sz="2800">
              <a:latin typeface="Times New Roman" pitchFamily="18" charset="0"/>
              <a:cs typeface="Times New Roman" pitchFamily="18" charset="0"/>
            </a:endParaRPr>
          </a:p>
        </p:txBody>
      </p:sp>
      <p:graphicFrame>
        <p:nvGraphicFramePr>
          <p:cNvPr id="11270" name="Object 30"/>
          <p:cNvGraphicFramePr>
            <a:graphicFrameLocks noChangeAspect="1"/>
          </p:cNvGraphicFramePr>
          <p:nvPr/>
        </p:nvGraphicFramePr>
        <p:xfrm>
          <a:off x="6705600" y="4529138"/>
          <a:ext cx="628650" cy="503237"/>
        </p:xfrm>
        <a:graphic>
          <a:graphicData uri="http://schemas.openxmlformats.org/presentationml/2006/ole">
            <mc:AlternateContent xmlns:mc="http://schemas.openxmlformats.org/markup-compatibility/2006">
              <mc:Choice xmlns:v="urn:schemas-microsoft-com:vml" Requires="v">
                <p:oleObj name="Equation" r:id="rId2" imgW="139579" imgH="177646" progId="Equation.DSMT4">
                  <p:embed/>
                </p:oleObj>
              </mc:Choice>
              <mc:Fallback>
                <p:oleObj name="Equation" r:id="rId2" imgW="139579" imgH="177646"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4529138"/>
                        <a:ext cx="6286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Rounded Rectangle 28"/>
          <p:cNvSpPr>
            <a:spLocks noChangeArrowheads="1"/>
          </p:cNvSpPr>
          <p:nvPr/>
        </p:nvSpPr>
        <p:spPr bwMode="auto">
          <a:xfrm>
            <a:off x="609600" y="4648200"/>
            <a:ext cx="5257800" cy="1524000"/>
          </a:xfrm>
          <a:prstGeom prst="roundRect">
            <a:avLst>
              <a:gd name="adj" fmla="val 16667"/>
            </a:avLst>
          </a:prstGeom>
          <a:noFill/>
          <a:ln w="38100" algn="ctr">
            <a:solidFill>
              <a:srgbClr val="FF0000"/>
            </a:solidFill>
            <a:round/>
            <a:headEnd/>
            <a:tailEnd/>
          </a:ln>
          <a:effectLst>
            <a:glow rad="139700">
              <a:schemeClr val="accent2">
                <a:satMod val="175000"/>
                <a:alpha val="40000"/>
              </a:schemeClr>
            </a:glow>
            <a:outerShdw dist="38100" algn="l" rotWithShape="0">
              <a:srgbClr val="000000">
                <a:alpha val="39999"/>
              </a:srgbClr>
            </a:outerShdw>
          </a:effectLst>
        </p:spPr>
        <p:txBody>
          <a:bodyPr anchor="ctr"/>
          <a:lstStyle/>
          <a:p>
            <a:pPr algn="ctr">
              <a:defRPr/>
            </a:pPr>
            <a:endParaRPr lang="vi-VN">
              <a:solidFill>
                <a:schemeClr val="lt1"/>
              </a:solidFill>
              <a:latin typeface="Times New Roman" pitchFamily="18" charset="0"/>
              <a:cs typeface="Times New Roman" pitchFamily="18" charset="0"/>
            </a:endParaRPr>
          </a:p>
        </p:txBody>
      </p:sp>
      <p:sp>
        <p:nvSpPr>
          <p:cNvPr id="31" name="Oval 30"/>
          <p:cNvSpPr/>
          <p:nvPr/>
        </p:nvSpPr>
        <p:spPr>
          <a:xfrm>
            <a:off x="5334000" y="1216025"/>
            <a:ext cx="3124200" cy="3124200"/>
          </a:xfrm>
          <a:prstGeom prst="ellipse">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32" name="Oval 31"/>
          <p:cNvSpPr/>
          <p:nvPr/>
        </p:nvSpPr>
        <p:spPr>
          <a:xfrm>
            <a:off x="8229600" y="2054225"/>
            <a:ext cx="152400" cy="1524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33" name="Oval 32"/>
          <p:cNvSpPr/>
          <p:nvPr/>
        </p:nvSpPr>
        <p:spPr>
          <a:xfrm>
            <a:off x="8415338" y="2740025"/>
            <a:ext cx="76200" cy="76200"/>
          </a:xfrm>
          <a:prstGeom prst="ellipse">
            <a:avLst/>
          </a:prstGeom>
          <a:solidFill>
            <a:srgbClr val="61FF6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800"/>
              <a:t>     </a:t>
            </a:r>
          </a:p>
        </p:txBody>
      </p:sp>
      <p:sp>
        <p:nvSpPr>
          <p:cNvPr id="35" name="Oval 34"/>
          <p:cNvSpPr/>
          <p:nvPr/>
        </p:nvSpPr>
        <p:spPr>
          <a:xfrm>
            <a:off x="7315200" y="1230313"/>
            <a:ext cx="152400" cy="1524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36" name="Oval 35"/>
          <p:cNvSpPr/>
          <p:nvPr/>
        </p:nvSpPr>
        <p:spPr>
          <a:xfrm>
            <a:off x="6891338" y="2725738"/>
            <a:ext cx="76200" cy="76200"/>
          </a:xfrm>
          <a:prstGeom prst="ellipse">
            <a:avLst/>
          </a:prstGeom>
          <a:solidFill>
            <a:srgbClr val="61FF6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800"/>
              <a:t>      </a:t>
            </a:r>
          </a:p>
        </p:txBody>
      </p:sp>
      <p:cxnSp>
        <p:nvCxnSpPr>
          <p:cNvPr id="38" name="Straight Connector 37"/>
          <p:cNvCxnSpPr/>
          <p:nvPr/>
        </p:nvCxnSpPr>
        <p:spPr>
          <a:xfrm rot="5400000" flipH="1" flipV="1">
            <a:off x="7692231" y="2072482"/>
            <a:ext cx="1587" cy="1441450"/>
          </a:xfrm>
          <a:prstGeom prst="line">
            <a:avLst/>
          </a:prstGeom>
          <a:ln w="22225">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36" idx="7"/>
            <a:endCxn id="32" idx="3"/>
          </p:cNvCxnSpPr>
          <p:nvPr/>
        </p:nvCxnSpPr>
        <p:spPr>
          <a:xfrm rot="5400000" flipH="1" flipV="1">
            <a:off x="7327900" y="1812925"/>
            <a:ext cx="552450" cy="12954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6" idx="1"/>
            <a:endCxn id="35" idx="3"/>
          </p:cNvCxnSpPr>
          <p:nvPr/>
        </p:nvCxnSpPr>
        <p:spPr>
          <a:xfrm rot="5400000" flipH="1" flipV="1">
            <a:off x="6431757" y="1831181"/>
            <a:ext cx="1376362" cy="43497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3" name="Arc 42"/>
          <p:cNvSpPr/>
          <p:nvPr/>
        </p:nvSpPr>
        <p:spPr>
          <a:xfrm rot="1838966">
            <a:off x="7229475" y="2511425"/>
            <a:ext cx="365125" cy="360363"/>
          </a:xfrm>
          <a:prstGeom prst="arc">
            <a:avLst/>
          </a:prstGeom>
          <a:ln w="38100">
            <a:headEnd type="stealth" w="lg" len="med"/>
            <a:tailEnd type="non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1800"/>
          </a:p>
        </p:txBody>
      </p:sp>
      <p:sp>
        <p:nvSpPr>
          <p:cNvPr id="46" name="Arc 45"/>
          <p:cNvSpPr/>
          <p:nvPr/>
        </p:nvSpPr>
        <p:spPr>
          <a:xfrm rot="558690">
            <a:off x="6662738" y="2371725"/>
            <a:ext cx="628650" cy="703263"/>
          </a:xfrm>
          <a:prstGeom prst="arc">
            <a:avLst/>
          </a:prstGeom>
          <a:ln w="38100">
            <a:headEnd type="stealth" w="lg" len="med"/>
            <a:tailEnd type="non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1800"/>
          </a:p>
        </p:txBody>
      </p:sp>
      <p:sp>
        <p:nvSpPr>
          <p:cNvPr id="11297" name="Text Box 26"/>
          <p:cNvSpPr txBox="1">
            <a:spLocks noChangeArrowheads="1"/>
          </p:cNvSpPr>
          <p:nvPr/>
        </p:nvSpPr>
        <p:spPr bwMode="auto">
          <a:xfrm>
            <a:off x="6491288" y="2663825"/>
            <a:ext cx="366712"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r>
              <a:rPr lang="en-US" sz="2800">
                <a:latin typeface="Times New Roman" pitchFamily="18" charset="0"/>
                <a:cs typeface="Times New Roman" pitchFamily="18" charset="0"/>
              </a:rPr>
              <a:t>O</a:t>
            </a:r>
          </a:p>
        </p:txBody>
      </p:sp>
      <p:sp>
        <p:nvSpPr>
          <p:cNvPr id="11298" name="Text Box 26"/>
          <p:cNvSpPr txBox="1">
            <a:spLocks noChangeArrowheads="1"/>
          </p:cNvSpPr>
          <p:nvPr/>
        </p:nvSpPr>
        <p:spPr bwMode="auto">
          <a:xfrm>
            <a:off x="8382000" y="1825625"/>
            <a:ext cx="762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r>
              <a:rPr lang="en-US" sz="2800">
                <a:latin typeface="Times New Roman" pitchFamily="18" charset="0"/>
                <a:cs typeface="Times New Roman" pitchFamily="18" charset="0"/>
              </a:rPr>
              <a:t>M</a:t>
            </a:r>
            <a:r>
              <a:rPr lang="en-US" sz="2800" baseline="-25000">
                <a:latin typeface="Times New Roman" pitchFamily="18" charset="0"/>
                <a:cs typeface="Times New Roman" pitchFamily="18" charset="0"/>
              </a:rPr>
              <a:t>0</a:t>
            </a:r>
            <a:endParaRPr lang="en-US" sz="2800">
              <a:latin typeface="Times New Roman" pitchFamily="18" charset="0"/>
              <a:cs typeface="Times New Roman" pitchFamily="18" charset="0"/>
            </a:endParaRPr>
          </a:p>
        </p:txBody>
      </p:sp>
      <p:sp>
        <p:nvSpPr>
          <p:cNvPr id="11299" name="Text Box 26"/>
          <p:cNvSpPr txBox="1">
            <a:spLocks noChangeArrowheads="1"/>
          </p:cNvSpPr>
          <p:nvPr/>
        </p:nvSpPr>
        <p:spPr bwMode="auto">
          <a:xfrm>
            <a:off x="7162800" y="762000"/>
            <a:ext cx="36671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r>
              <a:rPr lang="en-US" sz="2800">
                <a:latin typeface="Times New Roman" pitchFamily="18" charset="0"/>
                <a:cs typeface="Times New Roman" pitchFamily="18" charset="0"/>
              </a:rPr>
              <a:t>M</a:t>
            </a:r>
          </a:p>
        </p:txBody>
      </p:sp>
      <p:graphicFrame>
        <p:nvGraphicFramePr>
          <p:cNvPr id="3" name="Object 47"/>
          <p:cNvGraphicFramePr>
            <a:graphicFrameLocks noChangeAspect="1"/>
          </p:cNvGraphicFramePr>
          <p:nvPr/>
        </p:nvGraphicFramePr>
        <p:xfrm>
          <a:off x="7162800" y="2151063"/>
          <a:ext cx="265113" cy="363537"/>
        </p:xfrm>
        <a:graphic>
          <a:graphicData uri="http://schemas.openxmlformats.org/presentationml/2006/ole">
            <mc:AlternateContent xmlns:mc="http://schemas.openxmlformats.org/markup-compatibility/2006">
              <mc:Choice xmlns:v="urn:schemas-microsoft-com:vml" Requires="v">
                <p:oleObj name="Equation" r:id="rId4" imgW="0" imgH="57285" progId="Equation.DSMT4">
                  <p:embed/>
                </p:oleObj>
              </mc:Choice>
              <mc:Fallback>
                <p:oleObj name="Equation" r:id="rId4" imgW="0" imgH="57285"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2800" y="2151063"/>
                        <a:ext cx="265113"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49"/>
          <p:cNvGraphicFramePr>
            <a:graphicFrameLocks noChangeAspect="1"/>
          </p:cNvGraphicFramePr>
          <p:nvPr/>
        </p:nvGraphicFramePr>
        <p:xfrm>
          <a:off x="7951788" y="1257300"/>
          <a:ext cx="277812" cy="376238"/>
        </p:xfrm>
        <a:graphic>
          <a:graphicData uri="http://schemas.openxmlformats.org/presentationml/2006/ole">
            <mc:AlternateContent xmlns:mc="http://schemas.openxmlformats.org/markup-compatibility/2006">
              <mc:Choice xmlns:v="urn:schemas-microsoft-com:vml" Requires="v">
                <p:oleObj name="Equation" r:id="rId6" imgW="0" imgH="28643" progId="Equation.DSMT4">
                  <p:embed/>
                </p:oleObj>
              </mc:Choice>
              <mc:Fallback>
                <p:oleObj name="Equation" r:id="rId6" imgW="0" imgH="2864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51788" y="1257300"/>
                        <a:ext cx="277812"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50" name="Straight Arrow Connector 49"/>
          <p:cNvCxnSpPr/>
          <p:nvPr/>
        </p:nvCxnSpPr>
        <p:spPr>
          <a:xfrm flipV="1">
            <a:off x="8107363" y="5872163"/>
            <a:ext cx="85725" cy="49212"/>
          </a:xfrm>
          <a:prstGeom prst="straightConnector1">
            <a:avLst/>
          </a:prstGeom>
          <a:ln w="25400">
            <a:solidFill>
              <a:srgbClr val="FF0000"/>
            </a:solidFill>
            <a:headEnd w="lg" len="lg"/>
            <a:tailEnd type="arrow" w="lg" len="lg"/>
          </a:ln>
        </p:spPr>
        <p:style>
          <a:lnRef idx="1">
            <a:schemeClr val="accent1"/>
          </a:lnRef>
          <a:fillRef idx="0">
            <a:schemeClr val="accent1"/>
          </a:fillRef>
          <a:effectRef idx="0">
            <a:schemeClr val="accent1"/>
          </a:effectRef>
          <a:fontRef idx="minor">
            <a:schemeClr val="tx1"/>
          </a:fontRef>
        </p:style>
      </p:cxnSp>
      <p:sp>
        <p:nvSpPr>
          <p:cNvPr id="48" name="Rectangle 47"/>
          <p:cNvSpPr>
            <a:spLocks noChangeArrowheads="1"/>
          </p:cNvSpPr>
          <p:nvPr/>
        </p:nvSpPr>
        <p:spPr bwMode="auto">
          <a:xfrm>
            <a:off x="7662863" y="2298700"/>
            <a:ext cx="5461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800">
                <a:solidFill>
                  <a:srgbClr val="1109B7"/>
                </a:solidFill>
                <a:latin typeface="Times New Roman" pitchFamily="18" charset="0"/>
                <a:cs typeface="Times New Roman" pitchFamily="18" charset="0"/>
              </a:rPr>
              <a:t>θ˳</a:t>
            </a:r>
          </a:p>
        </p:txBody>
      </p:sp>
      <p:sp>
        <p:nvSpPr>
          <p:cNvPr id="49" name="Rectangle 48"/>
          <p:cNvSpPr>
            <a:spLocks noChangeArrowheads="1"/>
          </p:cNvSpPr>
          <p:nvPr/>
        </p:nvSpPr>
        <p:spPr bwMode="auto">
          <a:xfrm>
            <a:off x="7296150" y="1825625"/>
            <a:ext cx="5461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800">
                <a:solidFill>
                  <a:srgbClr val="1109B7"/>
                </a:solidFill>
                <a:latin typeface="Times New Roman" pitchFamily="18" charset="0"/>
                <a:cs typeface="Times New Roman" pitchFamily="18" charset="0"/>
              </a:rPr>
              <a:t>θ</a:t>
            </a:r>
          </a:p>
        </p:txBody>
      </p:sp>
      <p:sp>
        <p:nvSpPr>
          <p:cNvPr id="51" name="Rectangle 50"/>
          <p:cNvSpPr>
            <a:spLocks noChangeArrowheads="1"/>
          </p:cNvSpPr>
          <p:nvPr/>
        </p:nvSpPr>
        <p:spPr bwMode="auto">
          <a:xfrm>
            <a:off x="5867400" y="3276600"/>
            <a:ext cx="17367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l-GR" sz="2800">
                <a:solidFill>
                  <a:srgbClr val="1109B7"/>
                </a:solidFill>
                <a:latin typeface="Times New Roman" pitchFamily="18" charset="0"/>
                <a:cs typeface="Times New Roman" pitchFamily="18" charset="0"/>
              </a:rPr>
              <a:t>Δ</a:t>
            </a:r>
            <a:r>
              <a:rPr lang="en-US" sz="2800">
                <a:solidFill>
                  <a:srgbClr val="1109B7"/>
                </a:solidFill>
                <a:latin typeface="Times New Roman" pitchFamily="18" charset="0"/>
                <a:cs typeface="Times New Roman" pitchFamily="18" charset="0"/>
              </a:rPr>
              <a:t>θ = </a:t>
            </a:r>
            <a:r>
              <a:rPr lang="el-GR" sz="2800">
                <a:solidFill>
                  <a:srgbClr val="1109B7"/>
                </a:solidFill>
                <a:latin typeface="Times New Roman" pitchFamily="18" charset="0"/>
                <a:cs typeface="Times New Roman" pitchFamily="18" charset="0"/>
              </a:rPr>
              <a:t>θ</a:t>
            </a:r>
            <a:r>
              <a:rPr lang="en-US" sz="2800">
                <a:solidFill>
                  <a:srgbClr val="1109B7"/>
                </a:solidFill>
                <a:latin typeface="Times New Roman" pitchFamily="18" charset="0"/>
                <a:cs typeface="Times New Roman" pitchFamily="18" charset="0"/>
              </a:rPr>
              <a:t> - </a:t>
            </a:r>
            <a:r>
              <a:rPr lang="el-GR" sz="2800">
                <a:solidFill>
                  <a:srgbClr val="1109B7"/>
                </a:solidFill>
                <a:latin typeface="Times New Roman" pitchFamily="18" charset="0"/>
                <a:cs typeface="Times New Roman" pitchFamily="18" charset="0"/>
              </a:rPr>
              <a:t>θ˳</a:t>
            </a:r>
            <a:endParaRPr lang="en-US" sz="2800">
              <a:solidFill>
                <a:srgbClr val="1109B7"/>
              </a:solidFill>
              <a:latin typeface="Times New Roman" pitchFamily="18" charset="0"/>
              <a:cs typeface="Times New Roman" pitchFamily="18" charset="0"/>
            </a:endParaRPr>
          </a:p>
        </p:txBody>
      </p:sp>
      <p:sp>
        <p:nvSpPr>
          <p:cNvPr id="52" name="Rectangle 51"/>
          <p:cNvSpPr>
            <a:spLocks noRot="1" noChangeAspect="1" noMove="1" noResize="1" noEditPoints="1" noAdjustHandles="1" noChangeArrowheads="1" noChangeShapeType="1" noTextEdit="1"/>
          </p:cNvSpPr>
          <p:nvPr/>
        </p:nvSpPr>
        <p:spPr bwMode="auto">
          <a:xfrm>
            <a:off x="1555750" y="2464128"/>
            <a:ext cx="1917700" cy="896079"/>
          </a:xfrm>
          <a:prstGeom prst="rect">
            <a:avLst/>
          </a:prstGeom>
          <a:blipFill rotWithShape="1">
            <a:blip r:embed="rId8"/>
            <a:stretch>
              <a:fillRect b="-8844"/>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53" name="Rectangle 52"/>
          <p:cNvSpPr>
            <a:spLocks noRot="1" noChangeAspect="1" noMove="1" noResize="1" noEditPoints="1" noAdjustHandles="1" noChangeArrowheads="1" noChangeShapeType="1" noTextEdit="1"/>
          </p:cNvSpPr>
          <p:nvPr/>
        </p:nvSpPr>
        <p:spPr bwMode="auto">
          <a:xfrm>
            <a:off x="762000" y="4925284"/>
            <a:ext cx="4343400" cy="904478"/>
          </a:xfrm>
          <a:prstGeom prst="rect">
            <a:avLst/>
          </a:prstGeom>
          <a:blipFill rotWithShape="1">
            <a:blip r:embed="rId9"/>
            <a:stretch>
              <a:fillRect l="-4208" b="-9459"/>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2" name="Footer Placeholder 1">
            <a:extLst>
              <a:ext uri="{FF2B5EF4-FFF2-40B4-BE49-F238E27FC236}">
                <a16:creationId xmlns:a16="http://schemas.microsoft.com/office/drawing/2014/main" id="{4BF67B01-56D0-54E2-AF1A-751F1ECA50AF}"/>
              </a:ext>
            </a:extLst>
          </p:cNvPr>
          <p:cNvSpPr>
            <a:spLocks noGrp="1"/>
          </p:cNvSpPr>
          <p:nvPr>
            <p:ph type="ftr" sz="quarter" idx="11"/>
          </p:nvPr>
        </p:nvSpPr>
        <p:spPr/>
        <p:txBody>
          <a:bodyPr/>
          <a:lstStyle/>
          <a:p>
            <a:r>
              <a:rPr lang="en-US"/>
              <a:t>Bùi Quốc Trung - VLDC</a:t>
            </a:r>
          </a:p>
        </p:txBody>
      </p:sp>
      <p:sp>
        <p:nvSpPr>
          <p:cNvPr id="4" name="Slide Number Placeholder 3">
            <a:extLst>
              <a:ext uri="{FF2B5EF4-FFF2-40B4-BE49-F238E27FC236}">
                <a16:creationId xmlns:a16="http://schemas.microsoft.com/office/drawing/2014/main" id="{04FD662A-51A6-A208-5896-3468D62AFA9F}"/>
              </a:ext>
            </a:extLst>
          </p:cNvPr>
          <p:cNvSpPr>
            <a:spLocks noGrp="1"/>
          </p:cNvSpPr>
          <p:nvPr>
            <p:ph type="sldNum" sz="quarter" idx="12"/>
          </p:nvPr>
        </p:nvSpPr>
        <p:spPr/>
        <p:txBody>
          <a:bodyPr/>
          <a:lstStyle/>
          <a:p>
            <a:fld id="{C4A94DE9-7404-4CC4-BDD8-EA2E97866C70}" type="slidenum">
              <a:rPr lang="en-US" smtClean="0"/>
              <a:t>52</a:t>
            </a:fld>
            <a:endParaRPr lang="en-US"/>
          </a:p>
        </p:txBody>
      </p:sp>
    </p:spTree>
    <p:extLst>
      <p:ext uri="{BB962C8B-B14F-4D97-AF65-F5344CB8AC3E}">
        <p14:creationId xmlns:p14="http://schemas.microsoft.com/office/powerpoint/2010/main" val="249376749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randombar(horizontal)">
                                      <p:cBhvr>
                                        <p:cTn id="7" dur="500"/>
                                        <p:tgtEl>
                                          <p:spTgt spid="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diamond(out)">
                                      <p:cBhvr>
                                        <p:cTn id="12" dur="1000"/>
                                        <p:tgtEl>
                                          <p:spTgt spid="31"/>
                                        </p:tgtEl>
                                      </p:cBhvr>
                                    </p:animEffect>
                                  </p:childTnLst>
                                </p:cTn>
                              </p:par>
                            </p:childTnLst>
                          </p:cTn>
                        </p:par>
                        <p:par>
                          <p:cTn id="13" fill="hold" nodeType="afterGroup">
                            <p:stCondLst>
                              <p:cond delay="1000"/>
                            </p:stCondLst>
                            <p:childTnLst>
                              <p:par>
                                <p:cTn id="14" presetID="8" presetClass="entr" presetSubtype="32" fill="hold" grpId="0" nodeType="after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diamond(out)">
                                      <p:cBhvr>
                                        <p:cTn id="16" dur="1000"/>
                                        <p:tgtEl>
                                          <p:spTgt spid="36"/>
                                        </p:tgtEl>
                                      </p:cBhvr>
                                    </p:animEffect>
                                  </p:childTnLst>
                                </p:cTn>
                              </p:par>
                            </p:childTnLst>
                          </p:cTn>
                        </p:par>
                        <p:par>
                          <p:cTn id="17" fill="hold" nodeType="afterGroup">
                            <p:stCondLst>
                              <p:cond delay="2000"/>
                            </p:stCondLst>
                            <p:childTnLst>
                              <p:par>
                                <p:cTn id="18" presetID="8" presetClass="entr" presetSubtype="32" fill="hold" grpId="0" nodeType="afterEffect">
                                  <p:stCondLst>
                                    <p:cond delay="0"/>
                                  </p:stCondLst>
                                  <p:childTnLst>
                                    <p:set>
                                      <p:cBhvr>
                                        <p:cTn id="19" dur="1" fill="hold">
                                          <p:stCondLst>
                                            <p:cond delay="0"/>
                                          </p:stCondLst>
                                        </p:cTn>
                                        <p:tgtEl>
                                          <p:spTgt spid="11297"/>
                                        </p:tgtEl>
                                        <p:attrNameLst>
                                          <p:attrName>style.visibility</p:attrName>
                                        </p:attrNameLst>
                                      </p:cBhvr>
                                      <p:to>
                                        <p:strVal val="visible"/>
                                      </p:to>
                                    </p:set>
                                    <p:animEffect transition="in" filter="diamond(out)">
                                      <p:cBhvr>
                                        <p:cTn id="20" dur="1000"/>
                                        <p:tgtEl>
                                          <p:spTgt spid="1129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8" presetClass="entr" presetSubtype="32"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diamond(out)">
                                      <p:cBhvr>
                                        <p:cTn id="25" dur="1000"/>
                                        <p:tgtEl>
                                          <p:spTgt spid="32"/>
                                        </p:tgtEl>
                                      </p:cBhvr>
                                    </p:animEffect>
                                  </p:childTnLst>
                                </p:cTn>
                              </p:par>
                            </p:childTnLst>
                          </p:cTn>
                        </p:par>
                        <p:par>
                          <p:cTn id="26" fill="hold" nodeType="afterGroup">
                            <p:stCondLst>
                              <p:cond delay="1000"/>
                            </p:stCondLst>
                            <p:childTnLst>
                              <p:par>
                                <p:cTn id="27" presetID="8" presetClass="entr" presetSubtype="32" fill="hold" grpId="0" nodeType="afterEffect">
                                  <p:stCondLst>
                                    <p:cond delay="0"/>
                                  </p:stCondLst>
                                  <p:childTnLst>
                                    <p:set>
                                      <p:cBhvr>
                                        <p:cTn id="28" dur="1" fill="hold">
                                          <p:stCondLst>
                                            <p:cond delay="0"/>
                                          </p:stCondLst>
                                        </p:cTn>
                                        <p:tgtEl>
                                          <p:spTgt spid="11298"/>
                                        </p:tgtEl>
                                        <p:attrNameLst>
                                          <p:attrName>style.visibility</p:attrName>
                                        </p:attrNameLst>
                                      </p:cBhvr>
                                      <p:to>
                                        <p:strVal val="visible"/>
                                      </p:to>
                                    </p:set>
                                    <p:animEffect transition="in" filter="diamond(out)">
                                      <p:cBhvr>
                                        <p:cTn id="29" dur="1000"/>
                                        <p:tgtEl>
                                          <p:spTgt spid="11298"/>
                                        </p:tgtEl>
                                      </p:cBhvr>
                                    </p:animEffect>
                                  </p:childTnLst>
                                </p:cTn>
                              </p:par>
                            </p:childTnLst>
                          </p:cTn>
                        </p:par>
                        <p:par>
                          <p:cTn id="30" fill="hold" nodeType="afterGroup">
                            <p:stCondLst>
                              <p:cond delay="2000"/>
                            </p:stCondLst>
                            <p:childTnLst>
                              <p:par>
                                <p:cTn id="31" presetID="8" presetClass="entr" presetSubtype="32" fill="hold" nodeType="afterEffect">
                                  <p:stCondLst>
                                    <p:cond delay="0"/>
                                  </p:stCondLst>
                                  <p:childTnLst>
                                    <p:set>
                                      <p:cBhvr>
                                        <p:cTn id="32" dur="1" fill="hold">
                                          <p:stCondLst>
                                            <p:cond delay="0"/>
                                          </p:stCondLst>
                                        </p:cTn>
                                        <p:tgtEl>
                                          <p:spTgt spid="40"/>
                                        </p:tgtEl>
                                        <p:attrNameLst>
                                          <p:attrName>style.visibility</p:attrName>
                                        </p:attrNameLst>
                                      </p:cBhvr>
                                      <p:to>
                                        <p:strVal val="visible"/>
                                      </p:to>
                                    </p:set>
                                    <p:animEffect transition="in" filter="diamond(out)">
                                      <p:cBhvr>
                                        <p:cTn id="33" dur="1000"/>
                                        <p:tgtEl>
                                          <p:spTgt spid="4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8" presetClass="entr" presetSubtype="32" fill="hold" nodeType="click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diamond(out)">
                                      <p:cBhvr>
                                        <p:cTn id="38" dur="1000"/>
                                        <p:tgtEl>
                                          <p:spTgt spid="38"/>
                                        </p:tgtEl>
                                      </p:cBhvr>
                                    </p:animEffect>
                                  </p:childTnLst>
                                </p:cTn>
                              </p:par>
                            </p:childTnLst>
                          </p:cTn>
                        </p:par>
                        <p:par>
                          <p:cTn id="39" fill="hold" nodeType="afterGroup">
                            <p:stCondLst>
                              <p:cond delay="1000"/>
                            </p:stCondLst>
                            <p:childTnLst>
                              <p:par>
                                <p:cTn id="40" presetID="8" presetClass="entr" presetSubtype="16" fill="hold" grpId="0" nodeType="after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diamond(in)">
                                      <p:cBhvr>
                                        <p:cTn id="42" dur="1000"/>
                                        <p:tgtEl>
                                          <p:spTgt spid="33"/>
                                        </p:tgtEl>
                                      </p:cBhvr>
                                    </p:animEffect>
                                  </p:childTnLst>
                                </p:cTn>
                              </p:par>
                            </p:childTnLst>
                          </p:cTn>
                        </p:par>
                        <p:par>
                          <p:cTn id="43" fill="hold" nodeType="afterGroup">
                            <p:stCondLst>
                              <p:cond delay="2000"/>
                            </p:stCondLst>
                            <p:childTnLst>
                              <p:par>
                                <p:cTn id="44" presetID="14" presetClass="entr" presetSubtype="10" fill="hold" grpId="0" nodeType="afterEffect">
                                  <p:stCondLst>
                                    <p:cond delay="0"/>
                                  </p:stCondLst>
                                  <p:childTnLst>
                                    <p:set>
                                      <p:cBhvr>
                                        <p:cTn id="45" dur="1" fill="hold">
                                          <p:stCondLst>
                                            <p:cond delay="0"/>
                                          </p:stCondLst>
                                        </p:cTn>
                                        <p:tgtEl>
                                          <p:spTgt spid="48"/>
                                        </p:tgtEl>
                                        <p:attrNameLst>
                                          <p:attrName>style.visibility</p:attrName>
                                        </p:attrNameLst>
                                      </p:cBhvr>
                                      <p:to>
                                        <p:strVal val="visible"/>
                                      </p:to>
                                    </p:set>
                                    <p:animEffect transition="in" filter="randombar(horizontal)">
                                      <p:cBhvr>
                                        <p:cTn id="46" dur="500"/>
                                        <p:tgtEl>
                                          <p:spTgt spid="48"/>
                                        </p:tgtEl>
                                      </p:cBhvr>
                                    </p:animEffect>
                                  </p:childTnLst>
                                </p:cTn>
                              </p:par>
                            </p:childTnLst>
                          </p:cTn>
                        </p:par>
                        <p:par>
                          <p:cTn id="47" fill="hold" nodeType="afterGroup">
                            <p:stCondLst>
                              <p:cond delay="2500"/>
                            </p:stCondLst>
                            <p:childTnLst>
                              <p:par>
                                <p:cTn id="48" presetID="8" presetClass="entr" presetSubtype="32" fill="hold" nodeType="afterEffect">
                                  <p:stCondLst>
                                    <p:cond delay="0"/>
                                  </p:stCondLst>
                                  <p:childTnLst>
                                    <p:set>
                                      <p:cBhvr>
                                        <p:cTn id="49" dur="1" fill="hold">
                                          <p:stCondLst>
                                            <p:cond delay="0"/>
                                          </p:stCondLst>
                                        </p:cTn>
                                        <p:tgtEl>
                                          <p:spTgt spid="43"/>
                                        </p:tgtEl>
                                        <p:attrNameLst>
                                          <p:attrName>style.visibility</p:attrName>
                                        </p:attrNameLst>
                                      </p:cBhvr>
                                      <p:to>
                                        <p:strVal val="visible"/>
                                      </p:to>
                                    </p:set>
                                    <p:animEffect transition="in" filter="diamond(out)">
                                      <p:cBhvr>
                                        <p:cTn id="50" dur="1000"/>
                                        <p:tgtEl>
                                          <p:spTgt spid="4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8" presetClass="entr" presetSubtype="32" fill="hold" grpId="0" nodeType="click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diamond(out)">
                                      <p:cBhvr>
                                        <p:cTn id="55" dur="1000"/>
                                        <p:tgtEl>
                                          <p:spTgt spid="35"/>
                                        </p:tgtEl>
                                      </p:cBhvr>
                                    </p:animEffect>
                                  </p:childTnLst>
                                </p:cTn>
                              </p:par>
                            </p:childTnLst>
                          </p:cTn>
                        </p:par>
                        <p:par>
                          <p:cTn id="56" fill="hold" nodeType="afterGroup">
                            <p:stCondLst>
                              <p:cond delay="1500"/>
                            </p:stCondLst>
                            <p:childTnLst>
                              <p:par>
                                <p:cTn id="57" presetID="8" presetClass="entr" presetSubtype="32" fill="hold" grpId="0" nodeType="afterEffect">
                                  <p:stCondLst>
                                    <p:cond delay="0"/>
                                  </p:stCondLst>
                                  <p:childTnLst>
                                    <p:set>
                                      <p:cBhvr>
                                        <p:cTn id="58" dur="1" fill="hold">
                                          <p:stCondLst>
                                            <p:cond delay="0"/>
                                          </p:stCondLst>
                                        </p:cTn>
                                        <p:tgtEl>
                                          <p:spTgt spid="11299"/>
                                        </p:tgtEl>
                                        <p:attrNameLst>
                                          <p:attrName>style.visibility</p:attrName>
                                        </p:attrNameLst>
                                      </p:cBhvr>
                                      <p:to>
                                        <p:strVal val="visible"/>
                                      </p:to>
                                    </p:set>
                                    <p:animEffect transition="in" filter="diamond(out)">
                                      <p:cBhvr>
                                        <p:cTn id="59" dur="1000"/>
                                        <p:tgtEl>
                                          <p:spTgt spid="11299"/>
                                        </p:tgtEl>
                                      </p:cBhvr>
                                    </p:animEffect>
                                  </p:childTnLst>
                                </p:cTn>
                              </p:par>
                            </p:childTnLst>
                          </p:cTn>
                        </p:par>
                        <p:par>
                          <p:cTn id="60" fill="hold" nodeType="afterGroup">
                            <p:stCondLst>
                              <p:cond delay="2500"/>
                            </p:stCondLst>
                            <p:childTnLst>
                              <p:par>
                                <p:cTn id="61" presetID="8" presetClass="entr" presetSubtype="32" fill="hold" nodeType="afterEffect">
                                  <p:stCondLst>
                                    <p:cond delay="0"/>
                                  </p:stCondLst>
                                  <p:childTnLst>
                                    <p:set>
                                      <p:cBhvr>
                                        <p:cTn id="62" dur="1" fill="hold">
                                          <p:stCondLst>
                                            <p:cond delay="0"/>
                                          </p:stCondLst>
                                        </p:cTn>
                                        <p:tgtEl>
                                          <p:spTgt spid="42"/>
                                        </p:tgtEl>
                                        <p:attrNameLst>
                                          <p:attrName>style.visibility</p:attrName>
                                        </p:attrNameLst>
                                      </p:cBhvr>
                                      <p:to>
                                        <p:strVal val="visible"/>
                                      </p:to>
                                    </p:set>
                                    <p:animEffect transition="in" filter="diamond(out)">
                                      <p:cBhvr>
                                        <p:cTn id="63" dur="1000"/>
                                        <p:tgtEl>
                                          <p:spTgt spid="42"/>
                                        </p:tgtEl>
                                      </p:cBhvr>
                                    </p:animEffect>
                                  </p:childTnLst>
                                </p:cTn>
                              </p:par>
                            </p:childTnLst>
                          </p:cTn>
                        </p:par>
                        <p:par>
                          <p:cTn id="64" fill="hold" nodeType="afterGroup">
                            <p:stCondLst>
                              <p:cond delay="3500"/>
                            </p:stCondLst>
                            <p:childTnLst>
                              <p:par>
                                <p:cTn id="65" presetID="14" presetClass="entr" presetSubtype="10" fill="hold" grpId="0" nodeType="after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randombar(horizontal)">
                                      <p:cBhvr>
                                        <p:cTn id="67" dur="500"/>
                                        <p:tgtEl>
                                          <p:spTgt spid="4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8" presetClass="entr" presetSubtype="32" fill="hold" nodeType="click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diamond(out)">
                                      <p:cBhvr>
                                        <p:cTn id="72" dur="1000"/>
                                        <p:tgtEl>
                                          <p:spTgt spid="46"/>
                                        </p:tgtEl>
                                      </p:cBhvr>
                                    </p:animEffect>
                                  </p:childTnLst>
                                </p:cTn>
                              </p:par>
                            </p:childTnLst>
                          </p:cTn>
                        </p:par>
                        <p:par>
                          <p:cTn id="73" fill="hold" nodeType="afterGroup">
                            <p:stCondLst>
                              <p:cond delay="1000"/>
                            </p:stCondLst>
                            <p:childTnLst>
                              <p:par>
                                <p:cTn id="74" presetID="8" presetClass="entr" presetSubtype="32" fill="hold" nodeType="afterEffect">
                                  <p:stCondLst>
                                    <p:cond delay="0"/>
                                  </p:stCondLst>
                                  <p:childTnLst>
                                    <p:set>
                                      <p:cBhvr>
                                        <p:cTn id="75" dur="1" fill="hold">
                                          <p:stCondLst>
                                            <p:cond delay="0"/>
                                          </p:stCondLst>
                                        </p:cTn>
                                        <p:tgtEl>
                                          <p:spTgt spid="3"/>
                                        </p:tgtEl>
                                        <p:attrNameLst>
                                          <p:attrName>style.visibility</p:attrName>
                                        </p:attrNameLst>
                                      </p:cBhvr>
                                      <p:to>
                                        <p:strVal val="visible"/>
                                      </p:to>
                                    </p:set>
                                    <p:animEffect transition="in" filter="diamond(out)">
                                      <p:cBhvr>
                                        <p:cTn id="76" dur="1000"/>
                                        <p:tgtEl>
                                          <p:spTgt spid="3"/>
                                        </p:tgtEl>
                                      </p:cBhvr>
                                    </p:animEffect>
                                  </p:childTnLst>
                                </p:cTn>
                              </p:par>
                            </p:childTnLst>
                          </p:cTn>
                        </p:par>
                        <p:par>
                          <p:cTn id="77" fill="hold" nodeType="afterGroup">
                            <p:stCondLst>
                              <p:cond delay="2000"/>
                            </p:stCondLst>
                            <p:childTnLst>
                              <p:par>
                                <p:cTn id="78" presetID="14" presetClass="entr" presetSubtype="10" fill="hold" grpId="0" nodeType="afterEffect">
                                  <p:stCondLst>
                                    <p:cond delay="0"/>
                                  </p:stCondLst>
                                  <p:childTnLst>
                                    <p:set>
                                      <p:cBhvr>
                                        <p:cTn id="79" dur="1" fill="hold">
                                          <p:stCondLst>
                                            <p:cond delay="0"/>
                                          </p:stCondLst>
                                        </p:cTn>
                                        <p:tgtEl>
                                          <p:spTgt spid="51"/>
                                        </p:tgtEl>
                                        <p:attrNameLst>
                                          <p:attrName>style.visibility</p:attrName>
                                        </p:attrNameLst>
                                      </p:cBhvr>
                                      <p:to>
                                        <p:strVal val="visible"/>
                                      </p:to>
                                    </p:set>
                                    <p:animEffect transition="in" filter="randombar(horizontal)">
                                      <p:cBhvr>
                                        <p:cTn id="80" dur="500"/>
                                        <p:tgtEl>
                                          <p:spTgt spid="51"/>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8" presetClass="entr" presetSubtype="32" fill="hold" nodeType="clickEffect">
                                  <p:stCondLst>
                                    <p:cond delay="0"/>
                                  </p:stCondLst>
                                  <p:childTnLst>
                                    <p:set>
                                      <p:cBhvr>
                                        <p:cTn id="84" dur="1" fill="hold">
                                          <p:stCondLst>
                                            <p:cond delay="0"/>
                                          </p:stCondLst>
                                        </p:cTn>
                                        <p:tgtEl>
                                          <p:spTgt spid="6"/>
                                        </p:tgtEl>
                                        <p:attrNameLst>
                                          <p:attrName>style.visibility</p:attrName>
                                        </p:attrNameLst>
                                      </p:cBhvr>
                                      <p:to>
                                        <p:strVal val="visible"/>
                                      </p:to>
                                    </p:set>
                                    <p:animEffect transition="in" filter="diamond(out)">
                                      <p:cBhvr>
                                        <p:cTn id="85" dur="1000"/>
                                        <p:tgtEl>
                                          <p:spTgt spid="6"/>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14" presetClass="entr" presetSubtype="10" fill="hold" grpId="0" nodeType="clickEffect">
                                  <p:stCondLst>
                                    <p:cond delay="0"/>
                                  </p:stCondLst>
                                  <p:childTnLst>
                                    <p:set>
                                      <p:cBhvr>
                                        <p:cTn id="89" dur="1" fill="hold">
                                          <p:stCondLst>
                                            <p:cond delay="0"/>
                                          </p:stCondLst>
                                        </p:cTn>
                                        <p:tgtEl>
                                          <p:spTgt spid="68"/>
                                        </p:tgtEl>
                                        <p:attrNameLst>
                                          <p:attrName>style.visibility</p:attrName>
                                        </p:attrNameLst>
                                      </p:cBhvr>
                                      <p:to>
                                        <p:strVal val="visible"/>
                                      </p:to>
                                    </p:set>
                                    <p:animEffect transition="in" filter="randombar(horizontal)">
                                      <p:cBhvr>
                                        <p:cTn id="90" dur="500"/>
                                        <p:tgtEl>
                                          <p:spTgt spid="68"/>
                                        </p:tgtEl>
                                      </p:cBhvr>
                                    </p:animEffect>
                                  </p:childTnLst>
                                </p:cTn>
                              </p:par>
                            </p:childTnLst>
                          </p:cTn>
                        </p:par>
                        <p:par>
                          <p:cTn id="91" fill="hold" nodeType="afterGroup">
                            <p:stCondLst>
                              <p:cond delay="500"/>
                            </p:stCondLst>
                            <p:childTnLst>
                              <p:par>
                                <p:cTn id="92" presetID="14" presetClass="entr" presetSubtype="10" fill="hold" grpId="0" nodeType="afterEffect">
                                  <p:stCondLst>
                                    <p:cond delay="0"/>
                                  </p:stCondLst>
                                  <p:childTnLst>
                                    <p:set>
                                      <p:cBhvr>
                                        <p:cTn id="93" dur="1" fill="hold">
                                          <p:stCondLst>
                                            <p:cond delay="0"/>
                                          </p:stCondLst>
                                        </p:cTn>
                                        <p:tgtEl>
                                          <p:spTgt spid="65"/>
                                        </p:tgtEl>
                                        <p:attrNameLst>
                                          <p:attrName>style.visibility</p:attrName>
                                        </p:attrNameLst>
                                      </p:cBhvr>
                                      <p:to>
                                        <p:strVal val="visible"/>
                                      </p:to>
                                    </p:set>
                                    <p:animEffect transition="in" filter="randombar(horizontal)">
                                      <p:cBhvr>
                                        <p:cTn id="94" dur="500"/>
                                        <p:tgtEl>
                                          <p:spTgt spid="65"/>
                                        </p:tgtEl>
                                      </p:cBhvr>
                                    </p:animEffect>
                                  </p:childTnLst>
                                </p:cTn>
                              </p:par>
                            </p:childTnLst>
                          </p:cTn>
                        </p:par>
                        <p:par>
                          <p:cTn id="95" fill="hold" nodeType="afterGroup">
                            <p:stCondLst>
                              <p:cond delay="1000"/>
                            </p:stCondLst>
                            <p:childTnLst>
                              <p:par>
                                <p:cTn id="96" presetID="14" presetClass="entr" presetSubtype="10" fill="hold" nodeType="afterEffect">
                                  <p:stCondLst>
                                    <p:cond delay="0"/>
                                  </p:stCondLst>
                                  <p:childTnLst>
                                    <p:set>
                                      <p:cBhvr>
                                        <p:cTn id="97" dur="1" fill="hold">
                                          <p:stCondLst>
                                            <p:cond delay="0"/>
                                          </p:stCondLst>
                                        </p:cTn>
                                        <p:tgtEl>
                                          <p:spTgt spid="52"/>
                                        </p:tgtEl>
                                        <p:attrNameLst>
                                          <p:attrName>style.visibility</p:attrName>
                                        </p:attrNameLst>
                                      </p:cBhvr>
                                      <p:to>
                                        <p:strVal val="visible"/>
                                      </p:to>
                                    </p:set>
                                    <p:animEffect transition="in" filter="randombar(horizontal)">
                                      <p:cBhvr>
                                        <p:cTn id="98" dur="500"/>
                                        <p:tgtEl>
                                          <p:spTgt spid="52"/>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4" presetClass="entr" presetSubtype="10" fill="hold" grpId="0" nodeType="clickEffect">
                                  <p:stCondLst>
                                    <p:cond delay="0"/>
                                  </p:stCondLst>
                                  <p:childTnLst>
                                    <p:set>
                                      <p:cBhvr>
                                        <p:cTn id="102" dur="1" fill="hold">
                                          <p:stCondLst>
                                            <p:cond delay="0"/>
                                          </p:stCondLst>
                                        </p:cTn>
                                        <p:tgtEl>
                                          <p:spTgt spid="67"/>
                                        </p:tgtEl>
                                        <p:attrNameLst>
                                          <p:attrName>style.visibility</p:attrName>
                                        </p:attrNameLst>
                                      </p:cBhvr>
                                      <p:to>
                                        <p:strVal val="visible"/>
                                      </p:to>
                                    </p:set>
                                    <p:animEffect transition="in" filter="randombar(horizontal)">
                                      <p:cBhvr>
                                        <p:cTn id="103" dur="500"/>
                                        <p:tgtEl>
                                          <p:spTgt spid="67"/>
                                        </p:tgtEl>
                                      </p:cBhvr>
                                    </p:animEffect>
                                  </p:childTnLst>
                                </p:cTn>
                              </p:par>
                            </p:childTnLst>
                          </p:cTn>
                        </p:par>
                        <p:par>
                          <p:cTn id="104" fill="hold" nodeType="afterGroup">
                            <p:stCondLst>
                              <p:cond delay="500"/>
                            </p:stCondLst>
                            <p:childTnLst>
                              <p:par>
                                <p:cTn id="105" presetID="14" presetClass="entr" presetSubtype="10" fill="hold" grpId="0" nodeType="afterEffect">
                                  <p:stCondLst>
                                    <p:cond delay="0"/>
                                  </p:stCondLst>
                                  <p:childTnLst>
                                    <p:set>
                                      <p:cBhvr>
                                        <p:cTn id="106" dur="1" fill="hold">
                                          <p:stCondLst>
                                            <p:cond delay="0"/>
                                          </p:stCondLst>
                                        </p:cTn>
                                        <p:tgtEl>
                                          <p:spTgt spid="66"/>
                                        </p:tgtEl>
                                        <p:attrNameLst>
                                          <p:attrName>style.visibility</p:attrName>
                                        </p:attrNameLst>
                                      </p:cBhvr>
                                      <p:to>
                                        <p:strVal val="visible"/>
                                      </p:to>
                                    </p:set>
                                    <p:animEffect transition="in" filter="randombar(horizontal)">
                                      <p:cBhvr>
                                        <p:cTn id="107" dur="500"/>
                                        <p:tgtEl>
                                          <p:spTgt spid="66"/>
                                        </p:tgtEl>
                                      </p:cBhvr>
                                    </p:animEffect>
                                  </p:childTnLst>
                                </p:cTn>
                              </p:par>
                            </p:childTnLst>
                          </p:cTn>
                        </p:par>
                        <p:par>
                          <p:cTn id="108" fill="hold" nodeType="afterGroup">
                            <p:stCondLst>
                              <p:cond delay="1000"/>
                            </p:stCondLst>
                            <p:childTnLst>
                              <p:par>
                                <p:cTn id="109" presetID="14" presetClass="entr" presetSubtype="10" fill="hold" grpId="0" nodeType="afterEffect">
                                  <p:stCondLst>
                                    <p:cond delay="0"/>
                                  </p:stCondLst>
                                  <p:childTnLst>
                                    <p:set>
                                      <p:cBhvr>
                                        <p:cTn id="110" dur="1" fill="hold">
                                          <p:stCondLst>
                                            <p:cond delay="0"/>
                                          </p:stCondLst>
                                        </p:cTn>
                                        <p:tgtEl>
                                          <p:spTgt spid="70"/>
                                        </p:tgtEl>
                                        <p:attrNameLst>
                                          <p:attrName>style.visibility</p:attrName>
                                        </p:attrNameLst>
                                      </p:cBhvr>
                                      <p:to>
                                        <p:strVal val="visible"/>
                                      </p:to>
                                    </p:set>
                                    <p:animEffect transition="in" filter="randombar(horizontal)">
                                      <p:cBhvr>
                                        <p:cTn id="111" dur="500"/>
                                        <p:tgtEl>
                                          <p:spTgt spid="70"/>
                                        </p:tgtEl>
                                      </p:cBhvr>
                                    </p:animEffect>
                                  </p:childTnLst>
                                </p:cTn>
                              </p:par>
                            </p:childTnLst>
                          </p:cTn>
                        </p:par>
                        <p:par>
                          <p:cTn id="112" fill="hold" nodeType="afterGroup">
                            <p:stCondLst>
                              <p:cond delay="1500"/>
                            </p:stCondLst>
                            <p:childTnLst>
                              <p:par>
                                <p:cTn id="113" presetID="9" presetClass="entr" presetSubtype="0" fill="hold" nodeType="afterEffect">
                                  <p:stCondLst>
                                    <p:cond delay="0"/>
                                  </p:stCondLst>
                                  <p:childTnLst>
                                    <p:set>
                                      <p:cBhvr>
                                        <p:cTn id="114" dur="1" fill="hold">
                                          <p:stCondLst>
                                            <p:cond delay="0"/>
                                          </p:stCondLst>
                                        </p:cTn>
                                        <p:tgtEl>
                                          <p:spTgt spid="29"/>
                                        </p:tgtEl>
                                        <p:attrNameLst>
                                          <p:attrName>style.visibility</p:attrName>
                                        </p:attrNameLst>
                                      </p:cBhvr>
                                      <p:to>
                                        <p:strVal val="visible"/>
                                      </p:to>
                                    </p:set>
                                    <p:animEffect transition="in" filter="dissolve">
                                      <p:cBhvr>
                                        <p:cTn id="115" dur="500"/>
                                        <p:tgtEl>
                                          <p:spTgt spid="29"/>
                                        </p:tgtEl>
                                      </p:cBhvr>
                                    </p:animEffect>
                                  </p:childTnLst>
                                </p:cTn>
                              </p:par>
                            </p:childTnLst>
                          </p:cTn>
                        </p:par>
                        <p:par>
                          <p:cTn id="116" fill="hold" nodeType="afterGroup">
                            <p:stCondLst>
                              <p:cond delay="2000"/>
                            </p:stCondLst>
                            <p:childTnLst>
                              <p:par>
                                <p:cTn id="117" presetID="14" presetClass="entr" presetSubtype="10" fill="hold" nodeType="afterEffect">
                                  <p:stCondLst>
                                    <p:cond delay="0"/>
                                  </p:stCondLst>
                                  <p:childTnLst>
                                    <p:set>
                                      <p:cBhvr>
                                        <p:cTn id="118" dur="1" fill="hold">
                                          <p:stCondLst>
                                            <p:cond delay="0"/>
                                          </p:stCondLst>
                                        </p:cTn>
                                        <p:tgtEl>
                                          <p:spTgt spid="53"/>
                                        </p:tgtEl>
                                        <p:attrNameLst>
                                          <p:attrName>style.visibility</p:attrName>
                                        </p:attrNameLst>
                                      </p:cBhvr>
                                      <p:to>
                                        <p:strVal val="visible"/>
                                      </p:to>
                                    </p:set>
                                    <p:animEffect transition="in" filter="randombar(horizontal)">
                                      <p:cBhvr>
                                        <p:cTn id="119" dur="500"/>
                                        <p:tgtEl>
                                          <p:spTgt spid="53"/>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8" presetClass="entr" presetSubtype="32" fill="hold" grpId="0" nodeType="clickEffect">
                                  <p:stCondLst>
                                    <p:cond delay="0"/>
                                  </p:stCondLst>
                                  <p:childTnLst>
                                    <p:set>
                                      <p:cBhvr>
                                        <p:cTn id="123" dur="1" fill="hold">
                                          <p:stCondLst>
                                            <p:cond delay="0"/>
                                          </p:stCondLst>
                                        </p:cTn>
                                        <p:tgtEl>
                                          <p:spTgt spid="11300"/>
                                        </p:tgtEl>
                                        <p:attrNameLst>
                                          <p:attrName>style.visibility</p:attrName>
                                        </p:attrNameLst>
                                      </p:cBhvr>
                                      <p:to>
                                        <p:strVal val="visible"/>
                                      </p:to>
                                    </p:set>
                                    <p:animEffect transition="in" filter="diamond(out)">
                                      <p:cBhvr>
                                        <p:cTn id="124" dur="1000"/>
                                        <p:tgtEl>
                                          <p:spTgt spid="11300"/>
                                        </p:tgtEl>
                                      </p:cBhvr>
                                    </p:animEffect>
                                  </p:childTnLst>
                                </p:cTn>
                              </p:par>
                            </p:childTnLst>
                          </p:cTn>
                        </p:par>
                        <p:par>
                          <p:cTn id="125" fill="hold" nodeType="afterGroup">
                            <p:stCondLst>
                              <p:cond delay="1000"/>
                            </p:stCondLst>
                            <p:childTnLst>
                              <p:par>
                                <p:cTn id="126" presetID="8" presetClass="entr" presetSubtype="32" fill="hold" nodeType="afterEffect">
                                  <p:stCondLst>
                                    <p:cond delay="0"/>
                                  </p:stCondLst>
                                  <p:childTnLst>
                                    <p:set>
                                      <p:cBhvr>
                                        <p:cTn id="127" dur="1" fill="hold">
                                          <p:stCondLst>
                                            <p:cond delay="0"/>
                                          </p:stCondLst>
                                        </p:cTn>
                                        <p:tgtEl>
                                          <p:spTgt spid="50"/>
                                        </p:tgtEl>
                                        <p:attrNameLst>
                                          <p:attrName>style.visibility</p:attrName>
                                        </p:attrNameLst>
                                      </p:cBhvr>
                                      <p:to>
                                        <p:strVal val="visible"/>
                                      </p:to>
                                    </p:set>
                                    <p:animEffect transition="in" filter="diamond(out)">
                                      <p:cBhvr>
                                        <p:cTn id="128" dur="1000"/>
                                        <p:tgtEl>
                                          <p:spTgt spid="50"/>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8" presetClass="entr" presetSubtype="32" fill="hold" grpId="0" nodeType="clickEffect">
                                  <p:stCondLst>
                                    <p:cond delay="0"/>
                                  </p:stCondLst>
                                  <p:childTnLst>
                                    <p:set>
                                      <p:cBhvr>
                                        <p:cTn id="132" dur="1" fill="hold">
                                          <p:stCondLst>
                                            <p:cond delay="0"/>
                                          </p:stCondLst>
                                        </p:cTn>
                                        <p:tgtEl>
                                          <p:spTgt spid="11307"/>
                                        </p:tgtEl>
                                        <p:attrNameLst>
                                          <p:attrName>style.visibility</p:attrName>
                                        </p:attrNameLst>
                                      </p:cBhvr>
                                      <p:to>
                                        <p:strVal val="visible"/>
                                      </p:to>
                                    </p:set>
                                    <p:animEffect transition="in" filter="diamond(out)">
                                      <p:cBhvr>
                                        <p:cTn id="133" dur="1000"/>
                                        <p:tgtEl>
                                          <p:spTgt spid="11307"/>
                                        </p:tgtEl>
                                      </p:cBhvr>
                                    </p:animEffect>
                                  </p:childTnLst>
                                </p:cTn>
                              </p:par>
                              <p:par>
                                <p:cTn id="134" presetID="8" presetClass="entr" presetSubtype="32" fill="hold" grpId="0" nodeType="withEffect">
                                  <p:stCondLst>
                                    <p:cond delay="0"/>
                                  </p:stCondLst>
                                  <p:childTnLst>
                                    <p:set>
                                      <p:cBhvr>
                                        <p:cTn id="135" dur="1" fill="hold">
                                          <p:stCondLst>
                                            <p:cond delay="0"/>
                                          </p:stCondLst>
                                        </p:cTn>
                                        <p:tgtEl>
                                          <p:spTgt spid="11301"/>
                                        </p:tgtEl>
                                        <p:attrNameLst>
                                          <p:attrName>style.visibility</p:attrName>
                                        </p:attrNameLst>
                                      </p:cBhvr>
                                      <p:to>
                                        <p:strVal val="visible"/>
                                      </p:to>
                                    </p:set>
                                    <p:animEffect transition="in" filter="diamond(out)">
                                      <p:cBhvr>
                                        <p:cTn id="136" dur="2000"/>
                                        <p:tgtEl>
                                          <p:spTgt spid="11301"/>
                                        </p:tgtEl>
                                      </p:cBhvr>
                                    </p:animEffect>
                                  </p:childTnLst>
                                </p:cTn>
                              </p:par>
                            </p:childTnLst>
                          </p:cTn>
                        </p:par>
                        <p:par>
                          <p:cTn id="137" fill="hold" nodeType="afterGroup">
                            <p:stCondLst>
                              <p:cond delay="2000"/>
                            </p:stCondLst>
                            <p:childTnLst>
                              <p:par>
                                <p:cTn id="138" presetID="8" presetClass="entr" presetSubtype="32" fill="hold" nodeType="afterEffect">
                                  <p:stCondLst>
                                    <p:cond delay="0"/>
                                  </p:stCondLst>
                                  <p:childTnLst>
                                    <p:set>
                                      <p:cBhvr>
                                        <p:cTn id="139" dur="1" fill="hold">
                                          <p:stCondLst>
                                            <p:cond delay="0"/>
                                          </p:stCondLst>
                                        </p:cTn>
                                        <p:tgtEl>
                                          <p:spTgt spid="11270"/>
                                        </p:tgtEl>
                                        <p:attrNameLst>
                                          <p:attrName>style.visibility</p:attrName>
                                        </p:attrNameLst>
                                      </p:cBhvr>
                                      <p:to>
                                        <p:strVal val="visible"/>
                                      </p:to>
                                    </p:set>
                                    <p:animEffect transition="in" filter="diamond(out)">
                                      <p:cBhvr>
                                        <p:cTn id="140" dur="1000"/>
                                        <p:tgtEl>
                                          <p:spTgt spid="11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65" grpId="0"/>
      <p:bldP spid="66" grpId="0"/>
      <p:bldP spid="67" grpId="0" animBg="1"/>
      <p:bldP spid="68" grpId="0" animBg="1"/>
      <p:bldP spid="70" grpId="0"/>
      <p:bldP spid="11300" grpId="0" animBg="1"/>
      <p:bldP spid="11301" grpId="0" animBg="1"/>
      <p:bldP spid="11307" grpId="0"/>
      <p:bldP spid="31" grpId="0" animBg="1"/>
      <p:bldP spid="32" grpId="0" animBg="1"/>
      <p:bldP spid="33" grpId="0" animBg="1"/>
      <p:bldP spid="35" grpId="0" animBg="1"/>
      <p:bldP spid="36" grpId="0" animBg="1"/>
      <p:bldP spid="11297" grpId="0"/>
      <p:bldP spid="11298" grpId="0"/>
      <p:bldP spid="11299" grpId="0"/>
      <p:bldP spid="48" grpId="0"/>
      <p:bldP spid="49" grpId="0"/>
      <p:bldP spid="5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ChangeArrowheads="1"/>
          </p:cNvSpPr>
          <p:nvPr/>
        </p:nvSpPr>
        <p:spPr bwMode="auto">
          <a:xfrm>
            <a:off x="0" y="1852613"/>
            <a:ext cx="0" cy="0"/>
          </a:xfrm>
          <a:prstGeom prst="rect">
            <a:avLst/>
          </a:prstGeom>
          <a:solidFill>
            <a:schemeClr val="accent1"/>
          </a:solidFill>
          <a:ln w="9525">
            <a:solidFill>
              <a:schemeClr val="tx1"/>
            </a:solidFill>
            <a:miter lim="800000"/>
            <a:headEnd/>
            <a:tailEnd/>
          </a:ln>
        </p:spPr>
        <p:txBody>
          <a:bodyPr/>
          <a:lstStyle/>
          <a:p>
            <a:endParaRPr lang="en-US" sz="1800"/>
          </a:p>
        </p:txBody>
      </p:sp>
      <p:sp>
        <p:nvSpPr>
          <p:cNvPr id="33795" name="Rectangle 4"/>
          <p:cNvSpPr>
            <a:spLocks noChangeArrowheads="1"/>
          </p:cNvSpPr>
          <p:nvPr/>
        </p:nvSpPr>
        <p:spPr bwMode="auto">
          <a:xfrm>
            <a:off x="0" y="24987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sz="1800"/>
          </a:p>
        </p:txBody>
      </p:sp>
      <p:sp>
        <p:nvSpPr>
          <p:cNvPr id="44" name="Rectangle 5"/>
          <p:cNvSpPr>
            <a:spLocks noChangeArrowheads="1"/>
          </p:cNvSpPr>
          <p:nvPr/>
        </p:nvSpPr>
        <p:spPr bwMode="auto">
          <a:xfrm>
            <a:off x="414338" y="424190"/>
            <a:ext cx="185820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tabLst>
                <a:tab pos="457200" algn="l"/>
                <a:tab pos="914400" algn="l"/>
                <a:tab pos="1371600" algn="l"/>
                <a:tab pos="1677988" algn="l"/>
              </a:tabLst>
            </a:pPr>
            <a:r>
              <a:rPr lang="en-US" sz="2800" b="1" i="1">
                <a:solidFill>
                  <a:srgbClr val="FF0000"/>
                </a:solidFill>
                <a:latin typeface="Times New Roman" pitchFamily="18" charset="0"/>
                <a:cs typeface="Times New Roman" pitchFamily="18" charset="0"/>
              </a:rPr>
              <a:t>Gia tốc góc</a:t>
            </a:r>
            <a:endParaRPr lang="en-US" sz="3600" b="1" i="1">
              <a:solidFill>
                <a:srgbClr val="FF0000"/>
              </a:solidFill>
              <a:latin typeface="Times New Roman" pitchFamily="18" charset="0"/>
              <a:cs typeface="Times New Roman" pitchFamily="18" charset="0"/>
            </a:endParaRPr>
          </a:p>
        </p:txBody>
      </p:sp>
      <p:sp>
        <p:nvSpPr>
          <p:cNvPr id="65" name="Rectangle 7"/>
          <p:cNvSpPr>
            <a:spLocks noChangeArrowheads="1"/>
          </p:cNvSpPr>
          <p:nvPr/>
        </p:nvSpPr>
        <p:spPr bwMode="auto">
          <a:xfrm>
            <a:off x="609600" y="1219200"/>
            <a:ext cx="3810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gn="just">
              <a:spcBef>
                <a:spcPct val="20000"/>
              </a:spcBef>
            </a:pPr>
            <a:r>
              <a:rPr lang="en-US" sz="2800" b="1">
                <a:solidFill>
                  <a:srgbClr val="002060"/>
                </a:solidFill>
                <a:latin typeface="Times New Roman" pitchFamily="18" charset="0"/>
                <a:cs typeface="Times New Roman" pitchFamily="18" charset="0"/>
              </a:rPr>
              <a:t>Gia tốc góc trung bình:</a:t>
            </a:r>
          </a:p>
        </p:txBody>
      </p:sp>
      <p:sp>
        <p:nvSpPr>
          <p:cNvPr id="66" name="Rectangle 7"/>
          <p:cNvSpPr>
            <a:spLocks noChangeArrowheads="1"/>
          </p:cNvSpPr>
          <p:nvPr/>
        </p:nvSpPr>
        <p:spPr bwMode="auto">
          <a:xfrm>
            <a:off x="609600" y="2081213"/>
            <a:ext cx="4495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gn="just">
              <a:spcBef>
                <a:spcPct val="20000"/>
              </a:spcBef>
            </a:pPr>
            <a:r>
              <a:rPr lang="en-US" sz="2800" b="1">
                <a:solidFill>
                  <a:srgbClr val="002060"/>
                </a:solidFill>
                <a:latin typeface="Times New Roman" pitchFamily="18" charset="0"/>
                <a:cs typeface="Times New Roman" pitchFamily="18" charset="0"/>
              </a:rPr>
              <a:t>Gia tốc góc tức thời</a:t>
            </a:r>
          </a:p>
        </p:txBody>
      </p:sp>
      <p:sp>
        <p:nvSpPr>
          <p:cNvPr id="67" name="4-Point Star 66"/>
          <p:cNvSpPr/>
          <p:nvPr/>
        </p:nvSpPr>
        <p:spPr>
          <a:xfrm>
            <a:off x="246063" y="2163763"/>
            <a:ext cx="304800" cy="304800"/>
          </a:xfrm>
          <a:prstGeom prst="star4">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sz="1800"/>
          </a:p>
        </p:txBody>
      </p:sp>
      <p:sp>
        <p:nvSpPr>
          <p:cNvPr id="68" name="4-Point Star 67"/>
          <p:cNvSpPr/>
          <p:nvPr/>
        </p:nvSpPr>
        <p:spPr>
          <a:xfrm>
            <a:off x="261938" y="1336675"/>
            <a:ext cx="304800" cy="304800"/>
          </a:xfrm>
          <a:prstGeom prst="star4">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sz="1800"/>
          </a:p>
        </p:txBody>
      </p:sp>
      <p:sp>
        <p:nvSpPr>
          <p:cNvPr id="70" name="Rectangle 69"/>
          <p:cNvSpPr>
            <a:spLocks noChangeArrowheads="1"/>
          </p:cNvSpPr>
          <p:nvPr/>
        </p:nvSpPr>
        <p:spPr bwMode="auto">
          <a:xfrm>
            <a:off x="4724400" y="3224213"/>
            <a:ext cx="12430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a:solidFill>
                  <a:srgbClr val="1109B7"/>
                </a:solidFill>
                <a:latin typeface="Times New Roman" pitchFamily="18" charset="0"/>
                <a:cs typeface="Times New Roman" pitchFamily="18" charset="0"/>
              </a:rPr>
              <a:t>(rad/s</a:t>
            </a:r>
            <a:r>
              <a:rPr lang="en-US" sz="2800" baseline="30000">
                <a:solidFill>
                  <a:srgbClr val="1109B7"/>
                </a:solidFill>
                <a:latin typeface="Times New Roman" pitchFamily="18" charset="0"/>
                <a:cs typeface="Times New Roman" pitchFamily="18" charset="0"/>
              </a:rPr>
              <a:t>2</a:t>
            </a:r>
            <a:r>
              <a:rPr lang="en-US" sz="2800">
                <a:solidFill>
                  <a:srgbClr val="1109B7"/>
                </a:solidFill>
                <a:latin typeface="Times New Roman" pitchFamily="18" charset="0"/>
                <a:cs typeface="Times New Roman" pitchFamily="18" charset="0"/>
              </a:rPr>
              <a:t>)</a:t>
            </a:r>
          </a:p>
        </p:txBody>
      </p:sp>
      <p:grpSp>
        <p:nvGrpSpPr>
          <p:cNvPr id="3" name="Group 18"/>
          <p:cNvGrpSpPr>
            <a:grpSpLocks/>
          </p:cNvGrpSpPr>
          <p:nvPr/>
        </p:nvGrpSpPr>
        <p:grpSpPr bwMode="auto">
          <a:xfrm>
            <a:off x="6257925" y="1676400"/>
            <a:ext cx="2809875" cy="2133600"/>
            <a:chOff x="3766" y="2400"/>
            <a:chExt cx="1770" cy="1344"/>
          </a:xfrm>
        </p:grpSpPr>
        <p:sp>
          <p:nvSpPr>
            <p:cNvPr id="33824" name="Oval 19"/>
            <p:cNvSpPr>
              <a:spLocks noChangeArrowheads="1"/>
            </p:cNvSpPr>
            <p:nvPr/>
          </p:nvSpPr>
          <p:spPr bwMode="auto">
            <a:xfrm>
              <a:off x="3766" y="2911"/>
              <a:ext cx="1413" cy="546"/>
            </a:xfrm>
            <a:prstGeom prst="ellipse">
              <a:avLst/>
            </a:prstGeom>
            <a:solidFill>
              <a:srgbClr val="00FF00"/>
            </a:solidFill>
            <a:ln w="9525">
              <a:solidFill>
                <a:srgbClr val="000000"/>
              </a:solidFill>
              <a:round/>
              <a:headEnd/>
              <a:tailEnd/>
            </a:ln>
          </p:spPr>
          <p:txBody>
            <a:bodyPr/>
            <a:lstStyle/>
            <a:p>
              <a:endParaRPr lang="en-US" sz="2800">
                <a:latin typeface="Times New Roman" pitchFamily="18" charset="0"/>
                <a:cs typeface="Times New Roman" pitchFamily="18" charset="0"/>
              </a:endParaRPr>
            </a:p>
          </p:txBody>
        </p:sp>
        <p:sp>
          <p:nvSpPr>
            <p:cNvPr id="33825" name="Line 20"/>
            <p:cNvSpPr>
              <a:spLocks noChangeShapeType="1"/>
            </p:cNvSpPr>
            <p:nvPr/>
          </p:nvSpPr>
          <p:spPr bwMode="auto">
            <a:xfrm flipV="1">
              <a:off x="4494" y="2520"/>
              <a:ext cx="1" cy="656"/>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26" name="Line 21"/>
            <p:cNvSpPr>
              <a:spLocks noChangeShapeType="1"/>
            </p:cNvSpPr>
            <p:nvPr/>
          </p:nvSpPr>
          <p:spPr bwMode="auto">
            <a:xfrm>
              <a:off x="4494" y="3168"/>
              <a:ext cx="435" cy="23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27" name="Line 22"/>
            <p:cNvSpPr>
              <a:spLocks noChangeShapeType="1"/>
            </p:cNvSpPr>
            <p:nvPr/>
          </p:nvSpPr>
          <p:spPr bwMode="auto">
            <a:xfrm flipV="1">
              <a:off x="4929" y="3161"/>
              <a:ext cx="543" cy="23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28" name="Text Box 23"/>
            <p:cNvSpPr txBox="1">
              <a:spLocks noChangeArrowheads="1"/>
            </p:cNvSpPr>
            <p:nvPr/>
          </p:nvSpPr>
          <p:spPr bwMode="auto">
            <a:xfrm>
              <a:off x="4874" y="3353"/>
              <a:ext cx="544"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r>
                <a:rPr lang="en-US" sz="2800">
                  <a:latin typeface="Times New Roman" pitchFamily="18" charset="0"/>
                  <a:cs typeface="Times New Roman" pitchFamily="18" charset="0"/>
                </a:rPr>
                <a:t>M</a:t>
              </a:r>
            </a:p>
          </p:txBody>
        </p:sp>
        <p:sp>
          <p:nvSpPr>
            <p:cNvPr id="33829" name="Text Box 24"/>
            <p:cNvSpPr txBox="1">
              <a:spLocks noChangeArrowheads="1"/>
            </p:cNvSpPr>
            <p:nvPr/>
          </p:nvSpPr>
          <p:spPr bwMode="auto">
            <a:xfrm>
              <a:off x="5179" y="3157"/>
              <a:ext cx="1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endParaRPr lang="en-US" sz="2800">
                <a:latin typeface="Times New Roman" pitchFamily="18" charset="0"/>
                <a:cs typeface="Times New Roman" pitchFamily="18" charset="0"/>
              </a:endParaRPr>
            </a:p>
          </p:txBody>
        </p:sp>
        <p:sp>
          <p:nvSpPr>
            <p:cNvPr id="33830" name="Text Box 25"/>
            <p:cNvSpPr txBox="1">
              <a:spLocks noChangeArrowheads="1"/>
            </p:cNvSpPr>
            <p:nvPr/>
          </p:nvSpPr>
          <p:spPr bwMode="auto">
            <a:xfrm>
              <a:off x="4636" y="3018"/>
              <a:ext cx="1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endParaRPr lang="en-US" sz="2800">
                <a:latin typeface="Times New Roman" pitchFamily="18" charset="0"/>
                <a:cs typeface="Times New Roman" pitchFamily="18" charset="0"/>
              </a:endParaRPr>
            </a:p>
          </p:txBody>
        </p:sp>
        <p:sp>
          <p:nvSpPr>
            <p:cNvPr id="33831" name="Text Box 26"/>
            <p:cNvSpPr txBox="1">
              <a:spLocks noChangeArrowheads="1"/>
            </p:cNvSpPr>
            <p:nvPr/>
          </p:nvSpPr>
          <p:spPr bwMode="auto">
            <a:xfrm>
              <a:off x="4201" y="3049"/>
              <a:ext cx="543"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r>
                <a:rPr lang="en-US" sz="2800">
                  <a:latin typeface="Times New Roman" pitchFamily="18" charset="0"/>
                  <a:cs typeface="Times New Roman" pitchFamily="18" charset="0"/>
                </a:rPr>
                <a:t>O</a:t>
              </a:r>
            </a:p>
          </p:txBody>
        </p:sp>
        <p:sp>
          <p:nvSpPr>
            <p:cNvPr id="33832" name="Text Box 27"/>
            <p:cNvSpPr txBox="1">
              <a:spLocks noChangeArrowheads="1"/>
            </p:cNvSpPr>
            <p:nvPr/>
          </p:nvSpPr>
          <p:spPr bwMode="auto">
            <a:xfrm>
              <a:off x="4419" y="2400"/>
              <a:ext cx="1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endParaRPr lang="en-US" sz="2800">
                <a:latin typeface="Times New Roman" pitchFamily="18" charset="0"/>
                <a:cs typeface="Times New Roman" pitchFamily="18" charset="0"/>
              </a:endParaRPr>
            </a:p>
          </p:txBody>
        </p:sp>
        <p:graphicFrame>
          <p:nvGraphicFramePr>
            <p:cNvPr id="33833" name="Object 28"/>
            <p:cNvGraphicFramePr>
              <a:graphicFrameLocks noChangeAspect="1"/>
            </p:cNvGraphicFramePr>
            <p:nvPr/>
          </p:nvGraphicFramePr>
          <p:xfrm>
            <a:off x="4656" y="2977"/>
            <a:ext cx="384" cy="335"/>
          </p:xfrm>
          <a:graphic>
            <a:graphicData uri="http://schemas.openxmlformats.org/presentationml/2006/ole">
              <mc:AlternateContent xmlns:mc="http://schemas.openxmlformats.org/markup-compatibility/2006">
                <mc:Choice xmlns:v="urn:schemas-microsoft-com:vml" Requires="v">
                  <p:oleObj name="Equation" r:id="rId2" imgW="152268" imgH="215713" progId="Equation.3">
                    <p:embed/>
                  </p:oleObj>
                </mc:Choice>
                <mc:Fallback>
                  <p:oleObj name="Equation" r:id="rId2" imgW="152268" imgH="215713"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6" y="2977"/>
                          <a:ext cx="384"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34" name="Object 29"/>
            <p:cNvGraphicFramePr>
              <a:graphicFrameLocks noChangeAspect="1"/>
            </p:cNvGraphicFramePr>
            <p:nvPr/>
          </p:nvGraphicFramePr>
          <p:xfrm>
            <a:off x="5232" y="2832"/>
            <a:ext cx="304" cy="372"/>
          </p:xfrm>
          <a:graphic>
            <a:graphicData uri="http://schemas.openxmlformats.org/presentationml/2006/ole">
              <mc:AlternateContent xmlns:mc="http://schemas.openxmlformats.org/markup-compatibility/2006">
                <mc:Choice xmlns:v="urn:schemas-microsoft-com:vml" Requires="v">
                  <p:oleObj name="Equation" r:id="rId4" imgW="114250" imgH="228501" progId="Equation.3">
                    <p:embed/>
                  </p:oleObj>
                </mc:Choice>
                <mc:Fallback>
                  <p:oleObj name="Equation" r:id="rId4" imgW="114250" imgH="228501"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2" y="2832"/>
                          <a:ext cx="30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35" name="Object 30"/>
            <p:cNvGraphicFramePr>
              <a:graphicFrameLocks noChangeAspect="1"/>
            </p:cNvGraphicFramePr>
            <p:nvPr/>
          </p:nvGraphicFramePr>
          <p:xfrm>
            <a:off x="4098" y="2436"/>
            <a:ext cx="396" cy="384"/>
          </p:xfrm>
          <a:graphic>
            <a:graphicData uri="http://schemas.openxmlformats.org/presentationml/2006/ole">
              <mc:AlternateContent xmlns:mc="http://schemas.openxmlformats.org/markup-compatibility/2006">
                <mc:Choice xmlns:v="urn:schemas-microsoft-com:vml" Requires="v">
                  <p:oleObj name="Equation" r:id="rId6" imgW="139579" imgH="215713" progId="Equation.DSMT4">
                    <p:embed/>
                  </p:oleObj>
                </mc:Choice>
                <mc:Fallback>
                  <p:oleObj name="Equation" r:id="rId6" imgW="139579" imgH="21571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98" y="2436"/>
                          <a:ext cx="39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cxnSp>
        <p:nvCxnSpPr>
          <p:cNvPr id="30" name="Straight Arrow Connector 29"/>
          <p:cNvCxnSpPr/>
          <p:nvPr/>
        </p:nvCxnSpPr>
        <p:spPr>
          <a:xfrm rot="16200000" flipV="1">
            <a:off x="6781800" y="2247900"/>
            <a:ext cx="1308100" cy="1270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31" name="Object 7"/>
          <p:cNvGraphicFramePr>
            <a:graphicFrameLocks noChangeAspect="1"/>
          </p:cNvGraphicFramePr>
          <p:nvPr/>
        </p:nvGraphicFramePr>
        <p:xfrm>
          <a:off x="7429500" y="1639888"/>
          <a:ext cx="571500" cy="682625"/>
        </p:xfrm>
        <a:graphic>
          <a:graphicData uri="http://schemas.openxmlformats.org/presentationml/2006/ole">
            <mc:AlternateContent xmlns:mc="http://schemas.openxmlformats.org/markup-compatibility/2006">
              <mc:Choice xmlns:v="urn:schemas-microsoft-com:vml" Requires="v">
                <p:oleObj name="Equation" r:id="rId8" imgW="126890" imgH="241091" progId="Equation.DSMT4">
                  <p:embed/>
                </p:oleObj>
              </mc:Choice>
              <mc:Fallback>
                <p:oleObj name="Equation" r:id="rId8" imgW="126890" imgH="241091"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29500" y="1639888"/>
                        <a:ext cx="5715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 name="Group 3"/>
          <p:cNvGrpSpPr>
            <a:grpSpLocks/>
          </p:cNvGrpSpPr>
          <p:nvPr/>
        </p:nvGrpSpPr>
        <p:grpSpPr bwMode="auto">
          <a:xfrm>
            <a:off x="1371600" y="5564188"/>
            <a:ext cx="6107113" cy="581025"/>
            <a:chOff x="912" y="756"/>
            <a:chExt cx="3947" cy="366"/>
          </a:xfrm>
        </p:grpSpPr>
        <p:graphicFrame>
          <p:nvGraphicFramePr>
            <p:cNvPr id="33822" name="Object 4"/>
            <p:cNvGraphicFramePr>
              <a:graphicFrameLocks noChangeAspect="1"/>
            </p:cNvGraphicFramePr>
            <p:nvPr/>
          </p:nvGraphicFramePr>
          <p:xfrm>
            <a:off x="912" y="798"/>
            <a:ext cx="562" cy="324"/>
          </p:xfrm>
          <a:graphic>
            <a:graphicData uri="http://schemas.openxmlformats.org/presentationml/2006/ole">
              <mc:AlternateContent xmlns:mc="http://schemas.openxmlformats.org/markup-compatibility/2006">
                <mc:Choice xmlns:v="urn:schemas-microsoft-com:vml" Requires="v">
                  <p:oleObj name="Equation" r:id="rId10" imgW="355292" imgH="203024" progId="Equation.DSMT4">
                    <p:embed/>
                  </p:oleObj>
                </mc:Choice>
                <mc:Fallback>
                  <p:oleObj name="Equation" r:id="rId10" imgW="355292" imgH="203024"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2" y="798"/>
                          <a:ext cx="562"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23" name="Rectangle 5"/>
            <p:cNvSpPr>
              <a:spLocks noChangeArrowheads="1"/>
            </p:cNvSpPr>
            <p:nvPr/>
          </p:nvSpPr>
          <p:spPr bwMode="auto">
            <a:xfrm>
              <a:off x="2112" y="756"/>
              <a:ext cx="274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2800">
                  <a:solidFill>
                    <a:srgbClr val="1E22C0"/>
                  </a:solidFill>
                </a:rPr>
                <a:t> </a:t>
              </a:r>
              <a:r>
                <a:rPr lang="en-US" sz="2800">
                  <a:solidFill>
                    <a:srgbClr val="1E22C0"/>
                  </a:solidFill>
                  <a:sym typeface="Wingdings" pitchFamily="2" charset="2"/>
                </a:rPr>
                <a:t></a:t>
              </a:r>
              <a:r>
                <a:rPr lang="en-US" sz="2800">
                  <a:solidFill>
                    <a:srgbClr val="1E22C0"/>
                  </a:solidFill>
                </a:rPr>
                <a:t> Chuyển động tròn </a:t>
              </a:r>
              <a:r>
                <a:rPr lang="en-US" sz="2800" b="1">
                  <a:solidFill>
                    <a:srgbClr val="0070C0"/>
                  </a:solidFill>
                </a:rPr>
                <a:t>đều</a:t>
              </a:r>
              <a:r>
                <a:rPr lang="en-US" sz="1800">
                  <a:solidFill>
                    <a:srgbClr val="1E22C0"/>
                  </a:solidFill>
                </a:rPr>
                <a:t> </a:t>
              </a:r>
            </a:p>
          </p:txBody>
        </p:sp>
      </p:grpSp>
      <p:grpSp>
        <p:nvGrpSpPr>
          <p:cNvPr id="5" name="Group 7"/>
          <p:cNvGrpSpPr>
            <a:grpSpLocks/>
          </p:cNvGrpSpPr>
          <p:nvPr/>
        </p:nvGrpSpPr>
        <p:grpSpPr bwMode="auto">
          <a:xfrm>
            <a:off x="1371600" y="6159500"/>
            <a:ext cx="7694613" cy="546100"/>
            <a:chOff x="912" y="1128"/>
            <a:chExt cx="4847" cy="344"/>
          </a:xfrm>
        </p:grpSpPr>
        <p:graphicFrame>
          <p:nvGraphicFramePr>
            <p:cNvPr id="33820" name="Object 8"/>
            <p:cNvGraphicFramePr>
              <a:graphicFrameLocks noChangeAspect="1"/>
            </p:cNvGraphicFramePr>
            <p:nvPr/>
          </p:nvGraphicFramePr>
          <p:xfrm>
            <a:off x="912" y="1152"/>
            <a:ext cx="1200" cy="320"/>
          </p:xfrm>
          <a:graphic>
            <a:graphicData uri="http://schemas.openxmlformats.org/presentationml/2006/ole">
              <mc:AlternateContent xmlns:mc="http://schemas.openxmlformats.org/markup-compatibility/2006">
                <mc:Choice xmlns:v="urn:schemas-microsoft-com:vml" Requires="v">
                  <p:oleObj name="Equation" r:id="rId12" imgW="634725" imgH="203112" progId="Equation.DSMT4">
                    <p:embed/>
                  </p:oleObj>
                </mc:Choice>
                <mc:Fallback>
                  <p:oleObj name="Equation" r:id="rId12" imgW="634725" imgH="203112"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12" y="1152"/>
                          <a:ext cx="120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21" name="Rectangle 9"/>
            <p:cNvSpPr>
              <a:spLocks noChangeArrowheads="1"/>
            </p:cNvSpPr>
            <p:nvPr/>
          </p:nvSpPr>
          <p:spPr bwMode="auto">
            <a:xfrm>
              <a:off x="2160" y="1128"/>
              <a:ext cx="359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2800">
                  <a:solidFill>
                    <a:srgbClr val="1E22C0"/>
                  </a:solidFill>
                  <a:sym typeface="Wingdings" pitchFamily="2" charset="2"/>
                </a:rPr>
                <a:t> </a:t>
              </a:r>
              <a:r>
                <a:rPr lang="en-US" sz="2800">
                  <a:solidFill>
                    <a:srgbClr val="1E22C0"/>
                  </a:solidFill>
                </a:rPr>
                <a:t>Chuyển động tròn </a:t>
              </a:r>
              <a:r>
                <a:rPr lang="en-US" sz="2800" b="1">
                  <a:solidFill>
                    <a:srgbClr val="FF0000"/>
                  </a:solidFill>
                </a:rPr>
                <a:t>thay đổi đều</a:t>
              </a:r>
            </a:p>
          </p:txBody>
        </p:sp>
      </p:grpSp>
      <p:grpSp>
        <p:nvGrpSpPr>
          <p:cNvPr id="6" name="Group 21"/>
          <p:cNvGrpSpPr>
            <a:grpSpLocks/>
          </p:cNvGrpSpPr>
          <p:nvPr/>
        </p:nvGrpSpPr>
        <p:grpSpPr bwMode="auto">
          <a:xfrm>
            <a:off x="1371600" y="4343400"/>
            <a:ext cx="7507288" cy="595313"/>
            <a:chOff x="912" y="3273"/>
            <a:chExt cx="4729" cy="375"/>
          </a:xfrm>
        </p:grpSpPr>
        <p:graphicFrame>
          <p:nvGraphicFramePr>
            <p:cNvPr id="33818" name="Object 22"/>
            <p:cNvGraphicFramePr>
              <a:graphicFrameLocks noChangeAspect="1"/>
            </p:cNvGraphicFramePr>
            <p:nvPr/>
          </p:nvGraphicFramePr>
          <p:xfrm>
            <a:off x="912" y="3282"/>
            <a:ext cx="710" cy="366"/>
          </p:xfrm>
          <a:graphic>
            <a:graphicData uri="http://schemas.openxmlformats.org/presentationml/2006/ole">
              <mc:AlternateContent xmlns:mc="http://schemas.openxmlformats.org/markup-compatibility/2006">
                <mc:Choice xmlns:v="urn:schemas-microsoft-com:vml" Requires="v">
                  <p:oleObj name="Equation" r:id="rId14" imgW="469696" imgH="241195" progId="Equation.DSMT4">
                    <p:embed/>
                  </p:oleObj>
                </mc:Choice>
                <mc:Fallback>
                  <p:oleObj name="Equation" r:id="rId14" imgW="469696" imgH="241195"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12" y="3282"/>
                          <a:ext cx="710"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19" name="Rectangle 23"/>
            <p:cNvSpPr>
              <a:spLocks noChangeArrowheads="1"/>
            </p:cNvSpPr>
            <p:nvPr/>
          </p:nvSpPr>
          <p:spPr bwMode="auto">
            <a:xfrm>
              <a:off x="2190" y="3273"/>
              <a:ext cx="345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2800">
                  <a:solidFill>
                    <a:srgbClr val="1E22C0"/>
                  </a:solidFill>
                  <a:sym typeface="Wingdings" pitchFamily="2" charset="2"/>
                </a:rPr>
                <a:t></a:t>
              </a:r>
              <a:r>
                <a:rPr lang="en-US" sz="2800">
                  <a:solidFill>
                    <a:srgbClr val="1E22C0"/>
                  </a:solidFill>
                </a:rPr>
                <a:t> Chuyển động tròn </a:t>
              </a:r>
              <a:r>
                <a:rPr lang="en-US" sz="2800" b="1">
                  <a:solidFill>
                    <a:srgbClr val="CC0EB5"/>
                  </a:solidFill>
                </a:rPr>
                <a:t>nhanh dần</a:t>
              </a:r>
              <a:r>
                <a:rPr lang="en-US" sz="1800" b="1">
                  <a:solidFill>
                    <a:srgbClr val="CC0EB5"/>
                  </a:solidFill>
                </a:rPr>
                <a:t> </a:t>
              </a:r>
            </a:p>
          </p:txBody>
        </p:sp>
      </p:grpSp>
      <p:grpSp>
        <p:nvGrpSpPr>
          <p:cNvPr id="7" name="Group 49"/>
          <p:cNvGrpSpPr>
            <a:grpSpLocks/>
          </p:cNvGrpSpPr>
          <p:nvPr/>
        </p:nvGrpSpPr>
        <p:grpSpPr bwMode="auto">
          <a:xfrm>
            <a:off x="1371600" y="4962525"/>
            <a:ext cx="7337425" cy="600075"/>
            <a:chOff x="1371600" y="4962525"/>
            <a:chExt cx="7336784" cy="600075"/>
          </a:xfrm>
        </p:grpSpPr>
        <p:sp>
          <p:nvSpPr>
            <p:cNvPr id="33816" name="Rectangle 26"/>
            <p:cNvSpPr>
              <a:spLocks noChangeArrowheads="1"/>
            </p:cNvSpPr>
            <p:nvPr/>
          </p:nvSpPr>
          <p:spPr bwMode="auto">
            <a:xfrm>
              <a:off x="3370063" y="4962525"/>
              <a:ext cx="533832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2800">
                  <a:solidFill>
                    <a:srgbClr val="1E22C0"/>
                  </a:solidFill>
                  <a:sym typeface="Wingdings" pitchFamily="2" charset="2"/>
                </a:rPr>
                <a:t></a:t>
              </a:r>
              <a:r>
                <a:rPr lang="en-US" sz="2800">
                  <a:solidFill>
                    <a:srgbClr val="1E22C0"/>
                  </a:solidFill>
                </a:rPr>
                <a:t> Chuyển động tròn </a:t>
              </a:r>
              <a:r>
                <a:rPr lang="en-US" sz="2800" b="1">
                  <a:solidFill>
                    <a:srgbClr val="135116"/>
                  </a:solidFill>
                </a:rPr>
                <a:t>chậm dần</a:t>
              </a:r>
              <a:r>
                <a:rPr lang="en-US" sz="1800" b="1">
                  <a:solidFill>
                    <a:srgbClr val="135116"/>
                  </a:solidFill>
                </a:rPr>
                <a:t> </a:t>
              </a:r>
            </a:p>
          </p:txBody>
        </p:sp>
        <p:graphicFrame>
          <p:nvGraphicFramePr>
            <p:cNvPr id="33817" name="Object 42"/>
            <p:cNvGraphicFramePr>
              <a:graphicFrameLocks noChangeAspect="1"/>
            </p:cNvGraphicFramePr>
            <p:nvPr/>
          </p:nvGraphicFramePr>
          <p:xfrm>
            <a:off x="1371600" y="4981575"/>
            <a:ext cx="1127125" cy="581025"/>
          </p:xfrm>
          <a:graphic>
            <a:graphicData uri="http://schemas.openxmlformats.org/presentationml/2006/ole">
              <mc:AlternateContent xmlns:mc="http://schemas.openxmlformats.org/markup-compatibility/2006">
                <mc:Choice xmlns:v="urn:schemas-microsoft-com:vml" Requires="v">
                  <p:oleObj name="Equation" r:id="rId16" imgW="469696" imgH="241195" progId="Equation.DSMT4">
                    <p:embed/>
                  </p:oleObj>
                </mc:Choice>
                <mc:Fallback>
                  <p:oleObj name="Equation" r:id="rId16" imgW="469696" imgH="241195"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71600" y="4981575"/>
                          <a:ext cx="11271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6" name="Rectangle 11"/>
          <p:cNvSpPr>
            <a:spLocks noChangeArrowheads="1"/>
          </p:cNvSpPr>
          <p:nvPr/>
        </p:nvSpPr>
        <p:spPr bwMode="auto">
          <a:xfrm>
            <a:off x="838200" y="4367213"/>
            <a:ext cx="509588"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3200">
                <a:solidFill>
                  <a:srgbClr val="002060"/>
                </a:solidFill>
                <a:latin typeface="Times New Roman" pitchFamily="18" charset="0"/>
                <a:sym typeface="Wingdings" pitchFamily="2" charset="2"/>
              </a:rPr>
              <a:t></a:t>
            </a:r>
            <a:endParaRPr lang="en-US" sz="3200">
              <a:solidFill>
                <a:srgbClr val="002060"/>
              </a:solidFill>
            </a:endParaRPr>
          </a:p>
        </p:txBody>
      </p:sp>
      <p:sp>
        <p:nvSpPr>
          <p:cNvPr id="47" name="Rectangle 12"/>
          <p:cNvSpPr>
            <a:spLocks noChangeArrowheads="1"/>
          </p:cNvSpPr>
          <p:nvPr/>
        </p:nvSpPr>
        <p:spPr bwMode="auto">
          <a:xfrm>
            <a:off x="838200" y="4953000"/>
            <a:ext cx="5095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3200">
                <a:solidFill>
                  <a:srgbClr val="002060"/>
                </a:solidFill>
                <a:latin typeface="Times New Roman" pitchFamily="18" charset="0"/>
                <a:sym typeface="Wingdings" pitchFamily="2" charset="2"/>
              </a:rPr>
              <a:t></a:t>
            </a:r>
            <a:endParaRPr lang="en-US" sz="3200">
              <a:solidFill>
                <a:srgbClr val="002060"/>
              </a:solidFill>
            </a:endParaRPr>
          </a:p>
        </p:txBody>
      </p:sp>
      <p:sp>
        <p:nvSpPr>
          <p:cNvPr id="48" name="Rectangle 13"/>
          <p:cNvSpPr>
            <a:spLocks noChangeArrowheads="1"/>
          </p:cNvSpPr>
          <p:nvPr/>
        </p:nvSpPr>
        <p:spPr bwMode="auto">
          <a:xfrm>
            <a:off x="838200" y="6126163"/>
            <a:ext cx="509588"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3200">
                <a:solidFill>
                  <a:srgbClr val="002060"/>
                </a:solidFill>
                <a:latin typeface="Times New Roman" pitchFamily="18" charset="0"/>
                <a:sym typeface="Wingdings" pitchFamily="2" charset="2"/>
              </a:rPr>
              <a:t></a:t>
            </a:r>
            <a:endParaRPr lang="en-US" sz="3200">
              <a:solidFill>
                <a:srgbClr val="002060"/>
              </a:solidFill>
            </a:endParaRPr>
          </a:p>
        </p:txBody>
      </p:sp>
      <p:sp>
        <p:nvSpPr>
          <p:cNvPr id="49" name="Rectangle 12"/>
          <p:cNvSpPr>
            <a:spLocks noChangeArrowheads="1"/>
          </p:cNvSpPr>
          <p:nvPr/>
        </p:nvSpPr>
        <p:spPr bwMode="auto">
          <a:xfrm>
            <a:off x="838200" y="5565775"/>
            <a:ext cx="5095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just"/>
            <a:r>
              <a:rPr lang="en-US" sz="3200">
                <a:solidFill>
                  <a:srgbClr val="002060"/>
                </a:solidFill>
                <a:latin typeface="Times New Roman" pitchFamily="18" charset="0"/>
                <a:sym typeface="Wingdings" pitchFamily="2" charset="2"/>
              </a:rPr>
              <a:t></a:t>
            </a:r>
            <a:endParaRPr lang="en-US" sz="3200">
              <a:solidFill>
                <a:srgbClr val="002060"/>
              </a:solidFill>
            </a:endParaRPr>
          </a:p>
        </p:txBody>
      </p:sp>
      <p:sp>
        <p:nvSpPr>
          <p:cNvPr id="2" name="Oval Callout 1"/>
          <p:cNvSpPr/>
          <p:nvPr/>
        </p:nvSpPr>
        <p:spPr>
          <a:xfrm>
            <a:off x="5554662" y="132421"/>
            <a:ext cx="4352925" cy="1527175"/>
          </a:xfrm>
          <a:prstGeom prst="wedgeEllipseCallout">
            <a:avLst/>
          </a:prstGeom>
        </p:spPr>
        <p:style>
          <a:lnRef idx="2">
            <a:schemeClr val="accent3"/>
          </a:lnRef>
          <a:fillRef idx="1">
            <a:schemeClr val="lt1"/>
          </a:fillRef>
          <a:effectRef idx="0">
            <a:schemeClr val="accent3"/>
          </a:effectRef>
          <a:fontRef idx="minor">
            <a:schemeClr val="dk1"/>
          </a:fontRef>
        </p:style>
        <p:txBody>
          <a:bodyPr anchor="ctr"/>
          <a:lstStyle/>
          <a:p>
            <a:pPr algn="ctr">
              <a:defRPr/>
            </a:pPr>
            <a:r>
              <a:rPr lang="en-US"/>
              <a:t>Chuyển động tròn đều</a:t>
            </a:r>
          </a:p>
          <a:p>
            <a:pPr algn="ctr">
              <a:defRPr/>
            </a:pPr>
            <a:r>
              <a:rPr lang="el-GR" b="1"/>
              <a:t>ω</a:t>
            </a:r>
            <a:r>
              <a:rPr lang="en-US" b="1"/>
              <a:t> = const </a:t>
            </a:r>
          </a:p>
          <a:p>
            <a:pPr algn="ctr">
              <a:defRPr/>
            </a:pPr>
            <a:r>
              <a:rPr lang="en-US" b="1"/>
              <a:t>β = 0</a:t>
            </a:r>
          </a:p>
        </p:txBody>
      </p:sp>
      <p:sp>
        <p:nvSpPr>
          <p:cNvPr id="50" name="Rectangle 49"/>
          <p:cNvSpPr>
            <a:spLocks noRot="1" noChangeAspect="1" noMove="1" noResize="1" noEditPoints="1" noAdjustHandles="1" noChangeArrowheads="1" noChangeShapeType="1" noTextEdit="1"/>
          </p:cNvSpPr>
          <p:nvPr/>
        </p:nvSpPr>
        <p:spPr bwMode="auto">
          <a:xfrm>
            <a:off x="4313415" y="1042258"/>
            <a:ext cx="1917700" cy="896079"/>
          </a:xfrm>
          <a:prstGeom prst="rect">
            <a:avLst/>
          </a:prstGeom>
          <a:blipFill rotWithShape="1">
            <a:blip r:embed="rId18"/>
            <a:stretch>
              <a:fillRect b="-8844"/>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51" name="Rectangle 50"/>
          <p:cNvSpPr>
            <a:spLocks noRot="1" noChangeAspect="1" noMove="1" noResize="1" noEditPoints="1" noAdjustHandles="1" noChangeArrowheads="1" noChangeShapeType="1" noTextEdit="1"/>
          </p:cNvSpPr>
          <p:nvPr/>
        </p:nvSpPr>
        <p:spPr bwMode="auto">
          <a:xfrm>
            <a:off x="259877" y="3047405"/>
            <a:ext cx="4343400" cy="904478"/>
          </a:xfrm>
          <a:prstGeom prst="rect">
            <a:avLst/>
          </a:prstGeom>
          <a:blipFill rotWithShape="1">
            <a:blip r:embed="rId19"/>
            <a:stretch>
              <a:fillRect l="-4354" b="-8784"/>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8" name="Footer Placeholder 7">
            <a:extLst>
              <a:ext uri="{FF2B5EF4-FFF2-40B4-BE49-F238E27FC236}">
                <a16:creationId xmlns:a16="http://schemas.microsoft.com/office/drawing/2014/main" id="{F38B6FF1-37EF-A216-FE93-B5DE5DBE250F}"/>
              </a:ext>
            </a:extLst>
          </p:cNvPr>
          <p:cNvSpPr>
            <a:spLocks noGrp="1"/>
          </p:cNvSpPr>
          <p:nvPr>
            <p:ph type="ftr" sz="quarter" idx="11"/>
          </p:nvPr>
        </p:nvSpPr>
        <p:spPr/>
        <p:txBody>
          <a:bodyPr/>
          <a:lstStyle/>
          <a:p>
            <a:r>
              <a:rPr lang="en-US"/>
              <a:t>Bùi Quốc Trung - VLDC</a:t>
            </a:r>
          </a:p>
        </p:txBody>
      </p:sp>
      <p:sp>
        <p:nvSpPr>
          <p:cNvPr id="9" name="Slide Number Placeholder 8">
            <a:extLst>
              <a:ext uri="{FF2B5EF4-FFF2-40B4-BE49-F238E27FC236}">
                <a16:creationId xmlns:a16="http://schemas.microsoft.com/office/drawing/2014/main" id="{21673114-1A08-05DD-F589-F2E077659C95}"/>
              </a:ext>
            </a:extLst>
          </p:cNvPr>
          <p:cNvSpPr>
            <a:spLocks noGrp="1"/>
          </p:cNvSpPr>
          <p:nvPr>
            <p:ph type="sldNum" sz="quarter" idx="12"/>
          </p:nvPr>
        </p:nvSpPr>
        <p:spPr/>
        <p:txBody>
          <a:bodyPr/>
          <a:lstStyle/>
          <a:p>
            <a:fld id="{C4A94DE9-7404-4CC4-BDD8-EA2E97866C70}" type="slidenum">
              <a:rPr lang="en-US" smtClean="0"/>
              <a:t>53</a:t>
            </a:fld>
            <a:endParaRPr lang="en-US"/>
          </a:p>
        </p:txBody>
      </p:sp>
    </p:spTree>
    <p:extLst>
      <p:ext uri="{BB962C8B-B14F-4D97-AF65-F5344CB8AC3E}">
        <p14:creationId xmlns:p14="http://schemas.microsoft.com/office/powerpoint/2010/main" val="397714959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randombar(horizontal)">
                                      <p:cBhvr>
                                        <p:cTn id="7" dur="500"/>
                                        <p:tgtEl>
                                          <p:spTgt spid="44"/>
                                        </p:tgtEl>
                                      </p:cBhvr>
                                    </p:animEffect>
                                  </p:childTnLst>
                                </p:cTn>
                              </p:par>
                            </p:childTnLst>
                          </p:cTn>
                        </p:par>
                        <p:par>
                          <p:cTn id="8" fill="hold" nodeType="afterGroup">
                            <p:stCondLst>
                              <p:cond delay="500"/>
                            </p:stCondLst>
                            <p:childTnLst>
                              <p:par>
                                <p:cTn id="9" presetID="14"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randombar(horizontal)">
                                      <p:cBhvr>
                                        <p:cTn id="11" dur="5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4" presetClass="entr" presetSubtype="10" fill="hold" grpId="0" nodeType="click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randombar(horizontal)">
                                      <p:cBhvr>
                                        <p:cTn id="16" dur="500"/>
                                        <p:tgtEl>
                                          <p:spTgt spid="68"/>
                                        </p:tgtEl>
                                      </p:cBhvr>
                                    </p:animEffect>
                                  </p:childTnLst>
                                </p:cTn>
                              </p:par>
                            </p:childTnLst>
                          </p:cTn>
                        </p:par>
                        <p:par>
                          <p:cTn id="17" fill="hold" nodeType="afterGroup">
                            <p:stCondLst>
                              <p:cond delay="500"/>
                            </p:stCondLst>
                            <p:childTnLst>
                              <p:par>
                                <p:cTn id="18" presetID="14" presetClass="entr" presetSubtype="10" fill="hold" grpId="0" nodeType="afterEffect">
                                  <p:stCondLst>
                                    <p:cond delay="0"/>
                                  </p:stCondLst>
                                  <p:childTnLst>
                                    <p:set>
                                      <p:cBhvr>
                                        <p:cTn id="19" dur="1" fill="hold">
                                          <p:stCondLst>
                                            <p:cond delay="0"/>
                                          </p:stCondLst>
                                        </p:cTn>
                                        <p:tgtEl>
                                          <p:spTgt spid="65"/>
                                        </p:tgtEl>
                                        <p:attrNameLst>
                                          <p:attrName>style.visibility</p:attrName>
                                        </p:attrNameLst>
                                      </p:cBhvr>
                                      <p:to>
                                        <p:strVal val="visible"/>
                                      </p:to>
                                    </p:set>
                                    <p:animEffect transition="in" filter="randombar(horizontal)">
                                      <p:cBhvr>
                                        <p:cTn id="20" dur="500"/>
                                        <p:tgtEl>
                                          <p:spTgt spid="65"/>
                                        </p:tgtEl>
                                      </p:cBhvr>
                                    </p:animEffect>
                                  </p:childTnLst>
                                </p:cTn>
                              </p:par>
                            </p:childTnLst>
                          </p:cTn>
                        </p:par>
                        <p:par>
                          <p:cTn id="21" fill="hold" nodeType="afterGroup">
                            <p:stCondLst>
                              <p:cond delay="1000"/>
                            </p:stCondLst>
                            <p:childTnLst>
                              <p:par>
                                <p:cTn id="22" presetID="14" presetClass="entr" presetSubtype="10" fill="hold" nodeType="after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randombar(horizontal)">
                                      <p:cBhvr>
                                        <p:cTn id="24" dur="500"/>
                                        <p:tgtEl>
                                          <p:spTgt spid="5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67"/>
                                        </p:tgtEl>
                                        <p:attrNameLst>
                                          <p:attrName>style.visibility</p:attrName>
                                        </p:attrNameLst>
                                      </p:cBhvr>
                                      <p:to>
                                        <p:strVal val="visible"/>
                                      </p:to>
                                    </p:set>
                                    <p:animEffect transition="in" filter="randombar(horizontal)">
                                      <p:cBhvr>
                                        <p:cTn id="29" dur="500"/>
                                        <p:tgtEl>
                                          <p:spTgt spid="67"/>
                                        </p:tgtEl>
                                      </p:cBhvr>
                                    </p:animEffect>
                                  </p:childTnLst>
                                </p:cTn>
                              </p:par>
                            </p:childTnLst>
                          </p:cTn>
                        </p:par>
                        <p:par>
                          <p:cTn id="30" fill="hold" nodeType="afterGroup">
                            <p:stCondLst>
                              <p:cond delay="500"/>
                            </p:stCondLst>
                            <p:childTnLst>
                              <p:par>
                                <p:cTn id="31" presetID="14" presetClass="entr" presetSubtype="10" fill="hold" grpId="0" nodeType="afterEffect">
                                  <p:stCondLst>
                                    <p:cond delay="0"/>
                                  </p:stCondLst>
                                  <p:childTnLst>
                                    <p:set>
                                      <p:cBhvr>
                                        <p:cTn id="32" dur="1" fill="hold">
                                          <p:stCondLst>
                                            <p:cond delay="0"/>
                                          </p:stCondLst>
                                        </p:cTn>
                                        <p:tgtEl>
                                          <p:spTgt spid="66"/>
                                        </p:tgtEl>
                                        <p:attrNameLst>
                                          <p:attrName>style.visibility</p:attrName>
                                        </p:attrNameLst>
                                      </p:cBhvr>
                                      <p:to>
                                        <p:strVal val="visible"/>
                                      </p:to>
                                    </p:set>
                                    <p:animEffect transition="in" filter="randombar(horizontal)">
                                      <p:cBhvr>
                                        <p:cTn id="33" dur="500"/>
                                        <p:tgtEl>
                                          <p:spTgt spid="66"/>
                                        </p:tgtEl>
                                      </p:cBhvr>
                                    </p:animEffect>
                                  </p:childTnLst>
                                </p:cTn>
                              </p:par>
                            </p:childTnLst>
                          </p:cTn>
                        </p:par>
                        <p:par>
                          <p:cTn id="34" fill="hold" nodeType="afterGroup">
                            <p:stCondLst>
                              <p:cond delay="1000"/>
                            </p:stCondLst>
                            <p:childTnLst>
                              <p:par>
                                <p:cTn id="35" presetID="14" presetClass="entr" presetSubtype="10" fill="hold" nodeType="afterEffect">
                                  <p:stCondLst>
                                    <p:cond delay="0"/>
                                  </p:stCondLst>
                                  <p:childTnLst>
                                    <p:set>
                                      <p:cBhvr>
                                        <p:cTn id="36" dur="1" fill="hold">
                                          <p:stCondLst>
                                            <p:cond delay="0"/>
                                          </p:stCondLst>
                                        </p:cTn>
                                        <p:tgtEl>
                                          <p:spTgt spid="51"/>
                                        </p:tgtEl>
                                        <p:attrNameLst>
                                          <p:attrName>style.visibility</p:attrName>
                                        </p:attrNameLst>
                                      </p:cBhvr>
                                      <p:to>
                                        <p:strVal val="visible"/>
                                      </p:to>
                                    </p:set>
                                    <p:animEffect transition="in" filter="randombar(horizontal)">
                                      <p:cBhvr>
                                        <p:cTn id="37" dur="500"/>
                                        <p:tgtEl>
                                          <p:spTgt spid="51"/>
                                        </p:tgtEl>
                                      </p:cBhvr>
                                    </p:animEffect>
                                  </p:childTnLst>
                                </p:cTn>
                              </p:par>
                            </p:childTnLst>
                          </p:cTn>
                        </p:par>
                        <p:par>
                          <p:cTn id="38" fill="hold" nodeType="afterGroup">
                            <p:stCondLst>
                              <p:cond delay="1500"/>
                            </p:stCondLst>
                            <p:childTnLst>
                              <p:par>
                                <p:cTn id="39" presetID="14" presetClass="entr" presetSubtype="10" fill="hold" grpId="0" nodeType="afterEffect">
                                  <p:stCondLst>
                                    <p:cond delay="0"/>
                                  </p:stCondLst>
                                  <p:childTnLst>
                                    <p:set>
                                      <p:cBhvr>
                                        <p:cTn id="40" dur="1" fill="hold">
                                          <p:stCondLst>
                                            <p:cond delay="0"/>
                                          </p:stCondLst>
                                        </p:cTn>
                                        <p:tgtEl>
                                          <p:spTgt spid="70"/>
                                        </p:tgtEl>
                                        <p:attrNameLst>
                                          <p:attrName>style.visibility</p:attrName>
                                        </p:attrNameLst>
                                      </p:cBhvr>
                                      <p:to>
                                        <p:strVal val="visible"/>
                                      </p:to>
                                    </p:set>
                                    <p:animEffect transition="in" filter="randombar(horizontal)">
                                      <p:cBhvr>
                                        <p:cTn id="41" dur="500"/>
                                        <p:tgtEl>
                                          <p:spTgt spid="7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randombar(horizontal)">
                                      <p:cBhvr>
                                        <p:cTn id="46" dur="500"/>
                                        <p:tgtEl>
                                          <p:spTgt spid="46"/>
                                        </p:tgtEl>
                                      </p:cBhvr>
                                    </p:animEffect>
                                  </p:childTnLst>
                                </p:cTn>
                              </p:par>
                            </p:childTnLst>
                          </p:cTn>
                        </p:par>
                        <p:par>
                          <p:cTn id="47" fill="hold" nodeType="afterGroup">
                            <p:stCondLst>
                              <p:cond delay="500"/>
                            </p:stCondLst>
                            <p:childTnLst>
                              <p:par>
                                <p:cTn id="48" presetID="14" presetClass="entr" presetSubtype="10" fill="hold" nodeType="after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randombar(horizontal)">
                                      <p:cBhvr>
                                        <p:cTn id="50" dur="500"/>
                                        <p:tgtEl>
                                          <p:spTgt spid="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4" presetClass="entr" presetSubtype="10" fill="hold" nodeType="click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randombar(horizontal)">
                                      <p:cBhvr>
                                        <p:cTn id="55" dur="500"/>
                                        <p:tgtEl>
                                          <p:spTgt spid="30"/>
                                        </p:tgtEl>
                                      </p:cBhvr>
                                    </p:animEffect>
                                  </p:childTnLst>
                                </p:cTn>
                              </p:par>
                            </p:childTnLst>
                          </p:cTn>
                        </p:par>
                        <p:par>
                          <p:cTn id="56" fill="hold" nodeType="afterGroup">
                            <p:stCondLst>
                              <p:cond delay="500"/>
                            </p:stCondLst>
                            <p:childTnLst>
                              <p:par>
                                <p:cTn id="57" presetID="14" presetClass="entr" presetSubtype="10" fill="hold"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randombar(horizontal)">
                                      <p:cBhvr>
                                        <p:cTn id="59" dur="500"/>
                                        <p:tgtEl>
                                          <p:spTgt spid="31"/>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4" presetClass="entr" presetSubtype="10" fill="hold" grpId="0" nodeType="clickEffect">
                                  <p:stCondLst>
                                    <p:cond delay="0"/>
                                  </p:stCondLst>
                                  <p:childTnLst>
                                    <p:set>
                                      <p:cBhvr>
                                        <p:cTn id="63" dur="1" fill="hold">
                                          <p:stCondLst>
                                            <p:cond delay="0"/>
                                          </p:stCondLst>
                                        </p:cTn>
                                        <p:tgtEl>
                                          <p:spTgt spid="47"/>
                                        </p:tgtEl>
                                        <p:attrNameLst>
                                          <p:attrName>style.visibility</p:attrName>
                                        </p:attrNameLst>
                                      </p:cBhvr>
                                      <p:to>
                                        <p:strVal val="visible"/>
                                      </p:to>
                                    </p:set>
                                    <p:animEffect transition="in" filter="randombar(horizontal)">
                                      <p:cBhvr>
                                        <p:cTn id="64" dur="500"/>
                                        <p:tgtEl>
                                          <p:spTgt spid="47"/>
                                        </p:tgtEl>
                                      </p:cBhvr>
                                    </p:animEffect>
                                  </p:childTnLst>
                                </p:cTn>
                              </p:par>
                            </p:childTnLst>
                          </p:cTn>
                        </p:par>
                        <p:par>
                          <p:cTn id="65" fill="hold" nodeType="afterGroup">
                            <p:stCondLst>
                              <p:cond delay="500"/>
                            </p:stCondLst>
                            <p:childTnLst>
                              <p:par>
                                <p:cTn id="66" presetID="14" presetClass="entr" presetSubtype="10" fill="hold" nodeType="after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randombar(horizontal)">
                                      <p:cBhvr>
                                        <p:cTn id="68" dur="500"/>
                                        <p:tgtEl>
                                          <p:spTgt spid="7"/>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4" presetClass="entr" presetSubtype="10" fill="hold" grpId="0" nodeType="clickEffect">
                                  <p:stCondLst>
                                    <p:cond delay="0"/>
                                  </p:stCondLst>
                                  <p:childTnLst>
                                    <p:set>
                                      <p:cBhvr>
                                        <p:cTn id="72" dur="1" fill="hold">
                                          <p:stCondLst>
                                            <p:cond delay="0"/>
                                          </p:stCondLst>
                                        </p:cTn>
                                        <p:tgtEl>
                                          <p:spTgt spid="49"/>
                                        </p:tgtEl>
                                        <p:attrNameLst>
                                          <p:attrName>style.visibility</p:attrName>
                                        </p:attrNameLst>
                                      </p:cBhvr>
                                      <p:to>
                                        <p:strVal val="visible"/>
                                      </p:to>
                                    </p:set>
                                    <p:animEffect transition="in" filter="randombar(horizontal)">
                                      <p:cBhvr>
                                        <p:cTn id="73" dur="500"/>
                                        <p:tgtEl>
                                          <p:spTgt spid="49"/>
                                        </p:tgtEl>
                                      </p:cBhvr>
                                    </p:animEffect>
                                  </p:childTnLst>
                                </p:cTn>
                              </p:par>
                            </p:childTnLst>
                          </p:cTn>
                        </p:par>
                        <p:par>
                          <p:cTn id="74" fill="hold" nodeType="afterGroup">
                            <p:stCondLst>
                              <p:cond delay="500"/>
                            </p:stCondLst>
                            <p:childTnLst>
                              <p:par>
                                <p:cTn id="75" presetID="14" presetClass="entr" presetSubtype="10" fill="hold" nodeType="after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randombar(horizontal)">
                                      <p:cBhvr>
                                        <p:cTn id="77" dur="500"/>
                                        <p:tgtEl>
                                          <p:spTgt spid="4"/>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2"/>
                                        </p:tgtEl>
                                        <p:attrNameLst>
                                          <p:attrName>style.visibility</p:attrName>
                                        </p:attrNameLst>
                                      </p:cBhvr>
                                      <p:to>
                                        <p:strVal val="visible"/>
                                      </p:to>
                                    </p:set>
                                    <p:animEffect transition="in" filter="fade">
                                      <p:cBhvr>
                                        <p:cTn id="82" dur="1000"/>
                                        <p:tgtEl>
                                          <p:spTgt spid="2"/>
                                        </p:tgtEl>
                                      </p:cBhvr>
                                    </p:animEffect>
                                    <p:anim calcmode="lin" valueType="num">
                                      <p:cBhvr>
                                        <p:cTn id="83" dur="1000" fill="hold"/>
                                        <p:tgtEl>
                                          <p:spTgt spid="2"/>
                                        </p:tgtEl>
                                        <p:attrNameLst>
                                          <p:attrName>ppt_x</p:attrName>
                                        </p:attrNameLst>
                                      </p:cBhvr>
                                      <p:tavLst>
                                        <p:tav tm="0">
                                          <p:val>
                                            <p:strVal val="#ppt_x"/>
                                          </p:val>
                                        </p:tav>
                                        <p:tav tm="100000">
                                          <p:val>
                                            <p:strVal val="#ppt_x"/>
                                          </p:val>
                                        </p:tav>
                                      </p:tavLst>
                                    </p:anim>
                                    <p:anim calcmode="lin" valueType="num">
                                      <p:cBhvr>
                                        <p:cTn id="8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14" presetClass="entr" presetSubtype="10" fill="hold" grpId="0" nodeType="clickEffect">
                                  <p:stCondLst>
                                    <p:cond delay="0"/>
                                  </p:stCondLst>
                                  <p:childTnLst>
                                    <p:set>
                                      <p:cBhvr>
                                        <p:cTn id="88" dur="1" fill="hold">
                                          <p:stCondLst>
                                            <p:cond delay="0"/>
                                          </p:stCondLst>
                                        </p:cTn>
                                        <p:tgtEl>
                                          <p:spTgt spid="48"/>
                                        </p:tgtEl>
                                        <p:attrNameLst>
                                          <p:attrName>style.visibility</p:attrName>
                                        </p:attrNameLst>
                                      </p:cBhvr>
                                      <p:to>
                                        <p:strVal val="visible"/>
                                      </p:to>
                                    </p:set>
                                    <p:animEffect transition="in" filter="randombar(horizontal)">
                                      <p:cBhvr>
                                        <p:cTn id="89" dur="500"/>
                                        <p:tgtEl>
                                          <p:spTgt spid="48"/>
                                        </p:tgtEl>
                                      </p:cBhvr>
                                    </p:animEffect>
                                  </p:childTnLst>
                                </p:cTn>
                              </p:par>
                            </p:childTnLst>
                          </p:cTn>
                        </p:par>
                        <p:par>
                          <p:cTn id="90" fill="hold" nodeType="afterGroup">
                            <p:stCondLst>
                              <p:cond delay="500"/>
                            </p:stCondLst>
                            <p:childTnLst>
                              <p:par>
                                <p:cTn id="91" presetID="14" presetClass="entr" presetSubtype="10" fill="hold" nodeType="afterEffect">
                                  <p:stCondLst>
                                    <p:cond delay="0"/>
                                  </p:stCondLst>
                                  <p:childTnLst>
                                    <p:set>
                                      <p:cBhvr>
                                        <p:cTn id="92" dur="1" fill="hold">
                                          <p:stCondLst>
                                            <p:cond delay="0"/>
                                          </p:stCondLst>
                                        </p:cTn>
                                        <p:tgtEl>
                                          <p:spTgt spid="5"/>
                                        </p:tgtEl>
                                        <p:attrNameLst>
                                          <p:attrName>style.visibility</p:attrName>
                                        </p:attrNameLst>
                                      </p:cBhvr>
                                      <p:to>
                                        <p:strVal val="visible"/>
                                      </p:to>
                                    </p:set>
                                    <p:animEffect transition="in" filter="randombar(horizontal)">
                                      <p:cBhvr>
                                        <p:cTn id="9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65" grpId="0"/>
      <p:bldP spid="66" grpId="0"/>
      <p:bldP spid="67" grpId="0" animBg="1"/>
      <p:bldP spid="68" grpId="0" animBg="1"/>
      <p:bldP spid="70" grpId="0"/>
      <p:bldP spid="46" grpId="0"/>
      <p:bldP spid="47" grpId="0"/>
      <p:bldP spid="48" grpId="0"/>
      <p:bldP spid="49" grpId="0"/>
      <p:bldP spid="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18"/>
          <p:cNvGrpSpPr>
            <a:grpSpLocks/>
          </p:cNvGrpSpPr>
          <p:nvPr/>
        </p:nvGrpSpPr>
        <p:grpSpPr bwMode="auto">
          <a:xfrm>
            <a:off x="2362200" y="1676400"/>
            <a:ext cx="2708275" cy="2133600"/>
            <a:chOff x="3766" y="2400"/>
            <a:chExt cx="1706" cy="1344"/>
          </a:xfrm>
        </p:grpSpPr>
        <p:sp>
          <p:nvSpPr>
            <p:cNvPr id="34840" name="Oval 19"/>
            <p:cNvSpPr>
              <a:spLocks noChangeArrowheads="1"/>
            </p:cNvSpPr>
            <p:nvPr/>
          </p:nvSpPr>
          <p:spPr bwMode="auto">
            <a:xfrm>
              <a:off x="3766" y="2911"/>
              <a:ext cx="1413" cy="546"/>
            </a:xfrm>
            <a:prstGeom prst="ellipse">
              <a:avLst/>
            </a:prstGeom>
            <a:solidFill>
              <a:srgbClr val="61FF61"/>
            </a:solidFill>
            <a:ln w="9525">
              <a:solidFill>
                <a:srgbClr val="000000"/>
              </a:solidFill>
              <a:round/>
              <a:headEnd/>
              <a:tailEnd/>
            </a:ln>
          </p:spPr>
          <p:txBody>
            <a:bodyPr/>
            <a:lstStyle/>
            <a:p>
              <a:endParaRPr lang="en-US" sz="2800">
                <a:latin typeface="Times New Roman" pitchFamily="18" charset="0"/>
                <a:cs typeface="Times New Roman" pitchFamily="18" charset="0"/>
              </a:endParaRPr>
            </a:p>
          </p:txBody>
        </p:sp>
        <p:sp>
          <p:nvSpPr>
            <p:cNvPr id="34841" name="Line 20"/>
            <p:cNvSpPr>
              <a:spLocks noChangeShapeType="1"/>
            </p:cNvSpPr>
            <p:nvPr/>
          </p:nvSpPr>
          <p:spPr bwMode="auto">
            <a:xfrm flipV="1">
              <a:off x="4494" y="2520"/>
              <a:ext cx="1" cy="656"/>
            </a:xfrm>
            <a:prstGeom prst="line">
              <a:avLst/>
            </a:prstGeom>
            <a:noFill/>
            <a:ln w="22225">
              <a:solidFill>
                <a:srgbClr val="1109B7"/>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42" name="Line 21"/>
            <p:cNvSpPr>
              <a:spLocks noChangeShapeType="1"/>
            </p:cNvSpPr>
            <p:nvPr/>
          </p:nvSpPr>
          <p:spPr bwMode="auto">
            <a:xfrm>
              <a:off x="4494" y="3168"/>
              <a:ext cx="435" cy="23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43" name="Line 22"/>
            <p:cNvSpPr>
              <a:spLocks noChangeShapeType="1"/>
            </p:cNvSpPr>
            <p:nvPr/>
          </p:nvSpPr>
          <p:spPr bwMode="auto">
            <a:xfrm flipV="1">
              <a:off x="4929" y="3161"/>
              <a:ext cx="543" cy="234"/>
            </a:xfrm>
            <a:prstGeom prst="line">
              <a:avLst/>
            </a:prstGeom>
            <a:noFill/>
            <a:ln w="22225">
              <a:solidFill>
                <a:srgbClr val="1109B7"/>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44" name="Text Box 23"/>
            <p:cNvSpPr txBox="1">
              <a:spLocks noChangeArrowheads="1"/>
            </p:cNvSpPr>
            <p:nvPr/>
          </p:nvSpPr>
          <p:spPr bwMode="auto">
            <a:xfrm>
              <a:off x="4874" y="3353"/>
              <a:ext cx="544"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r>
                <a:rPr lang="en-US" sz="2000">
                  <a:latin typeface="Times New Roman" pitchFamily="18" charset="0"/>
                  <a:cs typeface="Times New Roman" pitchFamily="18" charset="0"/>
                </a:rPr>
                <a:t>M</a:t>
              </a:r>
            </a:p>
          </p:txBody>
        </p:sp>
        <p:sp>
          <p:nvSpPr>
            <p:cNvPr id="34845" name="Text Box 24"/>
            <p:cNvSpPr txBox="1">
              <a:spLocks noChangeArrowheads="1"/>
            </p:cNvSpPr>
            <p:nvPr/>
          </p:nvSpPr>
          <p:spPr bwMode="auto">
            <a:xfrm>
              <a:off x="5179" y="3157"/>
              <a:ext cx="1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endParaRPr lang="en-US" sz="2800">
                <a:latin typeface="Times New Roman" pitchFamily="18" charset="0"/>
                <a:cs typeface="Times New Roman" pitchFamily="18" charset="0"/>
              </a:endParaRPr>
            </a:p>
          </p:txBody>
        </p:sp>
        <p:sp>
          <p:nvSpPr>
            <p:cNvPr id="34846" name="Text Box 25"/>
            <p:cNvSpPr txBox="1">
              <a:spLocks noChangeArrowheads="1"/>
            </p:cNvSpPr>
            <p:nvPr/>
          </p:nvSpPr>
          <p:spPr bwMode="auto">
            <a:xfrm>
              <a:off x="4636" y="3018"/>
              <a:ext cx="1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endParaRPr lang="en-US" sz="2800">
                <a:latin typeface="Times New Roman" pitchFamily="18" charset="0"/>
                <a:cs typeface="Times New Roman" pitchFamily="18" charset="0"/>
              </a:endParaRPr>
            </a:p>
          </p:txBody>
        </p:sp>
        <p:sp>
          <p:nvSpPr>
            <p:cNvPr id="34847" name="Text Box 26"/>
            <p:cNvSpPr txBox="1">
              <a:spLocks noChangeArrowheads="1"/>
            </p:cNvSpPr>
            <p:nvPr/>
          </p:nvSpPr>
          <p:spPr bwMode="auto">
            <a:xfrm>
              <a:off x="4279" y="3049"/>
              <a:ext cx="285"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r>
                <a:rPr lang="en-US">
                  <a:latin typeface="Times New Roman" pitchFamily="18" charset="0"/>
                  <a:cs typeface="Times New Roman" pitchFamily="18" charset="0"/>
                </a:rPr>
                <a:t>O</a:t>
              </a:r>
            </a:p>
          </p:txBody>
        </p:sp>
        <p:sp>
          <p:nvSpPr>
            <p:cNvPr id="34848" name="Text Box 27"/>
            <p:cNvSpPr txBox="1">
              <a:spLocks noChangeArrowheads="1"/>
            </p:cNvSpPr>
            <p:nvPr/>
          </p:nvSpPr>
          <p:spPr bwMode="auto">
            <a:xfrm>
              <a:off x="4419" y="2400"/>
              <a:ext cx="1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endParaRPr lang="en-US" sz="2800">
                <a:latin typeface="Times New Roman" pitchFamily="18" charset="0"/>
                <a:cs typeface="Times New Roman" pitchFamily="18" charset="0"/>
              </a:endParaRPr>
            </a:p>
          </p:txBody>
        </p:sp>
        <p:graphicFrame>
          <p:nvGraphicFramePr>
            <p:cNvPr id="34849" name="Object 28"/>
            <p:cNvGraphicFramePr>
              <a:graphicFrameLocks noChangeAspect="1"/>
            </p:cNvGraphicFramePr>
            <p:nvPr/>
          </p:nvGraphicFramePr>
          <p:xfrm>
            <a:off x="4656" y="2977"/>
            <a:ext cx="329" cy="287"/>
          </p:xfrm>
          <a:graphic>
            <a:graphicData uri="http://schemas.openxmlformats.org/presentationml/2006/ole">
              <mc:AlternateContent xmlns:mc="http://schemas.openxmlformats.org/markup-compatibility/2006">
                <mc:Choice xmlns:v="urn:schemas-microsoft-com:vml" Requires="v">
                  <p:oleObj name="Equation" r:id="rId2" imgW="152268" imgH="215713" progId="Equation.3">
                    <p:embed/>
                  </p:oleObj>
                </mc:Choice>
                <mc:Fallback>
                  <p:oleObj name="Equation" r:id="rId2" imgW="152268" imgH="215713"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6" y="2977"/>
                          <a:ext cx="329"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50" name="Object 29"/>
            <p:cNvGraphicFramePr>
              <a:graphicFrameLocks noChangeAspect="1"/>
            </p:cNvGraphicFramePr>
            <p:nvPr/>
          </p:nvGraphicFramePr>
          <p:xfrm>
            <a:off x="5230" y="2932"/>
            <a:ext cx="216" cy="284"/>
          </p:xfrm>
          <a:graphic>
            <a:graphicData uri="http://schemas.openxmlformats.org/presentationml/2006/ole">
              <mc:AlternateContent xmlns:mc="http://schemas.openxmlformats.org/markup-compatibility/2006">
                <mc:Choice xmlns:v="urn:schemas-microsoft-com:vml" Requires="v">
                  <p:oleObj name="Equation" r:id="rId4" imgW="126780" imgH="215526" progId="Equation.DSMT4">
                    <p:embed/>
                  </p:oleObj>
                </mc:Choice>
                <mc:Fallback>
                  <p:oleObj name="Equation" r:id="rId4" imgW="126780" imgH="215526"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0" y="2932"/>
                          <a:ext cx="216"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51" name="Object 30"/>
            <p:cNvGraphicFramePr>
              <a:graphicFrameLocks noChangeAspect="1"/>
            </p:cNvGraphicFramePr>
            <p:nvPr/>
          </p:nvGraphicFramePr>
          <p:xfrm>
            <a:off x="4246" y="2530"/>
            <a:ext cx="302" cy="293"/>
          </p:xfrm>
          <a:graphic>
            <a:graphicData uri="http://schemas.openxmlformats.org/presentationml/2006/ole">
              <mc:AlternateContent xmlns:mc="http://schemas.openxmlformats.org/markup-compatibility/2006">
                <mc:Choice xmlns:v="urn:schemas-microsoft-com:vml" Requires="v">
                  <p:oleObj name="Equation" r:id="rId6" imgW="139579" imgH="215713" progId="Equation.DSMT4">
                    <p:embed/>
                  </p:oleObj>
                </mc:Choice>
                <mc:Fallback>
                  <p:oleObj name="Equation" r:id="rId6" imgW="139579" imgH="21571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46" y="2530"/>
                          <a:ext cx="302"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3" name="Rectangle 5"/>
          <p:cNvSpPr>
            <a:spLocks noChangeArrowheads="1"/>
          </p:cNvSpPr>
          <p:nvPr/>
        </p:nvSpPr>
        <p:spPr bwMode="auto">
          <a:xfrm>
            <a:off x="438150" y="481013"/>
            <a:ext cx="82296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buFont typeface="Wingdings" pitchFamily="2" charset="2"/>
              <a:buChar char="Ø"/>
              <a:tabLst>
                <a:tab pos="457200" algn="l"/>
                <a:tab pos="914400" algn="l"/>
                <a:tab pos="1371600" algn="l"/>
                <a:tab pos="1677988" algn="l"/>
              </a:tabLst>
            </a:pPr>
            <a:r>
              <a:rPr lang="en-US" sz="2800" b="1" i="1">
                <a:solidFill>
                  <a:srgbClr val="5A0650"/>
                </a:solidFill>
                <a:latin typeface="Times New Roman" pitchFamily="18" charset="0"/>
                <a:cs typeface="Times New Roman" pitchFamily="18" charset="0"/>
              </a:rPr>
              <a:t>Liên hệ giữa vận tốc dài và vận tốc góc, gia tốc dài và gia tốc góc</a:t>
            </a:r>
            <a:endParaRPr lang="en-US" sz="3600" b="1" i="1">
              <a:solidFill>
                <a:srgbClr val="5A0650"/>
              </a:solidFill>
              <a:latin typeface="Times New Roman" pitchFamily="18" charset="0"/>
              <a:cs typeface="Times New Roman" pitchFamily="18" charset="0"/>
            </a:endParaRPr>
          </a:p>
        </p:txBody>
      </p:sp>
      <p:sp>
        <p:nvSpPr>
          <p:cNvPr id="28" name="Right Arrow 27"/>
          <p:cNvSpPr/>
          <p:nvPr/>
        </p:nvSpPr>
        <p:spPr>
          <a:xfrm>
            <a:off x="4452938" y="4445000"/>
            <a:ext cx="304800" cy="228600"/>
          </a:xfrm>
          <a:prstGeom prst="right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800">
              <a:solidFill>
                <a:srgbClr val="0070C0"/>
              </a:solidFill>
              <a:latin typeface="Times New Roman" pitchFamily="18" charset="0"/>
              <a:cs typeface="Times New Roman" pitchFamily="18" charset="0"/>
            </a:endParaRPr>
          </a:p>
        </p:txBody>
      </p:sp>
      <p:sp>
        <p:nvSpPr>
          <p:cNvPr id="29" name="Right Arrow 28"/>
          <p:cNvSpPr/>
          <p:nvPr/>
        </p:nvSpPr>
        <p:spPr>
          <a:xfrm>
            <a:off x="4419600" y="5799138"/>
            <a:ext cx="304800" cy="228600"/>
          </a:xfrm>
          <a:prstGeom prst="right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800">
              <a:solidFill>
                <a:srgbClr val="0070C0"/>
              </a:solidFill>
              <a:latin typeface="Times New Roman" pitchFamily="18" charset="0"/>
              <a:cs typeface="Times New Roman" pitchFamily="18" charset="0"/>
            </a:endParaRPr>
          </a:p>
        </p:txBody>
      </p:sp>
      <p:grpSp>
        <p:nvGrpSpPr>
          <p:cNvPr id="4" name="Group 18"/>
          <p:cNvGrpSpPr>
            <a:grpSpLocks/>
          </p:cNvGrpSpPr>
          <p:nvPr/>
        </p:nvGrpSpPr>
        <p:grpSpPr bwMode="auto">
          <a:xfrm>
            <a:off x="5648325" y="1752600"/>
            <a:ext cx="3038475" cy="2133600"/>
            <a:chOff x="3766" y="2400"/>
            <a:chExt cx="1914" cy="1344"/>
          </a:xfrm>
        </p:grpSpPr>
        <p:sp>
          <p:nvSpPr>
            <p:cNvPr id="34828" name="Oval 19"/>
            <p:cNvSpPr>
              <a:spLocks noChangeArrowheads="1"/>
            </p:cNvSpPr>
            <p:nvPr/>
          </p:nvSpPr>
          <p:spPr bwMode="auto">
            <a:xfrm>
              <a:off x="3766" y="2911"/>
              <a:ext cx="1413" cy="546"/>
            </a:xfrm>
            <a:prstGeom prst="ellipse">
              <a:avLst/>
            </a:prstGeom>
            <a:solidFill>
              <a:srgbClr val="43CEFF"/>
            </a:solidFill>
            <a:ln w="9525">
              <a:solidFill>
                <a:srgbClr val="000000"/>
              </a:solidFill>
              <a:round/>
              <a:headEnd/>
              <a:tailEnd/>
            </a:ln>
          </p:spPr>
          <p:txBody>
            <a:bodyPr/>
            <a:lstStyle/>
            <a:p>
              <a:endParaRPr lang="en-US" sz="2800">
                <a:latin typeface="Times New Roman" pitchFamily="18" charset="0"/>
                <a:cs typeface="Times New Roman" pitchFamily="18" charset="0"/>
              </a:endParaRPr>
            </a:p>
          </p:txBody>
        </p:sp>
        <p:sp>
          <p:nvSpPr>
            <p:cNvPr id="34829" name="Line 20"/>
            <p:cNvSpPr>
              <a:spLocks noChangeShapeType="1"/>
            </p:cNvSpPr>
            <p:nvPr/>
          </p:nvSpPr>
          <p:spPr bwMode="auto">
            <a:xfrm flipV="1">
              <a:off x="4494" y="2520"/>
              <a:ext cx="1" cy="656"/>
            </a:xfrm>
            <a:prstGeom prst="line">
              <a:avLst/>
            </a:prstGeom>
            <a:noFill/>
            <a:ln w="222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30" name="Line 21"/>
            <p:cNvSpPr>
              <a:spLocks noChangeShapeType="1"/>
            </p:cNvSpPr>
            <p:nvPr/>
          </p:nvSpPr>
          <p:spPr bwMode="auto">
            <a:xfrm>
              <a:off x="4494" y="3168"/>
              <a:ext cx="435" cy="23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31" name="Line 22"/>
            <p:cNvSpPr>
              <a:spLocks noChangeShapeType="1"/>
            </p:cNvSpPr>
            <p:nvPr/>
          </p:nvSpPr>
          <p:spPr bwMode="auto">
            <a:xfrm flipV="1">
              <a:off x="4929" y="3161"/>
              <a:ext cx="543" cy="234"/>
            </a:xfrm>
            <a:prstGeom prst="line">
              <a:avLst/>
            </a:prstGeom>
            <a:noFill/>
            <a:ln w="222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32" name="Text Box 23"/>
            <p:cNvSpPr txBox="1">
              <a:spLocks noChangeArrowheads="1"/>
            </p:cNvSpPr>
            <p:nvPr/>
          </p:nvSpPr>
          <p:spPr bwMode="auto">
            <a:xfrm>
              <a:off x="4874" y="3353"/>
              <a:ext cx="544"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r>
                <a:rPr lang="en-US" sz="2000">
                  <a:latin typeface="Times New Roman" pitchFamily="18" charset="0"/>
                  <a:cs typeface="Times New Roman" pitchFamily="18" charset="0"/>
                </a:rPr>
                <a:t>M</a:t>
              </a:r>
            </a:p>
          </p:txBody>
        </p:sp>
        <p:sp>
          <p:nvSpPr>
            <p:cNvPr id="34833" name="Text Box 24"/>
            <p:cNvSpPr txBox="1">
              <a:spLocks noChangeArrowheads="1"/>
            </p:cNvSpPr>
            <p:nvPr/>
          </p:nvSpPr>
          <p:spPr bwMode="auto">
            <a:xfrm>
              <a:off x="5179" y="3157"/>
              <a:ext cx="1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endParaRPr lang="en-US" sz="2800">
                <a:latin typeface="Times New Roman" pitchFamily="18" charset="0"/>
                <a:cs typeface="Times New Roman" pitchFamily="18" charset="0"/>
              </a:endParaRPr>
            </a:p>
          </p:txBody>
        </p:sp>
        <p:sp>
          <p:nvSpPr>
            <p:cNvPr id="34834" name="Text Box 25"/>
            <p:cNvSpPr txBox="1">
              <a:spLocks noChangeArrowheads="1"/>
            </p:cNvSpPr>
            <p:nvPr/>
          </p:nvSpPr>
          <p:spPr bwMode="auto">
            <a:xfrm>
              <a:off x="4636" y="3018"/>
              <a:ext cx="1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endParaRPr lang="en-US" sz="2800">
                <a:latin typeface="Times New Roman" pitchFamily="18" charset="0"/>
                <a:cs typeface="Times New Roman" pitchFamily="18" charset="0"/>
              </a:endParaRPr>
            </a:p>
          </p:txBody>
        </p:sp>
        <p:sp>
          <p:nvSpPr>
            <p:cNvPr id="34835" name="Text Box 26"/>
            <p:cNvSpPr txBox="1">
              <a:spLocks noChangeArrowheads="1"/>
            </p:cNvSpPr>
            <p:nvPr/>
          </p:nvSpPr>
          <p:spPr bwMode="auto">
            <a:xfrm>
              <a:off x="4279" y="3058"/>
              <a:ext cx="279"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r>
                <a:rPr lang="en-US">
                  <a:latin typeface="Times New Roman" pitchFamily="18" charset="0"/>
                  <a:cs typeface="Times New Roman" pitchFamily="18" charset="0"/>
                </a:rPr>
                <a:t>O</a:t>
              </a:r>
            </a:p>
          </p:txBody>
        </p:sp>
        <p:sp>
          <p:nvSpPr>
            <p:cNvPr id="34836" name="Text Box 27"/>
            <p:cNvSpPr txBox="1">
              <a:spLocks noChangeArrowheads="1"/>
            </p:cNvSpPr>
            <p:nvPr/>
          </p:nvSpPr>
          <p:spPr bwMode="auto">
            <a:xfrm>
              <a:off x="4419" y="2400"/>
              <a:ext cx="1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endParaRPr lang="en-US" sz="2800">
                <a:latin typeface="Times New Roman" pitchFamily="18" charset="0"/>
                <a:cs typeface="Times New Roman" pitchFamily="18" charset="0"/>
              </a:endParaRPr>
            </a:p>
          </p:txBody>
        </p:sp>
        <p:graphicFrame>
          <p:nvGraphicFramePr>
            <p:cNvPr id="34837" name="Object 32"/>
            <p:cNvGraphicFramePr>
              <a:graphicFrameLocks noChangeAspect="1"/>
            </p:cNvGraphicFramePr>
            <p:nvPr/>
          </p:nvGraphicFramePr>
          <p:xfrm>
            <a:off x="4656" y="2977"/>
            <a:ext cx="329" cy="287"/>
          </p:xfrm>
          <a:graphic>
            <a:graphicData uri="http://schemas.openxmlformats.org/presentationml/2006/ole">
              <mc:AlternateContent xmlns:mc="http://schemas.openxmlformats.org/markup-compatibility/2006">
                <mc:Choice xmlns:v="urn:schemas-microsoft-com:vml" Requires="v">
                  <p:oleObj name="Equation" r:id="rId2" imgW="152268" imgH="215713" progId="Equation.3">
                    <p:embed/>
                  </p:oleObj>
                </mc:Choice>
                <mc:Fallback>
                  <p:oleObj name="Equation" r:id="rId2" imgW="152268" imgH="215713"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6" y="2977"/>
                          <a:ext cx="329"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38" name="Object 33"/>
            <p:cNvGraphicFramePr>
              <a:graphicFrameLocks noChangeAspect="1"/>
            </p:cNvGraphicFramePr>
            <p:nvPr/>
          </p:nvGraphicFramePr>
          <p:xfrm>
            <a:off x="5277" y="2847"/>
            <a:ext cx="403" cy="369"/>
          </p:xfrm>
          <a:graphic>
            <a:graphicData uri="http://schemas.openxmlformats.org/presentationml/2006/ole">
              <mc:AlternateContent xmlns:mc="http://schemas.openxmlformats.org/markup-compatibility/2006">
                <mc:Choice xmlns:v="urn:schemas-microsoft-com:vml" Requires="v">
                  <p:oleObj name="Equation" r:id="rId8" imgW="152334" imgH="228501" progId="Equation.DSMT4">
                    <p:embed/>
                  </p:oleObj>
                </mc:Choice>
                <mc:Fallback>
                  <p:oleObj name="Equation" r:id="rId8" imgW="152334" imgH="228501"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77" y="2847"/>
                          <a:ext cx="403"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39" name="Object 34"/>
            <p:cNvGraphicFramePr>
              <a:graphicFrameLocks noChangeAspect="1"/>
            </p:cNvGraphicFramePr>
            <p:nvPr/>
          </p:nvGraphicFramePr>
          <p:xfrm>
            <a:off x="4240" y="2415"/>
            <a:ext cx="317" cy="379"/>
          </p:xfrm>
          <a:graphic>
            <a:graphicData uri="http://schemas.openxmlformats.org/presentationml/2006/ole">
              <mc:AlternateContent xmlns:mc="http://schemas.openxmlformats.org/markup-compatibility/2006">
                <mc:Choice xmlns:v="urn:schemas-microsoft-com:vml" Requires="v">
                  <p:oleObj name="Equation" r:id="rId10" imgW="126890" imgH="241091" progId="Equation.DSMT4">
                    <p:embed/>
                  </p:oleObj>
                </mc:Choice>
                <mc:Fallback>
                  <p:oleObj name="Equation" r:id="rId10" imgW="126890" imgH="241091"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40" y="2415"/>
                          <a:ext cx="317"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1" name="Rectangle 40"/>
          <p:cNvSpPr>
            <a:spLocks noRot="1" noChangeAspect="1" noMove="1" noResize="1" noEditPoints="1" noAdjustHandles="1" noChangeArrowheads="1" noChangeShapeType="1" noTextEdit="1"/>
          </p:cNvSpPr>
          <p:nvPr/>
        </p:nvSpPr>
        <p:spPr bwMode="auto">
          <a:xfrm>
            <a:off x="433316" y="2657475"/>
            <a:ext cx="1828800" cy="646331"/>
          </a:xfrm>
          <a:prstGeom prst="rect">
            <a:avLst/>
          </a:prstGeom>
          <a:blipFill rotWithShape="1">
            <a:blip r:embed="rId12"/>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39" name="Rectangle 26"/>
          <p:cNvSpPr>
            <a:spLocks noRot="1" noChangeAspect="1" noMove="1" noResize="1" noEditPoints="1" noAdjustHandles="1" noChangeArrowheads="1" noChangeShapeType="1" noTextEdit="1"/>
          </p:cNvSpPr>
          <p:nvPr/>
        </p:nvSpPr>
        <p:spPr bwMode="auto">
          <a:xfrm>
            <a:off x="392088" y="4072618"/>
            <a:ext cx="3729062" cy="811184"/>
          </a:xfrm>
          <a:prstGeom prst="rect">
            <a:avLst/>
          </a:prstGeom>
          <a:blipFill rotWithShape="1">
            <a:blip r:embed="rId13"/>
            <a:stretch>
              <a:fillRect b="-10526"/>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40" name="Rectangle 26"/>
          <p:cNvSpPr>
            <a:spLocks noRot="1" noChangeAspect="1" noMove="1" noResize="1" noEditPoints="1" noAdjustHandles="1" noChangeArrowheads="1" noChangeShapeType="1" noTextEdit="1"/>
          </p:cNvSpPr>
          <p:nvPr/>
        </p:nvSpPr>
        <p:spPr bwMode="auto">
          <a:xfrm>
            <a:off x="229026" y="5393546"/>
            <a:ext cx="3729062" cy="811184"/>
          </a:xfrm>
          <a:prstGeom prst="rect">
            <a:avLst/>
          </a:prstGeom>
          <a:blipFill rotWithShape="1">
            <a:blip r:embed="rId14"/>
            <a:stretch>
              <a:fillRect b="-9774"/>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47" name="Rectangle 26"/>
          <p:cNvSpPr>
            <a:spLocks noRot="1" noChangeAspect="1" noMove="1" noResize="1" noEditPoints="1" noAdjustHandles="1" noChangeArrowheads="1" noChangeShapeType="1" noTextEdit="1"/>
          </p:cNvSpPr>
          <p:nvPr/>
        </p:nvSpPr>
        <p:spPr bwMode="auto">
          <a:xfrm>
            <a:off x="5468203" y="4266738"/>
            <a:ext cx="2143150" cy="584775"/>
          </a:xfrm>
          <a:prstGeom prst="rect">
            <a:avLst/>
          </a:prstGeom>
          <a:blipFill rotWithShape="1">
            <a:blip r:embed="rId15"/>
            <a:stretch>
              <a:fillRect t="-14583" b="-32292"/>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48" name="Rectangle 26"/>
          <p:cNvSpPr>
            <a:spLocks noRot="1" noChangeAspect="1" noMove="1" noResize="1" noEditPoints="1" noAdjustHandles="1" noChangeArrowheads="1" noChangeShapeType="1" noTextEdit="1"/>
          </p:cNvSpPr>
          <p:nvPr/>
        </p:nvSpPr>
        <p:spPr bwMode="auto">
          <a:xfrm>
            <a:off x="5391138" y="5545832"/>
            <a:ext cx="2143150" cy="658898"/>
          </a:xfrm>
          <a:prstGeom prst="rect">
            <a:avLst/>
          </a:prstGeom>
          <a:blipFill rotWithShape="1">
            <a:blip r:embed="rId16"/>
            <a:stretch>
              <a:fillRect t="-1852" b="-28704"/>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mc:AlternateContent xmlns:mc="http://schemas.openxmlformats.org/markup-compatibility/2006" xmlns:a14="http://schemas.microsoft.com/office/drawing/2010/main">
        <mc:Choice Requires="a14">
          <p:sp>
            <p:nvSpPr>
              <p:cNvPr id="2" name="Rectangle 1"/>
              <p:cNvSpPr/>
              <p:nvPr/>
            </p:nvSpPr>
            <p:spPr>
              <a:xfrm>
                <a:off x="7494588" y="5456238"/>
                <a:ext cx="135255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a:rPr>
                              <m:t>𝑎</m:t>
                            </m:r>
                          </m:e>
                          <m:sub>
                            <m:r>
                              <a:rPr lang="en-US" b="0" i="1" smtClean="0">
                                <a:latin typeface="Cambria Math"/>
                              </a:rPr>
                              <m:t>𝑛</m:t>
                            </m:r>
                          </m:sub>
                        </m:sSub>
                      </m:e>
                    </m:acc>
                  </m:oMath>
                </a14:m>
                <a:r>
                  <a:rPr lang="en-US" dirty="0"/>
                  <a: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𝑣</m:t>
                        </m:r>
                        <m:r>
                          <a:rPr lang="en-US" b="0" i="1" smtClean="0">
                            <a:latin typeface="Cambria Math"/>
                          </a:rPr>
                          <m:t>²</m:t>
                        </m:r>
                      </m:num>
                      <m:den>
                        <m:r>
                          <a:rPr lang="en-US" b="0" i="1" smtClean="0">
                            <a:latin typeface="Cambria Math"/>
                          </a:rPr>
                          <m:t>𝑟</m:t>
                        </m:r>
                      </m:den>
                    </m:f>
                  </m:oMath>
                </a14:m>
                <a:r>
                  <a:rPr lang="en-US" dirty="0"/>
                  <a:t>.</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a:rPr>
                          <m:t>𝑛</m:t>
                        </m:r>
                      </m:e>
                    </m:acc>
                  </m:oMath>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7494588" y="5456238"/>
                <a:ext cx="1352550" cy="914400"/>
              </a:xfrm>
              <a:prstGeom prst="rect">
                <a:avLst/>
              </a:prstGeom>
              <a:blipFill rotWithShape="1">
                <a:blip r:embed="rId19"/>
                <a:stretch>
                  <a:fillRect/>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82F62A8C-AEFD-C178-108E-614DFCDB1389}"/>
              </a:ext>
            </a:extLst>
          </p:cNvPr>
          <p:cNvSpPr>
            <a:spLocks noGrp="1"/>
          </p:cNvSpPr>
          <p:nvPr>
            <p:ph type="ftr" sz="quarter" idx="11"/>
          </p:nvPr>
        </p:nvSpPr>
        <p:spPr/>
        <p:txBody>
          <a:bodyPr/>
          <a:lstStyle/>
          <a:p>
            <a:r>
              <a:rPr lang="en-US"/>
              <a:t>Bùi Quốc Trung - VLDC</a:t>
            </a:r>
          </a:p>
        </p:txBody>
      </p:sp>
      <p:sp>
        <p:nvSpPr>
          <p:cNvPr id="6" name="Slide Number Placeholder 5">
            <a:extLst>
              <a:ext uri="{FF2B5EF4-FFF2-40B4-BE49-F238E27FC236}">
                <a16:creationId xmlns:a16="http://schemas.microsoft.com/office/drawing/2014/main" id="{A0F62566-871E-0966-2714-1257A57C5B10}"/>
              </a:ext>
            </a:extLst>
          </p:cNvPr>
          <p:cNvSpPr>
            <a:spLocks noGrp="1"/>
          </p:cNvSpPr>
          <p:nvPr>
            <p:ph type="sldNum" sz="quarter" idx="12"/>
          </p:nvPr>
        </p:nvSpPr>
        <p:spPr/>
        <p:txBody>
          <a:bodyPr/>
          <a:lstStyle/>
          <a:p>
            <a:fld id="{C4A94DE9-7404-4CC4-BDD8-EA2E97866C70}" type="slidenum">
              <a:rPr lang="en-US" smtClean="0"/>
              <a:t>54</a:t>
            </a:fld>
            <a:endParaRPr lang="en-US"/>
          </a:p>
        </p:txBody>
      </p:sp>
    </p:spTree>
    <p:extLst>
      <p:ext uri="{BB962C8B-B14F-4D97-AF65-F5344CB8AC3E}">
        <p14:creationId xmlns:p14="http://schemas.microsoft.com/office/powerpoint/2010/main" val="201379236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500"/>
                                  </p:stCondLst>
                                  <p:childTnLst>
                                    <p:set>
                                      <p:cBhvr>
                                        <p:cTn id="6" dur="1" fill="hold">
                                          <p:stCondLst>
                                            <p:cond delay="0"/>
                                          </p:stCondLst>
                                        </p:cTn>
                                        <p:tgtEl>
                                          <p:spTgt spid="23"/>
                                        </p:tgtEl>
                                        <p:attrNameLst>
                                          <p:attrName>style.visibility</p:attrName>
                                        </p:attrNameLst>
                                      </p:cBhvr>
                                      <p:to>
                                        <p:strVal val="visible"/>
                                      </p:to>
                                    </p:set>
                                    <p:animEffect transition="in" filter="checkerboard(across)">
                                      <p:cBhvr>
                                        <p:cTn id="7" dur="500"/>
                                        <p:tgtEl>
                                          <p:spTgt spid="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randombar(horizontal)">
                                      <p:cBhvr>
                                        <p:cTn id="12" dur="500"/>
                                        <p:tgtEl>
                                          <p:spTgt spid="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checkerboard(across)">
                                      <p:cBhvr>
                                        <p:cTn id="22" dur="500"/>
                                        <p:tgtEl>
                                          <p:spTgt spid="2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2" presetClass="entr" presetSubtype="0" fill="hold" nodeType="click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1000"/>
                                        <p:tgtEl>
                                          <p:spTgt spid="47"/>
                                        </p:tgtEl>
                                      </p:cBhvr>
                                    </p:animEffect>
                                    <p:anim calcmode="lin" valueType="num">
                                      <p:cBhvr>
                                        <p:cTn id="28" dur="1000" fill="hold"/>
                                        <p:tgtEl>
                                          <p:spTgt spid="47"/>
                                        </p:tgtEl>
                                        <p:attrNameLst>
                                          <p:attrName>ppt_x</p:attrName>
                                        </p:attrNameLst>
                                      </p:cBhvr>
                                      <p:tavLst>
                                        <p:tav tm="0">
                                          <p:val>
                                            <p:strVal val="#ppt_x"/>
                                          </p:val>
                                        </p:tav>
                                        <p:tav tm="100000">
                                          <p:val>
                                            <p:strVal val="#ppt_x"/>
                                          </p:val>
                                        </p:tav>
                                      </p:tavLst>
                                    </p:anim>
                                    <p:anim calcmode="lin" valueType="num">
                                      <p:cBhvr>
                                        <p:cTn id="29"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1" presetClass="entr" presetSubtype="8"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heel(8)">
                                      <p:cBhvr>
                                        <p:cTn id="34" dur="500"/>
                                        <p:tgtEl>
                                          <p:spTgt spid="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ntr" presetSubtype="0" fill="hold" nodeType="click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fade">
                                      <p:cBhvr>
                                        <p:cTn id="39" dur="500"/>
                                        <p:tgtEl>
                                          <p:spTgt spid="4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5" presetClass="entr" presetSubtype="10" fill="hold" grpId="0" nodeType="click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checkerboard(across)">
                                      <p:cBhvr>
                                        <p:cTn id="44" dur="500"/>
                                        <p:tgtEl>
                                          <p:spTgt spid="2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42" presetClass="entr" presetSubtype="0" fill="hold" nodeType="clickEffect">
                                  <p:stCondLst>
                                    <p:cond delay="0"/>
                                  </p:stCondLst>
                                  <p:childTnLst>
                                    <p:set>
                                      <p:cBhvr>
                                        <p:cTn id="48" dur="1" fill="hold">
                                          <p:stCondLst>
                                            <p:cond delay="0"/>
                                          </p:stCondLst>
                                        </p:cTn>
                                        <p:tgtEl>
                                          <p:spTgt spid="48"/>
                                        </p:tgtEl>
                                        <p:attrNameLst>
                                          <p:attrName>style.visibility</p:attrName>
                                        </p:attrNameLst>
                                      </p:cBhvr>
                                      <p:to>
                                        <p:strVal val="visible"/>
                                      </p:to>
                                    </p:set>
                                    <p:animEffect transition="in" filter="fade">
                                      <p:cBhvr>
                                        <p:cTn id="49" dur="1000"/>
                                        <p:tgtEl>
                                          <p:spTgt spid="48"/>
                                        </p:tgtEl>
                                      </p:cBhvr>
                                    </p:animEffect>
                                    <p:anim calcmode="lin" valueType="num">
                                      <p:cBhvr>
                                        <p:cTn id="50" dur="1000" fill="hold"/>
                                        <p:tgtEl>
                                          <p:spTgt spid="48"/>
                                        </p:tgtEl>
                                        <p:attrNameLst>
                                          <p:attrName>ppt_x</p:attrName>
                                        </p:attrNameLst>
                                      </p:cBhvr>
                                      <p:tavLst>
                                        <p:tav tm="0">
                                          <p:val>
                                            <p:strVal val="#ppt_x"/>
                                          </p:val>
                                        </p:tav>
                                        <p:tav tm="100000">
                                          <p:val>
                                            <p:strVal val="#ppt_x"/>
                                          </p:val>
                                        </p:tav>
                                      </p:tavLst>
                                    </p:anim>
                                    <p:anim calcmode="lin" valueType="num">
                                      <p:cBhvr>
                                        <p:cTn id="51"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1" presetClass="entr" presetSubtype="8" fill="hold" nodeType="clickEffect">
                                  <p:stCondLst>
                                    <p:cond delay="0"/>
                                  </p:stCondLst>
                                  <p:childTnLst>
                                    <p:set>
                                      <p:cBhvr>
                                        <p:cTn id="55" dur="1" fill="hold">
                                          <p:stCondLst>
                                            <p:cond delay="0"/>
                                          </p:stCondLst>
                                        </p:cTn>
                                        <p:tgtEl>
                                          <p:spTgt spid="4"/>
                                        </p:tgtEl>
                                        <p:attrNameLst>
                                          <p:attrName>style.visibility</p:attrName>
                                        </p:attrNameLst>
                                      </p:cBhvr>
                                      <p:to>
                                        <p:strVal val="visible"/>
                                      </p:to>
                                    </p:set>
                                    <p:animEffect transition="in" filter="wheel(8)">
                                      <p:cBhvr>
                                        <p:cTn id="5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8" grpId="0" animBg="1"/>
      <p:bldP spid="2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178" name="Group 18"/>
          <p:cNvGrpSpPr>
            <a:grpSpLocks/>
          </p:cNvGrpSpPr>
          <p:nvPr/>
        </p:nvGrpSpPr>
        <p:grpSpPr bwMode="auto">
          <a:xfrm>
            <a:off x="1371600" y="0"/>
            <a:ext cx="6323013" cy="762000"/>
            <a:chOff x="353" y="1392"/>
            <a:chExt cx="2937" cy="482"/>
          </a:xfrm>
        </p:grpSpPr>
        <p:pic>
          <p:nvPicPr>
            <p:cNvPr id="50180" name="Picture 43"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 y="1392"/>
              <a:ext cx="2937"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 Box 14"/>
            <p:cNvSpPr txBox="1">
              <a:spLocks noChangeArrowheads="1"/>
            </p:cNvSpPr>
            <p:nvPr/>
          </p:nvSpPr>
          <p:spPr bwMode="auto">
            <a:xfrm>
              <a:off x="687" y="1467"/>
              <a:ext cx="2263" cy="234"/>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ctr" fontAlgn="auto">
                <a:spcBef>
                  <a:spcPts val="2400"/>
                </a:spcBef>
                <a:spcAft>
                  <a:spcPts val="0"/>
                </a:spcAft>
                <a:defRPr/>
              </a:pPr>
              <a:r>
                <a:rPr lang="en-US" b="1" i="1" dirty="0">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b="1"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Một</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b="1"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số</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b="1"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chuyển</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b="1"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động</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b="1"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đơn</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b="1"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giản</a:t>
              </a:r>
              <a:endParaRPr lang="vi-VN" b="1" u="sng" dirty="0">
                <a:solidFill>
                  <a:srgbClr val="FF0000"/>
                </a:solidFill>
                <a:latin typeface="Times New Roman" pitchFamily="18" charset="0"/>
                <a:cs typeface="Times New Roman" pitchFamily="18" charset="0"/>
              </a:endParaRPr>
            </a:p>
          </p:txBody>
        </p:sp>
      </p:grpSp>
      <p:pic>
        <p:nvPicPr>
          <p:cNvPr id="41996"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063" y="893763"/>
            <a:ext cx="8915400" cy="584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a:extLst>
              <a:ext uri="{FF2B5EF4-FFF2-40B4-BE49-F238E27FC236}">
                <a16:creationId xmlns:a16="http://schemas.microsoft.com/office/drawing/2014/main" id="{80CACA85-15F8-B906-59A8-CC5AC52C8038}"/>
              </a:ext>
            </a:extLst>
          </p:cNvPr>
          <p:cNvSpPr>
            <a:spLocks noGrp="1"/>
          </p:cNvSpPr>
          <p:nvPr>
            <p:ph type="ftr" sz="quarter" idx="11"/>
          </p:nvPr>
        </p:nvSpPr>
        <p:spPr/>
        <p:txBody>
          <a:bodyPr/>
          <a:lstStyle/>
          <a:p>
            <a:r>
              <a:rPr lang="en-US"/>
              <a:t>Bùi Quốc Trung - VLDC</a:t>
            </a:r>
          </a:p>
        </p:txBody>
      </p:sp>
      <p:sp>
        <p:nvSpPr>
          <p:cNvPr id="3" name="Slide Number Placeholder 2">
            <a:extLst>
              <a:ext uri="{FF2B5EF4-FFF2-40B4-BE49-F238E27FC236}">
                <a16:creationId xmlns:a16="http://schemas.microsoft.com/office/drawing/2014/main" id="{7A57FAB8-E646-0DDE-BE8D-ECDADAF8101D}"/>
              </a:ext>
            </a:extLst>
          </p:cNvPr>
          <p:cNvSpPr>
            <a:spLocks noGrp="1"/>
          </p:cNvSpPr>
          <p:nvPr>
            <p:ph type="sldNum" sz="quarter" idx="12"/>
          </p:nvPr>
        </p:nvSpPr>
        <p:spPr/>
        <p:txBody>
          <a:bodyPr/>
          <a:lstStyle/>
          <a:p>
            <a:fld id="{C4A94DE9-7404-4CC4-BDD8-EA2E97866C70}" type="slidenum">
              <a:rPr lang="en-US" smtClean="0"/>
              <a:t>55</a:t>
            </a:fld>
            <a:endParaRPr lang="en-US"/>
          </a:p>
        </p:txBody>
      </p:sp>
    </p:spTree>
    <p:extLst>
      <p:ext uri="{BB962C8B-B14F-4D97-AF65-F5344CB8AC3E}">
        <p14:creationId xmlns:p14="http://schemas.microsoft.com/office/powerpoint/2010/main" val="365947611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41996"/>
                                        </p:tgtEl>
                                        <p:attrNameLst>
                                          <p:attrName>style.visibility</p:attrName>
                                        </p:attrNameLst>
                                      </p:cBhvr>
                                      <p:to>
                                        <p:strVal val="visible"/>
                                      </p:to>
                                    </p:set>
                                    <p:animEffect transition="in" filter="dissolve">
                                      <p:cBhvr>
                                        <p:cTn id="7" dur="1000"/>
                                        <p:tgtEl>
                                          <p:spTgt spid="41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33600" y="1066800"/>
            <a:ext cx="5257800" cy="3276600"/>
          </a:xfrm>
          <a:prstGeom prst="rect">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r>
              <a:rPr lang="en-US" sz="4000" b="1" i="1"/>
              <a:t>Trong  chuyển động tròn đều thì gia tốc = 0?</a:t>
            </a:r>
          </a:p>
        </p:txBody>
      </p:sp>
      <p:sp>
        <p:nvSpPr>
          <p:cNvPr id="7" name="Oval 6"/>
          <p:cNvSpPr>
            <a:spLocks noRot="1" noChangeAspect="1" noMove="1" noResize="1" noEditPoints="1" noAdjustHandles="1" noChangeArrowheads="1" noChangeShapeType="1" noTextEdit="1"/>
          </p:cNvSpPr>
          <p:nvPr/>
        </p:nvSpPr>
        <p:spPr>
          <a:xfrm>
            <a:off x="2819400" y="5029200"/>
            <a:ext cx="2362200" cy="1447800"/>
          </a:xfrm>
          <a:prstGeom prst="ellipse">
            <a:avLst/>
          </a:prstGeom>
          <a:blipFill rotWithShape="1">
            <a:blip r:embed="rId2"/>
            <a:stretch>
              <a:fillRect/>
            </a:stretch>
          </a:blipFill>
        </p:spPr>
        <p:txBody>
          <a:bodyPr/>
          <a:lstStyle/>
          <a:p>
            <a:pPr>
              <a:defRPr/>
            </a:pPr>
            <a:r>
              <a:rPr lang="en-US">
                <a:noFill/>
              </a:rPr>
              <a:t> </a:t>
            </a:r>
          </a:p>
        </p:txBody>
      </p:sp>
      <mc:AlternateContent xmlns:mc="http://schemas.openxmlformats.org/markup-compatibility/2006" xmlns:a14="http://schemas.microsoft.com/office/drawing/2010/main">
        <mc:Choice Requires="a14">
          <p:sp>
            <p:nvSpPr>
              <p:cNvPr id="3" name="Rectangle 2"/>
              <p:cNvSpPr/>
              <p:nvPr/>
            </p:nvSpPr>
            <p:spPr>
              <a:xfrm>
                <a:off x="5334000" y="4648200"/>
                <a:ext cx="3581400" cy="1981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a:rPr lang="en-US" i="1" smtClean="0">
                        <a:latin typeface="Cambria Math"/>
                        <a:ea typeface="Cambria Math"/>
                      </a:rPr>
                      <m:t>𝜔</m:t>
                    </m:r>
                  </m:oMath>
                </a14:m>
                <a:r>
                  <a:rPr lang="en-US" dirty="0"/>
                  <a:t> = </a:t>
                </a:r>
                <a:r>
                  <a:rPr lang="en-US" dirty="0" err="1"/>
                  <a:t>const</a:t>
                </a:r>
                <a:r>
                  <a:rPr lang="en-US" dirty="0"/>
                  <a:t>, </a:t>
                </a:r>
                <a14:m>
                  <m:oMath xmlns:m="http://schemas.openxmlformats.org/officeDocument/2006/math">
                    <m:r>
                      <a:rPr lang="en-US" i="1" smtClean="0">
                        <a:latin typeface="Cambria Math"/>
                        <a:ea typeface="Cambria Math"/>
                      </a:rPr>
                      <m:t>𝛽</m:t>
                    </m:r>
                  </m:oMath>
                </a14:m>
                <a:r>
                  <a:rPr lang="en-US" dirty="0"/>
                  <a:t> = 0, </a:t>
                </a:r>
                <a:r>
                  <a:rPr lang="en-US" i="1" dirty="0"/>
                  <a:t>v = </a:t>
                </a:r>
                <a:r>
                  <a:rPr lang="el-GR" i="1" dirty="0"/>
                  <a:t>ω</a:t>
                </a:r>
                <a:r>
                  <a:rPr lang="en-US" i="1" dirty="0"/>
                  <a:t>r</a:t>
                </a:r>
              </a:p>
              <a:p>
                <a:pPr algn="ct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a:rPr>
                              <m:t>𝑎</m:t>
                            </m:r>
                          </m:e>
                          <m:sub>
                            <m:r>
                              <a:rPr lang="en-US" b="0" i="1" smtClean="0">
                                <a:latin typeface="Cambria Math"/>
                              </a:rPr>
                              <m:t>𝑡</m:t>
                            </m:r>
                          </m:sub>
                        </m:sSub>
                      </m:e>
                    </m:acc>
                  </m:oMath>
                </a14:m>
                <a:r>
                  <a:rPr lang="en-US" dirty="0"/>
                  <a: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𝑑𝑣</m:t>
                        </m:r>
                      </m:num>
                      <m:den>
                        <m:r>
                          <a:rPr lang="en-US" b="0" i="1" smtClean="0">
                            <a:latin typeface="Cambria Math"/>
                          </a:rPr>
                          <m:t>𝑑𝑡</m:t>
                        </m:r>
                      </m:den>
                    </m:f>
                  </m:oMath>
                </a14:m>
                <a:r>
                  <a:rPr lang="en-US" dirty="0"/>
                  <a:t> = 0;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𝑎</m:t>
                            </m:r>
                          </m:e>
                          <m:sub>
                            <m:r>
                              <a:rPr lang="en-US" i="1">
                                <a:latin typeface="Cambria Math"/>
                              </a:rPr>
                              <m:t>𝑛</m:t>
                            </m:r>
                          </m:sub>
                        </m:sSub>
                      </m:e>
                    </m:acc>
                  </m:oMath>
                </a14:m>
                <a:r>
                  <a:rPr lang="en-US" dirty="0"/>
                  <a:t> = </a:t>
                </a:r>
                <a14:m>
                  <m:oMath xmlns:m="http://schemas.openxmlformats.org/officeDocument/2006/math">
                    <m:f>
                      <m:fPr>
                        <m:ctrlPr>
                          <a:rPr lang="en-US" i="1">
                            <a:latin typeface="Cambria Math" panose="02040503050406030204" pitchFamily="18" charset="0"/>
                          </a:rPr>
                        </m:ctrlPr>
                      </m:fPr>
                      <m:num>
                        <m:r>
                          <a:rPr lang="en-US" i="1">
                            <a:latin typeface="Cambria Math"/>
                          </a:rPr>
                          <m:t>𝑣</m:t>
                        </m:r>
                        <m:r>
                          <a:rPr lang="en-US" i="1">
                            <a:latin typeface="Cambria Math"/>
                          </a:rPr>
                          <m:t>²</m:t>
                        </m:r>
                      </m:num>
                      <m:den>
                        <m:r>
                          <a:rPr lang="en-US" i="1">
                            <a:latin typeface="Cambria Math"/>
                          </a:rPr>
                          <m:t>𝑟</m:t>
                        </m:r>
                      </m:den>
                    </m:f>
                  </m:oMath>
                </a14:m>
                <a:r>
                  <a:rPr lang="en-US" dirty="0"/>
                  <a:t>.</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𝑛</m:t>
                        </m:r>
                      </m:e>
                    </m:acc>
                  </m:oMath>
                </a14:m>
                <a:r>
                  <a:rPr lang="en-US" dirty="0"/>
                  <a:t> </a:t>
                </a:r>
                <a14:m>
                  <m:oMath xmlns:m="http://schemas.openxmlformats.org/officeDocument/2006/math">
                    <m:r>
                      <a:rPr lang="en-US" i="1" smtClean="0">
                        <a:latin typeface="Cambria Math"/>
                        <a:ea typeface="Cambria Math"/>
                      </a:rPr>
                      <m:t>≠</m:t>
                    </m:r>
                    <m:r>
                      <a:rPr lang="en-US" b="0" i="1" smtClean="0">
                        <a:latin typeface="Cambria Math"/>
                        <a:ea typeface="Cambria Math"/>
                      </a:rPr>
                      <m:t>0</m:t>
                    </m:r>
                  </m:oMath>
                </a14:m>
                <a:endParaRPr lang="en-US" dirty="0"/>
              </a:p>
              <a:p>
                <a:pPr algn="ctr"/>
                <a14:m>
                  <m:oMath xmlns:m="http://schemas.openxmlformats.org/officeDocument/2006/math">
                    <m:acc>
                      <m:accPr>
                        <m:chr m:val="⃗"/>
                        <m:ctrlPr>
                          <a:rPr lang="en-US" b="1" i="1">
                            <a:latin typeface="Cambria Math" panose="02040503050406030204" pitchFamily="18" charset="0"/>
                          </a:rPr>
                        </m:ctrlPr>
                      </m:accPr>
                      <m:e>
                        <m:sSub>
                          <m:sSubPr>
                            <m:ctrlPr>
                              <a:rPr lang="en-US" b="1" i="1">
                                <a:latin typeface="Cambria Math" panose="02040503050406030204" pitchFamily="18" charset="0"/>
                              </a:rPr>
                            </m:ctrlPr>
                          </m:sSubPr>
                          <m:e>
                            <m:r>
                              <a:rPr lang="en-US" b="1" i="1">
                                <a:latin typeface="Cambria Math"/>
                              </a:rPr>
                              <m:t>𝒂</m:t>
                            </m:r>
                          </m:e>
                          <m:sub>
                            <m:r>
                              <a:rPr lang="en-US" b="1" i="1">
                                <a:latin typeface="Cambria Math"/>
                              </a:rPr>
                              <m:t>𝒏</m:t>
                            </m:r>
                          </m:sub>
                        </m:sSub>
                      </m:e>
                    </m:acc>
                  </m:oMath>
                </a14:m>
                <a:r>
                  <a:rPr lang="en-US" b="1" dirty="0"/>
                  <a:t> </a:t>
                </a:r>
                <a:r>
                  <a:rPr lang="en-US" b="1" dirty="0" err="1"/>
                  <a:t>vuông</a:t>
                </a:r>
                <a:r>
                  <a:rPr lang="en-US" b="1" dirty="0"/>
                  <a:t> </a:t>
                </a:r>
                <a:r>
                  <a:rPr lang="en-US" b="1" dirty="0" err="1"/>
                  <a:t>góc</a:t>
                </a:r>
                <a:r>
                  <a:rPr lang="en-US" b="1" dirty="0"/>
                  <a:t> </a:t>
                </a:r>
                <a14:m>
                  <m:oMath xmlns:m="http://schemas.openxmlformats.org/officeDocument/2006/math">
                    <m:acc>
                      <m:accPr>
                        <m:chr m:val="⃗"/>
                        <m:ctrlPr>
                          <a:rPr lang="en-US" b="1" i="1" smtClean="0">
                            <a:latin typeface="Cambria Math" panose="02040503050406030204" pitchFamily="18" charset="0"/>
                          </a:rPr>
                        </m:ctrlPr>
                      </m:accPr>
                      <m:e>
                        <m:r>
                          <a:rPr lang="en-US" b="1" i="1" smtClean="0">
                            <a:latin typeface="Cambria Math"/>
                          </a:rPr>
                          <m:t>𝒗</m:t>
                        </m:r>
                      </m:e>
                    </m:acc>
                  </m:oMath>
                </a14:m>
                <a:endParaRPr lang="en-US" b="1" dirty="0"/>
              </a:p>
              <a:p>
                <a:pPr algn="ctr"/>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5334000" y="4648200"/>
                <a:ext cx="3581400" cy="1981200"/>
              </a:xfrm>
              <a:prstGeom prst="rect">
                <a:avLst/>
              </a:prstGeom>
              <a:blipFill rotWithShape="1">
                <a:blip r:embed="rId3"/>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75BC1363-BCA9-5448-766B-3B9BBEEB3EDD}"/>
              </a:ext>
            </a:extLst>
          </p:cNvPr>
          <p:cNvSpPr>
            <a:spLocks noGrp="1"/>
          </p:cNvSpPr>
          <p:nvPr>
            <p:ph type="ftr" sz="quarter" idx="11"/>
          </p:nvPr>
        </p:nvSpPr>
        <p:spPr/>
        <p:txBody>
          <a:bodyPr/>
          <a:lstStyle/>
          <a:p>
            <a:r>
              <a:rPr lang="en-US"/>
              <a:t>Bùi Quốc Trung - VLDC</a:t>
            </a:r>
          </a:p>
        </p:txBody>
      </p:sp>
      <p:sp>
        <p:nvSpPr>
          <p:cNvPr id="5" name="Slide Number Placeholder 4">
            <a:extLst>
              <a:ext uri="{FF2B5EF4-FFF2-40B4-BE49-F238E27FC236}">
                <a16:creationId xmlns:a16="http://schemas.microsoft.com/office/drawing/2014/main" id="{17654E53-35EB-2F94-1F9E-E9DE133CB004}"/>
              </a:ext>
            </a:extLst>
          </p:cNvPr>
          <p:cNvSpPr>
            <a:spLocks noGrp="1"/>
          </p:cNvSpPr>
          <p:nvPr>
            <p:ph type="sldNum" sz="quarter" idx="12"/>
          </p:nvPr>
        </p:nvSpPr>
        <p:spPr/>
        <p:txBody>
          <a:bodyPr/>
          <a:lstStyle/>
          <a:p>
            <a:fld id="{C4A94DE9-7404-4CC4-BDD8-EA2E97866C70}" type="slidenum">
              <a:rPr lang="en-US" smtClean="0"/>
              <a:t>56</a:t>
            </a:fld>
            <a:endParaRPr lang="en-US"/>
          </a:p>
        </p:txBody>
      </p:sp>
    </p:spTree>
    <p:extLst>
      <p:ext uri="{BB962C8B-B14F-4D97-AF65-F5344CB8AC3E}">
        <p14:creationId xmlns:p14="http://schemas.microsoft.com/office/powerpoint/2010/main" val="315799545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circle(in)">
                                      <p:cBhvr>
                                        <p:cTn id="13"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a:spLocks noGrp="1"/>
          </p:cNvSpPr>
          <p:nvPr>
            <p:ph/>
          </p:nvPr>
        </p:nvSpPr>
        <p:spPr/>
        <p:txBody>
          <a:bodyPr/>
          <a:lstStyle/>
          <a:p>
            <a:pPr>
              <a:buFont typeface="Arial" charset="0"/>
              <a:buNone/>
            </a:pPr>
            <a:r>
              <a:rPr lang="en-US" dirty="0"/>
              <a:t>	</a:t>
            </a:r>
          </a:p>
          <a:p>
            <a:pPr>
              <a:buFont typeface="Arial" charset="0"/>
              <a:buNone/>
            </a:pPr>
            <a:r>
              <a:rPr lang="en-US" dirty="0"/>
              <a:t>	</a:t>
            </a:r>
            <a:r>
              <a:rPr lang="en-US" dirty="0" err="1"/>
              <a:t>Nếu</a:t>
            </a:r>
            <a:r>
              <a:rPr lang="en-US" dirty="0"/>
              <a:t> </a:t>
            </a:r>
            <a:r>
              <a:rPr lang="en-US" dirty="0" err="1"/>
              <a:t>trong</a:t>
            </a:r>
            <a:r>
              <a:rPr lang="en-US" dirty="0"/>
              <a:t> </a:t>
            </a:r>
            <a:r>
              <a:rPr lang="en-US" dirty="0" err="1"/>
              <a:t>thời</a:t>
            </a:r>
            <a:r>
              <a:rPr lang="en-US" dirty="0"/>
              <a:t> </a:t>
            </a:r>
            <a:r>
              <a:rPr lang="en-US" dirty="0" err="1"/>
              <a:t>gian</a:t>
            </a:r>
            <a:r>
              <a:rPr lang="en-US" dirty="0"/>
              <a:t> </a:t>
            </a:r>
            <a:r>
              <a:rPr lang="en-US" dirty="0" err="1"/>
              <a:t>khảo</a:t>
            </a:r>
            <a:r>
              <a:rPr lang="en-US" dirty="0"/>
              <a:t> </a:t>
            </a:r>
            <a:r>
              <a:rPr lang="en-US" dirty="0" err="1"/>
              <a:t>sát</a:t>
            </a:r>
            <a:r>
              <a:rPr lang="en-US" dirty="0"/>
              <a:t> </a:t>
            </a:r>
            <a:r>
              <a:rPr lang="en-US" dirty="0" err="1"/>
              <a:t>chuyển</a:t>
            </a:r>
            <a:r>
              <a:rPr lang="en-US" dirty="0"/>
              <a:t> </a:t>
            </a:r>
            <a:r>
              <a:rPr lang="en-US" dirty="0" err="1"/>
              <a:t>động</a:t>
            </a:r>
            <a:r>
              <a:rPr lang="en-US" dirty="0"/>
              <a:t>, </a:t>
            </a:r>
            <a:r>
              <a:rPr lang="en-US" dirty="0" err="1"/>
              <a:t>vectơ</a:t>
            </a:r>
            <a:r>
              <a:rPr lang="en-US" dirty="0"/>
              <a:t> </a:t>
            </a:r>
            <a:r>
              <a:rPr lang="en-US" dirty="0" err="1"/>
              <a:t>vận</a:t>
            </a:r>
            <a:r>
              <a:rPr lang="en-US" dirty="0"/>
              <a:t> </a:t>
            </a:r>
            <a:r>
              <a:rPr lang="en-US" dirty="0" err="1"/>
              <a:t>tốc</a:t>
            </a:r>
            <a:r>
              <a:rPr lang="en-US" dirty="0"/>
              <a:t> </a:t>
            </a:r>
            <a:r>
              <a:rPr lang="en-US" dirty="0" err="1"/>
              <a:t>và</a:t>
            </a:r>
            <a:r>
              <a:rPr lang="en-US" dirty="0"/>
              <a:t> </a:t>
            </a:r>
            <a:r>
              <a:rPr lang="en-US" dirty="0" err="1"/>
              <a:t>gia</a:t>
            </a:r>
            <a:r>
              <a:rPr lang="en-US" dirty="0"/>
              <a:t> </a:t>
            </a:r>
            <a:r>
              <a:rPr lang="en-US" dirty="0" err="1"/>
              <a:t>tốc</a:t>
            </a:r>
            <a:r>
              <a:rPr lang="en-US" dirty="0"/>
              <a:t> </a:t>
            </a:r>
            <a:r>
              <a:rPr lang="en-US" dirty="0" err="1"/>
              <a:t>dài</a:t>
            </a:r>
            <a:r>
              <a:rPr lang="en-US" dirty="0"/>
              <a:t> </a:t>
            </a:r>
            <a:r>
              <a:rPr lang="en-US" dirty="0" err="1"/>
              <a:t>của</a:t>
            </a:r>
            <a:r>
              <a:rPr lang="en-US" dirty="0"/>
              <a:t> </a:t>
            </a:r>
            <a:r>
              <a:rPr lang="en-US" dirty="0" err="1"/>
              <a:t>chất</a:t>
            </a:r>
            <a:r>
              <a:rPr lang="en-US" dirty="0"/>
              <a:t> </a:t>
            </a:r>
            <a:r>
              <a:rPr lang="en-US" dirty="0" err="1"/>
              <a:t>điểm</a:t>
            </a:r>
            <a:r>
              <a:rPr lang="en-US" dirty="0"/>
              <a:t> </a:t>
            </a:r>
            <a:r>
              <a:rPr lang="en-US" dirty="0" err="1"/>
              <a:t>luôn</a:t>
            </a:r>
            <a:r>
              <a:rPr lang="en-US" dirty="0"/>
              <a:t> </a:t>
            </a:r>
            <a:r>
              <a:rPr lang="en-US" dirty="0" err="1"/>
              <a:t>vuông</a:t>
            </a:r>
            <a:r>
              <a:rPr lang="en-US" dirty="0"/>
              <a:t> </a:t>
            </a:r>
            <a:r>
              <a:rPr lang="en-US" dirty="0" err="1"/>
              <a:t>góc</a:t>
            </a:r>
            <a:r>
              <a:rPr lang="en-US" dirty="0"/>
              <a:t> </a:t>
            </a:r>
            <a:r>
              <a:rPr lang="en-US" dirty="0" err="1"/>
              <a:t>với</a:t>
            </a:r>
            <a:r>
              <a:rPr lang="en-US" dirty="0"/>
              <a:t> </a:t>
            </a:r>
            <a:r>
              <a:rPr lang="en-US" dirty="0" err="1"/>
              <a:t>nhau</a:t>
            </a:r>
            <a:r>
              <a:rPr lang="en-US" dirty="0"/>
              <a:t> </a:t>
            </a:r>
            <a:r>
              <a:rPr lang="en-US" dirty="0" err="1"/>
              <a:t>thì</a:t>
            </a:r>
            <a:r>
              <a:rPr lang="en-US" dirty="0"/>
              <a:t> </a:t>
            </a:r>
            <a:r>
              <a:rPr lang="en-US" dirty="0" err="1"/>
              <a:t>chuyển</a:t>
            </a:r>
            <a:r>
              <a:rPr lang="en-US" dirty="0"/>
              <a:t> </a:t>
            </a:r>
            <a:r>
              <a:rPr lang="en-US" dirty="0" err="1"/>
              <a:t>động</a:t>
            </a:r>
            <a:r>
              <a:rPr lang="en-US" dirty="0"/>
              <a:t> </a:t>
            </a:r>
            <a:r>
              <a:rPr lang="en-US" dirty="0" err="1"/>
              <a:t>có</a:t>
            </a:r>
            <a:r>
              <a:rPr lang="en-US" dirty="0"/>
              <a:t> </a:t>
            </a:r>
            <a:r>
              <a:rPr lang="en-US" dirty="0" err="1"/>
              <a:t>tính</a:t>
            </a:r>
            <a:r>
              <a:rPr lang="en-US" dirty="0"/>
              <a:t> </a:t>
            </a:r>
            <a:r>
              <a:rPr lang="en-US" dirty="0" err="1"/>
              <a:t>chất</a:t>
            </a:r>
            <a:r>
              <a:rPr lang="en-US" dirty="0"/>
              <a:t>:</a:t>
            </a:r>
          </a:p>
          <a:p>
            <a:r>
              <a:rPr lang="en-US" dirty="0"/>
              <a:t>A. </a:t>
            </a:r>
            <a:r>
              <a:rPr lang="en-US" dirty="0" err="1"/>
              <a:t>Thẳng</a:t>
            </a:r>
            <a:endParaRPr lang="en-US" dirty="0"/>
          </a:p>
          <a:p>
            <a:r>
              <a:rPr lang="en-US" dirty="0"/>
              <a:t>B. </a:t>
            </a:r>
            <a:r>
              <a:rPr lang="en-US" dirty="0" err="1"/>
              <a:t>Tròn</a:t>
            </a:r>
            <a:endParaRPr lang="en-US" dirty="0"/>
          </a:p>
          <a:p>
            <a:r>
              <a:rPr lang="en-US" dirty="0"/>
              <a:t>C. </a:t>
            </a:r>
            <a:r>
              <a:rPr lang="en-US" dirty="0" err="1"/>
              <a:t>Tròn</a:t>
            </a:r>
            <a:r>
              <a:rPr lang="en-US" dirty="0"/>
              <a:t> </a:t>
            </a:r>
            <a:r>
              <a:rPr lang="en-US" dirty="0" err="1"/>
              <a:t>đều</a:t>
            </a:r>
            <a:endParaRPr lang="en-US" dirty="0"/>
          </a:p>
          <a:p>
            <a:r>
              <a:rPr lang="en-US" dirty="0"/>
              <a:t>D. </a:t>
            </a:r>
            <a:r>
              <a:rPr lang="en-US" dirty="0" err="1"/>
              <a:t>Thẳng</a:t>
            </a:r>
            <a:r>
              <a:rPr lang="en-US" dirty="0"/>
              <a:t> </a:t>
            </a:r>
            <a:r>
              <a:rPr lang="en-US" dirty="0" err="1"/>
              <a:t>đều</a:t>
            </a:r>
            <a:endParaRPr lang="en-US" dirty="0"/>
          </a:p>
        </p:txBody>
      </p:sp>
      <p:sp>
        <p:nvSpPr>
          <p:cNvPr id="2" name="Footer Placeholder 1">
            <a:extLst>
              <a:ext uri="{FF2B5EF4-FFF2-40B4-BE49-F238E27FC236}">
                <a16:creationId xmlns:a16="http://schemas.microsoft.com/office/drawing/2014/main" id="{DF063468-D185-76C3-0D28-E7A1E2B956C1}"/>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3DEF8EDE-5DE0-7379-3D56-C526D6BB2833}"/>
              </a:ext>
            </a:extLst>
          </p:cNvPr>
          <p:cNvSpPr>
            <a:spLocks noGrp="1"/>
          </p:cNvSpPr>
          <p:nvPr>
            <p:ph type="sldNum" sz="quarter" idx="12"/>
          </p:nvPr>
        </p:nvSpPr>
        <p:spPr/>
        <p:txBody>
          <a:bodyPr/>
          <a:lstStyle/>
          <a:p>
            <a:pPr>
              <a:defRPr/>
            </a:pPr>
            <a:fld id="{76921531-3DE4-4FE6-8586-93C8C3054BFB}" type="slidenum">
              <a:rPr lang="en-US" smtClean="0"/>
              <a:pPr>
                <a:defRPr/>
              </a:pPr>
              <a:t>57</a:t>
            </a:fld>
            <a:endParaRPr lang="en-US"/>
          </a:p>
        </p:txBody>
      </p:sp>
    </p:spTree>
    <p:extLst>
      <p:ext uri="{BB962C8B-B14F-4D97-AF65-F5344CB8AC3E}">
        <p14:creationId xmlns:p14="http://schemas.microsoft.com/office/powerpoint/2010/main" val="1434686363"/>
      </p:ext>
    </p:extLst>
  </p:cSld>
  <p:clrMapOvr>
    <a:masterClrMapping/>
  </p:clrMapOvr>
  <p:transition spd="slow" advTm="3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6866">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Content Placeholder 2"/>
          <p:cNvPicPr>
            <a:picLocks noGrp="1" noChangeAspect="1"/>
          </p:cNvPicPr>
          <p:nvPr>
            <p:ph/>
          </p:nvPr>
        </p:nvPicPr>
        <p:blipFill>
          <a:blip r:embed="rId2">
            <a:extLst>
              <a:ext uri="{28A0092B-C50C-407E-A947-70E740481C1C}">
                <a14:useLocalDpi xmlns:a14="http://schemas.microsoft.com/office/drawing/2010/main" val="0"/>
              </a:ext>
            </a:extLst>
          </a:blip>
          <a:srcRect/>
          <a:stretch>
            <a:fillRect/>
          </a:stretch>
        </p:blipFill>
        <p:spPr>
          <a:xfrm>
            <a:off x="685800" y="304800"/>
            <a:ext cx="8001000" cy="3568700"/>
          </a:xfrm>
        </p:spPr>
      </p:pic>
      <p:sp>
        <p:nvSpPr>
          <p:cNvPr id="4" name="Rectangle 3"/>
          <p:cNvSpPr/>
          <p:nvPr/>
        </p:nvSpPr>
        <p:spPr>
          <a:xfrm>
            <a:off x="2106613" y="3962400"/>
            <a:ext cx="53340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i="1" dirty="0">
                <a:solidFill>
                  <a:schemeClr val="tx1"/>
                </a:solidFill>
                <a:latin typeface="Times New Roman" pitchFamily="18" charset="0"/>
                <a:cs typeface="Times New Roman" pitchFamily="18" charset="0"/>
              </a:rPr>
              <a:t>Qũy đạo các hành tinh trong hệ mặt trời</a:t>
            </a:r>
          </a:p>
        </p:txBody>
      </p:sp>
      <p:sp>
        <p:nvSpPr>
          <p:cNvPr id="5" name="Rectangle 4"/>
          <p:cNvSpPr/>
          <p:nvPr/>
        </p:nvSpPr>
        <p:spPr>
          <a:xfrm>
            <a:off x="838200" y="4953000"/>
            <a:ext cx="7772400" cy="1371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en-US" dirty="0">
                <a:solidFill>
                  <a:schemeClr val="tx1"/>
                </a:solidFill>
                <a:latin typeface="Times New Roman" pitchFamily="18" charset="0"/>
                <a:cs typeface="Times New Roman" pitchFamily="18" charset="0"/>
              </a:rPr>
              <a:t>Qũy đạo các hành tinh trong hệ Mặt trời đều là elip nhận Mặt trời làm tiêu điểm</a:t>
            </a:r>
          </a:p>
        </p:txBody>
      </p:sp>
      <p:sp>
        <p:nvSpPr>
          <p:cNvPr id="2" name="Footer Placeholder 1">
            <a:extLst>
              <a:ext uri="{FF2B5EF4-FFF2-40B4-BE49-F238E27FC236}">
                <a16:creationId xmlns:a16="http://schemas.microsoft.com/office/drawing/2014/main" id="{2A5F41CC-5BC2-0F46-3BD2-C33360BFF4D2}"/>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509A09F4-EEAE-4478-32C3-8893F647A7FF}"/>
              </a:ext>
            </a:extLst>
          </p:cNvPr>
          <p:cNvSpPr>
            <a:spLocks noGrp="1"/>
          </p:cNvSpPr>
          <p:nvPr>
            <p:ph type="sldNum" sz="quarter" idx="12"/>
          </p:nvPr>
        </p:nvSpPr>
        <p:spPr/>
        <p:txBody>
          <a:bodyPr/>
          <a:lstStyle/>
          <a:p>
            <a:pPr>
              <a:defRPr/>
            </a:pPr>
            <a:fld id="{76921531-3DE4-4FE6-8586-93C8C3054BFB}" type="slidenum">
              <a:rPr lang="en-US" smtClean="0"/>
              <a:pPr>
                <a:defRPr/>
              </a:pPr>
              <a:t>58</a:t>
            </a:fld>
            <a:endParaRPr lang="en-US"/>
          </a:p>
        </p:txBody>
      </p:sp>
    </p:spTree>
    <p:extLst>
      <p:ext uri="{BB962C8B-B14F-4D97-AF65-F5344CB8AC3E}">
        <p14:creationId xmlns:p14="http://schemas.microsoft.com/office/powerpoint/2010/main" val="174092094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81150"/>
            <a:ext cx="3965575" cy="298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97425" y="1597025"/>
            <a:ext cx="3914775" cy="302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369888" y="5297488"/>
            <a:ext cx="3516312" cy="76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i="1">
                <a:solidFill>
                  <a:schemeClr val="tx1"/>
                </a:solidFill>
                <a:latin typeface="Times New Roman" pitchFamily="18" charset="0"/>
                <a:cs typeface="Times New Roman" pitchFamily="18" charset="0"/>
              </a:rPr>
              <a:t>Tự quay quanh trục</a:t>
            </a:r>
          </a:p>
        </p:txBody>
      </p:sp>
      <p:sp>
        <p:nvSpPr>
          <p:cNvPr id="6" name="Rectangle 5"/>
          <p:cNvSpPr/>
          <p:nvPr/>
        </p:nvSpPr>
        <p:spPr>
          <a:xfrm>
            <a:off x="4787900" y="5302250"/>
            <a:ext cx="4243388" cy="76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i="1">
                <a:solidFill>
                  <a:schemeClr val="tx1"/>
                </a:solidFill>
                <a:latin typeface="Times New Roman" pitchFamily="18" charset="0"/>
                <a:cs typeface="Times New Roman" pitchFamily="18" charset="0"/>
              </a:rPr>
              <a:t>Chuyển động quanh Mặt Trời</a:t>
            </a:r>
          </a:p>
        </p:txBody>
      </p:sp>
      <p:sp>
        <p:nvSpPr>
          <p:cNvPr id="2" name="Footer Placeholder 1">
            <a:extLst>
              <a:ext uri="{FF2B5EF4-FFF2-40B4-BE49-F238E27FC236}">
                <a16:creationId xmlns:a16="http://schemas.microsoft.com/office/drawing/2014/main" id="{780A1499-C6AE-9CCD-8B02-0BE3A91B26EF}"/>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7BFA18A2-F5CF-7A89-A5F2-BC24AC38B2F4}"/>
              </a:ext>
            </a:extLst>
          </p:cNvPr>
          <p:cNvSpPr>
            <a:spLocks noGrp="1"/>
          </p:cNvSpPr>
          <p:nvPr>
            <p:ph type="sldNum" sz="quarter" idx="12"/>
          </p:nvPr>
        </p:nvSpPr>
        <p:spPr/>
        <p:txBody>
          <a:bodyPr/>
          <a:lstStyle/>
          <a:p>
            <a:pPr>
              <a:defRPr/>
            </a:pPr>
            <a:fld id="{76921531-3DE4-4FE6-8586-93C8C3054BFB}" type="slidenum">
              <a:rPr lang="en-US" smtClean="0"/>
              <a:pPr>
                <a:defRPr/>
              </a:pPr>
              <a:t>59</a:t>
            </a:fld>
            <a:endParaRPr lang="en-US"/>
          </a:p>
        </p:txBody>
      </p:sp>
    </p:spTree>
    <p:extLst>
      <p:ext uri="{BB962C8B-B14F-4D97-AF65-F5344CB8AC3E}">
        <p14:creationId xmlns:p14="http://schemas.microsoft.com/office/powerpoint/2010/main" val="235673307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3733800"/>
            <a:ext cx="5257800" cy="1905000"/>
          </a:xfrm>
        </p:spPr>
        <p:txBody>
          <a:bodyPr/>
          <a:lstStyle/>
          <a:p>
            <a:pPr marL="457200" indent="-457200">
              <a:buFont typeface="Wingdings" pitchFamily="2" charset="2"/>
              <a:buChar char="v"/>
            </a:pPr>
            <a:r>
              <a:rPr lang="en-US" sz="3200" i="1">
                <a:latin typeface="Times New Roman" pitchFamily="18" charset="0"/>
                <a:cs typeface="Times New Roman" pitchFamily="18" charset="0"/>
              </a:rPr>
              <a:t>Tốc độ quay của Trái Đất (quanh trục của nó)?</a:t>
            </a:r>
          </a:p>
        </p:txBody>
      </p:sp>
      <p:sp>
        <p:nvSpPr>
          <p:cNvPr id="3" name="Content Placeholder 2"/>
          <p:cNvSpPr>
            <a:spLocks noGrp="1"/>
          </p:cNvSpPr>
          <p:nvPr>
            <p:ph idx="1"/>
          </p:nvPr>
        </p:nvSpPr>
        <p:spPr>
          <a:xfrm>
            <a:off x="457200" y="609600"/>
            <a:ext cx="3733800" cy="2514600"/>
          </a:xfrm>
        </p:spPr>
        <p:txBody>
          <a:bodyPr/>
          <a:lstStyle/>
          <a:p>
            <a:pPr marL="0" indent="0">
              <a:buFont typeface="Arial" charset="0"/>
              <a:buNone/>
              <a:defRPr/>
            </a:pPr>
            <a:r>
              <a:rPr lang="vi-VN" sz="2800" i="1" u="sng" dirty="0">
                <a:latin typeface="+mj-lt"/>
              </a:rPr>
              <a:t>Hiện tượng tự quay của </a:t>
            </a:r>
            <a:r>
              <a:rPr lang="vi-VN" sz="2800" b="1" i="1" u="sng" dirty="0">
                <a:latin typeface="+mj-lt"/>
              </a:rPr>
              <a:t>Trái Đất</a:t>
            </a:r>
            <a:r>
              <a:rPr lang="vi-VN" sz="2800" i="1" u="sng" dirty="0">
                <a:latin typeface="+mj-lt"/>
              </a:rPr>
              <a:t> </a:t>
            </a:r>
            <a:endParaRPr lang="en-US" sz="2800" i="1" u="sng" dirty="0">
              <a:latin typeface="+mj-lt"/>
            </a:endParaRPr>
          </a:p>
          <a:p>
            <a:pPr marL="0" indent="0">
              <a:buFont typeface="Arial" charset="0"/>
              <a:buNone/>
              <a:defRPr/>
            </a:pPr>
            <a:r>
              <a:rPr lang="vi-VN" sz="2800" dirty="0">
                <a:latin typeface="+mj-lt"/>
              </a:rPr>
              <a:t>là sự quay của hành tinh </a:t>
            </a:r>
            <a:r>
              <a:rPr lang="vi-VN" sz="2800" b="1" dirty="0">
                <a:latin typeface="+mj-lt"/>
              </a:rPr>
              <a:t>Trái Đất</a:t>
            </a:r>
            <a:r>
              <a:rPr lang="vi-VN" sz="2800" dirty="0">
                <a:latin typeface="+mj-lt"/>
              </a:rPr>
              <a:t> xung quanh trục của nó</a:t>
            </a:r>
            <a:endParaRPr lang="en-US" sz="2800" dirty="0">
              <a:latin typeface="+mj-lt"/>
            </a:endParaRPr>
          </a:p>
        </p:txBody>
      </p:sp>
      <p:pic>
        <p:nvPicPr>
          <p:cNvPr id="39939"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457200"/>
            <a:ext cx="3965575" cy="298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val Callout 7"/>
          <p:cNvSpPr/>
          <p:nvPr/>
        </p:nvSpPr>
        <p:spPr>
          <a:xfrm>
            <a:off x="6248400" y="4038600"/>
            <a:ext cx="2743200" cy="993775"/>
          </a:xfrm>
          <a:prstGeom prst="wedgeEllipseCallout">
            <a:avLst>
              <a:gd name="adj1" fmla="val -24662"/>
              <a:gd name="adj2" fmla="val -208749"/>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i="1">
                <a:solidFill>
                  <a:schemeClr val="tx1"/>
                </a:solidFill>
                <a:latin typeface="Times New Roman" pitchFamily="18" charset="0"/>
                <a:cs typeface="Times New Roman" pitchFamily="18" charset="0"/>
              </a:rPr>
              <a:t>R = 6378 km</a:t>
            </a:r>
          </a:p>
        </p:txBody>
      </p:sp>
      <p:sp>
        <p:nvSpPr>
          <p:cNvPr id="9" name="Oval Callout 8"/>
          <p:cNvSpPr/>
          <p:nvPr/>
        </p:nvSpPr>
        <p:spPr>
          <a:xfrm>
            <a:off x="986883" y="5680072"/>
            <a:ext cx="2971800" cy="838200"/>
          </a:xfrm>
          <a:prstGeom prst="wedgeEllipseCallou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i="1" dirty="0">
                <a:solidFill>
                  <a:srgbClr val="FF0000"/>
                </a:solidFill>
              </a:rPr>
              <a:t>V = 465 m/s</a:t>
            </a:r>
          </a:p>
        </p:txBody>
      </p:sp>
      <p:sp>
        <p:nvSpPr>
          <p:cNvPr id="10" name="Rectangle 9"/>
          <p:cNvSpPr/>
          <p:nvPr/>
        </p:nvSpPr>
        <p:spPr>
          <a:xfrm>
            <a:off x="5006355" y="5092232"/>
            <a:ext cx="3581400" cy="15970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 = 2</a:t>
            </a:r>
            <a:r>
              <a:rPr lang="el-GR" dirty="0"/>
              <a:t>π</a:t>
            </a:r>
            <a:r>
              <a:rPr lang="en-US" dirty="0"/>
              <a:t>/</a:t>
            </a:r>
            <a:r>
              <a:rPr lang="el-GR" dirty="0"/>
              <a:t>ω</a:t>
            </a:r>
            <a:r>
              <a:rPr lang="en-US" dirty="0"/>
              <a:t> = 24.3600 s</a:t>
            </a:r>
          </a:p>
          <a:p>
            <a:pPr algn="ctr"/>
            <a:r>
              <a:rPr lang="en-US" dirty="0"/>
              <a:t>V = </a:t>
            </a:r>
            <a:r>
              <a:rPr lang="el-GR" dirty="0"/>
              <a:t>ω</a:t>
            </a:r>
            <a:r>
              <a:rPr lang="en-US" dirty="0"/>
              <a:t>.R</a:t>
            </a:r>
          </a:p>
        </p:txBody>
      </p:sp>
      <p:sp>
        <p:nvSpPr>
          <p:cNvPr id="2" name="Footer Placeholder 1">
            <a:extLst>
              <a:ext uri="{FF2B5EF4-FFF2-40B4-BE49-F238E27FC236}">
                <a16:creationId xmlns:a16="http://schemas.microsoft.com/office/drawing/2014/main" id="{B89848B3-14EA-A6E3-98E1-BFFAF03D607E}"/>
              </a:ext>
            </a:extLst>
          </p:cNvPr>
          <p:cNvSpPr>
            <a:spLocks noGrp="1"/>
          </p:cNvSpPr>
          <p:nvPr>
            <p:ph type="ftr" sz="quarter" idx="11"/>
          </p:nvPr>
        </p:nvSpPr>
        <p:spPr/>
        <p:txBody>
          <a:bodyPr/>
          <a:lstStyle/>
          <a:p>
            <a:r>
              <a:rPr lang="en-US"/>
              <a:t>Bùi Quốc Trung - VLDC</a:t>
            </a:r>
          </a:p>
        </p:txBody>
      </p:sp>
      <p:sp>
        <p:nvSpPr>
          <p:cNvPr id="4" name="Slide Number Placeholder 3">
            <a:extLst>
              <a:ext uri="{FF2B5EF4-FFF2-40B4-BE49-F238E27FC236}">
                <a16:creationId xmlns:a16="http://schemas.microsoft.com/office/drawing/2014/main" id="{6397695B-61F8-0ABB-06C7-D3D299130EAC}"/>
              </a:ext>
            </a:extLst>
          </p:cNvPr>
          <p:cNvSpPr>
            <a:spLocks noGrp="1"/>
          </p:cNvSpPr>
          <p:nvPr>
            <p:ph type="sldNum" sz="quarter" idx="12"/>
          </p:nvPr>
        </p:nvSpPr>
        <p:spPr/>
        <p:txBody>
          <a:bodyPr/>
          <a:lstStyle/>
          <a:p>
            <a:fld id="{C4A94DE9-7404-4CC4-BDD8-EA2E97866C70}" type="slidenum">
              <a:rPr lang="en-US" smtClean="0"/>
              <a:t>60</a:t>
            </a:fld>
            <a:endParaRPr lang="en-US"/>
          </a:p>
        </p:txBody>
      </p:sp>
    </p:spTree>
    <p:extLst>
      <p:ext uri="{BB962C8B-B14F-4D97-AF65-F5344CB8AC3E}">
        <p14:creationId xmlns:p14="http://schemas.microsoft.com/office/powerpoint/2010/main" val="116996420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down)">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build="p"/>
      <p:bldP spid="8" grpId="0" animBg="1"/>
      <p:bldP spid="9" grpId="0" animBg="1"/>
      <p:bldP spid="10"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28600" y="228600"/>
            <a:ext cx="4191000" cy="2971800"/>
          </a:xfrm>
        </p:spPr>
        <p:txBody>
          <a:bodyPr/>
          <a:lstStyle/>
          <a:p>
            <a:pPr algn="l"/>
            <a:r>
              <a:rPr lang="en-US" sz="2800" b="1" i="1" u="sng">
                <a:latin typeface="Times New Roman" pitchFamily="18" charset="0"/>
                <a:cs typeface="Times New Roman" pitchFamily="18" charset="0"/>
              </a:rPr>
              <a:t>Trái đất </a:t>
            </a:r>
            <a:r>
              <a:rPr lang="en-US" sz="2800" i="1" u="sng">
                <a:latin typeface="Times New Roman" pitchFamily="18" charset="0"/>
                <a:cs typeface="Times New Roman" pitchFamily="18" charset="0"/>
              </a:rPr>
              <a:t>chuyển động quanh </a:t>
            </a:r>
            <a:r>
              <a:rPr lang="en-US" sz="2800" b="1" i="1" u="sng">
                <a:latin typeface="Times New Roman" pitchFamily="18" charset="0"/>
                <a:cs typeface="Times New Roman" pitchFamily="18" charset="0"/>
              </a:rPr>
              <a:t>Mặt trời</a:t>
            </a:r>
            <a:br>
              <a:rPr lang="en-US" sz="2800" b="1"/>
            </a:br>
            <a:r>
              <a:rPr lang="vi-VN" sz="2800" b="1"/>
              <a:t>Trái Đất </a:t>
            </a:r>
            <a:r>
              <a:rPr lang="vi-VN" sz="2800"/>
              <a:t>chuyển động một vòng quanh </a:t>
            </a:r>
            <a:r>
              <a:rPr lang="vi-VN" sz="2800" b="1"/>
              <a:t>Mặt Trời</a:t>
            </a:r>
            <a:r>
              <a:rPr lang="vi-VN" sz="2800"/>
              <a:t> trên quỹ đạo</a:t>
            </a:r>
            <a:r>
              <a:rPr lang="en-US" sz="2800"/>
              <a:t> </a:t>
            </a:r>
            <a:r>
              <a:rPr lang="en-US" sz="2800">
                <a:latin typeface="Times New Roman" pitchFamily="18" charset="0"/>
                <a:cs typeface="Times New Roman" pitchFamily="18" charset="0"/>
              </a:rPr>
              <a:t>elip gần tròn</a:t>
            </a:r>
            <a:r>
              <a:rPr lang="vi-VN" sz="2800">
                <a:cs typeface="Times New Roman" pitchFamily="18" charset="0"/>
              </a:rPr>
              <a:t> </a:t>
            </a:r>
            <a:r>
              <a:rPr lang="vi-VN" sz="2800"/>
              <a:t>hết 365 ngày và 6 giờ.</a:t>
            </a:r>
            <a:endParaRPr lang="en-US" sz="2800"/>
          </a:p>
        </p:txBody>
      </p:sp>
      <p:sp>
        <p:nvSpPr>
          <p:cNvPr id="3" name="Content Placeholder 2"/>
          <p:cNvSpPr>
            <a:spLocks noGrp="1"/>
          </p:cNvSpPr>
          <p:nvPr>
            <p:ph idx="1"/>
          </p:nvPr>
        </p:nvSpPr>
        <p:spPr>
          <a:xfrm>
            <a:off x="381000" y="3733800"/>
            <a:ext cx="5838825" cy="2620963"/>
          </a:xfrm>
        </p:spPr>
        <p:txBody>
          <a:bodyPr/>
          <a:lstStyle/>
          <a:p>
            <a:pPr>
              <a:buFont typeface="Wingdings" pitchFamily="2" charset="2"/>
              <a:buChar char="v"/>
            </a:pP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Tốc</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độ</a:t>
            </a:r>
            <a:r>
              <a:rPr lang="en-US" sz="2800" i="1" dirty="0">
                <a:latin typeface="Times New Roman" pitchFamily="18" charset="0"/>
                <a:cs typeface="Times New Roman" pitchFamily="18" charset="0"/>
              </a:rPr>
              <a:t> quay </a:t>
            </a:r>
            <a:r>
              <a:rPr lang="en-US" sz="2800" i="1" dirty="0" err="1">
                <a:latin typeface="Times New Roman" pitchFamily="18" charset="0"/>
                <a:cs typeface="Times New Roman" pitchFamily="18" charset="0"/>
              </a:rPr>
              <a:t>Trái</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Đất</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quanh</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Mặt</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Trời</a:t>
            </a:r>
            <a:r>
              <a:rPr lang="en-US" sz="2800" i="1" dirty="0">
                <a:latin typeface="Times New Roman" pitchFamily="18" charset="0"/>
                <a:cs typeface="Times New Roman" pitchFamily="18" charset="0"/>
              </a:rPr>
              <a:t> ?</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304800"/>
            <a:ext cx="3914775" cy="302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val Callout 7"/>
          <p:cNvSpPr>
            <a:spLocks noRot="1" noChangeAspect="1" noMove="1" noResize="1" noEditPoints="1" noAdjustHandles="1" noChangeArrowheads="1" noChangeShapeType="1" noTextEdit="1"/>
          </p:cNvSpPr>
          <p:nvPr/>
        </p:nvSpPr>
        <p:spPr>
          <a:xfrm>
            <a:off x="6400800" y="4148351"/>
            <a:ext cx="3115172" cy="685800"/>
          </a:xfrm>
          <a:prstGeom prst="wedgeEllipseCallout">
            <a:avLst>
              <a:gd name="adj1" fmla="val -28860"/>
              <a:gd name="adj2" fmla="val -358529"/>
            </a:avLst>
          </a:prstGeom>
          <a:blipFill rotWithShape="1">
            <a:blip r:embed="rId4"/>
            <a:stretch>
              <a:fillRect b="-216"/>
            </a:stretch>
          </a:blipFill>
        </p:spPr>
        <p:txBody>
          <a:bodyPr/>
          <a:lstStyle/>
          <a:p>
            <a:pPr>
              <a:defRPr/>
            </a:pPr>
            <a:r>
              <a:rPr lang="en-US">
                <a:noFill/>
              </a:rPr>
              <a:t> </a:t>
            </a:r>
          </a:p>
        </p:txBody>
      </p:sp>
      <p:sp>
        <p:nvSpPr>
          <p:cNvPr id="2" name="Footer Placeholder 1">
            <a:extLst>
              <a:ext uri="{FF2B5EF4-FFF2-40B4-BE49-F238E27FC236}">
                <a16:creationId xmlns:a16="http://schemas.microsoft.com/office/drawing/2014/main" id="{0B1CB3E4-7DB4-34A4-F466-D4D61E6A8B05}"/>
              </a:ext>
            </a:extLst>
          </p:cNvPr>
          <p:cNvSpPr>
            <a:spLocks noGrp="1"/>
          </p:cNvSpPr>
          <p:nvPr>
            <p:ph type="ftr" sz="quarter" idx="11"/>
          </p:nvPr>
        </p:nvSpPr>
        <p:spPr/>
        <p:txBody>
          <a:bodyPr/>
          <a:lstStyle/>
          <a:p>
            <a:r>
              <a:rPr lang="en-US"/>
              <a:t>Bùi Quốc Trung - VLDC</a:t>
            </a:r>
          </a:p>
        </p:txBody>
      </p:sp>
      <p:sp>
        <p:nvSpPr>
          <p:cNvPr id="6" name="Slide Number Placeholder 5">
            <a:extLst>
              <a:ext uri="{FF2B5EF4-FFF2-40B4-BE49-F238E27FC236}">
                <a16:creationId xmlns:a16="http://schemas.microsoft.com/office/drawing/2014/main" id="{D8E0BCF6-4FD5-BE5A-5A87-2B1A63A27B07}"/>
              </a:ext>
            </a:extLst>
          </p:cNvPr>
          <p:cNvSpPr>
            <a:spLocks noGrp="1"/>
          </p:cNvSpPr>
          <p:nvPr>
            <p:ph type="sldNum" sz="quarter" idx="12"/>
          </p:nvPr>
        </p:nvSpPr>
        <p:spPr/>
        <p:txBody>
          <a:bodyPr/>
          <a:lstStyle/>
          <a:p>
            <a:fld id="{C4A94DE9-7404-4CC4-BDD8-EA2E97866C70}" type="slidenum">
              <a:rPr lang="en-US" smtClean="0"/>
              <a:t>61</a:t>
            </a:fld>
            <a:endParaRPr lang="en-US"/>
          </a:p>
        </p:txBody>
      </p:sp>
    </p:spTree>
    <p:extLst>
      <p:ext uri="{BB962C8B-B14F-4D97-AF65-F5344CB8AC3E}">
        <p14:creationId xmlns:p14="http://schemas.microsoft.com/office/powerpoint/2010/main" val="141305102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16"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 calcmode="lin" valueType="num">
                                      <p:cBhvr>
                                        <p:cTn id="1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9" dur="500"/>
                                        <p:tgtEl>
                                          <p:spTgt spid="3">
                                            <p:txEl>
                                              <p:pRg st="0" end="0"/>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4"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down)">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6738" y="381000"/>
            <a:ext cx="6629400" cy="1143000"/>
          </a:xfrm>
        </p:spPr>
        <p:txBody>
          <a:bodyPr/>
          <a:lstStyle/>
          <a:p>
            <a:r>
              <a:rPr lang="en-US" sz="2800">
                <a:latin typeface="Times New Roman" pitchFamily="18" charset="0"/>
                <a:cs typeface="Times New Roman" pitchFamily="18" charset="0"/>
              </a:rPr>
              <a:t>Ban ngày hay ban đêm ở thời điểm nào trái đất chuyển động quanh mặt trời nhanh hơn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57625" y="3339306"/>
            <a:ext cx="1428750" cy="1047750"/>
          </a:xfrm>
        </p:spPr>
      </p:pic>
      <p:sp>
        <p:nvSpPr>
          <p:cNvPr id="5" name="Rectangle 4"/>
          <p:cNvSpPr/>
          <p:nvPr/>
        </p:nvSpPr>
        <p:spPr>
          <a:xfrm>
            <a:off x="457200" y="304800"/>
            <a:ext cx="10668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8000" b="1" i="1" dirty="0">
                <a:solidFill>
                  <a:srgbClr val="FF0000"/>
                </a:solidFill>
                <a:latin typeface="Times New Roman" pitchFamily="18" charset="0"/>
                <a:cs typeface="Times New Roman" pitchFamily="18" charset="0"/>
              </a:rPr>
              <a:t>?</a:t>
            </a:r>
          </a:p>
        </p:txBody>
      </p:sp>
      <p:sp>
        <p:nvSpPr>
          <p:cNvPr id="6" name="Oval Callout 5"/>
          <p:cNvSpPr/>
          <p:nvPr/>
        </p:nvSpPr>
        <p:spPr>
          <a:xfrm>
            <a:off x="5638800" y="4319317"/>
            <a:ext cx="3124200" cy="1371600"/>
          </a:xfrm>
          <a:prstGeom prst="wedgeEllipseCallout">
            <a:avLst/>
          </a:prstGeom>
        </p:spPr>
        <p:style>
          <a:lnRef idx="2">
            <a:schemeClr val="accent3"/>
          </a:lnRef>
          <a:fillRef idx="1">
            <a:schemeClr val="lt1"/>
          </a:fillRef>
          <a:effectRef idx="0">
            <a:schemeClr val="accent3"/>
          </a:effectRef>
          <a:fontRef idx="minor">
            <a:schemeClr val="dk1"/>
          </a:fontRef>
        </p:style>
        <p:txBody>
          <a:bodyPr anchor="ctr"/>
          <a:lstStyle/>
          <a:p>
            <a:pPr algn="ctr">
              <a:defRPr/>
            </a:pPr>
            <a:r>
              <a:rPr lang="en-US" sz="2800" b="1" i="1" dirty="0">
                <a:solidFill>
                  <a:srgbClr val="FF0000"/>
                </a:solidFill>
                <a:latin typeface="Times New Roman" pitchFamily="18" charset="0"/>
                <a:cs typeface="Times New Roman" pitchFamily="18" charset="0"/>
              </a:rPr>
              <a:t>Lúc nửa đêm</a:t>
            </a:r>
          </a:p>
        </p:txBody>
      </p:sp>
      <p:sp>
        <p:nvSpPr>
          <p:cNvPr id="3" name="Rectangle 2"/>
          <p:cNvSpPr/>
          <p:nvPr/>
        </p:nvSpPr>
        <p:spPr>
          <a:xfrm>
            <a:off x="152400" y="3581400"/>
            <a:ext cx="3429000" cy="2590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Tìm</a:t>
            </a:r>
            <a:r>
              <a:rPr lang="en-US" dirty="0"/>
              <a:t> </a:t>
            </a:r>
            <a:r>
              <a:rPr lang="en-US" dirty="0" err="1"/>
              <a:t>vận</a:t>
            </a:r>
            <a:r>
              <a:rPr lang="en-US" dirty="0"/>
              <a:t> </a:t>
            </a:r>
            <a:r>
              <a:rPr lang="en-US" dirty="0" err="1"/>
              <a:t>tốc</a:t>
            </a:r>
            <a:r>
              <a:rPr lang="en-US" dirty="0"/>
              <a:t> </a:t>
            </a:r>
            <a:r>
              <a:rPr lang="en-US" dirty="0" err="1"/>
              <a:t>góc</a:t>
            </a:r>
            <a:r>
              <a:rPr lang="en-US" dirty="0"/>
              <a:t> </a:t>
            </a:r>
            <a:r>
              <a:rPr lang="en-US" dirty="0" err="1"/>
              <a:t>kim</a:t>
            </a:r>
            <a:r>
              <a:rPr lang="en-US" dirty="0"/>
              <a:t> h, </a:t>
            </a:r>
            <a:r>
              <a:rPr lang="en-US" dirty="0" err="1"/>
              <a:t>phút</a:t>
            </a:r>
            <a:r>
              <a:rPr lang="en-US" dirty="0"/>
              <a:t>, s</a:t>
            </a:r>
          </a:p>
          <a:p>
            <a:pPr algn="ctr"/>
            <a:r>
              <a:rPr lang="en-US" dirty="0"/>
              <a:t>T = 2</a:t>
            </a:r>
            <a:r>
              <a:rPr lang="el-GR" dirty="0"/>
              <a:t>π</a:t>
            </a:r>
            <a:r>
              <a:rPr lang="en-US" dirty="0"/>
              <a:t>/</a:t>
            </a:r>
            <a:r>
              <a:rPr lang="el-GR" dirty="0"/>
              <a:t>ω</a:t>
            </a:r>
            <a:r>
              <a:rPr lang="en-US" dirty="0"/>
              <a:t> </a:t>
            </a:r>
          </a:p>
          <a:p>
            <a:pPr algn="ctr"/>
            <a:r>
              <a:rPr lang="en-US" dirty="0"/>
              <a:t>H: T = 12.3600 s</a:t>
            </a:r>
          </a:p>
          <a:p>
            <a:pPr algn="ctr"/>
            <a:r>
              <a:rPr lang="en-US" dirty="0"/>
              <a:t>P: T = 1.3600 s</a:t>
            </a:r>
          </a:p>
          <a:p>
            <a:pPr algn="ctr"/>
            <a:r>
              <a:rPr lang="en-US" dirty="0"/>
              <a:t>S: T = 60s</a:t>
            </a:r>
          </a:p>
        </p:txBody>
      </p:sp>
      <p:sp>
        <p:nvSpPr>
          <p:cNvPr id="7" name="Footer Placeholder 6">
            <a:extLst>
              <a:ext uri="{FF2B5EF4-FFF2-40B4-BE49-F238E27FC236}">
                <a16:creationId xmlns:a16="http://schemas.microsoft.com/office/drawing/2014/main" id="{9651BCF4-AEE7-41FC-90D9-E97515E0E120}"/>
              </a:ext>
            </a:extLst>
          </p:cNvPr>
          <p:cNvSpPr>
            <a:spLocks noGrp="1"/>
          </p:cNvSpPr>
          <p:nvPr>
            <p:ph type="ftr" sz="quarter" idx="11"/>
          </p:nvPr>
        </p:nvSpPr>
        <p:spPr/>
        <p:txBody>
          <a:bodyPr/>
          <a:lstStyle/>
          <a:p>
            <a:r>
              <a:rPr lang="en-US"/>
              <a:t>Bùi Quốc Trung - VLDC</a:t>
            </a:r>
          </a:p>
        </p:txBody>
      </p:sp>
      <p:sp>
        <p:nvSpPr>
          <p:cNvPr id="8" name="Slide Number Placeholder 7">
            <a:extLst>
              <a:ext uri="{FF2B5EF4-FFF2-40B4-BE49-F238E27FC236}">
                <a16:creationId xmlns:a16="http://schemas.microsoft.com/office/drawing/2014/main" id="{50BBB691-2A76-5179-71CD-AF5667F5DEC0}"/>
              </a:ext>
            </a:extLst>
          </p:cNvPr>
          <p:cNvSpPr>
            <a:spLocks noGrp="1"/>
          </p:cNvSpPr>
          <p:nvPr>
            <p:ph type="sldNum" sz="quarter" idx="12"/>
          </p:nvPr>
        </p:nvSpPr>
        <p:spPr/>
        <p:txBody>
          <a:bodyPr/>
          <a:lstStyle/>
          <a:p>
            <a:fld id="{C4A94DE9-7404-4CC4-BDD8-EA2E97866C70}" type="slidenum">
              <a:rPr lang="en-US" smtClean="0"/>
              <a:t>62</a:t>
            </a:fld>
            <a:endParaRPr lang="en-US"/>
          </a:p>
        </p:txBody>
      </p:sp>
    </p:spTree>
    <p:extLst>
      <p:ext uri="{BB962C8B-B14F-4D97-AF65-F5344CB8AC3E}">
        <p14:creationId xmlns:p14="http://schemas.microsoft.com/office/powerpoint/2010/main" val="381229844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00"/>
                                        <p:tgtEl>
                                          <p:spTgt spid="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5"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2000"/>
                                        <p:tgtEl>
                                          <p:spTgt spid="6"/>
                                        </p:tgtEl>
                                      </p:cBhvr>
                                    </p:animEffect>
                                    <p:anim calcmode="lin" valueType="num">
                                      <p:cBhvr>
                                        <p:cTn id="27" dur="2000" fill="hold"/>
                                        <p:tgtEl>
                                          <p:spTgt spid="6"/>
                                        </p:tgtEl>
                                        <p:attrNameLst>
                                          <p:attrName>ppt_w</p:attrName>
                                        </p:attrNameLst>
                                      </p:cBhvr>
                                      <p:tavLst>
                                        <p:tav tm="0" fmla="#ppt_w*sin(2.5*pi*$)">
                                          <p:val>
                                            <p:fltVal val="0"/>
                                          </p:val>
                                        </p:tav>
                                        <p:tav tm="100000">
                                          <p:val>
                                            <p:fltVal val="1"/>
                                          </p:val>
                                        </p:tav>
                                      </p:tavLst>
                                    </p:anim>
                                    <p:anim calcmode="lin" valueType="num">
                                      <p:cBhvr>
                                        <p:cTn id="28"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circle(in)">
                                      <p:cBhvr>
                                        <p:cTn id="33"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animBg="1"/>
      <p:bldP spid="3"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200" b="1" i="1">
                <a:solidFill>
                  <a:srgbClr val="FF0000"/>
                </a:solidFill>
                <a:latin typeface="Times New Roman" pitchFamily="18" charset="0"/>
                <a:cs typeface="Times New Roman" pitchFamily="18" charset="0"/>
              </a:rPr>
              <a:t>CHUYỂN ĐỘNG TRÒN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4800" y="1447799"/>
            <a:ext cx="4648200" cy="3931065"/>
          </a:xfrm>
          <a:prstGeom prst="ellipse">
            <a:avLst/>
          </a:prstGeom>
          <a:ln>
            <a:noFill/>
          </a:ln>
          <a:effectLst>
            <a:softEdge rad="112500"/>
          </a:effectLst>
        </p:spPr>
      </p:pic>
      <mc:AlternateContent xmlns:mc="http://schemas.openxmlformats.org/markup-compatibility/2006" xmlns:a14="http://schemas.microsoft.com/office/drawing/2010/main">
        <mc:Choice Requires="a14">
          <p:sp>
            <p:nvSpPr>
              <p:cNvPr id="6" name="Rectangle 5"/>
              <p:cNvSpPr/>
              <p:nvPr/>
            </p:nvSpPr>
            <p:spPr>
              <a:xfrm>
                <a:off x="381000" y="1828800"/>
                <a:ext cx="3276600" cy="355006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14:m>
                  <m:oMath xmlns:m="http://schemas.openxmlformats.org/officeDocument/2006/math">
                    <m:r>
                      <a:rPr lang="en-US" sz="2400" b="1" i="1" smtClean="0">
                        <a:latin typeface="Cambria Math"/>
                        <a:ea typeface="Cambria Math"/>
                      </a:rPr>
                      <m:t>𝜷</m:t>
                    </m:r>
                  </m:oMath>
                </a14:m>
                <a:r>
                  <a:rPr lang="en-US" sz="2400" b="1" i="1" dirty="0">
                    <a:latin typeface="Times New Roman" pitchFamily="18" charset="0"/>
                    <a:cs typeface="Times New Roman" pitchFamily="18" charset="0"/>
                  </a:rPr>
                  <a:t> = </a:t>
                </a:r>
                <a:r>
                  <a:rPr lang="en-US" sz="2400" b="1" i="1" dirty="0" err="1">
                    <a:latin typeface="Times New Roman" pitchFamily="18" charset="0"/>
                    <a:cs typeface="Times New Roman" pitchFamily="18" charset="0"/>
                  </a:rPr>
                  <a:t>const</a:t>
                </a:r>
                <a:endParaRPr lang="en-US" sz="2400" b="1" i="1" dirty="0">
                  <a:latin typeface="Times New Roman" pitchFamily="18" charset="0"/>
                  <a:cs typeface="Times New Roman" pitchFamily="18" charset="0"/>
                </a:endParaRPr>
              </a:p>
              <a:p>
                <a:r>
                  <a:rPr lang="en-US" sz="2400" b="1" i="1" dirty="0">
                    <a:latin typeface="Times New Roman" pitchFamily="18" charset="0"/>
                    <a:cs typeface="Times New Roman" pitchFamily="18" charset="0"/>
                  </a:rPr>
                  <a:t>          ω = </a:t>
                </a:r>
                <a14:m>
                  <m:oMath xmlns:m="http://schemas.openxmlformats.org/officeDocument/2006/math">
                    <m:sSub>
                      <m:sSubPr>
                        <m:ctrlPr>
                          <a:rPr lang="en-US" sz="2400" b="1" i="1">
                            <a:latin typeface="Cambria Math" panose="02040503050406030204" pitchFamily="18" charset="0"/>
                          </a:rPr>
                        </m:ctrlPr>
                      </m:sSubPr>
                      <m:e>
                        <m:r>
                          <a:rPr lang="en-US" sz="2400" b="1" i="1">
                            <a:latin typeface="Cambria Math"/>
                            <a:ea typeface="Cambria Math"/>
                          </a:rPr>
                          <m:t>𝝎</m:t>
                        </m:r>
                      </m:e>
                      <m:sub>
                        <m:r>
                          <a:rPr lang="en-US" sz="2400" b="1" i="1">
                            <a:latin typeface="Cambria Math"/>
                          </a:rPr>
                          <m:t>𝟎</m:t>
                        </m:r>
                      </m:sub>
                    </m:sSub>
                  </m:oMath>
                </a14:m>
                <a:r>
                  <a:rPr lang="en-US" sz="2400" b="1" i="1" dirty="0">
                    <a:latin typeface="Times New Roman" pitchFamily="18" charset="0"/>
                    <a:cs typeface="Times New Roman" pitchFamily="18" charset="0"/>
                  </a:rPr>
                  <a:t> + </a:t>
                </a:r>
                <a14:m>
                  <m:oMath xmlns:m="http://schemas.openxmlformats.org/officeDocument/2006/math">
                    <m:r>
                      <a:rPr lang="en-US" sz="2400" b="1" i="1">
                        <a:latin typeface="Cambria Math"/>
                        <a:ea typeface="Cambria Math"/>
                      </a:rPr>
                      <m:t>𝜷</m:t>
                    </m:r>
                  </m:oMath>
                </a14:m>
                <a:r>
                  <a:rPr lang="en-US" sz="2400" b="1" i="1" dirty="0">
                    <a:latin typeface="Times New Roman" pitchFamily="18" charset="0"/>
                    <a:cs typeface="Times New Roman" pitchFamily="18" charset="0"/>
                  </a:rPr>
                  <a:t>t</a:t>
                </a:r>
              </a:p>
              <a:p>
                <a:r>
                  <a:rPr lang="en-US" sz="2400" b="1" dirty="0">
                    <a:ea typeface="Cambria Math"/>
                  </a:rPr>
                  <a:t> </a:t>
                </a:r>
                <a14:m>
                  <m:oMath xmlns:m="http://schemas.openxmlformats.org/officeDocument/2006/math">
                    <m:r>
                      <a:rPr lang="en-US" sz="2400" b="1" i="1">
                        <a:latin typeface="Cambria Math"/>
                        <a:ea typeface="Cambria Math"/>
                      </a:rPr>
                      <m:t>𝜽</m:t>
                    </m:r>
                    <m:r>
                      <a:rPr lang="en-US" sz="2400" b="1" i="1">
                        <a:latin typeface="Cambria Math"/>
                        <a:ea typeface="Cambria Math"/>
                      </a:rPr>
                      <m:t>=</m:t>
                    </m:r>
                    <m:sSub>
                      <m:sSubPr>
                        <m:ctrlPr>
                          <a:rPr lang="en-US" sz="2400" b="1" i="1">
                            <a:latin typeface="Cambria Math" panose="02040503050406030204" pitchFamily="18" charset="0"/>
                            <a:ea typeface="Cambria Math"/>
                          </a:rPr>
                        </m:ctrlPr>
                      </m:sSubPr>
                      <m:e>
                        <m:r>
                          <a:rPr lang="en-US" sz="2400" b="1" i="1">
                            <a:latin typeface="Cambria Math"/>
                            <a:ea typeface="Cambria Math"/>
                          </a:rPr>
                          <m:t>𝜽</m:t>
                        </m:r>
                      </m:e>
                      <m:sub>
                        <m:r>
                          <a:rPr lang="en-US" sz="2400" b="1" i="1">
                            <a:latin typeface="Cambria Math"/>
                            <a:ea typeface="Cambria Math"/>
                          </a:rPr>
                          <m:t>𝟎</m:t>
                        </m:r>
                      </m:sub>
                    </m:sSub>
                    <m:r>
                      <a:rPr lang="en-US" sz="2400" b="1" i="1" smtClean="0">
                        <a:latin typeface="Cambria Math"/>
                        <a:ea typeface="Cambria Math"/>
                      </a:rPr>
                      <m:t>+</m:t>
                    </m:r>
                    <m:sSub>
                      <m:sSubPr>
                        <m:ctrlPr>
                          <a:rPr lang="en-US" sz="2400" b="1" i="1">
                            <a:latin typeface="Cambria Math" panose="02040503050406030204" pitchFamily="18" charset="0"/>
                          </a:rPr>
                        </m:ctrlPr>
                      </m:sSubPr>
                      <m:e>
                        <m:r>
                          <a:rPr lang="en-US" sz="2400" b="1" i="1">
                            <a:latin typeface="Cambria Math"/>
                            <a:ea typeface="Cambria Math"/>
                          </a:rPr>
                          <m:t>𝝎</m:t>
                        </m:r>
                      </m:e>
                      <m:sub>
                        <m:r>
                          <a:rPr lang="en-US" sz="2400" b="1" i="1">
                            <a:latin typeface="Cambria Math"/>
                          </a:rPr>
                          <m:t>𝟎</m:t>
                        </m:r>
                      </m:sub>
                    </m:sSub>
                    <m:r>
                      <a:rPr lang="en-US" sz="2400" b="1" i="1" smtClean="0">
                        <a:latin typeface="Cambria Math"/>
                      </a:rPr>
                      <m:t>𝒕</m:t>
                    </m:r>
                    <m:r>
                      <a:rPr lang="en-US" sz="2400" b="1" i="1">
                        <a:latin typeface="Cambria Math"/>
                        <a:ea typeface="Cambria Math"/>
                      </a:rPr>
                      <m:t>+</m:t>
                    </m:r>
                    <m:f>
                      <m:fPr>
                        <m:ctrlPr>
                          <a:rPr lang="en-US" sz="2400" b="1" i="1">
                            <a:latin typeface="Cambria Math" panose="02040503050406030204" pitchFamily="18" charset="0"/>
                            <a:ea typeface="Cambria Math"/>
                          </a:rPr>
                        </m:ctrlPr>
                      </m:fPr>
                      <m:num>
                        <m:r>
                          <a:rPr lang="en-US" sz="2400" b="1" i="1">
                            <a:latin typeface="Cambria Math"/>
                            <a:ea typeface="Cambria Math"/>
                          </a:rPr>
                          <m:t>𝟏</m:t>
                        </m:r>
                      </m:num>
                      <m:den>
                        <m:r>
                          <a:rPr lang="en-US" sz="2400" b="1" i="1">
                            <a:latin typeface="Cambria Math"/>
                            <a:ea typeface="Cambria Math"/>
                          </a:rPr>
                          <m:t>𝟐</m:t>
                        </m:r>
                      </m:den>
                    </m:f>
                    <m:r>
                      <a:rPr lang="en-US" sz="2400" b="1" i="1">
                        <a:latin typeface="Cambria Math"/>
                        <a:ea typeface="Cambria Math"/>
                      </a:rPr>
                      <m:t>𝜷</m:t>
                    </m:r>
                    <m:r>
                      <a:rPr lang="en-US" sz="2400" b="1" i="1">
                        <a:latin typeface="Cambria Math"/>
                        <a:ea typeface="Cambria Math"/>
                      </a:rPr>
                      <m:t>𝒕</m:t>
                    </m:r>
                    <m:r>
                      <a:rPr lang="en-US" sz="2400" b="1" i="1">
                        <a:latin typeface="Cambria Math"/>
                        <a:ea typeface="Cambria Math"/>
                      </a:rPr>
                      <m:t>²</m:t>
                    </m:r>
                  </m:oMath>
                </a14:m>
                <a:endParaRPr lang="en-US" sz="2400" b="1" i="1" dirty="0">
                  <a:latin typeface="Times New Roman" pitchFamily="18" charset="0"/>
                  <a:ea typeface="Cambria Math"/>
                  <a:cs typeface="Times New Roman" pitchFamily="18" charset="0"/>
                </a:endParaRPr>
              </a:p>
              <a:p>
                <a14:m>
                  <m:oMath xmlns:m="http://schemas.openxmlformats.org/officeDocument/2006/math">
                    <m:sSup>
                      <m:sSupPr>
                        <m:ctrlPr>
                          <a:rPr lang="en-US" sz="2400" b="1" i="1">
                            <a:latin typeface="Cambria Math" panose="02040503050406030204" pitchFamily="18" charset="0"/>
                            <a:ea typeface="Cambria Math"/>
                          </a:rPr>
                        </m:ctrlPr>
                      </m:sSupPr>
                      <m:e>
                        <m:r>
                          <a:rPr lang="en-US" sz="2400" b="1" i="1">
                            <a:latin typeface="Cambria Math"/>
                            <a:ea typeface="Cambria Math"/>
                          </a:rPr>
                          <m:t>           </m:t>
                        </m:r>
                        <m:r>
                          <a:rPr lang="en-US" sz="2400" b="1" i="1">
                            <a:latin typeface="Cambria Math"/>
                            <a:ea typeface="Cambria Math"/>
                          </a:rPr>
                          <m:t>𝝎</m:t>
                        </m:r>
                      </m:e>
                      <m:sup>
                        <m:r>
                          <a:rPr lang="en-US" sz="2400" b="1" i="1">
                            <a:latin typeface="Cambria Math"/>
                            <a:ea typeface="Cambria Math"/>
                          </a:rPr>
                          <m:t>𝟐</m:t>
                        </m:r>
                      </m:sup>
                    </m:sSup>
                    <m:r>
                      <a:rPr lang="en-US" sz="2400" b="1" i="1">
                        <a:latin typeface="Cambria Math"/>
                        <a:ea typeface="Cambria Math"/>
                      </a:rPr>
                      <m:t>−</m:t>
                    </m:r>
                    <m:sSup>
                      <m:sSupPr>
                        <m:ctrlPr>
                          <a:rPr lang="en-US" sz="2400" b="1" i="1">
                            <a:latin typeface="Cambria Math" panose="02040503050406030204" pitchFamily="18" charset="0"/>
                            <a:ea typeface="Cambria Math"/>
                          </a:rPr>
                        </m:ctrlPr>
                      </m:sSupPr>
                      <m:e>
                        <m:sSubSup>
                          <m:sSubSupPr>
                            <m:ctrlPr>
                              <a:rPr lang="en-US" sz="2400" b="1" i="1">
                                <a:latin typeface="Cambria Math" panose="02040503050406030204" pitchFamily="18" charset="0"/>
                                <a:ea typeface="Cambria Math"/>
                              </a:rPr>
                            </m:ctrlPr>
                          </m:sSubSupPr>
                          <m:e>
                            <m:r>
                              <a:rPr lang="en-US" sz="2400" b="1" i="1">
                                <a:latin typeface="Cambria Math"/>
                                <a:ea typeface="Cambria Math"/>
                              </a:rPr>
                              <m:t>𝝎</m:t>
                            </m:r>
                          </m:e>
                          <m:sub>
                            <m:r>
                              <a:rPr lang="en-US" sz="2400" b="1" i="1">
                                <a:latin typeface="Cambria Math"/>
                                <a:ea typeface="Cambria Math"/>
                              </a:rPr>
                              <m:t>𝟎</m:t>
                            </m:r>
                          </m:sub>
                          <m:sup/>
                        </m:sSubSup>
                      </m:e>
                      <m:sup>
                        <m:r>
                          <a:rPr lang="en-US" sz="2400" b="1" i="1">
                            <a:latin typeface="Cambria Math"/>
                            <a:ea typeface="Cambria Math"/>
                          </a:rPr>
                          <m:t>𝟐</m:t>
                        </m:r>
                      </m:sup>
                    </m:sSup>
                  </m:oMath>
                </a14:m>
                <a:r>
                  <a:rPr lang="en-US" sz="2400" b="1" i="1" dirty="0">
                    <a:latin typeface="Times New Roman" pitchFamily="18" charset="0"/>
                    <a:ea typeface="Cambria Math"/>
                    <a:cs typeface="Times New Roman" pitchFamily="18" charset="0"/>
                  </a:rPr>
                  <a:t>=2</a:t>
                </a:r>
                <a14:m>
                  <m:oMath xmlns:m="http://schemas.openxmlformats.org/officeDocument/2006/math">
                    <m:r>
                      <a:rPr lang="en-US" sz="2400" b="1" i="1">
                        <a:latin typeface="Cambria Math"/>
                        <a:ea typeface="Cambria Math"/>
                      </a:rPr>
                      <m:t>𝜷</m:t>
                    </m:r>
                    <m:r>
                      <a:rPr lang="en-US" sz="2400" b="1" i="1" smtClean="0">
                        <a:latin typeface="Cambria Math"/>
                        <a:ea typeface="Cambria Math"/>
                      </a:rPr>
                      <m:t>𝜽</m:t>
                    </m:r>
                  </m:oMath>
                </a14:m>
                <a:endParaRPr lang="en-US" sz="2400" b="1" i="1" dirty="0">
                  <a:latin typeface="Times New Roman" pitchFamily="18" charset="0"/>
                  <a:ea typeface="Cambria Math"/>
                  <a:cs typeface="Times New Roman"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381000" y="1828800"/>
                <a:ext cx="3276600" cy="3550064"/>
              </a:xfrm>
              <a:prstGeom prst="rect">
                <a:avLst/>
              </a:prstGeom>
              <a:blipFill rotWithShape="1">
                <a:blip r:embed="rId3"/>
                <a:stretch>
                  <a:fillRect/>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7E6AEAFD-A75D-9F7C-A3F9-A0512FDE204F}"/>
              </a:ext>
            </a:extLst>
          </p:cNvPr>
          <p:cNvSpPr>
            <a:spLocks noGrp="1"/>
          </p:cNvSpPr>
          <p:nvPr>
            <p:ph type="ftr" sz="quarter" idx="11"/>
          </p:nvPr>
        </p:nvSpPr>
        <p:spPr/>
        <p:txBody>
          <a:bodyPr/>
          <a:lstStyle/>
          <a:p>
            <a:r>
              <a:rPr lang="en-US"/>
              <a:t>Bùi Quốc Trung - VLDC</a:t>
            </a:r>
          </a:p>
        </p:txBody>
      </p:sp>
      <p:sp>
        <p:nvSpPr>
          <p:cNvPr id="4" name="Slide Number Placeholder 3">
            <a:extLst>
              <a:ext uri="{FF2B5EF4-FFF2-40B4-BE49-F238E27FC236}">
                <a16:creationId xmlns:a16="http://schemas.microsoft.com/office/drawing/2014/main" id="{1F2FCB1E-E170-3F2D-7E41-A55028E523BE}"/>
              </a:ext>
            </a:extLst>
          </p:cNvPr>
          <p:cNvSpPr>
            <a:spLocks noGrp="1"/>
          </p:cNvSpPr>
          <p:nvPr>
            <p:ph type="sldNum" sz="quarter" idx="12"/>
          </p:nvPr>
        </p:nvSpPr>
        <p:spPr/>
        <p:txBody>
          <a:bodyPr/>
          <a:lstStyle/>
          <a:p>
            <a:fld id="{C4A94DE9-7404-4CC4-BDD8-EA2E97866C70}" type="slidenum">
              <a:rPr lang="en-US" smtClean="0"/>
              <a:t>63</a:t>
            </a:fld>
            <a:endParaRPr lang="en-US"/>
          </a:p>
        </p:txBody>
      </p:sp>
    </p:spTree>
    <p:extLst>
      <p:ext uri="{BB962C8B-B14F-4D97-AF65-F5344CB8AC3E}">
        <p14:creationId xmlns:p14="http://schemas.microsoft.com/office/powerpoint/2010/main" val="27191513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a:spLocks noGrp="1"/>
          </p:cNvSpPr>
          <p:nvPr>
            <p:ph/>
          </p:nvPr>
        </p:nvSpPr>
        <p:spPr/>
        <p:txBody>
          <a:bodyPr/>
          <a:lstStyle/>
          <a:p>
            <a:pPr>
              <a:buFont typeface="Arial" charset="0"/>
              <a:buNone/>
              <a:defRPr/>
            </a:pPr>
            <a:r>
              <a:rPr lang="en-US" dirty="0"/>
              <a:t>	</a:t>
            </a:r>
          </a:p>
          <a:p>
            <a:pPr>
              <a:buFont typeface="Arial" charset="0"/>
              <a:buNone/>
              <a:defRPr/>
            </a:pPr>
            <a:endParaRPr lang="en-US" dirty="0"/>
          </a:p>
          <a:p>
            <a:pPr>
              <a:buFont typeface="Arial" charset="0"/>
              <a:buNone/>
              <a:defRPr/>
            </a:pPr>
            <a:r>
              <a:rPr lang="en-US" dirty="0"/>
              <a:t>   </a:t>
            </a:r>
            <a:r>
              <a:rPr lang="en-US" dirty="0" err="1"/>
              <a:t>Phát</a:t>
            </a:r>
            <a:r>
              <a:rPr lang="en-US" dirty="0"/>
              <a:t> </a:t>
            </a:r>
            <a:r>
              <a:rPr lang="en-US" dirty="0" err="1"/>
              <a:t>biểu</a:t>
            </a:r>
            <a:r>
              <a:rPr lang="en-US" dirty="0"/>
              <a:t> </a:t>
            </a:r>
            <a:r>
              <a:rPr lang="en-US" dirty="0" err="1"/>
              <a:t>nào</a:t>
            </a:r>
            <a:r>
              <a:rPr lang="en-US" dirty="0"/>
              <a:t> </a:t>
            </a:r>
            <a:r>
              <a:rPr lang="en-US" dirty="0" err="1"/>
              <a:t>là</a:t>
            </a:r>
            <a:r>
              <a:rPr lang="en-US" dirty="0"/>
              <a:t> </a:t>
            </a:r>
            <a:r>
              <a:rPr lang="en-US" b="1" dirty="0" err="1"/>
              <a:t>sai</a:t>
            </a:r>
            <a:r>
              <a:rPr lang="en-US" dirty="0"/>
              <a:t> </a:t>
            </a:r>
            <a:r>
              <a:rPr lang="en-US" dirty="0" err="1"/>
              <a:t>khi</a:t>
            </a:r>
            <a:r>
              <a:rPr lang="en-US" dirty="0"/>
              <a:t> </a:t>
            </a:r>
            <a:r>
              <a:rPr lang="en-US" dirty="0" err="1"/>
              <a:t>nói</a:t>
            </a:r>
            <a:r>
              <a:rPr lang="en-US" dirty="0"/>
              <a:t> </a:t>
            </a:r>
            <a:r>
              <a:rPr lang="en-US" dirty="0" err="1"/>
              <a:t>về</a:t>
            </a:r>
            <a:r>
              <a:rPr lang="en-US" dirty="0"/>
              <a:t> </a:t>
            </a:r>
            <a:r>
              <a:rPr lang="en-US" dirty="0" err="1"/>
              <a:t>chuyển</a:t>
            </a:r>
            <a:r>
              <a:rPr lang="en-US" dirty="0"/>
              <a:t> </a:t>
            </a:r>
            <a:r>
              <a:rPr lang="en-US" dirty="0" err="1"/>
              <a:t>động</a:t>
            </a:r>
            <a:r>
              <a:rPr lang="en-US" dirty="0"/>
              <a:t> </a:t>
            </a:r>
            <a:r>
              <a:rPr lang="en-US" dirty="0" err="1"/>
              <a:t>tròn</a:t>
            </a:r>
            <a:r>
              <a:rPr lang="en-US" dirty="0"/>
              <a:t> </a:t>
            </a:r>
            <a:r>
              <a:rPr lang="en-US" dirty="0" err="1"/>
              <a:t>đều</a:t>
            </a:r>
            <a:r>
              <a:rPr lang="en-US" dirty="0"/>
              <a:t> </a:t>
            </a:r>
            <a:r>
              <a:rPr lang="en-US" dirty="0" err="1"/>
              <a:t>của</a:t>
            </a:r>
            <a:r>
              <a:rPr lang="en-US" dirty="0"/>
              <a:t> </a:t>
            </a:r>
            <a:r>
              <a:rPr lang="en-US" dirty="0" err="1"/>
              <a:t>một</a:t>
            </a:r>
            <a:r>
              <a:rPr lang="en-US" dirty="0"/>
              <a:t> </a:t>
            </a:r>
            <a:r>
              <a:rPr lang="en-US" dirty="0" err="1"/>
              <a:t>chất</a:t>
            </a:r>
            <a:r>
              <a:rPr lang="en-US" dirty="0"/>
              <a:t> </a:t>
            </a:r>
            <a:r>
              <a:rPr lang="en-US" dirty="0" err="1"/>
              <a:t>điểm</a:t>
            </a:r>
            <a:r>
              <a:rPr lang="en-US" dirty="0"/>
              <a:t> :</a:t>
            </a:r>
            <a:endParaRPr lang="en-US" u="sng" dirty="0"/>
          </a:p>
          <a:p>
            <a:pPr marL="0" indent="0">
              <a:buFont typeface="Arial" charset="0"/>
              <a:buNone/>
              <a:defRPr/>
            </a:pPr>
            <a:r>
              <a:rPr lang="en-US" dirty="0"/>
              <a:t>A. </a:t>
            </a:r>
            <a:r>
              <a:rPr lang="en-US" dirty="0" err="1"/>
              <a:t>Gia</a:t>
            </a:r>
            <a:r>
              <a:rPr lang="en-US" dirty="0"/>
              <a:t> </a:t>
            </a:r>
            <a:r>
              <a:rPr lang="en-US" dirty="0" err="1"/>
              <a:t>tốc</a:t>
            </a:r>
            <a:r>
              <a:rPr lang="en-US" dirty="0"/>
              <a:t> </a:t>
            </a:r>
            <a:r>
              <a:rPr lang="en-US" dirty="0" err="1"/>
              <a:t>bằng</a:t>
            </a:r>
            <a:r>
              <a:rPr lang="en-US" dirty="0"/>
              <a:t> </a:t>
            </a:r>
            <a:r>
              <a:rPr lang="en-US" dirty="0" err="1"/>
              <a:t>không</a:t>
            </a:r>
            <a:r>
              <a:rPr lang="en-US" dirty="0"/>
              <a:t>.</a:t>
            </a:r>
          </a:p>
          <a:p>
            <a:pPr marL="0" indent="0">
              <a:buFont typeface="Arial" charset="0"/>
              <a:buNone/>
              <a:defRPr/>
            </a:pPr>
            <a:r>
              <a:rPr lang="en-US" dirty="0"/>
              <a:t>B. </a:t>
            </a:r>
            <a:r>
              <a:rPr lang="en-US" dirty="0" err="1"/>
              <a:t>Vận</a:t>
            </a:r>
            <a:r>
              <a:rPr lang="en-US" dirty="0"/>
              <a:t> </a:t>
            </a:r>
            <a:r>
              <a:rPr lang="en-US" dirty="0" err="1"/>
              <a:t>tốc</a:t>
            </a:r>
            <a:r>
              <a:rPr lang="en-US" dirty="0"/>
              <a:t> </a:t>
            </a:r>
            <a:r>
              <a:rPr lang="en-US" dirty="0" err="1"/>
              <a:t>góc</a:t>
            </a:r>
            <a:r>
              <a:rPr lang="en-US" dirty="0"/>
              <a:t> </a:t>
            </a:r>
            <a:r>
              <a:rPr lang="en-US" dirty="0" err="1"/>
              <a:t>bằng</a:t>
            </a:r>
            <a:r>
              <a:rPr lang="en-US" dirty="0"/>
              <a:t> </a:t>
            </a:r>
            <a:r>
              <a:rPr lang="en-US" dirty="0" err="1"/>
              <a:t>hằng</a:t>
            </a:r>
            <a:r>
              <a:rPr lang="en-US" dirty="0"/>
              <a:t> </a:t>
            </a:r>
            <a:r>
              <a:rPr lang="en-US" dirty="0" err="1"/>
              <a:t>số</a:t>
            </a:r>
            <a:r>
              <a:rPr lang="en-US" dirty="0"/>
              <a:t>.</a:t>
            </a:r>
          </a:p>
          <a:p>
            <a:pPr marL="0" indent="0">
              <a:buFont typeface="Arial" charset="0"/>
              <a:buNone/>
              <a:defRPr/>
            </a:pPr>
            <a:r>
              <a:rPr lang="en-US" dirty="0"/>
              <a:t>C. </a:t>
            </a:r>
            <a:r>
              <a:rPr lang="en-US" dirty="0" err="1"/>
              <a:t>Chuyển</a:t>
            </a:r>
            <a:r>
              <a:rPr lang="en-US" dirty="0"/>
              <a:t> </a:t>
            </a:r>
            <a:r>
              <a:rPr lang="en-US" dirty="0" err="1"/>
              <a:t>động</a:t>
            </a:r>
            <a:r>
              <a:rPr lang="en-US" dirty="0"/>
              <a:t> </a:t>
            </a:r>
            <a:r>
              <a:rPr lang="en-US" dirty="0" err="1"/>
              <a:t>có</a:t>
            </a:r>
            <a:r>
              <a:rPr lang="en-US" dirty="0"/>
              <a:t> </a:t>
            </a:r>
            <a:r>
              <a:rPr lang="en-US" dirty="0" err="1"/>
              <a:t>tính</a:t>
            </a:r>
            <a:r>
              <a:rPr lang="en-US" dirty="0"/>
              <a:t> </a:t>
            </a:r>
            <a:r>
              <a:rPr lang="en-US" dirty="0" err="1"/>
              <a:t>tuần</a:t>
            </a:r>
            <a:r>
              <a:rPr lang="en-US" dirty="0"/>
              <a:t> </a:t>
            </a:r>
            <a:r>
              <a:rPr lang="en-US" dirty="0" err="1"/>
              <a:t>hoàn</a:t>
            </a:r>
            <a:r>
              <a:rPr lang="en-US" dirty="0"/>
              <a:t>.</a:t>
            </a:r>
          </a:p>
          <a:p>
            <a:pPr marL="0" indent="0">
              <a:buFont typeface="Arial" charset="0"/>
              <a:buNone/>
              <a:defRPr/>
            </a:pPr>
            <a:r>
              <a:rPr lang="en-US" dirty="0"/>
              <a:t>D. </a:t>
            </a:r>
            <a:r>
              <a:rPr lang="en-US" dirty="0" err="1"/>
              <a:t>Góc</a:t>
            </a:r>
            <a:r>
              <a:rPr lang="en-US" dirty="0"/>
              <a:t> quay </a:t>
            </a:r>
            <a:r>
              <a:rPr lang="en-US" dirty="0" err="1"/>
              <a:t>được</a:t>
            </a:r>
            <a:r>
              <a:rPr lang="en-US" dirty="0"/>
              <a:t> </a:t>
            </a:r>
            <a:r>
              <a:rPr lang="en-US" dirty="0" err="1"/>
              <a:t>tỷ</a:t>
            </a:r>
            <a:r>
              <a:rPr lang="en-US" dirty="0"/>
              <a:t> </a:t>
            </a:r>
            <a:r>
              <a:rPr lang="en-US" dirty="0" err="1"/>
              <a:t>lệ</a:t>
            </a:r>
            <a:r>
              <a:rPr lang="en-US" dirty="0"/>
              <a:t> </a:t>
            </a:r>
            <a:r>
              <a:rPr lang="en-US" dirty="0" err="1"/>
              <a:t>thuận</a:t>
            </a:r>
            <a:r>
              <a:rPr lang="en-US" dirty="0"/>
              <a:t> </a:t>
            </a:r>
            <a:r>
              <a:rPr lang="en-US" dirty="0" err="1"/>
              <a:t>với</a:t>
            </a:r>
            <a:r>
              <a:rPr lang="en-US" dirty="0"/>
              <a:t> </a:t>
            </a:r>
            <a:r>
              <a:rPr lang="en-US" dirty="0" err="1"/>
              <a:t>thời</a:t>
            </a:r>
            <a:r>
              <a:rPr lang="en-US" dirty="0"/>
              <a:t> </a:t>
            </a:r>
            <a:r>
              <a:rPr lang="en-US" dirty="0" err="1"/>
              <a:t>gian</a:t>
            </a:r>
            <a:r>
              <a:rPr lang="en-US" dirty="0"/>
              <a:t>. </a:t>
            </a:r>
          </a:p>
        </p:txBody>
      </p:sp>
      <p:sp>
        <p:nvSpPr>
          <p:cNvPr id="2" name="Footer Placeholder 1">
            <a:extLst>
              <a:ext uri="{FF2B5EF4-FFF2-40B4-BE49-F238E27FC236}">
                <a16:creationId xmlns:a16="http://schemas.microsoft.com/office/drawing/2014/main" id="{EFDA28D7-87F1-EE91-F6B6-5E4E94FF3F56}"/>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CF782E89-D85B-5F0D-0DD3-B7C3BE0A1A7B}"/>
              </a:ext>
            </a:extLst>
          </p:cNvPr>
          <p:cNvSpPr>
            <a:spLocks noGrp="1"/>
          </p:cNvSpPr>
          <p:nvPr>
            <p:ph type="sldNum" sz="quarter" idx="12"/>
          </p:nvPr>
        </p:nvSpPr>
        <p:spPr/>
        <p:txBody>
          <a:bodyPr/>
          <a:lstStyle/>
          <a:p>
            <a:pPr>
              <a:defRPr/>
            </a:pPr>
            <a:fld id="{76921531-3DE4-4FE6-8586-93C8C3054BFB}" type="slidenum">
              <a:rPr lang="en-US" smtClean="0"/>
              <a:pPr>
                <a:defRPr/>
              </a:pPr>
              <a:t>64</a:t>
            </a:fld>
            <a:endParaRPr lang="en-US"/>
          </a:p>
        </p:txBody>
      </p:sp>
    </p:spTree>
    <p:extLst>
      <p:ext uri="{BB962C8B-B14F-4D97-AF65-F5344CB8AC3E}">
        <p14:creationId xmlns:p14="http://schemas.microsoft.com/office/powerpoint/2010/main" val="2943838316"/>
      </p:ext>
    </p:extLst>
  </p:cSld>
  <p:clrMapOvr>
    <a:masterClrMapping/>
  </p:clrMapOvr>
  <p:transition spd="slow" advTm="30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6866">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marL="0" indent="0">
              <a:buFont typeface="Arial" charset="0"/>
              <a:buNone/>
              <a:defRPr/>
            </a:pPr>
            <a:endParaRPr lang="en-US" dirty="0"/>
          </a:p>
          <a:p>
            <a:pPr marL="0" indent="0">
              <a:buFont typeface="Arial" charset="0"/>
              <a:buNone/>
              <a:defRPr/>
            </a:pPr>
            <a:r>
              <a:rPr lang="en-US" dirty="0" err="1"/>
              <a:t>Trong</a:t>
            </a:r>
            <a:r>
              <a:rPr lang="en-US" dirty="0"/>
              <a:t> </a:t>
            </a:r>
            <a:r>
              <a:rPr lang="en-US" dirty="0" err="1"/>
              <a:t>chuyển</a:t>
            </a:r>
            <a:r>
              <a:rPr lang="en-US" dirty="0"/>
              <a:t> </a:t>
            </a:r>
            <a:r>
              <a:rPr lang="en-US" dirty="0" err="1"/>
              <a:t>động</a:t>
            </a:r>
            <a:r>
              <a:rPr lang="en-US" dirty="0"/>
              <a:t> </a:t>
            </a:r>
            <a:r>
              <a:rPr lang="en-US" dirty="0" err="1"/>
              <a:t>tròn</a:t>
            </a:r>
            <a:r>
              <a:rPr lang="en-US" dirty="0"/>
              <a:t> </a:t>
            </a:r>
            <a:r>
              <a:rPr lang="en-US" dirty="0" err="1"/>
              <a:t>đều</a:t>
            </a:r>
            <a:r>
              <a:rPr lang="en-US" dirty="0"/>
              <a:t>, vector </a:t>
            </a:r>
            <a:r>
              <a:rPr lang="en-US" dirty="0" err="1"/>
              <a:t>gia</a:t>
            </a:r>
            <a:r>
              <a:rPr lang="en-US" dirty="0"/>
              <a:t> </a:t>
            </a:r>
            <a:r>
              <a:rPr lang="en-US" dirty="0" err="1"/>
              <a:t>tốc</a:t>
            </a:r>
            <a:r>
              <a:rPr lang="en-US" dirty="0"/>
              <a:t> </a:t>
            </a:r>
            <a:r>
              <a:rPr lang="en-US" dirty="0" err="1"/>
              <a:t>có</a:t>
            </a:r>
            <a:r>
              <a:rPr lang="en-US" dirty="0"/>
              <a:t> </a:t>
            </a:r>
            <a:r>
              <a:rPr lang="en-US" dirty="0" err="1"/>
              <a:t>đặc</a:t>
            </a:r>
            <a:r>
              <a:rPr lang="en-US" dirty="0"/>
              <a:t> </a:t>
            </a:r>
            <a:r>
              <a:rPr lang="en-US" dirty="0" err="1"/>
              <a:t>điểm</a:t>
            </a:r>
            <a:r>
              <a:rPr lang="en-US" dirty="0"/>
              <a:t>:</a:t>
            </a:r>
          </a:p>
          <a:p>
            <a:pPr marL="0" indent="0">
              <a:buFont typeface="Arial" charset="0"/>
              <a:buNone/>
              <a:defRPr/>
            </a:pPr>
            <a:r>
              <a:rPr lang="en-US" dirty="0"/>
              <a:t>A. </a:t>
            </a:r>
            <a:r>
              <a:rPr lang="en-US" dirty="0" err="1"/>
              <a:t>Luôn</a:t>
            </a:r>
            <a:r>
              <a:rPr lang="en-US" dirty="0"/>
              <a:t> </a:t>
            </a:r>
            <a:r>
              <a:rPr lang="en-US" dirty="0" err="1"/>
              <a:t>hướng</a:t>
            </a:r>
            <a:r>
              <a:rPr lang="en-US" dirty="0"/>
              <a:t> </a:t>
            </a:r>
            <a:r>
              <a:rPr lang="en-US" dirty="0" err="1"/>
              <a:t>vào</a:t>
            </a:r>
            <a:r>
              <a:rPr lang="en-US" dirty="0"/>
              <a:t> </a:t>
            </a:r>
            <a:r>
              <a:rPr lang="en-US" dirty="0" err="1"/>
              <a:t>tâm</a:t>
            </a:r>
            <a:r>
              <a:rPr lang="en-US" dirty="0"/>
              <a:t> </a:t>
            </a:r>
            <a:r>
              <a:rPr lang="en-US" dirty="0" err="1"/>
              <a:t>quỹ</a:t>
            </a:r>
            <a:r>
              <a:rPr lang="en-US" dirty="0"/>
              <a:t> </a:t>
            </a:r>
            <a:r>
              <a:rPr lang="en-US" dirty="0" err="1"/>
              <a:t>đạo</a:t>
            </a:r>
            <a:r>
              <a:rPr lang="en-US" dirty="0"/>
              <a:t>.</a:t>
            </a:r>
          </a:p>
          <a:p>
            <a:pPr marL="0" indent="0">
              <a:buFont typeface="Arial" charset="0"/>
              <a:buNone/>
              <a:defRPr/>
            </a:pPr>
            <a:r>
              <a:rPr lang="en-US" dirty="0"/>
              <a:t>B. Vector </a:t>
            </a:r>
            <a:r>
              <a:rPr lang="en-US" dirty="0" err="1"/>
              <a:t>gia</a:t>
            </a:r>
            <a:r>
              <a:rPr lang="en-US" dirty="0"/>
              <a:t> </a:t>
            </a:r>
            <a:r>
              <a:rPr lang="en-US" dirty="0" err="1"/>
              <a:t>tốc</a:t>
            </a:r>
            <a:r>
              <a:rPr lang="en-US" dirty="0"/>
              <a:t> </a:t>
            </a:r>
            <a:r>
              <a:rPr lang="en-US" dirty="0" err="1"/>
              <a:t>là</a:t>
            </a:r>
            <a:r>
              <a:rPr lang="en-US" dirty="0"/>
              <a:t> </a:t>
            </a:r>
            <a:r>
              <a:rPr lang="en-US" dirty="0" err="1"/>
              <a:t>hằng</a:t>
            </a:r>
            <a:r>
              <a:rPr lang="en-US" dirty="0"/>
              <a:t> </a:t>
            </a:r>
            <a:r>
              <a:rPr lang="en-US" dirty="0" err="1"/>
              <a:t>số</a:t>
            </a:r>
            <a:r>
              <a:rPr lang="en-US" dirty="0"/>
              <a:t>.</a:t>
            </a:r>
          </a:p>
          <a:p>
            <a:pPr marL="0" indent="0">
              <a:buFont typeface="Arial" charset="0"/>
              <a:buNone/>
              <a:defRPr/>
            </a:pPr>
            <a:r>
              <a:rPr lang="en-US" dirty="0"/>
              <a:t>C. </a:t>
            </a:r>
            <a:r>
              <a:rPr lang="en-US" dirty="0" err="1"/>
              <a:t>Luôn</a:t>
            </a:r>
            <a:r>
              <a:rPr lang="en-US" dirty="0"/>
              <a:t> </a:t>
            </a:r>
            <a:r>
              <a:rPr lang="en-US" dirty="0" err="1"/>
              <a:t>trùng</a:t>
            </a:r>
            <a:r>
              <a:rPr lang="en-US" dirty="0"/>
              <a:t> </a:t>
            </a:r>
            <a:r>
              <a:rPr lang="en-US" dirty="0" err="1"/>
              <a:t>phương</a:t>
            </a:r>
            <a:r>
              <a:rPr lang="en-US" dirty="0"/>
              <a:t> </a:t>
            </a:r>
            <a:r>
              <a:rPr lang="en-US" dirty="0" err="1"/>
              <a:t>với</a:t>
            </a:r>
            <a:r>
              <a:rPr lang="en-US" dirty="0"/>
              <a:t> </a:t>
            </a:r>
            <a:r>
              <a:rPr lang="en-US" dirty="0" err="1"/>
              <a:t>vận</a:t>
            </a:r>
            <a:r>
              <a:rPr lang="en-US" dirty="0"/>
              <a:t> </a:t>
            </a:r>
            <a:r>
              <a:rPr lang="en-US" dirty="0" err="1"/>
              <a:t>tốc</a:t>
            </a:r>
            <a:r>
              <a:rPr lang="en-US" dirty="0"/>
              <a:t>.</a:t>
            </a:r>
          </a:p>
          <a:p>
            <a:pPr marL="0" indent="0">
              <a:buFont typeface="Arial" charset="0"/>
              <a:buNone/>
              <a:defRPr/>
            </a:pPr>
            <a:r>
              <a:rPr lang="en-US" dirty="0"/>
              <a:t>D. </a:t>
            </a:r>
            <a:r>
              <a:rPr lang="en-US" dirty="0" err="1"/>
              <a:t>Độ</a:t>
            </a:r>
            <a:r>
              <a:rPr lang="en-US" dirty="0"/>
              <a:t> </a:t>
            </a:r>
            <a:r>
              <a:rPr lang="en-US" dirty="0" err="1"/>
              <a:t>lớn</a:t>
            </a:r>
            <a:r>
              <a:rPr lang="en-US" dirty="0"/>
              <a:t> </a:t>
            </a:r>
            <a:r>
              <a:rPr lang="en-US" dirty="0" err="1"/>
              <a:t>tỷ</a:t>
            </a:r>
            <a:r>
              <a:rPr lang="en-US" dirty="0"/>
              <a:t> </a:t>
            </a:r>
            <a:r>
              <a:rPr lang="en-US" dirty="0" err="1"/>
              <a:t>lệ</a:t>
            </a:r>
            <a:r>
              <a:rPr lang="en-US" dirty="0"/>
              <a:t> </a:t>
            </a:r>
            <a:r>
              <a:rPr lang="en-US" dirty="0" err="1"/>
              <a:t>thuận</a:t>
            </a:r>
            <a:r>
              <a:rPr lang="en-US" dirty="0"/>
              <a:t> </a:t>
            </a:r>
            <a:r>
              <a:rPr lang="en-US" dirty="0" err="1"/>
              <a:t>với</a:t>
            </a:r>
            <a:r>
              <a:rPr lang="en-US" dirty="0"/>
              <a:t> </a:t>
            </a:r>
            <a:r>
              <a:rPr lang="en-US" dirty="0" err="1"/>
              <a:t>vận</a:t>
            </a:r>
            <a:r>
              <a:rPr lang="en-US" dirty="0"/>
              <a:t> </a:t>
            </a:r>
            <a:r>
              <a:rPr lang="en-US" dirty="0" err="1"/>
              <a:t>tốc</a:t>
            </a:r>
            <a:r>
              <a:rPr lang="en-US" dirty="0"/>
              <a:t>.</a:t>
            </a:r>
          </a:p>
          <a:p>
            <a:pPr>
              <a:defRPr/>
            </a:pPr>
            <a:endParaRPr lang="en-US" dirty="0"/>
          </a:p>
        </p:txBody>
      </p:sp>
      <p:sp>
        <p:nvSpPr>
          <p:cNvPr id="3" name="Footer Placeholder 2">
            <a:extLst>
              <a:ext uri="{FF2B5EF4-FFF2-40B4-BE49-F238E27FC236}">
                <a16:creationId xmlns:a16="http://schemas.microsoft.com/office/drawing/2014/main" id="{E724C44B-8BB1-007B-08D1-D80BCA969E3F}"/>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24C5F492-8259-63E1-DE78-95F25576D707}"/>
              </a:ext>
            </a:extLst>
          </p:cNvPr>
          <p:cNvSpPr>
            <a:spLocks noGrp="1"/>
          </p:cNvSpPr>
          <p:nvPr>
            <p:ph type="sldNum" sz="quarter" idx="12"/>
          </p:nvPr>
        </p:nvSpPr>
        <p:spPr/>
        <p:txBody>
          <a:bodyPr/>
          <a:lstStyle/>
          <a:p>
            <a:pPr>
              <a:defRPr/>
            </a:pPr>
            <a:fld id="{76921531-3DE4-4FE6-8586-93C8C3054BFB}" type="slidenum">
              <a:rPr lang="en-US" smtClean="0"/>
              <a:pPr>
                <a:defRPr/>
              </a:pPr>
              <a:t>65</a:t>
            </a:fld>
            <a:endParaRPr lang="en-US"/>
          </a:p>
        </p:txBody>
      </p:sp>
    </p:spTree>
    <p:extLst>
      <p:ext uri="{BB962C8B-B14F-4D97-AF65-F5344CB8AC3E}">
        <p14:creationId xmlns:p14="http://schemas.microsoft.com/office/powerpoint/2010/main" val="2444938109"/>
      </p:ext>
    </p:extLst>
  </p:cSld>
  <p:clrMapOvr>
    <a:masterClrMapping/>
  </p:clrMapOvr>
  <p:transition spd="slow" advTm="30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marL="0" indent="0">
              <a:buFont typeface="Arial" charset="0"/>
              <a:buNone/>
              <a:defRPr/>
            </a:pPr>
            <a:r>
              <a:rPr lang="en-US"/>
              <a:t>Tính gia tốc của Mặt Trăng trong chuyển động tròn quanh Trái Đất. Biết khoảng cách giữa Mặt Trăng và Trái Đất là 3,84.10</a:t>
            </a:r>
            <a:r>
              <a:rPr lang="en-US" baseline="30000"/>
              <a:t>8</a:t>
            </a:r>
            <a:r>
              <a:rPr lang="en-US"/>
              <a:t>m, chu kì quay của Mặt Trăng quanh Trái Đất là 27,32 ngày. </a:t>
            </a:r>
          </a:p>
          <a:p>
            <a:pPr>
              <a:defRPr/>
            </a:pPr>
            <a:r>
              <a:rPr lang="en-US"/>
              <a:t>A.	2,17.10</a:t>
            </a:r>
            <a:r>
              <a:rPr lang="en-US" baseline="30000"/>
              <a:t>-3</a:t>
            </a:r>
            <a:r>
              <a:rPr lang="en-US"/>
              <a:t> m/s</a:t>
            </a:r>
            <a:r>
              <a:rPr lang="en-US" baseline="30000"/>
              <a:t>2</a:t>
            </a:r>
            <a:endParaRPr lang="en-US"/>
          </a:p>
          <a:p>
            <a:pPr>
              <a:defRPr/>
            </a:pPr>
            <a:r>
              <a:rPr lang="en-US"/>
              <a:t>B.	2,71.10</a:t>
            </a:r>
            <a:r>
              <a:rPr lang="en-US" baseline="30000"/>
              <a:t>-3</a:t>
            </a:r>
            <a:r>
              <a:rPr lang="en-US"/>
              <a:t> m/s</a:t>
            </a:r>
            <a:r>
              <a:rPr lang="en-US" baseline="30000"/>
              <a:t>2</a:t>
            </a:r>
            <a:endParaRPr lang="en-US"/>
          </a:p>
          <a:p>
            <a:pPr>
              <a:defRPr/>
            </a:pPr>
            <a:r>
              <a:rPr lang="en-US"/>
              <a:t>C.	7,21.10</a:t>
            </a:r>
            <a:r>
              <a:rPr lang="en-US" baseline="30000"/>
              <a:t>-3</a:t>
            </a:r>
            <a:r>
              <a:rPr lang="en-US"/>
              <a:t> m/s</a:t>
            </a:r>
            <a:r>
              <a:rPr lang="en-US" baseline="30000"/>
              <a:t>2</a:t>
            </a:r>
            <a:endParaRPr lang="en-US"/>
          </a:p>
          <a:p>
            <a:pPr>
              <a:defRPr/>
            </a:pPr>
            <a:r>
              <a:rPr lang="en-US"/>
              <a:t>D.	1,72.10</a:t>
            </a:r>
            <a:r>
              <a:rPr lang="en-US" baseline="30000"/>
              <a:t>-3</a:t>
            </a:r>
            <a:r>
              <a:rPr lang="en-US"/>
              <a:t> m/s</a:t>
            </a:r>
            <a:r>
              <a:rPr lang="en-US" baseline="30000"/>
              <a:t>2</a:t>
            </a:r>
            <a:endParaRPr lang="en-US"/>
          </a:p>
          <a:p>
            <a:pPr>
              <a:defRPr/>
            </a:pPr>
            <a:endParaRPr lang="en-US"/>
          </a:p>
        </p:txBody>
      </p:sp>
      <p:sp>
        <p:nvSpPr>
          <p:cNvPr id="3" name="Footer Placeholder 2">
            <a:extLst>
              <a:ext uri="{FF2B5EF4-FFF2-40B4-BE49-F238E27FC236}">
                <a16:creationId xmlns:a16="http://schemas.microsoft.com/office/drawing/2014/main" id="{B6EDC98F-882D-505E-C4CB-FA8487714507}"/>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07956395-6A16-96F9-3EE1-C0F0B24721F4}"/>
              </a:ext>
            </a:extLst>
          </p:cNvPr>
          <p:cNvSpPr>
            <a:spLocks noGrp="1"/>
          </p:cNvSpPr>
          <p:nvPr>
            <p:ph type="sldNum" sz="quarter" idx="12"/>
          </p:nvPr>
        </p:nvSpPr>
        <p:spPr/>
        <p:txBody>
          <a:bodyPr/>
          <a:lstStyle/>
          <a:p>
            <a:pPr>
              <a:defRPr/>
            </a:pPr>
            <a:fld id="{76921531-3DE4-4FE6-8586-93C8C3054BFB}" type="slidenum">
              <a:rPr lang="en-US" smtClean="0"/>
              <a:pPr>
                <a:defRPr/>
              </a:pPr>
              <a:t>66</a:t>
            </a:fld>
            <a:endParaRPr lang="en-US"/>
          </a:p>
        </p:txBody>
      </p:sp>
    </p:spTree>
    <p:extLst>
      <p:ext uri="{BB962C8B-B14F-4D97-AF65-F5344CB8AC3E}">
        <p14:creationId xmlns:p14="http://schemas.microsoft.com/office/powerpoint/2010/main" val="63621375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Grp="1"/>
          </p:cNvSpPr>
          <p:nvPr>
            <p:ph/>
          </p:nvPr>
        </p:nvSpPr>
        <p:spPr/>
        <p:txBody>
          <a:bodyPr/>
          <a:lstStyle/>
          <a:p>
            <a:pPr>
              <a:buFont typeface="Arial" charset="0"/>
              <a:buNone/>
            </a:pPr>
            <a:endParaRPr lang="en-US" dirty="0"/>
          </a:p>
          <a:p>
            <a:pPr>
              <a:buFont typeface="Arial" charset="0"/>
              <a:buNone/>
            </a:pPr>
            <a:r>
              <a:rPr lang="en-US" dirty="0"/>
              <a:t>	</a:t>
            </a:r>
            <a:r>
              <a:rPr lang="en-US" dirty="0" err="1"/>
              <a:t>Một</a:t>
            </a:r>
            <a:r>
              <a:rPr lang="en-US" dirty="0"/>
              <a:t> </a:t>
            </a:r>
            <a:r>
              <a:rPr lang="en-US" dirty="0" err="1"/>
              <a:t>môtơ</a:t>
            </a:r>
            <a:r>
              <a:rPr lang="en-US" dirty="0"/>
              <a:t> </a:t>
            </a:r>
            <a:r>
              <a:rPr lang="en-US" dirty="0" err="1"/>
              <a:t>bắt</a:t>
            </a:r>
            <a:r>
              <a:rPr lang="en-US" dirty="0"/>
              <a:t> </a:t>
            </a:r>
            <a:r>
              <a:rPr lang="en-US" dirty="0" err="1"/>
              <a:t>đầu</a:t>
            </a:r>
            <a:r>
              <a:rPr lang="en-US" dirty="0"/>
              <a:t> quay </a:t>
            </a:r>
            <a:r>
              <a:rPr lang="en-US" dirty="0" err="1"/>
              <a:t>nhanh</a:t>
            </a:r>
            <a:r>
              <a:rPr lang="en-US" dirty="0"/>
              <a:t> </a:t>
            </a:r>
            <a:r>
              <a:rPr lang="en-US" dirty="0" err="1"/>
              <a:t>dần</a:t>
            </a:r>
            <a:r>
              <a:rPr lang="en-US" dirty="0"/>
              <a:t> </a:t>
            </a:r>
            <a:r>
              <a:rPr lang="en-US" dirty="0" err="1"/>
              <a:t>đều</a:t>
            </a:r>
            <a:r>
              <a:rPr lang="en-US" dirty="0"/>
              <a:t>, </a:t>
            </a:r>
            <a:r>
              <a:rPr lang="en-US" dirty="0" err="1"/>
              <a:t>sau</a:t>
            </a:r>
            <a:r>
              <a:rPr lang="en-US" dirty="0"/>
              <a:t> 2 </a:t>
            </a:r>
            <a:r>
              <a:rPr lang="en-US" dirty="0" err="1"/>
              <a:t>giây</a:t>
            </a:r>
            <a:r>
              <a:rPr lang="en-US" dirty="0"/>
              <a:t> </a:t>
            </a:r>
            <a:r>
              <a:rPr lang="en-US" dirty="0" err="1"/>
              <a:t>đạt</a:t>
            </a:r>
            <a:r>
              <a:rPr lang="en-US" dirty="0"/>
              <a:t> </a:t>
            </a:r>
            <a:r>
              <a:rPr lang="en-US" dirty="0" err="1"/>
              <a:t>tốc</a:t>
            </a:r>
            <a:r>
              <a:rPr lang="en-US" dirty="0"/>
              <a:t> </a:t>
            </a:r>
            <a:r>
              <a:rPr lang="en-US" dirty="0" err="1"/>
              <a:t>độ</a:t>
            </a:r>
            <a:r>
              <a:rPr lang="en-US" dirty="0"/>
              <a:t> </a:t>
            </a:r>
            <a:r>
              <a:rPr lang="en-US" dirty="0" err="1"/>
              <a:t>ổn</a:t>
            </a:r>
            <a:r>
              <a:rPr lang="en-US" dirty="0"/>
              <a:t> </a:t>
            </a:r>
            <a:r>
              <a:rPr lang="en-US" dirty="0" err="1"/>
              <a:t>định</a:t>
            </a:r>
            <a:r>
              <a:rPr lang="en-US" dirty="0"/>
              <a:t> </a:t>
            </a:r>
            <a:r>
              <a:rPr lang="en-US" dirty="0" err="1"/>
              <a:t>là</a:t>
            </a:r>
            <a:r>
              <a:rPr lang="en-US" dirty="0"/>
              <a:t> 300 </a:t>
            </a:r>
            <a:r>
              <a:rPr lang="en-US" dirty="0" err="1"/>
              <a:t>vòng</a:t>
            </a:r>
            <a:r>
              <a:rPr lang="en-US" dirty="0"/>
              <a:t>/</a:t>
            </a:r>
            <a:r>
              <a:rPr lang="en-US" dirty="0" err="1"/>
              <a:t>phút</a:t>
            </a:r>
            <a:r>
              <a:rPr lang="en-US" dirty="0"/>
              <a:t> (10</a:t>
            </a:r>
            <a:r>
              <a:rPr lang="el-GR" dirty="0"/>
              <a:t>π</a:t>
            </a:r>
            <a:r>
              <a:rPr lang="en-US" dirty="0"/>
              <a:t> rad/s). </a:t>
            </a:r>
            <a:r>
              <a:rPr lang="en-US" dirty="0" err="1"/>
              <a:t>Tính</a:t>
            </a:r>
            <a:r>
              <a:rPr lang="en-US" dirty="0"/>
              <a:t> </a:t>
            </a:r>
            <a:r>
              <a:rPr lang="en-US" dirty="0" err="1"/>
              <a:t>gia</a:t>
            </a:r>
            <a:r>
              <a:rPr lang="en-US" dirty="0"/>
              <a:t> </a:t>
            </a:r>
            <a:r>
              <a:rPr lang="en-US" dirty="0" err="1"/>
              <a:t>tốc</a:t>
            </a:r>
            <a:r>
              <a:rPr lang="en-US" dirty="0"/>
              <a:t> </a:t>
            </a:r>
            <a:r>
              <a:rPr lang="en-US" dirty="0" err="1"/>
              <a:t>góc</a:t>
            </a:r>
            <a:r>
              <a:rPr lang="en-US" dirty="0"/>
              <a:t> </a:t>
            </a:r>
            <a:r>
              <a:rPr lang="en-US" dirty="0" err="1"/>
              <a:t>của</a:t>
            </a:r>
            <a:r>
              <a:rPr lang="en-US" dirty="0"/>
              <a:t> </a:t>
            </a:r>
            <a:r>
              <a:rPr lang="en-US" dirty="0" err="1"/>
              <a:t>môtơ</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tăng</a:t>
            </a:r>
            <a:r>
              <a:rPr lang="en-US" dirty="0"/>
              <a:t> </a:t>
            </a:r>
            <a:r>
              <a:rPr lang="en-US" dirty="0" err="1"/>
              <a:t>tốc</a:t>
            </a:r>
            <a:r>
              <a:rPr lang="en-US" dirty="0"/>
              <a:t>.</a:t>
            </a:r>
          </a:p>
          <a:p>
            <a:pPr marL="0" indent="0">
              <a:buNone/>
            </a:pPr>
            <a:r>
              <a:rPr lang="en-US" dirty="0"/>
              <a:t>A.	2</a:t>
            </a:r>
            <a:r>
              <a:rPr lang="el-GR" dirty="0"/>
              <a:t>π</a:t>
            </a:r>
            <a:r>
              <a:rPr lang="en-US" dirty="0"/>
              <a:t> rad/s²</a:t>
            </a:r>
          </a:p>
          <a:p>
            <a:pPr marL="0" indent="0">
              <a:buNone/>
            </a:pPr>
            <a:r>
              <a:rPr lang="en-US" dirty="0"/>
              <a:t>B.	3</a:t>
            </a:r>
            <a:r>
              <a:rPr lang="el-GR" dirty="0"/>
              <a:t>π</a:t>
            </a:r>
            <a:r>
              <a:rPr lang="en-US" dirty="0"/>
              <a:t> rad/s²</a:t>
            </a:r>
          </a:p>
          <a:p>
            <a:pPr marL="0" indent="0">
              <a:buNone/>
            </a:pPr>
            <a:r>
              <a:rPr lang="en-US" dirty="0"/>
              <a:t>C.	4</a:t>
            </a:r>
            <a:r>
              <a:rPr lang="el-GR" dirty="0"/>
              <a:t>π</a:t>
            </a:r>
            <a:r>
              <a:rPr lang="en-US" dirty="0"/>
              <a:t> rad/s²</a:t>
            </a:r>
            <a:endParaRPr lang="en-US" u="sng" dirty="0"/>
          </a:p>
          <a:p>
            <a:pPr marL="0" indent="0">
              <a:buNone/>
            </a:pPr>
            <a:r>
              <a:rPr lang="en-US" dirty="0"/>
              <a:t>D.	5</a:t>
            </a:r>
            <a:r>
              <a:rPr lang="el-GR" dirty="0"/>
              <a:t>π</a:t>
            </a:r>
            <a:r>
              <a:rPr lang="en-US" dirty="0"/>
              <a:t> rad/s²</a:t>
            </a:r>
          </a:p>
        </p:txBody>
      </p:sp>
      <p:sp>
        <p:nvSpPr>
          <p:cNvPr id="2" name="Footer Placeholder 1">
            <a:extLst>
              <a:ext uri="{FF2B5EF4-FFF2-40B4-BE49-F238E27FC236}">
                <a16:creationId xmlns:a16="http://schemas.microsoft.com/office/drawing/2014/main" id="{AC63C765-AD19-8182-DBE6-796199822E6A}"/>
              </a:ext>
            </a:extLst>
          </p:cNvPr>
          <p:cNvSpPr>
            <a:spLocks noGrp="1"/>
          </p:cNvSpPr>
          <p:nvPr>
            <p:ph type="ftr" sz="quarter" idx="11"/>
          </p:nvPr>
        </p:nvSpPr>
        <p:spPr/>
        <p:txBody>
          <a:bodyPr/>
          <a:lstStyle/>
          <a:p>
            <a:pPr>
              <a:defRPr/>
            </a:pPr>
            <a:r>
              <a:rPr lang="en-US"/>
              <a:t>Bùi Quốc Trung - VLDC</a:t>
            </a:r>
          </a:p>
        </p:txBody>
      </p:sp>
      <p:sp>
        <p:nvSpPr>
          <p:cNvPr id="3" name="Slide Number Placeholder 2">
            <a:extLst>
              <a:ext uri="{FF2B5EF4-FFF2-40B4-BE49-F238E27FC236}">
                <a16:creationId xmlns:a16="http://schemas.microsoft.com/office/drawing/2014/main" id="{B4BD0644-089E-5599-8983-F02D26962BC0}"/>
              </a:ext>
            </a:extLst>
          </p:cNvPr>
          <p:cNvSpPr>
            <a:spLocks noGrp="1"/>
          </p:cNvSpPr>
          <p:nvPr>
            <p:ph type="sldNum" sz="quarter" idx="12"/>
          </p:nvPr>
        </p:nvSpPr>
        <p:spPr/>
        <p:txBody>
          <a:bodyPr/>
          <a:lstStyle/>
          <a:p>
            <a:pPr>
              <a:defRPr/>
            </a:pPr>
            <a:fld id="{76921531-3DE4-4FE6-8586-93C8C3054BFB}" type="slidenum">
              <a:rPr lang="en-US" smtClean="0"/>
              <a:pPr>
                <a:defRPr/>
              </a:pPr>
              <a:t>67</a:t>
            </a:fld>
            <a:endParaRPr lang="en-US"/>
          </a:p>
        </p:txBody>
      </p:sp>
    </p:spTree>
    <p:extLst>
      <p:ext uri="{BB962C8B-B14F-4D97-AF65-F5344CB8AC3E}">
        <p14:creationId xmlns:p14="http://schemas.microsoft.com/office/powerpoint/2010/main" val="153468118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43010">
                                            <p:txEl>
                                              <p:pRg st="5" end="5"/>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p:nvPr>
        </p:nvSpPr>
        <p:spPr/>
        <p:txBody>
          <a:bodyPr rtlCol="0">
            <a:normAutofit/>
          </a:bodyPr>
          <a:lstStyle/>
          <a:p>
            <a:pPr marL="0" indent="0" eaLnBrk="1" fontAlgn="auto" hangingPunct="1">
              <a:spcAft>
                <a:spcPts val="0"/>
              </a:spcAft>
              <a:buFont typeface="Arial" charset="0"/>
              <a:buNone/>
              <a:defRPr/>
            </a:pPr>
            <a:r>
              <a:rPr lang="en-US" dirty="0" err="1"/>
              <a:t>Một</a:t>
            </a:r>
            <a:r>
              <a:rPr lang="en-US" dirty="0"/>
              <a:t> </a:t>
            </a:r>
            <a:r>
              <a:rPr lang="en-US" dirty="0" err="1"/>
              <a:t>chất</a:t>
            </a:r>
            <a:r>
              <a:rPr lang="en-US" dirty="0"/>
              <a:t> </a:t>
            </a:r>
            <a:r>
              <a:rPr lang="en-US" dirty="0" err="1"/>
              <a:t>điểm</a:t>
            </a:r>
            <a:r>
              <a:rPr lang="en-US" dirty="0"/>
              <a:t> </a:t>
            </a:r>
            <a:r>
              <a:rPr lang="en-US" dirty="0" err="1"/>
              <a:t>đang</a:t>
            </a:r>
            <a:r>
              <a:rPr lang="en-US" dirty="0"/>
              <a:t> quay </a:t>
            </a:r>
            <a:r>
              <a:rPr lang="en-US" dirty="0" err="1"/>
              <a:t>với</a:t>
            </a:r>
            <a:r>
              <a:rPr lang="en-US" dirty="0"/>
              <a:t> </a:t>
            </a:r>
            <a:r>
              <a:rPr lang="en-US" dirty="0" err="1"/>
              <a:t>vận</a:t>
            </a:r>
            <a:r>
              <a:rPr lang="en-US" dirty="0"/>
              <a:t> </a:t>
            </a:r>
            <a:r>
              <a:rPr lang="en-US" dirty="0" err="1"/>
              <a:t>tốc</a:t>
            </a:r>
            <a:r>
              <a:rPr lang="en-US" dirty="0"/>
              <a:t> 600 </a:t>
            </a:r>
            <a:r>
              <a:rPr lang="en-US" dirty="0" err="1"/>
              <a:t>vòng</a:t>
            </a:r>
            <a:r>
              <a:rPr lang="en-US" dirty="0"/>
              <a:t>/</a:t>
            </a:r>
            <a:r>
              <a:rPr lang="en-US" dirty="0" err="1"/>
              <a:t>phút</a:t>
            </a:r>
            <a:r>
              <a:rPr lang="en-US" dirty="0"/>
              <a:t> </a:t>
            </a:r>
            <a:r>
              <a:rPr lang="en-US" dirty="0" err="1"/>
              <a:t>thì</a:t>
            </a:r>
            <a:r>
              <a:rPr lang="en-US" dirty="0"/>
              <a:t> </a:t>
            </a:r>
            <a:r>
              <a:rPr lang="en-US" dirty="0" err="1"/>
              <a:t>bị</a:t>
            </a:r>
            <a:r>
              <a:rPr lang="en-US" dirty="0"/>
              <a:t> </a:t>
            </a:r>
            <a:r>
              <a:rPr lang="en-US" dirty="0" err="1"/>
              <a:t>hãm</a:t>
            </a:r>
            <a:r>
              <a:rPr lang="en-US" dirty="0"/>
              <a:t> </a:t>
            </a:r>
            <a:r>
              <a:rPr lang="en-US" dirty="0" err="1"/>
              <a:t>lại</a:t>
            </a:r>
            <a:r>
              <a:rPr lang="en-US" dirty="0"/>
              <a:t>. </a:t>
            </a:r>
            <a:r>
              <a:rPr lang="en-US" dirty="0" err="1"/>
              <a:t>Sau</a:t>
            </a:r>
            <a:r>
              <a:rPr lang="en-US" dirty="0"/>
              <a:t> </a:t>
            </a:r>
            <a:r>
              <a:rPr lang="en-US" dirty="0" err="1"/>
              <a:t>khi</a:t>
            </a:r>
            <a:r>
              <a:rPr lang="en-US" dirty="0"/>
              <a:t> </a:t>
            </a:r>
            <a:r>
              <a:rPr lang="en-US" dirty="0" err="1"/>
              <a:t>hãm</a:t>
            </a:r>
            <a:r>
              <a:rPr lang="en-US" dirty="0"/>
              <a:t> </a:t>
            </a:r>
            <a:r>
              <a:rPr lang="en-US" dirty="0" err="1"/>
              <a:t>một</a:t>
            </a:r>
            <a:r>
              <a:rPr lang="en-US" dirty="0"/>
              <a:t> </a:t>
            </a:r>
            <a:r>
              <a:rPr lang="en-US" dirty="0" err="1"/>
              <a:t>phút</a:t>
            </a:r>
            <a:r>
              <a:rPr lang="en-US" dirty="0"/>
              <a:t>, </a:t>
            </a:r>
            <a:r>
              <a:rPr lang="en-US" dirty="0" err="1"/>
              <a:t>vận</a:t>
            </a:r>
            <a:r>
              <a:rPr lang="en-US" dirty="0"/>
              <a:t> </a:t>
            </a:r>
            <a:r>
              <a:rPr lang="en-US" dirty="0" err="1"/>
              <a:t>tốc</a:t>
            </a:r>
            <a:r>
              <a:rPr lang="en-US" dirty="0"/>
              <a:t> </a:t>
            </a:r>
            <a:r>
              <a:rPr lang="en-US" dirty="0" err="1"/>
              <a:t>góc</a:t>
            </a:r>
            <a:r>
              <a:rPr lang="en-US" dirty="0"/>
              <a:t> </a:t>
            </a:r>
            <a:r>
              <a:rPr lang="en-US" dirty="0" err="1"/>
              <a:t>của</a:t>
            </a:r>
            <a:r>
              <a:rPr lang="en-US" dirty="0"/>
              <a:t> </a:t>
            </a:r>
            <a:r>
              <a:rPr lang="en-US" dirty="0" err="1"/>
              <a:t>chất</a:t>
            </a:r>
            <a:r>
              <a:rPr lang="en-US" dirty="0"/>
              <a:t> </a:t>
            </a:r>
            <a:r>
              <a:rPr lang="en-US" dirty="0" err="1"/>
              <a:t>điểm</a:t>
            </a:r>
            <a:r>
              <a:rPr lang="en-US" dirty="0"/>
              <a:t> </a:t>
            </a:r>
            <a:r>
              <a:rPr lang="en-US" dirty="0" err="1"/>
              <a:t>còn</a:t>
            </a:r>
            <a:r>
              <a:rPr lang="en-US" dirty="0"/>
              <a:t> 360 </a:t>
            </a:r>
            <a:r>
              <a:rPr lang="en-US" dirty="0" err="1"/>
              <a:t>vòng</a:t>
            </a:r>
            <a:r>
              <a:rPr lang="en-US" dirty="0"/>
              <a:t>/</a:t>
            </a:r>
            <a:r>
              <a:rPr lang="en-US" dirty="0" err="1"/>
              <a:t>phút</a:t>
            </a:r>
            <a:r>
              <a:rPr lang="en-US" dirty="0"/>
              <a:t>. </a:t>
            </a:r>
            <a:r>
              <a:rPr lang="en-US" dirty="0" err="1"/>
              <a:t>Tính</a:t>
            </a:r>
            <a:r>
              <a:rPr lang="en-US" dirty="0"/>
              <a:t>:</a:t>
            </a:r>
          </a:p>
          <a:p>
            <a:pPr marL="514350" indent="-514350" eaLnBrk="1" fontAlgn="auto" hangingPunct="1">
              <a:spcAft>
                <a:spcPts val="0"/>
              </a:spcAft>
              <a:buFont typeface="Arial" charset="0"/>
              <a:buAutoNum type="alphaLcParenR"/>
              <a:defRPr/>
            </a:pPr>
            <a:r>
              <a:rPr lang="en-US" dirty="0" err="1"/>
              <a:t>Gia</a:t>
            </a:r>
            <a:r>
              <a:rPr lang="en-US" dirty="0"/>
              <a:t> </a:t>
            </a:r>
            <a:r>
              <a:rPr lang="en-US" dirty="0" err="1"/>
              <a:t>tốc</a:t>
            </a:r>
            <a:r>
              <a:rPr lang="en-US" dirty="0"/>
              <a:t> </a:t>
            </a:r>
            <a:r>
              <a:rPr lang="en-US" dirty="0" err="1"/>
              <a:t>góc</a:t>
            </a:r>
            <a:r>
              <a:rPr lang="en-US" dirty="0"/>
              <a:t> </a:t>
            </a:r>
            <a:r>
              <a:rPr lang="en-US" dirty="0" err="1"/>
              <a:t>chất</a:t>
            </a:r>
            <a:r>
              <a:rPr lang="en-US" dirty="0"/>
              <a:t> </a:t>
            </a:r>
            <a:r>
              <a:rPr lang="en-US" dirty="0" err="1"/>
              <a:t>điểm</a:t>
            </a:r>
            <a:r>
              <a:rPr lang="en-US" dirty="0"/>
              <a:t> </a:t>
            </a:r>
            <a:r>
              <a:rPr lang="en-US" dirty="0" err="1"/>
              <a:t>khi</a:t>
            </a:r>
            <a:r>
              <a:rPr lang="en-US" dirty="0"/>
              <a:t> </a:t>
            </a:r>
            <a:r>
              <a:rPr lang="en-US" dirty="0" err="1"/>
              <a:t>bị</a:t>
            </a:r>
            <a:r>
              <a:rPr lang="en-US" dirty="0"/>
              <a:t> </a:t>
            </a:r>
            <a:r>
              <a:rPr lang="en-US" dirty="0" err="1"/>
              <a:t>hãm</a:t>
            </a:r>
            <a:endParaRPr lang="en-US" dirty="0"/>
          </a:p>
          <a:p>
            <a:pPr marL="514350" indent="-514350" eaLnBrk="1" fontAlgn="auto" hangingPunct="1">
              <a:spcAft>
                <a:spcPts val="0"/>
              </a:spcAft>
              <a:buFont typeface="Arial" charset="0"/>
              <a:buAutoNum type="alphaLcParenR"/>
              <a:defRPr/>
            </a:pPr>
            <a:r>
              <a:rPr lang="en-US" dirty="0" err="1"/>
              <a:t>Số</a:t>
            </a:r>
            <a:r>
              <a:rPr lang="en-US" dirty="0"/>
              <a:t> </a:t>
            </a:r>
            <a:r>
              <a:rPr lang="en-US" dirty="0" err="1"/>
              <a:t>vòng</a:t>
            </a:r>
            <a:r>
              <a:rPr lang="en-US" dirty="0"/>
              <a:t> </a:t>
            </a:r>
            <a:r>
              <a:rPr lang="en-US" dirty="0" err="1"/>
              <a:t>chất</a:t>
            </a:r>
            <a:r>
              <a:rPr lang="en-US" dirty="0"/>
              <a:t> </a:t>
            </a:r>
            <a:r>
              <a:rPr lang="en-US" dirty="0" err="1"/>
              <a:t>điểm</a:t>
            </a:r>
            <a:r>
              <a:rPr lang="en-US" dirty="0"/>
              <a:t> </a:t>
            </a:r>
            <a:r>
              <a:rPr lang="en-US" dirty="0" err="1"/>
              <a:t>đã</a:t>
            </a:r>
            <a:r>
              <a:rPr lang="en-US" dirty="0"/>
              <a:t> quay </a:t>
            </a:r>
            <a:r>
              <a:rPr lang="en-US" dirty="0" err="1"/>
              <a:t>được</a:t>
            </a:r>
            <a:r>
              <a:rPr lang="en-US" dirty="0"/>
              <a:t> </a:t>
            </a:r>
            <a:r>
              <a:rPr lang="en-US" dirty="0" err="1"/>
              <a:t>trong</a:t>
            </a:r>
            <a:r>
              <a:rPr lang="en-US" dirty="0"/>
              <a:t> 1 </a:t>
            </a:r>
            <a:r>
              <a:rPr lang="en-US" dirty="0" err="1"/>
              <a:t>phút</a:t>
            </a:r>
            <a:r>
              <a:rPr lang="en-US" dirty="0"/>
              <a:t>.</a:t>
            </a:r>
          </a:p>
          <a:p>
            <a:pPr marL="514350" indent="-514350" eaLnBrk="1" fontAlgn="auto" hangingPunct="1">
              <a:spcAft>
                <a:spcPts val="0"/>
              </a:spcAft>
              <a:buFont typeface="Arial" charset="0"/>
              <a:buAutoNum type="alphaLcParenR"/>
              <a:defRPr/>
            </a:pPr>
            <a:endParaRPr lang="en-US" dirty="0"/>
          </a:p>
        </p:txBody>
      </p:sp>
      <mc:AlternateContent xmlns:mc="http://schemas.openxmlformats.org/markup-compatibility/2006" xmlns:a14="http://schemas.microsoft.com/office/drawing/2010/main">
        <mc:Choice Requires="a14">
          <p:sp>
            <p:nvSpPr>
              <p:cNvPr id="3" name="Notes Placeholder 4"/>
              <p:cNvSpPr txBox="1">
                <a:spLocks/>
              </p:cNvSpPr>
              <p:nvPr/>
            </p:nvSpPr>
            <p:spPr>
              <a:xfrm>
                <a:off x="3771900" y="3994150"/>
                <a:ext cx="4914900" cy="2362200"/>
              </a:xfrm>
              <a:prstGeom prst="cloudCallout">
                <a:avLst>
                  <a:gd name="adj1" fmla="val -47665"/>
                  <a:gd name="adj2" fmla="val -66389"/>
                </a:avLst>
              </a:prstGeom>
            </p:spPr>
            <p:style>
              <a:lnRef idx="2">
                <a:schemeClr val="accent1"/>
              </a:lnRef>
              <a:fillRef idx="1">
                <a:schemeClr val="lt1"/>
              </a:fillRef>
              <a:effectRef idx="0">
                <a:schemeClr val="accent1"/>
              </a:effectRef>
              <a:fontRef idx="minor">
                <a:schemeClr val="dk1"/>
              </a:fontRef>
            </p:style>
            <p:txBody>
              <a:bodyPr rtlCol="0" anchor="ct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14:m>
                  <m:oMath xmlns:m="http://schemas.openxmlformats.org/officeDocument/2006/math">
                    <m:r>
                      <a:rPr lang="en-US" sz="2400" b="1" i="1" smtClean="0">
                        <a:solidFill>
                          <a:schemeClr val="tx1"/>
                        </a:solidFill>
                        <a:latin typeface="Cambria Math"/>
                        <a:ea typeface="Cambria Math"/>
                      </a:rPr>
                      <m:t>𝜷</m:t>
                    </m:r>
                  </m:oMath>
                </a14:m>
                <a:r>
                  <a:rPr lang="en-US" sz="2400" b="1" i="1" dirty="0">
                    <a:solidFill>
                      <a:schemeClr val="tx1"/>
                    </a:solidFill>
                    <a:latin typeface="Times New Roman" pitchFamily="18" charset="0"/>
                    <a:cs typeface="Times New Roman" pitchFamily="18" charset="0"/>
                  </a:rPr>
                  <a:t> = (</a:t>
                </a:r>
                <a:r>
                  <a:rPr lang="el-GR" sz="2400" b="1" i="1" dirty="0">
                    <a:solidFill>
                      <a:schemeClr val="tx1"/>
                    </a:solidFill>
                    <a:latin typeface="Times New Roman" pitchFamily="18" charset="0"/>
                    <a:cs typeface="Times New Roman" pitchFamily="18" charset="0"/>
                  </a:rPr>
                  <a:t>ω</a:t>
                </a:r>
                <a:r>
                  <a:rPr lang="en-US" sz="2400" b="1" i="1" dirty="0">
                    <a:solidFill>
                      <a:schemeClr val="tx1"/>
                    </a:solidFill>
                    <a:latin typeface="Times New Roman" pitchFamily="18" charset="0"/>
                    <a:cs typeface="Times New Roman" pitchFamily="18" charset="0"/>
                  </a:rPr>
                  <a:t>2 – </a:t>
                </a:r>
                <a:r>
                  <a:rPr lang="el-GR" sz="2400" b="1" i="1" dirty="0">
                    <a:solidFill>
                      <a:schemeClr val="tx1"/>
                    </a:solidFill>
                    <a:latin typeface="Times New Roman" pitchFamily="18" charset="0"/>
                    <a:cs typeface="Times New Roman" pitchFamily="18" charset="0"/>
                  </a:rPr>
                  <a:t>ω</a:t>
                </a:r>
                <a:r>
                  <a:rPr lang="en-US" sz="2400" b="1" i="1" dirty="0">
                    <a:solidFill>
                      <a:schemeClr val="tx1"/>
                    </a:solidFill>
                    <a:latin typeface="Times New Roman" pitchFamily="18" charset="0"/>
                    <a:cs typeface="Times New Roman" pitchFamily="18" charset="0"/>
                  </a:rPr>
                  <a:t>1)/t </a:t>
                </a:r>
                <a14:m>
                  <m:oMath xmlns:m="http://schemas.openxmlformats.org/officeDocument/2006/math">
                    <m:r>
                      <a:rPr lang="en-US" sz="2400" b="1" i="1" smtClean="0">
                        <a:solidFill>
                          <a:schemeClr val="tx1"/>
                        </a:solidFill>
                        <a:latin typeface="Cambria Math" panose="02040503050406030204" pitchFamily="18" charset="0"/>
                        <a:ea typeface="Cambria Math" panose="02040503050406030204" pitchFamily="18" charset="0"/>
                        <a:cs typeface="Times New Roman" pitchFamily="18" charset="0"/>
                      </a:rPr>
                      <m:t>≈ </m:t>
                    </m:r>
                  </m:oMath>
                </a14:m>
                <a:r>
                  <a:rPr lang="en-US" sz="2400" b="1" i="1" dirty="0">
                    <a:solidFill>
                      <a:schemeClr val="tx1"/>
                    </a:solidFill>
                    <a:latin typeface="Times New Roman" pitchFamily="18" charset="0"/>
                    <a:cs typeface="Times New Roman" pitchFamily="18" charset="0"/>
                  </a:rPr>
                  <a:t>-0,42 rad/s²</a:t>
                </a:r>
              </a:p>
              <a:p>
                <a:pPr algn="ctr"/>
                <a14:m>
                  <m:oMath xmlns:m="http://schemas.openxmlformats.org/officeDocument/2006/math">
                    <m:sSup>
                      <m:sSupPr>
                        <m:ctrlPr>
                          <a:rPr lang="en-US" sz="2400" b="1" i="1">
                            <a:solidFill>
                              <a:schemeClr val="tx1"/>
                            </a:solidFill>
                            <a:latin typeface="Cambria Math" panose="02040503050406030204" pitchFamily="18" charset="0"/>
                          </a:rPr>
                        </m:ctrlPr>
                      </m:sSupPr>
                      <m:e>
                        <m:r>
                          <a:rPr lang="en-US" sz="2400" b="1" i="1">
                            <a:solidFill>
                              <a:schemeClr val="tx1"/>
                            </a:solidFill>
                            <a:latin typeface="Cambria Math"/>
                            <a:ea typeface="Cambria Math"/>
                          </a:rPr>
                          <m:t>𝝎</m:t>
                        </m:r>
                        <m:r>
                          <a:rPr lang="en-US" sz="2400" b="1" i="1">
                            <a:solidFill>
                              <a:schemeClr val="tx1"/>
                            </a:solidFill>
                            <a:latin typeface="Cambria Math"/>
                            <a:ea typeface="Cambria Math"/>
                          </a:rPr>
                          <m:t>𝟐</m:t>
                        </m:r>
                      </m:e>
                      <m:sup>
                        <m:r>
                          <a:rPr lang="en-US" sz="2400" b="1" i="1">
                            <a:solidFill>
                              <a:schemeClr val="tx1"/>
                            </a:solidFill>
                            <a:latin typeface="Cambria Math"/>
                          </a:rPr>
                          <m:t>𝟐</m:t>
                        </m:r>
                      </m:sup>
                    </m:sSup>
                  </m:oMath>
                </a14:m>
                <a:r>
                  <a:rPr lang="en-US" sz="2400" b="1" i="1" dirty="0">
                    <a:solidFill>
                      <a:schemeClr val="tx1"/>
                    </a:solidFill>
                    <a:latin typeface="Times New Roman" pitchFamily="18" charset="0"/>
                    <a:cs typeface="Times New Roman" pitchFamily="18" charset="0"/>
                  </a:rPr>
                  <a:t> - </a:t>
                </a:r>
                <a14:m>
                  <m:oMath xmlns:m="http://schemas.openxmlformats.org/officeDocument/2006/math">
                    <m:sSup>
                      <m:sSupPr>
                        <m:ctrlPr>
                          <a:rPr lang="en-US" sz="2400" b="1" i="1">
                            <a:solidFill>
                              <a:schemeClr val="tx1"/>
                            </a:solidFill>
                            <a:latin typeface="Cambria Math" panose="02040503050406030204" pitchFamily="18" charset="0"/>
                          </a:rPr>
                        </m:ctrlPr>
                      </m:sSupPr>
                      <m:e>
                        <m:r>
                          <a:rPr lang="en-US" sz="2400" b="1" i="1">
                            <a:solidFill>
                              <a:schemeClr val="tx1"/>
                            </a:solidFill>
                            <a:latin typeface="Cambria Math"/>
                            <a:ea typeface="Cambria Math"/>
                          </a:rPr>
                          <m:t>𝝎</m:t>
                        </m:r>
                        <m:r>
                          <a:rPr lang="en-US" sz="2400" b="1" i="1">
                            <a:solidFill>
                              <a:schemeClr val="tx1"/>
                            </a:solidFill>
                            <a:latin typeface="Cambria Math"/>
                            <a:ea typeface="Cambria Math"/>
                          </a:rPr>
                          <m:t>𝟏</m:t>
                        </m:r>
                      </m:e>
                      <m:sup>
                        <m:r>
                          <a:rPr lang="en-US" sz="2400" b="1" i="1">
                            <a:solidFill>
                              <a:schemeClr val="tx1"/>
                            </a:solidFill>
                            <a:latin typeface="Cambria Math"/>
                          </a:rPr>
                          <m:t>𝟐</m:t>
                        </m:r>
                      </m:sup>
                    </m:sSup>
                  </m:oMath>
                </a14:m>
                <a:r>
                  <a:rPr lang="en-US" sz="2400" b="1" i="1" dirty="0">
                    <a:solidFill>
                      <a:schemeClr val="tx1"/>
                    </a:solidFill>
                    <a:latin typeface="Times New Roman" pitchFamily="18" charset="0"/>
                    <a:cs typeface="Times New Roman" pitchFamily="18" charset="0"/>
                  </a:rPr>
                  <a:t> = 2</a:t>
                </a:r>
                <a:r>
                  <a:rPr lang="el-GR" sz="2400" b="1" i="1" dirty="0">
                    <a:solidFill>
                      <a:schemeClr val="tx1"/>
                    </a:solidFill>
                    <a:latin typeface="Times New Roman" pitchFamily="18" charset="0"/>
                    <a:cs typeface="Times New Roman" pitchFamily="18" charset="0"/>
                  </a:rPr>
                  <a:t>β</a:t>
                </a:r>
                <a14:m>
                  <m:oMath xmlns:m="http://schemas.openxmlformats.org/officeDocument/2006/math">
                    <m:r>
                      <a:rPr lang="el-GR" sz="2400" b="1" i="1" smtClean="0">
                        <a:solidFill>
                          <a:schemeClr val="tx1"/>
                        </a:solidFill>
                        <a:latin typeface="Cambria Math" panose="02040503050406030204" pitchFamily="18" charset="0"/>
                        <a:ea typeface="Cambria Math" panose="02040503050406030204" pitchFamily="18" charset="0"/>
                        <a:cs typeface="Times New Roman" pitchFamily="18" charset="0"/>
                      </a:rPr>
                      <m:t>𝝋</m:t>
                    </m:r>
                  </m:oMath>
                </a14:m>
                <a:endParaRPr lang="en-US" sz="2400" b="1" i="1" dirty="0">
                  <a:solidFill>
                    <a:schemeClr val="tx1"/>
                  </a:solidFill>
                  <a:latin typeface="Times New Roman" pitchFamily="18" charset="0"/>
                  <a:cs typeface="Times New Roman" pitchFamily="18" charset="0"/>
                </a:endParaRPr>
              </a:p>
              <a:p>
                <a:pPr algn="ctr"/>
                <a14:m>
                  <m:oMath xmlns:m="http://schemas.openxmlformats.org/officeDocument/2006/math">
                    <m:r>
                      <a:rPr lang="en-US" sz="2400" b="1" i="1" smtClean="0">
                        <a:solidFill>
                          <a:schemeClr val="tx1"/>
                        </a:solidFill>
                        <a:latin typeface="Cambria Math" panose="02040503050406030204" pitchFamily="18" charset="0"/>
                        <a:ea typeface="Cambria Math" panose="02040503050406030204" pitchFamily="18" charset="0"/>
                        <a:cs typeface="Times New Roman" pitchFamily="18" charset="0"/>
                      </a:rPr>
                      <m:t>𝝋</m:t>
                    </m:r>
                  </m:oMath>
                </a14:m>
                <a:r>
                  <a:rPr lang="en-US" sz="2400" b="1" i="1" dirty="0">
                    <a:solidFill>
                      <a:schemeClr val="tx1"/>
                    </a:solidFill>
                    <a:latin typeface="Times New Roman" pitchFamily="18" charset="0"/>
                    <a:cs typeface="Times New Roman" pitchFamily="18" charset="0"/>
                  </a:rPr>
                  <a:t> = 2</a:t>
                </a:r>
                <a:r>
                  <a:rPr lang="el-GR" sz="2400" b="1" i="1" dirty="0">
                    <a:solidFill>
                      <a:schemeClr val="tx1"/>
                    </a:solidFill>
                    <a:latin typeface="Times New Roman" pitchFamily="18" charset="0"/>
                    <a:cs typeface="Times New Roman" pitchFamily="18" charset="0"/>
                  </a:rPr>
                  <a:t>π</a:t>
                </a:r>
                <a:r>
                  <a:rPr lang="en-US" sz="2400" b="1" i="1" dirty="0">
                    <a:solidFill>
                      <a:schemeClr val="tx1"/>
                    </a:solidFill>
                    <a:latin typeface="Times New Roman" pitchFamily="18" charset="0"/>
                    <a:cs typeface="Times New Roman" pitchFamily="18" charset="0"/>
                  </a:rPr>
                  <a:t>.N </a:t>
                </a:r>
              </a:p>
            </p:txBody>
          </p:sp>
        </mc:Choice>
        <mc:Fallback xmlns="">
          <p:sp>
            <p:nvSpPr>
              <p:cNvPr id="3" name="Notes Placeholder 4"/>
              <p:cNvSpPr txBox="1">
                <a:spLocks noRot="1" noChangeAspect="1" noMove="1" noResize="1" noEditPoints="1" noAdjustHandles="1" noChangeArrowheads="1" noChangeShapeType="1" noTextEdit="1"/>
              </p:cNvSpPr>
              <p:nvPr/>
            </p:nvSpPr>
            <p:spPr>
              <a:xfrm>
                <a:off x="3771900" y="3994150"/>
                <a:ext cx="4914900" cy="2362200"/>
              </a:xfrm>
              <a:prstGeom prst="cloudCallout">
                <a:avLst>
                  <a:gd name="adj1" fmla="val -47665"/>
                  <a:gd name="adj2" fmla="val -66389"/>
                </a:avLst>
              </a:prstGeom>
              <a:blipFill>
                <a:blip r:embed="rId3"/>
                <a:stretch>
                  <a:fillRect/>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CE84FD32-B217-B73E-7C6E-9088DE9B1596}"/>
              </a:ext>
            </a:extLst>
          </p:cNvPr>
          <p:cNvSpPr>
            <a:spLocks noGrp="1"/>
          </p:cNvSpPr>
          <p:nvPr>
            <p:ph type="ftr" sz="quarter" idx="11"/>
          </p:nvPr>
        </p:nvSpPr>
        <p:spPr/>
        <p:txBody>
          <a:bodyPr/>
          <a:lstStyle/>
          <a:p>
            <a:pPr>
              <a:defRPr/>
            </a:pPr>
            <a:r>
              <a:rPr lang="en-US"/>
              <a:t>Bùi Quốc Trung - VLDC</a:t>
            </a:r>
          </a:p>
        </p:txBody>
      </p:sp>
      <p:sp>
        <p:nvSpPr>
          <p:cNvPr id="5" name="Slide Number Placeholder 4">
            <a:extLst>
              <a:ext uri="{FF2B5EF4-FFF2-40B4-BE49-F238E27FC236}">
                <a16:creationId xmlns:a16="http://schemas.microsoft.com/office/drawing/2014/main" id="{EE4D29EF-62A5-9F43-E16A-42F9758D23B9}"/>
              </a:ext>
            </a:extLst>
          </p:cNvPr>
          <p:cNvSpPr>
            <a:spLocks noGrp="1"/>
          </p:cNvSpPr>
          <p:nvPr>
            <p:ph type="sldNum" sz="quarter" idx="12"/>
          </p:nvPr>
        </p:nvSpPr>
        <p:spPr/>
        <p:txBody>
          <a:bodyPr/>
          <a:lstStyle/>
          <a:p>
            <a:pPr>
              <a:defRPr/>
            </a:pPr>
            <a:fld id="{76921531-3DE4-4FE6-8586-93C8C3054BFB}" type="slidenum">
              <a:rPr lang="en-US" smtClean="0"/>
              <a:pPr>
                <a:defRPr/>
              </a:pPr>
              <a:t>68</a:t>
            </a:fld>
            <a:endParaRPr lang="en-US" dirty="0"/>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B9AD79D-8E83-61BC-BFF5-2DDF11570326}"/>
                  </a:ext>
                </a:extLst>
              </p:cNvPr>
              <p:cNvSpPr/>
              <p:nvPr/>
            </p:nvSpPr>
            <p:spPr>
              <a:xfrm>
                <a:off x="304800" y="4191000"/>
                <a:ext cx="3810000" cy="174983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b="1" i="1" dirty="0">
                    <a:solidFill>
                      <a:srgbClr val="FF0000"/>
                    </a:solidFill>
                    <a:latin typeface="Times New Roman" pitchFamily="18" charset="0"/>
                    <a:cs typeface="Times New Roman" pitchFamily="18" charset="0"/>
                  </a:rPr>
                  <a:t>ω = </a:t>
                </a:r>
                <a14:m>
                  <m:oMath xmlns:m="http://schemas.openxmlformats.org/officeDocument/2006/math">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a:ea typeface="Cambria Math"/>
                          </a:rPr>
                          <m:t>𝝎</m:t>
                        </m:r>
                      </m:e>
                      <m:sub>
                        <m:r>
                          <a:rPr lang="en-US" sz="2400" b="1" i="1">
                            <a:solidFill>
                              <a:srgbClr val="FF0000"/>
                            </a:solidFill>
                            <a:latin typeface="Cambria Math"/>
                          </a:rPr>
                          <m:t>𝟎</m:t>
                        </m:r>
                      </m:sub>
                    </m:sSub>
                  </m:oMath>
                </a14:m>
                <a:r>
                  <a:rPr lang="en-US" sz="2400" b="1" i="1" dirty="0">
                    <a:solidFill>
                      <a:srgbClr val="FF0000"/>
                    </a:solidFill>
                    <a:latin typeface="Times New Roman" pitchFamily="18" charset="0"/>
                    <a:cs typeface="Times New Roman" pitchFamily="18" charset="0"/>
                  </a:rPr>
                  <a:t> + </a:t>
                </a:r>
                <a14:m>
                  <m:oMath xmlns:m="http://schemas.openxmlformats.org/officeDocument/2006/math">
                    <m:r>
                      <a:rPr lang="en-US" sz="2400" b="1" i="1">
                        <a:solidFill>
                          <a:srgbClr val="FF0000"/>
                        </a:solidFill>
                        <a:latin typeface="Cambria Math"/>
                        <a:ea typeface="Cambria Math"/>
                      </a:rPr>
                      <m:t>𝜷</m:t>
                    </m:r>
                  </m:oMath>
                </a14:m>
                <a:r>
                  <a:rPr lang="en-US" sz="2400" b="1" i="1" dirty="0">
                    <a:solidFill>
                      <a:srgbClr val="FF0000"/>
                    </a:solidFill>
                    <a:latin typeface="Times New Roman" pitchFamily="18" charset="0"/>
                    <a:cs typeface="Times New Roman" pitchFamily="18" charset="0"/>
                  </a:rPr>
                  <a:t>t</a:t>
                </a:r>
              </a:p>
              <a:p>
                <a:pPr algn="ctr"/>
                <a:r>
                  <a:rPr lang="en-US" sz="2400" b="1" dirty="0">
                    <a:solidFill>
                      <a:srgbClr val="FF0000"/>
                    </a:solidFill>
                    <a:ea typeface="Cambria Math"/>
                  </a:rPr>
                  <a:t> </a:t>
                </a:r>
                <a14:m>
                  <m:oMath xmlns:m="http://schemas.openxmlformats.org/officeDocument/2006/math">
                    <m:r>
                      <a:rPr lang="en-US" sz="2400" b="1" i="1" smtClean="0">
                        <a:solidFill>
                          <a:srgbClr val="FF0000"/>
                        </a:solidFill>
                        <a:latin typeface="Cambria Math" panose="02040503050406030204" pitchFamily="18" charset="0"/>
                        <a:ea typeface="Cambria Math" panose="02040503050406030204" pitchFamily="18" charset="0"/>
                      </a:rPr>
                      <m:t>𝛗</m:t>
                    </m:r>
                    <m:r>
                      <a:rPr lang="en-US" sz="2400" b="1" i="1">
                        <a:solidFill>
                          <a:srgbClr val="FF0000"/>
                        </a:solidFill>
                        <a:latin typeface="Cambria Math"/>
                        <a:ea typeface="Cambria Math"/>
                      </a:rPr>
                      <m:t>=</m:t>
                    </m:r>
                    <m:sSub>
                      <m:sSubPr>
                        <m:ctrlPr>
                          <a:rPr lang="en-US" sz="2400" b="1" i="1" smtClean="0">
                            <a:solidFill>
                              <a:srgbClr val="FF0000"/>
                            </a:solidFill>
                            <a:latin typeface="Cambria Math" panose="02040503050406030204" pitchFamily="18" charset="0"/>
                            <a:ea typeface="Cambria Math"/>
                          </a:rPr>
                        </m:ctrlPr>
                      </m:sSubPr>
                      <m:e>
                        <m:r>
                          <a:rPr lang="en-US" sz="2400" b="1" i="1" smtClean="0">
                            <a:solidFill>
                              <a:srgbClr val="FF0000"/>
                            </a:solidFill>
                            <a:latin typeface="Cambria Math" panose="02040503050406030204" pitchFamily="18" charset="0"/>
                            <a:ea typeface="Cambria Math" panose="02040503050406030204" pitchFamily="18" charset="0"/>
                          </a:rPr>
                          <m:t>𝝎</m:t>
                        </m:r>
                      </m:e>
                      <m:sub>
                        <m:r>
                          <a:rPr lang="en-US" sz="2400" b="1" i="1" smtClean="0">
                            <a:solidFill>
                              <a:srgbClr val="FF0000"/>
                            </a:solidFill>
                            <a:latin typeface="Cambria Math" panose="02040503050406030204" pitchFamily="18" charset="0"/>
                            <a:ea typeface="Cambria Math"/>
                          </a:rPr>
                          <m:t>𝟎</m:t>
                        </m:r>
                      </m:sub>
                    </m:sSub>
                    <m:r>
                      <a:rPr lang="en-US" sz="2400" b="1" i="1" smtClean="0">
                        <a:solidFill>
                          <a:srgbClr val="FF0000"/>
                        </a:solidFill>
                        <a:latin typeface="Cambria Math" panose="02040503050406030204" pitchFamily="18" charset="0"/>
                        <a:ea typeface="Cambria Math"/>
                      </a:rPr>
                      <m:t>𝒕</m:t>
                    </m:r>
                    <m:r>
                      <a:rPr lang="en-US" sz="2400" b="1" i="1">
                        <a:solidFill>
                          <a:srgbClr val="FF0000"/>
                        </a:solidFill>
                        <a:latin typeface="Cambria Math"/>
                        <a:ea typeface="Cambria Math"/>
                      </a:rPr>
                      <m:t>+</m:t>
                    </m:r>
                    <m:f>
                      <m:fPr>
                        <m:ctrlPr>
                          <a:rPr lang="en-US" sz="2400" b="1" i="1">
                            <a:solidFill>
                              <a:srgbClr val="FF0000"/>
                            </a:solidFill>
                            <a:latin typeface="Cambria Math" panose="02040503050406030204" pitchFamily="18" charset="0"/>
                            <a:ea typeface="Cambria Math"/>
                          </a:rPr>
                        </m:ctrlPr>
                      </m:fPr>
                      <m:num>
                        <m:r>
                          <a:rPr lang="en-US" sz="2400" b="1" i="1">
                            <a:solidFill>
                              <a:srgbClr val="FF0000"/>
                            </a:solidFill>
                            <a:latin typeface="Cambria Math"/>
                            <a:ea typeface="Cambria Math"/>
                          </a:rPr>
                          <m:t>𝟏</m:t>
                        </m:r>
                      </m:num>
                      <m:den>
                        <m:r>
                          <a:rPr lang="en-US" sz="2400" b="1" i="1">
                            <a:solidFill>
                              <a:srgbClr val="FF0000"/>
                            </a:solidFill>
                            <a:latin typeface="Cambria Math"/>
                            <a:ea typeface="Cambria Math"/>
                          </a:rPr>
                          <m:t>𝟐</m:t>
                        </m:r>
                      </m:den>
                    </m:f>
                    <m:r>
                      <a:rPr lang="en-US" sz="2400" b="1" i="1">
                        <a:solidFill>
                          <a:srgbClr val="FF0000"/>
                        </a:solidFill>
                        <a:latin typeface="Cambria Math"/>
                        <a:ea typeface="Cambria Math"/>
                      </a:rPr>
                      <m:t>𝜷</m:t>
                    </m:r>
                    <m:r>
                      <a:rPr lang="en-US" sz="2400" b="1" i="1">
                        <a:solidFill>
                          <a:srgbClr val="FF0000"/>
                        </a:solidFill>
                        <a:latin typeface="Cambria Math"/>
                        <a:ea typeface="Cambria Math"/>
                      </a:rPr>
                      <m:t>𝒕</m:t>
                    </m:r>
                    <m:r>
                      <a:rPr lang="en-US" sz="2400" b="1" i="1">
                        <a:solidFill>
                          <a:srgbClr val="FF0000"/>
                        </a:solidFill>
                        <a:latin typeface="Cambria Math"/>
                        <a:ea typeface="Cambria Math"/>
                      </a:rPr>
                      <m:t>²</m:t>
                    </m:r>
                  </m:oMath>
                </a14:m>
                <a:endParaRPr lang="en-US" sz="2400" b="1" i="1" dirty="0">
                  <a:solidFill>
                    <a:srgbClr val="FF0000"/>
                  </a:solidFill>
                  <a:latin typeface="Times New Roman" pitchFamily="18" charset="0"/>
                  <a:ea typeface="Cambria Math"/>
                  <a:cs typeface="Times New Roman" pitchFamily="18" charset="0"/>
                </a:endParaRPr>
              </a:p>
              <a:p>
                <a:pPr algn="ctr"/>
                <a14:m>
                  <m:oMath xmlns:m="http://schemas.openxmlformats.org/officeDocument/2006/math">
                    <m:sSup>
                      <m:sSupPr>
                        <m:ctrlPr>
                          <a:rPr lang="en-US" sz="2400" b="1" i="1">
                            <a:solidFill>
                              <a:srgbClr val="FF0000"/>
                            </a:solidFill>
                            <a:latin typeface="Cambria Math" panose="02040503050406030204" pitchFamily="18" charset="0"/>
                            <a:ea typeface="Cambria Math"/>
                          </a:rPr>
                        </m:ctrlPr>
                      </m:sSupPr>
                      <m:e>
                        <m:r>
                          <a:rPr lang="en-US" sz="2400" b="1" i="1">
                            <a:solidFill>
                              <a:srgbClr val="FF0000"/>
                            </a:solidFill>
                            <a:latin typeface="Cambria Math"/>
                            <a:ea typeface="Cambria Math"/>
                          </a:rPr>
                          <m:t>           </m:t>
                        </m:r>
                        <m:r>
                          <a:rPr lang="en-US" sz="2400" b="1" i="1">
                            <a:solidFill>
                              <a:srgbClr val="FF0000"/>
                            </a:solidFill>
                            <a:latin typeface="Cambria Math"/>
                            <a:ea typeface="Cambria Math"/>
                          </a:rPr>
                          <m:t>𝝎</m:t>
                        </m:r>
                      </m:e>
                      <m:sup>
                        <m:r>
                          <a:rPr lang="en-US" sz="2400" b="1" i="1">
                            <a:solidFill>
                              <a:srgbClr val="FF0000"/>
                            </a:solidFill>
                            <a:latin typeface="Cambria Math"/>
                            <a:ea typeface="Cambria Math"/>
                          </a:rPr>
                          <m:t>𝟐</m:t>
                        </m:r>
                      </m:sup>
                    </m:sSup>
                    <m:r>
                      <a:rPr lang="en-US" sz="2400" b="1" i="1">
                        <a:solidFill>
                          <a:srgbClr val="FF0000"/>
                        </a:solidFill>
                        <a:latin typeface="Cambria Math"/>
                        <a:ea typeface="Cambria Math"/>
                      </a:rPr>
                      <m:t>−</m:t>
                    </m:r>
                    <m:sSup>
                      <m:sSupPr>
                        <m:ctrlPr>
                          <a:rPr lang="en-US" sz="2400" b="1" i="1">
                            <a:solidFill>
                              <a:srgbClr val="FF0000"/>
                            </a:solidFill>
                            <a:latin typeface="Cambria Math" panose="02040503050406030204" pitchFamily="18" charset="0"/>
                            <a:ea typeface="Cambria Math"/>
                          </a:rPr>
                        </m:ctrlPr>
                      </m:sSupPr>
                      <m:e>
                        <m:sSubSup>
                          <m:sSubSupPr>
                            <m:ctrlPr>
                              <a:rPr lang="en-US" sz="2400" b="1" i="1">
                                <a:solidFill>
                                  <a:srgbClr val="FF0000"/>
                                </a:solidFill>
                                <a:latin typeface="Cambria Math" panose="02040503050406030204" pitchFamily="18" charset="0"/>
                                <a:ea typeface="Cambria Math"/>
                              </a:rPr>
                            </m:ctrlPr>
                          </m:sSubSupPr>
                          <m:e>
                            <m:r>
                              <a:rPr lang="en-US" sz="2400" b="1" i="1">
                                <a:solidFill>
                                  <a:srgbClr val="FF0000"/>
                                </a:solidFill>
                                <a:latin typeface="Cambria Math"/>
                                <a:ea typeface="Cambria Math"/>
                              </a:rPr>
                              <m:t>𝝎</m:t>
                            </m:r>
                          </m:e>
                          <m:sub>
                            <m:r>
                              <a:rPr lang="en-US" sz="2400" b="1" i="1">
                                <a:solidFill>
                                  <a:srgbClr val="FF0000"/>
                                </a:solidFill>
                                <a:latin typeface="Cambria Math"/>
                                <a:ea typeface="Cambria Math"/>
                              </a:rPr>
                              <m:t>𝟎</m:t>
                            </m:r>
                          </m:sub>
                          <m:sup/>
                        </m:sSubSup>
                      </m:e>
                      <m:sup>
                        <m:r>
                          <a:rPr lang="en-US" sz="2400" b="1" i="1">
                            <a:solidFill>
                              <a:srgbClr val="FF0000"/>
                            </a:solidFill>
                            <a:latin typeface="Cambria Math"/>
                            <a:ea typeface="Cambria Math"/>
                          </a:rPr>
                          <m:t>𝟐</m:t>
                        </m:r>
                      </m:sup>
                    </m:sSup>
                  </m:oMath>
                </a14:m>
                <a:r>
                  <a:rPr lang="en-US" sz="2400" b="1" i="1" dirty="0">
                    <a:solidFill>
                      <a:srgbClr val="FF0000"/>
                    </a:solidFill>
                    <a:latin typeface="Times New Roman" pitchFamily="18" charset="0"/>
                    <a:ea typeface="Cambria Math"/>
                    <a:cs typeface="Times New Roman" pitchFamily="18" charset="0"/>
                  </a:rPr>
                  <a:t>=2</a:t>
                </a:r>
                <a14:m>
                  <m:oMath xmlns:m="http://schemas.openxmlformats.org/officeDocument/2006/math">
                    <m:r>
                      <a:rPr lang="en-US" sz="2400" b="1" i="1">
                        <a:solidFill>
                          <a:srgbClr val="FF0000"/>
                        </a:solidFill>
                        <a:latin typeface="Cambria Math"/>
                        <a:ea typeface="Cambria Math"/>
                      </a:rPr>
                      <m:t>𝜷</m:t>
                    </m:r>
                    <m:r>
                      <a:rPr lang="en-US" sz="2400" b="1" i="1" smtClean="0">
                        <a:solidFill>
                          <a:srgbClr val="FF0000"/>
                        </a:solidFill>
                        <a:latin typeface="Cambria Math"/>
                        <a:ea typeface="Cambria Math"/>
                      </a:rPr>
                      <m:t>𝜽</m:t>
                    </m:r>
                  </m:oMath>
                </a14:m>
                <a:endParaRPr lang="en-US" sz="2400" b="1" i="1" dirty="0">
                  <a:solidFill>
                    <a:srgbClr val="FF0000"/>
                  </a:solidFill>
                  <a:latin typeface="Times New Roman" pitchFamily="18" charset="0"/>
                  <a:ea typeface="Cambria Math"/>
                  <a:cs typeface="Times New Roman" pitchFamily="18" charset="0"/>
                </a:endParaRPr>
              </a:p>
            </p:txBody>
          </p:sp>
        </mc:Choice>
        <mc:Fallback xmlns="">
          <p:sp>
            <p:nvSpPr>
              <p:cNvPr id="6" name="Rectangle 5">
                <a:extLst>
                  <a:ext uri="{FF2B5EF4-FFF2-40B4-BE49-F238E27FC236}">
                    <a16:creationId xmlns:a16="http://schemas.microsoft.com/office/drawing/2014/main" id="{6B9AD79D-8E83-61BC-BFF5-2DDF11570326}"/>
                  </a:ext>
                </a:extLst>
              </p:cNvPr>
              <p:cNvSpPr>
                <a:spLocks noRot="1" noChangeAspect="1" noMove="1" noResize="1" noEditPoints="1" noAdjustHandles="1" noChangeArrowheads="1" noChangeShapeType="1" noTextEdit="1"/>
              </p:cNvSpPr>
              <p:nvPr/>
            </p:nvSpPr>
            <p:spPr>
              <a:xfrm>
                <a:off x="304800" y="4191000"/>
                <a:ext cx="3810000" cy="1749839"/>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0825808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p:nvPr>
            </p:nvSpPr>
            <p:spPr/>
            <p:txBody>
              <a:bodyPr>
                <a:normAutofit lnSpcReduction="10000"/>
              </a:bodyPr>
              <a:lstStyle/>
              <a:p>
                <a:pPr marL="0" indent="0">
                  <a:buFont typeface="Arial" charset="0"/>
                  <a:buNone/>
                  <a:defRPr/>
                </a:pPr>
                <a:r>
                  <a:rPr lang="en-US" dirty="0"/>
                  <a:t>Trên </a:t>
                </a:r>
                <a:r>
                  <a:rPr lang="en-US" dirty="0" err="1"/>
                  <a:t>một</a:t>
                </a:r>
                <a:r>
                  <a:rPr lang="en-US" dirty="0"/>
                  <a:t> </a:t>
                </a:r>
                <a:r>
                  <a:rPr lang="en-US" dirty="0" err="1"/>
                  <a:t>cái</a:t>
                </a:r>
                <a:r>
                  <a:rPr lang="en-US" dirty="0"/>
                  <a:t> </a:t>
                </a:r>
                <a:r>
                  <a:rPr lang="en-US" dirty="0" err="1"/>
                  <a:t>đĩa</a:t>
                </a:r>
                <a:r>
                  <a:rPr lang="en-US" dirty="0"/>
                  <a:t> </a:t>
                </a:r>
                <a:r>
                  <a:rPr lang="en-US" dirty="0" err="1"/>
                  <a:t>nằm</a:t>
                </a:r>
                <a:r>
                  <a:rPr lang="en-US" dirty="0"/>
                  <a:t> </a:t>
                </a:r>
                <a:r>
                  <a:rPr lang="en-US" dirty="0" err="1"/>
                  <a:t>ngang</a:t>
                </a:r>
                <a:r>
                  <a:rPr lang="en-US" dirty="0"/>
                  <a:t> </a:t>
                </a:r>
                <a:r>
                  <a:rPr lang="en-US" dirty="0" err="1"/>
                  <a:t>đang</a:t>
                </a:r>
                <a:r>
                  <a:rPr lang="en-US" dirty="0"/>
                  <a:t> quay </a:t>
                </a:r>
                <a:r>
                  <a:rPr lang="en-US" dirty="0" err="1"/>
                  <a:t>có</a:t>
                </a:r>
                <a:r>
                  <a:rPr lang="en-US" dirty="0"/>
                  <a:t> </a:t>
                </a:r>
                <a:r>
                  <a:rPr lang="en-US" dirty="0" err="1"/>
                  <a:t>đặt</a:t>
                </a:r>
                <a:r>
                  <a:rPr lang="en-US" dirty="0"/>
                  <a:t> </a:t>
                </a:r>
                <a:r>
                  <a:rPr lang="en-US" dirty="0" err="1"/>
                  <a:t>một</a:t>
                </a:r>
                <a:r>
                  <a:rPr lang="en-US" dirty="0"/>
                  <a:t> </a:t>
                </a:r>
                <a:r>
                  <a:rPr lang="en-US" dirty="0" err="1"/>
                  <a:t>vật</a:t>
                </a:r>
                <a:r>
                  <a:rPr lang="en-US" dirty="0"/>
                  <a:t> </a:t>
                </a:r>
                <a:r>
                  <a:rPr lang="en-US" dirty="0" err="1"/>
                  <a:t>khối</a:t>
                </a:r>
                <a:r>
                  <a:rPr lang="en-US" dirty="0"/>
                  <a:t> </a:t>
                </a:r>
                <a:r>
                  <a:rPr lang="en-US" dirty="0" err="1"/>
                  <a:t>lượng</a:t>
                </a:r>
                <a:r>
                  <a:rPr lang="en-US" dirty="0"/>
                  <a:t> m = 1kg </a:t>
                </a:r>
                <a:r>
                  <a:rPr lang="en-US" dirty="0" err="1"/>
                  <a:t>cách</a:t>
                </a:r>
                <a:r>
                  <a:rPr lang="en-US" dirty="0"/>
                  <a:t> </a:t>
                </a:r>
                <a:r>
                  <a:rPr lang="en-US" dirty="0" err="1"/>
                  <a:t>trục</a:t>
                </a:r>
                <a:r>
                  <a:rPr lang="en-US" dirty="0"/>
                  <a:t> quay r = 50cm. </a:t>
                </a:r>
                <a:r>
                  <a:rPr lang="en-US" dirty="0" err="1"/>
                  <a:t>Hỏi</a:t>
                </a:r>
                <a:r>
                  <a:rPr lang="en-US" dirty="0"/>
                  <a:t>:</a:t>
                </a:r>
              </a:p>
              <a:p>
                <a:pPr marL="514350" indent="-514350">
                  <a:buFont typeface="Arial" charset="0"/>
                  <a:buAutoNum type="alphaLcParenR"/>
                  <a:defRPr/>
                </a:pPr>
                <a:r>
                  <a:rPr lang="en-US" dirty="0" err="1"/>
                  <a:t>Lực</a:t>
                </a:r>
                <a:r>
                  <a:rPr lang="en-US" dirty="0"/>
                  <a:t> ma </a:t>
                </a:r>
                <a:r>
                  <a:rPr lang="en-US" dirty="0" err="1"/>
                  <a:t>sát</a:t>
                </a:r>
                <a:r>
                  <a:rPr lang="en-US" dirty="0"/>
                  <a:t> </a:t>
                </a:r>
                <a:r>
                  <a:rPr lang="en-US" dirty="0" err="1"/>
                  <a:t>có</a:t>
                </a:r>
                <a:r>
                  <a:rPr lang="en-US" dirty="0"/>
                  <a:t> </a:t>
                </a:r>
                <a:r>
                  <a:rPr lang="en-US" dirty="0" err="1"/>
                  <a:t>độ</a:t>
                </a:r>
                <a:r>
                  <a:rPr lang="en-US" dirty="0"/>
                  <a:t> </a:t>
                </a:r>
                <a:r>
                  <a:rPr lang="en-US" dirty="0" err="1"/>
                  <a:t>lớn</a:t>
                </a:r>
                <a:r>
                  <a:rPr lang="en-US" dirty="0"/>
                  <a:t> </a:t>
                </a:r>
                <a:r>
                  <a:rPr lang="en-US" dirty="0" err="1"/>
                  <a:t>bằng</a:t>
                </a:r>
                <a:r>
                  <a:rPr lang="en-US" dirty="0"/>
                  <a:t> </a:t>
                </a:r>
                <a:r>
                  <a:rPr lang="en-US" dirty="0" err="1"/>
                  <a:t>bao</a:t>
                </a:r>
                <a:r>
                  <a:rPr lang="en-US" dirty="0"/>
                  <a:t> </a:t>
                </a:r>
                <a:r>
                  <a:rPr lang="en-US" dirty="0" err="1"/>
                  <a:t>nhiêu</a:t>
                </a:r>
                <a:r>
                  <a:rPr lang="en-US" dirty="0"/>
                  <a:t> </a:t>
                </a:r>
                <a:r>
                  <a:rPr lang="en-US" dirty="0" err="1"/>
                  <a:t>để</a:t>
                </a:r>
                <a:r>
                  <a:rPr lang="en-US" dirty="0"/>
                  <a:t> </a:t>
                </a:r>
                <a:r>
                  <a:rPr lang="en-US" dirty="0" err="1"/>
                  <a:t>giữ</a:t>
                </a:r>
                <a:r>
                  <a:rPr lang="en-US" dirty="0"/>
                  <a:t> </a:t>
                </a:r>
                <a:r>
                  <a:rPr lang="en-US" dirty="0" err="1"/>
                  <a:t>vật</a:t>
                </a:r>
                <a:r>
                  <a:rPr lang="en-US" dirty="0"/>
                  <a:t> </a:t>
                </a:r>
                <a:r>
                  <a:rPr lang="en-US" dirty="0" err="1"/>
                  <a:t>trên</a:t>
                </a:r>
                <a:r>
                  <a:rPr lang="en-US" dirty="0"/>
                  <a:t> </a:t>
                </a:r>
                <a:r>
                  <a:rPr lang="en-US" dirty="0" err="1"/>
                  <a:t>đĩa</a:t>
                </a:r>
                <a:r>
                  <a:rPr lang="en-US" dirty="0"/>
                  <a:t> </a:t>
                </a:r>
                <a:r>
                  <a:rPr lang="en-US" dirty="0" err="1"/>
                  <a:t>nếu</a:t>
                </a:r>
                <a:r>
                  <a:rPr lang="en-US" dirty="0"/>
                  <a:t> </a:t>
                </a:r>
                <a:r>
                  <a:rPr lang="en-US" dirty="0" err="1"/>
                  <a:t>đĩa</a:t>
                </a:r>
                <a:r>
                  <a:rPr lang="en-US" dirty="0"/>
                  <a:t> quay </a:t>
                </a:r>
                <a:r>
                  <a:rPr lang="en-US" dirty="0" err="1"/>
                  <a:t>với</a:t>
                </a:r>
                <a:r>
                  <a:rPr lang="en-US" dirty="0"/>
                  <a:t> </a:t>
                </a:r>
                <a:r>
                  <a:rPr lang="en-US" dirty="0" err="1"/>
                  <a:t>tốc</a:t>
                </a:r>
                <a:r>
                  <a:rPr lang="en-US" dirty="0"/>
                  <a:t> </a:t>
                </a:r>
                <a:r>
                  <a:rPr lang="en-US" dirty="0" err="1"/>
                  <a:t>độ</a:t>
                </a:r>
                <a:r>
                  <a:rPr lang="en-US" dirty="0"/>
                  <a:t> 12 </a:t>
                </a:r>
                <a:r>
                  <a:rPr lang="en-US" dirty="0" err="1"/>
                  <a:t>vòng</a:t>
                </a:r>
                <a:r>
                  <a:rPr lang="en-US" dirty="0"/>
                  <a:t>/</a:t>
                </a:r>
                <a:r>
                  <a:rPr lang="en-US" dirty="0" err="1"/>
                  <a:t>phút</a:t>
                </a: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𝐹</m:t>
                        </m:r>
                      </m:e>
                      <m:sub>
                        <m:r>
                          <a:rPr lang="en-US" b="0" i="1" smtClean="0">
                            <a:latin typeface="Cambria Math"/>
                          </a:rPr>
                          <m:t>𝑚𝑠</m:t>
                        </m:r>
                      </m:sub>
                    </m:sSub>
                  </m:oMath>
                </a14:m>
                <a:r>
                  <a:rPr lang="en-US" dirty="0"/>
                  <a:t>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𝐹</m:t>
                        </m:r>
                      </m:e>
                      <m:sub>
                        <m:r>
                          <a:rPr lang="en-US" b="0" i="1" smtClean="0">
                            <a:latin typeface="Cambria Math"/>
                          </a:rPr>
                          <m:t>h𝑡</m:t>
                        </m:r>
                      </m:sub>
                    </m:sSub>
                  </m:oMath>
                </a14:m>
                <a:r>
                  <a:rPr lang="en-US" dirty="0"/>
                  <a:t> </a:t>
                </a:r>
                <a14:m>
                  <m:oMath xmlns:m="http://schemas.openxmlformats.org/officeDocument/2006/math">
                    <m:r>
                      <a:rPr lang="en-US" i="1" dirty="0" smtClean="0">
                        <a:latin typeface="Cambria Math"/>
                        <a:ea typeface="Cambria Math"/>
                      </a:rPr>
                      <m:t>→</m:t>
                    </m:r>
                    <m:sSub>
                      <m:sSubPr>
                        <m:ctrlPr>
                          <a:rPr lang="en-US" i="1">
                            <a:latin typeface="Cambria Math" panose="02040503050406030204" pitchFamily="18" charset="0"/>
                          </a:rPr>
                        </m:ctrlPr>
                      </m:sSubPr>
                      <m:e>
                        <m:r>
                          <a:rPr lang="en-US" i="1">
                            <a:latin typeface="Cambria Math"/>
                          </a:rPr>
                          <m:t>𝐹</m:t>
                        </m:r>
                      </m:e>
                      <m:sub>
                        <m:r>
                          <a:rPr lang="en-US" i="1">
                            <a:latin typeface="Cambria Math"/>
                          </a:rPr>
                          <m:t>𝑚𝑠</m:t>
                        </m:r>
                      </m:sub>
                    </m:sSub>
                    <m:r>
                      <a:rPr lang="en-US" b="0" i="1" dirty="0" smtClean="0">
                        <a:latin typeface="Cambria Math"/>
                        <a:ea typeface="Cambria Math"/>
                      </a:rPr>
                      <m:t>=</m:t>
                    </m:r>
                    <m:r>
                      <a:rPr lang="en-US" b="0" i="1" dirty="0" smtClean="0">
                        <a:latin typeface="Cambria Math"/>
                        <a:ea typeface="Cambria Math"/>
                      </a:rPr>
                      <m:t>𝑚</m:t>
                    </m:r>
                    <m:f>
                      <m:fPr>
                        <m:ctrlPr>
                          <a:rPr lang="en-US" b="0" i="1" dirty="0" smtClean="0">
                            <a:latin typeface="Cambria Math" panose="02040503050406030204" pitchFamily="18" charset="0"/>
                            <a:ea typeface="Cambria Math"/>
                          </a:rPr>
                        </m:ctrlPr>
                      </m:fPr>
                      <m:num>
                        <m:r>
                          <a:rPr lang="en-US" b="0" i="1" dirty="0" smtClean="0">
                            <a:latin typeface="Cambria Math"/>
                            <a:ea typeface="Cambria Math"/>
                          </a:rPr>
                          <m:t>𝑣</m:t>
                        </m:r>
                        <m:r>
                          <a:rPr lang="en-US" b="0" i="1" dirty="0" smtClean="0">
                            <a:latin typeface="Cambria Math"/>
                            <a:ea typeface="Cambria Math"/>
                          </a:rPr>
                          <m:t>²</m:t>
                        </m:r>
                      </m:num>
                      <m:den>
                        <m:r>
                          <a:rPr lang="en-US" b="0" i="1" dirty="0" smtClean="0">
                            <a:latin typeface="Cambria Math"/>
                            <a:ea typeface="Cambria Math"/>
                          </a:rPr>
                          <m:t>𝑟</m:t>
                        </m:r>
                      </m:den>
                    </m:f>
                  </m:oMath>
                </a14:m>
                <a:r>
                  <a:rPr lang="en-US" dirty="0"/>
                  <a:t>)</a:t>
                </a:r>
              </a:p>
              <a:p>
                <a:pPr marL="514350" indent="-514350">
                  <a:buFont typeface="Arial" charset="0"/>
                  <a:buAutoNum type="alphaLcParenR"/>
                  <a:defRPr/>
                </a:pPr>
                <a:r>
                  <a:rPr lang="en-US" dirty="0" err="1"/>
                  <a:t>Với</a:t>
                </a:r>
                <a:r>
                  <a:rPr lang="en-US" dirty="0"/>
                  <a:t> </a:t>
                </a:r>
                <a:r>
                  <a:rPr lang="en-US" dirty="0" err="1"/>
                  <a:t>vận</a:t>
                </a:r>
                <a:r>
                  <a:rPr lang="en-US" dirty="0"/>
                  <a:t> </a:t>
                </a:r>
                <a:r>
                  <a:rPr lang="en-US" dirty="0" err="1"/>
                  <a:t>tốc</a:t>
                </a:r>
                <a:r>
                  <a:rPr lang="en-US" dirty="0"/>
                  <a:t> </a:t>
                </a:r>
                <a:r>
                  <a:rPr lang="en-US" dirty="0" err="1"/>
                  <a:t>góc</a:t>
                </a:r>
                <a:r>
                  <a:rPr lang="en-US" dirty="0"/>
                  <a:t> </a:t>
                </a:r>
                <a:r>
                  <a:rPr lang="en-US" dirty="0" err="1"/>
                  <a:t>nào</a:t>
                </a:r>
                <a:r>
                  <a:rPr lang="en-US" dirty="0"/>
                  <a:t> </a:t>
                </a:r>
                <a:r>
                  <a:rPr lang="en-US" dirty="0" err="1"/>
                  <a:t>thì</a:t>
                </a:r>
                <a:r>
                  <a:rPr lang="en-US" dirty="0"/>
                  <a:t> </a:t>
                </a:r>
                <a:r>
                  <a:rPr lang="en-US" dirty="0" err="1"/>
                  <a:t>vật</a:t>
                </a:r>
                <a:r>
                  <a:rPr lang="en-US" dirty="0"/>
                  <a:t> </a:t>
                </a:r>
                <a:r>
                  <a:rPr lang="en-US" dirty="0" err="1"/>
                  <a:t>bắt</a:t>
                </a:r>
                <a:r>
                  <a:rPr lang="en-US" dirty="0"/>
                  <a:t> </a:t>
                </a:r>
                <a:r>
                  <a:rPr lang="en-US" dirty="0" err="1"/>
                  <a:t>đầu</a:t>
                </a:r>
                <a:r>
                  <a:rPr lang="en-US" dirty="0"/>
                  <a:t> </a:t>
                </a:r>
                <a:r>
                  <a:rPr lang="en-US" dirty="0" err="1"/>
                  <a:t>trượt</a:t>
                </a:r>
                <a:r>
                  <a:rPr lang="en-US" dirty="0"/>
                  <a:t> </a:t>
                </a:r>
                <a:r>
                  <a:rPr lang="en-US" dirty="0" err="1"/>
                  <a:t>khỏi</a:t>
                </a:r>
                <a:r>
                  <a:rPr lang="en-US" dirty="0"/>
                  <a:t> </a:t>
                </a:r>
                <a:r>
                  <a:rPr lang="en-US" dirty="0" err="1"/>
                  <a:t>đĩa</a:t>
                </a:r>
                <a:r>
                  <a:rPr lang="en-US" dirty="0"/>
                  <a:t>? Cho </a:t>
                </a:r>
                <a:r>
                  <a:rPr lang="en-US" dirty="0" err="1"/>
                  <a:t>hệ</a:t>
                </a:r>
                <a:r>
                  <a:rPr lang="en-US" dirty="0"/>
                  <a:t> </a:t>
                </a:r>
                <a:r>
                  <a:rPr lang="en-US" dirty="0" err="1"/>
                  <a:t>số</a:t>
                </a:r>
                <a:r>
                  <a:rPr lang="en-US" dirty="0"/>
                  <a:t> ma </a:t>
                </a:r>
                <a:r>
                  <a:rPr lang="en-US" dirty="0" err="1"/>
                  <a:t>sát</a:t>
                </a:r>
                <a:r>
                  <a:rPr lang="en-US" dirty="0"/>
                  <a:t> </a:t>
                </a:r>
                <a:r>
                  <a:rPr lang="en-US" dirty="0" err="1"/>
                  <a:t>của</a:t>
                </a:r>
                <a:r>
                  <a:rPr lang="en-US" dirty="0"/>
                  <a:t> </a:t>
                </a:r>
                <a:r>
                  <a:rPr lang="en-US" dirty="0" err="1"/>
                  <a:t>vật</a:t>
                </a:r>
                <a:r>
                  <a:rPr lang="en-US" dirty="0"/>
                  <a:t> </a:t>
                </a:r>
                <a:r>
                  <a:rPr lang="en-US" dirty="0" err="1"/>
                  <a:t>và</a:t>
                </a:r>
                <a:r>
                  <a:rPr lang="en-US" dirty="0"/>
                  <a:t> </a:t>
                </a:r>
                <a:r>
                  <a:rPr lang="en-US" dirty="0" err="1"/>
                  <a:t>đĩa</a:t>
                </a:r>
                <a:r>
                  <a:rPr lang="en-US" dirty="0"/>
                  <a:t> </a:t>
                </a:r>
                <a:r>
                  <a:rPr lang="el-GR" dirty="0"/>
                  <a:t>μ</a:t>
                </a:r>
                <a:r>
                  <a:rPr lang="en-US" dirty="0"/>
                  <a:t> = 0,25</a:t>
                </a:r>
              </a:p>
              <a:p>
                <a:pPr marL="0" indent="0">
                  <a:buFont typeface="Arial" charset="0"/>
                  <a:buNone/>
                  <a:defRPr/>
                </a:pPr>
                <a14:m>
                  <m:oMath xmlns:m="http://schemas.openxmlformats.org/officeDocument/2006/math">
                    <m:sSub>
                      <m:sSubPr>
                        <m:ctrlPr>
                          <a:rPr lang="en-US" i="1">
                            <a:latin typeface="Cambria Math" panose="02040503050406030204" pitchFamily="18" charset="0"/>
                          </a:rPr>
                        </m:ctrlPr>
                      </m:sSubPr>
                      <m:e>
                        <m:r>
                          <a:rPr lang="en-US" i="1">
                            <a:latin typeface="Cambria Math"/>
                          </a:rPr>
                          <m:t>𝐹</m:t>
                        </m:r>
                      </m:e>
                      <m:sub>
                        <m:r>
                          <a:rPr lang="en-US" i="1">
                            <a:latin typeface="Cambria Math"/>
                          </a:rPr>
                          <m:t>𝑚𝑠</m:t>
                        </m:r>
                      </m:sub>
                    </m:sSub>
                  </m:oMath>
                </a14:m>
                <a:r>
                  <a:rPr lang="en-US" dirty="0"/>
                  <a:t> = </a:t>
                </a:r>
                <a14:m>
                  <m:oMath xmlns:m="http://schemas.openxmlformats.org/officeDocument/2006/math">
                    <m:r>
                      <a:rPr lang="en-US" i="1" smtClean="0">
                        <a:latin typeface="Cambria Math"/>
                        <a:ea typeface="Cambria Math"/>
                      </a:rPr>
                      <m:t>𝜇</m:t>
                    </m:r>
                    <m:r>
                      <a:rPr lang="en-US" b="0" i="1" smtClean="0">
                        <a:latin typeface="Cambria Math"/>
                        <a:ea typeface="Cambria Math"/>
                      </a:rPr>
                      <m:t>𝑚𝑔</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𝐹</m:t>
                        </m:r>
                      </m:e>
                      <m:sub>
                        <m:r>
                          <a:rPr lang="en-US" b="0" i="1" smtClean="0">
                            <a:latin typeface="Cambria Math"/>
                          </a:rPr>
                          <m:t>𝑙𝑡</m:t>
                        </m:r>
                      </m:sub>
                    </m:sSub>
                  </m:oMath>
                </a14:m>
                <a:r>
                  <a:rPr lang="en-US" dirty="0"/>
                  <a:t>=</a:t>
                </a:r>
                <a14:m>
                  <m:oMath xmlns:m="http://schemas.openxmlformats.org/officeDocument/2006/math">
                    <m:r>
                      <a:rPr lang="en-US" i="1" dirty="0">
                        <a:latin typeface="Cambria Math"/>
                        <a:ea typeface="Cambria Math"/>
                      </a:rPr>
                      <m:t>𝑚</m:t>
                    </m:r>
                    <m:f>
                      <m:fPr>
                        <m:ctrlPr>
                          <a:rPr lang="en-US" i="1" dirty="0">
                            <a:latin typeface="Cambria Math" panose="02040503050406030204" pitchFamily="18" charset="0"/>
                            <a:ea typeface="Cambria Math"/>
                          </a:rPr>
                        </m:ctrlPr>
                      </m:fPr>
                      <m:num>
                        <m:r>
                          <a:rPr lang="en-US" i="1" dirty="0">
                            <a:latin typeface="Cambria Math"/>
                            <a:ea typeface="Cambria Math"/>
                          </a:rPr>
                          <m:t>𝑣</m:t>
                        </m:r>
                        <m:r>
                          <a:rPr lang="en-US" i="1" dirty="0">
                            <a:latin typeface="Cambria Math"/>
                            <a:ea typeface="Cambria Math"/>
                          </a:rPr>
                          <m:t>²</m:t>
                        </m:r>
                      </m:num>
                      <m:den>
                        <m:r>
                          <a:rPr lang="en-US" i="1" dirty="0">
                            <a:latin typeface="Cambria Math"/>
                            <a:ea typeface="Cambria Math"/>
                          </a:rPr>
                          <m:t>𝑟</m:t>
                        </m:r>
                      </m:den>
                    </m:f>
                  </m:oMath>
                </a14:m>
                <a:r>
                  <a:rPr lang="en-US" dirty="0"/>
                  <a:t> , </a:t>
                </a:r>
                <a14:m>
                  <m:oMath xmlns:m="http://schemas.openxmlformats.org/officeDocument/2006/math">
                    <m:r>
                      <m:rPr>
                        <m:sty m:val="p"/>
                      </m:rPr>
                      <a:rPr lang="en-US" b="0" i="0" smtClean="0">
                        <a:latin typeface="Cambria Math"/>
                        <a:ea typeface="Cambria Math"/>
                      </a:rPr>
                      <m:t>v</m:t>
                    </m:r>
                    <m:r>
                      <a:rPr lang="en-US" b="0" i="0" smtClean="0">
                        <a:latin typeface="Cambria Math"/>
                        <a:ea typeface="Cambria Math"/>
                      </a:rPr>
                      <m:t>=</m:t>
                    </m:r>
                    <m:r>
                      <a:rPr lang="en-US" i="1" smtClean="0">
                        <a:latin typeface="Cambria Math"/>
                        <a:ea typeface="Cambria Math"/>
                      </a:rPr>
                      <m:t>𝜔</m:t>
                    </m:r>
                  </m:oMath>
                </a14:m>
                <a:r>
                  <a:rPr lang="en-US" dirty="0"/>
                  <a:t>r</a:t>
                </a:r>
              </a:p>
              <a:p>
                <a:pPr marL="0" indent="0">
                  <a:buFont typeface="Arial" charset="0"/>
                  <a:buNone/>
                  <a:defRPr/>
                </a:pPr>
                <a:r>
                  <a:rPr lang="en-US" b="1" dirty="0"/>
                  <a:t> </a:t>
                </a:r>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p:nvPr>
            </p:nvSpPr>
            <p:spPr>
              <a:blipFill rotWithShape="1">
                <a:blip r:embed="rId3"/>
                <a:stretch>
                  <a:fillRect l="-1926" t="-2188" r="-1259"/>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54FECF82-BD3A-625C-9AB0-A553E5C2B84A}"/>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88D406AC-9DAD-3930-4E6A-AB81D61CAA95}"/>
              </a:ext>
            </a:extLst>
          </p:cNvPr>
          <p:cNvSpPr>
            <a:spLocks noGrp="1"/>
          </p:cNvSpPr>
          <p:nvPr>
            <p:ph type="sldNum" sz="quarter" idx="12"/>
          </p:nvPr>
        </p:nvSpPr>
        <p:spPr/>
        <p:txBody>
          <a:bodyPr/>
          <a:lstStyle/>
          <a:p>
            <a:pPr>
              <a:defRPr/>
            </a:pPr>
            <a:fld id="{76921531-3DE4-4FE6-8586-93C8C3054BFB}" type="slidenum">
              <a:rPr lang="en-US" smtClean="0"/>
              <a:pPr>
                <a:defRPr/>
              </a:pPr>
              <a:t>69</a:t>
            </a:fld>
            <a:endParaRPr lang="en-US"/>
          </a:p>
        </p:txBody>
      </p:sp>
    </p:spTree>
    <p:extLst>
      <p:ext uri="{BB962C8B-B14F-4D97-AF65-F5344CB8AC3E}">
        <p14:creationId xmlns:p14="http://schemas.microsoft.com/office/powerpoint/2010/main" val="38818775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03FF8EF-6427-E206-4B99-C57896F80934}"/>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A48C8CAC-E2E1-9B6B-8234-A2F211593D09}"/>
              </a:ext>
            </a:extLst>
          </p:cNvPr>
          <p:cNvSpPr>
            <a:spLocks noGrp="1"/>
          </p:cNvSpPr>
          <p:nvPr>
            <p:ph type="sldNum" sz="quarter" idx="12"/>
          </p:nvPr>
        </p:nvSpPr>
        <p:spPr/>
        <p:txBody>
          <a:bodyPr/>
          <a:lstStyle/>
          <a:p>
            <a:pPr>
              <a:defRPr/>
            </a:pPr>
            <a:fld id="{76921531-3DE4-4FE6-8586-93C8C3054BFB}" type="slidenum">
              <a:rPr lang="en-US" smtClean="0"/>
              <a:pPr>
                <a:defRPr/>
              </a:pPr>
              <a:t>70</a:t>
            </a:fld>
            <a:endParaRPr lang="en-US"/>
          </a:p>
        </p:txBody>
      </p:sp>
      <p:sp>
        <p:nvSpPr>
          <p:cNvPr id="5" name="Oval 4">
            <a:extLst>
              <a:ext uri="{FF2B5EF4-FFF2-40B4-BE49-F238E27FC236}">
                <a16:creationId xmlns:a16="http://schemas.microsoft.com/office/drawing/2014/main" id="{4D35212A-64DA-8ECE-60FA-7F4BF27EED6D}"/>
              </a:ext>
            </a:extLst>
          </p:cNvPr>
          <p:cNvSpPr/>
          <p:nvPr/>
        </p:nvSpPr>
        <p:spPr>
          <a:xfrm>
            <a:off x="1981200" y="1600200"/>
            <a:ext cx="5257800" cy="31242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800" b="1" i="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TẬP CHƯƠNG 2</a:t>
            </a:r>
          </a:p>
        </p:txBody>
      </p:sp>
      <p:sp>
        <p:nvSpPr>
          <p:cNvPr id="6" name="Rectangle 5">
            <a:extLst>
              <a:ext uri="{FF2B5EF4-FFF2-40B4-BE49-F238E27FC236}">
                <a16:creationId xmlns:a16="http://schemas.microsoft.com/office/drawing/2014/main" id="{EB91C2F9-7B84-983A-40B0-12B0C69EE11F}"/>
              </a:ext>
            </a:extLst>
          </p:cNvPr>
          <p:cNvSpPr/>
          <p:nvPr/>
        </p:nvSpPr>
        <p:spPr>
          <a:xfrm>
            <a:off x="1419534" y="2967335"/>
            <a:ext cx="6304932" cy="923330"/>
          </a:xfrm>
          <a:prstGeom prst="rect">
            <a:avLst/>
          </a:prstGeom>
          <a:noFill/>
        </p:spPr>
        <p:txBody>
          <a:bodyPr wrap="none" lIns="91440" tIns="45720" rIns="91440" bIns="45720">
            <a:spAutoFit/>
          </a:bodyPr>
          <a:lstStyle/>
          <a:p>
            <a:pPr algn="ctr"/>
            <a:r>
              <a:rPr lang="en-US" sz="5400" b="0" i="1"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BÀI TẬP CHƯƠNG 2</a:t>
            </a:r>
            <a:endPar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extLst>
      <p:ext uri="{BB962C8B-B14F-4D97-AF65-F5344CB8AC3E}">
        <p14:creationId xmlns:p14="http://schemas.microsoft.com/office/powerpoint/2010/main" val="257212265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D095FC-B252-05E8-DEF1-369117CD54E6}"/>
              </a:ext>
            </a:extLst>
          </p:cNvPr>
          <p:cNvSpPr>
            <a:spLocks noGrp="1"/>
          </p:cNvSpPr>
          <p:nvPr>
            <p:ph/>
          </p:nvPr>
        </p:nvSpPr>
        <p:spPr/>
        <p:txBody>
          <a:bodyPr>
            <a:normAutofit/>
          </a:bodyPr>
          <a:lstStyle/>
          <a:p>
            <a:pPr marL="0" indent="0">
              <a:buNone/>
            </a:pPr>
            <a:r>
              <a:rPr lang="en-US" sz="2800" dirty="0" err="1">
                <a:solidFill>
                  <a:srgbClr val="000000"/>
                </a:solidFill>
                <a:effectLst/>
                <a:latin typeface="Times New Roman" panose="02020603050405020304" pitchFamily="18" charset="0"/>
                <a:ea typeface="Times New Roman" panose="02020603050405020304" pitchFamily="18" charset="0"/>
              </a:rPr>
              <a:t>Một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chất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điểm</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khối</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lượng</a:t>
            </a:r>
            <a:r>
              <a:rPr lang="en-US" sz="2800" dirty="0">
                <a:solidFill>
                  <a:srgbClr val="000000"/>
                </a:solidFill>
                <a:effectLst/>
                <a:latin typeface="Times New Roman" panose="02020603050405020304" pitchFamily="18" charset="0"/>
                <a:ea typeface="Times New Roman" panose="02020603050405020304" pitchFamily="18" charset="0"/>
              </a:rPr>
              <a:t> 200g </a:t>
            </a:r>
            <a:r>
              <a:rPr lang="en-US" sz="2800" dirty="0" err="1">
                <a:solidFill>
                  <a:srgbClr val="000000"/>
                </a:solidFill>
                <a:effectLst/>
                <a:latin typeface="Times New Roman" panose="02020603050405020304" pitchFamily="18" charset="0"/>
                <a:ea typeface="Times New Roman" panose="02020603050405020304" pitchFamily="18" charset="0"/>
              </a:rPr>
              <a:t>chuyển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động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chậm</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dần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trên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đường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nằm</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ngang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với</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vận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tốc</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biến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đổi</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theo</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quy</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luật</a:t>
            </a:r>
            <a:r>
              <a:rPr lang="en-US" sz="2800" dirty="0">
                <a:solidFill>
                  <a:srgbClr val="000000"/>
                </a:solidFill>
                <a:effectLst/>
                <a:latin typeface="Times New Roman" panose="02020603050405020304" pitchFamily="18" charset="0"/>
                <a:ea typeface="Times New Roman" panose="02020603050405020304" pitchFamily="18" charset="0"/>
              </a:rPr>
              <a:t> v = 90 – 0,4t² (m/s). </a:t>
            </a:r>
            <a:r>
              <a:rPr lang="en-US" sz="2800" dirty="0" err="1">
                <a:solidFill>
                  <a:srgbClr val="000000"/>
                </a:solidFill>
                <a:effectLst/>
                <a:latin typeface="Times New Roman" panose="02020603050405020304" pitchFamily="18" charset="0"/>
                <a:ea typeface="Times New Roman" panose="02020603050405020304" pitchFamily="18" charset="0"/>
              </a:rPr>
              <a:t>Hợp</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lực</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tác</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dụng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vào</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vật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lúc</a:t>
            </a:r>
            <a:r>
              <a:rPr lang="en-US" sz="2800" dirty="0">
                <a:solidFill>
                  <a:srgbClr val="000000"/>
                </a:solidFill>
                <a:effectLst/>
                <a:latin typeface="Times New Roman" panose="02020603050405020304" pitchFamily="18" charset="0"/>
                <a:ea typeface="Times New Roman" panose="02020603050405020304" pitchFamily="18" charset="0"/>
              </a:rPr>
              <a:t> t = 5s </a:t>
            </a:r>
            <a:r>
              <a:rPr lang="en-US" sz="2800" dirty="0" err="1">
                <a:solidFill>
                  <a:srgbClr val="000000"/>
                </a:solidFill>
                <a:effectLst/>
                <a:latin typeface="Times New Roman" panose="02020603050405020304" pitchFamily="18" charset="0"/>
                <a:ea typeface="Times New Roman" panose="02020603050405020304" pitchFamily="18" charset="0"/>
              </a:rPr>
              <a:t>có</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độ</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lớn</a:t>
            </a:r>
            <a:r>
              <a:rPr lang="en-US" sz="2800" dirty="0">
                <a:solidFill>
                  <a:srgbClr val="000000"/>
                </a:solidFill>
                <a:effectLst/>
                <a:latin typeface="Times New Roman" panose="02020603050405020304" pitchFamily="18" charset="0"/>
                <a:ea typeface="Times New Roman" panose="02020603050405020304" pitchFamily="18" charset="0"/>
              </a:rPr>
              <a:t> :</a:t>
            </a:r>
          </a:p>
          <a:p>
            <a:pPr>
              <a:buAutoNum type="alphaUcPeriod"/>
            </a:pPr>
            <a:r>
              <a:rPr lang="en-US" sz="2800" dirty="0">
                <a:solidFill>
                  <a:srgbClr val="000000"/>
                </a:solidFill>
                <a:latin typeface="Times New Roman" panose="02020603050405020304" pitchFamily="18" charset="0"/>
              </a:rPr>
              <a:t>0,8 N</a:t>
            </a:r>
          </a:p>
          <a:p>
            <a:pPr marL="514350" indent="-514350">
              <a:buAutoNum type="alphaUcPeriod"/>
            </a:pPr>
            <a:r>
              <a:rPr lang="en-US" sz="2800" dirty="0">
                <a:solidFill>
                  <a:srgbClr val="000000"/>
                </a:solidFill>
                <a:latin typeface="Times New Roman" panose="02020603050405020304" pitchFamily="18" charset="0"/>
              </a:rPr>
              <a:t>8 N</a:t>
            </a:r>
          </a:p>
          <a:p>
            <a:pPr marL="514350" indent="-514350">
              <a:buAutoNum type="alphaUcPeriod"/>
            </a:pPr>
            <a:r>
              <a:rPr lang="en-US" sz="2800" dirty="0">
                <a:solidFill>
                  <a:srgbClr val="000000"/>
                </a:solidFill>
                <a:latin typeface="Times New Roman" panose="02020603050405020304" pitchFamily="18" charset="0"/>
              </a:rPr>
              <a:t>80 N</a:t>
            </a:r>
          </a:p>
          <a:p>
            <a:pPr marL="514350" indent="-514350">
              <a:buAutoNum type="alphaUcPeriod"/>
            </a:pPr>
            <a:r>
              <a:rPr lang="en-US" sz="2800" dirty="0">
                <a:solidFill>
                  <a:srgbClr val="000000"/>
                </a:solidFill>
                <a:latin typeface="Times New Roman" panose="02020603050405020304" pitchFamily="18" charset="0"/>
              </a:rPr>
              <a:t>800 N</a:t>
            </a:r>
            <a:endParaRPr lang="en-US" sz="2800" dirty="0"/>
          </a:p>
        </p:txBody>
      </p:sp>
      <p:sp>
        <p:nvSpPr>
          <p:cNvPr id="3" name="Footer Placeholder 2">
            <a:extLst>
              <a:ext uri="{FF2B5EF4-FFF2-40B4-BE49-F238E27FC236}">
                <a16:creationId xmlns:a16="http://schemas.microsoft.com/office/drawing/2014/main" id="{05D66371-7B97-79BB-DA0E-61DD965F7532}"/>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5F82EE2C-51C6-2B1C-25D9-11A370B08155}"/>
              </a:ext>
            </a:extLst>
          </p:cNvPr>
          <p:cNvSpPr>
            <a:spLocks noGrp="1"/>
          </p:cNvSpPr>
          <p:nvPr>
            <p:ph type="sldNum" sz="quarter" idx="12"/>
          </p:nvPr>
        </p:nvSpPr>
        <p:spPr/>
        <p:txBody>
          <a:bodyPr/>
          <a:lstStyle/>
          <a:p>
            <a:pPr>
              <a:defRPr/>
            </a:pPr>
            <a:fld id="{76921531-3DE4-4FE6-8586-93C8C3054BFB}" type="slidenum">
              <a:rPr lang="en-US" smtClean="0"/>
              <a:pPr>
                <a:defRPr/>
              </a:pPr>
              <a:t>71</a:t>
            </a:fld>
            <a:endParaRPr lang="en-US"/>
          </a:p>
        </p:txBody>
      </p:sp>
    </p:spTree>
    <p:extLst>
      <p:ext uri="{BB962C8B-B14F-4D97-AF65-F5344CB8AC3E}">
        <p14:creationId xmlns:p14="http://schemas.microsoft.com/office/powerpoint/2010/main" val="295458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1" end="1"/>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52E265-436A-B85F-160A-3DA98F328C61}"/>
              </a:ext>
            </a:extLst>
          </p:cNvPr>
          <p:cNvSpPr>
            <a:spLocks noGrp="1"/>
          </p:cNvSpPr>
          <p:nvPr>
            <p:ph/>
          </p:nvPr>
        </p:nvSpPr>
        <p:spPr/>
        <p:txBody>
          <a:bodyPr>
            <a:normAutofit/>
          </a:bodyPr>
          <a:lstStyle/>
          <a:p>
            <a:pPr marL="0" indent="0">
              <a:buNone/>
            </a:pPr>
            <a:r>
              <a:rPr lang="en-US" sz="2800" dirty="0" err="1">
                <a:solidFill>
                  <a:srgbClr val="000000"/>
                </a:solidFill>
                <a:effectLst/>
                <a:latin typeface="Times New Roman" panose="02020603050405020304" pitchFamily="18" charset="0"/>
                <a:ea typeface="Times New Roman" panose="02020603050405020304" pitchFamily="18" charset="0"/>
              </a:rPr>
              <a:t>Một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vật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khối</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lượng</a:t>
            </a:r>
            <a:r>
              <a:rPr lang="en-US" sz="2800" dirty="0">
                <a:solidFill>
                  <a:srgbClr val="000000"/>
                </a:solidFill>
                <a:effectLst/>
                <a:latin typeface="Times New Roman" panose="02020603050405020304" pitchFamily="18" charset="0"/>
                <a:ea typeface="Times New Roman" panose="02020603050405020304" pitchFamily="18" charset="0"/>
              </a:rPr>
              <a:t> 1kg, ở </a:t>
            </a:r>
            <a:r>
              <a:rPr lang="en-US" sz="2800" dirty="0" err="1">
                <a:solidFill>
                  <a:srgbClr val="000000"/>
                </a:solidFill>
                <a:effectLst/>
                <a:latin typeface="Times New Roman" panose="02020603050405020304" pitchFamily="18" charset="0"/>
                <a:ea typeface="Times New Roman" panose="02020603050405020304" pitchFamily="18" charset="0"/>
              </a:rPr>
              <a:t>trên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mặt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đất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có</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trọng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lượng</a:t>
            </a:r>
            <a:r>
              <a:rPr lang="en-US" sz="2800" dirty="0">
                <a:solidFill>
                  <a:srgbClr val="000000"/>
                </a:solidFill>
                <a:effectLst/>
                <a:latin typeface="Times New Roman" panose="02020603050405020304" pitchFamily="18" charset="0"/>
                <a:ea typeface="Times New Roman" panose="02020603050405020304" pitchFamily="18" charset="0"/>
              </a:rPr>
              <a:t> 10N. Khi </a:t>
            </a:r>
            <a:r>
              <a:rPr lang="en-US" sz="2800" dirty="0" err="1">
                <a:solidFill>
                  <a:srgbClr val="000000"/>
                </a:solidFill>
                <a:effectLst/>
                <a:latin typeface="Times New Roman" panose="02020603050405020304" pitchFamily="18" charset="0"/>
                <a:ea typeface="Times New Roman" panose="02020603050405020304" pitchFamily="18" charset="0"/>
              </a:rPr>
              <a:t>chuyển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động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tới</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một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điểm</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cách</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tâm</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Trái</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Đất</a:t>
            </a:r>
            <a:r>
              <a:rPr lang="en-US" sz="2800" dirty="0">
                <a:solidFill>
                  <a:srgbClr val="000000"/>
                </a:solidFill>
                <a:effectLst/>
                <a:latin typeface="Times New Roman" panose="02020603050405020304" pitchFamily="18" charset="0"/>
                <a:ea typeface="Times New Roman" panose="02020603050405020304" pitchFamily="18" charset="0"/>
              </a:rPr>
              <a:t> 2R (R </a:t>
            </a:r>
            <a:r>
              <a:rPr lang="en-US" sz="2800" dirty="0" err="1">
                <a:solidFill>
                  <a:srgbClr val="000000"/>
                </a:solidFill>
                <a:effectLst/>
                <a:latin typeface="Times New Roman" panose="02020603050405020304" pitchFamily="18" charset="0"/>
                <a:ea typeface="Times New Roman" panose="02020603050405020304" pitchFamily="18" charset="0"/>
              </a:rPr>
              <a:t>là</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bán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kính</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Trái</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Đất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thì</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nó</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có</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trọng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lượng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là</a:t>
            </a:r>
            <a:r>
              <a:rPr lang="en-US" sz="2800" dirty="0">
                <a:solidFill>
                  <a:srgbClr val="000000"/>
                </a:solidFill>
                <a:effectLst/>
                <a:latin typeface="Times New Roman" panose="02020603050405020304" pitchFamily="18" charset="0"/>
                <a:ea typeface="Times New Roman" panose="02020603050405020304" pitchFamily="18" charset="0"/>
              </a:rPr>
              <a:t>:</a:t>
            </a:r>
          </a:p>
          <a:p>
            <a:pPr>
              <a:buAutoNum type="alphaUcPeriod"/>
            </a:pPr>
            <a:r>
              <a:rPr lang="en-US" sz="2800" dirty="0">
                <a:solidFill>
                  <a:srgbClr val="000000"/>
                </a:solidFill>
                <a:latin typeface="Times New Roman" panose="02020603050405020304" pitchFamily="18" charset="0"/>
              </a:rPr>
              <a:t>10 N</a:t>
            </a:r>
          </a:p>
          <a:p>
            <a:pPr>
              <a:buAutoNum type="alphaUcPeriod"/>
            </a:pPr>
            <a:r>
              <a:rPr lang="en-US" sz="2800" dirty="0">
                <a:solidFill>
                  <a:srgbClr val="000000"/>
                </a:solidFill>
                <a:latin typeface="Times New Roman" panose="02020603050405020304" pitchFamily="18" charset="0"/>
              </a:rPr>
              <a:t>2,5 N</a:t>
            </a:r>
          </a:p>
          <a:p>
            <a:pPr marL="514350" indent="-514350">
              <a:buAutoNum type="alphaUcPeriod"/>
            </a:pPr>
            <a:r>
              <a:rPr lang="en-US" sz="2800" dirty="0">
                <a:solidFill>
                  <a:srgbClr val="000000"/>
                </a:solidFill>
                <a:latin typeface="Times New Roman" panose="02020603050405020304" pitchFamily="18" charset="0"/>
              </a:rPr>
              <a:t>5 N</a:t>
            </a:r>
          </a:p>
          <a:p>
            <a:pPr marL="514350" indent="-514350">
              <a:buAutoNum type="alphaUcPeriod"/>
            </a:pPr>
            <a:r>
              <a:rPr lang="en-US" sz="2800" dirty="0">
                <a:solidFill>
                  <a:srgbClr val="000000"/>
                </a:solidFill>
                <a:latin typeface="Times New Roman" panose="02020603050405020304" pitchFamily="18" charset="0"/>
              </a:rPr>
              <a:t>20 N</a:t>
            </a:r>
            <a:endParaRPr lang="en-US" sz="2800" dirty="0"/>
          </a:p>
        </p:txBody>
      </p:sp>
      <p:sp>
        <p:nvSpPr>
          <p:cNvPr id="3" name="Footer Placeholder 2">
            <a:extLst>
              <a:ext uri="{FF2B5EF4-FFF2-40B4-BE49-F238E27FC236}">
                <a16:creationId xmlns:a16="http://schemas.microsoft.com/office/drawing/2014/main" id="{AEEA742C-0B82-9E18-9233-7F6328431493}"/>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D0F7E5FF-26E9-E325-4626-B9C9749A7F35}"/>
              </a:ext>
            </a:extLst>
          </p:cNvPr>
          <p:cNvSpPr>
            <a:spLocks noGrp="1"/>
          </p:cNvSpPr>
          <p:nvPr>
            <p:ph type="sldNum" sz="quarter" idx="12"/>
          </p:nvPr>
        </p:nvSpPr>
        <p:spPr/>
        <p:txBody>
          <a:bodyPr/>
          <a:lstStyle/>
          <a:p>
            <a:pPr>
              <a:defRPr/>
            </a:pPr>
            <a:fld id="{76921531-3DE4-4FE6-8586-93C8C3054BFB}" type="slidenum">
              <a:rPr lang="en-US" smtClean="0"/>
              <a:pPr>
                <a:defRPr/>
              </a:pPr>
              <a:t>72</a:t>
            </a:fld>
            <a:endParaRPr lang="en-US"/>
          </a:p>
        </p:txBody>
      </p:sp>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C40BAA9A-CB62-841A-8D4F-A34F021B4E21}"/>
                  </a:ext>
                </a:extLst>
              </p:cNvPr>
              <p:cNvSpPr/>
              <p:nvPr/>
            </p:nvSpPr>
            <p:spPr>
              <a:xfrm>
                <a:off x="3505200" y="3505200"/>
                <a:ext cx="4724400" cy="19050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00" b="1" i="1" dirty="0">
                    <a:solidFill>
                      <a:srgbClr val="FF0000"/>
                    </a:solidFill>
                    <a:latin typeface="Times New Roman" pitchFamily="18" charset="0"/>
                    <a:cs typeface="Times New Roman" pitchFamily="18" charset="0"/>
                  </a:rPr>
                  <a:t>g’ = G</a:t>
                </a:r>
                <a14:m>
                  <m:oMath xmlns:m="http://schemas.openxmlformats.org/officeDocument/2006/math">
                    <m:f>
                      <m:fPr>
                        <m:ctrlPr>
                          <a:rPr lang="en-US" sz="2400" b="1" i="1">
                            <a:solidFill>
                              <a:srgbClr val="FF0000"/>
                            </a:solidFill>
                            <a:latin typeface="Cambria Math" panose="02040503050406030204" pitchFamily="18" charset="0"/>
                            <a:cs typeface="Times New Roman" pitchFamily="18" charset="0"/>
                          </a:rPr>
                        </m:ctrlPr>
                      </m:fPr>
                      <m:num>
                        <m:r>
                          <a:rPr lang="en-US" sz="2400" b="1" i="1" smtClean="0">
                            <a:solidFill>
                              <a:srgbClr val="FF0000"/>
                            </a:solidFill>
                            <a:latin typeface="Cambria Math"/>
                            <a:cs typeface="Times New Roman" pitchFamily="18" charset="0"/>
                          </a:rPr>
                          <m:t>𝑴</m:t>
                        </m:r>
                      </m:num>
                      <m:den>
                        <m:r>
                          <a:rPr lang="en-US" sz="2400" b="1" i="1">
                            <a:solidFill>
                              <a:srgbClr val="FF0000"/>
                            </a:solidFill>
                            <a:latin typeface="Cambria Math"/>
                            <a:cs typeface="Times New Roman" pitchFamily="18" charset="0"/>
                          </a:rPr>
                          <m:t>(</m:t>
                        </m:r>
                        <m:r>
                          <a:rPr lang="en-US" sz="2400" b="1" i="1">
                            <a:solidFill>
                              <a:srgbClr val="FF0000"/>
                            </a:solidFill>
                            <a:latin typeface="Cambria Math"/>
                            <a:cs typeface="Times New Roman" pitchFamily="18" charset="0"/>
                          </a:rPr>
                          <m:t>𝑹</m:t>
                        </m:r>
                        <m:r>
                          <a:rPr lang="en-US" sz="2400" b="1" i="1">
                            <a:solidFill>
                              <a:srgbClr val="FF0000"/>
                            </a:solidFill>
                            <a:latin typeface="Cambria Math"/>
                            <a:cs typeface="Times New Roman" pitchFamily="18" charset="0"/>
                          </a:rPr>
                          <m:t>+</m:t>
                        </m:r>
                        <m:r>
                          <a:rPr lang="en-US" sz="2400" b="1" i="1">
                            <a:solidFill>
                              <a:srgbClr val="FF0000"/>
                            </a:solidFill>
                            <a:latin typeface="Cambria Math"/>
                            <a:cs typeface="Times New Roman" pitchFamily="18" charset="0"/>
                          </a:rPr>
                          <m:t>𝒉</m:t>
                        </m:r>
                        <m:r>
                          <a:rPr lang="en-US" sz="2400" b="1" i="1">
                            <a:solidFill>
                              <a:srgbClr val="FF0000"/>
                            </a:solidFill>
                            <a:latin typeface="Cambria Math"/>
                            <a:cs typeface="Times New Roman" pitchFamily="18" charset="0"/>
                          </a:rPr>
                          <m:t>)</m:t>
                        </m:r>
                        <m:r>
                          <a:rPr lang="en-US" sz="2400" b="1" i="1">
                            <a:solidFill>
                              <a:srgbClr val="FF0000"/>
                            </a:solidFill>
                            <a:latin typeface="Cambria Math"/>
                            <a:cs typeface="Times New Roman" pitchFamily="18" charset="0"/>
                          </a:rPr>
                          <m:t>²</m:t>
                        </m:r>
                      </m:den>
                    </m:f>
                  </m:oMath>
                </a14:m>
                <a:r>
                  <a:rPr lang="en-US" sz="2400" b="1" dirty="0">
                    <a:solidFill>
                      <a:srgbClr val="FF0000"/>
                    </a:solidFill>
                  </a:rPr>
                  <a:t>=</a:t>
                </a:r>
                <a:r>
                  <a:rPr lang="en-US" sz="2400" b="1" i="1" dirty="0">
                    <a:solidFill>
                      <a:srgbClr val="FF0000"/>
                    </a:solidFill>
                    <a:latin typeface="Times New Roman" pitchFamily="18" charset="0"/>
                    <a:cs typeface="Times New Roman" pitchFamily="18" charset="0"/>
                  </a:rPr>
                  <a:t> G</a:t>
                </a:r>
                <a14:m>
                  <m:oMath xmlns:m="http://schemas.openxmlformats.org/officeDocument/2006/math">
                    <m:f>
                      <m:fPr>
                        <m:ctrlPr>
                          <a:rPr lang="en-US" sz="2400" b="1" i="1">
                            <a:solidFill>
                              <a:srgbClr val="FF0000"/>
                            </a:solidFill>
                            <a:latin typeface="Cambria Math" panose="02040503050406030204" pitchFamily="18" charset="0"/>
                            <a:cs typeface="Times New Roman" pitchFamily="18" charset="0"/>
                          </a:rPr>
                        </m:ctrlPr>
                      </m:fPr>
                      <m:num>
                        <m:r>
                          <a:rPr lang="en-US" sz="2400" b="1" i="1">
                            <a:solidFill>
                              <a:srgbClr val="FF0000"/>
                            </a:solidFill>
                            <a:latin typeface="Cambria Math"/>
                            <a:cs typeface="Times New Roman" pitchFamily="18" charset="0"/>
                          </a:rPr>
                          <m:t>𝑴</m:t>
                        </m:r>
                      </m:num>
                      <m:den>
                        <m:r>
                          <a:rPr lang="en-US" sz="2400" b="1" i="1" smtClean="0">
                            <a:solidFill>
                              <a:srgbClr val="FF0000"/>
                            </a:solidFill>
                            <a:latin typeface="Cambria Math" panose="02040503050406030204" pitchFamily="18" charset="0"/>
                            <a:cs typeface="Times New Roman" pitchFamily="18" charset="0"/>
                          </a:rPr>
                          <m:t>𝟒</m:t>
                        </m:r>
                        <m:r>
                          <a:rPr lang="en-US" sz="2400" b="1" i="1">
                            <a:solidFill>
                              <a:srgbClr val="FF0000"/>
                            </a:solidFill>
                            <a:latin typeface="Cambria Math"/>
                            <a:cs typeface="Times New Roman" pitchFamily="18" charset="0"/>
                          </a:rPr>
                          <m:t>𝑹</m:t>
                        </m:r>
                        <m:r>
                          <a:rPr lang="en-US" sz="2400" b="1" i="1">
                            <a:solidFill>
                              <a:srgbClr val="FF0000"/>
                            </a:solidFill>
                            <a:latin typeface="Cambria Math"/>
                            <a:cs typeface="Times New Roman" pitchFamily="18" charset="0"/>
                          </a:rPr>
                          <m:t>²</m:t>
                        </m:r>
                      </m:den>
                    </m:f>
                  </m:oMath>
                </a14:m>
                <a:r>
                  <a:rPr lang="en-US" sz="2400" b="1" dirty="0">
                    <a:solidFill>
                      <a:srgbClr val="FF0000"/>
                    </a:solidFill>
                  </a:rPr>
                  <a:t> = </a:t>
                </a:r>
                <a14:m>
                  <m:oMath xmlns:m="http://schemas.openxmlformats.org/officeDocument/2006/math">
                    <m:f>
                      <m:fPr>
                        <m:ctrlPr>
                          <a:rPr lang="en-US" sz="2400" b="1" i="1" dirty="0" smtClean="0">
                            <a:solidFill>
                              <a:srgbClr val="FF0000"/>
                            </a:solidFill>
                            <a:latin typeface="Cambria Math" panose="02040503050406030204" pitchFamily="18" charset="0"/>
                          </a:rPr>
                        </m:ctrlPr>
                      </m:fPr>
                      <m:num>
                        <m:r>
                          <a:rPr lang="en-US" sz="2400" b="1" i="1" dirty="0" smtClean="0">
                            <a:solidFill>
                              <a:srgbClr val="FF0000"/>
                            </a:solidFill>
                            <a:latin typeface="Cambria Math" panose="02040503050406030204" pitchFamily="18" charset="0"/>
                          </a:rPr>
                          <m:t>𝒈</m:t>
                        </m:r>
                      </m:num>
                      <m:den>
                        <m:r>
                          <a:rPr lang="en-US" sz="2400" b="1" i="1" dirty="0" smtClean="0">
                            <a:solidFill>
                              <a:srgbClr val="FF0000"/>
                            </a:solidFill>
                            <a:latin typeface="Cambria Math" panose="02040503050406030204" pitchFamily="18" charset="0"/>
                          </a:rPr>
                          <m:t>𝟒</m:t>
                        </m:r>
                      </m:den>
                    </m:f>
                  </m:oMath>
                </a14:m>
                <a:endParaRPr lang="en-US" sz="2400" b="1" dirty="0"/>
              </a:p>
            </p:txBody>
          </p:sp>
        </mc:Choice>
        <mc:Fallback xmlns="">
          <p:sp>
            <p:nvSpPr>
              <p:cNvPr id="5" name="Oval 4">
                <a:extLst>
                  <a:ext uri="{FF2B5EF4-FFF2-40B4-BE49-F238E27FC236}">
                    <a16:creationId xmlns:a16="http://schemas.microsoft.com/office/drawing/2014/main" id="{C40BAA9A-CB62-841A-8D4F-A34F021B4E21}"/>
                  </a:ext>
                </a:extLst>
              </p:cNvPr>
              <p:cNvSpPr>
                <a:spLocks noRot="1" noChangeAspect="1" noMove="1" noResize="1" noEditPoints="1" noAdjustHandles="1" noChangeArrowheads="1" noChangeShapeType="1" noTextEdit="1"/>
              </p:cNvSpPr>
              <p:nvPr/>
            </p:nvSpPr>
            <p:spPr>
              <a:xfrm>
                <a:off x="3505200" y="3505200"/>
                <a:ext cx="4724400" cy="1905000"/>
              </a:xfrm>
              <a:prstGeom prst="ellipse">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27930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2" end="2"/>
                                            </p:txEl>
                                          </p:spTgt>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circle(in)">
                                      <p:cBhvr>
                                        <p:cTn id="11"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64DD1A-0EA2-50C4-549B-3571C3A1BB10}"/>
              </a:ext>
            </a:extLst>
          </p:cNvPr>
          <p:cNvSpPr>
            <a:spLocks noGrp="1"/>
          </p:cNvSpPr>
          <p:nvPr>
            <p:ph/>
          </p:nvPr>
        </p:nvSpPr>
        <p:spPr/>
        <p:txBody>
          <a:bodyPr>
            <a:normAutofit/>
          </a:bodyPr>
          <a:lstStyle/>
          <a:p>
            <a:pPr marL="0" indent="0">
              <a:buNone/>
            </a:pPr>
            <a:r>
              <a:rPr lang="en-US" sz="2800" dirty="0" err="1">
                <a:solidFill>
                  <a:srgbClr val="000000"/>
                </a:solidFill>
                <a:effectLst/>
                <a:latin typeface="Times New Roman" panose="02020603050405020304" pitchFamily="18" charset="0"/>
                <a:ea typeface="Times New Roman" panose="02020603050405020304" pitchFamily="18" charset="0"/>
              </a:rPr>
              <a:t>Một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xe</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khối</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lượng</a:t>
            </a:r>
            <a:r>
              <a:rPr lang="en-US" sz="2800" dirty="0">
                <a:solidFill>
                  <a:srgbClr val="000000"/>
                </a:solidFill>
                <a:effectLst/>
                <a:latin typeface="Times New Roman" panose="02020603050405020304" pitchFamily="18" charset="0"/>
                <a:ea typeface="Times New Roman" panose="02020603050405020304" pitchFamily="18" charset="0"/>
              </a:rPr>
              <a:t> m = 3 </a:t>
            </a:r>
            <a:r>
              <a:rPr lang="en-US" sz="2800" dirty="0" err="1">
                <a:solidFill>
                  <a:srgbClr val="000000"/>
                </a:solidFill>
                <a:effectLst/>
                <a:latin typeface="Times New Roman" panose="02020603050405020304" pitchFamily="18" charset="0"/>
                <a:ea typeface="Times New Roman" panose="02020603050405020304" pitchFamily="18" charset="0"/>
              </a:rPr>
              <a:t>tấn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tăng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tốc</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trên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đoạn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đường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dài</a:t>
            </a:r>
            <a:r>
              <a:rPr lang="en-US" sz="2800" dirty="0">
                <a:solidFill>
                  <a:srgbClr val="000000"/>
                </a:solidFill>
                <a:effectLst/>
                <a:latin typeface="Times New Roman" panose="02020603050405020304" pitchFamily="18" charset="0"/>
                <a:ea typeface="Times New Roman" panose="02020603050405020304" pitchFamily="18" charset="0"/>
              </a:rPr>
              <a:t> 100 m, </a:t>
            </a:r>
            <a:r>
              <a:rPr lang="en-US" sz="2800" dirty="0" err="1">
                <a:solidFill>
                  <a:srgbClr val="000000"/>
                </a:solidFill>
                <a:effectLst/>
                <a:latin typeface="Times New Roman" panose="02020603050405020304" pitchFamily="18" charset="0"/>
                <a:ea typeface="Times New Roman" panose="02020603050405020304" pitchFamily="18" charset="0"/>
              </a:rPr>
              <a:t>vận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tốc</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của</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xe</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tăng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từ</a:t>
            </a:r>
            <a:r>
              <a:rPr lang="en-US" sz="2800" dirty="0">
                <a:solidFill>
                  <a:srgbClr val="000000"/>
                </a:solidFill>
                <a:effectLst/>
                <a:latin typeface="Times New Roman" panose="02020603050405020304" pitchFamily="18" charset="0"/>
                <a:ea typeface="Times New Roman" panose="02020603050405020304" pitchFamily="18" charset="0"/>
              </a:rPr>
              <a:t> 15 m/s </a:t>
            </a:r>
            <a:r>
              <a:rPr lang="en-US" sz="2800" dirty="0" err="1">
                <a:solidFill>
                  <a:srgbClr val="000000"/>
                </a:solidFill>
                <a:effectLst/>
                <a:latin typeface="Times New Roman" panose="02020603050405020304" pitchFamily="18" charset="0"/>
                <a:ea typeface="Times New Roman" panose="02020603050405020304" pitchFamily="18" charset="0"/>
              </a:rPr>
              <a:t>đến</a:t>
            </a:r>
            <a:r>
              <a:rPr lang="en-US" sz="2800" dirty="0">
                <a:solidFill>
                  <a:srgbClr val="000000"/>
                </a:solidFill>
                <a:effectLst/>
                <a:latin typeface="Times New Roman" panose="02020603050405020304" pitchFamily="18" charset="0"/>
                <a:ea typeface="Times New Roman" panose="02020603050405020304" pitchFamily="18" charset="0"/>
              </a:rPr>
              <a:t> 20 m/s. </a:t>
            </a:r>
            <a:r>
              <a:rPr lang="en-US" sz="2800" dirty="0" err="1">
                <a:solidFill>
                  <a:srgbClr val="000000"/>
                </a:solidFill>
                <a:effectLst/>
                <a:latin typeface="Times New Roman" panose="02020603050405020304" pitchFamily="18" charset="0"/>
                <a:ea typeface="Times New Roman" panose="02020603050405020304" pitchFamily="18" charset="0"/>
              </a:rPr>
              <a:t>Tính</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lực</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phát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động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của</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xe</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biết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lực</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cản</a:t>
            </a:r>
            <a:r>
              <a:rPr lang="en-US" sz="2800" dirty="0">
                <a:solidFill>
                  <a:srgbClr val="000000"/>
                </a:solidFill>
                <a:effectLst/>
                <a:latin typeface="Times New Roman" panose="02020603050405020304" pitchFamily="18" charset="0"/>
                <a:ea typeface="Times New Roman" panose="02020603050405020304" pitchFamily="18" charset="0"/>
              </a:rPr>
              <a:t> Fc = 375 N</a:t>
            </a:r>
          </a:p>
          <a:p>
            <a:pPr>
              <a:buAutoNum type="alphaUcPeriod"/>
            </a:pPr>
            <a:r>
              <a:rPr lang="en-US" sz="2800" dirty="0">
                <a:solidFill>
                  <a:srgbClr val="000000"/>
                </a:solidFill>
                <a:latin typeface="Times New Roman" panose="02020603050405020304" pitchFamily="18" charset="0"/>
              </a:rPr>
              <a:t> 3200 N</a:t>
            </a:r>
          </a:p>
          <a:p>
            <a:pPr>
              <a:buAutoNum type="alphaUcPeriod"/>
            </a:pPr>
            <a:r>
              <a:rPr lang="en-US" sz="2800" dirty="0">
                <a:solidFill>
                  <a:srgbClr val="000000"/>
                </a:solidFill>
                <a:latin typeface="Times New Roman" panose="02020603050405020304" pitchFamily="18" charset="0"/>
              </a:rPr>
              <a:t> 3000 N</a:t>
            </a:r>
          </a:p>
          <a:p>
            <a:pPr marL="514350" indent="-514350">
              <a:buAutoNum type="alphaUcPeriod"/>
            </a:pPr>
            <a:r>
              <a:rPr lang="en-US" sz="2800" dirty="0">
                <a:solidFill>
                  <a:srgbClr val="000000"/>
                </a:solidFill>
                <a:latin typeface="Times New Roman" panose="02020603050405020304" pitchFamily="18" charset="0"/>
              </a:rPr>
              <a:t>2800 N</a:t>
            </a:r>
          </a:p>
          <a:p>
            <a:pPr marL="514350" indent="-514350">
              <a:buAutoNum type="alphaUcPeriod"/>
            </a:pPr>
            <a:r>
              <a:rPr lang="en-US" sz="2800" dirty="0">
                <a:solidFill>
                  <a:srgbClr val="000000"/>
                </a:solidFill>
                <a:latin typeface="Times New Roman" panose="02020603050405020304" pitchFamily="18" charset="0"/>
              </a:rPr>
              <a:t>2000 N</a:t>
            </a:r>
            <a:endParaRPr lang="en-US" sz="2800" dirty="0"/>
          </a:p>
        </p:txBody>
      </p:sp>
      <p:sp>
        <p:nvSpPr>
          <p:cNvPr id="3" name="Footer Placeholder 2">
            <a:extLst>
              <a:ext uri="{FF2B5EF4-FFF2-40B4-BE49-F238E27FC236}">
                <a16:creationId xmlns:a16="http://schemas.microsoft.com/office/drawing/2014/main" id="{1A5E0B9E-02DA-6428-0B46-4B0DF647213C}"/>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4A4AC951-9866-8613-7C02-9BEA834FD77E}"/>
              </a:ext>
            </a:extLst>
          </p:cNvPr>
          <p:cNvSpPr>
            <a:spLocks noGrp="1"/>
          </p:cNvSpPr>
          <p:nvPr>
            <p:ph type="sldNum" sz="quarter" idx="12"/>
          </p:nvPr>
        </p:nvSpPr>
        <p:spPr/>
        <p:txBody>
          <a:bodyPr/>
          <a:lstStyle/>
          <a:p>
            <a:pPr>
              <a:defRPr/>
            </a:pPr>
            <a:fld id="{76921531-3DE4-4FE6-8586-93C8C3054BFB}" type="slidenum">
              <a:rPr lang="en-US" smtClean="0"/>
              <a:pPr>
                <a:defRPr/>
              </a:pPr>
              <a:t>73</a:t>
            </a:fld>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162FC1B8-F2B0-D258-6241-95C1EF6C58FD}"/>
                  </a:ext>
                </a:extLst>
              </p:cNvPr>
              <p:cNvSpPr/>
              <p:nvPr/>
            </p:nvSpPr>
            <p:spPr>
              <a:xfrm>
                <a:off x="3352800" y="2667000"/>
                <a:ext cx="4648200" cy="2362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 = …</a:t>
                </a:r>
              </a:p>
              <a:p>
                <a:pPr algn="ctr"/>
                <a:r>
                  <a:rPr lang="en-US" dirty="0"/>
                  <a:t>F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𝑐</m:t>
                        </m:r>
                      </m:sub>
                    </m:sSub>
                  </m:oMath>
                </a14:m>
                <a:r>
                  <a:rPr lang="en-US" dirty="0"/>
                  <a:t> = ma</a:t>
                </a:r>
              </a:p>
            </p:txBody>
          </p:sp>
        </mc:Choice>
        <mc:Fallback xmlns="">
          <p:sp>
            <p:nvSpPr>
              <p:cNvPr id="5" name="Rectangle 4">
                <a:extLst>
                  <a:ext uri="{FF2B5EF4-FFF2-40B4-BE49-F238E27FC236}">
                    <a16:creationId xmlns:a16="http://schemas.microsoft.com/office/drawing/2014/main" id="{162FC1B8-F2B0-D258-6241-95C1EF6C58FD}"/>
                  </a:ext>
                </a:extLst>
              </p:cNvPr>
              <p:cNvSpPr>
                <a:spLocks noRot="1" noChangeAspect="1" noMove="1" noResize="1" noEditPoints="1" noAdjustHandles="1" noChangeArrowheads="1" noChangeShapeType="1" noTextEdit="1"/>
              </p:cNvSpPr>
              <p:nvPr/>
            </p:nvSpPr>
            <p:spPr>
              <a:xfrm>
                <a:off x="3352800" y="2667000"/>
                <a:ext cx="4648200" cy="2362200"/>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73421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marL="0" indent="0">
              <a:buFont typeface="Arial" charset="0"/>
              <a:buNone/>
              <a:defRPr/>
            </a:pPr>
            <a:r>
              <a:rPr lang="en-US"/>
              <a:t>Một hòn đá khối lượng 2,5kg rơi từ trên cao xuống đất. Sau 4 giây, động lượng của nó là (cho g = 9,8 m/s</a:t>
            </a:r>
            <a:r>
              <a:rPr lang="en-US" baseline="30000"/>
              <a:t>2</a:t>
            </a:r>
            <a:r>
              <a:rPr lang="en-US"/>
              <a:t>)</a:t>
            </a:r>
          </a:p>
          <a:p>
            <a:pPr marL="0" indent="0">
              <a:buFont typeface="Arial" charset="0"/>
              <a:buNone/>
              <a:defRPr/>
            </a:pPr>
            <a:r>
              <a:rPr lang="en-US"/>
              <a:t>A.  24 kg.m/s</a:t>
            </a:r>
          </a:p>
          <a:p>
            <a:pPr marL="0" indent="0">
              <a:buFont typeface="Arial" charset="0"/>
              <a:buNone/>
              <a:defRPr/>
            </a:pPr>
            <a:r>
              <a:rPr lang="en-US"/>
              <a:t>B.  39 kg.m/s</a:t>
            </a:r>
          </a:p>
          <a:p>
            <a:pPr marL="0" indent="0">
              <a:buFont typeface="Arial" charset="0"/>
              <a:buNone/>
              <a:defRPr/>
            </a:pPr>
            <a:r>
              <a:rPr lang="en-US"/>
              <a:t>C.  78 kg.m/s</a:t>
            </a:r>
          </a:p>
          <a:p>
            <a:pPr marL="0" indent="0">
              <a:buFont typeface="Arial" charset="0"/>
              <a:buNone/>
              <a:defRPr/>
            </a:pPr>
            <a:r>
              <a:rPr lang="en-US"/>
              <a:t>D.  98 kg.m/s</a:t>
            </a:r>
          </a:p>
          <a:p>
            <a:pPr>
              <a:defRPr/>
            </a:pPr>
            <a:endParaRPr lang="en-US"/>
          </a:p>
        </p:txBody>
      </p:sp>
      <p:sp>
        <p:nvSpPr>
          <p:cNvPr id="3" name="Footer Placeholder 2">
            <a:extLst>
              <a:ext uri="{FF2B5EF4-FFF2-40B4-BE49-F238E27FC236}">
                <a16:creationId xmlns:a16="http://schemas.microsoft.com/office/drawing/2014/main" id="{69B4E73D-76F7-B32E-9C60-A9F86DE543FF}"/>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02D6A1DC-34E7-E2E8-AEA9-470FCC07CCF7}"/>
              </a:ext>
            </a:extLst>
          </p:cNvPr>
          <p:cNvSpPr>
            <a:spLocks noGrp="1"/>
          </p:cNvSpPr>
          <p:nvPr>
            <p:ph type="sldNum" sz="quarter" idx="12"/>
          </p:nvPr>
        </p:nvSpPr>
        <p:spPr/>
        <p:txBody>
          <a:bodyPr/>
          <a:lstStyle/>
          <a:p>
            <a:pPr>
              <a:defRPr/>
            </a:pPr>
            <a:fld id="{76921531-3DE4-4FE6-8586-93C8C3054BFB}" type="slidenum">
              <a:rPr lang="en-US" smtClean="0"/>
              <a:pPr>
                <a:defRPr/>
              </a:pPr>
              <a:t>74</a:t>
            </a:fld>
            <a:endParaRPr lang="en-US"/>
          </a:p>
        </p:txBody>
      </p:sp>
    </p:spTree>
    <p:extLst>
      <p:ext uri="{BB962C8B-B14F-4D97-AF65-F5344CB8AC3E}">
        <p14:creationId xmlns:p14="http://schemas.microsoft.com/office/powerpoint/2010/main" val="4899902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p:nvPr>
        </p:nvSpPr>
        <p:spPr/>
        <p:txBody>
          <a:bodyPr/>
          <a:lstStyle/>
          <a:p>
            <a:pPr marL="0" indent="0">
              <a:buFont typeface="Arial" charset="0"/>
              <a:buNone/>
              <a:defRPr/>
            </a:pPr>
            <a:r>
              <a:rPr lang="en-US" dirty="0" err="1"/>
              <a:t>Một</a:t>
            </a:r>
            <a:r>
              <a:rPr lang="en-US" dirty="0"/>
              <a:t> </a:t>
            </a:r>
            <a:r>
              <a:rPr lang="en-US" dirty="0" err="1"/>
              <a:t>xe</a:t>
            </a:r>
            <a:r>
              <a:rPr lang="en-US" dirty="0"/>
              <a:t> </a:t>
            </a:r>
            <a:r>
              <a:rPr lang="en-US" dirty="0" err="1"/>
              <a:t>chở</a:t>
            </a:r>
            <a:r>
              <a:rPr lang="en-US" dirty="0"/>
              <a:t> </a:t>
            </a:r>
            <a:r>
              <a:rPr lang="en-US" dirty="0" err="1"/>
              <a:t>cát</a:t>
            </a:r>
            <a:r>
              <a:rPr lang="en-US" dirty="0"/>
              <a:t> </a:t>
            </a:r>
            <a:r>
              <a:rPr lang="en-US" dirty="0" err="1"/>
              <a:t>có</a:t>
            </a:r>
            <a:r>
              <a:rPr lang="en-US" dirty="0"/>
              <a:t> </a:t>
            </a:r>
            <a:r>
              <a:rPr lang="en-US" dirty="0" err="1"/>
              <a:t>khối</a:t>
            </a:r>
            <a:r>
              <a:rPr lang="en-US" dirty="0"/>
              <a:t> </a:t>
            </a:r>
            <a:r>
              <a:rPr lang="en-US" dirty="0" err="1"/>
              <a:t>lượng</a:t>
            </a:r>
            <a:r>
              <a:rPr lang="en-US" dirty="0"/>
              <a:t> M = 10kg </a:t>
            </a:r>
            <a:r>
              <a:rPr lang="en-US" dirty="0" err="1"/>
              <a:t>chuyển</a:t>
            </a:r>
            <a:r>
              <a:rPr lang="en-US" dirty="0"/>
              <a:t> </a:t>
            </a:r>
            <a:r>
              <a:rPr lang="en-US" dirty="0" err="1"/>
              <a:t>động</a:t>
            </a:r>
            <a:r>
              <a:rPr lang="en-US" dirty="0"/>
              <a:t> </a:t>
            </a:r>
            <a:r>
              <a:rPr lang="en-US" dirty="0" err="1"/>
              <a:t>không</a:t>
            </a:r>
            <a:r>
              <a:rPr lang="en-US" dirty="0"/>
              <a:t> ma </a:t>
            </a:r>
            <a:r>
              <a:rPr lang="en-US" dirty="0" err="1"/>
              <a:t>sát</a:t>
            </a:r>
            <a:r>
              <a:rPr lang="en-US" dirty="0"/>
              <a:t> </a:t>
            </a:r>
            <a:r>
              <a:rPr lang="en-US" dirty="0" err="1"/>
              <a:t>với</a:t>
            </a:r>
            <a:r>
              <a:rPr lang="en-US" dirty="0"/>
              <a:t> </a:t>
            </a:r>
            <a:r>
              <a:rPr lang="en-US" dirty="0" err="1"/>
              <a:t>vận</a:t>
            </a:r>
            <a:r>
              <a:rPr lang="en-US" dirty="0"/>
              <a:t> </a:t>
            </a:r>
            <a:r>
              <a:rPr lang="en-US" dirty="0" err="1"/>
              <a:t>tốc</a:t>
            </a:r>
            <a:r>
              <a:rPr lang="en-US" dirty="0"/>
              <a:t> V = 1m/s </a:t>
            </a:r>
            <a:r>
              <a:rPr lang="en-US" dirty="0" err="1"/>
              <a:t>trên</a:t>
            </a:r>
            <a:r>
              <a:rPr lang="en-US" dirty="0"/>
              <a:t> </a:t>
            </a:r>
            <a:r>
              <a:rPr lang="en-US" dirty="0" err="1"/>
              <a:t>mặt</a:t>
            </a:r>
            <a:r>
              <a:rPr lang="en-US" dirty="0"/>
              <a:t> </a:t>
            </a:r>
            <a:r>
              <a:rPr lang="en-US" dirty="0" err="1"/>
              <a:t>đường</a:t>
            </a:r>
            <a:r>
              <a:rPr lang="en-US" dirty="0"/>
              <a:t> </a:t>
            </a:r>
            <a:r>
              <a:rPr lang="en-US" dirty="0" err="1"/>
              <a:t>nằm</a:t>
            </a:r>
            <a:r>
              <a:rPr lang="en-US" dirty="0"/>
              <a:t> </a:t>
            </a:r>
            <a:r>
              <a:rPr lang="en-US" dirty="0" err="1"/>
              <a:t>ngang</a:t>
            </a:r>
            <a:r>
              <a:rPr lang="en-US" dirty="0"/>
              <a:t>. </a:t>
            </a:r>
            <a:r>
              <a:rPr lang="en-US" dirty="0" err="1"/>
              <a:t>Một</a:t>
            </a:r>
            <a:r>
              <a:rPr lang="en-US" dirty="0"/>
              <a:t> </a:t>
            </a:r>
            <a:r>
              <a:rPr lang="en-US" dirty="0" err="1"/>
              <a:t>quả</a:t>
            </a:r>
            <a:r>
              <a:rPr lang="en-US" dirty="0"/>
              <a:t> </a:t>
            </a:r>
            <a:r>
              <a:rPr lang="en-US" dirty="0" err="1"/>
              <a:t>cầu</a:t>
            </a:r>
            <a:r>
              <a:rPr lang="en-US" dirty="0"/>
              <a:t> </a:t>
            </a:r>
            <a:r>
              <a:rPr lang="en-US" dirty="0" err="1"/>
              <a:t>khối</a:t>
            </a:r>
            <a:r>
              <a:rPr lang="en-US" dirty="0"/>
              <a:t> </a:t>
            </a:r>
            <a:r>
              <a:rPr lang="en-US" dirty="0" err="1"/>
              <a:t>lượng</a:t>
            </a:r>
            <a:r>
              <a:rPr lang="en-US" dirty="0"/>
              <a:t> m = 2kg bay </a:t>
            </a:r>
            <a:r>
              <a:rPr lang="en-US" dirty="0" err="1"/>
              <a:t>theo</a:t>
            </a:r>
            <a:r>
              <a:rPr lang="en-US" dirty="0"/>
              <a:t> </a:t>
            </a:r>
            <a:r>
              <a:rPr lang="en-US" dirty="0" err="1"/>
              <a:t>phương</a:t>
            </a:r>
            <a:r>
              <a:rPr lang="en-US" dirty="0"/>
              <a:t> </a:t>
            </a:r>
            <a:r>
              <a:rPr lang="en-US" dirty="0" err="1"/>
              <a:t>ngang</a:t>
            </a:r>
            <a:r>
              <a:rPr lang="en-US" dirty="0"/>
              <a:t> </a:t>
            </a:r>
            <a:r>
              <a:rPr lang="en-US" dirty="0" err="1"/>
              <a:t>ngược</a:t>
            </a:r>
            <a:r>
              <a:rPr lang="en-US" dirty="0"/>
              <a:t> </a:t>
            </a:r>
            <a:r>
              <a:rPr lang="en-US" dirty="0" err="1"/>
              <a:t>chiều</a:t>
            </a:r>
            <a:r>
              <a:rPr lang="en-US" dirty="0"/>
              <a:t> </a:t>
            </a:r>
            <a:r>
              <a:rPr lang="en-US" dirty="0" err="1"/>
              <a:t>chuyển</a:t>
            </a:r>
            <a:r>
              <a:rPr lang="en-US" dirty="0"/>
              <a:t> </a:t>
            </a:r>
            <a:r>
              <a:rPr lang="en-US" dirty="0" err="1"/>
              <a:t>động</a:t>
            </a:r>
            <a:r>
              <a:rPr lang="en-US" dirty="0"/>
              <a:t> </a:t>
            </a:r>
            <a:r>
              <a:rPr lang="en-US" dirty="0" err="1"/>
              <a:t>của</a:t>
            </a:r>
            <a:r>
              <a:rPr lang="en-US" dirty="0"/>
              <a:t> </a:t>
            </a:r>
            <a:r>
              <a:rPr lang="en-US" dirty="0" err="1"/>
              <a:t>xe</a:t>
            </a:r>
            <a:r>
              <a:rPr lang="en-US" dirty="0"/>
              <a:t> </a:t>
            </a:r>
            <a:r>
              <a:rPr lang="en-US" dirty="0" err="1"/>
              <a:t>với</a:t>
            </a:r>
            <a:r>
              <a:rPr lang="en-US" dirty="0"/>
              <a:t> </a:t>
            </a:r>
            <a:r>
              <a:rPr lang="en-US" dirty="0" err="1"/>
              <a:t>vận</a:t>
            </a:r>
            <a:r>
              <a:rPr lang="en-US" dirty="0"/>
              <a:t> </a:t>
            </a:r>
            <a:r>
              <a:rPr lang="en-US" dirty="0" err="1"/>
              <a:t>tốc</a:t>
            </a:r>
            <a:r>
              <a:rPr lang="en-US" dirty="0"/>
              <a:t> v = 7m/s. </a:t>
            </a:r>
            <a:r>
              <a:rPr lang="en-US" dirty="0" err="1"/>
              <a:t>Sau</a:t>
            </a:r>
            <a:r>
              <a:rPr lang="en-US" dirty="0"/>
              <a:t> </a:t>
            </a:r>
            <a:r>
              <a:rPr lang="en-US" dirty="0" err="1"/>
              <a:t>khi</a:t>
            </a:r>
            <a:r>
              <a:rPr lang="en-US" dirty="0"/>
              <a:t> </a:t>
            </a:r>
            <a:r>
              <a:rPr lang="en-US" dirty="0" err="1"/>
              <a:t>ngập</a:t>
            </a:r>
            <a:r>
              <a:rPr lang="en-US" dirty="0"/>
              <a:t> </a:t>
            </a:r>
            <a:r>
              <a:rPr lang="en-US" dirty="0" err="1"/>
              <a:t>vào</a:t>
            </a:r>
            <a:r>
              <a:rPr lang="en-US" dirty="0"/>
              <a:t> </a:t>
            </a:r>
            <a:r>
              <a:rPr lang="en-US" dirty="0" err="1"/>
              <a:t>trong</a:t>
            </a:r>
            <a:r>
              <a:rPr lang="en-US" dirty="0"/>
              <a:t> </a:t>
            </a:r>
            <a:r>
              <a:rPr lang="en-US" dirty="0" err="1"/>
              <a:t>cát</a:t>
            </a:r>
            <a:r>
              <a:rPr lang="en-US" dirty="0"/>
              <a:t>, </a:t>
            </a:r>
            <a:r>
              <a:rPr lang="en-US" dirty="0" err="1"/>
              <a:t>xe</a:t>
            </a:r>
            <a:r>
              <a:rPr lang="en-US" dirty="0"/>
              <a:t> </a:t>
            </a:r>
            <a:r>
              <a:rPr lang="en-US" dirty="0" err="1"/>
              <a:t>cát</a:t>
            </a:r>
            <a:r>
              <a:rPr lang="en-US" dirty="0"/>
              <a:t> </a:t>
            </a:r>
            <a:r>
              <a:rPr lang="en-US" dirty="0" err="1"/>
              <a:t>như</a:t>
            </a:r>
            <a:r>
              <a:rPr lang="en-US" dirty="0"/>
              <a:t> </a:t>
            </a:r>
            <a:r>
              <a:rPr lang="en-US" dirty="0" err="1"/>
              <a:t>thế</a:t>
            </a:r>
            <a:r>
              <a:rPr lang="en-US" dirty="0"/>
              <a:t> </a:t>
            </a:r>
            <a:r>
              <a:rPr lang="en-US" dirty="0" err="1"/>
              <a:t>nào</a:t>
            </a:r>
            <a:r>
              <a:rPr lang="en-US" dirty="0"/>
              <a:t>:</a:t>
            </a:r>
          </a:p>
          <a:p>
            <a:pPr marL="0" indent="0">
              <a:buFont typeface="Arial" charset="0"/>
              <a:buNone/>
              <a:defRPr/>
            </a:pPr>
            <a:r>
              <a:rPr lang="en-US" dirty="0"/>
              <a:t>A. </a:t>
            </a:r>
            <a:r>
              <a:rPr lang="en-US" dirty="0" err="1"/>
              <a:t>Chuyển</a:t>
            </a:r>
            <a:r>
              <a:rPr lang="en-US" dirty="0"/>
              <a:t> </a:t>
            </a:r>
            <a:r>
              <a:rPr lang="en-US" dirty="0" err="1"/>
              <a:t>động</a:t>
            </a:r>
            <a:r>
              <a:rPr lang="en-US" dirty="0"/>
              <a:t> </a:t>
            </a:r>
            <a:r>
              <a:rPr lang="en-US" dirty="0" err="1"/>
              <a:t>đi</a:t>
            </a:r>
            <a:r>
              <a:rPr lang="en-US" dirty="0"/>
              <a:t> </a:t>
            </a:r>
            <a:r>
              <a:rPr lang="en-US" dirty="0" err="1"/>
              <a:t>tới</a:t>
            </a:r>
            <a:r>
              <a:rPr lang="en-US" dirty="0"/>
              <a:t> </a:t>
            </a:r>
            <a:r>
              <a:rPr lang="en-US" dirty="0" err="1"/>
              <a:t>với</a:t>
            </a:r>
            <a:r>
              <a:rPr lang="en-US" dirty="0"/>
              <a:t> </a:t>
            </a:r>
            <a:r>
              <a:rPr lang="en-US" dirty="0" err="1"/>
              <a:t>vận</a:t>
            </a:r>
            <a:r>
              <a:rPr lang="en-US" dirty="0"/>
              <a:t> </a:t>
            </a:r>
            <a:r>
              <a:rPr lang="en-US" dirty="0" err="1"/>
              <a:t>tốc</a:t>
            </a:r>
            <a:r>
              <a:rPr lang="en-US" dirty="0"/>
              <a:t> 0,33 m/s</a:t>
            </a:r>
          </a:p>
          <a:p>
            <a:pPr marL="0" indent="0">
              <a:buFont typeface="Arial" charset="0"/>
              <a:buNone/>
              <a:defRPr/>
            </a:pPr>
            <a:r>
              <a:rPr lang="en-US" dirty="0"/>
              <a:t>B. </a:t>
            </a:r>
            <a:r>
              <a:rPr lang="en-US" dirty="0" err="1"/>
              <a:t>Chuyển</a:t>
            </a:r>
            <a:r>
              <a:rPr lang="en-US" dirty="0"/>
              <a:t> </a:t>
            </a:r>
            <a:r>
              <a:rPr lang="en-US" dirty="0" err="1"/>
              <a:t>động</a:t>
            </a:r>
            <a:r>
              <a:rPr lang="en-US" dirty="0"/>
              <a:t> </a:t>
            </a:r>
            <a:r>
              <a:rPr lang="en-US" dirty="0" err="1"/>
              <a:t>đi</a:t>
            </a:r>
            <a:r>
              <a:rPr lang="en-US" dirty="0"/>
              <a:t> </a:t>
            </a:r>
            <a:r>
              <a:rPr lang="en-US" dirty="0" err="1"/>
              <a:t>tới</a:t>
            </a:r>
            <a:r>
              <a:rPr lang="en-US" dirty="0"/>
              <a:t> </a:t>
            </a:r>
            <a:r>
              <a:rPr lang="en-US" dirty="0" err="1"/>
              <a:t>với</a:t>
            </a:r>
            <a:r>
              <a:rPr lang="en-US" dirty="0"/>
              <a:t> </a:t>
            </a:r>
            <a:r>
              <a:rPr lang="en-US" dirty="0" err="1"/>
              <a:t>vận</a:t>
            </a:r>
            <a:r>
              <a:rPr lang="en-US" dirty="0"/>
              <a:t> </a:t>
            </a:r>
            <a:r>
              <a:rPr lang="en-US" dirty="0" err="1"/>
              <a:t>tốc</a:t>
            </a:r>
            <a:r>
              <a:rPr lang="en-US" dirty="0"/>
              <a:t> 3 m/s</a:t>
            </a:r>
          </a:p>
          <a:p>
            <a:pPr marL="0" indent="0">
              <a:buFont typeface="Arial" charset="0"/>
              <a:buNone/>
              <a:defRPr/>
            </a:pPr>
            <a:r>
              <a:rPr lang="en-US" dirty="0"/>
              <a:t>C. </a:t>
            </a:r>
            <a:r>
              <a:rPr lang="en-US" dirty="0" err="1"/>
              <a:t>Chuyển</a:t>
            </a:r>
            <a:r>
              <a:rPr lang="en-US" dirty="0"/>
              <a:t> </a:t>
            </a:r>
            <a:r>
              <a:rPr lang="en-US" dirty="0" err="1"/>
              <a:t>động</a:t>
            </a:r>
            <a:r>
              <a:rPr lang="en-US" dirty="0"/>
              <a:t> </a:t>
            </a:r>
            <a:r>
              <a:rPr lang="en-US" dirty="0" err="1"/>
              <a:t>ngược</a:t>
            </a:r>
            <a:r>
              <a:rPr lang="en-US" dirty="0"/>
              <a:t> </a:t>
            </a:r>
            <a:r>
              <a:rPr lang="en-US" dirty="0" err="1"/>
              <a:t>lại</a:t>
            </a:r>
            <a:r>
              <a:rPr lang="en-US" dirty="0"/>
              <a:t> </a:t>
            </a:r>
            <a:r>
              <a:rPr lang="en-US" dirty="0" err="1"/>
              <a:t>với</a:t>
            </a:r>
            <a:r>
              <a:rPr lang="en-US" dirty="0"/>
              <a:t> </a:t>
            </a:r>
            <a:r>
              <a:rPr lang="en-US" dirty="0" err="1"/>
              <a:t>vận</a:t>
            </a:r>
            <a:r>
              <a:rPr lang="en-US" dirty="0"/>
              <a:t> </a:t>
            </a:r>
            <a:r>
              <a:rPr lang="en-US" dirty="0" err="1"/>
              <a:t>tốc</a:t>
            </a:r>
            <a:r>
              <a:rPr lang="en-US" dirty="0"/>
              <a:t> 3 m/s</a:t>
            </a:r>
          </a:p>
          <a:p>
            <a:pPr marL="0" indent="0">
              <a:buFont typeface="Arial" charset="0"/>
              <a:buNone/>
              <a:defRPr/>
            </a:pPr>
            <a:r>
              <a:rPr lang="en-US" dirty="0"/>
              <a:t>D. </a:t>
            </a:r>
            <a:r>
              <a:rPr lang="en-US" dirty="0" err="1"/>
              <a:t>Chuyển</a:t>
            </a:r>
            <a:r>
              <a:rPr lang="en-US" dirty="0"/>
              <a:t> </a:t>
            </a:r>
            <a:r>
              <a:rPr lang="en-US" dirty="0" err="1"/>
              <a:t>động</a:t>
            </a:r>
            <a:r>
              <a:rPr lang="en-US" dirty="0"/>
              <a:t> </a:t>
            </a:r>
            <a:r>
              <a:rPr lang="en-US" dirty="0" err="1"/>
              <a:t>ngược</a:t>
            </a:r>
            <a:r>
              <a:rPr lang="en-US" dirty="0"/>
              <a:t> </a:t>
            </a:r>
            <a:r>
              <a:rPr lang="en-US" dirty="0" err="1"/>
              <a:t>lại</a:t>
            </a:r>
            <a:r>
              <a:rPr lang="en-US" dirty="0"/>
              <a:t> </a:t>
            </a:r>
            <a:r>
              <a:rPr lang="en-US" dirty="0" err="1"/>
              <a:t>với</a:t>
            </a:r>
            <a:r>
              <a:rPr lang="en-US" dirty="0"/>
              <a:t> </a:t>
            </a:r>
            <a:r>
              <a:rPr lang="en-US" dirty="0" err="1"/>
              <a:t>vận</a:t>
            </a:r>
            <a:r>
              <a:rPr lang="en-US" dirty="0"/>
              <a:t> </a:t>
            </a:r>
            <a:r>
              <a:rPr lang="en-US" dirty="0" err="1"/>
              <a:t>tốc</a:t>
            </a:r>
            <a:r>
              <a:rPr lang="en-US" dirty="0"/>
              <a:t> 0,33 m/s</a:t>
            </a:r>
          </a:p>
          <a:p>
            <a:pPr>
              <a:defRPr/>
            </a:pPr>
            <a:endParaRPr lang="en-US" dirty="0"/>
          </a:p>
        </p:txBody>
      </p:sp>
      <p:sp>
        <p:nvSpPr>
          <p:cNvPr id="2" name="Footer Placeholder 1">
            <a:extLst>
              <a:ext uri="{FF2B5EF4-FFF2-40B4-BE49-F238E27FC236}">
                <a16:creationId xmlns:a16="http://schemas.microsoft.com/office/drawing/2014/main" id="{E55901B7-49CA-D6AC-7D0B-0393ED7B7665}"/>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56547728-2A4E-6A4D-9D78-978D5863C183}"/>
              </a:ext>
            </a:extLst>
          </p:cNvPr>
          <p:cNvSpPr>
            <a:spLocks noGrp="1"/>
          </p:cNvSpPr>
          <p:nvPr>
            <p:ph type="sldNum" sz="quarter" idx="12"/>
          </p:nvPr>
        </p:nvSpPr>
        <p:spPr/>
        <p:txBody>
          <a:bodyPr/>
          <a:lstStyle/>
          <a:p>
            <a:pPr>
              <a:defRPr/>
            </a:pPr>
            <a:fld id="{76921531-3DE4-4FE6-8586-93C8C3054BFB}" type="slidenum">
              <a:rPr lang="en-US" smtClean="0"/>
              <a:pPr>
                <a:defRPr/>
              </a:pPr>
              <a:t>75</a:t>
            </a:fld>
            <a:endParaRPr lang="en-US"/>
          </a:p>
        </p:txBody>
      </p:sp>
    </p:spTree>
    <p:extLst>
      <p:ext uri="{BB962C8B-B14F-4D97-AF65-F5344CB8AC3E}">
        <p14:creationId xmlns:p14="http://schemas.microsoft.com/office/powerpoint/2010/main" val="17997925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3">
                                            <p:txEl>
                                              <p:pRg st="4" end="4"/>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B716273-CF37-6B0E-0181-C05CBCA3213B}"/>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82355031-C64D-8DDD-60A1-C9CECA41BF5B}"/>
              </a:ext>
            </a:extLst>
          </p:cNvPr>
          <p:cNvSpPr>
            <a:spLocks noGrp="1"/>
          </p:cNvSpPr>
          <p:nvPr>
            <p:ph type="sldNum" sz="quarter" idx="12"/>
          </p:nvPr>
        </p:nvSpPr>
        <p:spPr/>
        <p:txBody>
          <a:bodyPr/>
          <a:lstStyle/>
          <a:p>
            <a:pPr>
              <a:defRPr/>
            </a:pPr>
            <a:fld id="{76921531-3DE4-4FE6-8586-93C8C3054BFB}" type="slidenum">
              <a:rPr lang="en-US" smtClean="0"/>
              <a:pPr>
                <a:defRPr/>
              </a:pPr>
              <a:t>76</a:t>
            </a:fld>
            <a:endParaRPr lang="en-US"/>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F38128D4-4492-E020-FD0E-96093F0E8A59}"/>
                  </a:ext>
                </a:extLst>
              </p:cNvPr>
              <p:cNvSpPr>
                <a:spLocks noGrp="1"/>
              </p:cNvSpPr>
              <p:nvPr>
                <p:ph/>
              </p:nvPr>
            </p:nvSpPr>
            <p:spPr/>
            <p:txBody>
              <a:bodyPr>
                <a:normAutofit/>
              </a:bodyPr>
              <a:lstStyle/>
              <a:p>
                <a:pPr marL="0" indent="0">
                  <a:buNone/>
                </a:pPr>
                <a:r>
                  <a:rPr lang="en-US" sz="2800" dirty="0">
                    <a:solidFill>
                      <a:srgbClr val="000000"/>
                    </a:solidFill>
                    <a:effectLst/>
                    <a:latin typeface="Times New Roman" panose="02020603050405020304" pitchFamily="18" charset="0"/>
                    <a:ea typeface="Times New Roman" panose="02020603050405020304" pitchFamily="18" charset="0"/>
                  </a:rPr>
                  <a:t>Một </a:t>
                </a:r>
                <a:r>
                  <a:rPr lang="en-US" sz="2800" dirty="0" err="1">
                    <a:solidFill>
                      <a:srgbClr val="000000"/>
                    </a:solidFill>
                    <a:effectLst/>
                    <a:latin typeface="Times New Roman" panose="02020603050405020304" pitchFamily="18" charset="0"/>
                    <a:ea typeface="Times New Roman" panose="02020603050405020304" pitchFamily="18" charset="0"/>
                  </a:rPr>
                  <a:t>vật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khối</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lượng</a:t>
                </a:r>
                <a:r>
                  <a:rPr lang="en-US" sz="2800" dirty="0">
                    <a:solidFill>
                      <a:srgbClr val="000000"/>
                    </a:solidFill>
                    <a:effectLst/>
                    <a:latin typeface="Times New Roman" panose="02020603050405020304" pitchFamily="18" charset="0"/>
                    <a:ea typeface="Times New Roman" panose="02020603050405020304" pitchFamily="18" charset="0"/>
                  </a:rPr>
                  <a:t> 25kg </a:t>
                </a:r>
                <a:r>
                  <a:rPr lang="en-US" sz="2800" dirty="0" err="1">
                    <a:solidFill>
                      <a:srgbClr val="000000"/>
                    </a:solidFill>
                    <a:effectLst/>
                    <a:latin typeface="Times New Roman" panose="02020603050405020304" pitchFamily="18" charset="0"/>
                    <a:ea typeface="Times New Roman" panose="02020603050405020304" pitchFamily="18" charset="0"/>
                  </a:rPr>
                  <a:t>chuyển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động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thẳng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đều</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trên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sàn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nhà</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nhờ</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một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lực</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đẩy</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theo</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phương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ngang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có</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độ</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lớn</a:t>
                </a:r>
                <a:r>
                  <a:rPr lang="en-US" sz="2800" dirty="0">
                    <a:solidFill>
                      <a:srgbClr val="000000"/>
                    </a:solidFill>
                    <a:effectLst/>
                    <a:latin typeface="Times New Roman" panose="02020603050405020304" pitchFamily="18" charset="0"/>
                    <a:ea typeface="Times New Roman" panose="02020603050405020304" pitchFamily="18" charset="0"/>
                  </a:rPr>
                  <a:t> 53,9N. </a:t>
                </a:r>
                <a:r>
                  <a:rPr lang="en-US" sz="2800" dirty="0" err="1">
                    <a:solidFill>
                      <a:srgbClr val="000000"/>
                    </a:solidFill>
                    <a:effectLst/>
                    <a:latin typeface="Times New Roman" panose="02020603050405020304" pitchFamily="18" charset="0"/>
                    <a:ea typeface="Times New Roman" panose="02020603050405020304" pitchFamily="18" charset="0"/>
                  </a:rPr>
                  <a:t>Lấy</a:t>
                </a:r>
                <a:r>
                  <a:rPr lang="en-US" sz="2800" dirty="0">
                    <a:solidFill>
                      <a:srgbClr val="000000"/>
                    </a:solidFill>
                    <a:effectLst/>
                    <a:latin typeface="Times New Roman" panose="02020603050405020304" pitchFamily="18" charset="0"/>
                    <a:ea typeface="Times New Roman" panose="02020603050405020304" pitchFamily="18" charset="0"/>
                  </a:rPr>
                  <a:t> g = 9,8m/</a:t>
                </a:r>
                <a14:m>
                  <m:oMath xmlns:m="http://schemas.openxmlformats.org/officeDocument/2006/math">
                    <m:sSup>
                      <m:sSupPr>
                        <m:ctrlPr>
                          <a:rPr lang="en-US" sz="2800" i="1" smtClean="0">
                            <a:solidFill>
                              <a:srgbClr val="000000"/>
                            </a:solidFill>
                            <a:effectLst/>
                            <a:latin typeface="Cambria Math" panose="02040503050406030204" pitchFamily="18" charset="0"/>
                          </a:rPr>
                        </m:ctrlPr>
                      </m:sSupPr>
                      <m:e>
                        <m:r>
                          <a:rPr lang="en-US" sz="2800" b="0" i="1" smtClean="0">
                            <a:solidFill>
                              <a:srgbClr val="000000"/>
                            </a:solidFill>
                            <a:effectLst/>
                            <a:latin typeface="Cambria Math"/>
                          </a:rPr>
                          <m:t>𝑠</m:t>
                        </m:r>
                      </m:e>
                      <m:sup>
                        <m:r>
                          <a:rPr lang="en-US" sz="2800" b="0" i="1" smtClean="0">
                            <a:solidFill>
                              <a:srgbClr val="000000"/>
                            </a:solidFill>
                            <a:effectLst/>
                            <a:latin typeface="Cambria Math"/>
                          </a:rPr>
                          <m:t>2</m:t>
                        </m:r>
                      </m:sup>
                    </m:sSup>
                  </m:oMath>
                </a14:m>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Tìm</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hệ</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số</a:t>
                </a:r>
                <a:r>
                  <a:rPr lang="en-US" sz="2800" dirty="0">
                    <a:solidFill>
                      <a:srgbClr val="000000"/>
                    </a:solidFill>
                    <a:effectLst/>
                    <a:latin typeface="Times New Roman" panose="02020603050405020304" pitchFamily="18" charset="0"/>
                    <a:ea typeface="Times New Roman" panose="02020603050405020304" pitchFamily="18" charset="0"/>
                  </a:rPr>
                  <a:t> ma </a:t>
                </a:r>
                <a:r>
                  <a:rPr lang="en-US" sz="2800" dirty="0" err="1">
                    <a:solidFill>
                      <a:srgbClr val="000000"/>
                    </a:solidFill>
                    <a:effectLst/>
                    <a:latin typeface="Times New Roman" panose="02020603050405020304" pitchFamily="18" charset="0"/>
                    <a:ea typeface="Times New Roman" panose="02020603050405020304" pitchFamily="18" charset="0"/>
                  </a:rPr>
                  <a:t>sát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trượt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giữa</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vật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và</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sàn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nhà</a:t>
                </a:r>
                <a:r>
                  <a:rPr lang="en-US" sz="2800" dirty="0">
                    <a:solidFill>
                      <a:srgbClr val="000000"/>
                    </a:solidFill>
                    <a:effectLst/>
                    <a:latin typeface="Times New Roman" panose="02020603050405020304" pitchFamily="18" charset="0"/>
                    <a:ea typeface="Times New Roman" panose="02020603050405020304" pitchFamily="18" charset="0"/>
                  </a:rPr>
                  <a:t>?</a:t>
                </a:r>
              </a:p>
              <a:p>
                <a:pPr>
                  <a:buAutoNum type="alphaUcPeriod"/>
                </a:pPr>
                <a:r>
                  <a:rPr lang="en-US" sz="2800" dirty="0">
                    <a:solidFill>
                      <a:srgbClr val="000000"/>
                    </a:solidFill>
                    <a:latin typeface="Times New Roman" panose="02020603050405020304" pitchFamily="18" charset="0"/>
                  </a:rPr>
                  <a:t>0,1</a:t>
                </a:r>
              </a:p>
              <a:p>
                <a:pPr>
                  <a:buAutoNum type="alphaUcPeriod"/>
                </a:pPr>
                <a:r>
                  <a:rPr lang="en-US" sz="2800" dirty="0">
                    <a:solidFill>
                      <a:srgbClr val="000000"/>
                    </a:solidFill>
                    <a:latin typeface="Times New Roman" panose="02020603050405020304" pitchFamily="18" charset="0"/>
                  </a:rPr>
                  <a:t>0,22</a:t>
                </a:r>
              </a:p>
              <a:p>
                <a:pPr>
                  <a:buAutoNum type="alphaUcPeriod"/>
                </a:pPr>
                <a:r>
                  <a:rPr lang="en-US" sz="2800" dirty="0">
                    <a:solidFill>
                      <a:srgbClr val="000000"/>
                    </a:solidFill>
                    <a:latin typeface="Times New Roman" panose="02020603050405020304" pitchFamily="18" charset="0"/>
                  </a:rPr>
                  <a:t>0,15</a:t>
                </a:r>
              </a:p>
              <a:p>
                <a:pPr>
                  <a:buAutoNum type="alphaUcPeriod"/>
                </a:pPr>
                <a:r>
                  <a:rPr lang="en-US" sz="2800" dirty="0">
                    <a:solidFill>
                      <a:srgbClr val="000000"/>
                    </a:solidFill>
                    <a:latin typeface="Times New Roman" panose="02020603050405020304" pitchFamily="18" charset="0"/>
                  </a:rPr>
                  <a:t>0,5</a:t>
                </a:r>
              </a:p>
            </p:txBody>
          </p:sp>
        </mc:Choice>
        <mc:Fallback xmlns="">
          <p:sp>
            <p:nvSpPr>
              <p:cNvPr id="7" name="Content Placeholder 6">
                <a:extLst>
                  <a:ext uri="{FF2B5EF4-FFF2-40B4-BE49-F238E27FC236}">
                    <a16:creationId xmlns="" xmlns:a16="http://schemas.microsoft.com/office/drawing/2014/main" id="{F38128D4-4492-E020-FD0E-96093F0E8A59}"/>
                  </a:ext>
                </a:extLst>
              </p:cNvPr>
              <p:cNvSpPr>
                <a:spLocks noGrp="1" noRot="1" noChangeAspect="1" noMove="1" noResize="1" noEditPoints="1" noAdjustHandles="1" noChangeArrowheads="1" noChangeShapeType="1" noTextEdit="1"/>
              </p:cNvSpPr>
              <p:nvPr>
                <p:ph/>
              </p:nvPr>
            </p:nvSpPr>
            <p:spPr>
              <a:blipFill rotWithShape="1">
                <a:blip r:embed="rId2"/>
                <a:stretch>
                  <a:fillRect l="-1481" t="-1042" r="-1333"/>
                </a:stretch>
              </a:blipFill>
            </p:spPr>
            <p:txBody>
              <a:bodyPr/>
              <a:lstStyle/>
              <a:p>
                <a:r>
                  <a:rPr lang="en-US">
                    <a:noFill/>
                  </a:rPr>
                  <a:t> </a:t>
                </a:r>
              </a:p>
            </p:txBody>
          </p:sp>
        </mc:Fallback>
      </mc:AlternateContent>
    </p:spTree>
    <p:extLst>
      <p:ext uri="{BB962C8B-B14F-4D97-AF65-F5344CB8AC3E}">
        <p14:creationId xmlns:p14="http://schemas.microsoft.com/office/powerpoint/2010/main" val="42312889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marL="0" indent="0">
              <a:buFont typeface="Arial" charset="0"/>
              <a:buNone/>
              <a:defRPr/>
            </a:pPr>
            <a:r>
              <a:rPr lang="en-US"/>
              <a:t>Qủa bóng 500g đập vào tường theo hướng hợp với tường một góc 30° với vận tốc 10m/s rồi nảy ra theo phương đối xứng với phương đập vào tường qua pháp tuyến của tường với vận tốc cũ. Thời gian bóng tiếp xúc với tường là 0,05s. Tìm:</a:t>
            </a:r>
          </a:p>
          <a:p>
            <a:pPr marL="514350" indent="-514350">
              <a:buFont typeface="Arial" charset="0"/>
              <a:buAutoNum type="alphaLcParenR"/>
              <a:defRPr/>
            </a:pPr>
            <a:r>
              <a:rPr lang="en-US"/>
              <a:t>Độ biến thiên động lượng của bóng</a:t>
            </a:r>
          </a:p>
          <a:p>
            <a:pPr marL="514350" indent="-514350">
              <a:buFont typeface="Arial" charset="0"/>
              <a:buAutoNum type="alphaLcParenR"/>
              <a:defRPr/>
            </a:pPr>
            <a:r>
              <a:rPr lang="en-US"/>
              <a:t>Lực trung bình do tường tác dụng lên bóng</a:t>
            </a:r>
          </a:p>
          <a:p>
            <a:pPr marL="514350" indent="-514350">
              <a:buFont typeface="Arial" charset="0"/>
              <a:buAutoNum type="alphaLcParenR"/>
              <a:defRPr/>
            </a:pPr>
            <a:r>
              <a:rPr lang="en-US"/>
              <a:t>Gia tốc trung bình của bóng trong thời gian va chạm</a:t>
            </a:r>
          </a:p>
        </p:txBody>
      </p:sp>
      <p:sp>
        <p:nvSpPr>
          <p:cNvPr id="3" name="Footer Placeholder 2">
            <a:extLst>
              <a:ext uri="{FF2B5EF4-FFF2-40B4-BE49-F238E27FC236}">
                <a16:creationId xmlns:a16="http://schemas.microsoft.com/office/drawing/2014/main" id="{B3A9685B-4021-1236-EF04-524DC50027AF}"/>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E085C6EE-EF39-EC90-3E3B-A1C0EA233CCF}"/>
              </a:ext>
            </a:extLst>
          </p:cNvPr>
          <p:cNvSpPr>
            <a:spLocks noGrp="1"/>
          </p:cNvSpPr>
          <p:nvPr>
            <p:ph type="sldNum" sz="quarter" idx="12"/>
          </p:nvPr>
        </p:nvSpPr>
        <p:spPr/>
        <p:txBody>
          <a:bodyPr/>
          <a:lstStyle/>
          <a:p>
            <a:pPr>
              <a:defRPr/>
            </a:pPr>
            <a:fld id="{76921531-3DE4-4FE6-8586-93C8C3054BFB}" type="slidenum">
              <a:rPr lang="en-US" smtClean="0"/>
              <a:pPr>
                <a:defRPr/>
              </a:pPr>
              <a:t>77</a:t>
            </a:fld>
            <a:endParaRPr lang="en-US"/>
          </a:p>
        </p:txBody>
      </p:sp>
    </p:spTree>
    <p:extLst>
      <p:ext uri="{BB962C8B-B14F-4D97-AF65-F5344CB8AC3E}">
        <p14:creationId xmlns:p14="http://schemas.microsoft.com/office/powerpoint/2010/main" val="9919105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18"/>
          <p:cNvGrpSpPr>
            <a:grpSpLocks/>
          </p:cNvGrpSpPr>
          <p:nvPr/>
        </p:nvGrpSpPr>
        <p:grpSpPr bwMode="auto">
          <a:xfrm>
            <a:off x="990600" y="0"/>
            <a:ext cx="7086600" cy="685800"/>
            <a:chOff x="1310" y="1392"/>
            <a:chExt cx="4602" cy="432"/>
          </a:xfrm>
        </p:grpSpPr>
        <p:pic>
          <p:nvPicPr>
            <p:cNvPr id="40982"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460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1870" y="1449"/>
              <a:ext cx="3476"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ctr"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2.6. </a:t>
              </a:r>
              <a:r>
                <a:rPr lang="vi-VN" sz="2400" b="1">
                  <a:solidFill>
                    <a:srgbClr val="FF0000"/>
                  </a:solidFill>
                  <a:latin typeface="Times New Roman" pitchFamily="18" charset="0"/>
                  <a:cs typeface="Times New Roman" pitchFamily="18" charset="0"/>
                </a:rPr>
                <a:t>Mômen động l</a:t>
              </a:r>
              <a:r>
                <a:rPr lang="en-US" sz="2400" b="1">
                  <a:solidFill>
                    <a:srgbClr val="FF0000"/>
                  </a:solidFill>
                  <a:latin typeface="Times New Roman" pitchFamily="18" charset="0"/>
                  <a:cs typeface="Times New Roman" pitchFamily="18" charset="0"/>
                </a:rPr>
                <a:t>ư</a:t>
              </a:r>
              <a:r>
                <a:rPr lang="vi-VN" sz="2400" b="1">
                  <a:solidFill>
                    <a:srgbClr val="FF0000"/>
                  </a:solidFill>
                  <a:latin typeface="Times New Roman" pitchFamily="18" charset="0"/>
                  <a:cs typeface="Times New Roman" pitchFamily="18" charset="0"/>
                </a:rPr>
                <a:t>ợng</a:t>
              </a:r>
              <a:r>
                <a:rPr lang="en-US" sz="2400" b="1">
                  <a:solidFill>
                    <a:srgbClr val="FF0000"/>
                  </a:solidFill>
                  <a:latin typeface="Times New Roman" pitchFamily="18" charset="0"/>
                  <a:cs typeface="Times New Roman" pitchFamily="18" charset="0"/>
                </a:rPr>
                <a:t> </a:t>
              </a:r>
              <a:r>
                <a:rPr lang="vi-VN" sz="2400" b="1">
                  <a:solidFill>
                    <a:srgbClr val="FF0000"/>
                  </a:solidFill>
                  <a:latin typeface="Times New Roman" pitchFamily="18" charset="0"/>
                  <a:cs typeface="Times New Roman" pitchFamily="18" charset="0"/>
                </a:rPr>
                <a:t>-</a:t>
              </a:r>
              <a:r>
                <a:rPr lang="en-US" sz="2400" b="1">
                  <a:solidFill>
                    <a:srgbClr val="FF0000"/>
                  </a:solidFill>
                  <a:latin typeface="Times New Roman" pitchFamily="18" charset="0"/>
                  <a:cs typeface="Times New Roman" pitchFamily="18" charset="0"/>
                </a:rPr>
                <a:t> </a:t>
              </a:r>
              <a:r>
                <a:rPr lang="vi-VN" sz="2400" b="1">
                  <a:solidFill>
                    <a:srgbClr val="FF0000"/>
                  </a:solidFill>
                  <a:latin typeface="Times New Roman" pitchFamily="18" charset="0"/>
                  <a:cs typeface="Times New Roman" pitchFamily="18" charset="0"/>
                </a:rPr>
                <a:t>Mômen lực</a:t>
              </a:r>
              <a:endParaRPr lang="en-US" sz="2400" b="1">
                <a:solidFill>
                  <a:srgbClr val="FF0000"/>
                </a:solidFill>
                <a:latin typeface="Times New Roman" pitchFamily="18" charset="0"/>
                <a:cs typeface="Times New Roman" pitchFamily="18" charset="0"/>
              </a:endParaRPr>
            </a:p>
          </p:txBody>
        </p:sp>
      </p:grpSp>
      <p:sp>
        <p:nvSpPr>
          <p:cNvPr id="14349" name="Rectangle 6"/>
          <p:cNvSpPr>
            <a:spLocks noChangeArrowheads="1"/>
          </p:cNvSpPr>
          <p:nvPr/>
        </p:nvSpPr>
        <p:spPr bwMode="auto">
          <a:xfrm>
            <a:off x="615950" y="838200"/>
            <a:ext cx="3194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a:solidFill>
                  <a:srgbClr val="002060"/>
                </a:solidFill>
                <a:latin typeface="Times New Roman" pitchFamily="18" charset="0"/>
                <a:cs typeface="Times New Roman" pitchFamily="18" charset="0"/>
              </a:rPr>
              <a:t>Mômen động lượng</a:t>
            </a:r>
          </a:p>
        </p:txBody>
      </p:sp>
      <p:sp>
        <p:nvSpPr>
          <p:cNvPr id="14350" name="Rectangle 8"/>
          <p:cNvSpPr>
            <a:spLocks noChangeArrowheads="1"/>
          </p:cNvSpPr>
          <p:nvPr/>
        </p:nvSpPr>
        <p:spPr bwMode="auto">
          <a:xfrm>
            <a:off x="152400" y="1295400"/>
            <a:ext cx="51816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800" i="1">
                <a:solidFill>
                  <a:srgbClr val="002060"/>
                </a:solidFill>
                <a:latin typeface="Times New Roman" pitchFamily="18" charset="0"/>
                <a:cs typeface="Times New Roman" pitchFamily="18" charset="0"/>
              </a:rPr>
              <a:t>Mômen động lượng của chất điểm chuyển động so với một điểm</a:t>
            </a:r>
          </a:p>
        </p:txBody>
      </p:sp>
      <p:sp>
        <p:nvSpPr>
          <p:cNvPr id="10" name="Rectangle 9"/>
          <p:cNvSpPr>
            <a:spLocks noChangeArrowheads="1"/>
          </p:cNvSpPr>
          <p:nvPr/>
        </p:nvSpPr>
        <p:spPr bwMode="auto">
          <a:xfrm>
            <a:off x="2819400" y="2474913"/>
            <a:ext cx="1524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sz="2800">
                <a:solidFill>
                  <a:srgbClr val="2125D5"/>
                </a:solidFill>
                <a:latin typeface="Times New Roman" pitchFamily="18" charset="0"/>
                <a:cs typeface="Times New Roman" pitchFamily="18" charset="0"/>
              </a:rPr>
              <a:t>(kgm</a:t>
            </a:r>
            <a:r>
              <a:rPr lang="en-US" sz="2800" baseline="30000">
                <a:solidFill>
                  <a:srgbClr val="2125D5"/>
                </a:solidFill>
                <a:latin typeface="Times New Roman" pitchFamily="18" charset="0"/>
                <a:cs typeface="Times New Roman" pitchFamily="18" charset="0"/>
              </a:rPr>
              <a:t>2</a:t>
            </a:r>
            <a:r>
              <a:rPr lang="en-US" sz="2800">
                <a:solidFill>
                  <a:srgbClr val="2125D5"/>
                </a:solidFill>
                <a:latin typeface="Times New Roman" pitchFamily="18" charset="0"/>
                <a:cs typeface="Times New Roman" pitchFamily="18" charset="0"/>
              </a:rPr>
              <a:t>/s)</a:t>
            </a:r>
          </a:p>
        </p:txBody>
      </p:sp>
      <p:grpSp>
        <p:nvGrpSpPr>
          <p:cNvPr id="4" name="Group 56"/>
          <p:cNvGrpSpPr>
            <a:grpSpLocks/>
          </p:cNvGrpSpPr>
          <p:nvPr/>
        </p:nvGrpSpPr>
        <p:grpSpPr bwMode="auto">
          <a:xfrm>
            <a:off x="5670550" y="1885950"/>
            <a:ext cx="3179763" cy="1681163"/>
            <a:chOff x="1981" y="3120"/>
            <a:chExt cx="2003" cy="1059"/>
          </a:xfrm>
        </p:grpSpPr>
        <p:grpSp>
          <p:nvGrpSpPr>
            <p:cNvPr id="40977" name="Group 50"/>
            <p:cNvGrpSpPr>
              <a:grpSpLocks/>
            </p:cNvGrpSpPr>
            <p:nvPr/>
          </p:nvGrpSpPr>
          <p:grpSpPr bwMode="auto">
            <a:xfrm>
              <a:off x="1981" y="3120"/>
              <a:ext cx="2003" cy="672"/>
              <a:chOff x="1981" y="3120"/>
              <a:chExt cx="2003" cy="672"/>
            </a:xfrm>
          </p:grpSpPr>
          <p:sp>
            <p:nvSpPr>
              <p:cNvPr id="40979" name="Text Box 42"/>
              <p:cNvSpPr txBox="1">
                <a:spLocks noChangeArrowheads="1"/>
              </p:cNvSpPr>
              <p:nvPr/>
            </p:nvSpPr>
            <p:spPr bwMode="auto">
              <a:xfrm>
                <a:off x="3648" y="350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r>
                  <a:rPr lang="en-US" sz="2000" b="1"/>
                  <a:t>M</a:t>
                </a:r>
                <a:endParaRPr lang="en-US" sz="3200" b="1"/>
              </a:p>
            </p:txBody>
          </p:sp>
          <p:sp>
            <p:nvSpPr>
              <p:cNvPr id="40980" name="Line 44"/>
              <p:cNvSpPr>
                <a:spLocks noChangeShapeType="1"/>
              </p:cNvSpPr>
              <p:nvPr/>
            </p:nvSpPr>
            <p:spPr bwMode="auto">
              <a:xfrm>
                <a:off x="1981" y="3414"/>
                <a:ext cx="1646" cy="186"/>
              </a:xfrm>
              <a:prstGeom prst="line">
                <a:avLst/>
              </a:prstGeom>
              <a:noFill/>
              <a:ln w="22225">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graphicFrame>
            <p:nvGraphicFramePr>
              <p:cNvPr id="40981" name="Object 8"/>
              <p:cNvGraphicFramePr>
                <a:graphicFrameLocks noChangeAspect="1"/>
              </p:cNvGraphicFramePr>
              <p:nvPr/>
            </p:nvGraphicFramePr>
            <p:xfrm>
              <a:off x="2832" y="3120"/>
              <a:ext cx="180" cy="336"/>
            </p:xfrm>
            <a:graphic>
              <a:graphicData uri="http://schemas.openxmlformats.org/presentationml/2006/ole">
                <mc:AlternateContent xmlns:mc="http://schemas.openxmlformats.org/markup-compatibility/2006">
                  <mc:Choice xmlns:v="urn:schemas-microsoft-com:vml" Requires="v">
                    <p:oleObj name="Equation" r:id="rId3" imgW="0" imgH="95385" progId="Equation.3">
                      <p:embed/>
                    </p:oleObj>
                  </mc:Choice>
                  <mc:Fallback>
                    <p:oleObj name="Equation" r:id="rId3" imgW="0" imgH="9538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2" y="3120"/>
                            <a:ext cx="18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0978" name="Line 47"/>
            <p:cNvSpPr>
              <a:spLocks noChangeShapeType="1"/>
            </p:cNvSpPr>
            <p:nvPr/>
          </p:nvSpPr>
          <p:spPr bwMode="auto">
            <a:xfrm flipH="1">
              <a:off x="3257" y="3584"/>
              <a:ext cx="377" cy="595"/>
            </a:xfrm>
            <a:prstGeom prst="line">
              <a:avLst/>
            </a:prstGeom>
            <a:noFill/>
            <a:ln w="38100">
              <a:solidFill>
                <a:srgbClr val="00A4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1" name="AutoShape 49"/>
          <p:cNvSpPr>
            <a:spLocks noChangeArrowheads="1"/>
          </p:cNvSpPr>
          <p:nvPr/>
        </p:nvSpPr>
        <p:spPr bwMode="auto">
          <a:xfrm>
            <a:off x="5421313" y="2190750"/>
            <a:ext cx="381000" cy="381000"/>
          </a:xfrm>
          <a:prstGeom prst="star24">
            <a:avLst>
              <a:gd name="adj" fmla="val 37500"/>
            </a:avLst>
          </a:prstGeom>
          <a:solidFill>
            <a:schemeClr val="accent1"/>
          </a:solidFill>
          <a:ln w="9525">
            <a:solidFill>
              <a:schemeClr val="tx1"/>
            </a:solidFill>
            <a:miter lim="800000"/>
            <a:headEnd/>
            <a:tailEnd/>
          </a:ln>
        </p:spPr>
        <p:txBody>
          <a:bodyPr wrap="none" anchor="ctr"/>
          <a:lstStyle/>
          <a:p>
            <a:pPr algn="ctr"/>
            <a:r>
              <a:rPr lang="en-US" sz="2800">
                <a:solidFill>
                  <a:srgbClr val="000000"/>
                </a:solidFill>
              </a:rPr>
              <a:t>o</a:t>
            </a:r>
          </a:p>
        </p:txBody>
      </p:sp>
      <p:graphicFrame>
        <p:nvGraphicFramePr>
          <p:cNvPr id="22" name="Object 10"/>
          <p:cNvGraphicFramePr>
            <a:graphicFrameLocks noGrp="1" noChangeAspect="1"/>
          </p:cNvGraphicFramePr>
          <p:nvPr>
            <p:ph idx="1"/>
          </p:nvPr>
        </p:nvGraphicFramePr>
        <p:xfrm>
          <a:off x="4567238" y="3830638"/>
          <a:ext cx="9525" cy="66675"/>
        </p:xfrm>
        <a:graphic>
          <a:graphicData uri="http://schemas.openxmlformats.org/presentationml/2006/ole">
            <mc:AlternateContent xmlns:mc="http://schemas.openxmlformats.org/markup-compatibility/2006">
              <mc:Choice xmlns:v="urn:schemas-microsoft-com:vml" Requires="v">
                <p:oleObj name="Equation" r:id="rId5" imgW="0" imgH="57285" progId="Equation.DSMT4">
                  <p:embed/>
                </p:oleObj>
              </mc:Choice>
              <mc:Fallback>
                <p:oleObj name="Equation" r:id="rId5" imgW="0" imgH="57285" progId="Equation.DSMT4">
                  <p:embed/>
                  <p:pic>
                    <p:nvPicPr>
                      <p:cNvPr id="0" name=""/>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67238" y="3830638"/>
                        <a:ext cx="9525" cy="6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 name="Line 57"/>
          <p:cNvSpPr>
            <a:spLocks noChangeShapeType="1"/>
          </p:cNvSpPr>
          <p:nvPr/>
        </p:nvSpPr>
        <p:spPr bwMode="auto">
          <a:xfrm>
            <a:off x="5618163" y="2568575"/>
            <a:ext cx="0" cy="685800"/>
          </a:xfrm>
          <a:prstGeom prst="line">
            <a:avLst/>
          </a:prstGeom>
          <a:noFill/>
          <a:ln w="25400">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58"/>
          <p:cNvSpPr>
            <a:spLocks noChangeShapeType="1"/>
          </p:cNvSpPr>
          <p:nvPr/>
        </p:nvSpPr>
        <p:spPr bwMode="auto">
          <a:xfrm>
            <a:off x="5618163" y="3155950"/>
            <a:ext cx="0" cy="6858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 name="4-Point Star 35"/>
          <p:cNvSpPr/>
          <p:nvPr/>
        </p:nvSpPr>
        <p:spPr>
          <a:xfrm>
            <a:off x="214313" y="962025"/>
            <a:ext cx="304800" cy="304800"/>
          </a:xfrm>
          <a:prstGeom prst="star4">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sz="1800"/>
          </a:p>
        </p:txBody>
      </p:sp>
      <p:sp>
        <p:nvSpPr>
          <p:cNvPr id="11" name="Oval 39"/>
          <p:cNvSpPr>
            <a:spLocks noChangeArrowheads="1"/>
          </p:cNvSpPr>
          <p:nvPr/>
        </p:nvSpPr>
        <p:spPr bwMode="auto">
          <a:xfrm>
            <a:off x="4572000" y="1657350"/>
            <a:ext cx="3733800" cy="1676400"/>
          </a:xfrm>
          <a:prstGeom prst="ellipse">
            <a:avLst/>
          </a:prstGeom>
          <a:noFill/>
          <a:ln w="34925">
            <a:solidFill>
              <a:srgbClr val="FF0000"/>
            </a:solidFill>
            <a:round/>
            <a:headEnd type="none" w="sm" len="sm"/>
            <a:tailEnd/>
          </a:ln>
          <a:extLst>
            <a:ext uri="{909E8E84-426E-40DD-AFC4-6F175D3DCCD1}">
              <a14:hiddenFill xmlns:a14="http://schemas.microsoft.com/office/drawing/2010/main">
                <a:solidFill>
                  <a:srgbClr val="FFFFFF"/>
                </a:solidFill>
              </a14:hiddenFill>
            </a:ext>
          </a:extLst>
        </p:spPr>
        <p:txBody>
          <a:bodyPr wrap="none" anchor="ctr"/>
          <a:lstStyle/>
          <a:p>
            <a:endParaRPr lang="en-US" sz="1800"/>
          </a:p>
        </p:txBody>
      </p:sp>
      <p:pic>
        <p:nvPicPr>
          <p:cNvPr id="12" name="Picture 40" descr="TraiDat"/>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6259513" y="1524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Rectangle 38"/>
          <p:cNvSpPr>
            <a:spLocks noRot="1" noChangeAspect="1" noMove="1" noResize="1" noEditPoints="1" noAdjustHandles="1" noChangeArrowheads="1" noChangeShapeType="1" noTextEdit="1"/>
          </p:cNvSpPr>
          <p:nvPr/>
        </p:nvSpPr>
        <p:spPr>
          <a:xfrm>
            <a:off x="587326" y="2352675"/>
            <a:ext cx="1738312" cy="644664"/>
          </a:xfrm>
          <a:prstGeom prst="rect">
            <a:avLst/>
          </a:prstGeom>
          <a:blipFill rotWithShape="1">
            <a:blip r:embed="rId8"/>
            <a:stretch>
              <a:fillRect/>
            </a:stretch>
          </a:blipFill>
        </p:spPr>
        <p:txBody>
          <a:bodyPr/>
          <a:lstStyle/>
          <a:p>
            <a:pPr>
              <a:defRPr/>
            </a:pPr>
            <a:r>
              <a:rPr lang="en-US">
                <a:noFill/>
              </a:rPr>
              <a:t> </a:t>
            </a:r>
          </a:p>
        </p:txBody>
      </p:sp>
      <p:sp>
        <p:nvSpPr>
          <p:cNvPr id="42" name="Rectangle 41"/>
          <p:cNvSpPr>
            <a:spLocks noRot="1" noChangeAspect="1" noMove="1" noResize="1" noEditPoints="1" noAdjustHandles="1" noChangeArrowheads="1" noChangeShapeType="1" noTextEdit="1"/>
          </p:cNvSpPr>
          <p:nvPr/>
        </p:nvSpPr>
        <p:spPr>
          <a:xfrm>
            <a:off x="587326" y="3519418"/>
            <a:ext cx="4746674" cy="523220"/>
          </a:xfrm>
          <a:prstGeom prst="rect">
            <a:avLst/>
          </a:prstGeom>
          <a:blipFill rotWithShape="1">
            <a:blip r:embed="rId9"/>
            <a:stretch>
              <a:fillRect t="-11628" b="-31395"/>
            </a:stretch>
          </a:blipFill>
          <a:ln>
            <a:noFill/>
          </a:ln>
        </p:spPr>
        <p:txBody>
          <a:bodyPr/>
          <a:lstStyle/>
          <a:p>
            <a:pPr>
              <a:defRPr/>
            </a:pPr>
            <a:r>
              <a:rPr lang="en-US">
                <a:noFill/>
              </a:rPr>
              <a:t> </a:t>
            </a:r>
          </a:p>
        </p:txBody>
      </p:sp>
      <p:sp>
        <p:nvSpPr>
          <p:cNvPr id="43" name="Rectangle 42"/>
          <p:cNvSpPr>
            <a:spLocks noRot="1" noChangeAspect="1" noMove="1" noResize="1" noEditPoints="1" noAdjustHandles="1" noChangeArrowheads="1" noChangeShapeType="1" noTextEdit="1"/>
          </p:cNvSpPr>
          <p:nvPr/>
        </p:nvSpPr>
        <p:spPr>
          <a:xfrm>
            <a:off x="356993" y="4648200"/>
            <a:ext cx="3986408" cy="644664"/>
          </a:xfrm>
          <a:prstGeom prst="rect">
            <a:avLst/>
          </a:prstGeom>
          <a:blipFill rotWithShape="1">
            <a:blip r:embed="rId10"/>
            <a:stretch>
              <a:fillRect t="-917" b="-27523"/>
            </a:stretch>
          </a:blipFill>
        </p:spPr>
        <p:txBody>
          <a:bodyPr/>
          <a:lstStyle/>
          <a:p>
            <a:pPr>
              <a:defRPr/>
            </a:pPr>
            <a:r>
              <a:rPr lang="en-US">
                <a:noFill/>
              </a:rPr>
              <a:t> </a:t>
            </a:r>
          </a:p>
        </p:txBody>
      </p:sp>
      <p:sp>
        <p:nvSpPr>
          <p:cNvPr id="2" name="Footer Placeholder 1">
            <a:extLst>
              <a:ext uri="{FF2B5EF4-FFF2-40B4-BE49-F238E27FC236}">
                <a16:creationId xmlns:a16="http://schemas.microsoft.com/office/drawing/2014/main" id="{24D9187A-9983-D96F-7876-9D0664C7EDF4}"/>
              </a:ext>
            </a:extLst>
          </p:cNvPr>
          <p:cNvSpPr>
            <a:spLocks noGrp="1"/>
          </p:cNvSpPr>
          <p:nvPr>
            <p:ph type="ftr" sz="quarter" idx="11"/>
          </p:nvPr>
        </p:nvSpPr>
        <p:spPr/>
        <p:txBody>
          <a:bodyPr/>
          <a:lstStyle/>
          <a:p>
            <a:r>
              <a:rPr lang="en-US"/>
              <a:t>Bùi Quốc Trung - VLDC</a:t>
            </a:r>
          </a:p>
        </p:txBody>
      </p:sp>
      <p:sp>
        <p:nvSpPr>
          <p:cNvPr id="5" name="Slide Number Placeholder 4">
            <a:extLst>
              <a:ext uri="{FF2B5EF4-FFF2-40B4-BE49-F238E27FC236}">
                <a16:creationId xmlns:a16="http://schemas.microsoft.com/office/drawing/2014/main" id="{0F53A648-1370-A77D-5F00-819AC60481FC}"/>
              </a:ext>
            </a:extLst>
          </p:cNvPr>
          <p:cNvSpPr>
            <a:spLocks noGrp="1"/>
          </p:cNvSpPr>
          <p:nvPr>
            <p:ph type="sldNum" sz="quarter" idx="12"/>
          </p:nvPr>
        </p:nvSpPr>
        <p:spPr/>
        <p:txBody>
          <a:bodyPr/>
          <a:lstStyle/>
          <a:p>
            <a:fld id="{C4A94DE9-7404-4CC4-BDD8-EA2E97866C70}" type="slidenum">
              <a:rPr lang="en-US" smtClean="0"/>
              <a:t>78</a:t>
            </a:fld>
            <a:endParaRPr lang="en-US"/>
          </a:p>
        </p:txBody>
      </p:sp>
    </p:spTree>
    <p:extLst>
      <p:ext uri="{BB962C8B-B14F-4D97-AF65-F5344CB8AC3E}">
        <p14:creationId xmlns:p14="http://schemas.microsoft.com/office/powerpoint/2010/main" val="3763325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nodeType="afterGroup">
                            <p:stCondLst>
                              <p:cond delay="1000"/>
                            </p:stCondLst>
                            <p:childTnLst>
                              <p:par>
                                <p:cTn id="14" presetID="21" presetClass="entr" presetSubtype="8" fill="hold" grpId="0" nodeType="afterEffect">
                                  <p:stCondLst>
                                    <p:cond delay="500"/>
                                  </p:stCondLst>
                                  <p:childTnLst>
                                    <p:set>
                                      <p:cBhvr>
                                        <p:cTn id="15" dur="1" fill="hold">
                                          <p:stCondLst>
                                            <p:cond delay="0"/>
                                          </p:stCondLst>
                                        </p:cTn>
                                        <p:tgtEl>
                                          <p:spTgt spid="36"/>
                                        </p:tgtEl>
                                        <p:attrNameLst>
                                          <p:attrName>style.visibility</p:attrName>
                                        </p:attrNameLst>
                                      </p:cBhvr>
                                      <p:to>
                                        <p:strVal val="visible"/>
                                      </p:to>
                                    </p:set>
                                    <p:animEffect transition="in" filter="wheel(8)">
                                      <p:cBhvr>
                                        <p:cTn id="16" dur="500"/>
                                        <p:tgtEl>
                                          <p:spTgt spid="36"/>
                                        </p:tgtEl>
                                      </p:cBhvr>
                                    </p:animEffect>
                                  </p:childTnLst>
                                </p:cTn>
                              </p:par>
                            </p:childTnLst>
                          </p:cTn>
                        </p:par>
                        <p:par>
                          <p:cTn id="17" fill="hold" nodeType="afterGroup">
                            <p:stCondLst>
                              <p:cond delay="2000"/>
                            </p:stCondLst>
                            <p:childTnLst>
                              <p:par>
                                <p:cTn id="18" presetID="5" presetClass="entr" presetSubtype="10" fill="hold" grpId="0" nodeType="afterEffect">
                                  <p:stCondLst>
                                    <p:cond delay="0"/>
                                  </p:stCondLst>
                                  <p:childTnLst>
                                    <p:set>
                                      <p:cBhvr>
                                        <p:cTn id="19" dur="1" fill="hold">
                                          <p:stCondLst>
                                            <p:cond delay="0"/>
                                          </p:stCondLst>
                                        </p:cTn>
                                        <p:tgtEl>
                                          <p:spTgt spid="14349"/>
                                        </p:tgtEl>
                                        <p:attrNameLst>
                                          <p:attrName>style.visibility</p:attrName>
                                        </p:attrNameLst>
                                      </p:cBhvr>
                                      <p:to>
                                        <p:strVal val="visible"/>
                                      </p:to>
                                    </p:set>
                                    <p:animEffect transition="in" filter="checkerboard(across)">
                                      <p:cBhvr>
                                        <p:cTn id="20" dur="500"/>
                                        <p:tgtEl>
                                          <p:spTgt spid="1434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checkerboard(across)">
                                      <p:cBhvr>
                                        <p:cTn id="25" dur="500"/>
                                        <p:tgtEl>
                                          <p:spTgt spid="12"/>
                                        </p:tgtEl>
                                      </p:cBhvr>
                                    </p:animEffect>
                                  </p:childTnLst>
                                </p:cTn>
                              </p:par>
                              <p:par>
                                <p:cTn id="26" presetID="1" presetClass="path" presetSubtype="0" repeatCount="indefinite" fill="hold" nodeType="withEffect">
                                  <p:stCondLst>
                                    <p:cond delay="0"/>
                                  </p:stCondLst>
                                  <p:childTnLst>
                                    <p:animMotion origin="layout" path="M 0.00381 -4.14431E-6 C 0.11562 -4.14431E-6 0.20711 0.05435 0.20711 0.12142 C 0.20711 0.18895 0.11562 0.24422 0.00381 0.24422 C -0.10816 0.24422 -0.19879 0.18895 -0.19879 0.12142 C -0.19879 0.05435 -0.10816 -4.14431E-6 0.00381 -4.14431E-6 Z " pathEditMode="fixed" rAng="0" ptsTypes="fffff">
                                      <p:cBhvr>
                                        <p:cTn id="27" dur="5000" fill="hold"/>
                                        <p:tgtEl>
                                          <p:spTgt spid="12"/>
                                        </p:tgtEl>
                                        <p:attrNameLst>
                                          <p:attrName>ppt_x</p:attrName>
                                          <p:attrName>ppt_y</p:attrName>
                                        </p:attrNameLst>
                                      </p:cBhvr>
                                      <p:rCtr x="35" y="12211"/>
                                    </p:animMotion>
                                  </p:childTnLst>
                                </p:cTn>
                              </p:par>
                              <p:par>
                                <p:cTn id="28" presetID="5" presetClass="entr" presetSubtype="1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checkerboard(across)">
                                      <p:cBhvr>
                                        <p:cTn id="30" dur="500"/>
                                        <p:tgtEl>
                                          <p:spTgt spid="11"/>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checkerboard(across)">
                                      <p:cBhvr>
                                        <p:cTn id="33" dur="500"/>
                                        <p:tgtEl>
                                          <p:spTgt spid="21"/>
                                        </p:tgtEl>
                                      </p:cBhvr>
                                    </p:animEffect>
                                  </p:childTnLst>
                                </p:cTn>
                              </p:par>
                              <p:par>
                                <p:cTn id="34" presetID="5" presetClass="entr" presetSubtype="10" fill="hold" nodeType="with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checkerboard(across)">
                                      <p:cBhvr>
                                        <p:cTn id="36" dur="500"/>
                                        <p:tgtEl>
                                          <p:spTgt spid="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14350"/>
                                        </p:tgtEl>
                                        <p:attrNameLst>
                                          <p:attrName>style.visibility</p:attrName>
                                        </p:attrNameLst>
                                      </p:cBhvr>
                                      <p:to>
                                        <p:strVal val="visible"/>
                                      </p:to>
                                    </p:set>
                                    <p:animEffect transition="in" filter="checkerboard(across)">
                                      <p:cBhvr>
                                        <p:cTn id="41" dur="500"/>
                                        <p:tgtEl>
                                          <p:spTgt spid="1435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ntr" presetSubtype="0" fill="hold" nodeType="click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500"/>
                                        <p:tgtEl>
                                          <p:spTgt spid="39"/>
                                        </p:tgtEl>
                                      </p:cBhvr>
                                    </p:animEffect>
                                  </p:childTnLst>
                                </p:cTn>
                              </p:par>
                            </p:childTnLst>
                          </p:cTn>
                        </p:par>
                        <p:par>
                          <p:cTn id="47" fill="hold" nodeType="afterGroup">
                            <p:stCondLst>
                              <p:cond delay="500"/>
                            </p:stCondLst>
                            <p:childTnLst>
                              <p:par>
                                <p:cTn id="48" presetID="21" presetClass="entr" presetSubtype="8" fill="hold" grpId="0" nodeType="after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heel(8)">
                                      <p:cBhvr>
                                        <p:cTn id="50" dur="500"/>
                                        <p:tgtEl>
                                          <p:spTgt spid="1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8" presetClass="entr" presetSubtype="12"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strips(downLeft)">
                                      <p:cBhvr>
                                        <p:cTn id="55" dur="500"/>
                                        <p:tgtEl>
                                          <p:spTgt spid="22"/>
                                        </p:tgtEl>
                                      </p:cBhvr>
                                    </p:animEffect>
                                  </p:childTnLst>
                                </p:cTn>
                              </p:par>
                              <p:par>
                                <p:cTn id="56" presetID="18" presetClass="entr" presetSubtype="12"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strips(downLeft)">
                                      <p:cBhvr>
                                        <p:cTn id="58" dur="500"/>
                                        <p:tgtEl>
                                          <p:spTgt spid="23"/>
                                        </p:tgtEl>
                                      </p:cBhvr>
                                    </p:animEffect>
                                  </p:childTnLst>
                                </p:cTn>
                              </p:par>
                              <p:par>
                                <p:cTn id="59" presetID="18" presetClass="entr" presetSubtype="12"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strips(downLeft)">
                                      <p:cBhvr>
                                        <p:cTn id="61" dur="500"/>
                                        <p:tgtEl>
                                          <p:spTgt spid="2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0" presetClass="entr" presetSubtype="0" fill="hold" nodeType="clickEffect">
                                  <p:stCondLst>
                                    <p:cond delay="0"/>
                                  </p:stCondLst>
                                  <p:childTnLst>
                                    <p:set>
                                      <p:cBhvr>
                                        <p:cTn id="65" dur="1" fill="hold">
                                          <p:stCondLst>
                                            <p:cond delay="0"/>
                                          </p:stCondLst>
                                        </p:cTn>
                                        <p:tgtEl>
                                          <p:spTgt spid="42"/>
                                        </p:tgtEl>
                                        <p:attrNameLst>
                                          <p:attrName>style.visibility</p:attrName>
                                        </p:attrNameLst>
                                      </p:cBhvr>
                                      <p:to>
                                        <p:strVal val="visible"/>
                                      </p:to>
                                    </p:set>
                                    <p:animEffect transition="in" filter="fade">
                                      <p:cBhvr>
                                        <p:cTn id="66" dur="500"/>
                                        <p:tgtEl>
                                          <p:spTgt spid="4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0" presetClass="entr" presetSubtype="0" fill="hold" nodeType="clickEffect">
                                  <p:stCondLst>
                                    <p:cond delay="0"/>
                                  </p:stCondLst>
                                  <p:childTnLst>
                                    <p:set>
                                      <p:cBhvr>
                                        <p:cTn id="70" dur="1" fill="hold">
                                          <p:stCondLst>
                                            <p:cond delay="0"/>
                                          </p:stCondLst>
                                        </p:cTn>
                                        <p:tgtEl>
                                          <p:spTgt spid="43"/>
                                        </p:tgtEl>
                                        <p:attrNameLst>
                                          <p:attrName>style.visibility</p:attrName>
                                        </p:attrNameLst>
                                      </p:cBhvr>
                                      <p:to>
                                        <p:strVal val="visible"/>
                                      </p:to>
                                    </p:set>
                                    <p:animEffect transition="in" filter="fade">
                                      <p:cBhvr>
                                        <p:cTn id="71"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9" grpId="0"/>
      <p:bldP spid="14350" grpId="0"/>
      <p:bldP spid="10" grpId="0"/>
      <p:bldP spid="21" grpId="0" animBg="1"/>
      <p:bldP spid="23" grpId="0" animBg="1"/>
      <p:bldP spid="24" grpId="0" animBg="1"/>
      <p:bldP spid="36" grpId="0" animBg="1"/>
      <p:bldP spid="11"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18"/>
          <p:cNvGrpSpPr>
            <a:grpSpLocks/>
          </p:cNvGrpSpPr>
          <p:nvPr/>
        </p:nvGrpSpPr>
        <p:grpSpPr bwMode="auto">
          <a:xfrm>
            <a:off x="990600" y="0"/>
            <a:ext cx="7086600" cy="685800"/>
            <a:chOff x="1310" y="1392"/>
            <a:chExt cx="4602" cy="432"/>
          </a:xfrm>
        </p:grpSpPr>
        <p:pic>
          <p:nvPicPr>
            <p:cNvPr id="42014"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460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 Box 14"/>
            <p:cNvSpPr txBox="1">
              <a:spLocks noChangeArrowheads="1"/>
            </p:cNvSpPr>
            <p:nvPr/>
          </p:nvSpPr>
          <p:spPr bwMode="auto">
            <a:xfrm>
              <a:off x="1870" y="1449"/>
              <a:ext cx="3476"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ctr"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2.6. </a:t>
              </a:r>
              <a:r>
                <a:rPr lang="vi-VN" sz="2400" b="1">
                  <a:solidFill>
                    <a:srgbClr val="FF0000"/>
                  </a:solidFill>
                  <a:latin typeface="Times New Roman" pitchFamily="18" charset="0"/>
                  <a:cs typeface="Times New Roman" pitchFamily="18" charset="0"/>
                </a:rPr>
                <a:t>Mômen động l</a:t>
              </a:r>
              <a:r>
                <a:rPr lang="en-US" sz="2400" b="1">
                  <a:solidFill>
                    <a:srgbClr val="FF0000"/>
                  </a:solidFill>
                  <a:latin typeface="Times New Roman" pitchFamily="18" charset="0"/>
                  <a:cs typeface="Times New Roman" pitchFamily="18" charset="0"/>
                </a:rPr>
                <a:t>ư</a:t>
              </a:r>
              <a:r>
                <a:rPr lang="vi-VN" sz="2400" b="1">
                  <a:solidFill>
                    <a:srgbClr val="FF0000"/>
                  </a:solidFill>
                  <a:latin typeface="Times New Roman" pitchFamily="18" charset="0"/>
                  <a:cs typeface="Times New Roman" pitchFamily="18" charset="0"/>
                </a:rPr>
                <a:t>ợng</a:t>
              </a:r>
              <a:r>
                <a:rPr lang="en-US" sz="2400" b="1">
                  <a:solidFill>
                    <a:srgbClr val="FF0000"/>
                  </a:solidFill>
                  <a:latin typeface="Times New Roman" pitchFamily="18" charset="0"/>
                  <a:cs typeface="Times New Roman" pitchFamily="18" charset="0"/>
                </a:rPr>
                <a:t> </a:t>
              </a:r>
              <a:r>
                <a:rPr lang="vi-VN" sz="2400" b="1">
                  <a:solidFill>
                    <a:srgbClr val="FF0000"/>
                  </a:solidFill>
                  <a:latin typeface="Times New Roman" pitchFamily="18" charset="0"/>
                  <a:cs typeface="Times New Roman" pitchFamily="18" charset="0"/>
                </a:rPr>
                <a:t>-</a:t>
              </a:r>
              <a:r>
                <a:rPr lang="en-US" sz="2400" b="1">
                  <a:solidFill>
                    <a:srgbClr val="FF0000"/>
                  </a:solidFill>
                  <a:latin typeface="Times New Roman" pitchFamily="18" charset="0"/>
                  <a:cs typeface="Times New Roman" pitchFamily="18" charset="0"/>
                </a:rPr>
                <a:t> </a:t>
              </a:r>
              <a:r>
                <a:rPr lang="vi-VN" sz="2400" b="1">
                  <a:solidFill>
                    <a:srgbClr val="FF0000"/>
                  </a:solidFill>
                  <a:latin typeface="Times New Roman" pitchFamily="18" charset="0"/>
                  <a:cs typeface="Times New Roman" pitchFamily="18" charset="0"/>
                </a:rPr>
                <a:t>Mômen lực</a:t>
              </a:r>
              <a:endParaRPr lang="en-US" sz="2400" b="1">
                <a:solidFill>
                  <a:srgbClr val="FF0000"/>
                </a:solidFill>
                <a:latin typeface="Times New Roman" pitchFamily="18" charset="0"/>
                <a:cs typeface="Times New Roman" pitchFamily="18" charset="0"/>
              </a:endParaRPr>
            </a:p>
          </p:txBody>
        </p:sp>
      </p:grpSp>
      <p:sp>
        <p:nvSpPr>
          <p:cNvPr id="14349" name="Rectangle 6"/>
          <p:cNvSpPr>
            <a:spLocks noChangeArrowheads="1"/>
          </p:cNvSpPr>
          <p:nvPr/>
        </p:nvSpPr>
        <p:spPr bwMode="auto">
          <a:xfrm>
            <a:off x="615950" y="838200"/>
            <a:ext cx="1924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a:solidFill>
                  <a:srgbClr val="002060"/>
                </a:solidFill>
                <a:latin typeface="Times New Roman" pitchFamily="18" charset="0"/>
                <a:cs typeface="Times New Roman" pitchFamily="18" charset="0"/>
              </a:rPr>
              <a:t>Mômen lực</a:t>
            </a:r>
          </a:p>
        </p:txBody>
      </p:sp>
      <p:sp>
        <p:nvSpPr>
          <p:cNvPr id="14350" name="Rectangle 8"/>
          <p:cNvSpPr>
            <a:spLocks noRot="1" noChangeAspect="1" noMove="1" noResize="1" noEditPoints="1" noAdjustHandles="1" noChangeArrowheads="1" noChangeShapeType="1" noTextEdit="1"/>
          </p:cNvSpPr>
          <p:nvPr/>
        </p:nvSpPr>
        <p:spPr bwMode="auto">
          <a:xfrm>
            <a:off x="152400" y="1295400"/>
            <a:ext cx="5181600" cy="1006366"/>
          </a:xfrm>
          <a:prstGeom prst="rect">
            <a:avLst/>
          </a:prstGeom>
          <a:blipFill rotWithShape="1">
            <a:blip r:embed="rId3"/>
            <a:stretch>
              <a:fillRect l="-2353" t="-606" r="-2588" b="-15758"/>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10" name="Rectangle 9"/>
          <p:cNvSpPr>
            <a:spLocks noChangeArrowheads="1"/>
          </p:cNvSpPr>
          <p:nvPr/>
        </p:nvSpPr>
        <p:spPr bwMode="auto">
          <a:xfrm>
            <a:off x="2559050" y="2301875"/>
            <a:ext cx="1524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sz="2800" i="1">
                <a:solidFill>
                  <a:srgbClr val="2125D5"/>
                </a:solidFill>
                <a:latin typeface="Times New Roman" pitchFamily="18" charset="0"/>
                <a:cs typeface="Times New Roman" pitchFamily="18" charset="0"/>
              </a:rPr>
              <a:t>(Nm)</a:t>
            </a:r>
          </a:p>
        </p:txBody>
      </p:sp>
      <p:grpSp>
        <p:nvGrpSpPr>
          <p:cNvPr id="4" name="Group 56"/>
          <p:cNvGrpSpPr>
            <a:grpSpLocks/>
          </p:cNvGrpSpPr>
          <p:nvPr/>
        </p:nvGrpSpPr>
        <p:grpSpPr bwMode="auto">
          <a:xfrm>
            <a:off x="5670550" y="1885950"/>
            <a:ext cx="3332163" cy="1755775"/>
            <a:chOff x="1981" y="3120"/>
            <a:chExt cx="2099" cy="1106"/>
          </a:xfrm>
        </p:grpSpPr>
        <p:grpSp>
          <p:nvGrpSpPr>
            <p:cNvPr id="42007" name="Group 50"/>
            <p:cNvGrpSpPr>
              <a:grpSpLocks/>
            </p:cNvGrpSpPr>
            <p:nvPr/>
          </p:nvGrpSpPr>
          <p:grpSpPr bwMode="auto">
            <a:xfrm>
              <a:off x="1981" y="3120"/>
              <a:ext cx="2003" cy="672"/>
              <a:chOff x="1981" y="3120"/>
              <a:chExt cx="2003" cy="672"/>
            </a:xfrm>
          </p:grpSpPr>
          <p:sp>
            <p:nvSpPr>
              <p:cNvPr id="42011" name="Text Box 42"/>
              <p:cNvSpPr txBox="1">
                <a:spLocks noChangeArrowheads="1"/>
              </p:cNvSpPr>
              <p:nvPr/>
            </p:nvSpPr>
            <p:spPr bwMode="auto">
              <a:xfrm>
                <a:off x="3648" y="350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r>
                  <a:rPr lang="en-US" sz="2000" b="1"/>
                  <a:t>M</a:t>
                </a:r>
                <a:endParaRPr lang="en-US" sz="3200" b="1"/>
              </a:p>
            </p:txBody>
          </p:sp>
          <p:sp>
            <p:nvSpPr>
              <p:cNvPr id="42012" name="Line 44"/>
              <p:cNvSpPr>
                <a:spLocks noChangeShapeType="1"/>
              </p:cNvSpPr>
              <p:nvPr/>
            </p:nvSpPr>
            <p:spPr bwMode="auto">
              <a:xfrm>
                <a:off x="1981" y="3414"/>
                <a:ext cx="1646" cy="186"/>
              </a:xfrm>
              <a:prstGeom prst="line">
                <a:avLst/>
              </a:prstGeom>
              <a:noFill/>
              <a:ln w="22225">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graphicFrame>
            <p:nvGraphicFramePr>
              <p:cNvPr id="42013" name="Object 8"/>
              <p:cNvGraphicFramePr>
                <a:graphicFrameLocks noChangeAspect="1"/>
              </p:cNvGraphicFramePr>
              <p:nvPr/>
            </p:nvGraphicFramePr>
            <p:xfrm>
              <a:off x="2832" y="3120"/>
              <a:ext cx="180" cy="336"/>
            </p:xfrm>
            <a:graphic>
              <a:graphicData uri="http://schemas.openxmlformats.org/presentationml/2006/ole">
                <mc:AlternateContent xmlns:mc="http://schemas.openxmlformats.org/markup-compatibility/2006">
                  <mc:Choice xmlns:v="urn:schemas-microsoft-com:vml" Requires="v">
                    <p:oleObj name="Equation" r:id="rId4" imgW="0" imgH="95385" progId="Equation.3">
                      <p:embed/>
                    </p:oleObj>
                  </mc:Choice>
                  <mc:Fallback>
                    <p:oleObj name="Equation" r:id="rId4" imgW="0" imgH="95385"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2" y="3120"/>
                            <a:ext cx="18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2008" name="Group 51"/>
            <p:cNvGrpSpPr>
              <a:grpSpLocks/>
            </p:cNvGrpSpPr>
            <p:nvPr/>
          </p:nvGrpSpPr>
          <p:grpSpPr bwMode="auto">
            <a:xfrm>
              <a:off x="3257" y="3584"/>
              <a:ext cx="823" cy="642"/>
              <a:chOff x="3257" y="3584"/>
              <a:chExt cx="823" cy="642"/>
            </a:xfrm>
          </p:grpSpPr>
          <p:sp>
            <p:nvSpPr>
              <p:cNvPr id="42009" name="Line 47"/>
              <p:cNvSpPr>
                <a:spLocks noChangeShapeType="1"/>
              </p:cNvSpPr>
              <p:nvPr/>
            </p:nvSpPr>
            <p:spPr bwMode="auto">
              <a:xfrm flipH="1">
                <a:off x="3257" y="3584"/>
                <a:ext cx="377" cy="595"/>
              </a:xfrm>
              <a:prstGeom prst="line">
                <a:avLst/>
              </a:prstGeom>
              <a:noFill/>
              <a:ln w="38100">
                <a:solidFill>
                  <a:srgbClr val="00A4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42010" name="Object 9"/>
              <p:cNvGraphicFramePr>
                <a:graphicFrameLocks noChangeAspect="1"/>
              </p:cNvGraphicFramePr>
              <p:nvPr/>
            </p:nvGraphicFramePr>
            <p:xfrm>
              <a:off x="3408" y="3879"/>
              <a:ext cx="672" cy="347"/>
            </p:xfrm>
            <a:graphic>
              <a:graphicData uri="http://schemas.openxmlformats.org/presentationml/2006/ole">
                <mc:AlternateContent xmlns:mc="http://schemas.openxmlformats.org/markup-compatibility/2006">
                  <mc:Choice xmlns:v="urn:schemas-microsoft-com:vml" Requires="v">
                    <p:oleObj name="Equation" r:id="rId6" imgW="0" imgH="0" progId="Equation.DSMT4">
                      <p:embed/>
                    </p:oleObj>
                  </mc:Choice>
                  <mc:Fallback>
                    <p:oleObj name="Equation" r:id="rId6" imgW="0" imgH="0" progId="Equation.DSMT4">
                      <p:embed/>
                      <p:pic>
                        <p:nvPicPr>
                          <p:cNvPr id="0" name=""/>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3408" y="3879"/>
                            <a:ext cx="672"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
        <p:nvSpPr>
          <p:cNvPr id="21" name="AutoShape 49"/>
          <p:cNvSpPr>
            <a:spLocks noChangeArrowheads="1"/>
          </p:cNvSpPr>
          <p:nvPr/>
        </p:nvSpPr>
        <p:spPr bwMode="auto">
          <a:xfrm>
            <a:off x="5421313" y="2190750"/>
            <a:ext cx="381000" cy="381000"/>
          </a:xfrm>
          <a:prstGeom prst="star24">
            <a:avLst>
              <a:gd name="adj" fmla="val 37500"/>
            </a:avLst>
          </a:prstGeom>
          <a:solidFill>
            <a:schemeClr val="accent1"/>
          </a:solidFill>
          <a:ln w="9525">
            <a:solidFill>
              <a:schemeClr val="tx1"/>
            </a:solidFill>
            <a:miter lim="800000"/>
            <a:headEnd/>
            <a:tailEnd/>
          </a:ln>
        </p:spPr>
        <p:txBody>
          <a:bodyPr wrap="none" anchor="ctr"/>
          <a:lstStyle/>
          <a:p>
            <a:pPr algn="ctr"/>
            <a:r>
              <a:rPr lang="en-US" sz="2800">
                <a:solidFill>
                  <a:srgbClr val="000000"/>
                </a:solidFill>
              </a:rPr>
              <a:t>o</a:t>
            </a:r>
          </a:p>
        </p:txBody>
      </p:sp>
      <p:graphicFrame>
        <p:nvGraphicFramePr>
          <p:cNvPr id="22" name="Object 10"/>
          <p:cNvGraphicFramePr>
            <a:graphicFrameLocks noGrp="1" noChangeAspect="1"/>
          </p:cNvGraphicFramePr>
          <p:nvPr>
            <p:ph idx="1"/>
          </p:nvPr>
        </p:nvGraphicFramePr>
        <p:xfrm>
          <a:off x="4567238" y="3830638"/>
          <a:ext cx="9525" cy="66675"/>
        </p:xfrm>
        <a:graphic>
          <a:graphicData uri="http://schemas.openxmlformats.org/presentationml/2006/ole">
            <mc:AlternateContent xmlns:mc="http://schemas.openxmlformats.org/markup-compatibility/2006">
              <mc:Choice xmlns:v="urn:schemas-microsoft-com:vml" Requires="v">
                <p:oleObj name="Equation" r:id="rId7" imgW="0" imgH="57285" progId="Equation.DSMT4">
                  <p:embed/>
                </p:oleObj>
              </mc:Choice>
              <mc:Fallback>
                <p:oleObj name="Equation" r:id="rId7" imgW="0" imgH="57285" progId="Equation.DSMT4">
                  <p:embed/>
                  <p:pic>
                    <p:nvPicPr>
                      <p:cNvPr id="0" name=""/>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67238" y="3830638"/>
                        <a:ext cx="9525" cy="6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 name="Line 57"/>
          <p:cNvSpPr>
            <a:spLocks noChangeShapeType="1"/>
          </p:cNvSpPr>
          <p:nvPr/>
        </p:nvSpPr>
        <p:spPr bwMode="auto">
          <a:xfrm>
            <a:off x="5618163" y="2568575"/>
            <a:ext cx="0" cy="685800"/>
          </a:xfrm>
          <a:prstGeom prst="line">
            <a:avLst/>
          </a:prstGeom>
          <a:noFill/>
          <a:ln w="25400">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58"/>
          <p:cNvSpPr>
            <a:spLocks noChangeShapeType="1"/>
          </p:cNvSpPr>
          <p:nvPr/>
        </p:nvSpPr>
        <p:spPr bwMode="auto">
          <a:xfrm>
            <a:off x="5618163" y="3155950"/>
            <a:ext cx="0" cy="6858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58" name="Rectangle 23"/>
          <p:cNvSpPr>
            <a:spLocks noChangeArrowheads="1"/>
          </p:cNvSpPr>
          <p:nvPr/>
        </p:nvSpPr>
        <p:spPr bwMode="auto">
          <a:xfrm>
            <a:off x="654050" y="3451225"/>
            <a:ext cx="480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tabLst>
                <a:tab pos="0" algn="l"/>
              </a:tabLst>
            </a:pPr>
            <a:r>
              <a:rPr lang="en-US" sz="2800" b="1">
                <a:solidFill>
                  <a:srgbClr val="002060"/>
                </a:solidFill>
                <a:latin typeface="Times New Roman" pitchFamily="18" charset="0"/>
                <a:cs typeface="Times New Roman" pitchFamily="18" charset="0"/>
              </a:rPr>
              <a:t>Định lý về momen động lượng</a:t>
            </a:r>
          </a:p>
        </p:txBody>
      </p:sp>
      <p:sp>
        <p:nvSpPr>
          <p:cNvPr id="36" name="4-Point Star 35"/>
          <p:cNvSpPr/>
          <p:nvPr/>
        </p:nvSpPr>
        <p:spPr>
          <a:xfrm>
            <a:off x="214313" y="962025"/>
            <a:ext cx="304800" cy="304800"/>
          </a:xfrm>
          <a:prstGeom prst="star4">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sz="1800"/>
          </a:p>
        </p:txBody>
      </p:sp>
      <p:sp>
        <p:nvSpPr>
          <p:cNvPr id="37" name="4-Point Star 36"/>
          <p:cNvSpPr/>
          <p:nvPr/>
        </p:nvSpPr>
        <p:spPr>
          <a:xfrm>
            <a:off x="249238" y="3605213"/>
            <a:ext cx="304800" cy="304800"/>
          </a:xfrm>
          <a:prstGeom prst="star4">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sz="1800"/>
          </a:p>
        </p:txBody>
      </p:sp>
      <p:sp>
        <p:nvSpPr>
          <p:cNvPr id="44" name="Rectangle 19"/>
          <p:cNvSpPr>
            <a:spLocks noChangeArrowheads="1"/>
          </p:cNvSpPr>
          <p:nvPr/>
        </p:nvSpPr>
        <p:spPr bwMode="auto">
          <a:xfrm>
            <a:off x="1905000" y="5181600"/>
            <a:ext cx="72390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a:tabLst>
                <a:tab pos="0" algn="l"/>
              </a:tabLst>
            </a:pPr>
            <a:r>
              <a:rPr lang="en-US" sz="2800" u="sng">
                <a:solidFill>
                  <a:srgbClr val="990000"/>
                </a:solidFill>
                <a:latin typeface="Times New Roman" pitchFamily="18" charset="0"/>
                <a:cs typeface="Times New Roman" pitchFamily="18" charset="0"/>
              </a:rPr>
              <a:t>Định lý 1</a:t>
            </a:r>
            <a:r>
              <a:rPr lang="en-US" sz="2800">
                <a:solidFill>
                  <a:srgbClr val="990000"/>
                </a:solidFill>
                <a:latin typeface="Times New Roman" pitchFamily="18" charset="0"/>
                <a:cs typeface="Times New Roman" pitchFamily="18" charset="0"/>
              </a:rPr>
              <a:t>:</a:t>
            </a:r>
            <a:r>
              <a:rPr lang="en-US" sz="2800">
                <a:solidFill>
                  <a:srgbClr val="0000FF"/>
                </a:solidFill>
                <a:latin typeface="Times New Roman" pitchFamily="18" charset="0"/>
                <a:cs typeface="Times New Roman" pitchFamily="18" charset="0"/>
              </a:rPr>
              <a:t> </a:t>
            </a:r>
            <a:r>
              <a:rPr lang="en-US" sz="2800" i="1">
                <a:solidFill>
                  <a:srgbClr val="0000FF"/>
                </a:solidFill>
                <a:latin typeface="Times New Roman" pitchFamily="18" charset="0"/>
                <a:cs typeface="Times New Roman" pitchFamily="18" charset="0"/>
              </a:rPr>
              <a:t>“Đạo hàm theo thời gian của momen động lượng của một chất điểm chuyển động bằng tổng momen lực tác dụng lên chất điểm.”</a:t>
            </a:r>
          </a:p>
        </p:txBody>
      </p:sp>
      <p:sp>
        <p:nvSpPr>
          <p:cNvPr id="46" name="Left-Right Arrow 45"/>
          <p:cNvSpPr/>
          <p:nvPr/>
        </p:nvSpPr>
        <p:spPr>
          <a:xfrm>
            <a:off x="1905000" y="4448175"/>
            <a:ext cx="304800" cy="160338"/>
          </a:xfrm>
          <a:prstGeom prst="leftRightArrow">
            <a:avLst/>
          </a:prstGeom>
          <a:solidFill>
            <a:srgbClr val="43CE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11" name="Oval 39"/>
          <p:cNvSpPr>
            <a:spLocks noChangeArrowheads="1"/>
          </p:cNvSpPr>
          <p:nvPr/>
        </p:nvSpPr>
        <p:spPr bwMode="auto">
          <a:xfrm>
            <a:off x="4572000" y="1657350"/>
            <a:ext cx="3733800" cy="1676400"/>
          </a:xfrm>
          <a:prstGeom prst="ellipse">
            <a:avLst/>
          </a:prstGeom>
          <a:noFill/>
          <a:ln w="34925">
            <a:solidFill>
              <a:srgbClr val="FF0000"/>
            </a:solidFill>
            <a:round/>
            <a:headEnd type="none" w="sm" len="sm"/>
            <a:tailEnd/>
          </a:ln>
          <a:extLst>
            <a:ext uri="{909E8E84-426E-40DD-AFC4-6F175D3DCCD1}">
              <a14:hiddenFill xmlns:a14="http://schemas.microsoft.com/office/drawing/2010/main">
                <a:solidFill>
                  <a:srgbClr val="FFFFFF"/>
                </a:solidFill>
              </a14:hiddenFill>
            </a:ext>
          </a:extLst>
        </p:spPr>
        <p:txBody>
          <a:bodyPr wrap="none" anchor="ctr"/>
          <a:lstStyle/>
          <a:p>
            <a:endParaRPr lang="en-US" sz="1800"/>
          </a:p>
        </p:txBody>
      </p:sp>
      <p:pic>
        <p:nvPicPr>
          <p:cNvPr id="12" name="Picture 40" descr="TraiDat"/>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6259513" y="1524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Rectangle 38"/>
          <p:cNvSpPr>
            <a:spLocks noRot="1" noChangeAspect="1" noMove="1" noResize="1" noEditPoints="1" noAdjustHandles="1" noChangeArrowheads="1" noChangeShapeType="1" noTextEdit="1"/>
          </p:cNvSpPr>
          <p:nvPr/>
        </p:nvSpPr>
        <p:spPr>
          <a:xfrm>
            <a:off x="562011" y="2325618"/>
            <a:ext cx="1738312" cy="644664"/>
          </a:xfrm>
          <a:prstGeom prst="rect">
            <a:avLst/>
          </a:prstGeom>
          <a:blipFill rotWithShape="1">
            <a:blip r:embed="rId10"/>
            <a:stretch>
              <a:fillRect/>
            </a:stretch>
          </a:blipFill>
        </p:spPr>
        <p:txBody>
          <a:bodyPr/>
          <a:lstStyle/>
          <a:p>
            <a:pPr>
              <a:defRPr/>
            </a:pPr>
            <a:r>
              <a:rPr lang="en-US">
                <a:noFill/>
              </a:rPr>
              <a:t> </a:t>
            </a:r>
          </a:p>
        </p:txBody>
      </p:sp>
      <p:sp>
        <p:nvSpPr>
          <p:cNvPr id="40" name="Rectangle 39"/>
          <p:cNvSpPr>
            <a:spLocks noRot="1" noChangeAspect="1" noMove="1" noResize="1" noEditPoints="1" noAdjustHandles="1" noChangeArrowheads="1" noChangeShapeType="1" noTextEdit="1"/>
          </p:cNvSpPr>
          <p:nvPr/>
        </p:nvSpPr>
        <p:spPr>
          <a:xfrm>
            <a:off x="152400" y="4053840"/>
            <a:ext cx="1738312" cy="821443"/>
          </a:xfrm>
          <a:prstGeom prst="rect">
            <a:avLst/>
          </a:prstGeom>
          <a:blipFill rotWithShape="1">
            <a:blip r:embed="rId11"/>
            <a:stretch>
              <a:fillRect b="-4444"/>
            </a:stretch>
          </a:blipFill>
          <a:ln>
            <a:noFill/>
          </a:ln>
        </p:spPr>
        <p:txBody>
          <a:bodyPr/>
          <a:lstStyle/>
          <a:p>
            <a:pPr>
              <a:defRPr/>
            </a:pPr>
            <a:r>
              <a:rPr lang="en-US">
                <a:noFill/>
              </a:rPr>
              <a:t> </a:t>
            </a:r>
          </a:p>
        </p:txBody>
      </p:sp>
      <p:sp>
        <p:nvSpPr>
          <p:cNvPr id="42" name="Rectangle 41"/>
          <p:cNvSpPr>
            <a:spLocks noChangeArrowheads="1"/>
          </p:cNvSpPr>
          <p:nvPr/>
        </p:nvSpPr>
        <p:spPr bwMode="auto">
          <a:xfrm>
            <a:off x="519113" y="2951163"/>
            <a:ext cx="39004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sz="2800" i="1">
                <a:solidFill>
                  <a:srgbClr val="2125D5"/>
                </a:solidFill>
                <a:latin typeface="Times New Roman" pitchFamily="18" charset="0"/>
                <a:cs typeface="Times New Roman" pitchFamily="18" charset="0"/>
              </a:rPr>
              <a:t>Độ lớn: M = rFsin</a:t>
            </a:r>
            <a:r>
              <a:rPr lang="el-GR" sz="2800" i="1">
                <a:solidFill>
                  <a:srgbClr val="2125D5"/>
                </a:solidFill>
                <a:latin typeface="Times New Roman" pitchFamily="18" charset="0"/>
                <a:cs typeface="Times New Roman" pitchFamily="18" charset="0"/>
              </a:rPr>
              <a:t>α</a:t>
            </a:r>
            <a:r>
              <a:rPr lang="en-US" sz="2800" i="1">
                <a:solidFill>
                  <a:srgbClr val="2125D5"/>
                </a:solidFill>
                <a:latin typeface="Times New Roman" pitchFamily="18" charset="0"/>
                <a:cs typeface="Times New Roman" pitchFamily="18" charset="0"/>
              </a:rPr>
              <a:t> = Fd</a:t>
            </a:r>
          </a:p>
        </p:txBody>
      </p:sp>
      <p:sp>
        <p:nvSpPr>
          <p:cNvPr id="47" name="Rectangle 46"/>
          <p:cNvSpPr>
            <a:spLocks noRot="1" noChangeAspect="1" noMove="1" noResize="1" noEditPoints="1" noAdjustHandles="1" noChangeArrowheads="1" noChangeShapeType="1" noTextEdit="1"/>
          </p:cNvSpPr>
          <p:nvPr/>
        </p:nvSpPr>
        <p:spPr bwMode="auto">
          <a:xfrm>
            <a:off x="2346221" y="4181197"/>
            <a:ext cx="1950244" cy="648254"/>
          </a:xfrm>
          <a:prstGeom prst="rect">
            <a:avLst/>
          </a:prstGeom>
          <a:blipFill rotWithShape="1">
            <a:blip r:embed="rId12"/>
            <a:stretch>
              <a:fillRect b="-26415"/>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5" name="Rectangle 4"/>
          <p:cNvSpPr>
            <a:spLocks noRot="1" noChangeAspect="1" noMove="1" noResize="1" noEditPoints="1" noAdjustHandles="1" noChangeArrowheads="1" noChangeShapeType="1" noTextEdit="1"/>
          </p:cNvSpPr>
          <p:nvPr/>
        </p:nvSpPr>
        <p:spPr>
          <a:xfrm>
            <a:off x="152401" y="5181600"/>
            <a:ext cx="1700542" cy="1447800"/>
          </a:xfrm>
          <a:prstGeom prst="rect">
            <a:avLst/>
          </a:prstGeom>
          <a:blipFill rotWithShape="1">
            <a:blip r:embed="rId13"/>
            <a:stretch>
              <a:fillRect/>
            </a:stretch>
          </a:blipFill>
        </p:spPr>
        <p:txBody>
          <a:bodyPr/>
          <a:lstStyle/>
          <a:p>
            <a:pPr>
              <a:defRPr/>
            </a:pPr>
            <a:r>
              <a:rPr lang="en-US">
                <a:noFill/>
              </a:rPr>
              <a:t> </a:t>
            </a:r>
          </a:p>
        </p:txBody>
      </p:sp>
      <p:sp>
        <p:nvSpPr>
          <p:cNvPr id="2" name="Footer Placeholder 1">
            <a:extLst>
              <a:ext uri="{FF2B5EF4-FFF2-40B4-BE49-F238E27FC236}">
                <a16:creationId xmlns:a16="http://schemas.microsoft.com/office/drawing/2014/main" id="{B0519435-4A46-52C2-D32A-878B5180FECB}"/>
              </a:ext>
            </a:extLst>
          </p:cNvPr>
          <p:cNvSpPr>
            <a:spLocks noGrp="1"/>
          </p:cNvSpPr>
          <p:nvPr>
            <p:ph type="ftr" sz="quarter" idx="11"/>
          </p:nvPr>
        </p:nvSpPr>
        <p:spPr/>
        <p:txBody>
          <a:bodyPr/>
          <a:lstStyle/>
          <a:p>
            <a:r>
              <a:rPr lang="en-US"/>
              <a:t>Bùi Quốc Trung - VLDC</a:t>
            </a:r>
          </a:p>
        </p:txBody>
      </p:sp>
      <p:sp>
        <p:nvSpPr>
          <p:cNvPr id="6" name="Slide Number Placeholder 5">
            <a:extLst>
              <a:ext uri="{FF2B5EF4-FFF2-40B4-BE49-F238E27FC236}">
                <a16:creationId xmlns:a16="http://schemas.microsoft.com/office/drawing/2014/main" id="{2DA4C827-4A3E-E31E-19C5-8B63A56E58CC}"/>
              </a:ext>
            </a:extLst>
          </p:cNvPr>
          <p:cNvSpPr>
            <a:spLocks noGrp="1"/>
          </p:cNvSpPr>
          <p:nvPr>
            <p:ph type="sldNum" sz="quarter" idx="12"/>
          </p:nvPr>
        </p:nvSpPr>
        <p:spPr/>
        <p:txBody>
          <a:bodyPr/>
          <a:lstStyle/>
          <a:p>
            <a:fld id="{C4A94DE9-7404-4CC4-BDD8-EA2E97866C70}" type="slidenum">
              <a:rPr lang="en-US" smtClean="0"/>
              <a:t>79</a:t>
            </a:fld>
            <a:endParaRPr lang="en-US"/>
          </a:p>
        </p:txBody>
      </p:sp>
    </p:spTree>
    <p:extLst>
      <p:ext uri="{BB962C8B-B14F-4D97-AF65-F5344CB8AC3E}">
        <p14:creationId xmlns:p14="http://schemas.microsoft.com/office/powerpoint/2010/main" val="24724353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nodeType="afterGroup">
                            <p:stCondLst>
                              <p:cond delay="1000"/>
                            </p:stCondLst>
                            <p:childTnLst>
                              <p:par>
                                <p:cTn id="14" presetID="21" presetClass="entr" presetSubtype="8" fill="hold" grpId="0" nodeType="afterEffect">
                                  <p:stCondLst>
                                    <p:cond delay="500"/>
                                  </p:stCondLst>
                                  <p:childTnLst>
                                    <p:set>
                                      <p:cBhvr>
                                        <p:cTn id="15" dur="1" fill="hold">
                                          <p:stCondLst>
                                            <p:cond delay="0"/>
                                          </p:stCondLst>
                                        </p:cTn>
                                        <p:tgtEl>
                                          <p:spTgt spid="36"/>
                                        </p:tgtEl>
                                        <p:attrNameLst>
                                          <p:attrName>style.visibility</p:attrName>
                                        </p:attrNameLst>
                                      </p:cBhvr>
                                      <p:to>
                                        <p:strVal val="visible"/>
                                      </p:to>
                                    </p:set>
                                    <p:animEffect transition="in" filter="wheel(8)">
                                      <p:cBhvr>
                                        <p:cTn id="16" dur="500"/>
                                        <p:tgtEl>
                                          <p:spTgt spid="36"/>
                                        </p:tgtEl>
                                      </p:cBhvr>
                                    </p:animEffect>
                                  </p:childTnLst>
                                </p:cTn>
                              </p:par>
                            </p:childTnLst>
                          </p:cTn>
                        </p:par>
                        <p:par>
                          <p:cTn id="17" fill="hold" nodeType="afterGroup">
                            <p:stCondLst>
                              <p:cond delay="2000"/>
                            </p:stCondLst>
                            <p:childTnLst>
                              <p:par>
                                <p:cTn id="18" presetID="5" presetClass="entr" presetSubtype="10" fill="hold" grpId="0" nodeType="afterEffect">
                                  <p:stCondLst>
                                    <p:cond delay="0"/>
                                  </p:stCondLst>
                                  <p:childTnLst>
                                    <p:set>
                                      <p:cBhvr>
                                        <p:cTn id="19" dur="1" fill="hold">
                                          <p:stCondLst>
                                            <p:cond delay="0"/>
                                          </p:stCondLst>
                                        </p:cTn>
                                        <p:tgtEl>
                                          <p:spTgt spid="14349"/>
                                        </p:tgtEl>
                                        <p:attrNameLst>
                                          <p:attrName>style.visibility</p:attrName>
                                        </p:attrNameLst>
                                      </p:cBhvr>
                                      <p:to>
                                        <p:strVal val="visible"/>
                                      </p:to>
                                    </p:set>
                                    <p:animEffect transition="in" filter="checkerboard(across)">
                                      <p:cBhvr>
                                        <p:cTn id="20" dur="500"/>
                                        <p:tgtEl>
                                          <p:spTgt spid="1434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checkerboard(across)">
                                      <p:cBhvr>
                                        <p:cTn id="25" dur="500"/>
                                        <p:tgtEl>
                                          <p:spTgt spid="12"/>
                                        </p:tgtEl>
                                      </p:cBhvr>
                                    </p:animEffect>
                                  </p:childTnLst>
                                </p:cTn>
                              </p:par>
                              <p:par>
                                <p:cTn id="26" presetID="1" presetClass="path" presetSubtype="0" repeatCount="indefinite" fill="hold" nodeType="withEffect">
                                  <p:stCondLst>
                                    <p:cond delay="0"/>
                                  </p:stCondLst>
                                  <p:childTnLst>
                                    <p:animMotion origin="layout" path="M 0.00381 -4.14431E-6 C 0.11562 -4.14431E-6 0.20711 0.05435 0.20711 0.12142 C 0.20711 0.18895 0.11562 0.24422 0.00381 0.24422 C -0.10816 0.24422 -0.19879 0.18895 -0.19879 0.12142 C -0.19879 0.05435 -0.10816 -4.14431E-6 0.00381 -4.14431E-6 Z " pathEditMode="fixed" rAng="0" ptsTypes="fffff">
                                      <p:cBhvr>
                                        <p:cTn id="27" dur="5000" fill="hold"/>
                                        <p:tgtEl>
                                          <p:spTgt spid="12"/>
                                        </p:tgtEl>
                                        <p:attrNameLst>
                                          <p:attrName>ppt_x</p:attrName>
                                          <p:attrName>ppt_y</p:attrName>
                                        </p:attrNameLst>
                                      </p:cBhvr>
                                      <p:rCtr x="35" y="12211"/>
                                    </p:animMotion>
                                  </p:childTnLst>
                                </p:cTn>
                              </p:par>
                              <p:par>
                                <p:cTn id="28" presetID="5" presetClass="entr" presetSubtype="1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checkerboard(across)">
                                      <p:cBhvr>
                                        <p:cTn id="30" dur="500"/>
                                        <p:tgtEl>
                                          <p:spTgt spid="11"/>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checkerboard(across)">
                                      <p:cBhvr>
                                        <p:cTn id="33" dur="500"/>
                                        <p:tgtEl>
                                          <p:spTgt spid="21"/>
                                        </p:tgtEl>
                                      </p:cBhvr>
                                    </p:animEffect>
                                  </p:childTnLst>
                                </p:cTn>
                              </p:par>
                              <p:par>
                                <p:cTn id="34" presetID="5" presetClass="entr" presetSubtype="10" fill="hold" nodeType="with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checkerboard(across)">
                                      <p:cBhvr>
                                        <p:cTn id="36" dur="500"/>
                                        <p:tgtEl>
                                          <p:spTgt spid="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 presetClass="entr" presetSubtype="10" fill="hold" nodeType="clickEffect">
                                  <p:stCondLst>
                                    <p:cond delay="0"/>
                                  </p:stCondLst>
                                  <p:childTnLst>
                                    <p:set>
                                      <p:cBhvr>
                                        <p:cTn id="40" dur="1" fill="hold">
                                          <p:stCondLst>
                                            <p:cond delay="0"/>
                                          </p:stCondLst>
                                        </p:cTn>
                                        <p:tgtEl>
                                          <p:spTgt spid="14350"/>
                                        </p:tgtEl>
                                        <p:attrNameLst>
                                          <p:attrName>style.visibility</p:attrName>
                                        </p:attrNameLst>
                                      </p:cBhvr>
                                      <p:to>
                                        <p:strVal val="visible"/>
                                      </p:to>
                                    </p:set>
                                    <p:animEffect transition="in" filter="checkerboard(across)">
                                      <p:cBhvr>
                                        <p:cTn id="41" dur="500"/>
                                        <p:tgtEl>
                                          <p:spTgt spid="1435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ntr" presetSubtype="0" fill="hold" nodeType="click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500"/>
                                        <p:tgtEl>
                                          <p:spTgt spid="39"/>
                                        </p:tgtEl>
                                      </p:cBhvr>
                                    </p:animEffect>
                                  </p:childTnLst>
                                </p:cTn>
                              </p:par>
                            </p:childTnLst>
                          </p:cTn>
                        </p:par>
                        <p:par>
                          <p:cTn id="47" fill="hold" nodeType="afterGroup">
                            <p:stCondLst>
                              <p:cond delay="500"/>
                            </p:stCondLst>
                            <p:childTnLst>
                              <p:par>
                                <p:cTn id="48" presetID="21" presetClass="entr" presetSubtype="8" fill="hold" grpId="0" nodeType="after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heel(8)">
                                      <p:cBhvr>
                                        <p:cTn id="50" dur="500"/>
                                        <p:tgtEl>
                                          <p:spTgt spid="1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8" presetClass="entr" presetSubtype="12"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strips(downLeft)">
                                      <p:cBhvr>
                                        <p:cTn id="55" dur="500"/>
                                        <p:tgtEl>
                                          <p:spTgt spid="22"/>
                                        </p:tgtEl>
                                      </p:cBhvr>
                                    </p:animEffect>
                                  </p:childTnLst>
                                </p:cTn>
                              </p:par>
                              <p:par>
                                <p:cTn id="56" presetID="18" presetClass="entr" presetSubtype="12"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strips(downLeft)">
                                      <p:cBhvr>
                                        <p:cTn id="58" dur="500"/>
                                        <p:tgtEl>
                                          <p:spTgt spid="23"/>
                                        </p:tgtEl>
                                      </p:cBhvr>
                                    </p:animEffect>
                                  </p:childTnLst>
                                </p:cTn>
                              </p:par>
                              <p:par>
                                <p:cTn id="59" presetID="18" presetClass="entr" presetSubtype="12"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strips(downLeft)">
                                      <p:cBhvr>
                                        <p:cTn id="61" dur="500"/>
                                        <p:tgtEl>
                                          <p:spTgt spid="2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42"/>
                                        </p:tgtEl>
                                        <p:attrNameLst>
                                          <p:attrName>style.visibility</p:attrName>
                                        </p:attrNameLst>
                                      </p:cBhvr>
                                      <p:to>
                                        <p:strVal val="visible"/>
                                      </p:to>
                                    </p:set>
                                    <p:animEffect transition="in" filter="fade">
                                      <p:cBhvr>
                                        <p:cTn id="66" dur="500"/>
                                        <p:tgtEl>
                                          <p:spTgt spid="4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1" presetClass="entr" presetSubtype="8" fill="hold" grpId="0" nodeType="click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wheel(8)">
                                      <p:cBhvr>
                                        <p:cTn id="71" dur="500"/>
                                        <p:tgtEl>
                                          <p:spTgt spid="37"/>
                                        </p:tgtEl>
                                      </p:cBhvr>
                                    </p:animEffect>
                                  </p:childTnLst>
                                </p:cTn>
                              </p:par>
                            </p:childTnLst>
                          </p:cTn>
                        </p:par>
                        <p:par>
                          <p:cTn id="72" fill="hold" nodeType="afterGroup">
                            <p:stCondLst>
                              <p:cond delay="500"/>
                            </p:stCondLst>
                            <p:childTnLst>
                              <p:par>
                                <p:cTn id="73" presetID="5" presetClass="entr" presetSubtype="10" fill="hold" grpId="0" nodeType="afterEffect">
                                  <p:stCondLst>
                                    <p:cond delay="0"/>
                                  </p:stCondLst>
                                  <p:childTnLst>
                                    <p:set>
                                      <p:cBhvr>
                                        <p:cTn id="74" dur="1" fill="hold">
                                          <p:stCondLst>
                                            <p:cond delay="0"/>
                                          </p:stCondLst>
                                        </p:cTn>
                                        <p:tgtEl>
                                          <p:spTgt spid="14358"/>
                                        </p:tgtEl>
                                        <p:attrNameLst>
                                          <p:attrName>style.visibility</p:attrName>
                                        </p:attrNameLst>
                                      </p:cBhvr>
                                      <p:to>
                                        <p:strVal val="visible"/>
                                      </p:to>
                                    </p:set>
                                    <p:animEffect transition="in" filter="checkerboard(across)">
                                      <p:cBhvr>
                                        <p:cTn id="75" dur="500"/>
                                        <p:tgtEl>
                                          <p:spTgt spid="14358"/>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10" presetClass="entr" presetSubtype="0" fill="hold" nodeType="clickEffect">
                                  <p:stCondLst>
                                    <p:cond delay="0"/>
                                  </p:stCondLst>
                                  <p:childTnLst>
                                    <p:set>
                                      <p:cBhvr>
                                        <p:cTn id="79" dur="1" fill="hold">
                                          <p:stCondLst>
                                            <p:cond delay="0"/>
                                          </p:stCondLst>
                                        </p:cTn>
                                        <p:tgtEl>
                                          <p:spTgt spid="40"/>
                                        </p:tgtEl>
                                        <p:attrNameLst>
                                          <p:attrName>style.visibility</p:attrName>
                                        </p:attrNameLst>
                                      </p:cBhvr>
                                      <p:to>
                                        <p:strVal val="visible"/>
                                      </p:to>
                                    </p:set>
                                    <p:animEffect transition="in" filter="fade">
                                      <p:cBhvr>
                                        <p:cTn id="80" dur="500"/>
                                        <p:tgtEl>
                                          <p:spTgt spid="40"/>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8" presetClass="entr" presetSubtype="32" fill="hold" grpId="0" nodeType="clickEffect">
                                  <p:stCondLst>
                                    <p:cond delay="0"/>
                                  </p:stCondLst>
                                  <p:childTnLst>
                                    <p:set>
                                      <p:cBhvr>
                                        <p:cTn id="84" dur="1" fill="hold">
                                          <p:stCondLst>
                                            <p:cond delay="0"/>
                                          </p:stCondLst>
                                        </p:cTn>
                                        <p:tgtEl>
                                          <p:spTgt spid="46"/>
                                        </p:tgtEl>
                                        <p:attrNameLst>
                                          <p:attrName>style.visibility</p:attrName>
                                        </p:attrNameLst>
                                      </p:cBhvr>
                                      <p:to>
                                        <p:strVal val="visible"/>
                                      </p:to>
                                    </p:set>
                                    <p:animEffect transition="in" filter="diamond(out)">
                                      <p:cBhvr>
                                        <p:cTn id="85" dur="500"/>
                                        <p:tgtEl>
                                          <p:spTgt spid="46"/>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10" presetClass="entr" presetSubtype="0" fill="hold" nodeType="clickEffect">
                                  <p:stCondLst>
                                    <p:cond delay="0"/>
                                  </p:stCondLst>
                                  <p:childTnLst>
                                    <p:set>
                                      <p:cBhvr>
                                        <p:cTn id="89" dur="1" fill="hold">
                                          <p:stCondLst>
                                            <p:cond delay="0"/>
                                          </p:stCondLst>
                                        </p:cTn>
                                        <p:tgtEl>
                                          <p:spTgt spid="47"/>
                                        </p:tgtEl>
                                        <p:attrNameLst>
                                          <p:attrName>style.visibility</p:attrName>
                                        </p:attrNameLst>
                                      </p:cBhvr>
                                      <p:to>
                                        <p:strVal val="visible"/>
                                      </p:to>
                                    </p:set>
                                    <p:animEffect transition="in" filter="fade">
                                      <p:cBhvr>
                                        <p:cTn id="90" dur="500"/>
                                        <p:tgtEl>
                                          <p:spTgt spid="47"/>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42" presetClass="entr" presetSubtype="0" fill="hold" nodeType="clickEffect">
                                  <p:stCondLst>
                                    <p:cond delay="0"/>
                                  </p:stCondLst>
                                  <p:childTnLst>
                                    <p:set>
                                      <p:cBhvr>
                                        <p:cTn id="94" dur="1" fill="hold">
                                          <p:stCondLst>
                                            <p:cond delay="0"/>
                                          </p:stCondLst>
                                        </p:cTn>
                                        <p:tgtEl>
                                          <p:spTgt spid="5"/>
                                        </p:tgtEl>
                                        <p:attrNameLst>
                                          <p:attrName>style.visibility</p:attrName>
                                        </p:attrNameLst>
                                      </p:cBhvr>
                                      <p:to>
                                        <p:strVal val="visible"/>
                                      </p:to>
                                    </p:set>
                                    <p:animEffect transition="in" filter="fade">
                                      <p:cBhvr>
                                        <p:cTn id="95" dur="1000"/>
                                        <p:tgtEl>
                                          <p:spTgt spid="5"/>
                                        </p:tgtEl>
                                      </p:cBhvr>
                                    </p:animEffect>
                                    <p:anim calcmode="lin" valueType="num">
                                      <p:cBhvr>
                                        <p:cTn id="96" dur="1000" fill="hold"/>
                                        <p:tgtEl>
                                          <p:spTgt spid="5"/>
                                        </p:tgtEl>
                                        <p:attrNameLst>
                                          <p:attrName>ppt_x</p:attrName>
                                        </p:attrNameLst>
                                      </p:cBhvr>
                                      <p:tavLst>
                                        <p:tav tm="0">
                                          <p:val>
                                            <p:strVal val="#ppt_x"/>
                                          </p:val>
                                        </p:tav>
                                        <p:tav tm="100000">
                                          <p:val>
                                            <p:strVal val="#ppt_x"/>
                                          </p:val>
                                        </p:tav>
                                      </p:tavLst>
                                    </p:anim>
                                    <p:anim calcmode="lin" valueType="num">
                                      <p:cBhvr>
                                        <p:cTn id="9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98" fill="hold" nodeType="clickPar">
                      <p:stCondLst>
                        <p:cond delay="indefinite"/>
                      </p:stCondLst>
                      <p:childTnLst>
                        <p:par>
                          <p:cTn id="99" fill="hold" nodeType="withGroup">
                            <p:stCondLst>
                              <p:cond delay="0"/>
                            </p:stCondLst>
                            <p:childTnLst>
                              <p:par>
                                <p:cTn id="100" presetID="54" presetClass="entr" presetSubtype="0" accel="100000" fill="hold" grpId="0" nodeType="clickEffect">
                                  <p:stCondLst>
                                    <p:cond delay="0"/>
                                  </p:stCondLst>
                                  <p:childTnLst>
                                    <p:set>
                                      <p:cBhvr>
                                        <p:cTn id="101" dur="1" fill="hold">
                                          <p:stCondLst>
                                            <p:cond delay="0"/>
                                          </p:stCondLst>
                                        </p:cTn>
                                        <p:tgtEl>
                                          <p:spTgt spid="44"/>
                                        </p:tgtEl>
                                        <p:attrNameLst>
                                          <p:attrName>style.visibility</p:attrName>
                                        </p:attrNameLst>
                                      </p:cBhvr>
                                      <p:to>
                                        <p:strVal val="visible"/>
                                      </p:to>
                                    </p:set>
                                    <p:anim calcmode="lin" valueType="num">
                                      <p:cBhvr>
                                        <p:cTn id="102" dur="500" fill="hold"/>
                                        <p:tgtEl>
                                          <p:spTgt spid="44"/>
                                        </p:tgtEl>
                                        <p:attrNameLst>
                                          <p:attrName>ppt_w</p:attrName>
                                        </p:attrNameLst>
                                      </p:cBhvr>
                                      <p:tavLst>
                                        <p:tav tm="0">
                                          <p:val>
                                            <p:strVal val="#ppt_w*0.05"/>
                                          </p:val>
                                        </p:tav>
                                        <p:tav tm="100000">
                                          <p:val>
                                            <p:strVal val="#ppt_w"/>
                                          </p:val>
                                        </p:tav>
                                      </p:tavLst>
                                    </p:anim>
                                    <p:anim calcmode="lin" valueType="num">
                                      <p:cBhvr>
                                        <p:cTn id="103" dur="500" fill="hold"/>
                                        <p:tgtEl>
                                          <p:spTgt spid="44"/>
                                        </p:tgtEl>
                                        <p:attrNameLst>
                                          <p:attrName>ppt_h</p:attrName>
                                        </p:attrNameLst>
                                      </p:cBhvr>
                                      <p:tavLst>
                                        <p:tav tm="0">
                                          <p:val>
                                            <p:strVal val="#ppt_h"/>
                                          </p:val>
                                        </p:tav>
                                        <p:tav tm="100000">
                                          <p:val>
                                            <p:strVal val="#ppt_h"/>
                                          </p:val>
                                        </p:tav>
                                      </p:tavLst>
                                    </p:anim>
                                    <p:anim calcmode="lin" valueType="num">
                                      <p:cBhvr>
                                        <p:cTn id="104" dur="500" fill="hold"/>
                                        <p:tgtEl>
                                          <p:spTgt spid="44"/>
                                        </p:tgtEl>
                                        <p:attrNameLst>
                                          <p:attrName>ppt_x</p:attrName>
                                        </p:attrNameLst>
                                      </p:cBhvr>
                                      <p:tavLst>
                                        <p:tav tm="0">
                                          <p:val>
                                            <p:strVal val="#ppt_x-.2"/>
                                          </p:val>
                                        </p:tav>
                                        <p:tav tm="100000">
                                          <p:val>
                                            <p:strVal val="#ppt_x"/>
                                          </p:val>
                                        </p:tav>
                                      </p:tavLst>
                                    </p:anim>
                                    <p:anim calcmode="lin" valueType="num">
                                      <p:cBhvr>
                                        <p:cTn id="105" dur="500" fill="hold"/>
                                        <p:tgtEl>
                                          <p:spTgt spid="44"/>
                                        </p:tgtEl>
                                        <p:attrNameLst>
                                          <p:attrName>ppt_y</p:attrName>
                                        </p:attrNameLst>
                                      </p:cBhvr>
                                      <p:tavLst>
                                        <p:tav tm="0">
                                          <p:val>
                                            <p:strVal val="#ppt_y"/>
                                          </p:val>
                                        </p:tav>
                                        <p:tav tm="100000">
                                          <p:val>
                                            <p:strVal val="#ppt_y"/>
                                          </p:val>
                                        </p:tav>
                                      </p:tavLst>
                                    </p:anim>
                                    <p:animEffect transition="in" filter="fade">
                                      <p:cBhvr>
                                        <p:cTn id="10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9" grpId="0"/>
      <p:bldP spid="10" grpId="0"/>
      <p:bldP spid="21" grpId="0" animBg="1"/>
      <p:bldP spid="23" grpId="0" animBg="1"/>
      <p:bldP spid="24" grpId="0" animBg="1"/>
      <p:bldP spid="14358" grpId="0"/>
      <p:bldP spid="36" grpId="0" animBg="1"/>
      <p:bldP spid="37" grpId="0" animBg="1"/>
      <p:bldP spid="44" grpId="0"/>
      <p:bldP spid="46" grpId="0" animBg="1"/>
      <p:bldP spid="11" grpId="0" animBg="1"/>
      <p:bldP spid="42"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ChangeArrowheads="1"/>
          </p:cNvSpPr>
          <p:nvPr/>
        </p:nvSpPr>
        <p:spPr bwMode="auto">
          <a:xfrm>
            <a:off x="304800" y="914400"/>
            <a:ext cx="15827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2800" b="1" u="sng">
                <a:solidFill>
                  <a:srgbClr val="FF0066"/>
                </a:solidFill>
                <a:latin typeface="Times New Roman" pitchFamily="18" charset="0"/>
                <a:cs typeface="Times New Roman" pitchFamily="18" charset="0"/>
              </a:rPr>
              <a:t>Định lý 2</a:t>
            </a:r>
          </a:p>
        </p:txBody>
      </p:sp>
      <p:sp>
        <p:nvSpPr>
          <p:cNvPr id="5" name="Rectangle 6"/>
          <p:cNvSpPr>
            <a:spLocks noRot="1" noChangeAspect="1" noMove="1" noResize="1" noEditPoints="1" noAdjustHandles="1" noChangeArrowheads="1" noChangeShapeType="1" noTextEdit="1"/>
          </p:cNvSpPr>
          <p:nvPr/>
        </p:nvSpPr>
        <p:spPr bwMode="auto">
          <a:xfrm>
            <a:off x="1752600" y="1564873"/>
            <a:ext cx="1676400" cy="575479"/>
          </a:xfrm>
          <a:prstGeom prst="rect">
            <a:avLst/>
          </a:prstGeom>
          <a:blipFill rotWithShape="1">
            <a:blip r:embed="rId2"/>
            <a:stretch>
              <a:fillRect l="-7636" t="-2128" r="-6909" b="-29787"/>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6" name="Left-Right Arrow 5"/>
          <p:cNvSpPr/>
          <p:nvPr/>
        </p:nvSpPr>
        <p:spPr>
          <a:xfrm>
            <a:off x="3573463" y="1782763"/>
            <a:ext cx="304800" cy="160337"/>
          </a:xfrm>
          <a:prstGeom prst="leftRightArrow">
            <a:avLst/>
          </a:prstGeom>
          <a:solidFill>
            <a:srgbClr val="43CE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7" name="Rectangle 6"/>
          <p:cNvSpPr>
            <a:spLocks noRot="1" noChangeAspect="1" noMove="1" noResize="1" noEditPoints="1" noAdjustHandles="1" noChangeArrowheads="1" noChangeShapeType="1" noTextEdit="1"/>
          </p:cNvSpPr>
          <p:nvPr/>
        </p:nvSpPr>
        <p:spPr bwMode="auto">
          <a:xfrm>
            <a:off x="4114800" y="1518417"/>
            <a:ext cx="4495800" cy="687881"/>
          </a:xfrm>
          <a:prstGeom prst="rect">
            <a:avLst/>
          </a:prstGeom>
          <a:blipFill rotWithShape="1">
            <a:blip r:embed="rId3"/>
            <a:stretch>
              <a:fillRect l="-2710" b="-15044"/>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9" name="Rectangle 8"/>
          <p:cNvSpPr>
            <a:spLocks noChangeArrowheads="1"/>
          </p:cNvSpPr>
          <p:nvPr/>
        </p:nvSpPr>
        <p:spPr bwMode="auto">
          <a:xfrm>
            <a:off x="304800" y="2438400"/>
            <a:ext cx="85344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800" i="1">
                <a:solidFill>
                  <a:srgbClr val="1109B7"/>
                </a:solidFill>
                <a:latin typeface="Times New Roman" pitchFamily="18" charset="0"/>
                <a:cs typeface="Times New Roman" pitchFamily="18" charset="0"/>
              </a:rPr>
              <a:t>“ Độ biến thiên momen động lượng của hệ chất điểm trong khoảng thời gian từ t</a:t>
            </a:r>
            <a:r>
              <a:rPr lang="en-US" sz="2000" i="1">
                <a:solidFill>
                  <a:srgbClr val="1109B7"/>
                </a:solidFill>
                <a:latin typeface="Times New Roman" pitchFamily="18" charset="0"/>
                <a:cs typeface="Times New Roman" pitchFamily="18" charset="0"/>
              </a:rPr>
              <a:t>1</a:t>
            </a:r>
            <a:r>
              <a:rPr lang="en-US" sz="2800" i="1">
                <a:solidFill>
                  <a:srgbClr val="1109B7"/>
                </a:solidFill>
                <a:latin typeface="Times New Roman" pitchFamily="18" charset="0"/>
                <a:cs typeface="Times New Roman" pitchFamily="18" charset="0"/>
              </a:rPr>
              <a:t> đến t</a:t>
            </a:r>
            <a:r>
              <a:rPr lang="en-US" sz="2000" i="1">
                <a:solidFill>
                  <a:srgbClr val="1109B7"/>
                </a:solidFill>
                <a:latin typeface="Times New Roman" pitchFamily="18" charset="0"/>
                <a:cs typeface="Times New Roman" pitchFamily="18" charset="0"/>
              </a:rPr>
              <a:t>2</a:t>
            </a:r>
            <a:r>
              <a:rPr lang="en-US" sz="2800" i="1">
                <a:solidFill>
                  <a:srgbClr val="1109B7"/>
                </a:solidFill>
                <a:latin typeface="Times New Roman" pitchFamily="18" charset="0"/>
                <a:cs typeface="Times New Roman" pitchFamily="18" charset="0"/>
              </a:rPr>
              <a:t> bằng xung lượng của momen ngoại lực tác dụng lên hệ chất điểm trong khoảng thời gian đó “</a:t>
            </a:r>
          </a:p>
        </p:txBody>
      </p:sp>
      <p:sp>
        <p:nvSpPr>
          <p:cNvPr id="2" name="Footer Placeholder 1">
            <a:extLst>
              <a:ext uri="{FF2B5EF4-FFF2-40B4-BE49-F238E27FC236}">
                <a16:creationId xmlns:a16="http://schemas.microsoft.com/office/drawing/2014/main" id="{6296121C-BCA9-ACF8-ECCD-DB713CBB3FBD}"/>
              </a:ext>
            </a:extLst>
          </p:cNvPr>
          <p:cNvSpPr>
            <a:spLocks noGrp="1"/>
          </p:cNvSpPr>
          <p:nvPr>
            <p:ph type="ftr" sz="quarter" idx="11"/>
          </p:nvPr>
        </p:nvSpPr>
        <p:spPr/>
        <p:txBody>
          <a:bodyPr/>
          <a:lstStyle/>
          <a:p>
            <a:r>
              <a:rPr lang="en-US"/>
              <a:t>Bùi Quốc Trung - VLDC</a:t>
            </a:r>
          </a:p>
        </p:txBody>
      </p:sp>
      <p:sp>
        <p:nvSpPr>
          <p:cNvPr id="3" name="Slide Number Placeholder 2">
            <a:extLst>
              <a:ext uri="{FF2B5EF4-FFF2-40B4-BE49-F238E27FC236}">
                <a16:creationId xmlns:a16="http://schemas.microsoft.com/office/drawing/2014/main" id="{833C7177-FFBC-4BAA-0AC0-8DCCD07056B3}"/>
              </a:ext>
            </a:extLst>
          </p:cNvPr>
          <p:cNvSpPr>
            <a:spLocks noGrp="1"/>
          </p:cNvSpPr>
          <p:nvPr>
            <p:ph type="sldNum" sz="quarter" idx="12"/>
          </p:nvPr>
        </p:nvSpPr>
        <p:spPr/>
        <p:txBody>
          <a:bodyPr/>
          <a:lstStyle/>
          <a:p>
            <a:fld id="{C4A94DE9-7404-4CC4-BDD8-EA2E97866C70}" type="slidenum">
              <a:rPr lang="en-US" smtClean="0"/>
              <a:t>80</a:t>
            </a:fld>
            <a:endParaRPr lang="en-US"/>
          </a:p>
        </p:txBody>
      </p:sp>
    </p:spTree>
    <p:extLst>
      <p:ext uri="{BB962C8B-B14F-4D97-AF65-F5344CB8AC3E}">
        <p14:creationId xmlns:p14="http://schemas.microsoft.com/office/powerpoint/2010/main" val="5518588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8)">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1"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8)">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32"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amond(out)">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1"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heel(8)">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9"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p:cNvSpPr>
            <a:spLocks noChangeArrowheads="1"/>
          </p:cNvSpPr>
          <p:nvPr/>
        </p:nvSpPr>
        <p:spPr bwMode="auto">
          <a:xfrm>
            <a:off x="566738" y="762000"/>
            <a:ext cx="6900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2800" b="1">
                <a:solidFill>
                  <a:srgbClr val="002060"/>
                </a:solidFill>
                <a:latin typeface="Times New Roman" pitchFamily="18" charset="0"/>
                <a:cs typeface="Times New Roman" pitchFamily="18" charset="0"/>
              </a:rPr>
              <a:t>Mômen động lượng trong chuyển động tròn</a:t>
            </a:r>
          </a:p>
        </p:txBody>
      </p:sp>
      <p:grpSp>
        <p:nvGrpSpPr>
          <p:cNvPr id="44035" name="Group 18"/>
          <p:cNvGrpSpPr>
            <a:grpSpLocks/>
          </p:cNvGrpSpPr>
          <p:nvPr/>
        </p:nvGrpSpPr>
        <p:grpSpPr bwMode="auto">
          <a:xfrm>
            <a:off x="990600" y="0"/>
            <a:ext cx="7086600" cy="685800"/>
            <a:chOff x="1310" y="1392"/>
            <a:chExt cx="4602" cy="432"/>
          </a:xfrm>
        </p:grpSpPr>
        <p:pic>
          <p:nvPicPr>
            <p:cNvPr id="44071" name="Picture 24" descr="PPP_CSHAP_CLP_Sleek_Silver">
              <a:hlinkClick r:id="" action="ppaction://hlinkshowjump?jump=nextslide" highlightClick="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 y="1392"/>
              <a:ext cx="460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 Box 14"/>
            <p:cNvSpPr txBox="1">
              <a:spLocks noChangeArrowheads="1"/>
            </p:cNvSpPr>
            <p:nvPr/>
          </p:nvSpPr>
          <p:spPr bwMode="auto">
            <a:xfrm>
              <a:off x="1870" y="1449"/>
              <a:ext cx="3476" cy="291"/>
            </a:xfrm>
            <a:prstGeom prst="rect">
              <a:avLst/>
            </a:prstGeom>
            <a:gradFill rotWithShape="1">
              <a:gsLst>
                <a:gs pos="0">
                  <a:srgbClr val="DAFDA7"/>
                </a:gs>
                <a:gs pos="35001">
                  <a:srgbClr val="E4FDC2"/>
                </a:gs>
                <a:gs pos="100000">
                  <a:srgbClr val="F5FFE6"/>
                </a:gs>
              </a:gsLst>
              <a:lin ang="16200000" scaled="1"/>
            </a:gradFill>
            <a:ln w="9525" algn="ctr">
              <a:solidFill>
                <a:srgbClr val="98B954"/>
              </a:solidFill>
              <a:miter lim="800000"/>
              <a:headEnd/>
              <a:tailEnd/>
            </a:ln>
            <a:effectLst>
              <a:outerShdw dist="20000" dir="5400000" rotWithShape="0">
                <a:srgbClr val="000000">
                  <a:alpha val="37999"/>
                </a:srgbClr>
              </a:outerShdw>
            </a:effectLst>
          </p:spPr>
          <p:txBody>
            <a:bodyPr>
              <a:spAutoFit/>
            </a:bodyPr>
            <a:lstStyle/>
            <a:p>
              <a:pPr algn="ctr" fontAlgn="auto">
                <a:spcBef>
                  <a:spcPts val="1800"/>
                </a:spcBef>
                <a:spcAft>
                  <a:spcPts val="2400"/>
                </a:spcAft>
                <a:defRPr/>
              </a:pPr>
              <a:r>
                <a:rPr lang="en-US" sz="2400" b="1" i="1">
                  <a:solidFill>
                    <a:srgbClr val="FF0000"/>
                  </a:solidFill>
                  <a:effectLst>
                    <a:outerShdw blurRad="38100" dist="38100" dir="2700000" algn="tl">
                      <a:srgbClr val="C0C0C0"/>
                    </a:outerShdw>
                  </a:effectLst>
                  <a:latin typeface="Times New Roman" pitchFamily="18" charset="0"/>
                  <a:cs typeface="Times New Roman" pitchFamily="18" charset="0"/>
                </a:rPr>
                <a:t> </a:t>
              </a:r>
              <a:r>
                <a:rPr lang="en-US" sz="2400" b="1">
                  <a:solidFill>
                    <a:srgbClr val="002060"/>
                  </a:solidFill>
                  <a:effectLst>
                    <a:outerShdw blurRad="38100" dist="38100" dir="2700000" algn="tl">
                      <a:srgbClr val="000000">
                        <a:alpha val="43137"/>
                      </a:srgbClr>
                    </a:outerShdw>
                  </a:effectLst>
                  <a:latin typeface="Times New Roman" pitchFamily="18" charset="0"/>
                  <a:cs typeface="Times New Roman" pitchFamily="18" charset="0"/>
                </a:rPr>
                <a:t>2.5. </a:t>
              </a:r>
              <a:r>
                <a:rPr lang="vi-VN" sz="2400" b="1">
                  <a:solidFill>
                    <a:srgbClr val="FF0000"/>
                  </a:solidFill>
                  <a:latin typeface="Times New Roman" pitchFamily="18" charset="0"/>
                  <a:cs typeface="Times New Roman" pitchFamily="18" charset="0"/>
                </a:rPr>
                <a:t>Mômen động l</a:t>
              </a:r>
              <a:r>
                <a:rPr lang="en-US" sz="2400" b="1">
                  <a:solidFill>
                    <a:srgbClr val="FF0000"/>
                  </a:solidFill>
                  <a:latin typeface="Times New Roman" pitchFamily="18" charset="0"/>
                  <a:cs typeface="Times New Roman" pitchFamily="18" charset="0"/>
                </a:rPr>
                <a:t>ư</a:t>
              </a:r>
              <a:r>
                <a:rPr lang="vi-VN" sz="2400" b="1">
                  <a:solidFill>
                    <a:srgbClr val="FF0000"/>
                  </a:solidFill>
                  <a:latin typeface="Times New Roman" pitchFamily="18" charset="0"/>
                  <a:cs typeface="Times New Roman" pitchFamily="18" charset="0"/>
                </a:rPr>
                <a:t>ợng</a:t>
              </a:r>
              <a:r>
                <a:rPr lang="en-US" sz="2400" b="1">
                  <a:solidFill>
                    <a:srgbClr val="FF0000"/>
                  </a:solidFill>
                  <a:latin typeface="Times New Roman" pitchFamily="18" charset="0"/>
                  <a:cs typeface="Times New Roman" pitchFamily="18" charset="0"/>
                </a:rPr>
                <a:t> </a:t>
              </a:r>
              <a:r>
                <a:rPr lang="vi-VN" sz="2400" b="1">
                  <a:solidFill>
                    <a:srgbClr val="FF0000"/>
                  </a:solidFill>
                  <a:latin typeface="Times New Roman" pitchFamily="18" charset="0"/>
                  <a:cs typeface="Times New Roman" pitchFamily="18" charset="0"/>
                </a:rPr>
                <a:t>-</a:t>
              </a:r>
              <a:r>
                <a:rPr lang="en-US" sz="2400" b="1">
                  <a:solidFill>
                    <a:srgbClr val="FF0000"/>
                  </a:solidFill>
                  <a:latin typeface="Times New Roman" pitchFamily="18" charset="0"/>
                  <a:cs typeface="Times New Roman" pitchFamily="18" charset="0"/>
                </a:rPr>
                <a:t> </a:t>
              </a:r>
              <a:r>
                <a:rPr lang="vi-VN" sz="2400" b="1">
                  <a:solidFill>
                    <a:srgbClr val="FF0000"/>
                  </a:solidFill>
                  <a:latin typeface="Times New Roman" pitchFamily="18" charset="0"/>
                  <a:cs typeface="Times New Roman" pitchFamily="18" charset="0"/>
                </a:rPr>
                <a:t>Mômen lực</a:t>
              </a:r>
              <a:endParaRPr lang="en-US" sz="2400" b="1">
                <a:solidFill>
                  <a:srgbClr val="FF0000"/>
                </a:solidFill>
                <a:latin typeface="Times New Roman" pitchFamily="18" charset="0"/>
                <a:cs typeface="Times New Roman" pitchFamily="18" charset="0"/>
              </a:endParaRPr>
            </a:p>
          </p:txBody>
        </p:sp>
      </p:grpSp>
      <p:sp>
        <p:nvSpPr>
          <p:cNvPr id="37" name="4-Point Star 36"/>
          <p:cNvSpPr/>
          <p:nvPr/>
        </p:nvSpPr>
        <p:spPr>
          <a:xfrm>
            <a:off x="214313" y="852488"/>
            <a:ext cx="304800" cy="304800"/>
          </a:xfrm>
          <a:prstGeom prst="star4">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sz="1800"/>
          </a:p>
        </p:txBody>
      </p:sp>
      <p:sp>
        <p:nvSpPr>
          <p:cNvPr id="45" name="Oval 36"/>
          <p:cNvSpPr>
            <a:spLocks noChangeArrowheads="1"/>
          </p:cNvSpPr>
          <p:nvPr/>
        </p:nvSpPr>
        <p:spPr bwMode="auto">
          <a:xfrm>
            <a:off x="5138738" y="1609725"/>
            <a:ext cx="3276600" cy="1676400"/>
          </a:xfrm>
          <a:prstGeom prst="ellipse">
            <a:avLst/>
          </a:prstGeom>
          <a:noFill/>
          <a:ln w="19050">
            <a:solidFill>
              <a:srgbClr val="FF0000"/>
            </a:solidFill>
            <a:round/>
            <a:headEnd type="none" w="sm" len="sm"/>
            <a:tailEnd/>
          </a:ln>
          <a:extLst>
            <a:ext uri="{909E8E84-426E-40DD-AFC4-6F175D3DCCD1}">
              <a14:hiddenFill xmlns:a14="http://schemas.microsoft.com/office/drawing/2010/main">
                <a:solidFill>
                  <a:srgbClr val="FFFFFF"/>
                </a:solidFill>
              </a14:hiddenFill>
            </a:ext>
          </a:extLst>
        </p:spPr>
        <p:txBody>
          <a:bodyPr wrap="none" anchor="ctr"/>
          <a:lstStyle/>
          <a:p>
            <a:endParaRPr lang="en-US" sz="1800"/>
          </a:p>
        </p:txBody>
      </p:sp>
      <p:pic>
        <p:nvPicPr>
          <p:cNvPr id="46" name="Picture 37" descr="TraiDat"/>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630988" y="1465263"/>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Group 50"/>
          <p:cNvGrpSpPr>
            <a:grpSpLocks/>
          </p:cNvGrpSpPr>
          <p:nvPr/>
        </p:nvGrpSpPr>
        <p:grpSpPr bwMode="auto">
          <a:xfrm>
            <a:off x="6769100" y="1987550"/>
            <a:ext cx="2159000" cy="1720850"/>
            <a:chOff x="4030" y="2297"/>
            <a:chExt cx="1360" cy="1084"/>
          </a:xfrm>
        </p:grpSpPr>
        <p:grpSp>
          <p:nvGrpSpPr>
            <p:cNvPr id="44065" name="Group 39"/>
            <p:cNvGrpSpPr>
              <a:grpSpLocks/>
            </p:cNvGrpSpPr>
            <p:nvPr/>
          </p:nvGrpSpPr>
          <p:grpSpPr bwMode="auto">
            <a:xfrm>
              <a:off x="4030" y="2297"/>
              <a:ext cx="1198" cy="622"/>
              <a:chOff x="1981" y="3120"/>
              <a:chExt cx="2003" cy="672"/>
            </a:xfrm>
          </p:grpSpPr>
          <p:sp>
            <p:nvSpPr>
              <p:cNvPr id="44068" name="Text Box 40"/>
              <p:cNvSpPr txBox="1">
                <a:spLocks noChangeArrowheads="1"/>
              </p:cNvSpPr>
              <p:nvPr/>
            </p:nvSpPr>
            <p:spPr bwMode="auto">
              <a:xfrm>
                <a:off x="3648" y="350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r>
                  <a:rPr lang="en-US" sz="2000" b="1"/>
                  <a:t>M</a:t>
                </a:r>
                <a:endParaRPr lang="en-US" sz="3200" b="1"/>
              </a:p>
            </p:txBody>
          </p:sp>
          <p:sp>
            <p:nvSpPr>
              <p:cNvPr id="44069" name="Line 41"/>
              <p:cNvSpPr>
                <a:spLocks noChangeShapeType="1"/>
              </p:cNvSpPr>
              <p:nvPr/>
            </p:nvSpPr>
            <p:spPr bwMode="auto">
              <a:xfrm>
                <a:off x="1981" y="3414"/>
                <a:ext cx="1646" cy="186"/>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44070" name="Object 32"/>
              <p:cNvGraphicFramePr>
                <a:graphicFrameLocks noChangeAspect="1"/>
              </p:cNvGraphicFramePr>
              <p:nvPr/>
            </p:nvGraphicFramePr>
            <p:xfrm>
              <a:off x="2832" y="3120"/>
              <a:ext cx="180" cy="336"/>
            </p:xfrm>
            <a:graphic>
              <a:graphicData uri="http://schemas.openxmlformats.org/presentationml/2006/ole">
                <mc:AlternateContent xmlns:mc="http://schemas.openxmlformats.org/markup-compatibility/2006">
                  <mc:Choice xmlns:v="urn:schemas-microsoft-com:vml" Requires="v">
                    <p:oleObj name="Equation" r:id="rId4" imgW="0" imgH="95385" progId="Equation.3">
                      <p:embed/>
                    </p:oleObj>
                  </mc:Choice>
                  <mc:Fallback>
                    <p:oleObj name="Equation" r:id="rId4" imgW="0" imgH="95385"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2" y="3120"/>
                            <a:ext cx="18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4066" name="Line 44"/>
            <p:cNvSpPr>
              <a:spLocks noChangeShapeType="1"/>
            </p:cNvSpPr>
            <p:nvPr/>
          </p:nvSpPr>
          <p:spPr bwMode="auto">
            <a:xfrm flipH="1">
              <a:off x="4649" y="2750"/>
              <a:ext cx="370" cy="521"/>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44067" name="Object 33"/>
            <p:cNvGraphicFramePr>
              <a:graphicFrameLocks noChangeAspect="1"/>
            </p:cNvGraphicFramePr>
            <p:nvPr/>
          </p:nvGraphicFramePr>
          <p:xfrm>
            <a:off x="4751" y="3114"/>
            <a:ext cx="639" cy="267"/>
          </p:xfrm>
          <a:graphic>
            <a:graphicData uri="http://schemas.openxmlformats.org/presentationml/2006/ole">
              <mc:AlternateContent xmlns:mc="http://schemas.openxmlformats.org/markup-compatibility/2006">
                <mc:Choice xmlns:v="urn:schemas-microsoft-com:vml" Requires="v">
                  <p:oleObj name="Equation" r:id="rId6" imgW="0" imgH="0" progId="Equation.DSMT4">
                    <p:embed/>
                  </p:oleObj>
                </mc:Choice>
                <mc:Fallback>
                  <p:oleObj name="Equation" r:id="rId6" imgW="0" imgH="0" progId="Equation.DSMT4">
                    <p:embed/>
                    <p:pic>
                      <p:nvPicPr>
                        <p:cNvPr id="0" name=""/>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4751" y="3114"/>
                          <a:ext cx="639"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54" name="AutoShape 46"/>
          <p:cNvSpPr>
            <a:spLocks noChangeArrowheads="1"/>
          </p:cNvSpPr>
          <p:nvPr/>
        </p:nvSpPr>
        <p:spPr bwMode="auto">
          <a:xfrm>
            <a:off x="6686550" y="2335213"/>
            <a:ext cx="152400" cy="152400"/>
          </a:xfrm>
          <a:prstGeom prst="star24">
            <a:avLst>
              <a:gd name="adj" fmla="val 37500"/>
            </a:avLst>
          </a:prstGeom>
          <a:solidFill>
            <a:srgbClr val="FF0000"/>
          </a:solidFill>
          <a:ln w="9525">
            <a:solidFill>
              <a:schemeClr val="tx1"/>
            </a:solidFill>
            <a:miter lim="800000"/>
            <a:headEnd/>
            <a:tailEnd/>
          </a:ln>
        </p:spPr>
        <p:txBody>
          <a:bodyPr wrap="none" anchor="ctr"/>
          <a:lstStyle/>
          <a:p>
            <a:pPr algn="ctr"/>
            <a:endParaRPr lang="en-US" sz="2800">
              <a:solidFill>
                <a:srgbClr val="000000"/>
              </a:solidFill>
            </a:endParaRPr>
          </a:p>
        </p:txBody>
      </p:sp>
      <p:grpSp>
        <p:nvGrpSpPr>
          <p:cNvPr id="9" name="Group 53"/>
          <p:cNvGrpSpPr>
            <a:grpSpLocks/>
          </p:cNvGrpSpPr>
          <p:nvPr/>
        </p:nvGrpSpPr>
        <p:grpSpPr bwMode="auto">
          <a:xfrm>
            <a:off x="6272213" y="2498725"/>
            <a:ext cx="457200" cy="1997075"/>
            <a:chOff x="3717" y="2619"/>
            <a:chExt cx="288" cy="1258"/>
          </a:xfrm>
        </p:grpSpPr>
        <p:graphicFrame>
          <p:nvGraphicFramePr>
            <p:cNvPr id="44062" name="Object 34"/>
            <p:cNvGraphicFramePr>
              <a:graphicFrameLocks noChangeAspect="1"/>
            </p:cNvGraphicFramePr>
            <p:nvPr/>
          </p:nvGraphicFramePr>
          <p:xfrm>
            <a:off x="3717" y="3523"/>
            <a:ext cx="242" cy="354"/>
          </p:xfrm>
          <a:graphic>
            <a:graphicData uri="http://schemas.openxmlformats.org/presentationml/2006/ole">
              <mc:AlternateContent xmlns:mc="http://schemas.openxmlformats.org/markup-compatibility/2006">
                <mc:Choice xmlns:v="urn:schemas-microsoft-com:vml" Requires="v">
                  <p:oleObj name="Equation" r:id="rId7" imgW="0" imgH="57285" progId="Equation.DSMT4">
                    <p:embed/>
                  </p:oleObj>
                </mc:Choice>
                <mc:Fallback>
                  <p:oleObj name="Equation" r:id="rId7" imgW="0" imgH="57285"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17" y="3523"/>
                          <a:ext cx="242"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063" name="Line 48"/>
            <p:cNvSpPr>
              <a:spLocks noChangeShapeType="1"/>
            </p:cNvSpPr>
            <p:nvPr/>
          </p:nvSpPr>
          <p:spPr bwMode="auto">
            <a:xfrm>
              <a:off x="4004" y="2619"/>
              <a:ext cx="0" cy="432"/>
            </a:xfrm>
            <a:prstGeom prst="line">
              <a:avLst/>
            </a:prstGeom>
            <a:noFill/>
            <a:ln w="25400">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4064" name="Line 49"/>
            <p:cNvSpPr>
              <a:spLocks noChangeShapeType="1"/>
            </p:cNvSpPr>
            <p:nvPr/>
          </p:nvSpPr>
          <p:spPr bwMode="auto">
            <a:xfrm>
              <a:off x="4005" y="3072"/>
              <a:ext cx="0" cy="72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10" name="Group 76"/>
          <p:cNvGrpSpPr>
            <a:grpSpLocks/>
          </p:cNvGrpSpPr>
          <p:nvPr/>
        </p:nvGrpSpPr>
        <p:grpSpPr bwMode="auto">
          <a:xfrm>
            <a:off x="6792913" y="2498725"/>
            <a:ext cx="639762" cy="1550988"/>
            <a:chOff x="6792913" y="3929063"/>
            <a:chExt cx="639762" cy="1550987"/>
          </a:xfrm>
        </p:grpSpPr>
        <p:graphicFrame>
          <p:nvGraphicFramePr>
            <p:cNvPr id="44059" name="Object 35"/>
            <p:cNvGraphicFramePr>
              <a:graphicFrameLocks noChangeAspect="1"/>
            </p:cNvGraphicFramePr>
            <p:nvPr/>
          </p:nvGraphicFramePr>
          <p:xfrm>
            <a:off x="6873875" y="4953000"/>
            <a:ext cx="558800" cy="527050"/>
          </p:xfrm>
          <a:graphic>
            <a:graphicData uri="http://schemas.openxmlformats.org/presentationml/2006/ole">
              <mc:AlternateContent xmlns:mc="http://schemas.openxmlformats.org/markup-compatibility/2006">
                <mc:Choice xmlns:v="urn:schemas-microsoft-com:vml" Requires="v">
                  <p:oleObj name="Equation" r:id="rId9" imgW="0" imgH="66743" progId="Equation.DSMT4">
                    <p:embed/>
                  </p:oleObj>
                </mc:Choice>
                <mc:Fallback>
                  <p:oleObj name="Equation" r:id="rId9" imgW="0" imgH="66743"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73875" y="4953000"/>
                          <a:ext cx="55880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60" name="Line 51"/>
            <p:cNvSpPr>
              <a:spLocks noChangeShapeType="1"/>
            </p:cNvSpPr>
            <p:nvPr/>
          </p:nvSpPr>
          <p:spPr bwMode="auto">
            <a:xfrm>
              <a:off x="6792913" y="3929063"/>
              <a:ext cx="0" cy="685800"/>
            </a:xfrm>
            <a:prstGeom prst="line">
              <a:avLst/>
            </a:prstGeom>
            <a:noFill/>
            <a:ln w="25400">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4061" name="Line 52"/>
            <p:cNvSpPr>
              <a:spLocks noChangeShapeType="1"/>
            </p:cNvSpPr>
            <p:nvPr/>
          </p:nvSpPr>
          <p:spPr bwMode="auto">
            <a:xfrm>
              <a:off x="6804025" y="4637088"/>
              <a:ext cx="0" cy="685800"/>
            </a:xfrm>
            <a:prstGeom prst="line">
              <a:avLst/>
            </a:prstGeom>
            <a:noFill/>
            <a:ln w="254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63" name="Text Box 55"/>
          <p:cNvSpPr txBox="1">
            <a:spLocks noChangeArrowheads="1"/>
          </p:cNvSpPr>
          <p:nvPr/>
        </p:nvSpPr>
        <p:spPr bwMode="auto">
          <a:xfrm>
            <a:off x="2417763" y="2740025"/>
            <a:ext cx="3200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a:solidFill>
                  <a:schemeClr val="tx1"/>
                </a:solidFill>
                <a:latin typeface="Arial" charset="0"/>
                <a:cs typeface="Arial" charset="0"/>
              </a:defRPr>
            </a:lvl1pPr>
            <a:lvl2pPr marL="742950" indent="-285750" eaLnBrk="0" hangingPunct="0">
              <a:defRPr sz="4000">
                <a:solidFill>
                  <a:schemeClr val="tx1"/>
                </a:solidFill>
                <a:latin typeface="Arial" charset="0"/>
                <a:cs typeface="Arial" charset="0"/>
              </a:defRPr>
            </a:lvl2pPr>
            <a:lvl3pPr marL="1143000" indent="-228600" eaLnBrk="0" hangingPunct="0">
              <a:defRPr sz="4000">
                <a:solidFill>
                  <a:schemeClr val="tx1"/>
                </a:solidFill>
                <a:latin typeface="Arial" charset="0"/>
                <a:cs typeface="Arial" charset="0"/>
              </a:defRPr>
            </a:lvl3pPr>
            <a:lvl4pPr marL="1600200" indent="-228600" eaLnBrk="0" hangingPunct="0">
              <a:defRPr sz="4000">
                <a:solidFill>
                  <a:schemeClr val="tx1"/>
                </a:solidFill>
                <a:latin typeface="Arial" charset="0"/>
                <a:cs typeface="Arial" charset="0"/>
              </a:defRPr>
            </a:lvl4pPr>
            <a:lvl5pPr marL="2057400" indent="-228600" eaLnBrk="0" hangingPunct="0">
              <a:defRPr sz="4000">
                <a:solidFill>
                  <a:schemeClr val="tx1"/>
                </a:solidFill>
                <a:latin typeface="Arial" charset="0"/>
                <a:cs typeface="Arial" charset="0"/>
              </a:defRPr>
            </a:lvl5pPr>
            <a:lvl6pPr marL="2514600" indent="-228600" eaLnBrk="0" fontAlgn="base" hangingPunct="0">
              <a:spcBef>
                <a:spcPct val="0"/>
              </a:spcBef>
              <a:spcAft>
                <a:spcPct val="0"/>
              </a:spcAft>
              <a:defRPr sz="4000">
                <a:solidFill>
                  <a:schemeClr val="tx1"/>
                </a:solidFill>
                <a:latin typeface="Arial" charset="0"/>
                <a:cs typeface="Arial" charset="0"/>
              </a:defRPr>
            </a:lvl6pPr>
            <a:lvl7pPr marL="2971800" indent="-228600" eaLnBrk="0" fontAlgn="base" hangingPunct="0">
              <a:spcBef>
                <a:spcPct val="0"/>
              </a:spcBef>
              <a:spcAft>
                <a:spcPct val="0"/>
              </a:spcAft>
              <a:defRPr sz="4000">
                <a:solidFill>
                  <a:schemeClr val="tx1"/>
                </a:solidFill>
                <a:latin typeface="Arial" charset="0"/>
                <a:cs typeface="Arial" charset="0"/>
              </a:defRPr>
            </a:lvl7pPr>
            <a:lvl8pPr marL="3429000" indent="-228600" eaLnBrk="0" fontAlgn="base" hangingPunct="0">
              <a:spcBef>
                <a:spcPct val="0"/>
              </a:spcBef>
              <a:spcAft>
                <a:spcPct val="0"/>
              </a:spcAft>
              <a:defRPr sz="4000">
                <a:solidFill>
                  <a:schemeClr val="tx1"/>
                </a:solidFill>
                <a:latin typeface="Arial" charset="0"/>
                <a:cs typeface="Arial" charset="0"/>
              </a:defRPr>
            </a:lvl8pPr>
            <a:lvl9pPr marL="3886200" indent="-228600" eaLnBrk="0" fontAlgn="base" hangingPunct="0">
              <a:spcBef>
                <a:spcPct val="0"/>
              </a:spcBef>
              <a:spcAft>
                <a:spcPct val="0"/>
              </a:spcAft>
              <a:defRPr sz="4000">
                <a:solidFill>
                  <a:schemeClr val="tx1"/>
                </a:solidFill>
                <a:latin typeface="Arial" charset="0"/>
                <a:cs typeface="Arial" charset="0"/>
              </a:defRPr>
            </a:lvl9pPr>
          </a:lstStyle>
          <a:p>
            <a:pPr algn="just" eaLnBrk="1" hangingPunct="1">
              <a:spcBef>
                <a:spcPct val="50000"/>
              </a:spcBef>
            </a:pPr>
            <a:r>
              <a:rPr lang="en-US" sz="2800">
                <a:solidFill>
                  <a:srgbClr val="0000FF"/>
                </a:solidFill>
              </a:rPr>
              <a:t> mômen quán tính</a:t>
            </a:r>
          </a:p>
        </p:txBody>
      </p:sp>
      <p:sp>
        <p:nvSpPr>
          <p:cNvPr id="66" name="Oval 65"/>
          <p:cNvSpPr/>
          <p:nvPr/>
        </p:nvSpPr>
        <p:spPr>
          <a:xfrm>
            <a:off x="3162300" y="1930400"/>
            <a:ext cx="685800" cy="762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cxnSp>
        <p:nvCxnSpPr>
          <p:cNvPr id="67" name="Straight Connector 66"/>
          <p:cNvCxnSpPr/>
          <p:nvPr/>
        </p:nvCxnSpPr>
        <p:spPr>
          <a:xfrm rot="16200000" flipV="1">
            <a:off x="2743200" y="1944688"/>
            <a:ext cx="304800" cy="228600"/>
          </a:xfrm>
          <a:prstGeom prst="line">
            <a:avLst/>
          </a:prstGeom>
          <a:ln w="127000" cmpd="dbl">
            <a:solidFill>
              <a:srgbClr val="090563"/>
            </a:solidFill>
          </a:ln>
        </p:spPr>
        <p:style>
          <a:lnRef idx="1">
            <a:schemeClr val="accent1"/>
          </a:lnRef>
          <a:fillRef idx="0">
            <a:schemeClr val="accent1"/>
          </a:fillRef>
          <a:effectRef idx="0">
            <a:schemeClr val="accent1"/>
          </a:effectRef>
          <a:fontRef idx="minor">
            <a:schemeClr val="tx1"/>
          </a:fontRef>
        </p:style>
      </p:cxnSp>
      <p:sp>
        <p:nvSpPr>
          <p:cNvPr id="72" name="Oval 71"/>
          <p:cNvSpPr/>
          <p:nvPr/>
        </p:nvSpPr>
        <p:spPr>
          <a:xfrm>
            <a:off x="1828800" y="1085850"/>
            <a:ext cx="838200" cy="10477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76" name="Right Arrow 75"/>
          <p:cNvSpPr/>
          <p:nvPr/>
        </p:nvSpPr>
        <p:spPr>
          <a:xfrm>
            <a:off x="146050" y="2600325"/>
            <a:ext cx="304800" cy="685800"/>
          </a:xfrm>
          <a:prstGeom prst="right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800">
              <a:solidFill>
                <a:srgbClr val="0070C0"/>
              </a:solidFill>
              <a:latin typeface="Times New Roman" pitchFamily="18" charset="0"/>
              <a:cs typeface="Times New Roman" pitchFamily="18" charset="0"/>
            </a:endParaRPr>
          </a:p>
        </p:txBody>
      </p:sp>
      <p:sp>
        <p:nvSpPr>
          <p:cNvPr id="42" name="Rectangle 23"/>
          <p:cNvSpPr>
            <a:spLocks noChangeArrowheads="1"/>
          </p:cNvSpPr>
          <p:nvPr/>
        </p:nvSpPr>
        <p:spPr bwMode="auto">
          <a:xfrm>
            <a:off x="762000" y="5160963"/>
            <a:ext cx="6248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tabLst>
                <a:tab pos="0" algn="l"/>
              </a:tabLst>
            </a:pPr>
            <a:r>
              <a:rPr lang="en-US" sz="2800" b="1">
                <a:solidFill>
                  <a:srgbClr val="002060"/>
                </a:solidFill>
                <a:latin typeface="Times New Roman" pitchFamily="18" charset="0"/>
                <a:cs typeface="Times New Roman" pitchFamily="18" charset="0"/>
              </a:rPr>
              <a:t>Định luật bảo toàn momen động lượng</a:t>
            </a:r>
          </a:p>
        </p:txBody>
      </p:sp>
      <p:sp>
        <p:nvSpPr>
          <p:cNvPr id="44" name="4-Point Star 43"/>
          <p:cNvSpPr/>
          <p:nvPr/>
        </p:nvSpPr>
        <p:spPr>
          <a:xfrm>
            <a:off x="381000" y="5270500"/>
            <a:ext cx="304800" cy="304800"/>
          </a:xfrm>
          <a:prstGeom prst="star4">
            <a:avLst/>
          </a:prstGeom>
          <a:solidFill>
            <a:srgbClr val="FF00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vi-VN" sz="1800"/>
          </a:p>
        </p:txBody>
      </p:sp>
      <p:sp>
        <p:nvSpPr>
          <p:cNvPr id="53" name="Left-Right Arrow 52"/>
          <p:cNvSpPr/>
          <p:nvPr/>
        </p:nvSpPr>
        <p:spPr>
          <a:xfrm flipV="1">
            <a:off x="6324600" y="6124575"/>
            <a:ext cx="304800" cy="152400"/>
          </a:xfrm>
          <a:prstGeom prst="leftRightArrow">
            <a:avLst/>
          </a:prstGeom>
          <a:solidFill>
            <a:srgbClr val="43CEFF"/>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p>
        </p:txBody>
      </p:sp>
      <p:sp>
        <p:nvSpPr>
          <p:cNvPr id="2" name="Rectangle 1"/>
          <p:cNvSpPr/>
          <p:nvPr/>
        </p:nvSpPr>
        <p:spPr>
          <a:xfrm>
            <a:off x="3352800" y="2011363"/>
            <a:ext cx="304800" cy="476250"/>
          </a:xfrm>
          <a:prstGeom prst="rect">
            <a:avLst/>
          </a:prstGeom>
          <a:ln>
            <a:noFill/>
          </a:ln>
        </p:spPr>
        <p:style>
          <a:lnRef idx="2">
            <a:schemeClr val="accent1"/>
          </a:lnRef>
          <a:fillRef idx="1">
            <a:schemeClr val="lt1"/>
          </a:fillRef>
          <a:effectRef idx="0">
            <a:schemeClr val="accent1"/>
          </a:effectRef>
          <a:fontRef idx="minor">
            <a:schemeClr val="dk1"/>
          </a:fontRef>
        </p:style>
        <p:txBody>
          <a:bodyPr anchor="ctr"/>
          <a:lstStyle/>
          <a:p>
            <a:pPr algn="ctr">
              <a:defRPr/>
            </a:pPr>
            <a:r>
              <a:rPr lang="en-US" sz="3200" i="1">
                <a:latin typeface="Times New Roman" pitchFamily="18" charset="0"/>
                <a:cs typeface="Times New Roman" pitchFamily="18" charset="0"/>
              </a:rPr>
              <a:t>I</a:t>
            </a:r>
          </a:p>
        </p:txBody>
      </p:sp>
      <p:sp>
        <p:nvSpPr>
          <p:cNvPr id="4" name="Rectangle 3"/>
          <p:cNvSpPr>
            <a:spLocks noChangeArrowheads="1"/>
          </p:cNvSpPr>
          <p:nvPr/>
        </p:nvSpPr>
        <p:spPr bwMode="auto">
          <a:xfrm>
            <a:off x="685800" y="1285875"/>
            <a:ext cx="2362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800" b="1" i="1">
                <a:solidFill>
                  <a:srgbClr val="1109B7"/>
                </a:solidFill>
                <a:latin typeface="Times New Roman" pitchFamily="18" charset="0"/>
                <a:cs typeface="Times New Roman" pitchFamily="18" charset="0"/>
              </a:rPr>
              <a:t>L = rp = mr²</a:t>
            </a:r>
            <a:r>
              <a:rPr lang="el-GR" sz="2800" b="1" i="1">
                <a:solidFill>
                  <a:srgbClr val="1109B7"/>
                </a:solidFill>
                <a:latin typeface="Times New Roman" pitchFamily="18" charset="0"/>
                <a:cs typeface="Times New Roman" pitchFamily="18" charset="0"/>
              </a:rPr>
              <a:t>ω</a:t>
            </a:r>
            <a:endParaRPr lang="en-US" sz="2800" b="1" i="1">
              <a:solidFill>
                <a:srgbClr val="1109B7"/>
              </a:solidFill>
              <a:latin typeface="Times New Roman" pitchFamily="18" charset="0"/>
              <a:cs typeface="Times New Roman" pitchFamily="18" charset="0"/>
            </a:endParaRPr>
          </a:p>
        </p:txBody>
      </p:sp>
      <p:sp>
        <p:nvSpPr>
          <p:cNvPr id="6" name="Rectangle 5"/>
          <p:cNvSpPr>
            <a:spLocks noRot="1" noChangeAspect="1" noMove="1" noResize="1" noEditPoints="1" noAdjustHandles="1" noChangeArrowheads="1" noChangeShapeType="1" noTextEdit="1"/>
          </p:cNvSpPr>
          <p:nvPr/>
        </p:nvSpPr>
        <p:spPr>
          <a:xfrm>
            <a:off x="535782" y="2556621"/>
            <a:ext cx="1881187" cy="707886"/>
          </a:xfrm>
          <a:prstGeom prst="rect">
            <a:avLst/>
          </a:prstGeom>
          <a:blipFill rotWithShape="1">
            <a:blip r:embed="rId11"/>
            <a:stretch>
              <a:fillRect/>
            </a:stretch>
          </a:blipFill>
        </p:spPr>
        <p:txBody>
          <a:bodyPr/>
          <a:lstStyle/>
          <a:p>
            <a:pPr>
              <a:defRPr/>
            </a:pPr>
            <a:r>
              <a:rPr lang="en-US">
                <a:noFill/>
              </a:rPr>
              <a:t> </a:t>
            </a:r>
          </a:p>
        </p:txBody>
      </p:sp>
      <p:sp>
        <p:nvSpPr>
          <p:cNvPr id="7" name="Rectangle 6"/>
          <p:cNvSpPr>
            <a:spLocks noRot="1" noChangeAspect="1" noMove="1" noResize="1" noEditPoints="1" noAdjustHandles="1" noChangeArrowheads="1" noChangeShapeType="1" noTextEdit="1"/>
          </p:cNvSpPr>
          <p:nvPr/>
        </p:nvSpPr>
        <p:spPr>
          <a:xfrm>
            <a:off x="762000" y="3892549"/>
            <a:ext cx="9067800" cy="1268413"/>
          </a:xfrm>
          <a:prstGeom prst="rect">
            <a:avLst/>
          </a:prstGeom>
          <a:blipFill rotWithShape="1">
            <a:blip r:embed="rId12"/>
            <a:stretch>
              <a:fillRect t="-1442" b="-9615"/>
            </a:stretch>
          </a:blipFill>
        </p:spPr>
        <p:txBody>
          <a:bodyPr/>
          <a:lstStyle/>
          <a:p>
            <a:pPr>
              <a:defRPr/>
            </a:pPr>
            <a:r>
              <a:rPr lang="en-US">
                <a:noFill/>
              </a:rPr>
              <a:t> </a:t>
            </a:r>
          </a:p>
        </p:txBody>
      </p:sp>
      <p:sp>
        <p:nvSpPr>
          <p:cNvPr id="50" name="Right Arrow 49"/>
          <p:cNvSpPr/>
          <p:nvPr/>
        </p:nvSpPr>
        <p:spPr>
          <a:xfrm>
            <a:off x="187325" y="4017963"/>
            <a:ext cx="304800" cy="685800"/>
          </a:xfrm>
          <a:prstGeom prst="right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800">
              <a:solidFill>
                <a:srgbClr val="0070C0"/>
              </a:solidFill>
              <a:latin typeface="Times New Roman" pitchFamily="18" charset="0"/>
              <a:cs typeface="Times New Roman" pitchFamily="18" charset="0"/>
            </a:endParaRPr>
          </a:p>
        </p:txBody>
      </p:sp>
      <p:sp>
        <p:nvSpPr>
          <p:cNvPr id="52" name="Rectangle 51"/>
          <p:cNvSpPr>
            <a:spLocks noChangeArrowheads="1"/>
          </p:cNvSpPr>
          <p:nvPr/>
        </p:nvSpPr>
        <p:spPr bwMode="auto">
          <a:xfrm>
            <a:off x="6838950" y="5864225"/>
            <a:ext cx="22288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3200" b="1">
                <a:solidFill>
                  <a:srgbClr val="1109B7"/>
                </a:solidFill>
                <a:latin typeface="Times New Roman" pitchFamily="18" charset="0"/>
                <a:cs typeface="Times New Roman" pitchFamily="18" charset="0"/>
              </a:rPr>
              <a:t>I</a:t>
            </a:r>
            <a:r>
              <a:rPr lang="en-US" sz="2400" b="1">
                <a:solidFill>
                  <a:srgbClr val="1109B7"/>
                </a:solidFill>
                <a:latin typeface="Times New Roman" pitchFamily="18" charset="0"/>
                <a:cs typeface="Times New Roman" pitchFamily="18" charset="0"/>
              </a:rPr>
              <a:t>1</a:t>
            </a:r>
            <a:r>
              <a:rPr lang="el-GR" sz="3200" b="1">
                <a:solidFill>
                  <a:srgbClr val="1109B7"/>
                </a:solidFill>
                <a:latin typeface="Times New Roman" pitchFamily="18" charset="0"/>
                <a:cs typeface="Times New Roman" pitchFamily="18" charset="0"/>
              </a:rPr>
              <a:t>ω</a:t>
            </a:r>
            <a:r>
              <a:rPr lang="en-US" sz="2400" b="1">
                <a:solidFill>
                  <a:srgbClr val="1109B7"/>
                </a:solidFill>
                <a:latin typeface="Times New Roman" pitchFamily="18" charset="0"/>
                <a:cs typeface="Times New Roman" pitchFamily="18" charset="0"/>
              </a:rPr>
              <a:t>1</a:t>
            </a:r>
            <a:r>
              <a:rPr lang="en-US" sz="3200" b="1">
                <a:solidFill>
                  <a:srgbClr val="1109B7"/>
                </a:solidFill>
                <a:latin typeface="Times New Roman" pitchFamily="18" charset="0"/>
                <a:cs typeface="Times New Roman" pitchFamily="18" charset="0"/>
              </a:rPr>
              <a:t> = I</a:t>
            </a:r>
            <a:r>
              <a:rPr lang="en-US" sz="2400" b="1">
                <a:solidFill>
                  <a:srgbClr val="1109B7"/>
                </a:solidFill>
                <a:latin typeface="Times New Roman" pitchFamily="18" charset="0"/>
                <a:cs typeface="Times New Roman" pitchFamily="18" charset="0"/>
              </a:rPr>
              <a:t>2</a:t>
            </a:r>
            <a:r>
              <a:rPr lang="el-GR" sz="3200" b="1">
                <a:solidFill>
                  <a:srgbClr val="1109B7"/>
                </a:solidFill>
                <a:latin typeface="Times New Roman" pitchFamily="18" charset="0"/>
                <a:cs typeface="Times New Roman" pitchFamily="18" charset="0"/>
              </a:rPr>
              <a:t>ω</a:t>
            </a:r>
            <a:r>
              <a:rPr lang="en-US" sz="2400" b="1">
                <a:solidFill>
                  <a:srgbClr val="1109B7"/>
                </a:solidFill>
                <a:latin typeface="Times New Roman" pitchFamily="18" charset="0"/>
                <a:cs typeface="Times New Roman" pitchFamily="18" charset="0"/>
              </a:rPr>
              <a:t>2</a:t>
            </a:r>
            <a:endParaRPr lang="en-US" sz="2400" b="1">
              <a:latin typeface="Times New Roman" pitchFamily="18" charset="0"/>
              <a:cs typeface="Times New Roman" pitchFamily="18" charset="0"/>
            </a:endParaRPr>
          </a:p>
        </p:txBody>
      </p:sp>
      <p:sp>
        <p:nvSpPr>
          <p:cNvPr id="55" name="Rectangle 54"/>
          <p:cNvSpPr>
            <a:spLocks noRot="1" noChangeAspect="1" noMove="1" noResize="1" noEditPoints="1" noAdjustHandles="1" noChangeArrowheads="1" noChangeShapeType="1" noTextEdit="1"/>
          </p:cNvSpPr>
          <p:nvPr/>
        </p:nvSpPr>
        <p:spPr>
          <a:xfrm>
            <a:off x="2247900" y="5832187"/>
            <a:ext cx="3848099" cy="648254"/>
          </a:xfrm>
          <a:prstGeom prst="rect">
            <a:avLst/>
          </a:prstGeom>
          <a:blipFill rotWithShape="1">
            <a:blip r:embed="rId13"/>
            <a:stretch>
              <a:fillRect r="-1585" b="-26415"/>
            </a:stretch>
          </a:blipFill>
        </p:spPr>
        <p:txBody>
          <a:bodyPr/>
          <a:lstStyle/>
          <a:p>
            <a:pPr>
              <a:defRPr/>
            </a:pPr>
            <a:r>
              <a:rPr lang="en-US">
                <a:noFill/>
              </a:rPr>
              <a:t> </a:t>
            </a:r>
          </a:p>
        </p:txBody>
      </p:sp>
      <p:sp>
        <p:nvSpPr>
          <p:cNvPr id="56" name="Rectangle 55"/>
          <p:cNvSpPr>
            <a:spLocks noChangeArrowheads="1"/>
          </p:cNvSpPr>
          <p:nvPr/>
        </p:nvSpPr>
        <p:spPr bwMode="auto">
          <a:xfrm>
            <a:off x="366713" y="5895975"/>
            <a:ext cx="18938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800" b="1">
                <a:latin typeface="Times New Roman" pitchFamily="18" charset="0"/>
                <a:cs typeface="Times New Roman" pitchFamily="18" charset="0"/>
              </a:rPr>
              <a:t>Hệ kín:</a:t>
            </a:r>
          </a:p>
        </p:txBody>
      </p:sp>
      <p:sp>
        <p:nvSpPr>
          <p:cNvPr id="5" name="Footer Placeholder 4">
            <a:extLst>
              <a:ext uri="{FF2B5EF4-FFF2-40B4-BE49-F238E27FC236}">
                <a16:creationId xmlns:a16="http://schemas.microsoft.com/office/drawing/2014/main" id="{EDDA72B4-0263-0F81-24EA-D7ED0F6BAA6F}"/>
              </a:ext>
            </a:extLst>
          </p:cNvPr>
          <p:cNvSpPr>
            <a:spLocks noGrp="1"/>
          </p:cNvSpPr>
          <p:nvPr>
            <p:ph type="ftr" sz="quarter" idx="11"/>
          </p:nvPr>
        </p:nvSpPr>
        <p:spPr/>
        <p:txBody>
          <a:bodyPr/>
          <a:lstStyle/>
          <a:p>
            <a:pPr>
              <a:defRPr/>
            </a:pPr>
            <a:r>
              <a:rPr lang="en-US"/>
              <a:t>Bùi Quốc Trung - VLDC</a:t>
            </a:r>
          </a:p>
        </p:txBody>
      </p:sp>
      <p:sp>
        <p:nvSpPr>
          <p:cNvPr id="8" name="Slide Number Placeholder 7">
            <a:extLst>
              <a:ext uri="{FF2B5EF4-FFF2-40B4-BE49-F238E27FC236}">
                <a16:creationId xmlns:a16="http://schemas.microsoft.com/office/drawing/2014/main" id="{06CA501B-43FD-E5AD-32B2-5DB4BA396D41}"/>
              </a:ext>
            </a:extLst>
          </p:cNvPr>
          <p:cNvSpPr>
            <a:spLocks noGrp="1"/>
          </p:cNvSpPr>
          <p:nvPr>
            <p:ph type="sldNum" sz="quarter" idx="12"/>
          </p:nvPr>
        </p:nvSpPr>
        <p:spPr/>
        <p:txBody>
          <a:bodyPr/>
          <a:lstStyle/>
          <a:p>
            <a:pPr>
              <a:defRPr/>
            </a:pPr>
            <a:fld id="{76921531-3DE4-4FE6-8586-93C8C3054BFB}" type="slidenum">
              <a:rPr lang="en-US" smtClean="0"/>
              <a:pPr>
                <a:defRPr/>
              </a:pPr>
              <a:t>81</a:t>
            </a:fld>
            <a:endParaRPr lang="en-US"/>
          </a:p>
        </p:txBody>
      </p:sp>
    </p:spTree>
    <p:extLst>
      <p:ext uri="{BB962C8B-B14F-4D97-AF65-F5344CB8AC3E}">
        <p14:creationId xmlns:p14="http://schemas.microsoft.com/office/powerpoint/2010/main" val="160491824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dissolve">
                                      <p:cBhvr>
                                        <p:cTn id="7" dur="500"/>
                                        <p:tgtEl>
                                          <p:spTgt spid="37"/>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dissolve">
                                      <p:cBhvr>
                                        <p:cTn id="11" dur="500"/>
                                        <p:tgtEl>
                                          <p:spTgt spid="3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5" presetClass="entr" presetSubtype="10" fill="hold" nodeType="click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checkerboard(across)">
                                      <p:cBhvr>
                                        <p:cTn id="16" dur="500"/>
                                        <p:tgtEl>
                                          <p:spTgt spid="46"/>
                                        </p:tgtEl>
                                      </p:cBhvr>
                                    </p:animEffect>
                                  </p:childTnLst>
                                </p:cTn>
                              </p:par>
                              <p:par>
                                <p:cTn id="17" presetID="1" presetClass="path" presetSubtype="0" repeatCount="indefinite" fill="hold" nodeType="withEffect">
                                  <p:stCondLst>
                                    <p:cond delay="0"/>
                                  </p:stCondLst>
                                  <p:childTnLst>
                                    <p:animMotion origin="layout" path="M 0.00052 -8.0481E-7 C 0.09913 -8.0481E-7 0.18004 0.05435 0.18004 0.12142 C 0.18004 0.18895 0.09913 0.24422 0.00052 0.24422 C -0.09844 0.24422 -0.1783 0.18895 -0.1783 0.12142 C -0.1783 0.05435 -0.09844 -8.0481E-7 0.00052 -8.0481E-7 Z " pathEditMode="fixed" rAng="0" ptsTypes="fffff">
                                      <p:cBhvr>
                                        <p:cTn id="18" dur="5000" fill="hold"/>
                                        <p:tgtEl>
                                          <p:spTgt spid="46"/>
                                        </p:tgtEl>
                                        <p:attrNameLst>
                                          <p:attrName>ppt_x</p:attrName>
                                          <p:attrName>ppt_y</p:attrName>
                                        </p:attrNameLst>
                                      </p:cBhvr>
                                      <p:rCtr x="35" y="12211"/>
                                    </p:animMotion>
                                  </p:childTnLst>
                                </p:cTn>
                              </p:par>
                              <p:par>
                                <p:cTn id="19" presetID="5" presetClass="entr" presetSubtype="1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animEffect transition="in" filter="checkerboard(across)">
                                      <p:cBhvr>
                                        <p:cTn id="21" dur="500"/>
                                        <p:tgtEl>
                                          <p:spTgt spid="45"/>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54"/>
                                        </p:tgtEl>
                                        <p:attrNameLst>
                                          <p:attrName>style.visibility</p:attrName>
                                        </p:attrNameLst>
                                      </p:cBhvr>
                                      <p:to>
                                        <p:strVal val="visible"/>
                                      </p:to>
                                    </p:set>
                                    <p:animEffect transition="in" filter="checkerboard(across)">
                                      <p:cBhvr>
                                        <p:cTn id="24" dur="500"/>
                                        <p:tgtEl>
                                          <p:spTgt spid="5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checkerboard(across)">
                                      <p:cBhvr>
                                        <p:cTn id="29" dur="500"/>
                                        <p:tgtEl>
                                          <p:spTgt spid="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2000"/>
                                        <p:tgtEl>
                                          <p:spTgt spid="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72"/>
                                        </p:tgtEl>
                                        <p:attrNameLst>
                                          <p:attrName>style.visibility</p:attrName>
                                        </p:attrNameLst>
                                      </p:cBhvr>
                                      <p:to>
                                        <p:strVal val="visible"/>
                                      </p:to>
                                    </p:set>
                                    <p:animEffect transition="in" filter="dissolve">
                                      <p:cBhvr>
                                        <p:cTn id="44" dur="500"/>
                                        <p:tgtEl>
                                          <p:spTgt spid="7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fade">
                                      <p:cBhvr>
                                        <p:cTn id="49" dur="500"/>
                                        <p:tgtEl>
                                          <p:spTgt spid="2"/>
                                        </p:tgtEl>
                                      </p:cBhvr>
                                    </p:animEffect>
                                  </p:childTnLst>
                                </p:cTn>
                              </p:par>
                            </p:childTnLst>
                          </p:cTn>
                        </p:par>
                        <p:par>
                          <p:cTn id="50" fill="hold" nodeType="afterGroup">
                            <p:stCondLst>
                              <p:cond delay="500"/>
                            </p:stCondLst>
                            <p:childTnLst>
                              <p:par>
                                <p:cTn id="51" presetID="9" presetClass="entr" presetSubtype="0" fill="hold" nodeType="afterEffect">
                                  <p:stCondLst>
                                    <p:cond delay="0"/>
                                  </p:stCondLst>
                                  <p:childTnLst>
                                    <p:set>
                                      <p:cBhvr>
                                        <p:cTn id="52" dur="1" fill="hold">
                                          <p:stCondLst>
                                            <p:cond delay="0"/>
                                          </p:stCondLst>
                                        </p:cTn>
                                        <p:tgtEl>
                                          <p:spTgt spid="67"/>
                                        </p:tgtEl>
                                        <p:attrNameLst>
                                          <p:attrName>style.visibility</p:attrName>
                                        </p:attrNameLst>
                                      </p:cBhvr>
                                      <p:to>
                                        <p:strVal val="visible"/>
                                      </p:to>
                                    </p:set>
                                    <p:animEffect transition="in" filter="dissolve">
                                      <p:cBhvr>
                                        <p:cTn id="53" dur="500"/>
                                        <p:tgtEl>
                                          <p:spTgt spid="67"/>
                                        </p:tgtEl>
                                      </p:cBhvr>
                                    </p:animEffect>
                                  </p:childTnLst>
                                </p:cTn>
                              </p:par>
                            </p:childTnLst>
                          </p:cTn>
                        </p:par>
                        <p:par>
                          <p:cTn id="54" fill="hold" nodeType="afterGroup">
                            <p:stCondLst>
                              <p:cond delay="1000"/>
                            </p:stCondLst>
                            <p:childTnLst>
                              <p:par>
                                <p:cTn id="55" presetID="9" presetClass="entr" presetSubtype="0" fill="hold" grpId="0" nodeType="afterEffect">
                                  <p:stCondLst>
                                    <p:cond delay="0"/>
                                  </p:stCondLst>
                                  <p:childTnLst>
                                    <p:set>
                                      <p:cBhvr>
                                        <p:cTn id="56" dur="1" fill="hold">
                                          <p:stCondLst>
                                            <p:cond delay="0"/>
                                          </p:stCondLst>
                                        </p:cTn>
                                        <p:tgtEl>
                                          <p:spTgt spid="66"/>
                                        </p:tgtEl>
                                        <p:attrNameLst>
                                          <p:attrName>style.visibility</p:attrName>
                                        </p:attrNameLst>
                                      </p:cBhvr>
                                      <p:to>
                                        <p:strVal val="visible"/>
                                      </p:to>
                                    </p:set>
                                    <p:animEffect transition="in" filter="dissolve">
                                      <p:cBhvr>
                                        <p:cTn id="57" dur="500"/>
                                        <p:tgtEl>
                                          <p:spTgt spid="6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fade">
                                      <p:cBhvr>
                                        <p:cTn id="62" dur="500"/>
                                        <p:tgtEl>
                                          <p:spTgt spid="6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76"/>
                                        </p:tgtEl>
                                        <p:attrNameLst>
                                          <p:attrName>style.visibility</p:attrName>
                                        </p:attrNameLst>
                                      </p:cBhvr>
                                      <p:to>
                                        <p:strVal val="visible"/>
                                      </p:to>
                                    </p:set>
                                    <p:animEffect transition="in" filter="dissolve">
                                      <p:cBhvr>
                                        <p:cTn id="67" dur="500"/>
                                        <p:tgtEl>
                                          <p:spTgt spid="7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42" presetClass="entr" presetSubtype="0" fill="hold" nodeType="click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fade">
                                      <p:cBhvr>
                                        <p:cTn id="72" dur="1000"/>
                                        <p:tgtEl>
                                          <p:spTgt spid="6"/>
                                        </p:tgtEl>
                                      </p:cBhvr>
                                    </p:animEffect>
                                    <p:anim calcmode="lin" valueType="num">
                                      <p:cBhvr>
                                        <p:cTn id="73" dur="1000" fill="hold"/>
                                        <p:tgtEl>
                                          <p:spTgt spid="6"/>
                                        </p:tgtEl>
                                        <p:attrNameLst>
                                          <p:attrName>ppt_x</p:attrName>
                                        </p:attrNameLst>
                                      </p:cBhvr>
                                      <p:tavLst>
                                        <p:tav tm="0">
                                          <p:val>
                                            <p:strVal val="#ppt_x"/>
                                          </p:val>
                                        </p:tav>
                                        <p:tav tm="100000">
                                          <p:val>
                                            <p:strVal val="#ppt_x"/>
                                          </p:val>
                                        </p:tav>
                                      </p:tavLst>
                                    </p:anim>
                                    <p:anim calcmode="lin" valueType="num">
                                      <p:cBhvr>
                                        <p:cTn id="7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50"/>
                                        </p:tgtEl>
                                        <p:attrNameLst>
                                          <p:attrName>style.visibility</p:attrName>
                                        </p:attrNameLst>
                                      </p:cBhvr>
                                      <p:to>
                                        <p:strVal val="visible"/>
                                      </p:to>
                                    </p:set>
                                    <p:animEffect transition="in" filter="dissolve">
                                      <p:cBhvr>
                                        <p:cTn id="79" dur="500"/>
                                        <p:tgtEl>
                                          <p:spTgt spid="50"/>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0" presetClass="entr" presetSubtype="0" fill="hold" nodeType="clickEffect">
                                  <p:stCondLst>
                                    <p:cond delay="0"/>
                                  </p:stCondLst>
                                  <p:childTnLst>
                                    <p:set>
                                      <p:cBhvr>
                                        <p:cTn id="83" dur="1" fill="hold">
                                          <p:stCondLst>
                                            <p:cond delay="0"/>
                                          </p:stCondLst>
                                        </p:cTn>
                                        <p:tgtEl>
                                          <p:spTgt spid="7"/>
                                        </p:tgtEl>
                                        <p:attrNameLst>
                                          <p:attrName>style.visibility</p:attrName>
                                        </p:attrNameLst>
                                      </p:cBhvr>
                                      <p:to>
                                        <p:strVal val="visible"/>
                                      </p:to>
                                    </p:set>
                                    <p:animEffect transition="in" filter="fade">
                                      <p:cBhvr>
                                        <p:cTn id="84" dur="500"/>
                                        <p:tgtEl>
                                          <p:spTgt spid="7"/>
                                        </p:tgtEl>
                                      </p:cBhvr>
                                    </p:animEffect>
                                  </p:childTnLst>
                                </p:cTn>
                              </p:par>
                            </p:childTnLst>
                          </p:cTn>
                        </p:par>
                        <p:par>
                          <p:cTn id="85" fill="hold" nodeType="afterGroup">
                            <p:stCondLst>
                              <p:cond delay="500"/>
                            </p:stCondLst>
                            <p:childTnLst>
                              <p:par>
                                <p:cTn id="86" presetID="5" presetClass="entr" presetSubtype="10" fill="hold" grpId="0" nodeType="afterEffect">
                                  <p:stCondLst>
                                    <p:cond delay="0"/>
                                  </p:stCondLst>
                                  <p:childTnLst>
                                    <p:set>
                                      <p:cBhvr>
                                        <p:cTn id="87" dur="1" fill="hold">
                                          <p:stCondLst>
                                            <p:cond delay="0"/>
                                          </p:stCondLst>
                                        </p:cTn>
                                        <p:tgtEl>
                                          <p:spTgt spid="42"/>
                                        </p:tgtEl>
                                        <p:attrNameLst>
                                          <p:attrName>style.visibility</p:attrName>
                                        </p:attrNameLst>
                                      </p:cBhvr>
                                      <p:to>
                                        <p:strVal val="visible"/>
                                      </p:to>
                                    </p:set>
                                    <p:animEffect transition="in" filter="checkerboard(across)">
                                      <p:cBhvr>
                                        <p:cTn id="88" dur="500"/>
                                        <p:tgtEl>
                                          <p:spTgt spid="42"/>
                                        </p:tgtEl>
                                      </p:cBhvr>
                                    </p:animEffect>
                                  </p:childTnLst>
                                </p:cTn>
                              </p:par>
                            </p:childTnLst>
                          </p:cTn>
                        </p:par>
                        <p:par>
                          <p:cTn id="89" fill="hold" nodeType="afterGroup">
                            <p:stCondLst>
                              <p:cond delay="1000"/>
                            </p:stCondLst>
                            <p:childTnLst>
                              <p:par>
                                <p:cTn id="90" presetID="21" presetClass="entr" presetSubtype="8" fill="hold" grpId="0" nodeType="afterEffect">
                                  <p:stCondLst>
                                    <p:cond delay="0"/>
                                  </p:stCondLst>
                                  <p:childTnLst>
                                    <p:set>
                                      <p:cBhvr>
                                        <p:cTn id="91" dur="1" fill="hold">
                                          <p:stCondLst>
                                            <p:cond delay="0"/>
                                          </p:stCondLst>
                                        </p:cTn>
                                        <p:tgtEl>
                                          <p:spTgt spid="44"/>
                                        </p:tgtEl>
                                        <p:attrNameLst>
                                          <p:attrName>style.visibility</p:attrName>
                                        </p:attrNameLst>
                                      </p:cBhvr>
                                      <p:to>
                                        <p:strVal val="visible"/>
                                      </p:to>
                                    </p:set>
                                    <p:animEffect transition="in" filter="wheel(8)">
                                      <p:cBhvr>
                                        <p:cTn id="92" dur="500"/>
                                        <p:tgtEl>
                                          <p:spTgt spid="44"/>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56"/>
                                        </p:tgtEl>
                                        <p:attrNameLst>
                                          <p:attrName>style.visibility</p:attrName>
                                        </p:attrNameLst>
                                      </p:cBhvr>
                                      <p:to>
                                        <p:strVal val="visible"/>
                                      </p:to>
                                    </p:set>
                                    <p:animEffect transition="in" filter="fade">
                                      <p:cBhvr>
                                        <p:cTn id="97" dur="500"/>
                                        <p:tgtEl>
                                          <p:spTgt spid="56"/>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0" presetClass="entr" presetSubtype="0" fill="hold" nodeType="clickEffect">
                                  <p:stCondLst>
                                    <p:cond delay="0"/>
                                  </p:stCondLst>
                                  <p:childTnLst>
                                    <p:set>
                                      <p:cBhvr>
                                        <p:cTn id="101" dur="1" fill="hold">
                                          <p:stCondLst>
                                            <p:cond delay="0"/>
                                          </p:stCondLst>
                                        </p:cTn>
                                        <p:tgtEl>
                                          <p:spTgt spid="55"/>
                                        </p:tgtEl>
                                        <p:attrNameLst>
                                          <p:attrName>style.visibility</p:attrName>
                                        </p:attrNameLst>
                                      </p:cBhvr>
                                      <p:to>
                                        <p:strVal val="visible"/>
                                      </p:to>
                                    </p:set>
                                    <p:animEffect transition="in" filter="fade">
                                      <p:cBhvr>
                                        <p:cTn id="102" dur="500"/>
                                        <p:tgtEl>
                                          <p:spTgt spid="55"/>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8" presetClass="entr" presetSubtype="32" fill="hold" grpId="0" nodeType="clickEffect">
                                  <p:stCondLst>
                                    <p:cond delay="0"/>
                                  </p:stCondLst>
                                  <p:childTnLst>
                                    <p:set>
                                      <p:cBhvr>
                                        <p:cTn id="106" dur="1" fill="hold">
                                          <p:stCondLst>
                                            <p:cond delay="0"/>
                                          </p:stCondLst>
                                        </p:cTn>
                                        <p:tgtEl>
                                          <p:spTgt spid="53"/>
                                        </p:tgtEl>
                                        <p:attrNameLst>
                                          <p:attrName>style.visibility</p:attrName>
                                        </p:attrNameLst>
                                      </p:cBhvr>
                                      <p:to>
                                        <p:strVal val="visible"/>
                                      </p:to>
                                    </p:set>
                                    <p:animEffect transition="in" filter="diamond(out)">
                                      <p:cBhvr>
                                        <p:cTn id="107" dur="500"/>
                                        <p:tgtEl>
                                          <p:spTgt spid="53"/>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52"/>
                                        </p:tgtEl>
                                        <p:attrNameLst>
                                          <p:attrName>style.visibility</p:attrName>
                                        </p:attrNameLst>
                                      </p:cBhvr>
                                      <p:to>
                                        <p:strVal val="visible"/>
                                      </p:to>
                                    </p:set>
                                    <p:animEffect transition="in" filter="fade">
                                      <p:cBhvr>
                                        <p:cTn id="112" dur="1000"/>
                                        <p:tgtEl>
                                          <p:spTgt spid="52"/>
                                        </p:tgtEl>
                                      </p:cBhvr>
                                    </p:animEffect>
                                    <p:anim calcmode="lin" valueType="num">
                                      <p:cBhvr>
                                        <p:cTn id="113" dur="1000" fill="hold"/>
                                        <p:tgtEl>
                                          <p:spTgt spid="52"/>
                                        </p:tgtEl>
                                        <p:attrNameLst>
                                          <p:attrName>ppt_x</p:attrName>
                                        </p:attrNameLst>
                                      </p:cBhvr>
                                      <p:tavLst>
                                        <p:tav tm="0">
                                          <p:val>
                                            <p:strVal val="#ppt_x"/>
                                          </p:val>
                                        </p:tav>
                                        <p:tav tm="100000">
                                          <p:val>
                                            <p:strVal val="#ppt_x"/>
                                          </p:val>
                                        </p:tav>
                                      </p:tavLst>
                                    </p:anim>
                                    <p:anim calcmode="lin" valueType="num">
                                      <p:cBhvr>
                                        <p:cTn id="114"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8" presetClass="entr" presetSubtype="16" fill="hold" nodeType="clickEffect">
                                  <p:stCondLst>
                                    <p:cond delay="0"/>
                                  </p:stCondLst>
                                  <p:childTnLst>
                                    <p:set>
                                      <p:cBhvr>
                                        <p:cTn id="118" dur="1" fill="hold">
                                          <p:stCondLst>
                                            <p:cond delay="0"/>
                                          </p:stCondLst>
                                        </p:cTn>
                                        <p:tgtEl>
                                          <p:spTgt spid="10"/>
                                        </p:tgtEl>
                                        <p:attrNameLst>
                                          <p:attrName>style.visibility</p:attrName>
                                        </p:attrNameLst>
                                      </p:cBhvr>
                                      <p:to>
                                        <p:strVal val="visible"/>
                                      </p:to>
                                    </p:set>
                                    <p:animEffect transition="in" filter="diamond(in)">
                                      <p:cBhvr>
                                        <p:cTn id="11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7" grpId="0" animBg="1"/>
      <p:bldP spid="45" grpId="0" animBg="1"/>
      <p:bldP spid="54" grpId="0" animBg="1"/>
      <p:bldP spid="63" grpId="0"/>
      <p:bldP spid="66" grpId="0" animBg="1"/>
      <p:bldP spid="72" grpId="0" animBg="1"/>
      <p:bldP spid="76" grpId="0" animBg="1"/>
      <p:bldP spid="42" grpId="0"/>
      <p:bldP spid="44" grpId="0" animBg="1"/>
      <p:bldP spid="53" grpId="0" animBg="1"/>
      <p:bldP spid="2" grpId="0" animBg="1"/>
      <p:bldP spid="4" grpId="0"/>
      <p:bldP spid="50" grpId="0" animBg="1"/>
      <p:bldP spid="52" grpId="0"/>
      <p:bldP spid="56"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marL="0" indent="0">
              <a:buFont typeface="Arial" charset="0"/>
              <a:buNone/>
              <a:defRPr/>
            </a:pPr>
            <a:r>
              <a:rPr lang="en-US"/>
              <a:t>Một vật khối lượng 2kg chuyển động theo một đường tròn bán kính 50cm với vận tốc góc 12 rad/s. Tính độ lớn của momen động lượng đối với tâm của quỹ đạo.</a:t>
            </a:r>
          </a:p>
          <a:p>
            <a:pPr marL="0" indent="0">
              <a:buFont typeface="Arial" charset="0"/>
              <a:buNone/>
              <a:defRPr/>
            </a:pPr>
            <a:r>
              <a:rPr lang="en-US"/>
              <a:t>A.  72 kg.m</a:t>
            </a:r>
            <a:r>
              <a:rPr lang="en-US" baseline="30000"/>
              <a:t>2</a:t>
            </a:r>
            <a:r>
              <a:rPr lang="en-US"/>
              <a:t>/s</a:t>
            </a:r>
          </a:p>
          <a:p>
            <a:pPr marL="0" indent="0">
              <a:buFont typeface="Arial" charset="0"/>
              <a:buNone/>
              <a:defRPr/>
            </a:pPr>
            <a:r>
              <a:rPr lang="en-US"/>
              <a:t>B.  48 kg.m</a:t>
            </a:r>
            <a:r>
              <a:rPr lang="en-US" baseline="30000"/>
              <a:t>2</a:t>
            </a:r>
            <a:r>
              <a:rPr lang="en-US"/>
              <a:t>/s</a:t>
            </a:r>
          </a:p>
          <a:p>
            <a:pPr marL="0" indent="0">
              <a:buFont typeface="Arial" charset="0"/>
              <a:buNone/>
              <a:defRPr/>
            </a:pPr>
            <a:r>
              <a:rPr lang="en-US"/>
              <a:t>C.  12 kg.m</a:t>
            </a:r>
            <a:r>
              <a:rPr lang="en-US" baseline="30000"/>
              <a:t>2</a:t>
            </a:r>
            <a:r>
              <a:rPr lang="en-US"/>
              <a:t>/s</a:t>
            </a:r>
          </a:p>
          <a:p>
            <a:pPr marL="0" indent="0">
              <a:buFont typeface="Arial" charset="0"/>
              <a:buNone/>
              <a:defRPr/>
            </a:pPr>
            <a:r>
              <a:rPr lang="en-US"/>
              <a:t>D.  6 kg.m</a:t>
            </a:r>
            <a:r>
              <a:rPr lang="en-US" baseline="30000"/>
              <a:t>2</a:t>
            </a:r>
            <a:r>
              <a:rPr lang="en-US"/>
              <a:t>/s</a:t>
            </a:r>
          </a:p>
          <a:p>
            <a:pPr>
              <a:defRPr/>
            </a:pPr>
            <a:endParaRPr lang="en-US"/>
          </a:p>
        </p:txBody>
      </p:sp>
      <p:sp>
        <p:nvSpPr>
          <p:cNvPr id="3" name="Footer Placeholder 2">
            <a:extLst>
              <a:ext uri="{FF2B5EF4-FFF2-40B4-BE49-F238E27FC236}">
                <a16:creationId xmlns:a16="http://schemas.microsoft.com/office/drawing/2014/main" id="{5C03B262-C15E-F351-C291-0663321C131F}"/>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827B9F22-E0BD-CCC9-3E28-EE29FF4C371A}"/>
              </a:ext>
            </a:extLst>
          </p:cNvPr>
          <p:cNvSpPr>
            <a:spLocks noGrp="1"/>
          </p:cNvSpPr>
          <p:nvPr>
            <p:ph type="sldNum" sz="quarter" idx="12"/>
          </p:nvPr>
        </p:nvSpPr>
        <p:spPr/>
        <p:txBody>
          <a:bodyPr/>
          <a:lstStyle/>
          <a:p>
            <a:pPr>
              <a:defRPr/>
            </a:pPr>
            <a:fld id="{76921531-3DE4-4FE6-8586-93C8C3054BFB}" type="slidenum">
              <a:rPr lang="en-US" smtClean="0"/>
              <a:pPr>
                <a:defRPr/>
              </a:pPr>
              <a:t>82</a:t>
            </a:fld>
            <a:endParaRPr lang="en-US"/>
          </a:p>
        </p:txBody>
      </p:sp>
    </p:spTree>
    <p:extLst>
      <p:ext uri="{BB962C8B-B14F-4D97-AF65-F5344CB8AC3E}">
        <p14:creationId xmlns:p14="http://schemas.microsoft.com/office/powerpoint/2010/main" val="17568789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2">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noRot="1" noChangeAspect="1" noMove="1" noResize="1" noEditPoints="1" noAdjustHandles="1" noChangeArrowheads="1" noChangeShapeType="1" noTextEdit="1"/>
          </p:cNvSpPr>
          <p:nvPr>
            <p:ph/>
          </p:nvPr>
        </p:nvSpPr>
        <p:spPr>
          <a:blipFill rotWithShape="1">
            <a:blip r:embed="rId2"/>
            <a:stretch>
              <a:fillRect l="-1926" t="-1354"/>
            </a:stretch>
          </a:blipFill>
        </p:spPr>
        <p:txBody>
          <a:bodyPr/>
          <a:lstStyle/>
          <a:p>
            <a:pPr>
              <a:defRPr/>
            </a:pPr>
            <a:r>
              <a:rPr lang="en-US">
                <a:noFill/>
              </a:rPr>
              <a:t> </a:t>
            </a:r>
          </a:p>
        </p:txBody>
      </p:sp>
      <p:sp>
        <p:nvSpPr>
          <p:cNvPr id="3" name="Footer Placeholder 2">
            <a:extLst>
              <a:ext uri="{FF2B5EF4-FFF2-40B4-BE49-F238E27FC236}">
                <a16:creationId xmlns:a16="http://schemas.microsoft.com/office/drawing/2014/main" id="{7D163A3A-F2BC-2D6B-1907-40EAA9DCAEAA}"/>
              </a:ext>
            </a:extLst>
          </p:cNvPr>
          <p:cNvSpPr>
            <a:spLocks noGrp="1"/>
          </p:cNvSpPr>
          <p:nvPr>
            <p:ph type="ftr" sz="quarter" idx="11"/>
          </p:nvPr>
        </p:nvSpPr>
        <p:spPr/>
        <p:txBody>
          <a:bodyPr/>
          <a:lstStyle/>
          <a:p>
            <a:pPr>
              <a:defRPr/>
            </a:pPr>
            <a:r>
              <a:rPr lang="en-US"/>
              <a:t>Bùi Quốc Trung - VLDC</a:t>
            </a:r>
          </a:p>
        </p:txBody>
      </p:sp>
      <p:sp>
        <p:nvSpPr>
          <p:cNvPr id="4" name="Slide Number Placeholder 3">
            <a:extLst>
              <a:ext uri="{FF2B5EF4-FFF2-40B4-BE49-F238E27FC236}">
                <a16:creationId xmlns:a16="http://schemas.microsoft.com/office/drawing/2014/main" id="{86BE8D8C-5A6F-87E1-0E51-6B9680C7E4B6}"/>
              </a:ext>
            </a:extLst>
          </p:cNvPr>
          <p:cNvSpPr>
            <a:spLocks noGrp="1"/>
          </p:cNvSpPr>
          <p:nvPr>
            <p:ph type="sldNum" sz="quarter" idx="12"/>
          </p:nvPr>
        </p:nvSpPr>
        <p:spPr/>
        <p:txBody>
          <a:bodyPr/>
          <a:lstStyle/>
          <a:p>
            <a:pPr>
              <a:defRPr/>
            </a:pPr>
            <a:fld id="{76921531-3DE4-4FE6-8586-93C8C3054BFB}" type="slidenum">
              <a:rPr lang="en-US" smtClean="0"/>
              <a:pPr>
                <a:defRPr/>
              </a:pPr>
              <a:t>83</a:t>
            </a:fld>
            <a:endParaRPr lang="en-US"/>
          </a:p>
        </p:txBody>
      </p:sp>
    </p:spTree>
    <p:extLst>
      <p:ext uri="{BB962C8B-B14F-4D97-AF65-F5344CB8AC3E}">
        <p14:creationId xmlns:p14="http://schemas.microsoft.com/office/powerpoint/2010/main" val="36371676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3962400" cy="515112"/>
          </a:xfrm>
        </p:spPr>
        <p:txBody>
          <a:bodyPr>
            <a:noAutofit/>
          </a:bodyPr>
          <a:lstStyle/>
          <a:p>
            <a:r>
              <a:rPr lang="en-US" sz="3200"/>
              <a:t>Test 3</a:t>
            </a:r>
          </a:p>
        </p:txBody>
      </p:sp>
      <p:sp>
        <p:nvSpPr>
          <p:cNvPr id="3" name="Content Placeholder 2"/>
          <p:cNvSpPr>
            <a:spLocks noGrp="1"/>
          </p:cNvSpPr>
          <p:nvPr>
            <p:ph idx="1"/>
          </p:nvPr>
        </p:nvSpPr>
        <p:spPr>
          <a:xfrm>
            <a:off x="381000" y="914400"/>
            <a:ext cx="8229600" cy="5334000"/>
          </a:xfrm>
        </p:spPr>
        <p:txBody>
          <a:bodyPr>
            <a:normAutofit/>
          </a:bodyPr>
          <a:lstStyle/>
          <a:p>
            <a:pPr marL="514350" indent="-514350">
              <a:buAutoNum type="arabicPeriod"/>
            </a:pPr>
            <a:r>
              <a:rPr lang="en-US" sz="3200"/>
              <a:t>Tìm hiểu về công và công suất; công của các loại lực.</a:t>
            </a:r>
          </a:p>
          <a:p>
            <a:pPr marL="514350" indent="-514350">
              <a:buAutoNum type="arabicPeriod"/>
            </a:pPr>
            <a:r>
              <a:rPr lang="en-US" sz="3200"/>
              <a:t>Động năng, thế năng và định luật bảo toàn cơ năng.</a:t>
            </a:r>
          </a:p>
          <a:p>
            <a:pPr marL="514350" indent="-514350">
              <a:buFont typeface="Wingdings 2"/>
              <a:buAutoNum type="arabicPeriod"/>
            </a:pPr>
            <a:r>
              <a:rPr lang="en-US" sz="3200"/>
              <a:t>Tìm hiểu các nguồn năng lượng hiện có.</a:t>
            </a:r>
          </a:p>
          <a:p>
            <a:pPr marL="514350" indent="-514350">
              <a:buAutoNum type="arabicPeriod"/>
            </a:pPr>
            <a:r>
              <a:rPr lang="en-US" sz="3200"/>
              <a:t>Thế nào là năng lượng tái tạo và không tái tạo? Lấy ví dụ?</a:t>
            </a:r>
          </a:p>
          <a:p>
            <a:pPr marL="514350" indent="-514350">
              <a:buAutoNum type="arabicPeriod"/>
            </a:pPr>
            <a:endParaRPr lang="en-US"/>
          </a:p>
          <a:p>
            <a:pPr marL="0" indent="0">
              <a:buNone/>
            </a:pPr>
            <a:endParaRPr lang="en-US"/>
          </a:p>
          <a:p>
            <a:pPr marL="514350" indent="-514350">
              <a:buAutoNum type="arabicPeriod"/>
            </a:pPr>
            <a:endParaRPr lang="en-US"/>
          </a:p>
        </p:txBody>
      </p:sp>
      <p:sp>
        <p:nvSpPr>
          <p:cNvPr id="4" name="Footer Placeholder 3">
            <a:extLst>
              <a:ext uri="{FF2B5EF4-FFF2-40B4-BE49-F238E27FC236}">
                <a16:creationId xmlns:a16="http://schemas.microsoft.com/office/drawing/2014/main" id="{7BBD12BF-4502-BCB5-1770-D734B1715C50}"/>
              </a:ext>
            </a:extLst>
          </p:cNvPr>
          <p:cNvSpPr>
            <a:spLocks noGrp="1"/>
          </p:cNvSpPr>
          <p:nvPr>
            <p:ph type="ftr" sz="quarter" idx="11"/>
          </p:nvPr>
        </p:nvSpPr>
        <p:spPr/>
        <p:txBody>
          <a:bodyPr/>
          <a:lstStyle/>
          <a:p>
            <a:r>
              <a:rPr lang="en-US"/>
              <a:t>Bùi Quốc Trung - VLDC</a:t>
            </a:r>
          </a:p>
        </p:txBody>
      </p:sp>
      <p:sp>
        <p:nvSpPr>
          <p:cNvPr id="5" name="Slide Number Placeholder 4">
            <a:extLst>
              <a:ext uri="{FF2B5EF4-FFF2-40B4-BE49-F238E27FC236}">
                <a16:creationId xmlns:a16="http://schemas.microsoft.com/office/drawing/2014/main" id="{E36E1E20-C018-321B-5562-1C06BF8D3B4A}"/>
              </a:ext>
            </a:extLst>
          </p:cNvPr>
          <p:cNvSpPr>
            <a:spLocks noGrp="1"/>
          </p:cNvSpPr>
          <p:nvPr>
            <p:ph type="sldNum" sz="quarter" idx="12"/>
          </p:nvPr>
        </p:nvSpPr>
        <p:spPr/>
        <p:txBody>
          <a:bodyPr/>
          <a:lstStyle/>
          <a:p>
            <a:fld id="{C4A94DE9-7404-4CC4-BDD8-EA2E97866C70}" type="slidenum">
              <a:rPr lang="en-US" smtClean="0"/>
              <a:t>84</a:t>
            </a:fld>
            <a:endParaRPr lang="en-US"/>
          </a:p>
        </p:txBody>
      </p:sp>
    </p:spTree>
    <p:extLst>
      <p:ext uri="{BB962C8B-B14F-4D97-AF65-F5344CB8AC3E}">
        <p14:creationId xmlns:p14="http://schemas.microsoft.com/office/powerpoint/2010/main" val="163917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4529</TotalTime>
  <Words>6106</Words>
  <Application>Microsoft Office PowerPoint</Application>
  <PresentationFormat>On-screen Show (4:3)</PresentationFormat>
  <Paragraphs>831</Paragraphs>
  <Slides>84</Slides>
  <Notes>19</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84</vt:i4>
      </vt:variant>
    </vt:vector>
  </HeadingPairs>
  <TitlesOfParts>
    <vt:vector size="92" baseType="lpstr">
      <vt:lpstr>Arial</vt:lpstr>
      <vt:lpstr>Calibri</vt:lpstr>
      <vt:lpstr>Cambria Math</vt:lpstr>
      <vt:lpstr>Times New Roman</vt:lpstr>
      <vt:lpstr>Wingdings</vt:lpstr>
      <vt:lpstr>Wingdings 2</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ĐỘNG LƯỢNG</vt:lpstr>
      <vt:lpstr>PowerPoint Presentation</vt:lpstr>
      <vt:lpstr>PowerPoint Presentation</vt:lpstr>
      <vt:lpstr>PowerPoint Presentation</vt:lpstr>
      <vt:lpstr>1) Một chất điểm m = 5kg chuyển động trên đường thẳng với vận tốc tăng dần từ 2m/s đến 5m/s. Tính độ biến thiên động lượng (xung lượng) của chất điểm.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Bài toán va chạm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Tốc độ quay của Trái Đất (quanh trục của nó)?</vt:lpstr>
      <vt:lpstr>Trái đất chuyển động quanh Mặt trời Trái Đất chuyển động một vòng quanh Mặt Trời trên quỹ đạo elip gần tròn hết 365 ngày và 6 giờ.</vt:lpstr>
      <vt:lpstr>Ban ngày hay ban đêm ở thời điểm nào trái đất chuyển động quanh mặt trời nhanh hơn ?</vt:lpstr>
      <vt:lpstr>CHUYỂN ĐỘNG TRÒN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huynhminhmanpham@gmail.com</cp:lastModifiedBy>
  <cp:revision>192</cp:revision>
  <dcterms:created xsi:type="dcterms:W3CDTF">2020-05-06T13:38:03Z</dcterms:created>
  <dcterms:modified xsi:type="dcterms:W3CDTF">2025-09-30T05:33:19Z</dcterms:modified>
</cp:coreProperties>
</file>